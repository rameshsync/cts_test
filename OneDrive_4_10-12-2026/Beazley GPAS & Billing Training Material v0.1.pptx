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Override1.xml" ContentType="application/vnd.openxmlformats-officedocument.themeOverr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Layouts/slideLayout28.xml" ContentType="application/vnd.openxmlformats-officedocument.presentationml.slideLayout+xml"/>
  <Override PartName="/ppt/theme/theme2.xml" ContentType="application/vnd.openxmlformats-officedocument.theme+xml"/>
  <Override PartName="/ppt/tags/tag14.xml" ContentType="application/vnd.openxmlformats-officedocument.presentationml.tags+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3.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4.xml" ContentType="application/vnd.openxmlformats-officedocument.them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theme/theme5.xml" ContentType="application/vnd.openxmlformats-officedocument.them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theme/theme6.xml" ContentType="application/vnd.openxmlformats-officedocument.theme+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heme/themeOverride2.xml" ContentType="application/vnd.openxmlformats-officedocument.themeOverride+xml"/>
  <Override PartName="/ppt/theme/theme7.xml" ContentType="application/vnd.openxmlformats-officedocument.theme+xml"/>
  <Override PartName="/ppt/theme/theme8.xml" ContentType="application/vnd.openxmlformats-officedocument.theme+xml"/>
  <Override PartName="/ppt/tags/tag70.xml" ContentType="application/vnd.openxmlformats-officedocument.presentationml.tags+xml"/>
  <Override PartName="/ppt/tags/tag71.xml" ContentType="application/vnd.openxmlformats-officedocument.presentationml.tags+xml"/>
  <Override PartName="/ppt/notesSlides/notesSlide1.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notesSlides/notesSlide2.xml" ContentType="application/vnd.openxmlformats-officedocument.presentationml.notesSlide+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notesSlides/notesSlide3.xml" ContentType="application/vnd.openxmlformats-officedocument.presentationml.notesSlide+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notesSlides/notesSlide4.xml" ContentType="application/vnd.openxmlformats-officedocument.presentationml.notesSlide+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notesSlides/notesSlide5.xml" ContentType="application/vnd.openxmlformats-officedocument.presentationml.notesSlide+xml"/>
  <Override PartName="/ppt/tags/tag221.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222.xml" ContentType="application/vnd.openxmlformats-officedocument.presentationml.tags+xml"/>
  <Override PartName="/ppt/notesSlides/notesSlide9.xml" ContentType="application/vnd.openxmlformats-officedocument.presentationml.notesSlide+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notesSlides/notesSlide12.xml" ContentType="application/vnd.openxmlformats-officedocument.presentationml.notesSlide+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899" r:id="rId4"/>
    <p:sldMasterId id="2147483914" r:id="rId5"/>
    <p:sldMasterId id="2147483980" r:id="rId6"/>
    <p:sldMasterId id="2147484005" r:id="rId7"/>
    <p:sldMasterId id="2147484030" r:id="rId8"/>
    <p:sldMasterId id="2147484068" r:id="rId9"/>
  </p:sldMasterIdLst>
  <p:notesMasterIdLst>
    <p:notesMasterId r:id="rId43"/>
  </p:notesMasterIdLst>
  <p:handoutMasterIdLst>
    <p:handoutMasterId r:id="rId44"/>
  </p:handoutMasterIdLst>
  <p:sldIdLst>
    <p:sldId id="2147474097" r:id="rId10"/>
    <p:sldId id="2147474119" r:id="rId11"/>
    <p:sldId id="2141412330" r:id="rId12"/>
    <p:sldId id="2147474180" r:id="rId13"/>
    <p:sldId id="502" r:id="rId14"/>
    <p:sldId id="2147475634" r:id="rId15"/>
    <p:sldId id="352" r:id="rId16"/>
    <p:sldId id="2147475628" r:id="rId17"/>
    <p:sldId id="961" r:id="rId18"/>
    <p:sldId id="995" r:id="rId19"/>
    <p:sldId id="996" r:id="rId20"/>
    <p:sldId id="997" r:id="rId21"/>
    <p:sldId id="998" r:id="rId22"/>
    <p:sldId id="999" r:id="rId23"/>
    <p:sldId id="1000" r:id="rId24"/>
    <p:sldId id="1001" r:id="rId25"/>
    <p:sldId id="2147475689" r:id="rId26"/>
    <p:sldId id="2147475690" r:id="rId27"/>
    <p:sldId id="2147475731" r:id="rId28"/>
    <p:sldId id="621" r:id="rId29"/>
    <p:sldId id="2147475721" r:id="rId30"/>
    <p:sldId id="2147475771" r:id="rId31"/>
    <p:sldId id="2147475779" r:id="rId32"/>
    <p:sldId id="2147475752" r:id="rId33"/>
    <p:sldId id="2147475759" r:id="rId34"/>
    <p:sldId id="2147475763" r:id="rId35"/>
    <p:sldId id="2147475693" r:id="rId36"/>
    <p:sldId id="2147475780" r:id="rId37"/>
    <p:sldId id="2147475785" r:id="rId38"/>
    <p:sldId id="2147475786" r:id="rId39"/>
    <p:sldId id="2147475788" r:id="rId40"/>
    <p:sldId id="2147475789" r:id="rId41"/>
    <p:sldId id="2145706627" r:id="rId42"/>
  </p:sldIdLst>
  <p:sldSz cx="12192000" cy="6858000"/>
  <p:notesSz cx="6858000" cy="9144000"/>
  <p:embeddedFontLst>
    <p:embeddedFont>
      <p:font typeface="Arial Narrow" panose="020B0606020202030204" pitchFamily="34" charset="0"/>
      <p:regular r:id="rId45"/>
      <p:bold r:id="rId46"/>
      <p:italic r:id="rId47"/>
      <p:boldItalic r:id="rId48"/>
    </p:embeddedFont>
    <p:embeddedFont>
      <p:font typeface="Franklin Gothic Medium" panose="020B0603020102020204" pitchFamily="34" charset="0"/>
      <p:regular r:id="rId49"/>
      <p:italic r:id="rId50"/>
    </p:embeddedFont>
    <p:embeddedFont>
      <p:font typeface="Trebuchet MS" panose="020B0603020202020204" pitchFamily="34" charset="0"/>
      <p:regular r:id="rId51"/>
      <p:bold r:id="rId52"/>
      <p:italic r:id="rId53"/>
      <p:boldItalic r:id="rId54"/>
    </p:embeddedFont>
    <p:embeddedFont>
      <p:font typeface="Ubuntu" panose="020B0504030602030204" pitchFamily="34" charset="0"/>
      <p:regular r:id="rId55"/>
      <p:bold r:id="rId56"/>
      <p:italic r:id="rId57"/>
      <p:boldItalic r:id="rId58"/>
    </p:embeddedFont>
    <p:embeddedFont>
      <p:font typeface="Ubuntu Light" panose="020B0304030602030204" pitchFamily="34" charset="0"/>
      <p:regular r:id="rId59"/>
      <p:italic r:id="rId60"/>
    </p:embeddedFont>
    <p:embeddedFont>
      <p:font typeface="Ubuntu Medium" panose="020B0604030602030204" pitchFamily="34" charset="0"/>
      <p:regular r:id="rId61"/>
      <p:italic r:id="rId62"/>
    </p:embeddedFont>
    <p:embeddedFont>
      <p:font typeface="Verdana" panose="020B0604030504040204" pitchFamily="34" charset="0"/>
      <p:regular r:id="rId63"/>
      <p:bold r:id="rId64"/>
      <p:italic r:id="rId65"/>
      <p:boldItalic r:id="rId66"/>
    </p:embeddedFont>
  </p:embeddedFontLst>
  <p:custDataLst>
    <p:tags r:id="rId67"/>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6" pos="3840">
          <p15:clr>
            <a:srgbClr val="A4A3A4"/>
          </p15:clr>
        </p15:guide>
        <p15:guide id="7"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FB65A2A-290D-13ED-C23D-1E6DF641D341}" name="Gudla, Natraj" initials="GN" userId="S::natraj.gudla@capgemini.com::1b097815-ad51-435d-a557-eb69be7a0b69" providerId="AD"/>
  <p188:author id="{686D5F3C-C17A-8599-C85E-CCBE00A674BC}" name="Ponnaiah, Ananda Arasu" initials="PAA" userId="S::ananda-arasu.ponnaiah@capgemini.com::90f8c9bf-3f57-4c26-80a6-4353495debd7" providerId="AD"/>
  <p188:author id="{96418853-2189-0077-1FDA-20264FF5871F}" name="Jagannathan, Sriram" initials="JS" userId="S::sriram.a.jagannathan@capgemini.com::236b5667-ca83-49ab-8d62-d9e392a93f76" providerId="AD"/>
  <p188:author id="{28CE5056-2E24-3D89-59C6-D08AE81D890D}" name="Houston, Barry" initials="HB" userId="S::barry.houston@capgemini.com::a18d2323-4aba-476e-bf84-02c17c485c96" providerId="AD"/>
  <p188:author id="{20EDFA85-5CA8-5ECC-ECA0-BF6CFAE47224}" name="Cartwright, Max" initials="CM" userId="S::max.cartwright@capgemini.com::4fdaca64-157b-4f34-aebd-58f672b6a20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77489"/>
    <a:srgbClr val="E0EBF6"/>
    <a:srgbClr val="E146C6"/>
    <a:srgbClr val="253356"/>
    <a:srgbClr val="12ABDB"/>
    <a:srgbClr val="D763C6"/>
    <a:srgbClr val="0041C0"/>
    <a:srgbClr val="0040C0"/>
    <a:srgbClr val="6C8DCD"/>
    <a:srgbClr val="2A5FC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365" y="43"/>
      </p:cViewPr>
      <p:guideLst>
        <p:guide pos="3840"/>
        <p:guide orient="horz" pos="216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21" Type="http://schemas.openxmlformats.org/officeDocument/2006/relationships/slide" Target="slides/slide12.xml"/><Relationship Id="rId42" Type="http://schemas.openxmlformats.org/officeDocument/2006/relationships/slide" Target="slides/slide33.xml"/><Relationship Id="rId47" Type="http://schemas.openxmlformats.org/officeDocument/2006/relationships/font" Target="fonts/font3.fntdata"/><Relationship Id="rId63" Type="http://schemas.openxmlformats.org/officeDocument/2006/relationships/font" Target="fonts/font19.fntdata"/><Relationship Id="rId68" Type="http://schemas.openxmlformats.org/officeDocument/2006/relationships/presProps" Target="presProps.xml"/><Relationship Id="rId7" Type="http://schemas.openxmlformats.org/officeDocument/2006/relationships/slideMaster" Target="slideMasters/slideMaster4.xml"/><Relationship Id="rId71"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font" Target="fonts/font14.fntdata"/><Relationship Id="rId66" Type="http://schemas.openxmlformats.org/officeDocument/2006/relationships/font" Target="fonts/font22.fntdata"/><Relationship Id="rId5" Type="http://schemas.openxmlformats.org/officeDocument/2006/relationships/slideMaster" Target="slideMasters/slideMaster2.xml"/><Relationship Id="rId61" Type="http://schemas.openxmlformats.org/officeDocument/2006/relationships/font" Target="fonts/font17.fntdata"/><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notesMaster" Target="notesMasters/notesMaster1.xml"/><Relationship Id="rId48" Type="http://schemas.openxmlformats.org/officeDocument/2006/relationships/font" Target="fonts/font4.fntdata"/><Relationship Id="rId56" Type="http://schemas.openxmlformats.org/officeDocument/2006/relationships/font" Target="fonts/font12.fntdata"/><Relationship Id="rId64" Type="http://schemas.openxmlformats.org/officeDocument/2006/relationships/font" Target="fonts/font20.fntdata"/><Relationship Id="rId69" Type="http://schemas.openxmlformats.org/officeDocument/2006/relationships/viewProps" Target="viewProps.xml"/><Relationship Id="rId8" Type="http://schemas.openxmlformats.org/officeDocument/2006/relationships/slideMaster" Target="slideMasters/slideMaster5.xml"/><Relationship Id="rId51" Type="http://schemas.openxmlformats.org/officeDocument/2006/relationships/font" Target="fonts/font7.fntdata"/><Relationship Id="rId72"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font" Target="fonts/font2.fntdata"/><Relationship Id="rId59" Type="http://schemas.openxmlformats.org/officeDocument/2006/relationships/font" Target="fonts/font15.fntdata"/><Relationship Id="rId67" Type="http://schemas.openxmlformats.org/officeDocument/2006/relationships/tags" Target="tags/tag1.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font" Target="fonts/font10.fntdata"/><Relationship Id="rId62" Type="http://schemas.openxmlformats.org/officeDocument/2006/relationships/font" Target="fonts/font18.fntdata"/><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font" Target="fonts/font5.fntdata"/><Relationship Id="rId57" Type="http://schemas.openxmlformats.org/officeDocument/2006/relationships/font" Target="fonts/font13.fntdata"/><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handoutMaster" Target="handoutMasters/handoutMaster1.xml"/><Relationship Id="rId52" Type="http://schemas.openxmlformats.org/officeDocument/2006/relationships/font" Target="fonts/font8.fntdata"/><Relationship Id="rId60" Type="http://schemas.openxmlformats.org/officeDocument/2006/relationships/font" Target="fonts/font16.fntdata"/><Relationship Id="rId65" Type="http://schemas.openxmlformats.org/officeDocument/2006/relationships/font" Target="fonts/font21.fntdata"/><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34" Type="http://schemas.openxmlformats.org/officeDocument/2006/relationships/slide" Target="slides/slide25.xml"/><Relationship Id="rId50" Type="http://schemas.openxmlformats.org/officeDocument/2006/relationships/font" Target="fonts/font6.fntdata"/><Relationship Id="rId55" Type="http://schemas.openxmlformats.org/officeDocument/2006/relationships/font" Target="fonts/font11.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11/02/2026</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11/02/2026</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Insert comments</a:t>
            </a:r>
            <a:endParaRPr lang="pt-B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powerusersoftwares.com/" TargetMode="External"/><Relationship Id="rId2" Type="http://schemas.openxmlformats.org/officeDocument/2006/relationships/slide" Target="../slides/slide20.xml"/><Relationship Id="rId1" Type="http://schemas.openxmlformats.org/officeDocument/2006/relationships/notesMaster" Target="../notesMasters/notesMaster1.xml"/><Relationship Id="rId4" Type="http://schemas.openxmlformats.org/officeDocument/2006/relationships/hyperlink" Target="https://www.powerusersoftwares.com/terms"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powerusersoftwares.com/" TargetMode="External"/><Relationship Id="rId2" Type="http://schemas.openxmlformats.org/officeDocument/2006/relationships/slide" Target="../slides/slide24.xml"/><Relationship Id="rId1" Type="http://schemas.openxmlformats.org/officeDocument/2006/relationships/notesMaster" Target="../notesMasters/notesMaster1.xml"/><Relationship Id="rId4" Type="http://schemas.openxmlformats.org/officeDocument/2006/relationships/hyperlink" Target="https://www.powerusersoftwares.com/terms"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4A55CF2-256D-44FD-9430-5B63A079CF51}" type="slidenum">
              <a:rPr lang="en-US" smtClean="0"/>
              <a:t>5</a:t>
            </a:fld>
            <a:endParaRPr lang="en-US"/>
          </a:p>
        </p:txBody>
      </p:sp>
    </p:spTree>
    <p:extLst>
      <p:ext uri="{BB962C8B-B14F-4D97-AF65-F5344CB8AC3E}">
        <p14:creationId xmlns:p14="http://schemas.microsoft.com/office/powerpoint/2010/main" val="3641574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6E6F73"/>
                </a:solidFill>
                <a:effectLst/>
                <a:uLnTx/>
                <a:uFillTx/>
                <a:latin typeface="Trebuchet MS"/>
                <a:ea typeface="+mn-ea"/>
                <a:cs typeface="+mn-cs"/>
              </a:rPr>
              <a:t>Notes view: </a:t>
            </a:r>
            <a:fld id="{128CEAFE-FA94-43E5-B0FF-D47E1CCDD1B4}" type="slidenum">
              <a:rPr kumimoji="0" lang="en-US" sz="800" b="0" i="0" u="none" strike="noStrike" kern="1200" cap="none" spc="0" normalizeH="0" baseline="0" noProof="0" smtClean="0">
                <a:ln>
                  <a:noFill/>
                </a:ln>
                <a:solidFill>
                  <a:srgbClr val="6E6F73"/>
                </a:solidFill>
                <a:effectLst/>
                <a:uLnTx/>
                <a:uFillTx/>
                <a:latin typeface="Trebuchet M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800" b="0" i="0" u="none" strike="noStrike" kern="1200" cap="none" spc="0" normalizeH="0" baseline="0" noProof="0">
              <a:ln>
                <a:noFill/>
              </a:ln>
              <a:solidFill>
                <a:srgbClr val="6E6F73"/>
              </a:solidFill>
              <a:effectLst/>
              <a:uLnTx/>
              <a:uFillTx/>
              <a:latin typeface="Trebuchet MS"/>
              <a:ea typeface="+mn-ea"/>
              <a:cs typeface="+mn-cs"/>
            </a:endParaRPr>
          </a:p>
        </p:txBody>
      </p:sp>
    </p:spTree>
    <p:extLst>
      <p:ext uri="{BB962C8B-B14F-4D97-AF65-F5344CB8AC3E}">
        <p14:creationId xmlns:p14="http://schemas.microsoft.com/office/powerpoint/2010/main" val="7889469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Notes view: </a:t>
            </a:r>
            <a:fld id="{128CEAFE-FA94-43E5-B0FF-D47E1CCDD1B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463747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Notes view: </a:t>
            </a:r>
            <a:fld id="{128CEAFE-FA94-43E5-B0FF-D47E1CCDD1B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39587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This template was inserted from Power-user, the productivity add-in for PowerPoint, Excel and Word.</a:t>
            </a:r>
          </a:p>
          <a:p>
            <a:r>
              <a:rPr lang="en-GB"/>
              <a:t>Install Power-user to access thousands of templates, icons, maps, diagrams and charts with Power-user.</a:t>
            </a:r>
          </a:p>
          <a:p>
            <a:r>
              <a:rPr lang="en-GB"/>
              <a:t>Visit </a:t>
            </a:r>
            <a:r>
              <a:rPr lang="en-GB">
                <a:hlinkClick r:id="rId3"/>
              </a:rPr>
              <a:t>https://www.powerusersoftwares.com/</a:t>
            </a:r>
            <a:endParaRPr lang="en-GB"/>
          </a:p>
          <a:p>
            <a:r>
              <a:rPr lang="en-GB"/>
              <a:t>©Power-user SAS, terms of license: </a:t>
            </a:r>
            <a:r>
              <a:rPr lang="en-GB">
                <a:hlinkClick r:id="rId4"/>
              </a:rPr>
              <a:t>https://www.powerusersoftwares.com/terms</a:t>
            </a:r>
            <a:endParaRPr lang="en-US"/>
          </a:p>
        </p:txBody>
      </p:sp>
      <p:sp>
        <p:nvSpPr>
          <p:cNvPr id="4" name="Slide Number Placeholder 3"/>
          <p:cNvSpPr>
            <a:spLocks noGrp="1"/>
          </p:cNvSpPr>
          <p:nvPr>
            <p:ph type="sldNum" sz="quarter" idx="10"/>
          </p:nvPr>
        </p:nvSpPr>
        <p:spPr/>
        <p:txBody>
          <a:bodyPr/>
          <a:lstStyle/>
          <a:p>
            <a:fld id="{B4A55CF2-256D-44FD-9430-5B63A079CF51}" type="slidenum">
              <a:rPr lang="en-US" smtClean="0"/>
              <a:t>20</a:t>
            </a:fld>
            <a:endParaRPr lang="en-US"/>
          </a:p>
        </p:txBody>
      </p:sp>
    </p:spTree>
    <p:extLst>
      <p:ext uri="{BB962C8B-B14F-4D97-AF65-F5344CB8AC3E}">
        <p14:creationId xmlns:p14="http://schemas.microsoft.com/office/powerpoint/2010/main" val="22173087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4A55CF2-256D-44FD-9430-5B63A079CF51}" type="slidenum">
              <a:rPr lang="en-US" smtClean="0"/>
              <a:t>22</a:t>
            </a:fld>
            <a:endParaRPr lang="en-US"/>
          </a:p>
        </p:txBody>
      </p:sp>
    </p:spTree>
    <p:extLst>
      <p:ext uri="{BB962C8B-B14F-4D97-AF65-F5344CB8AC3E}">
        <p14:creationId xmlns:p14="http://schemas.microsoft.com/office/powerpoint/2010/main" val="10624513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en-GB"/>
              <a:t>This template was inserted from Power-user, the productivity add-in for PowerPoint, Excel and Word.</a:t>
            </a:r>
          </a:p>
          <a:p>
            <a:r>
              <a:rPr lang="en-GB"/>
              <a:t>Install Power-user to access thousands of templates, icons, maps, diagrams and charts with Power-user.</a:t>
            </a:r>
          </a:p>
          <a:p>
            <a:r>
              <a:rPr lang="en-GB"/>
              <a:t>Visit </a:t>
            </a:r>
            <a:r>
              <a:rPr lang="en-GB">
                <a:hlinkClick r:id="rId3"/>
              </a:rPr>
              <a:t>https://www.powerusersoftwares.com/</a:t>
            </a:r>
            <a:endParaRPr lang="en-GB"/>
          </a:p>
          <a:p>
            <a:r>
              <a:rPr lang="en-GB"/>
              <a:t>©Power-user SAS, terms of license: </a:t>
            </a:r>
            <a:r>
              <a:rPr lang="en-GB">
                <a:hlinkClick r:id="rId4"/>
              </a:rPr>
              <a:t>https://www.powerusersoftwares.com/terms</a:t>
            </a:r>
            <a:endParaRPr lang="en-GB"/>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A55CF2-256D-44FD-9430-5B63A079CF51}" type="slidenum">
              <a:rPr kumimoji="0" lang="en-GB"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0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2204375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94CF020-0462-2D47-950F-817C4E9C0EDD}" type="slidenum">
              <a:rPr lang="en-US" smtClean="0"/>
              <a:pPr/>
              <a:t>27</a:t>
            </a:fld>
            <a:endParaRPr lang="en-US"/>
          </a:p>
        </p:txBody>
      </p:sp>
    </p:spTree>
    <p:extLst>
      <p:ext uri="{BB962C8B-B14F-4D97-AF65-F5344CB8AC3E}">
        <p14:creationId xmlns:p14="http://schemas.microsoft.com/office/powerpoint/2010/main" val="5595190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4A55CF2-256D-44FD-9430-5B63A079CF51}" type="slidenum">
              <a:rPr lang="en-US" smtClean="0"/>
              <a:t>28</a:t>
            </a:fld>
            <a:endParaRPr lang="en-US"/>
          </a:p>
        </p:txBody>
      </p:sp>
    </p:spTree>
    <p:extLst>
      <p:ext uri="{BB962C8B-B14F-4D97-AF65-F5344CB8AC3E}">
        <p14:creationId xmlns:p14="http://schemas.microsoft.com/office/powerpoint/2010/main" val="35350829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4CF020-0462-2D47-950F-817C4E9C0EDD}" type="slidenum">
              <a:rPr kumimoji="0" lang="en-US"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127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94CF020-0462-2D47-950F-817C4E9C0EDD}" type="slidenum">
              <a:rPr lang="en-US" smtClean="0"/>
              <a:pPr/>
              <a:t>30</a:t>
            </a:fld>
            <a:endParaRPr lang="en-US"/>
          </a:p>
        </p:txBody>
      </p:sp>
    </p:spTree>
    <p:extLst>
      <p:ext uri="{BB962C8B-B14F-4D97-AF65-F5344CB8AC3E}">
        <p14:creationId xmlns:p14="http://schemas.microsoft.com/office/powerpoint/2010/main" val="16613259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4CF020-0462-2D47-950F-817C4E9C0EDD}" type="slidenum">
              <a:rPr kumimoji="0" lang="en-US"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4062434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4CF020-0462-2D47-950F-817C4E9C0EDD}" type="slidenum">
              <a:rPr kumimoji="0" lang="en-US"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8377646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696B5C-12A0-4042-B4D0-BD3B9A4F58C6}" type="slidenum">
              <a:rPr lang="pt-BR" smtClean="0"/>
              <a:pPr/>
              <a:t>33</a:t>
            </a:fld>
            <a:endParaRPr lang="pt-BR"/>
          </a:p>
        </p:txBody>
      </p:sp>
    </p:spTree>
    <p:extLst>
      <p:ext uri="{BB962C8B-B14F-4D97-AF65-F5344CB8AC3E}">
        <p14:creationId xmlns:p14="http://schemas.microsoft.com/office/powerpoint/2010/main" val="10053864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9.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8.xml"/><Relationship Id="rId16" Type="http://schemas.openxmlformats.org/officeDocument/2006/relationships/image" Target="../media/image12.png"/><Relationship Id="rId1" Type="http://schemas.openxmlformats.org/officeDocument/2006/relationships/tags" Target="../tags/tag7.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1.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10.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16.xml"/><Relationship Id="rId4" Type="http://schemas.openxmlformats.org/officeDocument/2006/relationships/image" Target="../media/image1.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17.xml"/><Relationship Id="rId4"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18.xml"/><Relationship Id="rId4" Type="http://schemas.openxmlformats.org/officeDocument/2006/relationships/image" Target="../media/image1.emf"/></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3.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4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21.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20.xml"/><Relationship Id="rId16" Type="http://schemas.openxmlformats.org/officeDocument/2006/relationships/image" Target="../media/image12.png"/><Relationship Id="rId1" Type="http://schemas.openxmlformats.org/officeDocument/2006/relationships/tags" Target="../tags/tag19.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3.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22.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23.xml"/><Relationship Id="rId4" Type="http://schemas.openxmlformats.org/officeDocument/2006/relationships/image" Target="../media/image1.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24.xml"/><Relationship Id="rId4" Type="http://schemas.openxmlformats.org/officeDocument/2006/relationships/image" Target="../media/image1.emf"/></Relationships>
</file>

<file path=ppt/slideLayouts/_rels/slideLayout51.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7.emf"/><Relationship Id="rId5" Type="http://schemas.openxmlformats.org/officeDocument/2006/relationships/oleObject" Target="../embeddings/oleObject5.bin"/><Relationship Id="rId4"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28.xml"/><Relationship Id="rId4" Type="http://schemas.openxmlformats.org/officeDocument/2006/relationships/image" Target="../media/image1.emf"/></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8" Type="http://schemas.openxmlformats.org/officeDocument/2006/relationships/image" Target="../media/image17.emf"/><Relationship Id="rId3" Type="http://schemas.openxmlformats.org/officeDocument/2006/relationships/tags" Target="../tags/tag31.xml"/><Relationship Id="rId7" Type="http://schemas.openxmlformats.org/officeDocument/2006/relationships/oleObject" Target="../embeddings/oleObject6.bin"/><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slideMaster" Target="../slideMasters/slideMaster3.xml"/><Relationship Id="rId11" Type="http://schemas.openxmlformats.org/officeDocument/2006/relationships/hyperlink" Target="https://www.capgemini.com/optimize-your-business-and-it-operations" TargetMode="External"/><Relationship Id="rId5" Type="http://schemas.openxmlformats.org/officeDocument/2006/relationships/tags" Target="../tags/tag33.xml"/><Relationship Id="rId10" Type="http://schemas.openxmlformats.org/officeDocument/2006/relationships/image" Target="../media/image19.svg"/><Relationship Id="rId4" Type="http://schemas.openxmlformats.org/officeDocument/2006/relationships/tags" Target="../tags/tag32.xml"/><Relationship Id="rId9" Type="http://schemas.openxmlformats.org/officeDocument/2006/relationships/image" Target="../media/image18.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tags" Target="../tags/tag36.xml"/><Relationship Id="rId7" Type="http://schemas.openxmlformats.org/officeDocument/2006/relationships/image" Target="../media/image20.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image" Target="../media/image17.emf"/><Relationship Id="rId5" Type="http://schemas.openxmlformats.org/officeDocument/2006/relationships/oleObject" Target="../embeddings/oleObject7.bin"/><Relationship Id="rId4"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8.xml"/><Relationship Id="rId4" Type="http://schemas.openxmlformats.org/officeDocument/2006/relationships/image" Target="../media/image1.emf"/></Relationships>
</file>

<file path=ppt/slideLayouts/_rels/slideLayout7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9.xml"/><Relationship Id="rId4" Type="http://schemas.openxmlformats.org/officeDocument/2006/relationships/image" Target="../media/image1.emf"/></Relationships>
</file>

<file path=ppt/slideLayouts/_rels/slideLayout7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0.xml"/><Relationship Id="rId4" Type="http://schemas.openxmlformats.org/officeDocument/2006/relationships/image" Target="../media/image1.emf"/></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4.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80.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43.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42.xml"/><Relationship Id="rId16" Type="http://schemas.openxmlformats.org/officeDocument/2006/relationships/image" Target="../media/image12.png"/><Relationship Id="rId1" Type="http://schemas.openxmlformats.org/officeDocument/2006/relationships/tags" Target="../tags/tag41.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4.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44.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5.xml"/><Relationship Id="rId4" Type="http://schemas.openxmlformats.org/officeDocument/2006/relationships/image" Target="../media/image1.emf"/></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2.jpe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47.xml"/><Relationship Id="rId4" Type="http://schemas.openxmlformats.org/officeDocument/2006/relationships/image" Target="../media/image1.emf"/></Relationships>
</file>

<file path=ppt/slideLayouts/_rels/slideLayout9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48.xml"/><Relationship Id="rId4" Type="http://schemas.openxmlformats.org/officeDocument/2006/relationships/image" Target="../media/image1.emf"/></Relationships>
</file>

<file path=ppt/slideLayouts/_rels/slideLayout9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49.xml"/><Relationship Id="rId4" Type="http://schemas.openxmlformats.org/officeDocument/2006/relationships/image" Target="../media/image1.emf"/></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5.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10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52.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51.xml"/><Relationship Id="rId16" Type="http://schemas.openxmlformats.org/officeDocument/2006/relationships/image" Target="../media/image12.png"/><Relationship Id="rId1" Type="http://schemas.openxmlformats.org/officeDocument/2006/relationships/tags" Target="../tags/tag50.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5.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53.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5.xml"/><Relationship Id="rId1" Type="http://schemas.openxmlformats.org/officeDocument/2006/relationships/tags" Target="../tags/tag54.xml"/><Relationship Id="rId4" Type="http://schemas.openxmlformats.org/officeDocument/2006/relationships/image" Target="../media/image1.emf"/></Relationships>
</file>

<file path=ppt/slideLayouts/_rels/slideLayout10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5.xml"/><Relationship Id="rId1" Type="http://schemas.openxmlformats.org/officeDocument/2006/relationships/tags" Target="../tags/tag55.xml"/><Relationship Id="rId4" Type="http://schemas.openxmlformats.org/officeDocument/2006/relationships/image" Target="../media/image1.emf"/></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Master" Target="../slideMasters/slideMaster5.xml"/><Relationship Id="rId5" Type="http://schemas.openxmlformats.org/officeDocument/2006/relationships/image" Target="../media/image26.png"/><Relationship Id="rId4" Type="http://schemas.openxmlformats.org/officeDocument/2006/relationships/image" Target="../media/image25.png"/></Relationships>
</file>

<file path=ppt/slideLayouts/_rels/slideLayout10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5.xml"/><Relationship Id="rId1" Type="http://schemas.openxmlformats.org/officeDocument/2006/relationships/tags" Target="../tags/tag56.xml"/><Relationship Id="rId4" Type="http://schemas.openxmlformats.org/officeDocument/2006/relationships/image" Target="../media/image17.emf"/></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57.xml"/><Relationship Id="rId4" Type="http://schemas.openxmlformats.org/officeDocument/2006/relationships/image" Target="../media/image1.emf"/></Relationships>
</file>

<file path=ppt/slideLayouts/_rels/slideLayout113.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59.xml"/><Relationship Id="rId1" Type="http://schemas.openxmlformats.org/officeDocument/2006/relationships/tags" Target="../tags/tag58.xml"/><Relationship Id="rId5" Type="http://schemas.openxmlformats.org/officeDocument/2006/relationships/image" Target="../media/image27.emf"/><Relationship Id="rId4" Type="http://schemas.openxmlformats.org/officeDocument/2006/relationships/oleObject" Target="../embeddings/oleObject11.bin"/></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6.xml"/><Relationship Id="rId5" Type="http://schemas.openxmlformats.org/officeDocument/2006/relationships/image" Target="../media/image2.png"/><Relationship Id="rId4" Type="http://schemas.openxmlformats.org/officeDocument/2006/relationships/image" Target="../media/image5.svg"/></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61.xml"/><Relationship Id="rId4" Type="http://schemas.openxmlformats.org/officeDocument/2006/relationships/image" Target="../media/image1.emf"/></Relationships>
</file>

<file path=ppt/slideLayouts/_rels/slideLayout13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62.xml"/><Relationship Id="rId4" Type="http://schemas.openxmlformats.org/officeDocument/2006/relationships/image" Target="../media/image1.emf"/></Relationships>
</file>

<file path=ppt/slideLayouts/_rels/slideLayout13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63.xml"/><Relationship Id="rId4" Type="http://schemas.openxmlformats.org/officeDocument/2006/relationships/image" Target="../media/image1.emf"/></Relationships>
</file>

<file path=ppt/slideLayouts/_rels/slideLayout13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64.xml"/><Relationship Id="rId4" Type="http://schemas.openxmlformats.org/officeDocument/2006/relationships/image" Target="../media/image1.emf"/></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6.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139.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67.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66.xml"/><Relationship Id="rId16" Type="http://schemas.openxmlformats.org/officeDocument/2006/relationships/image" Target="../media/image12.png"/><Relationship Id="rId1" Type="http://schemas.openxmlformats.org/officeDocument/2006/relationships/tags" Target="../tags/tag65.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6.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68.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6.xml"/><Relationship Id="rId1" Type="http://schemas.openxmlformats.org/officeDocument/2006/relationships/tags" Target="../tags/tag69.xml"/><Relationship Id="rId5" Type="http://schemas.openxmlformats.org/officeDocument/2006/relationships/image" Target="../media/image28.png"/><Relationship Id="rId4" Type="http://schemas.openxmlformats.org/officeDocument/2006/relationships/image" Target="../media/image1.emf"/></Relationships>
</file>

<file path=ppt/slideLayouts/_rels/slideLayout14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hemeOverride" Target="../theme/themeOverride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241154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1990185582"/>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743173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550818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43589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42031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70050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41078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4810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57535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576656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29555795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192420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310471827"/>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7667358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0897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735264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797057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280450640"/>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6522078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790077819"/>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35555659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FB450-1E49-4B52-9911-7E6917A8A2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9ED87E-8BF4-4026-80B2-EE6EEFE427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3A384A-808A-4F76-B2EA-38B99153B74E}"/>
              </a:ext>
            </a:extLst>
          </p:cNvPr>
          <p:cNvSpPr>
            <a:spLocks noGrp="1"/>
          </p:cNvSpPr>
          <p:nvPr>
            <p:ph type="dt" sz="half" idx="10"/>
          </p:nvPr>
        </p:nvSpPr>
        <p:spPr/>
        <p:txBody>
          <a:bodyPr/>
          <a:lstStyle/>
          <a:p>
            <a:fld id="{63ED0650-D9F0-459B-9D87-0B1326143F31}" type="datetimeFigureOut">
              <a:rPr lang="en-IN" smtClean="0"/>
              <a:t>11-02-2026</a:t>
            </a:fld>
            <a:endParaRPr lang="en-IN"/>
          </a:p>
        </p:txBody>
      </p:sp>
      <p:sp>
        <p:nvSpPr>
          <p:cNvPr id="5" name="Footer Placeholder 4">
            <a:extLst>
              <a:ext uri="{FF2B5EF4-FFF2-40B4-BE49-F238E27FC236}">
                <a16:creationId xmlns:a16="http://schemas.microsoft.com/office/drawing/2014/main" id="{7010D720-78A7-459B-8E5D-D20CA26773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046FEB-8EDD-4919-A26E-5757EB36EA85}"/>
              </a:ext>
            </a:extLst>
          </p:cNvPr>
          <p:cNvSpPr>
            <a:spLocks noGrp="1"/>
          </p:cNvSpPr>
          <p:nvPr>
            <p:ph type="sldNum" sz="quarter" idx="12"/>
          </p:nvPr>
        </p:nvSpPr>
        <p:spPr/>
        <p:txBody>
          <a:bodyPr/>
          <a:lstStyle/>
          <a:p>
            <a:fld id="{EF8DFA20-5F2A-463A-9076-07DB3AA08392}" type="slidenum">
              <a:rPr lang="en-IN" smtClean="0"/>
              <a:t>‹#›</a:t>
            </a:fld>
            <a:endParaRPr lang="en-IN"/>
          </a:p>
        </p:txBody>
      </p:sp>
    </p:spTree>
    <p:extLst>
      <p:ext uri="{BB962C8B-B14F-4D97-AF65-F5344CB8AC3E}">
        <p14:creationId xmlns:p14="http://schemas.microsoft.com/office/powerpoint/2010/main" val="1401815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84150" y="175419"/>
            <a:ext cx="10515600" cy="365127"/>
          </a:xfrm>
        </p:spPr>
        <p:txBody>
          <a:bodyPr anchor="t">
            <a:normAutofit/>
          </a:bodyPr>
          <a:lstStyle>
            <a:lvl1pPr>
              <a:defRPr lang="en-US" sz="2800" kern="1200" dirty="0">
                <a:solidFill>
                  <a:srgbClr val="FF0000"/>
                </a:solidFill>
                <a:latin typeface="+mn-lt"/>
                <a:ea typeface="+mn-ea"/>
                <a:cs typeface="+mn-cs"/>
              </a:defRPr>
            </a:lvl1pPr>
          </a:lstStyle>
          <a:p>
            <a:r>
              <a:rPr lang="en-US"/>
              <a:t>Main Heading</a:t>
            </a:r>
          </a:p>
        </p:txBody>
      </p:sp>
      <p:sp>
        <p:nvSpPr>
          <p:cNvPr id="4" name="Date Placeholder 3"/>
          <p:cNvSpPr>
            <a:spLocks noGrp="1"/>
          </p:cNvSpPr>
          <p:nvPr>
            <p:ph type="dt" sz="half" idx="10"/>
          </p:nvPr>
        </p:nvSpPr>
        <p:spPr/>
        <p:txBody>
          <a:bodyPr/>
          <a:lstStyle/>
          <a:p>
            <a:fld id="{A62CCA1E-0EEA-4CCA-A9F2-89AEF8419AFD}" type="datetimeFigureOut">
              <a:rPr lang="en-GB" smtClean="0"/>
              <a:t>11/02/2026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6612583-AFA1-4562-9DDD-EB238F2D05DB}" type="slidenum">
              <a:rPr lang="en-GB" smtClean="0"/>
              <a:t>‹#›</a:t>
            </a:fld>
            <a:endParaRPr lang="en-GB"/>
          </a:p>
        </p:txBody>
      </p:sp>
      <p:sp>
        <p:nvSpPr>
          <p:cNvPr id="7" name="Subtitle 2">
            <a:extLst>
              <a:ext uri="{FF2B5EF4-FFF2-40B4-BE49-F238E27FC236}">
                <a16:creationId xmlns:a16="http://schemas.microsoft.com/office/drawing/2014/main" id="{D0007C42-634C-FE59-CD16-D8B207A58BAD}"/>
              </a:ext>
            </a:extLst>
          </p:cNvPr>
          <p:cNvSpPr>
            <a:spLocks noGrp="1"/>
          </p:cNvSpPr>
          <p:nvPr>
            <p:ph type="subTitle" idx="1" hasCustomPrompt="1"/>
          </p:nvPr>
        </p:nvSpPr>
        <p:spPr>
          <a:xfrm>
            <a:off x="184150" y="617538"/>
            <a:ext cx="9144000" cy="365125"/>
          </a:xfrm>
        </p:spPr>
        <p:txBody>
          <a:bodyPr>
            <a:normAutofit/>
          </a:bodyPr>
          <a:lstStyle>
            <a:lvl1pPr marL="0" indent="0" algn="l">
              <a:buNone/>
              <a:defRPr sz="1800">
                <a:solidFill>
                  <a:schemeClr val="accent6">
                    <a:lumMod val="7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Optional </a:t>
            </a:r>
            <a:r>
              <a:rPr lang="en-US" err="1"/>
              <a:t>Subheader</a:t>
            </a:r>
            <a:endParaRPr lang="en-US"/>
          </a:p>
        </p:txBody>
      </p:sp>
    </p:spTree>
    <p:extLst>
      <p:ext uri="{BB962C8B-B14F-4D97-AF65-F5344CB8AC3E}">
        <p14:creationId xmlns:p14="http://schemas.microsoft.com/office/powerpoint/2010/main" val="1013811931"/>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Green one third">
    <p:bg>
      <p:bgPr>
        <a:solidFill>
          <a:srgbClr val="D763C6"/>
        </a:solidFill>
        <a:effectLst/>
      </p:bgPr>
    </p:bg>
    <p:spTree>
      <p:nvGrpSpPr>
        <p:cNvPr id="1" name=""/>
        <p:cNvGrpSpPr/>
        <p:nvPr/>
      </p:nvGrpSpPr>
      <p:grpSpPr>
        <a:xfrm>
          <a:off x="0" y="0"/>
          <a:ext cx="0" cy="0"/>
          <a:chOff x="0" y="0"/>
          <a:chExt cx="0" cy="0"/>
        </a:xfrm>
      </p:grpSpPr>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a:t>Click to add title</a:t>
            </a:r>
          </a:p>
        </p:txBody>
      </p:sp>
      <p:sp>
        <p:nvSpPr>
          <p:cNvPr id="13" name="Rectangle 12"/>
          <p:cNvSpPr/>
          <p:nvPr userDrawn="1"/>
        </p:nvSpPr>
        <p:spPr bwMode="white">
          <a:xfrm>
            <a:off x="4080763" y="-1309"/>
            <a:ext cx="8111237" cy="6859309"/>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2019 by The Boston Consulting Group, Inc.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Beazley Agile </a:t>
            </a:r>
            <a:r>
              <a:rPr lang="en-US" sz="700" err="1">
                <a:solidFill>
                  <a:schemeClr val="bg1">
                    <a:lumMod val="50000"/>
                  </a:schemeClr>
                </a:solidFill>
                <a:latin typeface="+mn-lt"/>
                <a:sym typeface="Trebuchet MS" panose="020B0603020202020204" pitchFamily="34" charset="0"/>
              </a:rPr>
              <a:t>Playbook_compendium</a:t>
            </a:r>
            <a:r>
              <a:rPr lang="en-US" sz="700">
                <a:solidFill>
                  <a:schemeClr val="bg1">
                    <a:lumMod val="50000"/>
                  </a:schemeClr>
                </a:solidFill>
                <a:latin typeface="+mn-lt"/>
                <a:sym typeface="Trebuchet MS" panose="020B0603020202020204" pitchFamily="34" charset="0"/>
              </a:rPr>
              <a:t> v9.pptx</a:t>
            </a:r>
          </a:p>
        </p:txBody>
      </p:sp>
    </p:spTree>
    <p:extLst>
      <p:ext uri="{BB962C8B-B14F-4D97-AF65-F5344CB8AC3E}">
        <p14:creationId xmlns:p14="http://schemas.microsoft.com/office/powerpoint/2010/main" val="16464866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D. Arrow half">
    <p:bg>
      <p:bgPr>
        <a:solidFill>
          <a:srgbClr val="D763C6"/>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18"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2019 by The Boston Consulting Group, Inc. All rights reserved.</a:t>
            </a: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Beazley Agile </a:t>
            </a:r>
            <a:r>
              <a:rPr lang="en-US" sz="700" err="1">
                <a:solidFill>
                  <a:schemeClr val="bg1"/>
                </a:solidFill>
                <a:latin typeface="+mn-lt"/>
                <a:sym typeface="Trebuchet MS" panose="020B0603020202020204" pitchFamily="34" charset="0"/>
              </a:rPr>
              <a:t>Playbook_compendium</a:t>
            </a:r>
            <a:r>
              <a:rPr lang="en-US" sz="700">
                <a:solidFill>
                  <a:schemeClr val="bg1"/>
                </a:solidFill>
                <a:latin typeface="+mn-lt"/>
                <a:sym typeface="Trebuchet MS" panose="020B0603020202020204" pitchFamily="34" charset="0"/>
              </a:rPr>
              <a:t> v9.pptx</a:t>
            </a: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96032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2019 by The Boston Consulting Group, Inc. All rights reserved.</a:t>
            </a: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Beazley Agile </a:t>
            </a:r>
            <a:r>
              <a:rPr lang="en-US" sz="700" err="1">
                <a:solidFill>
                  <a:schemeClr val="bg1">
                    <a:lumMod val="50000"/>
                  </a:schemeClr>
                </a:solidFill>
                <a:latin typeface="+mn-lt"/>
                <a:sym typeface="Trebuchet MS" panose="020B0603020202020204" pitchFamily="34" charset="0"/>
              </a:rPr>
              <a:t>Playbook_compendium</a:t>
            </a:r>
            <a:r>
              <a:rPr lang="en-US" sz="700">
                <a:solidFill>
                  <a:schemeClr val="bg1">
                    <a:lumMod val="50000"/>
                  </a:schemeClr>
                </a:solidFill>
                <a:latin typeface="+mn-lt"/>
                <a:sym typeface="Trebuchet MS" panose="020B0603020202020204" pitchFamily="34" charset="0"/>
              </a:rPr>
              <a:t> v9.pptx</a:t>
            </a:r>
          </a:p>
        </p:txBody>
      </p:sp>
    </p:spTree>
    <p:extLst>
      <p:ext uri="{BB962C8B-B14F-4D97-AF65-F5344CB8AC3E}">
        <p14:creationId xmlns:p14="http://schemas.microsoft.com/office/powerpoint/2010/main" val="30207016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81AB4-7D60-0388-ACF1-A57F24D78E92}"/>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3E5C353-32A6-3AAB-F7EE-95BEF61EC80D}"/>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9037334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2402411546"/>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1990185582"/>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74317356"/>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5508180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4358952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4203169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7005057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410785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481092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5753580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57665688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192420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310471827"/>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76673580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08972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7352646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797057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
        <p:nvSpPr>
          <p:cNvPr id="22" name="Rectangle 21">
            <a:extLst>
              <a:ext uri="{FF2B5EF4-FFF2-40B4-BE49-F238E27FC236}">
                <a16:creationId xmlns:a16="http://schemas.microsoft.com/office/drawing/2014/main" id="{1895EE92-DCB2-4898-B1A1-3B79A9CC2B38}"/>
              </a:ext>
            </a:extLst>
          </p:cNvPr>
          <p:cNvSpPr/>
          <p:nvPr userDrawn="1"/>
        </p:nvSpPr>
        <p:spPr>
          <a:xfrm>
            <a:off x="6536185" y="3318394"/>
            <a:ext cx="4528367"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a:solidFill>
                  <a:schemeClr val="bg1"/>
                </a:solidFill>
                <a:effectLst/>
                <a:ea typeface="Verdana" panose="020B060403050404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a:t>
            </a:r>
            <a:r>
              <a:rPr lang="en-US" sz="900">
                <a:solidFill>
                  <a:schemeClr val="bg1"/>
                </a:solidFill>
                <a:effectLst/>
                <a:ea typeface="Verdana" panose="020B0604030504040204" pitchFamily="34" charset="0"/>
              </a:rPr>
              <a:t>fueled</a:t>
            </a:r>
            <a:r>
              <a:rPr lang="en-GB" sz="900">
                <a:solidFill>
                  <a:schemeClr val="bg1"/>
                </a:solidFill>
                <a:effectLst/>
                <a:ea typeface="Verdana" panose="020B0604030504040204" pitchFamily="34" charset="0"/>
              </a:rPr>
              <a:t> by the fast evolving and innovative world of cloud, data, AI, connectivity, software, digital engineering and platforms. The Group reported in 2021 global revenues of €18 billion.</a:t>
            </a:r>
            <a:endParaRPr lang="en-US" sz="900">
              <a:solidFill>
                <a:schemeClr val="bg1"/>
              </a:solidFill>
              <a:effectLst/>
              <a:ea typeface="Verdana" panose="020B0604030504040204" pitchFamily="34" charset="0"/>
            </a:endParaRPr>
          </a:p>
        </p:txBody>
      </p:sp>
    </p:spTree>
    <p:extLst>
      <p:ext uri="{BB962C8B-B14F-4D97-AF65-F5344CB8AC3E}">
        <p14:creationId xmlns:p14="http://schemas.microsoft.com/office/powerpoint/2010/main" val="2280450640"/>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65220789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790077819"/>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5" name="Object 1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974872" y="0"/>
            <a:ext cx="10377711" cy="1104900"/>
          </a:xfrm>
        </p:spPr>
        <p:txBody>
          <a:bodyPr/>
          <a:lstStyle/>
          <a:p>
            <a:r>
              <a:rPr lang="fr-FR"/>
              <a:t>Modifiez le style du titre</a:t>
            </a:r>
            <a:endParaRPr lang="en-GB"/>
          </a:p>
        </p:txBody>
      </p:sp>
      <p:sp>
        <p:nvSpPr>
          <p:cNvPr id="4" name="Text Placeholder 3"/>
          <p:cNvSpPr>
            <a:spLocks noGrp="1"/>
          </p:cNvSpPr>
          <p:nvPr>
            <p:ph type="body" sz="quarter" idx="10"/>
          </p:nvPr>
        </p:nvSpPr>
        <p:spPr>
          <a:xfrm>
            <a:off x="227347" y="1815351"/>
            <a:ext cx="11700000" cy="44676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a:t>
            </a:r>
            <a:endParaRPr lang="en-GB"/>
          </a:p>
        </p:txBody>
      </p:sp>
    </p:spTree>
    <p:extLst>
      <p:ext uri="{BB962C8B-B14F-4D97-AF65-F5344CB8AC3E}">
        <p14:creationId xmlns:p14="http://schemas.microsoft.com/office/powerpoint/2010/main" val="52549952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fr-FR"/>
              <a:t>Modifiez le style du titre</a:t>
            </a:r>
            <a:endParaRPr lang="en-GB"/>
          </a:p>
        </p:txBody>
      </p:sp>
    </p:spTree>
    <p:extLst>
      <p:ext uri="{BB962C8B-B14F-4D97-AF65-F5344CB8AC3E}">
        <p14:creationId xmlns:p14="http://schemas.microsoft.com/office/powerpoint/2010/main" val="79150188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2" y="4"/>
          <a:ext cx="180999" cy="143985"/>
        </p:xfrm>
        <a:graphic>
          <a:graphicData uri="http://schemas.openxmlformats.org/presentationml/2006/ole">
            <mc:AlternateContent xmlns:mc="http://schemas.openxmlformats.org/markup-compatibility/2006">
              <mc:Choice xmlns:v="urn:schemas-microsoft-com:vml" Requires="v">
                <p:oleObj name="think-cell Slide" r:id="rId5" imgW="360" imgH="360" progId="">
                  <p:embed/>
                </p:oleObj>
              </mc:Choice>
              <mc:Fallback>
                <p:oleObj name="think-cell Slide" r:id="rId5" imgW="360" imgH="360" progId="">
                  <p:embed/>
                  <p:pic>
                    <p:nvPicPr>
                      <p:cNvPr id="4" name="Object 3"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 y="4"/>
                        <a:ext cx="180999"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2"/>
            </p:custDataLst>
          </p:nvPr>
        </p:nvSpPr>
        <p:spPr/>
        <p:txBody>
          <a:bodyPr/>
          <a:lstStyle>
            <a:lvl1pPr>
              <a:defRPr/>
            </a:lvl1pPr>
          </a:lstStyle>
          <a:p>
            <a:r>
              <a:rPr lang="en-US" noProof="0"/>
              <a:t>Click to edit Master title style</a:t>
            </a:r>
            <a:endParaRPr lang="en-US"/>
          </a:p>
        </p:txBody>
      </p:sp>
      <p:sp>
        <p:nvSpPr>
          <p:cNvPr id="3" name="Content Placeholder 2"/>
          <p:cNvSpPr>
            <a:spLocks noGrp="1"/>
          </p:cNvSpPr>
          <p:nvPr>
            <p:ph idx="1" hasCustomPrompt="1"/>
            <p:custDataLst>
              <p:tags r:id="rId3"/>
            </p:custDataLst>
          </p:nvPr>
        </p:nvSpPr>
        <p:spPr>
          <a:xfrm>
            <a:off x="398021" y="1494769"/>
            <a:ext cx="11793979" cy="4643751"/>
          </a:xfrm>
        </p:spPr>
        <p:txBody>
          <a:bodyPr/>
          <a:lstStyle>
            <a:lvl1pPr>
              <a:defRPr b="0"/>
            </a:lvl1pPr>
            <a:lvl5pPr>
              <a:buNone/>
              <a:defRPr/>
            </a:lvl5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Tree>
    <p:extLst>
      <p:ext uri="{BB962C8B-B14F-4D97-AF65-F5344CB8AC3E}">
        <p14:creationId xmlns:p14="http://schemas.microsoft.com/office/powerpoint/2010/main" val="301820437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228600" y="152400"/>
            <a:ext cx="11125236" cy="838200"/>
          </a:xfrm>
        </p:spPr>
        <p:txBody>
          <a:bodyPr/>
          <a:lstStyle/>
          <a:p>
            <a:r>
              <a:rPr lang="en-US"/>
              <a:t>Click to edit Master title style</a:t>
            </a:r>
            <a:endParaRPr lang="en-GB"/>
          </a:p>
        </p:txBody>
      </p:sp>
    </p:spTree>
    <p:extLst>
      <p:ext uri="{BB962C8B-B14F-4D97-AF65-F5344CB8AC3E}">
        <p14:creationId xmlns:p14="http://schemas.microsoft.com/office/powerpoint/2010/main" val="401654245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5" name="Espace réservé du titre 8">
            <a:extLst>
              <a:ext uri="{FF2B5EF4-FFF2-40B4-BE49-F238E27FC236}">
                <a16:creationId xmlns:a16="http://schemas.microsoft.com/office/drawing/2014/main" id="{9E35DCC2-39B8-A349-A701-BCC779217600}"/>
              </a:ext>
            </a:extLst>
          </p:cNvPr>
          <p:cNvSpPr>
            <a:spLocks noGrp="1"/>
          </p:cNvSpPr>
          <p:nvPr>
            <p:ph type="title"/>
          </p:nvPr>
        </p:nvSpPr>
        <p:spPr>
          <a:xfrm>
            <a:off x="479376" y="386054"/>
            <a:ext cx="8784976" cy="476672"/>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spTree>
    <p:extLst>
      <p:ext uri="{BB962C8B-B14F-4D97-AF65-F5344CB8AC3E}">
        <p14:creationId xmlns:p14="http://schemas.microsoft.com/office/powerpoint/2010/main" val="204524544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tbl">
  <p:cSld name="Title and Table">
    <p:spTree>
      <p:nvGrpSpPr>
        <p:cNvPr id="1" name=""/>
        <p:cNvGrpSpPr/>
        <p:nvPr/>
      </p:nvGrpSpPr>
      <p:grpSpPr>
        <a:xfrm>
          <a:off x="0" y="0"/>
          <a:ext cx="0" cy="0"/>
          <a:chOff x="0" y="0"/>
          <a:chExt cx="0" cy="0"/>
        </a:xfrm>
      </p:grpSpPr>
      <p:graphicFrame>
        <p:nvGraphicFramePr>
          <p:cNvPr id="4" name="Object 1" hidden="1"/>
          <p:cNvGraphicFramePr>
            <a:graphicFrameLocks noChangeAspect="1"/>
          </p:cNvGraphicFramePr>
          <p:nvPr>
            <p:custDataLst>
              <p:tags r:id="rId1"/>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name="think-cell Slide" r:id="rId7" imgW="360" imgH="360" progId="">
                  <p:embed/>
                </p:oleObj>
              </mc:Choice>
              <mc:Fallback>
                <p:oleObj name="think-cell Slide" r:id="rId7" imgW="360" imgH="360" progId="">
                  <p:embed/>
                  <p:pic>
                    <p:nvPicPr>
                      <p:cNvPr id="4" name="Object 1"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Box 4"/>
          <p:cNvSpPr txBox="1"/>
          <p:nvPr>
            <p:custDataLst>
              <p:tags r:id="rId2"/>
            </p:custDataLst>
          </p:nvPr>
        </p:nvSpPr>
        <p:spPr>
          <a:xfrm>
            <a:off x="11766295" y="6661264"/>
            <a:ext cx="153888" cy="107722"/>
          </a:xfrm>
          <a:prstGeom prst="rect">
            <a:avLst/>
          </a:prstGeom>
          <a:noFill/>
        </p:spPr>
        <p:txBody>
          <a:bodyPr wrap="none" lIns="0" tIns="0" rIns="0" bIns="0" anchor="ctr">
            <a:spAutoFit/>
          </a:bodyPr>
          <a:lstStyle/>
          <a:p>
            <a:pPr algn="ctr" defTabSz="957756" fontAlgn="auto">
              <a:spcBef>
                <a:spcPts val="0"/>
              </a:spcBef>
              <a:spcAft>
                <a:spcPts val="0"/>
              </a:spcAft>
              <a:defRPr/>
            </a:pPr>
            <a:fld id="{034FB964-67C8-49A9-847A-93BE26A1CD9E}" type="slidenum">
              <a:rPr lang="en-US" sz="700">
                <a:solidFill>
                  <a:schemeClr val="tx2"/>
                </a:solidFill>
                <a:latin typeface="Verdana" panose="020B0604030504040204" pitchFamily="34" charset="0"/>
                <a:ea typeface="Verdana" panose="020B0604030504040204" pitchFamily="34" charset="0"/>
                <a:cs typeface="Verdana" panose="020B0604030504040204" pitchFamily="34" charset="0"/>
              </a:rPr>
              <a:pPr algn="ctr" defTabSz="957756" fontAlgn="auto">
                <a:spcBef>
                  <a:spcPts val="0"/>
                </a:spcBef>
                <a:spcAft>
                  <a:spcPts val="0"/>
                </a:spcAft>
                <a:defRPr/>
              </a:pPr>
              <a:t>‹#›</a:t>
            </a:fld>
            <a:endParaRPr lang="en-US" sz="70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6" name="Freeform 4"/>
          <p:cNvSpPr>
            <a:spLocks/>
          </p:cNvSpPr>
          <p:nvPr>
            <p:custDataLst>
              <p:tags r:id="rId3"/>
            </p:custDataLst>
          </p:nvPr>
        </p:nvSpPr>
        <p:spPr bwMode="auto">
          <a:xfrm>
            <a:off x="0" y="676276"/>
            <a:ext cx="12192000" cy="728663"/>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lIns="99563" tIns="49782" rIns="99563" bIns="49782"/>
          <a:lstStyle/>
          <a:p>
            <a:pPr defTabSz="957756" fontAlgn="auto">
              <a:spcBef>
                <a:spcPts val="0"/>
              </a:spcBef>
              <a:spcAft>
                <a:spcPts val="0"/>
              </a:spcAft>
              <a:defRPr/>
            </a:pPr>
            <a:endParaRPr lang="fr-FR" sz="1800">
              <a:latin typeface="Verdana" panose="020B0604030504040204" pitchFamily="34" charset="0"/>
              <a:ea typeface="Verdana" panose="020B0604030504040204" pitchFamily="34" charset="0"/>
              <a:cs typeface="Verdana" panose="020B0604030504040204" pitchFamily="34" charset="0"/>
            </a:endParaRPr>
          </a:p>
        </p:txBody>
      </p:sp>
      <p:cxnSp>
        <p:nvCxnSpPr>
          <p:cNvPr id="9" name="Straight Connector 5"/>
          <p:cNvCxnSpPr/>
          <p:nvPr>
            <p:custDataLst>
              <p:tags r:id="rId4"/>
            </p:custDataLst>
          </p:nvPr>
        </p:nvCxnSpPr>
        <p:spPr>
          <a:xfrm flipH="1">
            <a:off x="0" y="6362700"/>
            <a:ext cx="12192000"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325967" y="136527"/>
            <a:ext cx="11618384" cy="549275"/>
          </a:xfrm>
        </p:spPr>
        <p:txBody>
          <a:bodyPr/>
          <a:lstStyle>
            <a:lvl1pPr>
              <a:defRPr>
                <a:latin typeface="Verdana" panose="020B0604030504040204" pitchFamily="34" charset="0"/>
                <a:ea typeface="Verdana" panose="020B0604030504040204" pitchFamily="34" charset="0"/>
                <a:cs typeface="Verdana" panose="020B0604030504040204" pitchFamily="34" charset="0"/>
              </a:defRPr>
            </a:lvl1pPr>
          </a:lstStyle>
          <a:p>
            <a:r>
              <a:rPr lang="en-US"/>
              <a:t>Click to edit Master title style</a:t>
            </a:r>
            <a:endParaRPr lang="nl-NL"/>
          </a:p>
        </p:txBody>
      </p:sp>
      <p:sp>
        <p:nvSpPr>
          <p:cNvPr id="3" name="Table Placeholder 2"/>
          <p:cNvSpPr>
            <a:spLocks noGrp="1"/>
          </p:cNvSpPr>
          <p:nvPr>
            <p:ph type="tbl" idx="1"/>
          </p:nvPr>
        </p:nvSpPr>
        <p:spPr>
          <a:xfrm>
            <a:off x="407693" y="1241426"/>
            <a:ext cx="11618384" cy="4860925"/>
          </a:xfrm>
        </p:spPr>
        <p:txBody>
          <a:bodyPr rtlCol="0">
            <a:noAutofit/>
          </a:bodyPr>
          <a:lstStyle>
            <a:lvl1pPr>
              <a:defRPr>
                <a:latin typeface="Verdana" panose="020B0604030504040204" pitchFamily="34" charset="0"/>
                <a:ea typeface="Verdana" panose="020B0604030504040204" pitchFamily="34" charset="0"/>
                <a:cs typeface="Verdana" panose="020B0604030504040204" pitchFamily="34" charset="0"/>
              </a:defRPr>
            </a:lvl1pPr>
          </a:lstStyle>
          <a:p>
            <a:pPr lvl="0"/>
            <a:endParaRPr lang="nl-NL" noProof="0"/>
          </a:p>
        </p:txBody>
      </p:sp>
      <p:sp>
        <p:nvSpPr>
          <p:cNvPr id="12" name="Rectangle 11"/>
          <p:cNvSpPr>
            <a:spLocks noChangeArrowheads="1"/>
          </p:cNvSpPr>
          <p:nvPr userDrawn="1">
            <p:custDataLst>
              <p:tags r:id="rId5"/>
            </p:custDataLst>
          </p:nvPr>
        </p:nvSpPr>
        <p:spPr bwMode="auto">
          <a:xfrm>
            <a:off x="8297985" y="6623050"/>
            <a:ext cx="3274646" cy="184150"/>
          </a:xfrm>
          <a:prstGeom prst="rect">
            <a:avLst/>
          </a:prstGeom>
          <a:noFill/>
          <a:ln w="19050">
            <a:noFill/>
            <a:miter lim="800000"/>
            <a:headEnd/>
            <a:tailEnd/>
          </a:ln>
          <a:effectLst/>
        </p:spPr>
        <p:txBody>
          <a:bodyPr lIns="35997" tIns="35997" rIns="35997" bIns="35997" anchor="b"/>
          <a:lstStyle/>
          <a:p>
            <a:pPr algn="r" defTabSz="995445" eaLnBrk="0" fontAlgn="auto" hangingPunct="0">
              <a:lnSpc>
                <a:spcPct val="90000"/>
              </a:lnSpc>
              <a:spcBef>
                <a:spcPct val="10000"/>
              </a:spcBef>
              <a:spcAft>
                <a:spcPts val="0"/>
              </a:spcAft>
              <a:defRPr/>
            </a:pPr>
            <a:r>
              <a:rPr lang="en-US" altLang="en-US" sz="700">
                <a:solidFill>
                  <a:schemeClr val="tx2"/>
                </a:solidFill>
                <a:latin typeface="Verdana" panose="020B0604030504040204" pitchFamily="34" charset="0"/>
                <a:ea typeface="Verdana" panose="020B0604030504040204" pitchFamily="34" charset="0"/>
                <a:cs typeface="Verdana" panose="020B0604030504040204" pitchFamily="34" charset="0"/>
              </a:rPr>
              <a:t>Copyright © Capgemini 2020. All Rights Reserved</a:t>
            </a:r>
          </a:p>
        </p:txBody>
      </p:sp>
      <p:pic>
        <p:nvPicPr>
          <p:cNvPr id="13" name="Graphic 12">
            <a:extLst>
              <a:ext uri="{FF2B5EF4-FFF2-40B4-BE49-F238E27FC236}">
                <a16:creationId xmlns:a16="http://schemas.microsoft.com/office/drawing/2014/main" id="{1D677A51-1D1E-43DC-AED0-606B6703EFEB}"/>
              </a:ext>
            </a:extLst>
          </p:cNvPr>
          <p:cNvPicPr>
            <a:picLocks noChangeAspect="1"/>
          </p:cNvPicPr>
          <p:nvPr userDrawn="1"/>
        </p:nvPicPr>
        <p:blipFill>
          <a:blip r:embed="rId9" cstate="print">
            <a:extLst>
              <a:ext uri="{96DAC541-7B7A-43D3-8B79-37D633B846F1}">
                <asvg:svgBlip xmlns:asvg="http://schemas.microsoft.com/office/drawing/2016/SVG/main" r:embed="rId10"/>
              </a:ext>
            </a:extLst>
          </a:blip>
          <a:stretch>
            <a:fillRect/>
          </a:stretch>
        </p:blipFill>
        <p:spPr>
          <a:xfrm>
            <a:off x="281355" y="6441323"/>
            <a:ext cx="2172865" cy="393879"/>
          </a:xfrm>
          <a:prstGeom prst="rect">
            <a:avLst/>
          </a:prstGeom>
        </p:spPr>
      </p:pic>
      <p:pic>
        <p:nvPicPr>
          <p:cNvPr id="14" name="Graphic 4">
            <a:extLst>
              <a:ext uri="{FF2B5EF4-FFF2-40B4-BE49-F238E27FC236}">
                <a16:creationId xmlns:a16="http://schemas.microsoft.com/office/drawing/2014/main" id="{804A57A5-874A-4C95-812A-6F7DBEC0D52D}"/>
              </a:ext>
            </a:extLst>
          </p:cNvPr>
          <p:cNvPicPr>
            <a:picLocks noChangeAspect="1"/>
          </p:cNvPicPr>
          <p:nvPr userDrawn="1"/>
        </p:nvPicPr>
        <p:blipFill rotWithShape="1">
          <a:blip r:embed="rId9" cstate="print">
            <a:extLst>
              <a:ext uri="{96DAC541-7B7A-43D3-8B79-37D633B846F1}">
                <asvg:svgBlip xmlns:asvg="http://schemas.microsoft.com/office/drawing/2016/SVG/main" r:embed="rId10"/>
              </a:ext>
            </a:extLst>
          </a:blip>
          <a:srcRect l="81836" t="-4713" b="16530"/>
          <a:stretch/>
        </p:blipFill>
        <p:spPr>
          <a:xfrm>
            <a:off x="11483278" y="189861"/>
            <a:ext cx="522284" cy="459624"/>
          </a:xfrm>
          <a:prstGeom prst="rect">
            <a:avLst/>
          </a:prstGeom>
        </p:spPr>
      </p:pic>
      <p:sp>
        <p:nvSpPr>
          <p:cNvPr id="17" name="Rectangle 27">
            <a:hlinkClick r:id="rId11"/>
            <a:extLst>
              <a:ext uri="{FF2B5EF4-FFF2-40B4-BE49-F238E27FC236}">
                <a16:creationId xmlns:a16="http://schemas.microsoft.com/office/drawing/2014/main" id="{5656E3A8-1305-4381-A985-EDD518567854}"/>
              </a:ext>
            </a:extLst>
          </p:cNvPr>
          <p:cNvSpPr/>
          <p:nvPr userDrawn="1"/>
        </p:nvSpPr>
        <p:spPr>
          <a:xfrm>
            <a:off x="8382000" y="6437594"/>
            <a:ext cx="4113803" cy="232482"/>
          </a:xfrm>
          <a:prstGeom prst="rect">
            <a:avLst/>
          </a:prstGeom>
        </p:spPr>
        <p:txBody>
          <a:bodyPr wrap="square" lIns="0" tIns="0" rIns="0" bIns="0" anchor="ctr" anchorCtr="0">
            <a:noAutofit/>
          </a:bodyPr>
          <a:lstStyle/>
          <a:p>
            <a:pPr lvl="0" algn="l" defTabSz="914400">
              <a:lnSpc>
                <a:spcPct val="85000"/>
              </a:lnSpc>
              <a:defRPr/>
            </a:pPr>
            <a:r>
              <a:rPr lang="en-US" sz="800" b="1" kern="0">
                <a:solidFill>
                  <a:schemeClr val="tx1"/>
                </a:solidFill>
                <a:latin typeface="+mj-lt"/>
                <a:cs typeface="Arial" panose="020B0604020202020204" pitchFamily="34" charset="0"/>
              </a:rPr>
              <a:t>FS SBU Light Deal Review </a:t>
            </a:r>
            <a:r>
              <a:rPr lang="en-US" sz="800" b="1" kern="0">
                <a:solidFill>
                  <a:schemeClr val="tx1"/>
                </a:solidFill>
                <a:latin typeface="+mn-lt"/>
                <a:ea typeface="+mn-ea"/>
                <a:cs typeface="Arial" panose="020B0604020202020204" pitchFamily="34" charset="0"/>
              </a:rPr>
              <a:t>Deck  V3.11 – 8 January 2020</a:t>
            </a:r>
            <a:endParaRPr lang="en-US" sz="800" b="1" kern="0">
              <a:solidFill>
                <a:schemeClr val="tx1"/>
              </a:solidFill>
              <a:latin typeface="+mj-lt"/>
              <a:cs typeface="Arial" panose="020B0604020202020204" pitchFamily="34" charset="0"/>
            </a:endParaRPr>
          </a:p>
        </p:txBody>
      </p:sp>
    </p:spTree>
    <p:extLst>
      <p:ext uri="{BB962C8B-B14F-4D97-AF65-F5344CB8AC3E}">
        <p14:creationId xmlns:p14="http://schemas.microsoft.com/office/powerpoint/2010/main" val="1748114219"/>
      </p:ext>
    </p:extLst>
  </p:cSld>
  <p:clrMapOvr>
    <a:masterClrMapping/>
  </p:clrMapOvr>
  <p:transition>
    <p:wipe dir="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Blank-White">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0869612" cy="863600"/>
          </a:xfrm>
          <a:prstGeom prst="rect">
            <a:avLst/>
          </a:prstGeom>
        </p:spPr>
        <p:txBody>
          <a:bodyPr vert="horz" lIns="0" tIns="0" rIns="0" bIns="0" rtlCol="0" anchor="t">
            <a:normAutofit/>
          </a:bodyPr>
          <a:lstStyle>
            <a:lvl1pPr>
              <a:defRPr lang="pt-PT" dirty="0"/>
            </a:lvl1pPr>
          </a:lstStyle>
          <a:p>
            <a:pPr lvl="0">
              <a:lnSpc>
                <a:spcPts val="3000"/>
              </a:lnSpc>
            </a:pPr>
            <a:r>
              <a:rPr lang="en-US"/>
              <a:t>Click to add title</a:t>
            </a:r>
            <a:endParaRPr lang="pt-PT"/>
          </a:p>
        </p:txBody>
      </p:sp>
      <p:sp>
        <p:nvSpPr>
          <p:cNvPr id="10" name="Text Placeholder 7">
            <a:extLst>
              <a:ext uri="{FF2B5EF4-FFF2-40B4-BE49-F238E27FC236}">
                <a16:creationId xmlns:a16="http://schemas.microsoft.com/office/drawing/2014/main" id="{053B0AF9-F410-4C47-9D9C-CAC9890E4210}"/>
              </a:ext>
            </a:extLst>
          </p:cNvPr>
          <p:cNvSpPr>
            <a:spLocks noGrp="1"/>
          </p:cNvSpPr>
          <p:nvPr>
            <p:ph type="body" sz="quarter" idx="10" hasCustomPrompt="1"/>
          </p:nvPr>
        </p:nvSpPr>
        <p:spPr>
          <a:xfrm>
            <a:off x="407987" y="1413990"/>
            <a:ext cx="11376025" cy="5039198"/>
          </a:xfrm>
          <a:prstGeom prst="rect">
            <a:avLst/>
          </a:prstGeom>
        </p:spPr>
        <p:txBody>
          <a:bodyPr>
            <a:noAutofit/>
          </a:bodyPr>
          <a:lstStyle>
            <a:lvl1pPr marL="0" indent="0">
              <a:lnSpc>
                <a:spcPts val="2200"/>
              </a:lnSpc>
              <a:buNone/>
              <a:defRPr sz="18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225425" indent="-225425">
              <a:buClr>
                <a:schemeClr val="tx2"/>
              </a:buClr>
              <a:buFont typeface="Wingdings" panose="05000000000000000000" pitchFamily="2" charset="2"/>
              <a:buChar char="§"/>
            </a:pPr>
            <a:r>
              <a:rPr lang="en-US"/>
              <a:t>Click to insert text</a:t>
            </a:r>
          </a:p>
          <a:p>
            <a:pPr marL="461963" lvl="1" indent="-236538">
              <a:buClr>
                <a:schemeClr val="accent4"/>
              </a:buClr>
              <a:buFont typeface="Arial" panose="020B0604020202020204" pitchFamily="34" charset="0"/>
              <a:buChar char="•"/>
            </a:pPr>
            <a:r>
              <a:rPr lang="en-US" sz="1600"/>
              <a:t>Click to insert text</a:t>
            </a:r>
            <a:endParaRPr lang="pt-PT" sz="1600"/>
          </a:p>
          <a:p>
            <a:pPr marL="688975" lvl="2" indent="-241300">
              <a:buClr>
                <a:schemeClr val="accent2"/>
              </a:buClr>
              <a:buFont typeface="Verdana" panose="020B0604030504040204" pitchFamily="34" charset="0"/>
              <a:buChar char="–"/>
            </a:pPr>
            <a:r>
              <a:rPr lang="en-US"/>
              <a:t>Click to insert text</a:t>
            </a:r>
            <a:endParaRPr lang="pt-PT"/>
          </a:p>
          <a:p>
            <a:pPr marL="914400" lvl="3" indent="-225425">
              <a:buClr>
                <a:schemeClr val="accent3"/>
              </a:buClr>
              <a:buFont typeface="Wingdings" panose="05000000000000000000" pitchFamily="2" charset="2"/>
              <a:buChar char="§"/>
            </a:pPr>
            <a:r>
              <a:rPr lang="en-US"/>
              <a:t>Click to insert text</a:t>
            </a:r>
            <a:endParaRPr lang="pt-PT"/>
          </a:p>
        </p:txBody>
      </p:sp>
    </p:spTree>
    <p:extLst>
      <p:ext uri="{BB962C8B-B14F-4D97-AF65-F5344CB8AC3E}">
        <p14:creationId xmlns:p14="http://schemas.microsoft.com/office/powerpoint/2010/main" val="362398529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013B6ED-BED2-4B30-B5B1-D40CFA2CB594}"/>
              </a:ext>
            </a:extLst>
          </p:cNvPr>
          <p:cNvSpPr>
            <a:spLocks noGrp="1"/>
          </p:cNvSpPr>
          <p:nvPr>
            <p:ph type="dt" sz="half" idx="10"/>
          </p:nvPr>
        </p:nvSpPr>
        <p:spPr/>
        <p:txBody>
          <a:bodyPr/>
          <a:lstStyle/>
          <a:p>
            <a:fld id="{39909D7C-42AE-4B80-9FF7-89D79AE33CF6}" type="datetimeFigureOut">
              <a:rPr lang="en-GB" smtClean="0"/>
              <a:t>11/02/2026</a:t>
            </a:fld>
            <a:endParaRPr lang="en-GB"/>
          </a:p>
        </p:txBody>
      </p:sp>
      <p:sp>
        <p:nvSpPr>
          <p:cNvPr id="5" name="Footer Placeholder 4">
            <a:extLst>
              <a:ext uri="{FF2B5EF4-FFF2-40B4-BE49-F238E27FC236}">
                <a16:creationId xmlns:a16="http://schemas.microsoft.com/office/drawing/2014/main" id="{132B624B-FED8-4A88-A401-418754F7E18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41CECF6-73B9-43FB-ADD3-C06E3FFBCA6F}"/>
              </a:ext>
            </a:extLst>
          </p:cNvPr>
          <p:cNvSpPr>
            <a:spLocks noGrp="1"/>
          </p:cNvSpPr>
          <p:nvPr>
            <p:ph type="sldNum" sz="quarter" idx="12"/>
          </p:nvPr>
        </p:nvSpPr>
        <p:spPr/>
        <p:txBody>
          <a:bodyPr/>
          <a:lstStyle/>
          <a:p>
            <a:fld id="{66FC89D5-3D49-42F4-ADF1-A786C18CC686}" type="slidenum">
              <a:rPr lang="en-GB" smtClean="0"/>
              <a:t>‹#›</a:t>
            </a:fld>
            <a:endParaRPr lang="en-GB"/>
          </a:p>
        </p:txBody>
      </p:sp>
      <p:sp>
        <p:nvSpPr>
          <p:cNvPr id="7" name="Rectangle 6">
            <a:extLst>
              <a:ext uri="{FF2B5EF4-FFF2-40B4-BE49-F238E27FC236}">
                <a16:creationId xmlns:a16="http://schemas.microsoft.com/office/drawing/2014/main" id="{F682CB3A-BEF8-4A40-AC35-A9DC6E3E927E}"/>
              </a:ext>
            </a:extLst>
          </p:cNvPr>
          <p:cNvSpPr/>
          <p:nvPr userDrawn="1"/>
        </p:nvSpPr>
        <p:spPr>
          <a:xfrm>
            <a:off x="191065" y="900751"/>
            <a:ext cx="11814515" cy="5469247"/>
          </a:xfrm>
          <a:prstGeom prst="rect">
            <a:avLst/>
          </a:prstGeom>
          <a:solidFill>
            <a:schemeClr val="tx1">
              <a:lumMod val="95000"/>
              <a:alpha val="9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293412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1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0328008"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8" y="1815351"/>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a:t>Click to edit Master subtitle styles</a:t>
            </a:r>
          </a:p>
        </p:txBody>
      </p:sp>
    </p:spTree>
    <p:extLst>
      <p:ext uri="{BB962C8B-B14F-4D97-AF65-F5344CB8AC3E}">
        <p14:creationId xmlns:p14="http://schemas.microsoft.com/office/powerpoint/2010/main" val="406984903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cSld name="8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F3D03-54A3-4D2B-9D41-F89A4354CF8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327B5DE-2510-44D9-B8FB-9654FA928904}"/>
              </a:ext>
            </a:extLst>
          </p:cNvPr>
          <p:cNvSpPr>
            <a:spLocks noGrp="1"/>
          </p:cNvSpPr>
          <p:nvPr>
            <p:ph type="dt" sz="half" idx="10"/>
          </p:nvPr>
        </p:nvSpPr>
        <p:spPr/>
        <p:txBody>
          <a:bodyPr/>
          <a:lstStyle/>
          <a:p>
            <a:fld id="{198B3B90-3C3B-43E1-8971-96164C424B5F}" type="datetimeFigureOut">
              <a:rPr lang="en-US" smtClean="0">
                <a:solidFill>
                  <a:prstClr val="black"/>
                </a:solidFill>
              </a:rPr>
              <a:pPr/>
              <a:t>2/11/2026</a:t>
            </a:fld>
            <a:endParaRPr lang="en-US">
              <a:solidFill>
                <a:prstClr val="black"/>
              </a:solidFill>
            </a:endParaRPr>
          </a:p>
        </p:txBody>
      </p:sp>
      <p:sp>
        <p:nvSpPr>
          <p:cNvPr id="4" name="Footer Placeholder 3">
            <a:extLst>
              <a:ext uri="{FF2B5EF4-FFF2-40B4-BE49-F238E27FC236}">
                <a16:creationId xmlns:a16="http://schemas.microsoft.com/office/drawing/2014/main" id="{C81CC7E6-C750-472A-8983-1822161395D8}"/>
              </a:ext>
            </a:extLst>
          </p:cNvPr>
          <p:cNvSpPr>
            <a:spLocks noGrp="1"/>
          </p:cNvSpPr>
          <p:nvPr>
            <p:ph type="ftr" sz="quarter" idx="11"/>
          </p:nvPr>
        </p:nvSpPr>
        <p:spPr/>
        <p:txBody>
          <a:bodyPr/>
          <a:lstStyle/>
          <a:p>
            <a:endParaRPr lang="en-US">
              <a:solidFill>
                <a:prstClr val="black"/>
              </a:solidFill>
            </a:endParaRPr>
          </a:p>
        </p:txBody>
      </p:sp>
      <p:sp>
        <p:nvSpPr>
          <p:cNvPr id="5" name="Slide Number Placeholder 4">
            <a:extLst>
              <a:ext uri="{FF2B5EF4-FFF2-40B4-BE49-F238E27FC236}">
                <a16:creationId xmlns:a16="http://schemas.microsoft.com/office/drawing/2014/main" id="{FF4681F2-FF11-435C-A3E8-D31E3CE61DE8}"/>
              </a:ext>
            </a:extLst>
          </p:cNvPr>
          <p:cNvSpPr>
            <a:spLocks noGrp="1"/>
          </p:cNvSpPr>
          <p:nvPr>
            <p:ph type="sldNum" sz="quarter" idx="12"/>
          </p:nvPr>
        </p:nvSpPr>
        <p:spPr/>
        <p:txBody>
          <a:bodyPr/>
          <a:lstStyle/>
          <a:p>
            <a:fld id="{96D2A221-7219-4537-A27A-8EF6D0A61FB9}"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3751743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 y="1"/>
          <a:ext cx="180998" cy="143985"/>
        </p:xfrm>
        <a:graphic>
          <a:graphicData uri="http://schemas.openxmlformats.org/presentationml/2006/ole">
            <mc:AlternateContent xmlns:mc="http://schemas.openxmlformats.org/markup-compatibility/2006">
              <mc:Choice xmlns:v="urn:schemas-microsoft-com:vml" Requires="v">
                <p:oleObj name="think-cell Slide" r:id="rId5" imgW="360" imgH="360" progId="">
                  <p:embed/>
                </p:oleObj>
              </mc:Choice>
              <mc:Fallback>
                <p:oleObj name="think-cell Slide" r:id="rId5" imgW="360" imgH="360" progId="">
                  <p:embed/>
                  <p:pic>
                    <p:nvPicPr>
                      <p:cNvPr id="4" name="Object 3"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 y="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2"/>
            </p:custDataLst>
          </p:nvPr>
        </p:nvSpPr>
        <p:spPr>
          <a:xfrm>
            <a:off x="2" y="1"/>
            <a:ext cx="12191999" cy="728133"/>
          </a:xfrm>
          <a:gradFill flip="none" rotWithShape="1">
            <a:gsLst>
              <a:gs pos="0">
                <a:srgbClr val="8488C4"/>
              </a:gs>
              <a:gs pos="53000">
                <a:srgbClr val="D4DEFF"/>
              </a:gs>
              <a:gs pos="83000">
                <a:srgbClr val="D4DEFF"/>
              </a:gs>
              <a:gs pos="100000">
                <a:srgbClr val="96AB94"/>
              </a:gs>
            </a:gsLst>
            <a:path path="circle">
              <a:fillToRect l="100000" t="100000"/>
            </a:path>
            <a:tileRect r="-100000" b="-100000"/>
          </a:gradFill>
        </p:spPr>
        <p:txBody>
          <a:bodyPr/>
          <a:lstStyle>
            <a:lvl1pPr>
              <a:defRPr sz="2400">
                <a:effectLst>
                  <a:outerShdw blurRad="38100" dist="38100" dir="2700000" algn="tl">
                    <a:srgbClr val="000000">
                      <a:alpha val="43137"/>
                    </a:srgbClr>
                  </a:outerShdw>
                </a:effectLst>
              </a:defRPr>
            </a:lvl1pPr>
          </a:lstStyle>
          <a:p>
            <a:r>
              <a:rPr lang="en-US" noProof="0"/>
              <a:t>Click to edit Master title style</a:t>
            </a:r>
            <a:endParaRPr lang="en-US"/>
          </a:p>
        </p:txBody>
      </p:sp>
      <p:sp>
        <p:nvSpPr>
          <p:cNvPr id="3" name="Content Placeholder 2"/>
          <p:cNvSpPr>
            <a:spLocks noGrp="1"/>
          </p:cNvSpPr>
          <p:nvPr>
            <p:ph idx="1" hasCustomPrompt="1"/>
            <p:custDataLst>
              <p:tags r:id="rId3"/>
            </p:custDataLst>
          </p:nvPr>
        </p:nvSpPr>
        <p:spPr>
          <a:xfrm>
            <a:off x="398021" y="1494766"/>
            <a:ext cx="11793979" cy="4643751"/>
          </a:xfrm>
        </p:spPr>
        <p:txBody>
          <a:bodyPr/>
          <a:lstStyle>
            <a:lvl1pPr>
              <a:defRPr b="0"/>
            </a:lvl1pPr>
            <a:lvl5pPr>
              <a:buNone/>
              <a:defRPr/>
            </a:lvl5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pic>
        <p:nvPicPr>
          <p:cNvPr id="5" name="Picture 4" descr="C:\Users\hbuys\AppData\Local\Microsoft\Windows\Temporary Internet Files\Content.IE5\EZASK7NL\large-alphabet-Letter-L-0-3858[1].gif"/>
          <p:cNvPicPr>
            <a:picLocks noChangeAspect="1" noChangeArrowheads="1"/>
          </p:cNvPicPr>
          <p:nvPr userDrawn="1"/>
        </p:nvPicPr>
        <p:blipFill>
          <a:blip r:embed="rId7" cstate="print"/>
          <a:srcRect/>
          <a:stretch>
            <a:fillRect/>
          </a:stretch>
        </p:blipFill>
        <p:spPr bwMode="auto">
          <a:xfrm>
            <a:off x="11785600" y="121834"/>
            <a:ext cx="231959" cy="315682"/>
          </a:xfrm>
          <a:prstGeom prst="rect">
            <a:avLst/>
          </a:prstGeom>
          <a:noFill/>
        </p:spPr>
      </p:pic>
    </p:spTree>
    <p:extLst>
      <p:ext uri="{BB962C8B-B14F-4D97-AF65-F5344CB8AC3E}">
        <p14:creationId xmlns:p14="http://schemas.microsoft.com/office/powerpoint/2010/main" val="7575467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hasCustomPrompt="1"/>
          </p:nvPr>
        </p:nvSpPr>
        <p:spPr>
          <a:xfrm>
            <a:off x="407990" y="2010609"/>
            <a:ext cx="5543551" cy="4442581"/>
          </a:xfrm>
          <a:prstGeom prst="rect">
            <a:avLst/>
          </a:prstGeom>
        </p:spPr>
        <p:txBody>
          <a:bodyPr>
            <a:noAutofit/>
          </a:bodyPr>
          <a:lstStyle>
            <a:lvl1pPr>
              <a:lnSpc>
                <a:spcPct val="100000"/>
              </a:lnSpc>
              <a:defRPr sz="16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long text</a:t>
            </a:r>
          </a:p>
        </p:txBody>
      </p:sp>
      <p:sp>
        <p:nvSpPr>
          <p:cNvPr id="11" name="Text Placeholder 7">
            <a:extLst>
              <a:ext uri="{FF2B5EF4-FFF2-40B4-BE49-F238E27FC236}">
                <a16:creationId xmlns:a16="http://schemas.microsoft.com/office/drawing/2014/main" id="{4F279807-494A-45DD-A5C6-24F625316B92}"/>
              </a:ext>
            </a:extLst>
          </p:cNvPr>
          <p:cNvSpPr>
            <a:spLocks noGrp="1"/>
          </p:cNvSpPr>
          <p:nvPr>
            <p:ph type="body" sz="quarter" idx="11" hasCustomPrompt="1"/>
          </p:nvPr>
        </p:nvSpPr>
        <p:spPr>
          <a:xfrm>
            <a:off x="6240467" y="2010606"/>
            <a:ext cx="5516444" cy="4441372"/>
          </a:xfrm>
          <a:prstGeom prst="rect">
            <a:avLst/>
          </a:prstGeom>
        </p:spPr>
        <p:txBody>
          <a:bodyPr>
            <a:noAutofit/>
          </a:bodyPr>
          <a:lstStyle>
            <a:lvl1pPr>
              <a:lnSpc>
                <a:spcPct val="100000"/>
              </a:lnSpc>
              <a:defRPr sz="16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long text</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7990" y="1420990"/>
            <a:ext cx="5543551" cy="438494"/>
          </a:xfrm>
          <a:prstGeom prst="rect">
            <a:avLst/>
          </a:prstGeom>
        </p:spPr>
        <p:txBody>
          <a:bodyPr>
            <a:noAutofit/>
          </a:bodyPr>
          <a:lstStyle>
            <a:lvl1pPr>
              <a:lnSpc>
                <a:spcPts val="2500"/>
              </a:lnSpc>
              <a:defRPr sz="2000" b="0">
                <a:solidFill>
                  <a:srgbClr val="12ABDB"/>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240467" y="1420990"/>
            <a:ext cx="5516444" cy="438494"/>
          </a:xfrm>
          <a:prstGeom prst="rect">
            <a:avLst/>
          </a:prstGeom>
        </p:spPr>
        <p:txBody>
          <a:bodyPr>
            <a:noAutofit/>
          </a:bodyPr>
          <a:lstStyle>
            <a:lvl1pPr>
              <a:lnSpc>
                <a:spcPts val="2500"/>
              </a:lnSpc>
              <a:defRPr sz="2000" b="0">
                <a:solidFill>
                  <a:srgbClr val="12ABDB"/>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title</a:t>
            </a:r>
          </a:p>
        </p:txBody>
      </p:sp>
      <p:sp>
        <p:nvSpPr>
          <p:cNvPr id="9" name="Title Placeholder 1">
            <a:extLst>
              <a:ext uri="{FF2B5EF4-FFF2-40B4-BE49-F238E27FC236}">
                <a16:creationId xmlns:a16="http://schemas.microsoft.com/office/drawing/2014/main" id="{6733E381-C11A-4F10-88ED-DDEA4B9167E2}"/>
              </a:ext>
            </a:extLst>
          </p:cNvPr>
          <p:cNvSpPr>
            <a:spLocks noGrp="1"/>
          </p:cNvSpPr>
          <p:nvPr>
            <p:ph type="title" hasCustomPrompt="1"/>
          </p:nvPr>
        </p:nvSpPr>
        <p:spPr>
          <a:xfrm>
            <a:off x="407988" y="404813"/>
            <a:ext cx="10944596" cy="865054"/>
          </a:xfrm>
          <a:prstGeom prst="rect">
            <a:avLst/>
          </a:prstGeom>
        </p:spPr>
        <p:txBody>
          <a:bodyPr vert="horz" lIns="0" tIns="0" rIns="0" bIns="0" rtlCol="0" anchor="t">
            <a:normAutofit/>
          </a:bodyPr>
          <a:lstStyle>
            <a:lvl1pPr>
              <a:defRPr lang="pt-PT" dirty="0">
                <a:solidFill>
                  <a:schemeClr val="tx2"/>
                </a:solidFill>
              </a:defRPr>
            </a:lvl1pPr>
          </a:lstStyle>
          <a:p>
            <a:pPr lvl="0">
              <a:lnSpc>
                <a:spcPts val="3408"/>
              </a:lnSpc>
            </a:pPr>
            <a:r>
              <a:rPr lang="en-US"/>
              <a:t>Click to insert title</a:t>
            </a:r>
            <a:endParaRPr lang="pt-PT"/>
          </a:p>
        </p:txBody>
      </p:sp>
    </p:spTree>
    <p:extLst>
      <p:ext uri="{BB962C8B-B14F-4D97-AF65-F5344CB8AC3E}">
        <p14:creationId xmlns:p14="http://schemas.microsoft.com/office/powerpoint/2010/main" val="387574095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userDrawn="1">
  <p:cSld name="1_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6096000" y="0"/>
            <a:ext cx="6096000"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7987" y="3509583"/>
            <a:ext cx="5597526"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397879" y="1677087"/>
            <a:ext cx="5698121" cy="1828193"/>
          </a:xfrm>
        </p:spPr>
        <p:txBody>
          <a:bodyPr wrap="square" lIns="36000" rIns="36000" bIns="0" anchor="ctr" anchorCtr="0">
            <a:spAutoFit/>
          </a:bodyPr>
          <a:lstStyle>
            <a:lvl1pPr algn="l">
              <a:lnSpc>
                <a:spcPct val="90000"/>
              </a:lnSpc>
              <a:defRPr sz="44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408" y="209848"/>
            <a:ext cx="3024000" cy="1226177"/>
          </a:xfrm>
          <a:prstGeom prst="rect">
            <a:avLst/>
          </a:prstGeom>
        </p:spPr>
      </p:pic>
      <p:sp>
        <p:nvSpPr>
          <p:cNvPr id="6" name="Content Placeholder 4"/>
          <p:cNvSpPr>
            <a:spLocks noGrp="1"/>
          </p:cNvSpPr>
          <p:nvPr>
            <p:ph sz="quarter" idx="11"/>
          </p:nvPr>
        </p:nvSpPr>
        <p:spPr>
          <a:xfrm>
            <a:off x="404813" y="4343400"/>
            <a:ext cx="5600700" cy="2119313"/>
          </a:xfrm>
        </p:spPr>
        <p:txBody>
          <a:bodyPr numCol="1"/>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p:txBody>
      </p:sp>
      <p:sp>
        <p:nvSpPr>
          <p:cNvPr id="8" name="Text Placeholder 8">
            <a:extLst>
              <a:ext uri="{FF2B5EF4-FFF2-40B4-BE49-F238E27FC236}">
                <a16:creationId xmlns:a16="http://schemas.microsoft.com/office/drawing/2014/main" id="{E744C52A-2030-4EFF-B1D2-B60B2B279897}"/>
              </a:ext>
            </a:extLst>
          </p:cNvPr>
          <p:cNvSpPr>
            <a:spLocks noGrp="1"/>
          </p:cNvSpPr>
          <p:nvPr>
            <p:ph type="body" sz="quarter" idx="12" hasCustomPrompt="1"/>
          </p:nvPr>
        </p:nvSpPr>
        <p:spPr>
          <a:xfrm>
            <a:off x="397879" y="1365007"/>
            <a:ext cx="5607634" cy="312080"/>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883932923"/>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2402411546"/>
      </p:ext>
    </p:extLst>
  </p:cSld>
  <p:clrMapOvr>
    <a:masterClrMapping/>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1990185582"/>
      </p:ext>
    </p:extLst>
  </p:cSld>
  <p:clrMapOvr>
    <a:masterClrMapping/>
  </p:clrMapOvr>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74317356"/>
      </p:ext>
    </p:extLst>
  </p:cSld>
  <p:clrMapOvr>
    <a:masterClrMapping/>
  </p:clrMapOvr>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55081809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4358952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4203169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7005057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4107855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481092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5753580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57665688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1924201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310471827"/>
      </p:ext>
    </p:extLst>
  </p:cSld>
  <p:clrMapOvr>
    <a:masterClrMapping/>
  </p:clrMapOvr>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76673580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08972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7352646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7970572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280450640"/>
      </p:ext>
    </p:extLst>
  </p:cSld>
  <p:clrMapOvr>
    <a:masterClrMapping/>
  </p:clrMapOvr>
  <p:extLst>
    <p:ext uri="{DCECCB84-F9BA-43D5-87BE-67443E8EF086}">
      <p15:sldGuideLst xmlns:p15="http://schemas.microsoft.com/office/powerpoint/2012/main"/>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65220789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790077819"/>
      </p:ext>
    </p:extLst>
  </p:cSld>
  <p:clrMapOvr>
    <a:masterClrMapping/>
  </p:clrMapOvr>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82133137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871F6-8CCE-1997-E639-30EB6C5082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59ADC14-328F-AC61-0007-6DB30AAAC6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1FB4071-256F-2943-54D1-CBD76B489927}"/>
              </a:ext>
            </a:extLst>
          </p:cNvPr>
          <p:cNvSpPr>
            <a:spLocks noGrp="1"/>
          </p:cNvSpPr>
          <p:nvPr>
            <p:ph type="dt" sz="half" idx="10"/>
          </p:nvPr>
        </p:nvSpPr>
        <p:spPr/>
        <p:txBody>
          <a:bodyPr/>
          <a:lstStyle/>
          <a:p>
            <a:fld id="{96784ECD-CD7E-46BB-8572-A6F568850810}" type="datetimeFigureOut">
              <a:rPr lang="en-GB" smtClean="0"/>
              <a:t>11/02/2026</a:t>
            </a:fld>
            <a:endParaRPr lang="en-GB"/>
          </a:p>
        </p:txBody>
      </p:sp>
      <p:sp>
        <p:nvSpPr>
          <p:cNvPr id="5" name="Footer Placeholder 4">
            <a:extLst>
              <a:ext uri="{FF2B5EF4-FFF2-40B4-BE49-F238E27FC236}">
                <a16:creationId xmlns:a16="http://schemas.microsoft.com/office/drawing/2014/main" id="{D17F141D-D9E4-1090-E944-2BA3F56EB8A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EEC4F96-7133-D642-9EE9-8EF3865DFF43}"/>
              </a:ext>
            </a:extLst>
          </p:cNvPr>
          <p:cNvSpPr>
            <a:spLocks noGrp="1"/>
          </p:cNvSpPr>
          <p:nvPr>
            <p:ph type="sldNum" sz="quarter" idx="12"/>
          </p:nvPr>
        </p:nvSpPr>
        <p:spPr/>
        <p:txBody>
          <a:bodyPr/>
          <a:lstStyle/>
          <a:p>
            <a:fld id="{D708F159-ABE9-441A-9DA7-56C844EFEE43}" type="slidenum">
              <a:rPr lang="en-GB" smtClean="0"/>
              <a:t>‹#›</a:t>
            </a:fld>
            <a:endParaRPr lang="en-GB"/>
          </a:p>
        </p:txBody>
      </p:sp>
    </p:spTree>
    <p:extLst>
      <p:ext uri="{BB962C8B-B14F-4D97-AF65-F5344CB8AC3E}">
        <p14:creationId xmlns:p14="http://schemas.microsoft.com/office/powerpoint/2010/main" val="406194483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355556591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661000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168000" y="295631"/>
            <a:ext cx="3024000" cy="1226177"/>
          </a:xfrm>
          <a:prstGeom prst="rect">
            <a:avLst/>
          </a:prstGeom>
        </p:spPr>
      </p:pic>
    </p:spTree>
    <p:extLst>
      <p:ext uri="{BB962C8B-B14F-4D97-AF65-F5344CB8AC3E}">
        <p14:creationId xmlns:p14="http://schemas.microsoft.com/office/powerpoint/2010/main" val="2424938477"/>
      </p:ext>
    </p:extLst>
  </p:cSld>
  <p:clrMapOvr>
    <a:masterClrMapping/>
  </p:clrMapOvr>
  <p:extLst>
    <p:ext uri="{DCECCB84-F9BA-43D5-87BE-67443E8EF086}">
      <p15:sldGuideLst xmlns:p15="http://schemas.microsoft.com/office/powerpoint/2012/main"/>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pic>
        <p:nvPicPr>
          <p:cNvPr id="5" name="Picture 4" descr="Construction worker cutting through metal">
            <a:extLst>
              <a:ext uri="{FF2B5EF4-FFF2-40B4-BE49-F238E27FC236}">
                <a16:creationId xmlns:a16="http://schemas.microsoft.com/office/drawing/2014/main" id="{29C6EFF9-4E06-4E6E-B36E-95016398A20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548438"/>
          </a:xfrm>
          <a:prstGeom prst="rect">
            <a:avLst/>
          </a:prstGeom>
        </p:spPr>
      </p:pic>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to back</a:t>
            </a:r>
          </a:p>
        </p:txBody>
      </p:sp>
    </p:spTree>
    <p:extLst>
      <p:ext uri="{BB962C8B-B14F-4D97-AF65-F5344CB8AC3E}">
        <p14:creationId xmlns:p14="http://schemas.microsoft.com/office/powerpoint/2010/main" val="2923288967"/>
      </p:ext>
    </p:extLst>
  </p:cSld>
  <p:clrMapOvr>
    <a:masterClrMapping/>
  </p:clrMapOvr>
  <p:extLst>
    <p:ext uri="{DCECCB84-F9BA-43D5-87BE-67443E8EF086}">
      <p15:sldGuideLst xmlns:p15="http://schemas.microsoft.com/office/powerpoint/2012/main"/>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to back</a:t>
            </a:r>
          </a:p>
        </p:txBody>
      </p:sp>
      <p:sp>
        <p:nvSpPr>
          <p:cNvPr id="7" name="Picture Placeholder 9">
            <a:extLst>
              <a:ext uri="{FF2B5EF4-FFF2-40B4-BE49-F238E27FC236}">
                <a16:creationId xmlns:a16="http://schemas.microsoft.com/office/drawing/2014/main" id="{081C4918-C9CA-457D-B771-BBF2B621BB8B}"/>
              </a:ext>
            </a:extLst>
          </p:cNvPr>
          <p:cNvSpPr>
            <a:spLocks noGrp="1"/>
          </p:cNvSpPr>
          <p:nvPr>
            <p:ph type="pic" sz="quarter" idx="11"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8" name="Subtitle">
            <a:extLst>
              <a:ext uri="{FF2B5EF4-FFF2-40B4-BE49-F238E27FC236}">
                <a16:creationId xmlns:a16="http://schemas.microsoft.com/office/drawing/2014/main" id="{EC048838-321C-4CDC-B5B5-945F310A2C37}"/>
              </a:ext>
            </a:extLst>
          </p:cNvPr>
          <p:cNvSpPr>
            <a:spLocks noGrp="1"/>
          </p:cNvSpPr>
          <p:nvPr>
            <p:ph type="subTitle" idx="1"/>
          </p:nvPr>
        </p:nvSpPr>
        <p:spPr>
          <a:xfrm>
            <a:off x="404813" y="4561383"/>
            <a:ext cx="477678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9" name="Title">
            <a:extLst>
              <a:ext uri="{FF2B5EF4-FFF2-40B4-BE49-F238E27FC236}">
                <a16:creationId xmlns:a16="http://schemas.microsoft.com/office/drawing/2014/main" id="{5B033218-1FB2-4E4E-8884-28C9C6A32F7A}"/>
              </a:ext>
            </a:extLst>
          </p:cNvPr>
          <p:cNvSpPr>
            <a:spLocks noGrp="1"/>
          </p:cNvSpPr>
          <p:nvPr>
            <p:ph type="ctrTitle"/>
          </p:nvPr>
        </p:nvSpPr>
        <p:spPr>
          <a:xfrm>
            <a:off x="404813" y="3622724"/>
            <a:ext cx="4776787" cy="886397"/>
          </a:xfrm>
        </p:spPr>
        <p:txBody>
          <a:bodyPr wrap="square" lIns="36000" rIns="36000" bIns="0" anchor="b" anchorCtr="0">
            <a:spAutoFit/>
          </a:bodyPr>
          <a:lstStyle>
            <a:lvl1pPr algn="l">
              <a:lnSpc>
                <a:spcPct val="90000"/>
              </a:lnSpc>
              <a:defRPr sz="3200" b="1" baseline="0">
                <a:solidFill>
                  <a:schemeClr val="bg1"/>
                </a:solidFill>
                <a:latin typeface="Ubuntu" panose="020B0504030602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4179677478"/>
      </p:ext>
    </p:extLst>
  </p:cSld>
  <p:clrMapOvr>
    <a:masterClrMapping/>
  </p:clrMapOvr>
  <p:extLst>
    <p:ext uri="{DCECCB84-F9BA-43D5-87BE-67443E8EF086}">
      <p15:sldGuideLst xmlns:p15="http://schemas.microsoft.com/office/powerpoint/2012/main"/>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18361890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22092844"/>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25106013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80868047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6477727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3181243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nchor="t"/>
          <a:lstStyle/>
          <a:p>
            <a:r>
              <a:rPr lang="en-US"/>
              <a:t>Click to edit Master title style</a:t>
            </a:r>
            <a:endParaRPr lang="de-DE"/>
          </a:p>
        </p:txBody>
      </p:sp>
    </p:spTree>
    <p:extLst>
      <p:ext uri="{BB962C8B-B14F-4D97-AF65-F5344CB8AC3E}">
        <p14:creationId xmlns:p14="http://schemas.microsoft.com/office/powerpoint/2010/main" val="294953971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52082024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395163357"/>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479306526"/>
      </p:ext>
    </p:extLst>
  </p:cSld>
  <p:clrMapOvr>
    <a:masterClrMapping/>
  </p:clrMapOvr>
  <p:extLst>
    <p:ext uri="{DCECCB84-F9BA-43D5-87BE-67443E8EF086}">
      <p15:sldGuideLst xmlns:p15="http://schemas.microsoft.com/office/powerpoint/2012/main"/>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6166728"/>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791117424"/>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3738572230"/>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606564517"/>
      </p:ext>
    </p:extLst>
  </p:cSld>
  <p:clrMapOvr>
    <a:masterClrMapping/>
  </p:clrMapOvr>
  <p:extLst>
    <p:ext uri="{DCECCB84-F9BA-43D5-87BE-67443E8EF086}">
      <p15:sldGuideLst xmlns:p15="http://schemas.microsoft.com/office/powerpoint/2012/main"/>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3614455822"/>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440604304"/>
      </p:ext>
    </p:extLst>
  </p:cSld>
  <p:clrMapOvr>
    <a:masterClrMapping/>
  </p:clrMapOvr>
  <p:extLst>
    <p:ext uri="{DCECCB84-F9BA-43D5-87BE-67443E8EF086}">
      <p15:sldGuideLst xmlns:p15="http://schemas.microsoft.com/office/powerpoint/2012/main"/>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cSld name="2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550200" y="0"/>
            <a:ext cx="5545800" cy="1105200"/>
          </a:xfrm>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2948233135"/>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cSld name="Blank">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11823520"/>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Section A – Narrow">
    <p:spTree>
      <p:nvGrpSpPr>
        <p:cNvPr id="1" name=""/>
        <p:cNvGrpSpPr/>
        <p:nvPr/>
      </p:nvGrpSpPr>
      <p:grpSpPr>
        <a:xfrm>
          <a:off x="0" y="0"/>
          <a:ext cx="0" cy="0"/>
          <a:chOff x="0" y="0"/>
          <a:chExt cx="0" cy="0"/>
        </a:xfrm>
      </p:grpSpPr>
      <p:pic>
        <p:nvPicPr>
          <p:cNvPr id="4" name="Picture 3" descr="Simple concrete texture">
            <a:extLst>
              <a:ext uri="{FF2B5EF4-FFF2-40B4-BE49-F238E27FC236}">
                <a16:creationId xmlns:a16="http://schemas.microsoft.com/office/drawing/2014/main" id="{8F989865-EE8D-4748-9860-2F8CAAFFCAD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0" name="Rectangle 19">
            <a:extLst>
              <a:ext uri="{FF2B5EF4-FFF2-40B4-BE49-F238E27FC236}">
                <a16:creationId xmlns:a16="http://schemas.microsoft.com/office/drawing/2014/main" id="{C883B4EA-D053-4E5C-84C3-EE72BC24E22C}"/>
              </a:ext>
            </a:extLst>
          </p:cNvPr>
          <p:cNvSpPr/>
          <p:nvPr userDrawn="1"/>
        </p:nvSpPr>
        <p:spPr bwMode="white">
          <a:xfrm>
            <a:off x="2655737" y="-1"/>
            <a:ext cx="4585572" cy="6858001"/>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latin typeface="+mj-lt"/>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invGray">
          <a:xfrm>
            <a:off x="3125940" y="3287890"/>
            <a:ext cx="3641582" cy="11761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lvl1pPr algn="ctr">
              <a:lnSpc>
                <a:spcPct val="100000"/>
              </a:lnSpc>
              <a:defRPr lang="en-US" sz="2500" b="0" cap="all" baseline="0" dirty="0">
                <a:solidFill>
                  <a:schemeClr val="bg1"/>
                </a:solidFill>
                <a:latin typeface="Ubuntu" panose="020B0504030602030204" pitchFamily="34" charset="0"/>
              </a:defRPr>
            </a:lvl1pPr>
          </a:lstStyle>
          <a:p>
            <a:pPr marL="0" lvl="0"/>
            <a:r>
              <a:rPr lang="en-US"/>
              <a:t>SECTION TITLE ALL CAPS, LOREM IPSUM DOLOR AMET.</a:t>
            </a:r>
          </a:p>
        </p:txBody>
      </p:sp>
      <p:pic>
        <p:nvPicPr>
          <p:cNvPr id="6" name="Picture 5">
            <a:extLst>
              <a:ext uri="{FF2B5EF4-FFF2-40B4-BE49-F238E27FC236}">
                <a16:creationId xmlns:a16="http://schemas.microsoft.com/office/drawing/2014/main" id="{4AC2D978-8882-4AFA-86B2-EF5BC2A8530A}"/>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3689968" y="-3920"/>
            <a:ext cx="573846" cy="2946314"/>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44EDB8CD-D570-4B36-A15F-DD1E361EF259}"/>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4263814" y="1139617"/>
            <a:ext cx="1550027" cy="1808365"/>
          </a:xfrm>
          <a:prstGeom prst="rect">
            <a:avLst/>
          </a:prstGeom>
        </p:spPr>
      </p:pic>
      <p:pic>
        <p:nvPicPr>
          <p:cNvPr id="9" name="Picture 8" descr="A picture containing venn diagram&#10;&#10;Description automatically generated">
            <a:extLst>
              <a:ext uri="{FF2B5EF4-FFF2-40B4-BE49-F238E27FC236}">
                <a16:creationId xmlns:a16="http://schemas.microsoft.com/office/drawing/2014/main" id="{46D3A33D-B870-46A7-9EA1-51B5C4F42F61}"/>
              </a:ext>
            </a:extLst>
          </p:cNvPr>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5814582" y="1137677"/>
            <a:ext cx="2555267" cy="6008579"/>
          </a:xfrm>
          <a:prstGeom prst="rect">
            <a:avLst/>
          </a:prstGeom>
        </p:spPr>
      </p:pic>
      <p:sp>
        <p:nvSpPr>
          <p:cNvPr id="3" name="Text Placeholder 2">
            <a:extLst>
              <a:ext uri="{FF2B5EF4-FFF2-40B4-BE49-F238E27FC236}">
                <a16:creationId xmlns:a16="http://schemas.microsoft.com/office/drawing/2014/main" id="{D19AEC72-27C4-4556-93EC-C7570CE2148B}"/>
              </a:ext>
            </a:extLst>
          </p:cNvPr>
          <p:cNvSpPr>
            <a:spLocks noGrp="1"/>
          </p:cNvSpPr>
          <p:nvPr>
            <p:ph type="body" sz="quarter" idx="10" hasCustomPrompt="1"/>
          </p:nvPr>
        </p:nvSpPr>
        <p:spPr>
          <a:xfrm>
            <a:off x="3125788" y="1600264"/>
            <a:ext cx="3641725" cy="1336675"/>
          </a:xfrm>
          <a:prstGeom prst="rect">
            <a:avLst/>
          </a:prstGeom>
        </p:spPr>
        <p:txBody>
          <a:bodyPr/>
          <a:lstStyle>
            <a:lvl1pPr marL="0" indent="0" algn="ctr">
              <a:buNone/>
              <a:defRPr sz="9600">
                <a:solidFill>
                  <a:srgbClr val="00B9E8"/>
                </a:solidFill>
                <a:latin typeface="Ubuntu" panose="020B0504030602030204" pitchFamily="34" charset="0"/>
              </a:defRPr>
            </a:lvl1pPr>
          </a:lstStyle>
          <a:p>
            <a:pPr lvl="0"/>
            <a:r>
              <a:rPr lang="en-US"/>
              <a:t>1</a:t>
            </a:r>
            <a:endParaRPr lang="en-GB"/>
          </a:p>
        </p:txBody>
      </p:sp>
      <p:grpSp>
        <p:nvGrpSpPr>
          <p:cNvPr id="13" name="Group 37">
            <a:extLst>
              <a:ext uri="{FF2B5EF4-FFF2-40B4-BE49-F238E27FC236}">
                <a16:creationId xmlns:a16="http://schemas.microsoft.com/office/drawing/2014/main" id="{66DB8712-4F4E-4114-B3E8-851145F3E59A}"/>
              </a:ext>
            </a:extLst>
          </p:cNvPr>
          <p:cNvGrpSpPr/>
          <p:nvPr userDrawn="1"/>
        </p:nvGrpSpPr>
        <p:grpSpPr>
          <a:xfrm>
            <a:off x="11559747" y="210928"/>
            <a:ext cx="413177" cy="382296"/>
            <a:chOff x="5481638" y="2859088"/>
            <a:chExt cx="1231900" cy="1139825"/>
          </a:xfrm>
          <a:solidFill>
            <a:schemeClr val="bg1"/>
          </a:solidFill>
        </p:grpSpPr>
        <p:sp>
          <p:nvSpPr>
            <p:cNvPr id="15" name="Freeform 320">
              <a:extLst>
                <a:ext uri="{FF2B5EF4-FFF2-40B4-BE49-F238E27FC236}">
                  <a16:creationId xmlns:a16="http://schemas.microsoft.com/office/drawing/2014/main" id="{46271D6B-FF3D-4B16-807C-A775621A0ED5}"/>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321">
              <a:extLst>
                <a:ext uri="{FF2B5EF4-FFF2-40B4-BE49-F238E27FC236}">
                  <a16:creationId xmlns:a16="http://schemas.microsoft.com/office/drawing/2014/main" id="{19B223FC-79E0-4FBE-B983-062163C65EED}"/>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051371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3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750"/>
                                  </p:stCondLst>
                                  <p:iterate type="wd">
                                    <p:tmPct val="16667"/>
                                  </p:iterate>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64" presetClass="path" presetSubtype="0" decel="100000" fill="hold" grpId="1" nodeType="withEffect">
                                  <p:stCondLst>
                                    <p:cond delay="1750"/>
                                  </p:stCondLst>
                                  <p:iterate type="wd">
                                    <p:tmPct val="16667"/>
                                  </p:iterate>
                                  <p:childTnLst>
                                    <p:animMotion origin="layout" path="M 8.33333E-7 0.02615 L 8.33333E-7 3.7037E-6 " pathEditMode="relative" rAng="0" ptsTypes="AA">
                                      <p:cBhvr>
                                        <p:cTn id="12" dur="500" fill="hold"/>
                                        <p:tgtEl>
                                          <p:spTgt spid="14"/>
                                        </p:tgtEl>
                                        <p:attrNameLst>
                                          <p:attrName>ppt_x</p:attrName>
                                          <p:attrName>ppt_y</p:attrName>
                                        </p:attrNameLst>
                                      </p:cBhvr>
                                      <p:rCtr x="0" y="-1319"/>
                                    </p:animMotion>
                                  </p:childTnLst>
                                </p:cTn>
                              </p:par>
                              <p:par>
                                <p:cTn id="13" presetID="10" presetClass="entr" presetSubtype="0" fill="hold" grpId="1" nodeType="withEffect">
                                  <p:stCondLst>
                                    <p:cond delay="125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63" presetClass="path" presetSubtype="0" decel="100000" fill="hold" grpId="0" nodeType="withEffect">
                                  <p:stCondLst>
                                    <p:cond delay="1250"/>
                                  </p:stCondLst>
                                  <p:childTnLst>
                                    <p:animMotion origin="layout" path="M -0.05937 0 L -8.33333E-7 0 " pathEditMode="relative" rAng="0" ptsTypes="AA">
                                      <p:cBhvr>
                                        <p:cTn id="17" dur="1100" fill="hold"/>
                                        <p:tgtEl>
                                          <p:spTgt spid="20"/>
                                        </p:tgtEl>
                                        <p:attrNameLst>
                                          <p:attrName>ppt_x</p:attrName>
                                          <p:attrName>ppt_y</p:attrName>
                                        </p:attrNameLst>
                                      </p:cBhvr>
                                      <p:rCtr x="2969" y="0"/>
                                    </p:animMotion>
                                  </p:childTnLst>
                                </p:cTn>
                              </p:par>
                              <p:par>
                                <p:cTn id="18" presetID="22" presetClass="entr" presetSubtype="4" fill="hold" nodeType="withEffect">
                                  <p:stCondLst>
                                    <p:cond delay="200"/>
                                  </p:stCondLst>
                                  <p:childTnLst>
                                    <p:set>
                                      <p:cBhvr>
                                        <p:cTn id="19" dur="1" fill="hold">
                                          <p:stCondLst>
                                            <p:cond delay="0"/>
                                          </p:stCondLst>
                                        </p:cTn>
                                        <p:tgtEl>
                                          <p:spTgt spid="9"/>
                                        </p:tgtEl>
                                        <p:attrNameLst>
                                          <p:attrName>style.visibility</p:attrName>
                                        </p:attrNameLst>
                                      </p:cBhvr>
                                      <p:to>
                                        <p:strVal val="visible"/>
                                      </p:to>
                                    </p:set>
                                    <p:animEffect transition="in" filter="wipe(down)">
                                      <p:cBhvr>
                                        <p:cTn id="20" dur="2200"/>
                                        <p:tgtEl>
                                          <p:spTgt spid="9"/>
                                        </p:tgtEl>
                                      </p:cBhvr>
                                    </p:animEffect>
                                  </p:childTnLst>
                                </p:cTn>
                              </p:par>
                              <p:par>
                                <p:cTn id="21" presetID="22" presetClass="entr" presetSubtype="2" fill="hold" nodeType="withEffect">
                                  <p:stCondLst>
                                    <p:cond delay="2100"/>
                                  </p:stCondLst>
                                  <p:childTnLst>
                                    <p:set>
                                      <p:cBhvr>
                                        <p:cTn id="22" dur="1" fill="hold">
                                          <p:stCondLst>
                                            <p:cond delay="0"/>
                                          </p:stCondLst>
                                        </p:cTn>
                                        <p:tgtEl>
                                          <p:spTgt spid="8"/>
                                        </p:tgtEl>
                                        <p:attrNameLst>
                                          <p:attrName>style.visibility</p:attrName>
                                        </p:attrNameLst>
                                      </p:cBhvr>
                                      <p:to>
                                        <p:strVal val="visible"/>
                                      </p:to>
                                    </p:set>
                                    <p:animEffect transition="in" filter="wipe(right)">
                                      <p:cBhvr>
                                        <p:cTn id="23" dur="1250"/>
                                        <p:tgtEl>
                                          <p:spTgt spid="8"/>
                                        </p:tgtEl>
                                      </p:cBhvr>
                                    </p:animEffect>
                                  </p:childTnLst>
                                </p:cTn>
                              </p:par>
                              <p:par>
                                <p:cTn id="24" presetID="22" presetClass="entr" presetSubtype="4" fill="hold" nodeType="withEffect">
                                  <p:stCondLst>
                                    <p:cond delay="3300"/>
                                  </p:stCondLst>
                                  <p:childTnLst>
                                    <p:set>
                                      <p:cBhvr>
                                        <p:cTn id="25" dur="1" fill="hold">
                                          <p:stCondLst>
                                            <p:cond delay="0"/>
                                          </p:stCondLst>
                                        </p:cTn>
                                        <p:tgtEl>
                                          <p:spTgt spid="6"/>
                                        </p:tgtEl>
                                        <p:attrNameLst>
                                          <p:attrName>style.visibility</p:attrName>
                                        </p:attrNameLst>
                                      </p:cBhvr>
                                      <p:to>
                                        <p:strVal val="visible"/>
                                      </p:to>
                                    </p:set>
                                    <p:animEffect transition="in" filter="wipe(down)">
                                      <p:cBhvr>
                                        <p:cTn id="26" dur="11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14" grpId="0"/>
      <p:bldP spid="14" grpId="1"/>
      <p:bldP spid="3" grpId="0">
        <p:tmplLst>
          <p:tmpl>
            <p:tnLst>
              <p:par>
                <p:cTn presetID="10" presetClass="entr" presetSubtype="0" fill="hold" nodeType="withEffect">
                  <p:stCondLst>
                    <p:cond delay="13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2_Content Master">
    <p:spTree>
      <p:nvGrpSpPr>
        <p:cNvPr id="1" name=""/>
        <p:cNvGrpSpPr/>
        <p:nvPr/>
      </p:nvGrpSpPr>
      <p:grpSpPr>
        <a:xfrm>
          <a:off x="0" y="0"/>
          <a:ext cx="0" cy="0"/>
          <a:chOff x="0" y="0"/>
          <a:chExt cx="0" cy="0"/>
        </a:xfrm>
      </p:grpSpPr>
      <p:graphicFrame>
        <p:nvGraphicFramePr>
          <p:cNvPr id="3" name="Object 9" hidden="1"/>
          <p:cNvGraphicFramePr>
            <a:graphicFrameLocks noChangeAspect="1"/>
          </p:cNvGraphicFramePr>
          <p:nvPr>
            <p:custDataLst>
              <p:tags r:id="rId1"/>
            </p:custDataLst>
          </p:nvPr>
        </p:nvGraphicFramePr>
        <p:xfrm>
          <a:off x="1" y="3"/>
          <a:ext cx="181708" cy="144463"/>
        </p:xfrm>
        <a:graphic>
          <a:graphicData uri="http://schemas.openxmlformats.org/presentationml/2006/ole">
            <mc:AlternateContent xmlns:mc="http://schemas.openxmlformats.org/markup-compatibility/2006">
              <mc:Choice xmlns:v="urn:schemas-microsoft-com:vml" Requires="v">
                <p:oleObj name="think-cell Slide" r:id="rId3" imgW="360" imgH="360" progId="">
                  <p:embed/>
                </p:oleObj>
              </mc:Choice>
              <mc:Fallback>
                <p:oleObj name="think-cell Slide" r:id="rId3" imgW="360" imgH="360" progId="">
                  <p:embed/>
                  <p:pic>
                    <p:nvPicPr>
                      <p:cNvPr id="3" name="Object 9"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3"/>
                        <a:ext cx="181708" cy="144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84485" y="180327"/>
            <a:ext cx="11083532" cy="859536"/>
          </a:xfrm>
        </p:spPr>
        <p:txBody>
          <a:bodyPr/>
          <a:lstStyle>
            <a:lvl1pPr>
              <a:defRPr sz="2399"/>
            </a:lvl1pPr>
          </a:lstStyle>
          <a:p>
            <a:r>
              <a:rPr lang="en-US" noProof="0"/>
              <a:t>Click to edit Master title style</a:t>
            </a:r>
            <a:endParaRPr lang="en-US"/>
          </a:p>
        </p:txBody>
      </p:sp>
    </p:spTree>
    <p:extLst>
      <p:ext uri="{BB962C8B-B14F-4D97-AF65-F5344CB8AC3E}">
        <p14:creationId xmlns:p14="http://schemas.microsoft.com/office/powerpoint/2010/main" val="310847683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userDrawn="1">
  <p:cSld name="Blue Background">
    <p:bg>
      <p:bgPr>
        <a:solidFill>
          <a:schemeClr val="accent3"/>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55E2990-7E30-6749-94EF-7319BED74027}"/>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81836" t="-4713" b="16530"/>
          <a:stretch/>
        </p:blipFill>
        <p:spPr>
          <a:xfrm>
            <a:off x="11571834" y="188064"/>
            <a:ext cx="424356" cy="459624"/>
          </a:xfrm>
          <a:prstGeom prst="rect">
            <a:avLst/>
          </a:prstGeom>
          <a:effectLst>
            <a:outerShdw blurRad="139700" sx="87000" sy="87000" algn="ctr" rotWithShape="0">
              <a:prstClr val="black">
                <a:alpha val="74000"/>
              </a:prstClr>
            </a:outerShdw>
          </a:effectLst>
        </p:spPr>
      </p:pic>
      <p:sp>
        <p:nvSpPr>
          <p:cNvPr id="7" name="Retângulo 43">
            <a:extLst>
              <a:ext uri="{FF2B5EF4-FFF2-40B4-BE49-F238E27FC236}">
                <a16:creationId xmlns:a16="http://schemas.microsoft.com/office/drawing/2014/main" id="{0D6F30A3-FB8E-BF40-9ED4-0266B75CCBAA}"/>
              </a:ext>
            </a:extLst>
          </p:cNvPr>
          <p:cNvSpPr/>
          <p:nvPr userDrawn="1"/>
        </p:nvSpPr>
        <p:spPr>
          <a:xfrm>
            <a:off x="284131" y="6555758"/>
            <a:ext cx="2223686" cy="219456"/>
          </a:xfrm>
          <a:prstGeom prst="rect">
            <a:avLst/>
          </a:prstGeom>
        </p:spPr>
        <p:txBody>
          <a:bodyPr wrap="none" lIns="0" tIns="0" rIns="0" bIns="0" anchor="ctr">
            <a:noAutofit/>
          </a:bodyPr>
          <a:lstStyle/>
          <a:p>
            <a:pPr algn="l"/>
            <a:r>
              <a:rPr lang="en-US" sz="800">
                <a:solidFill>
                  <a:schemeClr val="bg1"/>
                </a:solidFill>
                <a:cs typeface="Arial" panose="020B0604020202020204" pitchFamily="34" charset="0"/>
              </a:rPr>
              <a:t>© 2022 Capgemini. All rights reserved.</a:t>
            </a:r>
          </a:p>
        </p:txBody>
      </p:sp>
      <p:sp>
        <p:nvSpPr>
          <p:cNvPr id="8" name="Retângulo 43">
            <a:extLst>
              <a:ext uri="{FF2B5EF4-FFF2-40B4-BE49-F238E27FC236}">
                <a16:creationId xmlns:a16="http://schemas.microsoft.com/office/drawing/2014/main" id="{24659390-E08F-6B44-B268-E1693324FED2}"/>
              </a:ext>
            </a:extLst>
          </p:cNvPr>
          <p:cNvSpPr/>
          <p:nvPr userDrawn="1"/>
        </p:nvSpPr>
        <p:spPr>
          <a:xfrm>
            <a:off x="11719893" y="6559770"/>
            <a:ext cx="306495" cy="215444"/>
          </a:xfrm>
          <a:prstGeom prst="rect">
            <a:avLst/>
          </a:prstGeom>
        </p:spPr>
        <p:txBody>
          <a:bodyPr wrap="none">
            <a:spAutoFit/>
          </a:bodyPr>
          <a:lstStyle/>
          <a:p>
            <a:pPr algn="r"/>
            <a:fld id="{0502E5A9-B53C-401E-A0E0-4A359BB0A9E5}" type="slidenum">
              <a:rPr lang="en-US" sz="800" smtClean="0">
                <a:solidFill>
                  <a:schemeClr val="bg1"/>
                </a:solidFill>
                <a:cs typeface="Arial" panose="020B0604020202020204" pitchFamily="34" charset="0"/>
              </a:rPr>
              <a:t>‹#›</a:t>
            </a:fld>
            <a:endParaRPr lang="en-US" sz="800">
              <a:solidFill>
                <a:schemeClr val="bg1"/>
              </a:solidFill>
              <a:cs typeface="Arial" panose="020B0604020202020204" pitchFamily="34" charset="0"/>
            </a:endParaRPr>
          </a:p>
        </p:txBody>
      </p:sp>
    </p:spTree>
    <p:extLst>
      <p:ext uri="{BB962C8B-B14F-4D97-AF65-F5344CB8AC3E}">
        <p14:creationId xmlns:p14="http://schemas.microsoft.com/office/powerpoint/2010/main" val="1724053805"/>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L Blue Bar ">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5B0713-B0C4-8344-8449-926A2F202FED}"/>
              </a:ext>
            </a:extLst>
          </p:cNvPr>
          <p:cNvSpPr/>
          <p:nvPr userDrawn="1"/>
        </p:nvSpPr>
        <p:spPr>
          <a:xfrm>
            <a:off x="0" y="0"/>
            <a:ext cx="3391593"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lnSpc>
                <a:spcPct val="90000"/>
              </a:lnSpc>
              <a:spcAft>
                <a:spcPts val="600"/>
              </a:spcAft>
            </a:pPr>
            <a:endParaRPr lang="en-US" sz="3000">
              <a:solidFill>
                <a:schemeClr val="bg1"/>
              </a:solidFill>
              <a:latin typeface="Franklin Gothic Medium" panose="020B0603020102020204" pitchFamily="34" charset="0"/>
            </a:endParaRPr>
          </a:p>
        </p:txBody>
      </p:sp>
      <p:sp>
        <p:nvSpPr>
          <p:cNvPr id="4" name="Retângulo 43">
            <a:extLst>
              <a:ext uri="{FF2B5EF4-FFF2-40B4-BE49-F238E27FC236}">
                <a16:creationId xmlns:a16="http://schemas.microsoft.com/office/drawing/2014/main" id="{E890BB03-F7EB-414B-9DD2-5AD0E7F51BC0}"/>
              </a:ext>
            </a:extLst>
          </p:cNvPr>
          <p:cNvSpPr/>
          <p:nvPr userDrawn="1"/>
        </p:nvSpPr>
        <p:spPr>
          <a:xfrm>
            <a:off x="284131" y="6555758"/>
            <a:ext cx="2223686" cy="219456"/>
          </a:xfrm>
          <a:prstGeom prst="rect">
            <a:avLst/>
          </a:prstGeom>
        </p:spPr>
        <p:txBody>
          <a:bodyPr wrap="none" lIns="0" tIns="0" rIns="0" bIns="0" anchor="ctr">
            <a:noAutofit/>
          </a:bodyPr>
          <a:lstStyle/>
          <a:p>
            <a:pPr algn="l"/>
            <a:r>
              <a:rPr lang="en-US" sz="800">
                <a:solidFill>
                  <a:schemeClr val="bg1"/>
                </a:solidFill>
                <a:cs typeface="Arial" panose="020B0604020202020204" pitchFamily="34" charset="0"/>
              </a:rPr>
              <a:t>© 2022 Capgemini. All rights reserved.</a:t>
            </a:r>
          </a:p>
        </p:txBody>
      </p:sp>
    </p:spTree>
    <p:extLst>
      <p:ext uri="{BB962C8B-B14F-4D97-AF65-F5344CB8AC3E}">
        <p14:creationId xmlns:p14="http://schemas.microsoft.com/office/powerpoint/2010/main" val="569480190"/>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3998555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092473208"/>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USE THIS ONE">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0AD71DBB-784F-460C-A192-55671B86D50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a:extLst>
                          <a:ext uri="{FF2B5EF4-FFF2-40B4-BE49-F238E27FC236}">
                            <a16:creationId xmlns:a16="http://schemas.microsoft.com/office/drawing/2014/main" id="{0AD71DBB-784F-460C-A192-55671B86D50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FC32C0AF-EE0C-4AF7-848F-E6A5B254506F}"/>
              </a:ext>
            </a:extLst>
          </p:cNvPr>
          <p:cNvSpPr/>
          <p:nvPr userDrawn="1">
            <p:custDataLst>
              <p:tags r:id="rId2"/>
            </p:custDataLst>
          </p:nvPr>
        </p:nvSpPr>
        <p:spPr>
          <a:xfrm>
            <a:off x="0" y="0"/>
            <a:ext cx="158750" cy="15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800" b="0" i="0" baseline="0">
              <a:solidFill>
                <a:schemeClr val="tx1"/>
              </a:solidFill>
              <a:latin typeface="Ubuntu" panose="020B0504030602030204" pitchFamily="34" charset="0"/>
              <a:ea typeface="+mj-ea"/>
              <a:cs typeface="+mj-cs"/>
              <a:sym typeface="Verdana" panose="020B0604030504040204" pitchFamily="34" charset="0"/>
            </a:endParaRPr>
          </a:p>
        </p:txBody>
      </p:sp>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550200" y="1125538"/>
            <a:ext cx="11090938" cy="276999"/>
          </a:xfrm>
        </p:spPr>
        <p:txBody>
          <a:bodyPr>
            <a:spAutoFit/>
          </a:bodyPr>
          <a:lstStyle>
            <a:lvl1pPr>
              <a:defRPr sz="1800">
                <a:solidFill>
                  <a:schemeClr val="accent1"/>
                </a:solidFill>
                <a:latin typeface="+mn-lt"/>
              </a:defRPr>
            </a:lvl1pPr>
          </a:lstStyle>
          <a:p>
            <a:pPr lvl="0"/>
            <a:r>
              <a:rPr lang="en-US"/>
              <a:t>Click to edit Master text styles</a:t>
            </a:r>
          </a:p>
        </p:txBody>
      </p:sp>
      <p:sp>
        <p:nvSpPr>
          <p:cNvPr id="5" name="Text Placeholder 4">
            <a:extLst>
              <a:ext uri="{FF2B5EF4-FFF2-40B4-BE49-F238E27FC236}">
                <a16:creationId xmlns:a16="http://schemas.microsoft.com/office/drawing/2014/main" id="{8822E626-8D4A-4823-A07D-CB58B184F6AA}"/>
              </a:ext>
            </a:extLst>
          </p:cNvPr>
          <p:cNvSpPr>
            <a:spLocks noGrp="1"/>
          </p:cNvSpPr>
          <p:nvPr>
            <p:ph type="body" sz="quarter" idx="16"/>
          </p:nvPr>
        </p:nvSpPr>
        <p:spPr>
          <a:xfrm>
            <a:off x="550863" y="1628775"/>
            <a:ext cx="11090275" cy="4860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7" name="Title 6">
            <a:extLst>
              <a:ext uri="{FF2B5EF4-FFF2-40B4-BE49-F238E27FC236}">
                <a16:creationId xmlns:a16="http://schemas.microsoft.com/office/drawing/2014/main" id="{D0C6E98A-86A2-4C2E-96BE-92ED9F77722C}"/>
              </a:ext>
            </a:extLst>
          </p:cNvPr>
          <p:cNvSpPr>
            <a:spLocks noGrp="1"/>
          </p:cNvSpPr>
          <p:nvPr>
            <p:ph type="title"/>
          </p:nvPr>
        </p:nvSpPr>
        <p:spPr/>
        <p:txBody>
          <a:bodyPr/>
          <a:lstStyle>
            <a:lvl1pPr>
              <a:defRPr sz="2400"/>
            </a:lvl1pPr>
          </a:lstStyle>
          <a:p>
            <a:r>
              <a:rPr lang="en-US"/>
              <a:t>Click to edit Master title style</a:t>
            </a:r>
            <a:endParaRPr lang="de-DE"/>
          </a:p>
        </p:txBody>
      </p:sp>
    </p:spTree>
    <p:extLst>
      <p:ext uri="{BB962C8B-B14F-4D97-AF65-F5344CB8AC3E}">
        <p14:creationId xmlns:p14="http://schemas.microsoft.com/office/powerpoint/2010/main" val="4127984155"/>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012554595"/>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userDrawn="1">
  <p:cSld name="Dark grey">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3144558"/>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userDrawn="1">
  <p:cSld name="Title, subtitle and content">
    <p:bg>
      <p:bgPr>
        <a:solidFill>
          <a:schemeClr val="bg2"/>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98D8912F-156D-4144-95D6-C030BED3A0F3}"/>
              </a:ext>
            </a:extLst>
          </p:cNvPr>
          <p:cNvSpPr>
            <a:spLocks noGrp="1"/>
          </p:cNvSpPr>
          <p:nvPr>
            <p:ph type="body" sz="quarter" idx="10"/>
          </p:nvPr>
        </p:nvSpPr>
        <p:spPr>
          <a:xfrm>
            <a:off x="550200" y="1815351"/>
            <a:ext cx="11091600" cy="4466201"/>
          </a:xfrm>
          <a:prstGeom prst="rect">
            <a:avLst/>
          </a:prstGeom>
        </p:spPr>
        <p:txBody>
          <a:bodyPr lIns="0" tIns="0" rIns="0" bIns="0" numCol="1">
            <a:normAutofit/>
          </a:bodyPr>
          <a:lstStyle>
            <a:lvl1pPr>
              <a:spcBef>
                <a:spcPts val="600"/>
              </a:spcBef>
              <a:defRPr sz="2000"/>
            </a:lvl1pPr>
            <a:lvl2pPr marL="273050" indent="-273050">
              <a:spcBef>
                <a:spcPts val="600"/>
              </a:spcBef>
              <a:defRPr sz="1800"/>
            </a:lvl2pPr>
            <a:lvl3pPr marL="531813" indent="-258763">
              <a:spcBef>
                <a:spcPts val="600"/>
              </a:spcBef>
              <a:buClr>
                <a:schemeClr val="accent1"/>
              </a:buClr>
              <a:defRPr sz="1600"/>
            </a:lvl3pPr>
            <a:lvl4pPr marL="723900" indent="-192088">
              <a:spcBef>
                <a:spcPts val="600"/>
              </a:spcBef>
              <a:buClr>
                <a:schemeClr val="accent1"/>
              </a:buClr>
              <a:defRPr sz="14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Espace réservé du texte 4">
            <a:extLst>
              <a:ext uri="{FF2B5EF4-FFF2-40B4-BE49-F238E27FC236}">
                <a16:creationId xmlns:a16="http://schemas.microsoft.com/office/drawing/2014/main" id="{F077FA37-1306-CD45-A29B-E15565294EAF}"/>
              </a:ext>
            </a:extLst>
          </p:cNvPr>
          <p:cNvSpPr>
            <a:spLocks noGrp="1"/>
          </p:cNvSpPr>
          <p:nvPr>
            <p:ph type="body" sz="quarter" idx="11" hasCustomPrompt="1"/>
          </p:nvPr>
        </p:nvSpPr>
        <p:spPr>
          <a:xfrm>
            <a:off x="550200" y="1148607"/>
            <a:ext cx="11091600" cy="504056"/>
          </a:xfrm>
          <a:prstGeom prst="rect">
            <a:avLst/>
          </a:prstGeom>
        </p:spPr>
        <p:txBody>
          <a:bodyPr lIns="0" tIns="0" rIns="0" bIns="0">
            <a:normAutofit/>
          </a:bodyPr>
          <a:lstStyle>
            <a:lvl1pPr>
              <a:spcBef>
                <a:spcPts val="0"/>
              </a:spcBef>
              <a:defRPr sz="2200" spc="-110" baseline="0">
                <a:solidFill>
                  <a:schemeClr val="accent1"/>
                </a:solidFill>
                <a:latin typeface="+mj-lt"/>
              </a:defRPr>
            </a:lvl1pPr>
          </a:lstStyle>
          <a:p>
            <a:pPr lvl="0"/>
            <a:r>
              <a:rPr lang="en-US"/>
              <a:t>Click to edit Master subtitle styles</a:t>
            </a:r>
          </a:p>
        </p:txBody>
      </p:sp>
      <p:sp>
        <p:nvSpPr>
          <p:cNvPr id="4" name="Title 3">
            <a:extLst>
              <a:ext uri="{FF2B5EF4-FFF2-40B4-BE49-F238E27FC236}">
                <a16:creationId xmlns:a16="http://schemas.microsoft.com/office/drawing/2014/main" id="{E4781F08-E2A8-D54B-9C2A-486D5A8C428C}"/>
              </a:ext>
            </a:extLst>
          </p:cNvPr>
          <p:cNvSpPr>
            <a:spLocks noGrp="1"/>
          </p:cNvSpPr>
          <p:nvPr>
            <p:ph type="title"/>
          </p:nvPr>
        </p:nvSpPr>
        <p:spPr>
          <a:xfrm>
            <a:off x="548640" y="0"/>
            <a:ext cx="11091672" cy="1106424"/>
          </a:xfrm>
          <a:prstGeom prst="rect">
            <a:avLst/>
          </a:prstGeom>
        </p:spPr>
        <p:txBody>
          <a:bodyPr vert="horz" lIns="0" tIns="180000" rIns="0" bIns="0" rtlCol="0" anchor="t">
            <a:noAutofit/>
          </a:bodyPr>
          <a:lstStyle>
            <a:lvl1pPr>
              <a:defRPr lang="en-US"/>
            </a:lvl1pPr>
          </a:lstStyle>
          <a:p>
            <a:pPr lvl="0">
              <a:spcBef>
                <a:spcPts val="0"/>
              </a:spcBef>
            </a:pPr>
            <a:r>
              <a:rPr lang="en-US"/>
              <a:t>Click to edit Master title style</a:t>
            </a:r>
          </a:p>
        </p:txBody>
      </p:sp>
    </p:spTree>
    <p:extLst>
      <p:ext uri="{BB962C8B-B14F-4D97-AF65-F5344CB8AC3E}">
        <p14:creationId xmlns:p14="http://schemas.microsoft.com/office/powerpoint/2010/main" val="2467504884"/>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1733551" y="6400799"/>
            <a:ext cx="8724899" cy="457201"/>
          </a:xfrm>
          <a:prstGeom prst="rect">
            <a:avLst/>
          </a:prstGeom>
          <a:noFill/>
        </p:spPr>
        <p:txBody>
          <a:bodyPr vert="horz" lIns="365760" tIns="45720" rIns="91440" bIns="45720" rtlCol="0" anchor="ctr" anchorCtr="0"/>
          <a:lstStyle>
            <a:lvl1pPr algn="ctr">
              <a:defRPr lang="en-US" sz="1100" smtClean="0">
                <a:effectLst>
                  <a:outerShdw blurRad="38100" dist="38100" dir="2700000" algn="tl">
                    <a:srgbClr val="000000">
                      <a:alpha val="43137"/>
                    </a:srgbClr>
                  </a:outerShdw>
                </a:effectLst>
              </a:defRPr>
            </a:lvl1pPr>
          </a:lstStyle>
          <a:p>
            <a:r>
              <a:rPr lang="en-US">
                <a:solidFill>
                  <a:prstClr val="white"/>
                </a:solidFill>
              </a:rPr>
              <a:t>Grange </a:t>
            </a:r>
            <a:r>
              <a:rPr>
                <a:solidFill>
                  <a:prstClr val="white"/>
                </a:solidFill>
              </a:rPr>
              <a:t> CONFIDENTIAL INFORMATION</a:t>
            </a:r>
          </a:p>
          <a:p>
            <a:r>
              <a:rPr>
                <a:solidFill>
                  <a:prstClr val="white"/>
                </a:solidFill>
              </a:rPr>
              <a:t>- Distribution on a Business Need to Know Basis Only -</a:t>
            </a:r>
          </a:p>
        </p:txBody>
      </p:sp>
    </p:spTree>
    <p:extLst>
      <p:ext uri="{BB962C8B-B14F-4D97-AF65-F5344CB8AC3E}">
        <p14:creationId xmlns:p14="http://schemas.microsoft.com/office/powerpoint/2010/main" val="1924792472"/>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CE4F9-B3B6-4E6A-8643-2586658357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17CB26E-34D1-475B-AB64-468E5AFF66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F40A5F7-0D71-4EF4-87CB-4316F2AA44D3}"/>
              </a:ext>
            </a:extLst>
          </p:cNvPr>
          <p:cNvSpPr>
            <a:spLocks noGrp="1"/>
          </p:cNvSpPr>
          <p:nvPr>
            <p:ph type="dt" sz="half" idx="10"/>
          </p:nvPr>
        </p:nvSpPr>
        <p:spPr/>
        <p:txBody>
          <a:bodyPr/>
          <a:lstStyle/>
          <a:p>
            <a:fld id="{44E66089-E423-4D92-BA52-53983702B7FE}" type="datetimeFigureOut">
              <a:rPr lang="en-GB" smtClean="0"/>
              <a:t>11/02/2026</a:t>
            </a:fld>
            <a:endParaRPr lang="en-GB"/>
          </a:p>
        </p:txBody>
      </p:sp>
      <p:sp>
        <p:nvSpPr>
          <p:cNvPr id="5" name="Footer Placeholder 4">
            <a:extLst>
              <a:ext uri="{FF2B5EF4-FFF2-40B4-BE49-F238E27FC236}">
                <a16:creationId xmlns:a16="http://schemas.microsoft.com/office/drawing/2014/main" id="{EAC84C48-F095-4992-B6DF-20428F15BEE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B93A0EF-7912-4C0A-B829-D30E82EBE665}"/>
              </a:ext>
            </a:extLst>
          </p:cNvPr>
          <p:cNvSpPr>
            <a:spLocks noGrp="1"/>
          </p:cNvSpPr>
          <p:nvPr>
            <p:ph type="sldNum" sz="quarter" idx="12"/>
          </p:nvPr>
        </p:nvSpPr>
        <p:spPr/>
        <p:txBody>
          <a:bodyPr/>
          <a:lstStyle/>
          <a:p>
            <a:fld id="{F9A2B593-8181-44ED-9949-8D8F477B6F9C}" type="slidenum">
              <a:rPr lang="en-GB" smtClean="0"/>
              <a:t>‹#›</a:t>
            </a:fld>
            <a:endParaRPr lang="en-GB"/>
          </a:p>
        </p:txBody>
      </p:sp>
    </p:spTree>
    <p:extLst>
      <p:ext uri="{BB962C8B-B14F-4D97-AF65-F5344CB8AC3E}">
        <p14:creationId xmlns:p14="http://schemas.microsoft.com/office/powerpoint/2010/main" val="2200755770"/>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D4934-158F-8215-F3FF-1BD3FE5977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69751E-AAEA-32F8-E97A-E7344DE910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802BF7-1EDF-413A-70F1-869C01B5DAD4}"/>
              </a:ext>
            </a:extLst>
          </p:cNvPr>
          <p:cNvSpPr>
            <a:spLocks noGrp="1"/>
          </p:cNvSpPr>
          <p:nvPr>
            <p:ph type="dt" sz="half" idx="10"/>
          </p:nvPr>
        </p:nvSpPr>
        <p:spPr/>
        <p:txBody>
          <a:bodyPr/>
          <a:lstStyle/>
          <a:p>
            <a:fld id="{AA34BEBE-2228-6744-BE97-B19D1AF5F2D9}" type="datetimeFigureOut">
              <a:rPr lang="en-US" smtClean="0"/>
              <a:t>2/11/2026</a:t>
            </a:fld>
            <a:endParaRPr lang="en-US"/>
          </a:p>
        </p:txBody>
      </p:sp>
      <p:sp>
        <p:nvSpPr>
          <p:cNvPr id="5" name="Footer Placeholder 4">
            <a:extLst>
              <a:ext uri="{FF2B5EF4-FFF2-40B4-BE49-F238E27FC236}">
                <a16:creationId xmlns:a16="http://schemas.microsoft.com/office/drawing/2014/main" id="{1559570D-9073-30FA-E96D-2170E6D45E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26BEBD-2207-0370-B0E8-7039908710FC}"/>
              </a:ext>
            </a:extLst>
          </p:cNvPr>
          <p:cNvSpPr>
            <a:spLocks noGrp="1"/>
          </p:cNvSpPr>
          <p:nvPr>
            <p:ph type="sldNum" sz="quarter" idx="12"/>
          </p:nvPr>
        </p:nvSpPr>
        <p:spPr/>
        <p:txBody>
          <a:bodyPr/>
          <a:lstStyle/>
          <a:p>
            <a:fld id="{582E6ADB-CB25-8542-B868-ADAC2ADB8022}" type="slidenum">
              <a:rPr lang="en-US" smtClean="0"/>
              <a:t>‹#›</a:t>
            </a:fld>
            <a:endParaRPr lang="en-US"/>
          </a:p>
        </p:txBody>
      </p:sp>
    </p:spTree>
    <p:extLst>
      <p:ext uri="{BB962C8B-B14F-4D97-AF65-F5344CB8AC3E}">
        <p14:creationId xmlns:p14="http://schemas.microsoft.com/office/powerpoint/2010/main" val="3255109704"/>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6692022"/>
      </p:ext>
    </p:extLst>
  </p:cSld>
  <p:clrMapOvr>
    <a:masterClrMapping/>
  </p:clrMapOvr>
  <p:extLst>
    <p:ext uri="{DCECCB84-F9BA-43D5-87BE-67443E8EF086}">
      <p15:sldGuideLst xmlns:p15="http://schemas.microsoft.com/office/powerpoint/2012/main"/>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2351366594"/>
      </p:ext>
    </p:extLst>
  </p:cSld>
  <p:clrMapOvr>
    <a:masterClrMapping/>
  </p:clrMapOvr>
  <p:extLst>
    <p:ext uri="{DCECCB84-F9BA-43D5-87BE-67443E8EF086}">
      <p15:sldGuideLst xmlns:p15="http://schemas.microsoft.com/office/powerpoint/2012/main"/>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88735221"/>
      </p:ext>
    </p:extLst>
  </p:cSld>
  <p:clrMapOvr>
    <a:masterClrMapping/>
  </p:clrMapOvr>
  <p:extLst>
    <p:ext uri="{DCECCB84-F9BA-43D5-87BE-67443E8EF086}">
      <p15:sldGuideLst xmlns:p15="http://schemas.microsoft.com/office/powerpoint/2012/main"/>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3741968054"/>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126970175"/>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894985762"/>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69839246"/>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03486162"/>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773713602"/>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15736813"/>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2387847710"/>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187906134"/>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41763886"/>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2069556871"/>
      </p:ext>
    </p:extLst>
  </p:cSld>
  <p:clrMapOvr>
    <a:masterClrMapping/>
  </p:clrMapOvr>
  <p:extLst>
    <p:ext uri="{DCECCB84-F9BA-43D5-87BE-67443E8EF086}">
      <p15:sldGuideLst xmlns:p15="http://schemas.microsoft.com/office/powerpoint/2012/main"/>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896523904"/>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6805629"/>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861677787"/>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1496281948"/>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229688494"/>
      </p:ext>
    </p:extLst>
  </p:cSld>
  <p:clrMapOvr>
    <a:masterClrMapping/>
  </p:clrMapOvr>
  <p:extLst>
    <p:ext uri="{DCECCB84-F9BA-43D5-87BE-67443E8EF086}">
      <p15:sldGuideLst xmlns:p15="http://schemas.microsoft.com/office/powerpoint/2012/main"/>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3620580479"/>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01367345"/>
      </p:ext>
    </p:extLst>
  </p:cSld>
  <p:clrMapOvr>
    <a:masterClrMapping/>
  </p:clrMapOvr>
  <p:extLst>
    <p:ext uri="{DCECCB84-F9BA-43D5-87BE-67443E8EF086}">
      <p15:sldGuideLst xmlns:p15="http://schemas.microsoft.com/office/powerpoint/2012/main"/>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285063866"/>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1733551" y="6400799"/>
            <a:ext cx="8724899" cy="457201"/>
          </a:xfrm>
          <a:prstGeom prst="rect">
            <a:avLst/>
          </a:prstGeom>
          <a:noFill/>
        </p:spPr>
        <p:txBody>
          <a:bodyPr vert="horz" lIns="365760" tIns="45720" rIns="91440" bIns="45720" rtlCol="0" anchor="ctr" anchorCtr="0"/>
          <a:lstStyle>
            <a:lvl1pPr algn="ctr">
              <a:defRPr lang="en-US" sz="1100" smtClean="0">
                <a:effectLst>
                  <a:outerShdw blurRad="38100" dist="38100" dir="2700000" algn="tl">
                    <a:srgbClr val="000000">
                      <a:alpha val="43137"/>
                    </a:srgbClr>
                  </a:outerShdw>
                </a:effectLst>
              </a:defRPr>
            </a:lvl1pPr>
          </a:lstStyle>
          <a:p>
            <a:r>
              <a:rPr lang="en-US">
                <a:solidFill>
                  <a:prstClr val="white"/>
                </a:solidFill>
              </a:rPr>
              <a:t>Grange </a:t>
            </a:r>
            <a:r>
              <a:rPr>
                <a:solidFill>
                  <a:prstClr val="white"/>
                </a:solidFill>
              </a:rPr>
              <a:t> CONFIDENTIAL INFORMATION</a:t>
            </a:r>
          </a:p>
          <a:p>
            <a:r>
              <a:rPr>
                <a:solidFill>
                  <a:prstClr val="white"/>
                </a:solidFill>
              </a:rPr>
              <a:t>- Distribution on a Business Need to Know Basis Only -</a:t>
            </a:r>
          </a:p>
        </p:txBody>
      </p:sp>
    </p:spTree>
    <p:extLst>
      <p:ext uri="{BB962C8B-B14F-4D97-AF65-F5344CB8AC3E}">
        <p14:creationId xmlns:p14="http://schemas.microsoft.com/office/powerpoint/2010/main" val="447074603"/>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9C1A3-FC1C-F605-49FC-B80D37DB0A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E36E5AA-DE50-F516-9658-18419D98F7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9415E53-41B5-1D69-AB6C-CCCB2B7866AA}"/>
              </a:ext>
            </a:extLst>
          </p:cNvPr>
          <p:cNvSpPr>
            <a:spLocks noGrp="1"/>
          </p:cNvSpPr>
          <p:nvPr>
            <p:ph type="dt" sz="half" idx="10"/>
          </p:nvPr>
        </p:nvSpPr>
        <p:spPr/>
        <p:txBody>
          <a:bodyPr/>
          <a:lstStyle/>
          <a:p>
            <a:fld id="{D334C3A3-F993-414A-AAF8-8E9919339753}" type="datetimeFigureOut">
              <a:rPr lang="en-GB" smtClean="0"/>
              <a:t>11/02/2026</a:t>
            </a:fld>
            <a:endParaRPr lang="en-GB"/>
          </a:p>
        </p:txBody>
      </p:sp>
      <p:sp>
        <p:nvSpPr>
          <p:cNvPr id="5" name="Footer Placeholder 4">
            <a:extLst>
              <a:ext uri="{FF2B5EF4-FFF2-40B4-BE49-F238E27FC236}">
                <a16:creationId xmlns:a16="http://schemas.microsoft.com/office/drawing/2014/main" id="{81D16740-5142-4C09-E754-7566CBF48F9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E8E1DE6-F73C-E6A0-B302-B817502CD791}"/>
              </a:ext>
            </a:extLst>
          </p:cNvPr>
          <p:cNvSpPr>
            <a:spLocks noGrp="1"/>
          </p:cNvSpPr>
          <p:nvPr>
            <p:ph type="sldNum" sz="quarter" idx="12"/>
          </p:nvPr>
        </p:nvSpPr>
        <p:spPr/>
        <p:txBody>
          <a:bodyPr/>
          <a:lstStyle/>
          <a:p>
            <a:fld id="{3DD1359A-EC5E-4808-B5BC-F041E20EB9D7}" type="slidenum">
              <a:rPr lang="en-GB" smtClean="0"/>
              <a:t>‹#›</a:t>
            </a:fld>
            <a:endParaRPr lang="en-GB"/>
          </a:p>
        </p:txBody>
      </p:sp>
    </p:spTree>
    <p:extLst>
      <p:ext uri="{BB962C8B-B14F-4D97-AF65-F5344CB8AC3E}">
        <p14:creationId xmlns:p14="http://schemas.microsoft.com/office/powerpoint/2010/main" val="1837477402"/>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userDrawn="1">
  <p:cSld name="Title &amp; Content (ONE COL)">
    <p:spTree>
      <p:nvGrpSpPr>
        <p:cNvPr id="1" name=""/>
        <p:cNvGrpSpPr/>
        <p:nvPr/>
      </p:nvGrpSpPr>
      <p:grpSpPr>
        <a:xfrm>
          <a:off x="0" y="0"/>
          <a:ext cx="0" cy="0"/>
          <a:chOff x="0" y="0"/>
          <a:chExt cx="0" cy="0"/>
        </a:xfrm>
      </p:grpSpPr>
      <p:sp>
        <p:nvSpPr>
          <p:cNvPr id="3" name="Content Placeholder 2"/>
          <p:cNvSpPr>
            <a:spLocks noGrp="1"/>
          </p:cNvSpPr>
          <p:nvPr>
            <p:ph idx="1"/>
          </p:nvPr>
        </p:nvSpPr>
        <p:spPr>
          <a:xfrm>
            <a:off x="479425" y="1828801"/>
            <a:ext cx="11268075" cy="4114800"/>
          </a:xfrm>
        </p:spPr>
        <p:txBody>
          <a:bodyPr numCol="1">
            <a:noAutofit/>
          </a:bodyPr>
          <a:lstStyle>
            <a:lvl1pPr marL="0" marR="0" indent="0" algn="l" defTabSz="914377" rtl="0" eaLnBrk="1" fontAlgn="auto" latinLnBrk="0" hangingPunct="1">
              <a:lnSpc>
                <a:spcPct val="100000"/>
              </a:lnSpc>
              <a:spcBef>
                <a:spcPts val="1800"/>
              </a:spcBef>
              <a:spcAft>
                <a:spcPts val="0"/>
              </a:spcAft>
              <a:buClr>
                <a:srgbClr val="0028A0"/>
              </a:buClr>
              <a:buSzTx/>
              <a:buFont typeface="Arial" panose="020B0604020202020204" pitchFamily="34" charset="0"/>
              <a:buNone/>
              <a:tabLst/>
              <a:defRPr/>
            </a:lvl1pPr>
            <a:lvl2pPr marL="288918"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2pPr>
            <a:lvl3pPr marL="517512" marR="0"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3pPr>
            <a:lvl4pPr marL="746107" marR="0"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4pPr>
            <a:lvl5pPr marL="974701"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5pPr>
          </a:lstStyle>
          <a:p>
            <a:pPr marL="0" marR="0" lvl="0" indent="0" algn="l" defTabSz="914377" rtl="0" eaLnBrk="1" fontAlgn="auto" latinLnBrk="0" hangingPunct="1">
              <a:lnSpc>
                <a:spcPct val="100000"/>
              </a:lnSpc>
              <a:spcBef>
                <a:spcPts val="1200"/>
              </a:spcBef>
              <a:spcAft>
                <a:spcPts val="0"/>
              </a:spcAft>
              <a:buClr>
                <a:srgbClr val="0028A0"/>
              </a:buClr>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8918" marR="0" lvl="1"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Second level</a:t>
            </a:r>
          </a:p>
          <a:p>
            <a:pPr marL="517512" marR="0" lvl="2"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Third level</a:t>
            </a:r>
          </a:p>
          <a:p>
            <a:pPr marL="746107" marR="0" lvl="3"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Fourth level</a:t>
            </a:r>
          </a:p>
          <a:p>
            <a:pPr marL="974701" marR="0" lvl="4"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4" name="Text Placeholder 3"/>
          <p:cNvSpPr>
            <a:spLocks noGrp="1"/>
          </p:cNvSpPr>
          <p:nvPr>
            <p:ph type="body" sz="quarter" idx="10"/>
          </p:nvPr>
        </p:nvSpPr>
        <p:spPr>
          <a:xfrm>
            <a:off x="479425" y="1080375"/>
            <a:ext cx="11268075" cy="430887"/>
          </a:xfrm>
        </p:spPr>
        <p:txBody>
          <a:bodyPr wrap="square" numCol="1">
            <a:spAutoFit/>
          </a:bodyPr>
          <a:lstStyle>
            <a:lvl1pPr>
              <a:lnSpc>
                <a:spcPct val="100000"/>
              </a:lnSpc>
              <a:spcBef>
                <a:spcPts val="0"/>
              </a:spcBef>
              <a:defRPr sz="2800">
                <a:solidFill>
                  <a:schemeClr val="bg2">
                    <a:lumMod val="65000"/>
                    <a:lumOff val="35000"/>
                  </a:schemeClr>
                </a:solidFill>
              </a:defRPr>
            </a:lvl1pPr>
            <a:lvl2pPr>
              <a:defRPr sz="2400"/>
            </a:lvl2pPr>
            <a:lvl3pPr>
              <a:defRPr sz="2400"/>
            </a:lvl3pPr>
            <a:lvl4pPr>
              <a:defRPr sz="2400"/>
            </a:lvl4pPr>
            <a:lvl5pPr>
              <a:defRPr sz="2400"/>
            </a:lvl5pPr>
          </a:lstStyle>
          <a:p>
            <a:pPr lvl="0"/>
            <a:r>
              <a:rPr lang="en-US"/>
              <a:t>Click to edit Master text styles</a:t>
            </a:r>
          </a:p>
        </p:txBody>
      </p:sp>
      <p:sp>
        <p:nvSpPr>
          <p:cNvPr id="2" name="Title 1"/>
          <p:cNvSpPr>
            <a:spLocks noGrp="1"/>
          </p:cNvSpPr>
          <p:nvPr>
            <p:ph type="title"/>
          </p:nvPr>
        </p:nvSpPr>
        <p:spPr>
          <a:xfrm>
            <a:off x="479425" y="457202"/>
            <a:ext cx="11268075" cy="615553"/>
          </a:xfrm>
        </p:spPr>
        <p:txBody>
          <a:bodyPr/>
          <a:lstStyle/>
          <a:p>
            <a:r>
              <a:rPr lang="en-US"/>
              <a:t>Click to edit Master title style</a:t>
            </a:r>
          </a:p>
        </p:txBody>
      </p:sp>
    </p:spTree>
    <p:extLst>
      <p:ext uri="{BB962C8B-B14F-4D97-AF65-F5344CB8AC3E}">
        <p14:creationId xmlns:p14="http://schemas.microsoft.com/office/powerpoint/2010/main" val="4024684628"/>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xfrm>
            <a:off x="6863862" y="6308725"/>
            <a:ext cx="2305538" cy="476250"/>
          </a:xfrm>
          <a:prstGeom prst="rect">
            <a:avLst/>
          </a:prstGeom>
          <a:ln/>
        </p:spPr>
        <p:txBody>
          <a:bodyPr/>
          <a:lstStyle>
            <a:lvl1pPr>
              <a:defRPr/>
            </a:lvl1pPr>
          </a:lstStyle>
          <a:p>
            <a:r>
              <a:rPr lang="en-US" altLang="en-US"/>
              <a:t>Date</a:t>
            </a:r>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xfrm>
            <a:off x="1166447" y="6308725"/>
            <a:ext cx="5205046" cy="476250"/>
          </a:xfrm>
          <a:prstGeom prst="rect">
            <a:avLst/>
          </a:prstGeom>
          <a:ln/>
        </p:spPr>
        <p:txBody>
          <a:bodyPr/>
          <a:lstStyle>
            <a:lvl1pPr>
              <a:defRPr/>
            </a:lvl1pPr>
          </a:lstStyle>
          <a:p>
            <a:r>
              <a:rPr lang="en-GB" altLang="en-US"/>
              <a:t>New presentation – Author</a:t>
            </a:r>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xfrm>
            <a:off x="328246" y="6308725"/>
            <a:ext cx="719015" cy="476250"/>
          </a:xfrm>
          <a:prstGeom prst="rect">
            <a:avLst/>
          </a:prstGeom>
          <a:ln/>
        </p:spPr>
        <p:txBody>
          <a:bodyPr/>
          <a:lstStyle>
            <a:lvl1pPr>
              <a:defRPr/>
            </a:lvl1pPr>
          </a:lstStyle>
          <a:p>
            <a:fld id="{532E4B0F-E077-49F8-921C-80D80331C8AC}" type="slidenum">
              <a:rPr lang="en-GB" altLang="en-US"/>
              <a:pPr/>
              <a:t>‹#›</a:t>
            </a:fld>
            <a:endParaRPr lang="en-GB" altLang="en-US"/>
          </a:p>
        </p:txBody>
      </p:sp>
    </p:spTree>
    <p:extLst>
      <p:ext uri="{BB962C8B-B14F-4D97-AF65-F5344CB8AC3E}">
        <p14:creationId xmlns:p14="http://schemas.microsoft.com/office/powerpoint/2010/main" val="178436080"/>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cSld name="8_Vide">
    <p:bg>
      <p:bgPr>
        <a:solidFill>
          <a:schemeClr val="tx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 name="Picture 7">
            <a:extLst>
              <a:ext uri="{FF2B5EF4-FFF2-40B4-BE49-F238E27FC236}">
                <a16:creationId xmlns:a16="http://schemas.microsoft.com/office/drawing/2014/main" id="{BEB2DB99-1ECC-8785-ED78-2DB4C12E3F08}"/>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0" y="0"/>
            <a:ext cx="12192000" cy="6858000"/>
          </a:xfrm>
          <a:custGeom>
            <a:avLst/>
            <a:gdLst>
              <a:gd name="connsiteX0" fmla="*/ 10732376 w 12192000"/>
              <a:gd name="connsiteY0" fmla="*/ 287238 h 6858000"/>
              <a:gd name="connsiteX1" fmla="*/ 10732376 w 12192000"/>
              <a:gd name="connsiteY1" fmla="*/ 1007318 h 6858000"/>
              <a:gd name="connsiteX2" fmla="*/ 11668480 w 12192000"/>
              <a:gd name="connsiteY2" fmla="*/ 1007318 h 6858000"/>
              <a:gd name="connsiteX3" fmla="*/ 11668480 w 12192000"/>
              <a:gd name="connsiteY3" fmla="*/ 287238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10732376" y="287238"/>
                </a:moveTo>
                <a:lnTo>
                  <a:pt x="10732376" y="1007318"/>
                </a:lnTo>
                <a:lnTo>
                  <a:pt x="11668480" y="1007318"/>
                </a:lnTo>
                <a:lnTo>
                  <a:pt x="11668480" y="287238"/>
                </a:lnTo>
                <a:close/>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2063806288"/>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userDrawn="1">
  <p:cSld name="1_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84150" y="175419"/>
            <a:ext cx="10515600" cy="365127"/>
          </a:xfrm>
        </p:spPr>
        <p:txBody>
          <a:bodyPr anchor="t">
            <a:normAutofit/>
          </a:bodyPr>
          <a:lstStyle>
            <a:lvl1pPr>
              <a:defRPr lang="en-US" sz="2800" kern="1200" dirty="0">
                <a:solidFill>
                  <a:srgbClr val="FF0000"/>
                </a:solidFill>
                <a:latin typeface="+mn-lt"/>
                <a:ea typeface="+mn-ea"/>
                <a:cs typeface="+mn-cs"/>
              </a:defRPr>
            </a:lvl1pPr>
          </a:lstStyle>
          <a:p>
            <a:r>
              <a:rPr lang="en-US"/>
              <a:t>Main Heading</a:t>
            </a:r>
          </a:p>
        </p:txBody>
      </p:sp>
      <p:sp>
        <p:nvSpPr>
          <p:cNvPr id="4" name="Date Placeholder 3"/>
          <p:cNvSpPr>
            <a:spLocks noGrp="1"/>
          </p:cNvSpPr>
          <p:nvPr>
            <p:ph type="dt" sz="half" idx="10"/>
          </p:nvPr>
        </p:nvSpPr>
        <p:spPr/>
        <p:txBody>
          <a:bodyPr/>
          <a:lstStyle/>
          <a:p>
            <a:fld id="{A62CCA1E-0EEA-4CCA-A9F2-89AEF8419AFD}" type="datetimeFigureOut">
              <a:rPr lang="en-GB" smtClean="0"/>
              <a:t>11/02/2026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6612583-AFA1-4562-9DDD-EB238F2D05DB}" type="slidenum">
              <a:rPr lang="en-GB" smtClean="0"/>
              <a:t>‹#›</a:t>
            </a:fld>
            <a:endParaRPr lang="en-GB"/>
          </a:p>
        </p:txBody>
      </p:sp>
      <p:sp>
        <p:nvSpPr>
          <p:cNvPr id="7" name="Subtitle 2">
            <a:extLst>
              <a:ext uri="{FF2B5EF4-FFF2-40B4-BE49-F238E27FC236}">
                <a16:creationId xmlns:a16="http://schemas.microsoft.com/office/drawing/2014/main" id="{D0007C42-634C-FE59-CD16-D8B207A58BAD}"/>
              </a:ext>
            </a:extLst>
          </p:cNvPr>
          <p:cNvSpPr>
            <a:spLocks noGrp="1"/>
          </p:cNvSpPr>
          <p:nvPr>
            <p:ph type="subTitle" idx="1" hasCustomPrompt="1"/>
          </p:nvPr>
        </p:nvSpPr>
        <p:spPr>
          <a:xfrm>
            <a:off x="184150" y="617538"/>
            <a:ext cx="9144000" cy="365125"/>
          </a:xfrm>
        </p:spPr>
        <p:txBody>
          <a:bodyPr>
            <a:normAutofit/>
          </a:bodyPr>
          <a:lstStyle>
            <a:lvl1pPr marL="0" indent="0" algn="l">
              <a:buNone/>
              <a:defRPr sz="1800">
                <a:solidFill>
                  <a:schemeClr val="accent6">
                    <a:lumMod val="7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Optional </a:t>
            </a:r>
            <a:r>
              <a:rPr lang="en-US" err="1"/>
              <a:t>Subheader</a:t>
            </a:r>
            <a:endParaRPr lang="en-US"/>
          </a:p>
        </p:txBody>
      </p:sp>
    </p:spTree>
    <p:extLst>
      <p:ext uri="{BB962C8B-B14F-4D97-AF65-F5344CB8AC3E}">
        <p14:creationId xmlns:p14="http://schemas.microsoft.com/office/powerpoint/2010/main" val="169702163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heme" Target="../theme/theme2.xml"/><Relationship Id="rId1" Type="http://schemas.openxmlformats.org/officeDocument/2006/relationships/slideLayout" Target="../slideLayouts/slideLayout28.xml"/><Relationship Id="rId5" Type="http://schemas.openxmlformats.org/officeDocument/2006/relationships/image" Target="../media/image1.emf"/><Relationship Id="rId4" Type="http://schemas.openxmlformats.org/officeDocument/2006/relationships/oleObject" Target="../embeddings/oleObject3.bin"/></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41.xml"/><Relationship Id="rId18" Type="http://schemas.openxmlformats.org/officeDocument/2006/relationships/slideLayout" Target="../slideLayouts/slideLayout46.xml"/><Relationship Id="rId26" Type="http://schemas.openxmlformats.org/officeDocument/2006/relationships/slideLayout" Target="../slideLayouts/slideLayout54.xml"/><Relationship Id="rId21" Type="http://schemas.openxmlformats.org/officeDocument/2006/relationships/slideLayout" Target="../slideLayouts/slideLayout49.xml"/><Relationship Id="rId34" Type="http://schemas.openxmlformats.org/officeDocument/2006/relationships/theme" Target="../theme/theme3.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5" Type="http://schemas.openxmlformats.org/officeDocument/2006/relationships/slideLayout" Target="../slideLayouts/slideLayout53.xml"/><Relationship Id="rId33" Type="http://schemas.openxmlformats.org/officeDocument/2006/relationships/slideLayout" Target="../slideLayouts/slideLayout61.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20" Type="http://schemas.openxmlformats.org/officeDocument/2006/relationships/slideLayout" Target="../slideLayouts/slideLayout48.xml"/><Relationship Id="rId29" Type="http://schemas.openxmlformats.org/officeDocument/2006/relationships/slideLayout" Target="../slideLayouts/slideLayout57.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24" Type="http://schemas.openxmlformats.org/officeDocument/2006/relationships/slideLayout" Target="../slideLayouts/slideLayout52.xml"/><Relationship Id="rId32" Type="http://schemas.openxmlformats.org/officeDocument/2006/relationships/slideLayout" Target="../slideLayouts/slideLayout60.xml"/><Relationship Id="rId37" Type="http://schemas.openxmlformats.org/officeDocument/2006/relationships/image" Target="../media/image1.emf"/><Relationship Id="rId5" Type="http://schemas.openxmlformats.org/officeDocument/2006/relationships/slideLayout" Target="../slideLayouts/slideLayout33.xml"/><Relationship Id="rId15" Type="http://schemas.openxmlformats.org/officeDocument/2006/relationships/slideLayout" Target="../slideLayouts/slideLayout43.xml"/><Relationship Id="rId23" Type="http://schemas.openxmlformats.org/officeDocument/2006/relationships/slideLayout" Target="../slideLayouts/slideLayout51.xml"/><Relationship Id="rId28" Type="http://schemas.openxmlformats.org/officeDocument/2006/relationships/slideLayout" Target="../slideLayouts/slideLayout56.xml"/><Relationship Id="rId36" Type="http://schemas.openxmlformats.org/officeDocument/2006/relationships/oleObject" Target="../embeddings/oleObject1.bin"/><Relationship Id="rId10" Type="http://schemas.openxmlformats.org/officeDocument/2006/relationships/slideLayout" Target="../slideLayouts/slideLayout38.xml"/><Relationship Id="rId19" Type="http://schemas.openxmlformats.org/officeDocument/2006/relationships/slideLayout" Target="../slideLayouts/slideLayout47.xml"/><Relationship Id="rId31" Type="http://schemas.openxmlformats.org/officeDocument/2006/relationships/slideLayout" Target="../slideLayouts/slideLayout59.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 Id="rId22" Type="http://schemas.openxmlformats.org/officeDocument/2006/relationships/slideLayout" Target="../slideLayouts/slideLayout50.xml"/><Relationship Id="rId27" Type="http://schemas.openxmlformats.org/officeDocument/2006/relationships/slideLayout" Target="../slideLayouts/slideLayout55.xml"/><Relationship Id="rId30" Type="http://schemas.openxmlformats.org/officeDocument/2006/relationships/slideLayout" Target="../slideLayouts/slideLayout58.xml"/><Relationship Id="rId35" Type="http://schemas.openxmlformats.org/officeDocument/2006/relationships/tags" Target="../tags/tag15.xml"/><Relationship Id="rId8" Type="http://schemas.openxmlformats.org/officeDocument/2006/relationships/slideLayout" Target="../slideLayouts/slideLayout36.xml"/><Relationship Id="rId3"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9.xml"/><Relationship Id="rId13" Type="http://schemas.openxmlformats.org/officeDocument/2006/relationships/slideLayout" Target="../slideLayouts/slideLayout74.xml"/><Relationship Id="rId18" Type="http://schemas.openxmlformats.org/officeDocument/2006/relationships/slideLayout" Target="../slideLayouts/slideLayout79.xml"/><Relationship Id="rId26" Type="http://schemas.openxmlformats.org/officeDocument/2006/relationships/tags" Target="../tags/tag37.xml"/><Relationship Id="rId3" Type="http://schemas.openxmlformats.org/officeDocument/2006/relationships/slideLayout" Target="../slideLayouts/slideLayout64.xml"/><Relationship Id="rId21" Type="http://schemas.openxmlformats.org/officeDocument/2006/relationships/slideLayout" Target="../slideLayouts/slideLayout82.xml"/><Relationship Id="rId7" Type="http://schemas.openxmlformats.org/officeDocument/2006/relationships/slideLayout" Target="../slideLayouts/slideLayout68.xml"/><Relationship Id="rId12" Type="http://schemas.openxmlformats.org/officeDocument/2006/relationships/slideLayout" Target="../slideLayouts/slideLayout73.xml"/><Relationship Id="rId17" Type="http://schemas.openxmlformats.org/officeDocument/2006/relationships/slideLayout" Target="../slideLayouts/slideLayout78.xml"/><Relationship Id="rId25" Type="http://schemas.openxmlformats.org/officeDocument/2006/relationships/theme" Target="../theme/theme4.xml"/><Relationship Id="rId2" Type="http://schemas.openxmlformats.org/officeDocument/2006/relationships/slideLayout" Target="../slideLayouts/slideLayout63.xml"/><Relationship Id="rId16" Type="http://schemas.openxmlformats.org/officeDocument/2006/relationships/slideLayout" Target="../slideLayouts/slideLayout77.xml"/><Relationship Id="rId20" Type="http://schemas.openxmlformats.org/officeDocument/2006/relationships/slideLayout" Target="../slideLayouts/slideLayout81.xml"/><Relationship Id="rId29" Type="http://schemas.openxmlformats.org/officeDocument/2006/relationships/image" Target="../media/image21.png"/><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24" Type="http://schemas.openxmlformats.org/officeDocument/2006/relationships/slideLayout" Target="../slideLayouts/slideLayout85.xml"/><Relationship Id="rId5" Type="http://schemas.openxmlformats.org/officeDocument/2006/relationships/slideLayout" Target="../slideLayouts/slideLayout66.xml"/><Relationship Id="rId15" Type="http://schemas.openxmlformats.org/officeDocument/2006/relationships/slideLayout" Target="../slideLayouts/slideLayout76.xml"/><Relationship Id="rId23" Type="http://schemas.openxmlformats.org/officeDocument/2006/relationships/slideLayout" Target="../slideLayouts/slideLayout84.xml"/><Relationship Id="rId28" Type="http://schemas.openxmlformats.org/officeDocument/2006/relationships/image" Target="../media/image1.emf"/><Relationship Id="rId10" Type="http://schemas.openxmlformats.org/officeDocument/2006/relationships/slideLayout" Target="../slideLayouts/slideLayout71.xml"/><Relationship Id="rId19" Type="http://schemas.openxmlformats.org/officeDocument/2006/relationships/slideLayout" Target="../slideLayouts/slideLayout80.xml"/><Relationship Id="rId4" Type="http://schemas.openxmlformats.org/officeDocument/2006/relationships/slideLayout" Target="../slideLayouts/slideLayout65.xml"/><Relationship Id="rId9" Type="http://schemas.openxmlformats.org/officeDocument/2006/relationships/slideLayout" Target="../slideLayouts/slideLayout70.xml"/><Relationship Id="rId14" Type="http://schemas.openxmlformats.org/officeDocument/2006/relationships/slideLayout" Target="../slideLayouts/slideLayout75.xml"/><Relationship Id="rId22" Type="http://schemas.openxmlformats.org/officeDocument/2006/relationships/slideLayout" Target="../slideLayouts/slideLayout83.xml"/><Relationship Id="rId27" Type="http://schemas.openxmlformats.org/officeDocument/2006/relationships/oleObject" Target="../embeddings/oleObject1.bin"/></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98.xml"/><Relationship Id="rId18" Type="http://schemas.openxmlformats.org/officeDocument/2006/relationships/slideLayout" Target="../slideLayouts/slideLayout103.xml"/><Relationship Id="rId26" Type="http://schemas.openxmlformats.org/officeDocument/2006/relationships/slideLayout" Target="../slideLayouts/slideLayout111.xml"/><Relationship Id="rId21" Type="http://schemas.openxmlformats.org/officeDocument/2006/relationships/slideLayout" Target="../slideLayouts/slideLayout106.xml"/><Relationship Id="rId34" Type="http://schemas.openxmlformats.org/officeDocument/2006/relationships/slideLayout" Target="../slideLayouts/slideLayout119.xml"/><Relationship Id="rId7" Type="http://schemas.openxmlformats.org/officeDocument/2006/relationships/slideLayout" Target="../slideLayouts/slideLayout92.xml"/><Relationship Id="rId12" Type="http://schemas.openxmlformats.org/officeDocument/2006/relationships/slideLayout" Target="../slideLayouts/slideLayout97.xml"/><Relationship Id="rId17" Type="http://schemas.openxmlformats.org/officeDocument/2006/relationships/slideLayout" Target="../slideLayouts/slideLayout102.xml"/><Relationship Id="rId25" Type="http://schemas.openxmlformats.org/officeDocument/2006/relationships/slideLayout" Target="../slideLayouts/slideLayout110.xml"/><Relationship Id="rId33" Type="http://schemas.openxmlformats.org/officeDocument/2006/relationships/slideLayout" Target="../slideLayouts/slideLayout118.xml"/><Relationship Id="rId38" Type="http://schemas.openxmlformats.org/officeDocument/2006/relationships/image" Target="../media/image1.emf"/><Relationship Id="rId2" Type="http://schemas.openxmlformats.org/officeDocument/2006/relationships/slideLayout" Target="../slideLayouts/slideLayout87.xml"/><Relationship Id="rId16" Type="http://schemas.openxmlformats.org/officeDocument/2006/relationships/slideLayout" Target="../slideLayouts/slideLayout101.xml"/><Relationship Id="rId20" Type="http://schemas.openxmlformats.org/officeDocument/2006/relationships/slideLayout" Target="../slideLayouts/slideLayout105.xml"/><Relationship Id="rId29" Type="http://schemas.openxmlformats.org/officeDocument/2006/relationships/slideLayout" Target="../slideLayouts/slideLayout114.xml"/><Relationship Id="rId1" Type="http://schemas.openxmlformats.org/officeDocument/2006/relationships/slideLayout" Target="../slideLayouts/slideLayout86.xml"/><Relationship Id="rId6" Type="http://schemas.openxmlformats.org/officeDocument/2006/relationships/slideLayout" Target="../slideLayouts/slideLayout91.xml"/><Relationship Id="rId11" Type="http://schemas.openxmlformats.org/officeDocument/2006/relationships/slideLayout" Target="../slideLayouts/slideLayout96.xml"/><Relationship Id="rId24" Type="http://schemas.openxmlformats.org/officeDocument/2006/relationships/slideLayout" Target="../slideLayouts/slideLayout109.xml"/><Relationship Id="rId32" Type="http://schemas.openxmlformats.org/officeDocument/2006/relationships/slideLayout" Target="../slideLayouts/slideLayout117.xml"/><Relationship Id="rId37" Type="http://schemas.openxmlformats.org/officeDocument/2006/relationships/oleObject" Target="../embeddings/oleObject1.bin"/><Relationship Id="rId5" Type="http://schemas.openxmlformats.org/officeDocument/2006/relationships/slideLayout" Target="../slideLayouts/slideLayout90.xml"/><Relationship Id="rId15" Type="http://schemas.openxmlformats.org/officeDocument/2006/relationships/slideLayout" Target="../slideLayouts/slideLayout100.xml"/><Relationship Id="rId23" Type="http://schemas.openxmlformats.org/officeDocument/2006/relationships/slideLayout" Target="../slideLayouts/slideLayout108.xml"/><Relationship Id="rId28" Type="http://schemas.openxmlformats.org/officeDocument/2006/relationships/slideLayout" Target="../slideLayouts/slideLayout113.xml"/><Relationship Id="rId36" Type="http://schemas.openxmlformats.org/officeDocument/2006/relationships/tags" Target="../tags/tag46.xml"/><Relationship Id="rId10" Type="http://schemas.openxmlformats.org/officeDocument/2006/relationships/slideLayout" Target="../slideLayouts/slideLayout95.xml"/><Relationship Id="rId19" Type="http://schemas.openxmlformats.org/officeDocument/2006/relationships/slideLayout" Target="../slideLayouts/slideLayout104.xml"/><Relationship Id="rId31" Type="http://schemas.openxmlformats.org/officeDocument/2006/relationships/slideLayout" Target="../slideLayouts/slideLayout116.xml"/><Relationship Id="rId4" Type="http://schemas.openxmlformats.org/officeDocument/2006/relationships/slideLayout" Target="../slideLayouts/slideLayout89.xml"/><Relationship Id="rId9" Type="http://schemas.openxmlformats.org/officeDocument/2006/relationships/slideLayout" Target="../slideLayouts/slideLayout94.xml"/><Relationship Id="rId14" Type="http://schemas.openxmlformats.org/officeDocument/2006/relationships/slideLayout" Target="../slideLayouts/slideLayout99.xml"/><Relationship Id="rId22" Type="http://schemas.openxmlformats.org/officeDocument/2006/relationships/slideLayout" Target="../slideLayouts/slideLayout107.xml"/><Relationship Id="rId27" Type="http://schemas.openxmlformats.org/officeDocument/2006/relationships/slideLayout" Target="../slideLayouts/slideLayout112.xml"/><Relationship Id="rId30" Type="http://schemas.openxmlformats.org/officeDocument/2006/relationships/slideLayout" Target="../slideLayouts/slideLayout115.xml"/><Relationship Id="rId35" Type="http://schemas.openxmlformats.org/officeDocument/2006/relationships/theme" Target="../theme/theme5.xml"/><Relationship Id="rId8" Type="http://schemas.openxmlformats.org/officeDocument/2006/relationships/slideLayout" Target="../slideLayouts/slideLayout93.xml"/><Relationship Id="rId3" Type="http://schemas.openxmlformats.org/officeDocument/2006/relationships/slideLayout" Target="../slideLayouts/slideLayout88.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132.xml"/><Relationship Id="rId18" Type="http://schemas.openxmlformats.org/officeDocument/2006/relationships/slideLayout" Target="../slideLayouts/slideLayout137.xml"/><Relationship Id="rId26" Type="http://schemas.openxmlformats.org/officeDocument/2006/relationships/slideLayout" Target="../slideLayouts/slideLayout145.xml"/><Relationship Id="rId3" Type="http://schemas.openxmlformats.org/officeDocument/2006/relationships/slideLayout" Target="../slideLayouts/slideLayout122.xml"/><Relationship Id="rId21" Type="http://schemas.openxmlformats.org/officeDocument/2006/relationships/slideLayout" Target="../slideLayouts/slideLayout140.xml"/><Relationship Id="rId7" Type="http://schemas.openxmlformats.org/officeDocument/2006/relationships/slideLayout" Target="../slideLayouts/slideLayout126.xml"/><Relationship Id="rId12" Type="http://schemas.openxmlformats.org/officeDocument/2006/relationships/slideLayout" Target="../slideLayouts/slideLayout131.xml"/><Relationship Id="rId17" Type="http://schemas.openxmlformats.org/officeDocument/2006/relationships/slideLayout" Target="../slideLayouts/slideLayout136.xml"/><Relationship Id="rId25" Type="http://schemas.openxmlformats.org/officeDocument/2006/relationships/slideLayout" Target="../slideLayouts/slideLayout144.xml"/><Relationship Id="rId33" Type="http://schemas.openxmlformats.org/officeDocument/2006/relationships/image" Target="../media/image2.png"/><Relationship Id="rId2" Type="http://schemas.openxmlformats.org/officeDocument/2006/relationships/slideLayout" Target="../slideLayouts/slideLayout121.xml"/><Relationship Id="rId16" Type="http://schemas.openxmlformats.org/officeDocument/2006/relationships/slideLayout" Target="../slideLayouts/slideLayout135.xml"/><Relationship Id="rId20" Type="http://schemas.openxmlformats.org/officeDocument/2006/relationships/slideLayout" Target="../slideLayouts/slideLayout139.xml"/><Relationship Id="rId29" Type="http://schemas.openxmlformats.org/officeDocument/2006/relationships/theme" Target="../theme/theme6.xml"/><Relationship Id="rId1" Type="http://schemas.openxmlformats.org/officeDocument/2006/relationships/slideLayout" Target="../slideLayouts/slideLayout120.xml"/><Relationship Id="rId6" Type="http://schemas.openxmlformats.org/officeDocument/2006/relationships/slideLayout" Target="../slideLayouts/slideLayout125.xml"/><Relationship Id="rId11" Type="http://schemas.openxmlformats.org/officeDocument/2006/relationships/slideLayout" Target="../slideLayouts/slideLayout130.xml"/><Relationship Id="rId24" Type="http://schemas.openxmlformats.org/officeDocument/2006/relationships/slideLayout" Target="../slideLayouts/slideLayout143.xml"/><Relationship Id="rId32" Type="http://schemas.openxmlformats.org/officeDocument/2006/relationships/image" Target="../media/image1.emf"/><Relationship Id="rId5" Type="http://schemas.openxmlformats.org/officeDocument/2006/relationships/slideLayout" Target="../slideLayouts/slideLayout124.xml"/><Relationship Id="rId15" Type="http://schemas.openxmlformats.org/officeDocument/2006/relationships/slideLayout" Target="../slideLayouts/slideLayout134.xml"/><Relationship Id="rId23" Type="http://schemas.openxmlformats.org/officeDocument/2006/relationships/slideLayout" Target="../slideLayouts/slideLayout142.xml"/><Relationship Id="rId28" Type="http://schemas.openxmlformats.org/officeDocument/2006/relationships/slideLayout" Target="../slideLayouts/slideLayout147.xml"/><Relationship Id="rId10" Type="http://schemas.openxmlformats.org/officeDocument/2006/relationships/slideLayout" Target="../slideLayouts/slideLayout129.xml"/><Relationship Id="rId19" Type="http://schemas.openxmlformats.org/officeDocument/2006/relationships/slideLayout" Target="../slideLayouts/slideLayout138.xml"/><Relationship Id="rId31" Type="http://schemas.openxmlformats.org/officeDocument/2006/relationships/oleObject" Target="../embeddings/oleObject1.bin"/><Relationship Id="rId4" Type="http://schemas.openxmlformats.org/officeDocument/2006/relationships/slideLayout" Target="../slideLayouts/slideLayout123.xml"/><Relationship Id="rId9" Type="http://schemas.openxmlformats.org/officeDocument/2006/relationships/slideLayout" Target="../slideLayouts/slideLayout128.xml"/><Relationship Id="rId14" Type="http://schemas.openxmlformats.org/officeDocument/2006/relationships/slideLayout" Target="../slideLayouts/slideLayout133.xml"/><Relationship Id="rId22" Type="http://schemas.openxmlformats.org/officeDocument/2006/relationships/slideLayout" Target="../slideLayouts/slideLayout141.xml"/><Relationship Id="rId27" Type="http://schemas.openxmlformats.org/officeDocument/2006/relationships/slideLayout" Target="../slideLayouts/slideLayout146.xml"/><Relationship Id="rId30" Type="http://schemas.openxmlformats.org/officeDocument/2006/relationships/tags" Target="../tags/tag60.xml"/><Relationship Id="rId8" Type="http://schemas.openxmlformats.org/officeDocument/2006/relationships/slideLayout" Target="../slideLayouts/slideLayout1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9"/>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0" imgW="270" imgH="270" progId="TCLayout.ActiveDocument.1">
                  <p:embed/>
                </p:oleObj>
              </mc:Choice>
              <mc:Fallback>
                <p:oleObj name="think-cell Slide" r:id="rId30" imgW="270" imgH="270" progId="TCLayout.ActiveDocument.1">
                  <p:embed/>
                  <p:pic>
                    <p:nvPicPr>
                      <p:cNvPr id="21" name="Object 20" hidden="1"/>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Methodology Intro &amp; Handshake Material | Apr-2024</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32">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3953" r:id="rId1"/>
    <p:sldLayoutId id="2147483955" r:id="rId2"/>
    <p:sldLayoutId id="2147483956" r:id="rId3"/>
    <p:sldLayoutId id="2147483900" r:id="rId4"/>
    <p:sldLayoutId id="2147483901" r:id="rId5"/>
    <p:sldLayoutId id="2147483960" r:id="rId6"/>
    <p:sldLayoutId id="2147483902" r:id="rId7"/>
    <p:sldLayoutId id="2147483903" r:id="rId8"/>
    <p:sldLayoutId id="2147483949" r:id="rId9"/>
    <p:sldLayoutId id="2147483905" r:id="rId10"/>
    <p:sldLayoutId id="2147483945" r:id="rId11"/>
    <p:sldLayoutId id="2147484067" r:id="rId12"/>
    <p:sldLayoutId id="2147483948" r:id="rId13"/>
    <p:sldLayoutId id="2147483954" r:id="rId14"/>
    <p:sldLayoutId id="2147483930" r:id="rId15"/>
    <p:sldLayoutId id="2147483961" r:id="rId16"/>
    <p:sldLayoutId id="2147483958" r:id="rId17"/>
    <p:sldLayoutId id="2147483959" r:id="rId18"/>
    <p:sldLayoutId id="2147483918" r:id="rId19"/>
    <p:sldLayoutId id="2147483922" r:id="rId20"/>
    <p:sldLayoutId id="2147483950" r:id="rId21"/>
    <p:sldLayoutId id="2147484003" r:id="rId22"/>
    <p:sldLayoutId id="2147484097" r:id="rId23"/>
    <p:sldLayoutId id="2147484155" r:id="rId24"/>
    <p:sldLayoutId id="2147484156" r:id="rId25"/>
    <p:sldLayoutId id="2147484157" r:id="rId26"/>
    <p:sldLayoutId id="2147484158" r:id="rId27"/>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1" name="Object 20"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8">
            <a:extLst>
              <a:ext uri="{FF2B5EF4-FFF2-40B4-BE49-F238E27FC236}">
                <a16:creationId xmlns:a16="http://schemas.microsoft.com/office/drawing/2014/main" id="{6E84F7D2-105D-40D2-8684-54D4B7EE4B16}"/>
              </a:ext>
            </a:extLst>
          </p:cNvPr>
          <p:cNvSpPr/>
          <p:nvPr userDrawn="1"/>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t>1</a:t>
            </a:r>
          </a:p>
          <a:p>
            <a:pPr algn="ctr">
              <a:lnSpc>
                <a:spcPct val="90000"/>
              </a:lnSpc>
              <a:spcAft>
                <a:spcPts val="0"/>
              </a:spcAft>
            </a:pPr>
            <a:r>
              <a:rPr lang="en-GB" sz="700"/>
              <a:t>112</a:t>
            </a:r>
          </a:p>
          <a:p>
            <a:pPr algn="ctr">
              <a:lnSpc>
                <a:spcPct val="90000"/>
              </a:lnSpc>
              <a:spcAft>
                <a:spcPts val="0"/>
              </a:spcAft>
            </a:pPr>
            <a:r>
              <a:rPr lang="en-GB" sz="700"/>
              <a:t>173</a:t>
            </a:r>
          </a:p>
        </p:txBody>
      </p:sp>
      <p:sp>
        <p:nvSpPr>
          <p:cNvPr id="10" name="Rectangle 9">
            <a:extLst>
              <a:ext uri="{FF2B5EF4-FFF2-40B4-BE49-F238E27FC236}">
                <a16:creationId xmlns:a16="http://schemas.microsoft.com/office/drawing/2014/main" id="{6674CD1B-3525-46B2-BAA5-E21DAAAA01B7}"/>
              </a:ext>
            </a:extLst>
          </p:cNvPr>
          <p:cNvSpPr/>
          <p:nvPr userDrawn="1"/>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rPr>
              <a:t>18</a:t>
            </a:r>
          </a:p>
          <a:p>
            <a:pPr algn="ctr">
              <a:lnSpc>
                <a:spcPct val="90000"/>
              </a:lnSpc>
              <a:spcAft>
                <a:spcPts val="0"/>
              </a:spcAft>
            </a:pPr>
            <a:r>
              <a:rPr lang="en-GB" sz="700">
                <a:solidFill>
                  <a:schemeClr val="tx1"/>
                </a:solidFill>
              </a:rPr>
              <a:t>171</a:t>
            </a:r>
          </a:p>
          <a:p>
            <a:pPr algn="ctr">
              <a:lnSpc>
                <a:spcPct val="90000"/>
              </a:lnSpc>
              <a:spcAft>
                <a:spcPts val="0"/>
              </a:spcAft>
            </a:pPr>
            <a:r>
              <a:rPr lang="en-GB" sz="700">
                <a:solidFill>
                  <a:schemeClr val="tx1"/>
                </a:solidFill>
              </a:rPr>
              <a:t>219</a:t>
            </a:r>
          </a:p>
        </p:txBody>
      </p:sp>
      <p:sp>
        <p:nvSpPr>
          <p:cNvPr id="11" name="Rectangle 10">
            <a:extLst>
              <a:ext uri="{FF2B5EF4-FFF2-40B4-BE49-F238E27FC236}">
                <a16:creationId xmlns:a16="http://schemas.microsoft.com/office/drawing/2014/main" id="{454D7C4E-D5CF-46EC-BB6D-492AECCE429B}"/>
              </a:ext>
            </a:extLst>
          </p:cNvPr>
          <p:cNvSpPr/>
          <p:nvPr userDrawn="1"/>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t>43</a:t>
            </a:r>
          </a:p>
          <a:p>
            <a:pPr algn="ctr">
              <a:lnSpc>
                <a:spcPct val="90000"/>
              </a:lnSpc>
              <a:spcAft>
                <a:spcPts val="0"/>
              </a:spcAft>
            </a:pPr>
            <a:r>
              <a:rPr lang="en-GB" sz="700"/>
              <a:t>10</a:t>
            </a:r>
          </a:p>
          <a:p>
            <a:pPr algn="ctr">
              <a:lnSpc>
                <a:spcPct val="90000"/>
              </a:lnSpc>
              <a:spcAft>
                <a:spcPts val="0"/>
              </a:spcAft>
            </a:pPr>
            <a:r>
              <a:rPr lang="en-GB" sz="700"/>
              <a:t>61</a:t>
            </a:r>
          </a:p>
        </p:txBody>
      </p:sp>
      <p:sp>
        <p:nvSpPr>
          <p:cNvPr id="12" name="Rectangle 11">
            <a:extLst>
              <a:ext uri="{FF2B5EF4-FFF2-40B4-BE49-F238E27FC236}">
                <a16:creationId xmlns:a16="http://schemas.microsoft.com/office/drawing/2014/main" id="{F838BB57-4C07-4FC1-A63C-CC0F604A7FCC}"/>
              </a:ext>
            </a:extLst>
          </p:cNvPr>
          <p:cNvSpPr/>
          <p:nvPr userDrawn="1"/>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t>39</a:t>
            </a:r>
          </a:p>
          <a:p>
            <a:pPr algn="ctr">
              <a:lnSpc>
                <a:spcPct val="90000"/>
              </a:lnSpc>
              <a:spcAft>
                <a:spcPts val="0"/>
              </a:spcAft>
            </a:pPr>
            <a:r>
              <a:rPr lang="en-GB" sz="700"/>
              <a:t>41</a:t>
            </a:r>
          </a:p>
          <a:p>
            <a:pPr algn="ctr">
              <a:lnSpc>
                <a:spcPct val="90000"/>
              </a:lnSpc>
              <a:spcAft>
                <a:spcPts val="0"/>
              </a:spcAft>
            </a:pPr>
            <a:r>
              <a:rPr lang="en-GB" sz="700"/>
              <a:t>54</a:t>
            </a:r>
          </a:p>
        </p:txBody>
      </p:sp>
      <p:sp>
        <p:nvSpPr>
          <p:cNvPr id="13" name="Rectangle 12">
            <a:extLst>
              <a:ext uri="{FF2B5EF4-FFF2-40B4-BE49-F238E27FC236}">
                <a16:creationId xmlns:a16="http://schemas.microsoft.com/office/drawing/2014/main" id="{DD7B6E98-FB65-49B0-9A8A-698B183CB044}"/>
              </a:ext>
            </a:extLst>
          </p:cNvPr>
          <p:cNvSpPr/>
          <p:nvPr userDrawn="1"/>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rPr>
              <a:t>236</a:t>
            </a:r>
          </a:p>
          <a:p>
            <a:pPr algn="ctr">
              <a:lnSpc>
                <a:spcPct val="90000"/>
              </a:lnSpc>
              <a:spcAft>
                <a:spcPts val="0"/>
              </a:spcAft>
            </a:pPr>
            <a:r>
              <a:rPr lang="en-GB" sz="700">
                <a:solidFill>
                  <a:schemeClr val="tx1"/>
                </a:solidFill>
              </a:rPr>
              <a:t>236</a:t>
            </a:r>
          </a:p>
          <a:p>
            <a:pPr algn="ctr">
              <a:lnSpc>
                <a:spcPct val="90000"/>
              </a:lnSpc>
              <a:spcAft>
                <a:spcPts val="0"/>
              </a:spcAft>
            </a:pPr>
            <a:r>
              <a:rPr lang="en-GB" sz="700">
                <a:solidFill>
                  <a:schemeClr val="tx1"/>
                </a:solidFill>
              </a:rPr>
              <a:t>236</a:t>
            </a:r>
          </a:p>
        </p:txBody>
      </p:sp>
      <p:grpSp>
        <p:nvGrpSpPr>
          <p:cNvPr id="14" name="Groupe 13">
            <a:extLst>
              <a:ext uri="{FF2B5EF4-FFF2-40B4-BE49-F238E27FC236}">
                <a16:creationId xmlns:a16="http://schemas.microsoft.com/office/drawing/2014/main" id="{A888B5AD-7B92-4579-B213-8C5CFEB8D1BC}"/>
              </a:ext>
            </a:extLst>
          </p:cNvPr>
          <p:cNvGrpSpPr/>
          <p:nvPr userDrawn="1"/>
        </p:nvGrpSpPr>
        <p:grpSpPr>
          <a:xfrm>
            <a:off x="12500244" y="4582319"/>
            <a:ext cx="1462993" cy="2058800"/>
            <a:chOff x="12432704" y="1992581"/>
            <a:chExt cx="1462993" cy="2058800"/>
          </a:xfrm>
        </p:grpSpPr>
        <p:sp>
          <p:nvSpPr>
            <p:cNvPr id="15" name="Forme libre : forme 14">
              <a:extLst>
                <a:ext uri="{FF2B5EF4-FFF2-40B4-BE49-F238E27FC236}">
                  <a16:creationId xmlns:a16="http://schemas.microsoft.com/office/drawing/2014/main" id="{2DB90E0F-21BC-47C3-97E1-A7DBB8ED3932}"/>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142</a:t>
              </a:r>
            </a:p>
            <a:p>
              <a:pPr algn="ctr">
                <a:lnSpc>
                  <a:spcPct val="90000"/>
                </a:lnSpc>
                <a:spcAft>
                  <a:spcPts val="0"/>
                </a:spcAft>
              </a:pPr>
              <a:r>
                <a:rPr lang="en-US" sz="700"/>
                <a:t>18</a:t>
              </a:r>
            </a:p>
          </p:txBody>
        </p:sp>
        <p:sp>
          <p:nvSpPr>
            <p:cNvPr id="16" name="Forme libre : forme 15">
              <a:extLst>
                <a:ext uri="{FF2B5EF4-FFF2-40B4-BE49-F238E27FC236}">
                  <a16:creationId xmlns:a16="http://schemas.microsoft.com/office/drawing/2014/main" id="{7F4FC78D-D760-4D99-9D36-2648743895AF}"/>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156</a:t>
              </a:r>
            </a:p>
            <a:p>
              <a:pPr algn="ctr">
                <a:lnSpc>
                  <a:spcPct val="90000"/>
                </a:lnSpc>
                <a:spcAft>
                  <a:spcPts val="0"/>
                </a:spcAft>
              </a:pPr>
              <a:r>
                <a:rPr lang="en-US" sz="700"/>
                <a:t>41</a:t>
              </a:r>
            </a:p>
          </p:txBody>
        </p:sp>
        <p:sp>
          <p:nvSpPr>
            <p:cNvPr id="17" name="Forme libre : forme 16">
              <a:extLst>
                <a:ext uri="{FF2B5EF4-FFF2-40B4-BE49-F238E27FC236}">
                  <a16:creationId xmlns:a16="http://schemas.microsoft.com/office/drawing/2014/main" id="{5EB34581-6EB1-4258-A04C-E3043E1FEE2B}"/>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178</a:t>
              </a:r>
            </a:p>
            <a:p>
              <a:pPr algn="ctr">
                <a:lnSpc>
                  <a:spcPct val="90000"/>
                </a:lnSpc>
                <a:spcAft>
                  <a:spcPts val="0"/>
                </a:spcAft>
              </a:pPr>
              <a:r>
                <a:rPr lang="en-US" sz="700"/>
                <a:t>74</a:t>
              </a:r>
            </a:p>
          </p:txBody>
        </p:sp>
        <p:sp>
          <p:nvSpPr>
            <p:cNvPr id="18" name="Forme libre : forme 17">
              <a:extLst>
                <a:ext uri="{FF2B5EF4-FFF2-40B4-BE49-F238E27FC236}">
                  <a16:creationId xmlns:a16="http://schemas.microsoft.com/office/drawing/2014/main" id="{B2B07A2C-C401-493B-BD96-AFFC78E5CE40}"/>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208</a:t>
              </a:r>
            </a:p>
            <a:p>
              <a:pPr algn="ctr">
                <a:lnSpc>
                  <a:spcPct val="90000"/>
                </a:lnSpc>
                <a:spcAft>
                  <a:spcPts val="0"/>
                </a:spcAft>
              </a:pPr>
              <a:r>
                <a:rPr lang="en-US" sz="700"/>
                <a:t>104</a:t>
              </a:r>
            </a:p>
          </p:txBody>
        </p:sp>
        <p:sp>
          <p:nvSpPr>
            <p:cNvPr id="19" name="Forme libre : forme 18">
              <a:extLst>
                <a:ext uri="{FF2B5EF4-FFF2-40B4-BE49-F238E27FC236}">
                  <a16:creationId xmlns:a16="http://schemas.microsoft.com/office/drawing/2014/main" id="{883FD4AE-2A51-4B86-9366-14B559E75766}"/>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218</a:t>
              </a:r>
            </a:p>
            <a:p>
              <a:pPr algn="ctr">
                <a:lnSpc>
                  <a:spcPct val="90000"/>
                </a:lnSpc>
                <a:spcAft>
                  <a:spcPts val="0"/>
                </a:spcAft>
              </a:pPr>
              <a:r>
                <a:rPr lang="en-US" sz="700"/>
                <a:t>128</a:t>
              </a:r>
            </a:p>
          </p:txBody>
        </p:sp>
        <p:sp>
          <p:nvSpPr>
            <p:cNvPr id="20" name="Forme libre : forme 19">
              <a:extLst>
                <a:ext uri="{FF2B5EF4-FFF2-40B4-BE49-F238E27FC236}">
                  <a16:creationId xmlns:a16="http://schemas.microsoft.com/office/drawing/2014/main" id="{8B6124A1-2AEF-4C8C-B795-1C05EEDFDC79}"/>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rPr>
                <a:t>66</a:t>
              </a:r>
            </a:p>
            <a:p>
              <a:pPr algn="ctr">
                <a:lnSpc>
                  <a:spcPct val="90000"/>
                </a:lnSpc>
                <a:spcAft>
                  <a:spcPts val="0"/>
                </a:spcAft>
              </a:pPr>
              <a:r>
                <a:rPr lang="en-US" sz="700">
                  <a:solidFill>
                    <a:schemeClr val="bg1"/>
                  </a:solidFill>
                </a:rPr>
                <a:t>20</a:t>
              </a:r>
            </a:p>
            <a:p>
              <a:pPr algn="ctr">
                <a:lnSpc>
                  <a:spcPct val="90000"/>
                </a:lnSpc>
                <a:spcAft>
                  <a:spcPts val="0"/>
                </a:spcAft>
              </a:pPr>
              <a:r>
                <a:rPr lang="en-US" sz="700">
                  <a:solidFill>
                    <a:schemeClr val="bg1"/>
                  </a:solidFill>
                </a:rPr>
                <a:t>46</a:t>
              </a:r>
            </a:p>
          </p:txBody>
        </p:sp>
        <p:sp>
          <p:nvSpPr>
            <p:cNvPr id="22" name="Forme libre : forme 21">
              <a:extLst>
                <a:ext uri="{FF2B5EF4-FFF2-40B4-BE49-F238E27FC236}">
                  <a16:creationId xmlns:a16="http://schemas.microsoft.com/office/drawing/2014/main" id="{2BEF451C-60AC-4B29-B934-3A3013D56019}"/>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rPr>
                <a:t>89</a:t>
              </a:r>
            </a:p>
            <a:p>
              <a:pPr algn="ctr">
                <a:lnSpc>
                  <a:spcPct val="90000"/>
                </a:lnSpc>
                <a:spcAft>
                  <a:spcPts val="0"/>
                </a:spcAft>
              </a:pPr>
              <a:r>
                <a:rPr lang="en-US" sz="700">
                  <a:solidFill>
                    <a:schemeClr val="bg1"/>
                  </a:solidFill>
                </a:rPr>
                <a:t>10</a:t>
              </a:r>
            </a:p>
            <a:p>
              <a:pPr algn="ctr">
                <a:lnSpc>
                  <a:spcPct val="90000"/>
                </a:lnSpc>
                <a:spcAft>
                  <a:spcPts val="0"/>
                </a:spcAft>
              </a:pPr>
              <a:r>
                <a:rPr lang="en-US" sz="700">
                  <a:solidFill>
                    <a:schemeClr val="bg1"/>
                  </a:solidFill>
                </a:rPr>
                <a:t>66</a:t>
              </a:r>
            </a:p>
          </p:txBody>
        </p:sp>
        <p:sp>
          <p:nvSpPr>
            <p:cNvPr id="23" name="Forme libre : forme 22">
              <a:extLst>
                <a:ext uri="{FF2B5EF4-FFF2-40B4-BE49-F238E27FC236}">
                  <a16:creationId xmlns:a16="http://schemas.microsoft.com/office/drawing/2014/main" id="{BB330BFE-3E92-475F-B97F-80DD88A81E57}"/>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rPr>
                <a:t>117</a:t>
              </a:r>
            </a:p>
            <a:p>
              <a:pPr algn="ctr">
                <a:lnSpc>
                  <a:spcPct val="90000"/>
                </a:lnSpc>
                <a:spcAft>
                  <a:spcPts val="0"/>
                </a:spcAft>
              </a:pPr>
              <a:r>
                <a:rPr lang="en-US" sz="700">
                  <a:solidFill>
                    <a:schemeClr val="bg1"/>
                  </a:solidFill>
                </a:rPr>
                <a:t>13</a:t>
              </a:r>
            </a:p>
            <a:p>
              <a:pPr algn="ctr">
                <a:lnSpc>
                  <a:spcPct val="90000"/>
                </a:lnSpc>
                <a:spcAft>
                  <a:spcPts val="0"/>
                </a:spcAft>
              </a:pPr>
              <a:r>
                <a:rPr lang="en-US" sz="700">
                  <a:solidFill>
                    <a:schemeClr val="bg1"/>
                  </a:solidFill>
                </a:rPr>
                <a:t>92</a:t>
              </a:r>
            </a:p>
          </p:txBody>
        </p:sp>
        <p:sp>
          <p:nvSpPr>
            <p:cNvPr id="24" name="Forme libre : forme 23">
              <a:extLst>
                <a:ext uri="{FF2B5EF4-FFF2-40B4-BE49-F238E27FC236}">
                  <a16:creationId xmlns:a16="http://schemas.microsoft.com/office/drawing/2014/main" id="{06E05F2E-470A-4ECB-90F9-31154169905D}"/>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rPr>
                <a:t>128</a:t>
              </a:r>
            </a:p>
            <a:p>
              <a:pPr algn="ctr">
                <a:lnSpc>
                  <a:spcPct val="90000"/>
                </a:lnSpc>
                <a:spcAft>
                  <a:spcPts val="0"/>
                </a:spcAft>
              </a:pPr>
              <a:r>
                <a:rPr lang="en-US" sz="700">
                  <a:solidFill>
                    <a:schemeClr val="bg1"/>
                  </a:solidFill>
                </a:rPr>
                <a:t>43</a:t>
              </a:r>
            </a:p>
            <a:p>
              <a:pPr algn="ctr">
                <a:lnSpc>
                  <a:spcPct val="90000"/>
                </a:lnSpc>
                <a:spcAft>
                  <a:spcPts val="0"/>
                </a:spcAft>
              </a:pPr>
              <a:r>
                <a:rPr lang="en-US" sz="700">
                  <a:solidFill>
                    <a:schemeClr val="bg1"/>
                  </a:solidFill>
                </a:rPr>
                <a:t>115</a:t>
              </a:r>
            </a:p>
          </p:txBody>
        </p:sp>
        <p:sp>
          <p:nvSpPr>
            <p:cNvPr id="25" name="Forme libre : forme 24">
              <a:extLst>
                <a:ext uri="{FF2B5EF4-FFF2-40B4-BE49-F238E27FC236}">
                  <a16:creationId xmlns:a16="http://schemas.microsoft.com/office/drawing/2014/main" id="{31E1100C-32A2-49E9-87B4-FF8DB29E1B09}"/>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rPr>
                <a:t>158</a:t>
              </a:r>
            </a:p>
            <a:p>
              <a:pPr algn="ctr">
                <a:lnSpc>
                  <a:spcPct val="90000"/>
                </a:lnSpc>
                <a:spcAft>
                  <a:spcPts val="0"/>
                </a:spcAft>
              </a:pPr>
              <a:r>
                <a:rPr lang="en-US" sz="700">
                  <a:solidFill>
                    <a:schemeClr val="bg1"/>
                  </a:solidFill>
                </a:rPr>
                <a:t>71</a:t>
              </a:r>
            </a:p>
            <a:p>
              <a:pPr algn="ctr">
                <a:lnSpc>
                  <a:spcPct val="90000"/>
                </a:lnSpc>
                <a:spcAft>
                  <a:spcPts val="0"/>
                </a:spcAft>
              </a:pPr>
              <a:r>
                <a:rPr lang="en-US" sz="700">
                  <a:solidFill>
                    <a:schemeClr val="bg1"/>
                  </a:solidFill>
                </a:rPr>
                <a:t>128</a:t>
              </a:r>
            </a:p>
          </p:txBody>
        </p:sp>
        <p:sp>
          <p:nvSpPr>
            <p:cNvPr id="26" name="Forme libre : forme 25">
              <a:extLst>
                <a:ext uri="{FF2B5EF4-FFF2-40B4-BE49-F238E27FC236}">
                  <a16:creationId xmlns:a16="http://schemas.microsoft.com/office/drawing/2014/main" id="{761E6E7F-81C3-422A-9187-67D6AD855F6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rPr>
                <a:t>166</a:t>
              </a:r>
            </a:p>
            <a:p>
              <a:pPr algn="ctr">
                <a:lnSpc>
                  <a:spcPct val="90000"/>
                </a:lnSpc>
                <a:spcAft>
                  <a:spcPts val="0"/>
                </a:spcAft>
              </a:pPr>
              <a:r>
                <a:rPr lang="en-US" sz="700">
                  <a:solidFill>
                    <a:schemeClr val="bg1"/>
                  </a:solidFill>
                </a:rPr>
                <a:t>0</a:t>
              </a:r>
            </a:p>
            <a:p>
              <a:pPr algn="ctr">
                <a:lnSpc>
                  <a:spcPct val="90000"/>
                </a:lnSpc>
                <a:spcAft>
                  <a:spcPts val="0"/>
                </a:spcAft>
              </a:pPr>
              <a:r>
                <a:rPr lang="en-US" sz="700">
                  <a:solidFill>
                    <a:schemeClr val="bg1"/>
                  </a:solidFill>
                </a:rPr>
                <a:t>26</a:t>
              </a:r>
            </a:p>
          </p:txBody>
        </p:sp>
        <p:sp>
          <p:nvSpPr>
            <p:cNvPr id="27" name="Forme libre : forme 26">
              <a:extLst>
                <a:ext uri="{FF2B5EF4-FFF2-40B4-BE49-F238E27FC236}">
                  <a16:creationId xmlns:a16="http://schemas.microsoft.com/office/drawing/2014/main" id="{F6AC8EC5-2272-4607-91DE-8B0C2EA9C9E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rPr>
                <a:t>227</a:t>
              </a:r>
            </a:p>
            <a:p>
              <a:pPr algn="ctr">
                <a:lnSpc>
                  <a:spcPct val="90000"/>
                </a:lnSpc>
                <a:spcAft>
                  <a:spcPts val="0"/>
                </a:spcAft>
              </a:pPr>
              <a:r>
                <a:rPr lang="en-US" sz="700">
                  <a:solidFill>
                    <a:schemeClr val="bg1"/>
                  </a:solidFill>
                </a:rPr>
                <a:t>03</a:t>
              </a:r>
            </a:p>
            <a:p>
              <a:pPr algn="ctr">
                <a:lnSpc>
                  <a:spcPct val="90000"/>
                </a:lnSpc>
                <a:spcAft>
                  <a:spcPts val="0"/>
                </a:spcAft>
              </a:pPr>
              <a:r>
                <a:rPr lang="en-US" sz="700">
                  <a:solidFill>
                    <a:schemeClr val="bg1"/>
                  </a:solidFill>
                </a:rPr>
                <a:t>33</a:t>
              </a:r>
            </a:p>
          </p:txBody>
        </p:sp>
        <p:sp>
          <p:nvSpPr>
            <p:cNvPr id="28" name="Forme libre : forme 27">
              <a:extLst>
                <a:ext uri="{FF2B5EF4-FFF2-40B4-BE49-F238E27FC236}">
                  <a16:creationId xmlns:a16="http://schemas.microsoft.com/office/drawing/2014/main" id="{AE7E4BDC-12AC-4E45-A544-F1D3CAFD0114}"/>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48</a:t>
              </a:r>
            </a:p>
            <a:p>
              <a:pPr algn="ctr">
                <a:lnSpc>
                  <a:spcPct val="90000"/>
                </a:lnSpc>
                <a:spcAft>
                  <a:spcPts val="0"/>
                </a:spcAft>
              </a:pPr>
              <a:r>
                <a:rPr lang="en-US" sz="700"/>
                <a:t>77</a:t>
              </a:r>
            </a:p>
          </p:txBody>
        </p:sp>
        <p:sp>
          <p:nvSpPr>
            <p:cNvPr id="29" name="Forme libre : forme 28">
              <a:extLst>
                <a:ext uri="{FF2B5EF4-FFF2-40B4-BE49-F238E27FC236}">
                  <a16:creationId xmlns:a16="http://schemas.microsoft.com/office/drawing/2014/main" id="{21562F06-1455-4AEC-9BE2-E10D7D6D29F2}"/>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69</a:t>
              </a:r>
            </a:p>
            <a:p>
              <a:pPr algn="ctr">
                <a:lnSpc>
                  <a:spcPct val="90000"/>
                </a:lnSpc>
                <a:spcAft>
                  <a:spcPts val="0"/>
                </a:spcAft>
              </a:pPr>
              <a:r>
                <a:rPr lang="en-US" sz="700"/>
                <a:t>94</a:t>
              </a:r>
            </a:p>
          </p:txBody>
        </p:sp>
        <p:sp>
          <p:nvSpPr>
            <p:cNvPr id="30" name="Forme libre : forme 29">
              <a:extLst>
                <a:ext uri="{FF2B5EF4-FFF2-40B4-BE49-F238E27FC236}">
                  <a16:creationId xmlns:a16="http://schemas.microsoft.com/office/drawing/2014/main" id="{D574C07B-B590-4D86-9084-8434CBF3897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87</a:t>
              </a:r>
            </a:p>
            <a:p>
              <a:pPr algn="ctr">
                <a:lnSpc>
                  <a:spcPct val="90000"/>
                </a:lnSpc>
                <a:spcAft>
                  <a:spcPts val="0"/>
                </a:spcAft>
              </a:pPr>
              <a:r>
                <a:rPr lang="en-US" sz="700"/>
                <a:t>112</a:t>
              </a:r>
            </a:p>
          </p:txBody>
        </p:sp>
        <p:sp>
          <p:nvSpPr>
            <p:cNvPr id="31" name="Forme libre : forme 30">
              <a:extLst>
                <a:ext uri="{FF2B5EF4-FFF2-40B4-BE49-F238E27FC236}">
                  <a16:creationId xmlns:a16="http://schemas.microsoft.com/office/drawing/2014/main" id="{3BD8DAAB-36E6-41B5-AADE-DFE41A9C9027}"/>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rPr>
                <a:t>129</a:t>
              </a:r>
            </a:p>
            <a:p>
              <a:pPr algn="ctr">
                <a:lnSpc>
                  <a:spcPct val="90000"/>
                </a:lnSpc>
                <a:spcAft>
                  <a:spcPts val="0"/>
                </a:spcAft>
              </a:pPr>
              <a:r>
                <a:rPr lang="en-US" sz="700">
                  <a:solidFill>
                    <a:schemeClr val="bg1"/>
                  </a:solidFill>
                </a:rPr>
                <a:t>27</a:t>
              </a:r>
            </a:p>
            <a:p>
              <a:pPr algn="ctr">
                <a:lnSpc>
                  <a:spcPct val="90000"/>
                </a:lnSpc>
                <a:spcAft>
                  <a:spcPts val="0"/>
                </a:spcAft>
              </a:pPr>
              <a:r>
                <a:rPr lang="en-US" sz="700">
                  <a:solidFill>
                    <a:schemeClr val="bg1"/>
                  </a:solidFill>
                </a:rPr>
                <a:t>111</a:t>
              </a:r>
            </a:p>
          </p:txBody>
        </p:sp>
        <p:sp>
          <p:nvSpPr>
            <p:cNvPr id="32" name="Forme libre : forme 31">
              <a:extLst>
                <a:ext uri="{FF2B5EF4-FFF2-40B4-BE49-F238E27FC236}">
                  <a16:creationId xmlns:a16="http://schemas.microsoft.com/office/drawing/2014/main" id="{F37B4E60-30C6-45F4-894D-44DBD9C5FEDC}"/>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rPr>
                <a:t>161</a:t>
              </a:r>
            </a:p>
            <a:p>
              <a:pPr algn="ctr">
                <a:lnSpc>
                  <a:spcPct val="90000"/>
                </a:lnSpc>
                <a:spcAft>
                  <a:spcPts val="0"/>
                </a:spcAft>
              </a:pPr>
              <a:r>
                <a:rPr lang="en-US" sz="700">
                  <a:solidFill>
                    <a:schemeClr val="bg1"/>
                  </a:solidFill>
                </a:rPr>
                <a:t>41</a:t>
              </a:r>
            </a:p>
            <a:p>
              <a:pPr algn="ctr">
                <a:lnSpc>
                  <a:spcPct val="90000"/>
                </a:lnSpc>
                <a:spcAft>
                  <a:spcPts val="0"/>
                </a:spcAft>
              </a:pPr>
              <a:r>
                <a:rPr lang="en-US" sz="700">
                  <a:solidFill>
                    <a:schemeClr val="bg1"/>
                  </a:solidFill>
                </a:rPr>
                <a:t>128</a:t>
              </a:r>
            </a:p>
          </p:txBody>
        </p:sp>
        <p:sp>
          <p:nvSpPr>
            <p:cNvPr id="33" name="Forme libre : forme 32">
              <a:extLst>
                <a:ext uri="{FF2B5EF4-FFF2-40B4-BE49-F238E27FC236}">
                  <a16:creationId xmlns:a16="http://schemas.microsoft.com/office/drawing/2014/main" id="{174A02C6-BC47-48E7-9DA9-F5969E31EA9B}"/>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rPr>
                <a:t>186</a:t>
              </a:r>
            </a:p>
            <a:p>
              <a:pPr algn="ctr">
                <a:lnSpc>
                  <a:spcPct val="90000"/>
                </a:lnSpc>
                <a:spcAft>
                  <a:spcPts val="0"/>
                </a:spcAft>
              </a:pPr>
              <a:r>
                <a:rPr lang="en-US" sz="700">
                  <a:solidFill>
                    <a:schemeClr val="bg1"/>
                  </a:solidFill>
                </a:rPr>
                <a:t>41</a:t>
              </a:r>
            </a:p>
            <a:p>
              <a:pPr algn="ctr">
                <a:lnSpc>
                  <a:spcPct val="90000"/>
                </a:lnSpc>
                <a:spcAft>
                  <a:spcPts val="0"/>
                </a:spcAft>
              </a:pPr>
              <a:r>
                <a:rPr lang="en-US" sz="700">
                  <a:solidFill>
                    <a:schemeClr val="bg1"/>
                  </a:solidFill>
                </a:rPr>
                <a:t>128</a:t>
              </a:r>
            </a:p>
          </p:txBody>
        </p:sp>
        <p:sp>
          <p:nvSpPr>
            <p:cNvPr id="34" name="Forme libre : forme 33">
              <a:extLst>
                <a:ext uri="{FF2B5EF4-FFF2-40B4-BE49-F238E27FC236}">
                  <a16:creationId xmlns:a16="http://schemas.microsoft.com/office/drawing/2014/main" id="{7F978581-8BA5-4327-ACCF-D23BD9C30262}"/>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t>209</a:t>
              </a:r>
            </a:p>
            <a:p>
              <a:pPr algn="ctr">
                <a:lnSpc>
                  <a:spcPct val="90000"/>
                </a:lnSpc>
                <a:spcAft>
                  <a:spcPts val="0"/>
                </a:spcAft>
              </a:pPr>
              <a:r>
                <a:rPr lang="en-US" sz="700"/>
                <a:t>58</a:t>
              </a:r>
            </a:p>
            <a:p>
              <a:pPr algn="ctr">
                <a:lnSpc>
                  <a:spcPct val="90000"/>
                </a:lnSpc>
                <a:spcAft>
                  <a:spcPts val="0"/>
                </a:spcAft>
              </a:pPr>
              <a:r>
                <a:rPr lang="en-US" sz="700"/>
                <a:t>140</a:t>
              </a:r>
            </a:p>
          </p:txBody>
        </p:sp>
        <p:sp>
          <p:nvSpPr>
            <p:cNvPr id="35" name="Forme libre : forme 34">
              <a:extLst>
                <a:ext uri="{FF2B5EF4-FFF2-40B4-BE49-F238E27FC236}">
                  <a16:creationId xmlns:a16="http://schemas.microsoft.com/office/drawing/2014/main" id="{F035DD25-7BE4-4C64-AC77-EB8A30E81461}"/>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t>229</a:t>
              </a:r>
            </a:p>
            <a:p>
              <a:pPr algn="ctr">
                <a:lnSpc>
                  <a:spcPct val="90000"/>
                </a:lnSpc>
                <a:spcAft>
                  <a:spcPts val="0"/>
                </a:spcAft>
              </a:pPr>
              <a:r>
                <a:rPr lang="en-US" sz="700"/>
                <a:t>87</a:t>
              </a:r>
            </a:p>
            <a:p>
              <a:pPr algn="ctr">
                <a:lnSpc>
                  <a:spcPct val="90000"/>
                </a:lnSpc>
                <a:spcAft>
                  <a:spcPts val="0"/>
                </a:spcAft>
              </a:pPr>
              <a:r>
                <a:rPr lang="en-US" sz="700"/>
                <a:t>173</a:t>
              </a:r>
            </a:p>
          </p:txBody>
        </p:sp>
      </p:grpSp>
      <p:grpSp>
        <p:nvGrpSpPr>
          <p:cNvPr id="36" name="Groupe 35">
            <a:extLst>
              <a:ext uri="{FF2B5EF4-FFF2-40B4-BE49-F238E27FC236}">
                <a16:creationId xmlns:a16="http://schemas.microsoft.com/office/drawing/2014/main" id="{F8BD562A-C55A-4203-A4A2-5B6DF517FC63}"/>
              </a:ext>
            </a:extLst>
          </p:cNvPr>
          <p:cNvGrpSpPr/>
          <p:nvPr userDrawn="1"/>
        </p:nvGrpSpPr>
        <p:grpSpPr>
          <a:xfrm>
            <a:off x="12498114" y="2399137"/>
            <a:ext cx="1465123" cy="2058800"/>
            <a:chOff x="14041053" y="1992581"/>
            <a:chExt cx="1465123" cy="2058800"/>
          </a:xfrm>
        </p:grpSpPr>
        <p:sp>
          <p:nvSpPr>
            <p:cNvPr id="37" name="Forme libre : forme 36">
              <a:extLst>
                <a:ext uri="{FF2B5EF4-FFF2-40B4-BE49-F238E27FC236}">
                  <a16:creationId xmlns:a16="http://schemas.microsoft.com/office/drawing/2014/main" id="{8CE8E1E3-B6E5-4BC5-B8A1-84C8A74CC026}"/>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rPr>
                <a:t>15</a:t>
              </a:r>
            </a:p>
            <a:p>
              <a:pPr algn="ctr">
                <a:lnSpc>
                  <a:spcPct val="90000"/>
                </a:lnSpc>
                <a:spcAft>
                  <a:spcPts val="0"/>
                </a:spcAft>
              </a:pPr>
              <a:r>
                <a:rPr lang="en-US" sz="700" b="0">
                  <a:solidFill>
                    <a:schemeClr val="bg1"/>
                  </a:solidFill>
                </a:rPr>
                <a:t>67</a:t>
              </a:r>
            </a:p>
            <a:p>
              <a:pPr algn="ctr">
                <a:lnSpc>
                  <a:spcPct val="90000"/>
                </a:lnSpc>
                <a:spcAft>
                  <a:spcPts val="0"/>
                </a:spcAft>
              </a:pPr>
              <a:r>
                <a:rPr lang="en-US" sz="700" b="0">
                  <a:solidFill>
                    <a:schemeClr val="bg1"/>
                  </a:solidFill>
                </a:rPr>
                <a:t>74</a:t>
              </a:r>
            </a:p>
          </p:txBody>
        </p:sp>
        <p:sp>
          <p:nvSpPr>
            <p:cNvPr id="38" name="Forme libre : forme 37">
              <a:extLst>
                <a:ext uri="{FF2B5EF4-FFF2-40B4-BE49-F238E27FC236}">
                  <a16:creationId xmlns:a16="http://schemas.microsoft.com/office/drawing/2014/main" id="{66ED445D-7003-4C67-BF1E-D1B22776F926}"/>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rPr>
                <a:t>15</a:t>
              </a:r>
            </a:p>
            <a:p>
              <a:pPr algn="ctr">
                <a:lnSpc>
                  <a:spcPct val="90000"/>
                </a:lnSpc>
                <a:spcAft>
                  <a:spcPts val="0"/>
                </a:spcAft>
              </a:pPr>
              <a:r>
                <a:rPr lang="en-US" sz="700" b="0">
                  <a:solidFill>
                    <a:schemeClr val="bg1"/>
                  </a:solidFill>
                </a:rPr>
                <a:t>106</a:t>
              </a:r>
            </a:p>
            <a:p>
              <a:pPr algn="ctr">
                <a:lnSpc>
                  <a:spcPct val="90000"/>
                </a:lnSpc>
                <a:spcAft>
                  <a:spcPts val="0"/>
                </a:spcAft>
              </a:pPr>
              <a:r>
                <a:rPr lang="en-US" sz="700" b="0">
                  <a:solidFill>
                    <a:schemeClr val="bg1"/>
                  </a:solidFill>
                </a:rPr>
                <a:t>115</a:t>
              </a:r>
            </a:p>
          </p:txBody>
        </p:sp>
        <p:sp>
          <p:nvSpPr>
            <p:cNvPr id="39" name="Forme libre : forme 38">
              <a:extLst>
                <a:ext uri="{FF2B5EF4-FFF2-40B4-BE49-F238E27FC236}">
                  <a16:creationId xmlns:a16="http://schemas.microsoft.com/office/drawing/2014/main" id="{ADC94DF3-F270-4891-AF79-CD7A88D41C30}"/>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rPr>
                <a:t>15</a:t>
              </a:r>
            </a:p>
            <a:p>
              <a:pPr algn="ctr">
                <a:lnSpc>
                  <a:spcPct val="90000"/>
                </a:lnSpc>
                <a:spcAft>
                  <a:spcPts val="0"/>
                </a:spcAft>
              </a:pPr>
              <a:r>
                <a:rPr lang="en-US" sz="700" b="0">
                  <a:solidFill>
                    <a:schemeClr val="bg1"/>
                  </a:solidFill>
                </a:rPr>
                <a:t>135</a:t>
              </a:r>
            </a:p>
            <a:p>
              <a:pPr algn="ctr">
                <a:lnSpc>
                  <a:spcPct val="90000"/>
                </a:lnSpc>
                <a:spcAft>
                  <a:spcPts val="0"/>
                </a:spcAft>
              </a:pPr>
              <a:r>
                <a:rPr lang="en-US" sz="700" b="0">
                  <a:solidFill>
                    <a:schemeClr val="bg1"/>
                  </a:solidFill>
                </a:rPr>
                <a:t>138</a:t>
              </a:r>
            </a:p>
          </p:txBody>
        </p:sp>
        <p:sp>
          <p:nvSpPr>
            <p:cNvPr id="40" name="Forme libre : forme 39">
              <a:extLst>
                <a:ext uri="{FF2B5EF4-FFF2-40B4-BE49-F238E27FC236}">
                  <a16:creationId xmlns:a16="http://schemas.microsoft.com/office/drawing/2014/main" id="{B5057D4C-5664-4AB3-AC51-4D9290C9B601}"/>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178</a:t>
              </a:r>
            </a:p>
            <a:p>
              <a:pPr algn="ctr">
                <a:lnSpc>
                  <a:spcPct val="90000"/>
                </a:lnSpc>
                <a:spcAft>
                  <a:spcPts val="0"/>
                </a:spcAft>
              </a:pPr>
              <a:r>
                <a:rPr lang="en-US" sz="700" b="0"/>
                <a:t>162</a:t>
              </a:r>
            </a:p>
          </p:txBody>
        </p:sp>
        <p:sp>
          <p:nvSpPr>
            <p:cNvPr id="41" name="Forme libre : forme 40">
              <a:extLst>
                <a:ext uri="{FF2B5EF4-FFF2-40B4-BE49-F238E27FC236}">
                  <a16:creationId xmlns:a16="http://schemas.microsoft.com/office/drawing/2014/main" id="{B9768BD9-C025-437A-9C82-F4EB248998E9}"/>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244</a:t>
              </a:r>
            </a:p>
            <a:p>
              <a:pPr algn="ctr">
                <a:lnSpc>
                  <a:spcPct val="90000"/>
                </a:lnSpc>
                <a:spcAft>
                  <a:spcPts val="0"/>
                </a:spcAft>
              </a:pPr>
              <a:r>
                <a:rPr lang="en-US" sz="700" b="0"/>
                <a:t>203</a:t>
              </a:r>
            </a:p>
          </p:txBody>
        </p:sp>
        <p:sp>
          <p:nvSpPr>
            <p:cNvPr id="42" name="Forme libre : forme 41">
              <a:extLst>
                <a:ext uri="{FF2B5EF4-FFF2-40B4-BE49-F238E27FC236}">
                  <a16:creationId xmlns:a16="http://schemas.microsoft.com/office/drawing/2014/main" id="{B55B7EBC-24A1-4778-954C-CA69CD87371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rPr>
                <a:t>23</a:t>
              </a:r>
            </a:p>
            <a:p>
              <a:pPr algn="ctr">
                <a:lnSpc>
                  <a:spcPct val="90000"/>
                </a:lnSpc>
                <a:spcAft>
                  <a:spcPts val="0"/>
                </a:spcAft>
              </a:pPr>
              <a:r>
                <a:rPr lang="en-US" sz="700" b="0">
                  <a:solidFill>
                    <a:schemeClr val="bg1"/>
                  </a:solidFill>
                </a:rPr>
                <a:t>128</a:t>
              </a:r>
            </a:p>
            <a:p>
              <a:pPr algn="ctr">
                <a:lnSpc>
                  <a:spcPct val="90000"/>
                </a:lnSpc>
                <a:spcAft>
                  <a:spcPts val="0"/>
                </a:spcAft>
              </a:pPr>
              <a:r>
                <a:rPr lang="en-US" sz="700" b="0">
                  <a:solidFill>
                    <a:schemeClr val="bg1"/>
                  </a:solidFill>
                </a:rPr>
                <a:t>54</a:t>
              </a:r>
            </a:p>
          </p:txBody>
        </p:sp>
        <p:sp>
          <p:nvSpPr>
            <p:cNvPr id="43" name="Forme libre : forme 42">
              <a:extLst>
                <a:ext uri="{FF2B5EF4-FFF2-40B4-BE49-F238E27FC236}">
                  <a16:creationId xmlns:a16="http://schemas.microsoft.com/office/drawing/2014/main" id="{8A71FF8C-1C8C-4DA5-BDDC-5559003BC9EC}"/>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rPr>
                <a:t>23</a:t>
              </a:r>
            </a:p>
            <a:p>
              <a:pPr algn="ctr">
                <a:lnSpc>
                  <a:spcPct val="90000"/>
                </a:lnSpc>
                <a:spcAft>
                  <a:spcPts val="0"/>
                </a:spcAft>
              </a:pPr>
              <a:r>
                <a:rPr lang="en-US" sz="700" b="0">
                  <a:solidFill>
                    <a:schemeClr val="bg1"/>
                  </a:solidFill>
                </a:rPr>
                <a:t>140</a:t>
              </a:r>
            </a:p>
            <a:p>
              <a:pPr algn="ctr">
                <a:lnSpc>
                  <a:spcPct val="90000"/>
                </a:lnSpc>
                <a:spcAft>
                  <a:spcPts val="0"/>
                </a:spcAft>
              </a:pPr>
              <a:r>
                <a:rPr lang="en-US" sz="700" b="0">
                  <a:solidFill>
                    <a:schemeClr val="bg1"/>
                  </a:solidFill>
                </a:rPr>
                <a:t>61</a:t>
              </a:r>
            </a:p>
          </p:txBody>
        </p:sp>
        <p:sp>
          <p:nvSpPr>
            <p:cNvPr id="44" name="Forme libre : forme 43">
              <a:extLst>
                <a:ext uri="{FF2B5EF4-FFF2-40B4-BE49-F238E27FC236}">
                  <a16:creationId xmlns:a16="http://schemas.microsoft.com/office/drawing/2014/main" id="{65AE6D7F-AF43-48CF-A55F-487BBDB32479}"/>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t>46</a:t>
              </a:r>
            </a:p>
            <a:p>
              <a:pPr algn="ctr">
                <a:lnSpc>
                  <a:spcPct val="90000"/>
                </a:lnSpc>
                <a:spcAft>
                  <a:spcPts val="0"/>
                </a:spcAft>
              </a:pPr>
              <a:r>
                <a:rPr lang="en-US" sz="700" b="0"/>
                <a:t>166</a:t>
              </a:r>
            </a:p>
            <a:p>
              <a:pPr algn="ctr">
                <a:lnSpc>
                  <a:spcPct val="90000"/>
                </a:lnSpc>
                <a:spcAft>
                  <a:spcPts val="0"/>
                </a:spcAft>
              </a:pPr>
              <a:r>
                <a:rPr lang="en-US" sz="700" b="0"/>
                <a:t>87</a:t>
              </a:r>
            </a:p>
          </p:txBody>
        </p:sp>
        <p:sp>
          <p:nvSpPr>
            <p:cNvPr id="45" name="Forme libre : forme 44">
              <a:extLst>
                <a:ext uri="{FF2B5EF4-FFF2-40B4-BE49-F238E27FC236}">
                  <a16:creationId xmlns:a16="http://schemas.microsoft.com/office/drawing/2014/main" id="{BB812469-8FE0-44CE-9114-2BFB32567204}"/>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t>51</a:t>
              </a:r>
            </a:p>
            <a:p>
              <a:pPr algn="ctr">
                <a:lnSpc>
                  <a:spcPct val="90000"/>
                </a:lnSpc>
                <a:spcAft>
                  <a:spcPts val="0"/>
                </a:spcAft>
              </a:pPr>
              <a:r>
                <a:rPr lang="en-US" sz="700" b="0"/>
                <a:t>181</a:t>
              </a:r>
            </a:p>
            <a:p>
              <a:pPr algn="ctr">
                <a:lnSpc>
                  <a:spcPct val="90000"/>
                </a:lnSpc>
                <a:spcAft>
                  <a:spcPts val="0"/>
                </a:spcAft>
              </a:pPr>
              <a:r>
                <a:rPr lang="en-US" sz="700" b="0"/>
                <a:t>105</a:t>
              </a:r>
            </a:p>
          </p:txBody>
        </p:sp>
        <p:sp>
          <p:nvSpPr>
            <p:cNvPr id="46" name="Forme libre : forme 45">
              <a:extLst>
                <a:ext uri="{FF2B5EF4-FFF2-40B4-BE49-F238E27FC236}">
                  <a16:creationId xmlns:a16="http://schemas.microsoft.com/office/drawing/2014/main" id="{087DD0C6-F577-494A-A297-D5E55A43A8E3}"/>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p>
            <a:p>
              <a:pPr algn="ctr">
                <a:lnSpc>
                  <a:spcPct val="90000"/>
                </a:lnSpc>
                <a:spcAft>
                  <a:spcPts val="0"/>
                </a:spcAft>
              </a:pPr>
              <a:r>
                <a:rPr lang="en-US" sz="700" b="0"/>
                <a:t>87</a:t>
              </a:r>
            </a:p>
            <a:p>
              <a:pPr algn="ctr">
                <a:lnSpc>
                  <a:spcPct val="90000"/>
                </a:lnSpc>
                <a:spcAft>
                  <a:spcPts val="0"/>
                </a:spcAft>
              </a:pPr>
              <a:r>
                <a:rPr lang="en-US" sz="700" b="0"/>
                <a:t>207</a:t>
              </a:r>
            </a:p>
            <a:p>
              <a:pPr algn="ctr">
                <a:lnSpc>
                  <a:spcPct val="90000"/>
                </a:lnSpc>
                <a:spcAft>
                  <a:spcPts val="0"/>
                </a:spcAft>
              </a:pPr>
              <a:r>
                <a:rPr lang="en-US" sz="700" b="0"/>
                <a:t>128</a:t>
              </a:r>
            </a:p>
            <a:p>
              <a:pPr algn="ctr">
                <a:lnSpc>
                  <a:spcPct val="90000"/>
                </a:lnSpc>
                <a:spcAft>
                  <a:spcPts val="0"/>
                </a:spcAft>
              </a:pPr>
              <a:endParaRPr lang="en-US" sz="700" b="0"/>
            </a:p>
          </p:txBody>
        </p:sp>
        <p:sp>
          <p:nvSpPr>
            <p:cNvPr id="47" name="Forme libre : forme 46">
              <a:extLst>
                <a:ext uri="{FF2B5EF4-FFF2-40B4-BE49-F238E27FC236}">
                  <a16:creationId xmlns:a16="http://schemas.microsoft.com/office/drawing/2014/main" id="{63FCFCED-B4ED-4BE7-976A-F5D85C1B8C74}"/>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rPr>
                <a:t>23</a:t>
              </a:r>
            </a:p>
            <a:p>
              <a:pPr algn="ctr">
                <a:lnSpc>
                  <a:spcPct val="90000"/>
                </a:lnSpc>
                <a:spcAft>
                  <a:spcPts val="0"/>
                </a:spcAft>
              </a:pPr>
              <a:r>
                <a:rPr lang="en-US" sz="700" b="0">
                  <a:solidFill>
                    <a:schemeClr val="bg1"/>
                  </a:solidFill>
                </a:rPr>
                <a:t>51</a:t>
              </a:r>
            </a:p>
            <a:p>
              <a:pPr algn="ctr">
                <a:lnSpc>
                  <a:spcPct val="90000"/>
                </a:lnSpc>
                <a:spcAft>
                  <a:spcPts val="0"/>
                </a:spcAft>
              </a:pPr>
              <a:r>
                <a:rPr lang="en-US" sz="700" b="0">
                  <a:solidFill>
                    <a:schemeClr val="bg1"/>
                  </a:solidFill>
                </a:rPr>
                <a:t>64</a:t>
              </a:r>
            </a:p>
          </p:txBody>
        </p:sp>
        <p:sp>
          <p:nvSpPr>
            <p:cNvPr id="48" name="Forme libre : forme 47">
              <a:extLst>
                <a:ext uri="{FF2B5EF4-FFF2-40B4-BE49-F238E27FC236}">
                  <a16:creationId xmlns:a16="http://schemas.microsoft.com/office/drawing/2014/main" id="{63385D66-3F37-46EF-8474-FA1A5456BF8F}"/>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rPr>
                <a:t>33</a:t>
              </a:r>
            </a:p>
            <a:p>
              <a:pPr algn="ctr">
                <a:lnSpc>
                  <a:spcPct val="90000"/>
                </a:lnSpc>
                <a:spcAft>
                  <a:spcPts val="0"/>
                </a:spcAft>
              </a:pPr>
              <a:r>
                <a:rPr lang="en-US" sz="700" b="0">
                  <a:solidFill>
                    <a:schemeClr val="bg1"/>
                  </a:solidFill>
                </a:rPr>
                <a:t>69</a:t>
              </a:r>
            </a:p>
            <a:p>
              <a:pPr algn="ctr">
                <a:lnSpc>
                  <a:spcPct val="90000"/>
                </a:lnSpc>
                <a:spcAft>
                  <a:spcPts val="0"/>
                </a:spcAft>
              </a:pPr>
              <a:r>
                <a:rPr lang="en-US" sz="700" b="0">
                  <a:solidFill>
                    <a:schemeClr val="bg1"/>
                  </a:solidFill>
                </a:rPr>
                <a:t>84</a:t>
              </a:r>
            </a:p>
          </p:txBody>
        </p:sp>
        <p:sp>
          <p:nvSpPr>
            <p:cNvPr id="49" name="Forme libre : forme 48">
              <a:extLst>
                <a:ext uri="{FF2B5EF4-FFF2-40B4-BE49-F238E27FC236}">
                  <a16:creationId xmlns:a16="http://schemas.microsoft.com/office/drawing/2014/main" id="{D575BA76-14B5-4DF5-ADD1-BC6AB1DA89AE}"/>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rPr>
                <a:t>20</a:t>
              </a:r>
            </a:p>
            <a:p>
              <a:pPr algn="ctr">
                <a:lnSpc>
                  <a:spcPct val="90000"/>
                </a:lnSpc>
                <a:spcAft>
                  <a:spcPts val="0"/>
                </a:spcAft>
              </a:pPr>
              <a:r>
                <a:rPr lang="en-US" sz="700" b="0">
                  <a:solidFill>
                    <a:schemeClr val="bg1"/>
                  </a:solidFill>
                </a:rPr>
                <a:t>89</a:t>
              </a:r>
            </a:p>
            <a:p>
              <a:pPr algn="ctr">
                <a:lnSpc>
                  <a:spcPct val="90000"/>
                </a:lnSpc>
                <a:spcAft>
                  <a:spcPts val="0"/>
                </a:spcAft>
              </a:pPr>
              <a:r>
                <a:rPr lang="en-US" sz="700" b="0">
                  <a:solidFill>
                    <a:schemeClr val="bg1"/>
                  </a:solidFill>
                </a:rPr>
                <a:t>107</a:t>
              </a:r>
            </a:p>
          </p:txBody>
        </p:sp>
        <p:sp>
          <p:nvSpPr>
            <p:cNvPr id="50" name="Forme libre : forme 49">
              <a:extLst>
                <a:ext uri="{FF2B5EF4-FFF2-40B4-BE49-F238E27FC236}">
                  <a16:creationId xmlns:a16="http://schemas.microsoft.com/office/drawing/2014/main" id="{ED7E39D7-0895-42F2-A436-A1E0A1E54A91}"/>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rPr>
                <a:t>51</a:t>
              </a:r>
            </a:p>
            <a:p>
              <a:pPr algn="ctr">
                <a:lnSpc>
                  <a:spcPct val="90000"/>
                </a:lnSpc>
                <a:spcAft>
                  <a:spcPts val="0"/>
                </a:spcAft>
              </a:pPr>
              <a:r>
                <a:rPr lang="en-US" sz="700" b="0">
                  <a:solidFill>
                    <a:schemeClr val="bg1"/>
                  </a:solidFill>
                </a:rPr>
                <a:t>107</a:t>
              </a:r>
            </a:p>
            <a:p>
              <a:pPr algn="ctr">
                <a:lnSpc>
                  <a:spcPct val="90000"/>
                </a:lnSpc>
                <a:spcAft>
                  <a:spcPts val="0"/>
                </a:spcAft>
              </a:pPr>
              <a:r>
                <a:rPr lang="en-US" sz="700" b="0">
                  <a:solidFill>
                    <a:schemeClr val="bg1"/>
                  </a:solidFill>
                </a:rPr>
                <a:t>25</a:t>
              </a:r>
            </a:p>
          </p:txBody>
        </p:sp>
        <p:sp>
          <p:nvSpPr>
            <p:cNvPr id="51" name="Forme libre : forme 50">
              <a:extLst>
                <a:ext uri="{FF2B5EF4-FFF2-40B4-BE49-F238E27FC236}">
                  <a16:creationId xmlns:a16="http://schemas.microsoft.com/office/drawing/2014/main" id="{7F14B4ED-60EF-4BE7-B7A4-0FB240CA8293}"/>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rPr>
                <a:t>51</a:t>
              </a:r>
            </a:p>
            <a:p>
              <a:pPr algn="ctr">
                <a:lnSpc>
                  <a:spcPct val="90000"/>
                </a:lnSpc>
                <a:spcAft>
                  <a:spcPts val="0"/>
                </a:spcAft>
              </a:pPr>
              <a:r>
                <a:rPr lang="en-US" sz="700" b="0">
                  <a:solidFill>
                    <a:schemeClr val="bg1"/>
                  </a:solidFill>
                </a:rPr>
                <a:t>128</a:t>
              </a:r>
            </a:p>
            <a:p>
              <a:pPr algn="ctr">
                <a:lnSpc>
                  <a:spcPct val="90000"/>
                </a:lnSpc>
                <a:spcAft>
                  <a:spcPts val="0"/>
                </a:spcAft>
              </a:pPr>
              <a:r>
                <a:rPr lang="en-US" sz="700" b="0">
                  <a:solidFill>
                    <a:schemeClr val="bg1"/>
                  </a:solidFill>
                </a:rPr>
                <a:t>145</a:t>
              </a:r>
            </a:p>
          </p:txBody>
        </p:sp>
        <p:sp>
          <p:nvSpPr>
            <p:cNvPr id="52" name="Forme libre : forme 51">
              <a:extLst>
                <a:ext uri="{FF2B5EF4-FFF2-40B4-BE49-F238E27FC236}">
                  <a16:creationId xmlns:a16="http://schemas.microsoft.com/office/drawing/2014/main" id="{8D5432DA-02B7-4610-BE57-7195507870C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rPr>
                <a:t>0</a:t>
              </a:r>
            </a:p>
            <a:p>
              <a:pPr algn="ctr">
                <a:lnSpc>
                  <a:spcPct val="90000"/>
                </a:lnSpc>
                <a:spcAft>
                  <a:spcPts val="0"/>
                </a:spcAft>
              </a:pPr>
              <a:r>
                <a:rPr lang="en-US" sz="700" b="0">
                  <a:solidFill>
                    <a:schemeClr val="bg1"/>
                  </a:solidFill>
                </a:rPr>
                <a:t>125</a:t>
              </a:r>
            </a:p>
            <a:p>
              <a:pPr algn="ctr">
                <a:lnSpc>
                  <a:spcPct val="90000"/>
                </a:lnSpc>
                <a:spcAft>
                  <a:spcPts val="0"/>
                </a:spcAft>
              </a:pPr>
              <a:r>
                <a:rPr lang="en-US" sz="700" b="0">
                  <a:solidFill>
                    <a:schemeClr val="bg1"/>
                  </a:solidFill>
                </a:rPr>
                <a:t>116</a:t>
              </a:r>
            </a:p>
          </p:txBody>
        </p:sp>
        <p:sp>
          <p:nvSpPr>
            <p:cNvPr id="53" name="Forme libre : forme 52">
              <a:extLst>
                <a:ext uri="{FF2B5EF4-FFF2-40B4-BE49-F238E27FC236}">
                  <a16:creationId xmlns:a16="http://schemas.microsoft.com/office/drawing/2014/main" id="{1FA3A78E-AAF0-4D69-B0F9-3A9F08859BDA}"/>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rPr>
                <a:t>0</a:t>
              </a:r>
            </a:p>
            <a:p>
              <a:pPr algn="ctr">
                <a:lnSpc>
                  <a:spcPct val="90000"/>
                </a:lnSpc>
                <a:spcAft>
                  <a:spcPts val="0"/>
                </a:spcAft>
              </a:pPr>
              <a:r>
                <a:rPr lang="en-US" sz="700" b="0">
                  <a:solidFill>
                    <a:schemeClr val="bg1"/>
                  </a:solidFill>
                </a:rPr>
                <a:t>146</a:t>
              </a:r>
            </a:p>
            <a:p>
              <a:pPr algn="ctr">
                <a:lnSpc>
                  <a:spcPct val="90000"/>
                </a:lnSpc>
                <a:spcAft>
                  <a:spcPts val="0"/>
                </a:spcAft>
              </a:pPr>
              <a:r>
                <a:rPr lang="en-US" sz="700" b="0">
                  <a:solidFill>
                    <a:schemeClr val="bg1"/>
                  </a:solidFill>
                </a:rPr>
                <a:t>155</a:t>
              </a:r>
            </a:p>
          </p:txBody>
        </p:sp>
        <p:sp>
          <p:nvSpPr>
            <p:cNvPr id="54" name="Forme libre : forme 53">
              <a:extLst>
                <a:ext uri="{FF2B5EF4-FFF2-40B4-BE49-F238E27FC236}">
                  <a16:creationId xmlns:a16="http://schemas.microsoft.com/office/drawing/2014/main" id="{3C643D3D-59E9-42BF-8680-FCB9BFC2B414}"/>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191</a:t>
              </a:r>
            </a:p>
            <a:p>
              <a:pPr algn="ctr">
                <a:lnSpc>
                  <a:spcPct val="90000"/>
                </a:lnSpc>
                <a:spcAft>
                  <a:spcPts val="0"/>
                </a:spcAft>
              </a:pPr>
              <a:r>
                <a:rPr lang="en-US" sz="700" b="0"/>
                <a:t>191</a:t>
              </a:r>
            </a:p>
          </p:txBody>
        </p:sp>
        <p:sp>
          <p:nvSpPr>
            <p:cNvPr id="55" name="Forme libre : forme 54">
              <a:extLst>
                <a:ext uri="{FF2B5EF4-FFF2-40B4-BE49-F238E27FC236}">
                  <a16:creationId xmlns:a16="http://schemas.microsoft.com/office/drawing/2014/main" id="{A094B0C1-47F5-4269-B9BF-5C8C9DE3097E}"/>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213</a:t>
              </a:r>
            </a:p>
            <a:p>
              <a:pPr algn="ctr">
                <a:lnSpc>
                  <a:spcPct val="90000"/>
                </a:lnSpc>
                <a:spcAft>
                  <a:spcPts val="0"/>
                </a:spcAft>
              </a:pPr>
              <a:r>
                <a:rPr lang="en-US" sz="700" b="0"/>
                <a:t>208</a:t>
              </a:r>
            </a:p>
          </p:txBody>
        </p:sp>
        <p:sp>
          <p:nvSpPr>
            <p:cNvPr id="56" name="Forme libre : forme 55">
              <a:extLst>
                <a:ext uri="{FF2B5EF4-FFF2-40B4-BE49-F238E27FC236}">
                  <a16:creationId xmlns:a16="http://schemas.microsoft.com/office/drawing/2014/main" id="{47388502-3E29-4155-B77E-30D55652CA46}"/>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230</a:t>
              </a:r>
            </a:p>
            <a:p>
              <a:pPr algn="ctr">
                <a:lnSpc>
                  <a:spcPct val="90000"/>
                </a:lnSpc>
                <a:spcAft>
                  <a:spcPts val="0"/>
                </a:spcAft>
              </a:pPr>
              <a:r>
                <a:rPr lang="en-US" sz="700" b="0"/>
                <a:t>227</a:t>
              </a:r>
            </a:p>
          </p:txBody>
        </p:sp>
      </p:grpSp>
    </p:spTree>
    <p:extLst>
      <p:ext uri="{BB962C8B-B14F-4D97-AF65-F5344CB8AC3E}">
        <p14:creationId xmlns:p14="http://schemas.microsoft.com/office/powerpoint/2010/main" val="2314978218"/>
      </p:ext>
    </p:extLst>
  </p:cSld>
  <p:clrMap bg1="lt1" tx1="dk1" bg2="lt2" tx2="dk2" accent1="accent1" accent2="accent2" accent3="accent3" accent4="accent4" accent5="accent5" accent6="accent6" hlink="hlink" folHlink="folHlink"/>
  <p:sldLayoutIdLst>
    <p:sldLayoutId id="2147483962" r:id="rId1"/>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4070" userDrawn="1">
          <p15:clr>
            <a:srgbClr val="F26B43"/>
          </p15:clr>
        </p15:guide>
        <p15:guide id="4" pos="3840" userDrawn="1">
          <p15:clr>
            <a:srgbClr val="F26B43"/>
          </p15:clr>
        </p15:guide>
        <p15:guide id="5" pos="255" userDrawn="1">
          <p15:clr>
            <a:srgbClr val="F26B43"/>
          </p15:clr>
        </p15:guide>
        <p15:guide id="6" pos="7423" userDrawn="1">
          <p15:clr>
            <a:srgbClr val="F26B43"/>
          </p15:clr>
        </p15:guide>
        <p15:guide id="7" orient="horz" pos="245" userDrawn="1">
          <p15:clr>
            <a:srgbClr val="F26B43"/>
          </p15:clr>
        </p15:guide>
        <p15:guide id="8" orient="horz" pos="706" userDrawn="1">
          <p15:clr>
            <a:srgbClr val="F26B43"/>
          </p15:clr>
        </p15:guide>
        <p15:guide id="9" orient="horz" pos="83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5"/>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6" imgW="270" imgH="270" progId="TCLayout.ActiveDocument.1">
                  <p:embed/>
                </p:oleObj>
              </mc:Choice>
              <mc:Fallback>
                <p:oleObj name="think-cell Slide" r:id="rId36" imgW="270" imgH="270" progId="TCLayout.ActiveDocument.1">
                  <p:embed/>
                  <p:pic>
                    <p:nvPicPr>
                      <p:cNvPr id="21" name="Object 20" hidden="1"/>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sp>
        <p:nvSpPr>
          <p:cNvPr id="2" name="Rectangle 27">
            <a:extLst>
              <a:ext uri="{FF2B5EF4-FFF2-40B4-BE49-F238E27FC236}">
                <a16:creationId xmlns:a16="http://schemas.microsoft.com/office/drawing/2014/main" id="{D17879E2-3C96-3A06-90FD-9E1200992292}"/>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Ways of Working | March 2024</a:t>
            </a:r>
          </a:p>
        </p:txBody>
      </p:sp>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3981" r:id="rId1"/>
    <p:sldLayoutId id="2147483982" r:id="rId2"/>
    <p:sldLayoutId id="2147483983" r:id="rId3"/>
    <p:sldLayoutId id="2147483984" r:id="rId4"/>
    <p:sldLayoutId id="2147483985" r:id="rId5"/>
    <p:sldLayoutId id="2147483986" r:id="rId6"/>
    <p:sldLayoutId id="2147483987" r:id="rId7"/>
    <p:sldLayoutId id="2147483988" r:id="rId8"/>
    <p:sldLayoutId id="2147483989" r:id="rId9"/>
    <p:sldLayoutId id="2147483990" r:id="rId10"/>
    <p:sldLayoutId id="2147483991" r:id="rId11"/>
    <p:sldLayoutId id="2147483992" r:id="rId12"/>
    <p:sldLayoutId id="2147483993" r:id="rId13"/>
    <p:sldLayoutId id="2147483994" r:id="rId14"/>
    <p:sldLayoutId id="2147483995" r:id="rId15"/>
    <p:sldLayoutId id="2147483996" r:id="rId16"/>
    <p:sldLayoutId id="2147483997" r:id="rId17"/>
    <p:sldLayoutId id="2147483998" r:id="rId18"/>
    <p:sldLayoutId id="2147483999" r:id="rId19"/>
    <p:sldLayoutId id="2147484000" r:id="rId20"/>
    <p:sldLayoutId id="2147483963" r:id="rId21"/>
    <p:sldLayoutId id="2147483964" r:id="rId22"/>
    <p:sldLayoutId id="2147483965" r:id="rId23"/>
    <p:sldLayoutId id="2147483966" r:id="rId24"/>
    <p:sldLayoutId id="2147483967" r:id="rId25"/>
    <p:sldLayoutId id="2147483979" r:id="rId26"/>
    <p:sldLayoutId id="2147483969" r:id="rId27"/>
    <p:sldLayoutId id="2147483970" r:id="rId28"/>
    <p:sldLayoutId id="2147483971" r:id="rId29"/>
    <p:sldLayoutId id="2147483972" r:id="rId30"/>
    <p:sldLayoutId id="2147483973" r:id="rId31"/>
    <p:sldLayoutId id="2147483974" r:id="rId32"/>
    <p:sldLayoutId id="2147483975" r:id="rId33"/>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6"/>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7" imgW="270" imgH="270" progId="TCLayout.ActiveDocument.1">
                  <p:embed/>
                </p:oleObj>
              </mc:Choice>
              <mc:Fallback>
                <p:oleObj name="think-cell Slide" r:id="rId27" imgW="270" imgH="270" progId="TCLayout.ActiveDocument.1">
                  <p:embed/>
                  <p:pic>
                    <p:nvPicPr>
                      <p:cNvPr id="21" name="Object 20" hidden="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pic>
        <p:nvPicPr>
          <p:cNvPr id="2" name="Picture 1">
            <a:extLst>
              <a:ext uri="{FF2B5EF4-FFF2-40B4-BE49-F238E27FC236}">
                <a16:creationId xmlns:a16="http://schemas.microsoft.com/office/drawing/2014/main" id="{17B034BF-BEBE-C7A1-97E4-EF4D051EF143}"/>
              </a:ext>
            </a:extLst>
          </p:cNvPr>
          <p:cNvPicPr>
            <a:picLocks noChangeAspect="1"/>
          </p:cNvPicPr>
          <p:nvPr userDrawn="1"/>
        </p:nvPicPr>
        <p:blipFill>
          <a:blip r:embed="rId29"/>
          <a:stretch>
            <a:fillRect/>
          </a:stretch>
        </p:blipFill>
        <p:spPr>
          <a:xfrm>
            <a:off x="10322760" y="270577"/>
            <a:ext cx="817198" cy="275764"/>
          </a:xfrm>
          <a:prstGeom prst="rect">
            <a:avLst/>
          </a:prstGeom>
        </p:spPr>
      </p:pic>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343489" y="94731"/>
            <a:ext cx="0" cy="612000"/>
          </a:xfrm>
          <a:prstGeom prst="line">
            <a:avLst/>
          </a:prstGeom>
        </p:spPr>
        <p:style>
          <a:lnRef idx="1">
            <a:schemeClr val="accent1"/>
          </a:lnRef>
          <a:fillRef idx="0">
            <a:schemeClr val="accent1"/>
          </a:fillRef>
          <a:effectRef idx="0">
            <a:schemeClr val="accent1"/>
          </a:effectRef>
          <a:fontRef idx="minor">
            <a:schemeClr val="tx1"/>
          </a:fontRef>
        </p:style>
      </p:cxnSp>
      <p:sp>
        <p:nvSpPr>
          <p:cNvPr id="5" name="Rectangle 27">
            <a:extLst>
              <a:ext uri="{FF2B5EF4-FFF2-40B4-BE49-F238E27FC236}">
                <a16:creationId xmlns:a16="http://schemas.microsoft.com/office/drawing/2014/main" id="{95F909D2-4B72-A85F-1824-B72A61A5AF6C}"/>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Ways of Working | March 2024</a:t>
            </a:r>
          </a:p>
        </p:txBody>
      </p:sp>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4006" r:id="rId1"/>
    <p:sldLayoutId id="2147484007" r:id="rId2"/>
    <p:sldLayoutId id="2147484008" r:id="rId3"/>
    <p:sldLayoutId id="2147484009" r:id="rId4"/>
    <p:sldLayoutId id="2147484010" r:id="rId5"/>
    <p:sldLayoutId id="2147484011" r:id="rId6"/>
    <p:sldLayoutId id="2147484012" r:id="rId7"/>
    <p:sldLayoutId id="2147484013" r:id="rId8"/>
    <p:sldLayoutId id="2147484014" r:id="rId9"/>
    <p:sldLayoutId id="2147484015" r:id="rId10"/>
    <p:sldLayoutId id="2147484016" r:id="rId11"/>
    <p:sldLayoutId id="2147484017" r:id="rId12"/>
    <p:sldLayoutId id="2147484018" r:id="rId13"/>
    <p:sldLayoutId id="2147484019" r:id="rId14"/>
    <p:sldLayoutId id="2147484020" r:id="rId15"/>
    <p:sldLayoutId id="2147484021" r:id="rId16"/>
    <p:sldLayoutId id="2147484022" r:id="rId17"/>
    <p:sldLayoutId id="2147484023" r:id="rId18"/>
    <p:sldLayoutId id="2147484024" r:id="rId19"/>
    <p:sldLayoutId id="2147484025" r:id="rId20"/>
    <p:sldLayoutId id="2147484026" r:id="rId21"/>
    <p:sldLayoutId id="2147484027" r:id="rId22"/>
    <p:sldLayoutId id="2147484028" r:id="rId23"/>
    <p:sldLayoutId id="2147484029" r:id="rId2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6"/>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7" imgW="270" imgH="270" progId="TCLayout.ActiveDocument.1">
                  <p:embed/>
                </p:oleObj>
              </mc:Choice>
              <mc:Fallback>
                <p:oleObj name="think-cell Slide" r:id="rId37" imgW="270" imgH="270" progId="TCLayout.ActiveDocument.1">
                  <p:embed/>
                  <p:pic>
                    <p:nvPicPr>
                      <p:cNvPr id="21" name="Object 20" hidden="1"/>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t">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sp>
        <p:nvSpPr>
          <p:cNvPr id="2" name="Rectangle 27">
            <a:extLst>
              <a:ext uri="{FF2B5EF4-FFF2-40B4-BE49-F238E27FC236}">
                <a16:creationId xmlns:a16="http://schemas.microsoft.com/office/drawing/2014/main" id="{C201F874-4263-EB0E-4A19-FB74904E4D3B}"/>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Ways of Working | March 2024</a:t>
            </a:r>
          </a:p>
        </p:txBody>
      </p:sp>
    </p:spTree>
    <p:extLst>
      <p:ext uri="{BB962C8B-B14F-4D97-AF65-F5344CB8AC3E}">
        <p14:creationId xmlns:p14="http://schemas.microsoft.com/office/powerpoint/2010/main" val="260528291"/>
      </p:ext>
    </p:extLst>
  </p:cSld>
  <p:clrMap bg1="lt1" tx1="dk1" bg2="lt2" tx2="dk2" accent1="accent1" accent2="accent2" accent3="accent3" accent4="accent4" accent5="accent5" accent6="accent6" hlink="hlink" folHlink="folHlink"/>
  <p:sldLayoutIdLst>
    <p:sldLayoutId id="2147484031" r:id="rId1"/>
    <p:sldLayoutId id="2147484032" r:id="rId2"/>
    <p:sldLayoutId id="2147484033" r:id="rId3"/>
    <p:sldLayoutId id="2147484034" r:id="rId4"/>
    <p:sldLayoutId id="2147484035" r:id="rId5"/>
    <p:sldLayoutId id="2147484036" r:id="rId6"/>
    <p:sldLayoutId id="2147484037" r:id="rId7"/>
    <p:sldLayoutId id="2147484038" r:id="rId8"/>
    <p:sldLayoutId id="2147484039" r:id="rId9"/>
    <p:sldLayoutId id="2147484040" r:id="rId10"/>
    <p:sldLayoutId id="2147484041" r:id="rId11"/>
    <p:sldLayoutId id="2147484042" r:id="rId12"/>
    <p:sldLayoutId id="2147484043" r:id="rId13"/>
    <p:sldLayoutId id="2147484044" r:id="rId14"/>
    <p:sldLayoutId id="2147484045" r:id="rId15"/>
    <p:sldLayoutId id="2147484046" r:id="rId16"/>
    <p:sldLayoutId id="2147484047" r:id="rId17"/>
    <p:sldLayoutId id="2147484048" r:id="rId18"/>
    <p:sldLayoutId id="2147484049" r:id="rId19"/>
    <p:sldLayoutId id="2147484050" r:id="rId20"/>
    <p:sldLayoutId id="2147484051" r:id="rId21"/>
    <p:sldLayoutId id="2147484052" r:id="rId22"/>
    <p:sldLayoutId id="2147484053" r:id="rId23"/>
    <p:sldLayoutId id="2147484066" r:id="rId24"/>
    <p:sldLayoutId id="2147484055" r:id="rId25"/>
    <p:sldLayoutId id="2147484056" r:id="rId26"/>
    <p:sldLayoutId id="2147484057" r:id="rId27"/>
    <p:sldLayoutId id="2147484058" r:id="rId28"/>
    <p:sldLayoutId id="2147484059" r:id="rId29"/>
    <p:sldLayoutId id="2147484060" r:id="rId30"/>
    <p:sldLayoutId id="2147484061" r:id="rId31"/>
    <p:sldLayoutId id="2147484062" r:id="rId32"/>
    <p:sldLayoutId id="2147484063" r:id="rId33"/>
    <p:sldLayoutId id="2147484064" r:id="rId3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3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0"/>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1" imgW="270" imgH="270" progId="TCLayout.ActiveDocument.1">
                  <p:embed/>
                </p:oleObj>
              </mc:Choice>
              <mc:Fallback>
                <p:oleObj name="think-cell Slide" r:id="rId31" imgW="270" imgH="270" progId="TCLayout.ActiveDocument.1">
                  <p:embed/>
                  <p:pic>
                    <p:nvPicPr>
                      <p:cNvPr id="21" name="Object 20" hidden="1"/>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33">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7">
            <a:extLst>
              <a:ext uri="{FF2B5EF4-FFF2-40B4-BE49-F238E27FC236}">
                <a16:creationId xmlns:a16="http://schemas.microsoft.com/office/drawing/2014/main" id="{0003D807-BAAC-4720-450D-ABDEA3DA6794}"/>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Methodology Intro &amp; Handshake Material | Apr-2024</a:t>
            </a:r>
          </a:p>
        </p:txBody>
      </p:sp>
    </p:spTree>
    <p:extLst>
      <p:ext uri="{BB962C8B-B14F-4D97-AF65-F5344CB8AC3E}">
        <p14:creationId xmlns:p14="http://schemas.microsoft.com/office/powerpoint/2010/main" val="3038761969"/>
      </p:ext>
    </p:extLst>
  </p:cSld>
  <p:clrMap bg1="lt1" tx1="dk1" bg2="lt2" tx2="dk2" accent1="accent1" accent2="accent2" accent3="accent3" accent4="accent4" accent5="accent5" accent6="accent6" hlink="hlink" folHlink="folHlink"/>
  <p:sldLayoutIdLst>
    <p:sldLayoutId id="2147484069" r:id="rId1"/>
    <p:sldLayoutId id="2147484071" r:id="rId2"/>
    <p:sldLayoutId id="2147484072" r:id="rId3"/>
    <p:sldLayoutId id="2147484073" r:id="rId4"/>
    <p:sldLayoutId id="2147484074" r:id="rId5"/>
    <p:sldLayoutId id="2147484075" r:id="rId6"/>
    <p:sldLayoutId id="2147484076" r:id="rId7"/>
    <p:sldLayoutId id="2147484077" r:id="rId8"/>
    <p:sldLayoutId id="2147484078" r:id="rId9"/>
    <p:sldLayoutId id="2147484079" r:id="rId10"/>
    <p:sldLayoutId id="2147484080" r:id="rId11"/>
    <p:sldLayoutId id="2147484081" r:id="rId12"/>
    <p:sldLayoutId id="2147484082" r:id="rId13"/>
    <p:sldLayoutId id="2147484083" r:id="rId14"/>
    <p:sldLayoutId id="2147484084" r:id="rId15"/>
    <p:sldLayoutId id="2147484085" r:id="rId16"/>
    <p:sldLayoutId id="2147484086" r:id="rId17"/>
    <p:sldLayoutId id="2147484087" r:id="rId18"/>
    <p:sldLayoutId id="2147484088" r:id="rId19"/>
    <p:sldLayoutId id="2147484089" r:id="rId20"/>
    <p:sldLayoutId id="2147484090" r:id="rId21"/>
    <p:sldLayoutId id="2147484091" r:id="rId22"/>
    <p:sldLayoutId id="2147484092" r:id="rId23"/>
    <p:sldLayoutId id="2147484093" r:id="rId24"/>
    <p:sldLayoutId id="2147484094" r:id="rId25"/>
    <p:sldLayoutId id="2147484095" r:id="rId26"/>
    <p:sldLayoutId id="2147484096" r:id="rId27"/>
    <p:sldLayoutId id="2147484159" r:id="rId28"/>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eg"/><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29.xml"/><Relationship Id="rId2" Type="http://schemas.openxmlformats.org/officeDocument/2006/relationships/tags" Target="../tags/tag71.xml"/><Relationship Id="rId1" Type="http://schemas.openxmlformats.org/officeDocument/2006/relationships/tags" Target="../tags/tag70.xml"/><Relationship Id="rId5" Type="http://schemas.openxmlformats.org/officeDocument/2006/relationships/image" Target="../media/image32.jpeg"/><Relationship Id="rId4"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3" Type="http://schemas.openxmlformats.org/officeDocument/2006/relationships/tags" Target="../tags/tag84.xml"/><Relationship Id="rId18" Type="http://schemas.openxmlformats.org/officeDocument/2006/relationships/tags" Target="../tags/tag89.xml"/><Relationship Id="rId26" Type="http://schemas.openxmlformats.org/officeDocument/2006/relationships/tags" Target="../tags/tag97.xml"/><Relationship Id="rId39" Type="http://schemas.openxmlformats.org/officeDocument/2006/relationships/tags" Target="../tags/tag110.xml"/><Relationship Id="rId21" Type="http://schemas.openxmlformats.org/officeDocument/2006/relationships/tags" Target="../tags/tag92.xml"/><Relationship Id="rId34" Type="http://schemas.openxmlformats.org/officeDocument/2006/relationships/tags" Target="../tags/tag105.xml"/><Relationship Id="rId42" Type="http://schemas.openxmlformats.org/officeDocument/2006/relationships/tags" Target="../tags/tag113.xml"/><Relationship Id="rId47" Type="http://schemas.openxmlformats.org/officeDocument/2006/relationships/image" Target="../media/image33.png"/><Relationship Id="rId50" Type="http://schemas.openxmlformats.org/officeDocument/2006/relationships/image" Target="../media/image36.png"/><Relationship Id="rId7" Type="http://schemas.openxmlformats.org/officeDocument/2006/relationships/tags" Target="../tags/tag78.xml"/><Relationship Id="rId2" Type="http://schemas.openxmlformats.org/officeDocument/2006/relationships/tags" Target="../tags/tag73.xml"/><Relationship Id="rId16" Type="http://schemas.openxmlformats.org/officeDocument/2006/relationships/tags" Target="../tags/tag87.xml"/><Relationship Id="rId29" Type="http://schemas.openxmlformats.org/officeDocument/2006/relationships/tags" Target="../tags/tag100.xml"/><Relationship Id="rId11" Type="http://schemas.openxmlformats.org/officeDocument/2006/relationships/tags" Target="../tags/tag82.xml"/><Relationship Id="rId24" Type="http://schemas.openxmlformats.org/officeDocument/2006/relationships/tags" Target="../tags/tag95.xml"/><Relationship Id="rId32" Type="http://schemas.openxmlformats.org/officeDocument/2006/relationships/tags" Target="../tags/tag103.xml"/><Relationship Id="rId37" Type="http://schemas.openxmlformats.org/officeDocument/2006/relationships/tags" Target="../tags/tag108.xml"/><Relationship Id="rId40" Type="http://schemas.openxmlformats.org/officeDocument/2006/relationships/tags" Target="../tags/tag111.xml"/><Relationship Id="rId45" Type="http://schemas.openxmlformats.org/officeDocument/2006/relationships/tags" Target="../tags/tag116.xml"/><Relationship Id="rId53" Type="http://schemas.openxmlformats.org/officeDocument/2006/relationships/image" Target="../media/image39.png"/><Relationship Id="rId5" Type="http://schemas.openxmlformats.org/officeDocument/2006/relationships/tags" Target="../tags/tag76.xml"/><Relationship Id="rId10" Type="http://schemas.openxmlformats.org/officeDocument/2006/relationships/tags" Target="../tags/tag81.xml"/><Relationship Id="rId19" Type="http://schemas.openxmlformats.org/officeDocument/2006/relationships/tags" Target="../tags/tag90.xml"/><Relationship Id="rId31" Type="http://schemas.openxmlformats.org/officeDocument/2006/relationships/tags" Target="../tags/tag102.xml"/><Relationship Id="rId44" Type="http://schemas.openxmlformats.org/officeDocument/2006/relationships/tags" Target="../tags/tag115.xml"/><Relationship Id="rId52" Type="http://schemas.openxmlformats.org/officeDocument/2006/relationships/image" Target="../media/image38.png"/><Relationship Id="rId4" Type="http://schemas.openxmlformats.org/officeDocument/2006/relationships/tags" Target="../tags/tag75.xml"/><Relationship Id="rId9" Type="http://schemas.openxmlformats.org/officeDocument/2006/relationships/tags" Target="../tags/tag80.xml"/><Relationship Id="rId14" Type="http://schemas.openxmlformats.org/officeDocument/2006/relationships/tags" Target="../tags/tag85.xml"/><Relationship Id="rId22" Type="http://schemas.openxmlformats.org/officeDocument/2006/relationships/tags" Target="../tags/tag93.xml"/><Relationship Id="rId27" Type="http://schemas.openxmlformats.org/officeDocument/2006/relationships/tags" Target="../tags/tag98.xml"/><Relationship Id="rId30" Type="http://schemas.openxmlformats.org/officeDocument/2006/relationships/tags" Target="../tags/tag101.xml"/><Relationship Id="rId35" Type="http://schemas.openxmlformats.org/officeDocument/2006/relationships/tags" Target="../tags/tag106.xml"/><Relationship Id="rId43" Type="http://schemas.openxmlformats.org/officeDocument/2006/relationships/tags" Target="../tags/tag114.xml"/><Relationship Id="rId48" Type="http://schemas.openxmlformats.org/officeDocument/2006/relationships/image" Target="../media/image34.png"/><Relationship Id="rId8" Type="http://schemas.openxmlformats.org/officeDocument/2006/relationships/tags" Target="../tags/tag79.xml"/><Relationship Id="rId51" Type="http://schemas.openxmlformats.org/officeDocument/2006/relationships/image" Target="../media/image37.png"/><Relationship Id="rId3" Type="http://schemas.openxmlformats.org/officeDocument/2006/relationships/tags" Target="../tags/tag74.xml"/><Relationship Id="rId12" Type="http://schemas.openxmlformats.org/officeDocument/2006/relationships/tags" Target="../tags/tag83.xml"/><Relationship Id="rId17" Type="http://schemas.openxmlformats.org/officeDocument/2006/relationships/tags" Target="../tags/tag88.xml"/><Relationship Id="rId25" Type="http://schemas.openxmlformats.org/officeDocument/2006/relationships/tags" Target="../tags/tag96.xml"/><Relationship Id="rId33" Type="http://schemas.openxmlformats.org/officeDocument/2006/relationships/tags" Target="../tags/tag104.xml"/><Relationship Id="rId38" Type="http://schemas.openxmlformats.org/officeDocument/2006/relationships/tags" Target="../tags/tag109.xml"/><Relationship Id="rId46" Type="http://schemas.openxmlformats.org/officeDocument/2006/relationships/slideLayout" Target="../slideLayouts/slideLayout24.xml"/><Relationship Id="rId20" Type="http://schemas.openxmlformats.org/officeDocument/2006/relationships/tags" Target="../tags/tag91.xml"/><Relationship Id="rId41" Type="http://schemas.openxmlformats.org/officeDocument/2006/relationships/tags" Target="../tags/tag112.xml"/><Relationship Id="rId1" Type="http://schemas.openxmlformats.org/officeDocument/2006/relationships/tags" Target="../tags/tag72.xml"/><Relationship Id="rId6" Type="http://schemas.openxmlformats.org/officeDocument/2006/relationships/tags" Target="../tags/tag77.xml"/><Relationship Id="rId15" Type="http://schemas.openxmlformats.org/officeDocument/2006/relationships/tags" Target="../tags/tag86.xml"/><Relationship Id="rId23" Type="http://schemas.openxmlformats.org/officeDocument/2006/relationships/tags" Target="../tags/tag94.xml"/><Relationship Id="rId28" Type="http://schemas.openxmlformats.org/officeDocument/2006/relationships/tags" Target="../tags/tag99.xml"/><Relationship Id="rId36" Type="http://schemas.openxmlformats.org/officeDocument/2006/relationships/tags" Target="../tags/tag107.xml"/><Relationship Id="rId49" Type="http://schemas.openxmlformats.org/officeDocument/2006/relationships/image" Target="../media/image35.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tags" Target="../tags/tag118.xml"/><Relationship Id="rId1" Type="http://schemas.openxmlformats.org/officeDocument/2006/relationships/tags" Target="../tags/tag117.xml"/><Relationship Id="rId5" Type="http://schemas.openxmlformats.org/officeDocument/2006/relationships/image" Target="../media/image40.emf"/><Relationship Id="rId4" Type="http://schemas.openxmlformats.org/officeDocument/2006/relationships/oleObject" Target="../embeddings/oleObject13.bin"/></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tags" Target="../tags/tag120.xml"/><Relationship Id="rId1" Type="http://schemas.openxmlformats.org/officeDocument/2006/relationships/tags" Target="../tags/tag119.xml"/><Relationship Id="rId6" Type="http://schemas.openxmlformats.org/officeDocument/2006/relationships/image" Target="../media/image41.emf"/><Relationship Id="rId5" Type="http://schemas.openxmlformats.org/officeDocument/2006/relationships/oleObject" Target="../embeddings/oleObject14.bin"/><Relationship Id="rId4"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tags" Target="../tags/tag122.xml"/><Relationship Id="rId1" Type="http://schemas.openxmlformats.org/officeDocument/2006/relationships/tags" Target="../tags/tag121.xml"/><Relationship Id="rId5" Type="http://schemas.openxmlformats.org/officeDocument/2006/relationships/image" Target="../media/image40.emf"/><Relationship Id="rId4" Type="http://schemas.openxmlformats.org/officeDocument/2006/relationships/oleObject" Target="../embeddings/oleObject15.bin"/></Relationships>
</file>

<file path=ppt/slides/_rels/slide10.xml.rels><?xml version="1.0" encoding="UTF-8" standalone="yes"?>
<Relationships xmlns="http://schemas.openxmlformats.org/package/2006/relationships"><Relationship Id="rId3" Type="http://schemas.openxmlformats.org/officeDocument/2006/relationships/tags" Target="../tags/tag125.xml"/><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image" Target="../media/image40.emf"/><Relationship Id="rId5" Type="http://schemas.openxmlformats.org/officeDocument/2006/relationships/oleObject" Target="../embeddings/oleObject16.bin"/><Relationship Id="rId4"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3" Type="http://schemas.openxmlformats.org/officeDocument/2006/relationships/tags" Target="../tags/tag128.xml"/><Relationship Id="rId7" Type="http://schemas.openxmlformats.org/officeDocument/2006/relationships/image" Target="../media/image1.emf"/><Relationship Id="rId2" Type="http://schemas.openxmlformats.org/officeDocument/2006/relationships/tags" Target="../tags/tag127.xml"/><Relationship Id="rId1" Type="http://schemas.openxmlformats.org/officeDocument/2006/relationships/tags" Target="../tags/tag126.xml"/><Relationship Id="rId6" Type="http://schemas.openxmlformats.org/officeDocument/2006/relationships/oleObject" Target="../embeddings/oleObject17.bin"/><Relationship Id="rId5" Type="http://schemas.openxmlformats.org/officeDocument/2006/relationships/notesSlide" Target="../notesSlides/notesSlide3.xml"/><Relationship Id="rId4"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image" Target="../media/image1.emf"/><Relationship Id="rId5" Type="http://schemas.openxmlformats.org/officeDocument/2006/relationships/oleObject" Target="../embeddings/oleObject18.bin"/><Relationship Id="rId4"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34.xml"/><Relationship Id="rId7" Type="http://schemas.openxmlformats.org/officeDocument/2006/relationships/oleObject" Target="../embeddings/oleObject19.bin"/><Relationship Id="rId2" Type="http://schemas.openxmlformats.org/officeDocument/2006/relationships/tags" Target="../tags/tag133.xml"/><Relationship Id="rId1" Type="http://schemas.openxmlformats.org/officeDocument/2006/relationships/tags" Target="../tags/tag132.xml"/><Relationship Id="rId6" Type="http://schemas.openxmlformats.org/officeDocument/2006/relationships/notesSlide" Target="../notesSlides/notesSlide4.xml"/><Relationship Id="rId5" Type="http://schemas.openxmlformats.org/officeDocument/2006/relationships/slideLayout" Target="../slideLayouts/slideLayout27.xml"/><Relationship Id="rId10" Type="http://schemas.openxmlformats.org/officeDocument/2006/relationships/image" Target="../media/image42.emf"/><Relationship Id="rId4" Type="http://schemas.openxmlformats.org/officeDocument/2006/relationships/tags" Target="../tags/tag135.xml"/><Relationship Id="rId9" Type="http://schemas.openxmlformats.org/officeDocument/2006/relationships/oleObject" Target="../embeddings/oleObject20.bin"/></Relationships>
</file>

<file path=ppt/slides/_rels/slide14.xml.rels><?xml version="1.0" encoding="UTF-8" standalone="yes"?>
<Relationships xmlns="http://schemas.openxmlformats.org/package/2006/relationships"><Relationship Id="rId3" Type="http://schemas.openxmlformats.org/officeDocument/2006/relationships/tags" Target="../tags/tag138.xml"/><Relationship Id="rId2" Type="http://schemas.openxmlformats.org/officeDocument/2006/relationships/tags" Target="../tags/tag137.xml"/><Relationship Id="rId1" Type="http://schemas.openxmlformats.org/officeDocument/2006/relationships/tags" Target="../tags/tag136.xml"/><Relationship Id="rId6" Type="http://schemas.openxmlformats.org/officeDocument/2006/relationships/image" Target="../media/image1.emf"/><Relationship Id="rId5" Type="http://schemas.openxmlformats.org/officeDocument/2006/relationships/oleObject" Target="../embeddings/oleObject21.bin"/><Relationship Id="rId4"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3" Type="http://schemas.openxmlformats.org/officeDocument/2006/relationships/tags" Target="../tags/tag141.xml"/><Relationship Id="rId2" Type="http://schemas.openxmlformats.org/officeDocument/2006/relationships/tags" Target="../tags/tag140.xml"/><Relationship Id="rId1" Type="http://schemas.openxmlformats.org/officeDocument/2006/relationships/tags" Target="../tags/tag139.xml"/><Relationship Id="rId6" Type="http://schemas.openxmlformats.org/officeDocument/2006/relationships/image" Target="../media/image1.emf"/><Relationship Id="rId5" Type="http://schemas.openxmlformats.org/officeDocument/2006/relationships/oleObject" Target="../embeddings/oleObject21.bin"/><Relationship Id="rId4"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3" Type="http://schemas.openxmlformats.org/officeDocument/2006/relationships/tags" Target="../tags/tag144.xml"/><Relationship Id="rId2" Type="http://schemas.openxmlformats.org/officeDocument/2006/relationships/tags" Target="../tags/tag143.xml"/><Relationship Id="rId1" Type="http://schemas.openxmlformats.org/officeDocument/2006/relationships/tags" Target="../tags/tag142.xml"/><Relationship Id="rId6" Type="http://schemas.openxmlformats.org/officeDocument/2006/relationships/image" Target="../media/image1.emf"/><Relationship Id="rId5" Type="http://schemas.openxmlformats.org/officeDocument/2006/relationships/oleObject" Target="../embeddings/oleObject21.bin"/><Relationship Id="rId4"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6" Type="http://schemas.openxmlformats.org/officeDocument/2006/relationships/tags" Target="../tags/tag170.xml"/><Relationship Id="rId21" Type="http://schemas.openxmlformats.org/officeDocument/2006/relationships/tags" Target="../tags/tag165.xml"/><Relationship Id="rId42" Type="http://schemas.openxmlformats.org/officeDocument/2006/relationships/tags" Target="../tags/tag186.xml"/><Relationship Id="rId47" Type="http://schemas.openxmlformats.org/officeDocument/2006/relationships/tags" Target="../tags/tag191.xml"/><Relationship Id="rId63" Type="http://schemas.openxmlformats.org/officeDocument/2006/relationships/tags" Target="../tags/tag207.xml"/><Relationship Id="rId68" Type="http://schemas.openxmlformats.org/officeDocument/2006/relationships/tags" Target="../tags/tag212.xml"/><Relationship Id="rId16" Type="http://schemas.openxmlformats.org/officeDocument/2006/relationships/tags" Target="../tags/tag160.xml"/><Relationship Id="rId11" Type="http://schemas.openxmlformats.org/officeDocument/2006/relationships/tags" Target="../tags/tag155.xml"/><Relationship Id="rId24" Type="http://schemas.openxmlformats.org/officeDocument/2006/relationships/tags" Target="../tags/tag168.xml"/><Relationship Id="rId32" Type="http://schemas.openxmlformats.org/officeDocument/2006/relationships/tags" Target="../tags/tag176.xml"/><Relationship Id="rId37" Type="http://schemas.openxmlformats.org/officeDocument/2006/relationships/tags" Target="../tags/tag181.xml"/><Relationship Id="rId40" Type="http://schemas.openxmlformats.org/officeDocument/2006/relationships/tags" Target="../tags/tag184.xml"/><Relationship Id="rId45" Type="http://schemas.openxmlformats.org/officeDocument/2006/relationships/tags" Target="../tags/tag189.xml"/><Relationship Id="rId53" Type="http://schemas.openxmlformats.org/officeDocument/2006/relationships/tags" Target="../tags/tag197.xml"/><Relationship Id="rId58" Type="http://schemas.openxmlformats.org/officeDocument/2006/relationships/tags" Target="../tags/tag202.xml"/><Relationship Id="rId66" Type="http://schemas.openxmlformats.org/officeDocument/2006/relationships/tags" Target="../tags/tag210.xml"/><Relationship Id="rId74" Type="http://schemas.openxmlformats.org/officeDocument/2006/relationships/tags" Target="../tags/tag218.xml"/><Relationship Id="rId5" Type="http://schemas.openxmlformats.org/officeDocument/2006/relationships/tags" Target="../tags/tag149.xml"/><Relationship Id="rId61" Type="http://schemas.openxmlformats.org/officeDocument/2006/relationships/tags" Target="../tags/tag205.xml"/><Relationship Id="rId19" Type="http://schemas.openxmlformats.org/officeDocument/2006/relationships/tags" Target="../tags/tag163.xml"/><Relationship Id="rId14" Type="http://schemas.openxmlformats.org/officeDocument/2006/relationships/tags" Target="../tags/tag158.xml"/><Relationship Id="rId22" Type="http://schemas.openxmlformats.org/officeDocument/2006/relationships/tags" Target="../tags/tag166.xml"/><Relationship Id="rId27" Type="http://schemas.openxmlformats.org/officeDocument/2006/relationships/tags" Target="../tags/tag171.xml"/><Relationship Id="rId30" Type="http://schemas.openxmlformats.org/officeDocument/2006/relationships/tags" Target="../tags/tag174.xml"/><Relationship Id="rId35" Type="http://schemas.openxmlformats.org/officeDocument/2006/relationships/tags" Target="../tags/tag179.xml"/><Relationship Id="rId43" Type="http://schemas.openxmlformats.org/officeDocument/2006/relationships/tags" Target="../tags/tag187.xml"/><Relationship Id="rId48" Type="http://schemas.openxmlformats.org/officeDocument/2006/relationships/tags" Target="../tags/tag192.xml"/><Relationship Id="rId56" Type="http://schemas.openxmlformats.org/officeDocument/2006/relationships/tags" Target="../tags/tag200.xml"/><Relationship Id="rId64" Type="http://schemas.openxmlformats.org/officeDocument/2006/relationships/tags" Target="../tags/tag208.xml"/><Relationship Id="rId69" Type="http://schemas.openxmlformats.org/officeDocument/2006/relationships/tags" Target="../tags/tag213.xml"/><Relationship Id="rId77" Type="http://schemas.openxmlformats.org/officeDocument/2006/relationships/slideLayout" Target="../slideLayouts/slideLayout24.xml"/><Relationship Id="rId8" Type="http://schemas.openxmlformats.org/officeDocument/2006/relationships/tags" Target="../tags/tag152.xml"/><Relationship Id="rId51" Type="http://schemas.openxmlformats.org/officeDocument/2006/relationships/tags" Target="../tags/tag195.xml"/><Relationship Id="rId72" Type="http://schemas.openxmlformats.org/officeDocument/2006/relationships/tags" Target="../tags/tag216.xml"/><Relationship Id="rId3" Type="http://schemas.openxmlformats.org/officeDocument/2006/relationships/tags" Target="../tags/tag147.xml"/><Relationship Id="rId12" Type="http://schemas.openxmlformats.org/officeDocument/2006/relationships/tags" Target="../tags/tag156.xml"/><Relationship Id="rId17" Type="http://schemas.openxmlformats.org/officeDocument/2006/relationships/tags" Target="../tags/tag161.xml"/><Relationship Id="rId25" Type="http://schemas.openxmlformats.org/officeDocument/2006/relationships/tags" Target="../tags/tag169.xml"/><Relationship Id="rId33" Type="http://schemas.openxmlformats.org/officeDocument/2006/relationships/tags" Target="../tags/tag177.xml"/><Relationship Id="rId38" Type="http://schemas.openxmlformats.org/officeDocument/2006/relationships/tags" Target="../tags/tag182.xml"/><Relationship Id="rId46" Type="http://schemas.openxmlformats.org/officeDocument/2006/relationships/tags" Target="../tags/tag190.xml"/><Relationship Id="rId59" Type="http://schemas.openxmlformats.org/officeDocument/2006/relationships/tags" Target="../tags/tag203.xml"/><Relationship Id="rId67" Type="http://schemas.openxmlformats.org/officeDocument/2006/relationships/tags" Target="../tags/tag211.xml"/><Relationship Id="rId20" Type="http://schemas.openxmlformats.org/officeDocument/2006/relationships/tags" Target="../tags/tag164.xml"/><Relationship Id="rId41" Type="http://schemas.openxmlformats.org/officeDocument/2006/relationships/tags" Target="../tags/tag185.xml"/><Relationship Id="rId54" Type="http://schemas.openxmlformats.org/officeDocument/2006/relationships/tags" Target="../tags/tag198.xml"/><Relationship Id="rId62" Type="http://schemas.openxmlformats.org/officeDocument/2006/relationships/tags" Target="../tags/tag206.xml"/><Relationship Id="rId70" Type="http://schemas.openxmlformats.org/officeDocument/2006/relationships/tags" Target="../tags/tag214.xml"/><Relationship Id="rId75" Type="http://schemas.openxmlformats.org/officeDocument/2006/relationships/tags" Target="../tags/tag219.xml"/><Relationship Id="rId1" Type="http://schemas.openxmlformats.org/officeDocument/2006/relationships/tags" Target="../tags/tag145.xml"/><Relationship Id="rId6" Type="http://schemas.openxmlformats.org/officeDocument/2006/relationships/tags" Target="../tags/tag150.xml"/><Relationship Id="rId15" Type="http://schemas.openxmlformats.org/officeDocument/2006/relationships/tags" Target="../tags/tag159.xml"/><Relationship Id="rId23" Type="http://schemas.openxmlformats.org/officeDocument/2006/relationships/tags" Target="../tags/tag167.xml"/><Relationship Id="rId28" Type="http://schemas.openxmlformats.org/officeDocument/2006/relationships/tags" Target="../tags/tag172.xml"/><Relationship Id="rId36" Type="http://schemas.openxmlformats.org/officeDocument/2006/relationships/tags" Target="../tags/tag180.xml"/><Relationship Id="rId49" Type="http://schemas.openxmlformats.org/officeDocument/2006/relationships/tags" Target="../tags/tag193.xml"/><Relationship Id="rId57" Type="http://schemas.openxmlformats.org/officeDocument/2006/relationships/tags" Target="../tags/tag201.xml"/><Relationship Id="rId10" Type="http://schemas.openxmlformats.org/officeDocument/2006/relationships/tags" Target="../tags/tag154.xml"/><Relationship Id="rId31" Type="http://schemas.openxmlformats.org/officeDocument/2006/relationships/tags" Target="../tags/tag175.xml"/><Relationship Id="rId44" Type="http://schemas.openxmlformats.org/officeDocument/2006/relationships/tags" Target="../tags/tag188.xml"/><Relationship Id="rId52" Type="http://schemas.openxmlformats.org/officeDocument/2006/relationships/tags" Target="../tags/tag196.xml"/><Relationship Id="rId60" Type="http://schemas.openxmlformats.org/officeDocument/2006/relationships/tags" Target="../tags/tag204.xml"/><Relationship Id="rId65" Type="http://schemas.openxmlformats.org/officeDocument/2006/relationships/tags" Target="../tags/tag209.xml"/><Relationship Id="rId73" Type="http://schemas.openxmlformats.org/officeDocument/2006/relationships/tags" Target="../tags/tag217.xml"/><Relationship Id="rId78" Type="http://schemas.openxmlformats.org/officeDocument/2006/relationships/notesSlide" Target="../notesSlides/notesSlide5.xml"/><Relationship Id="rId4" Type="http://schemas.openxmlformats.org/officeDocument/2006/relationships/tags" Target="../tags/tag148.xml"/><Relationship Id="rId9" Type="http://schemas.openxmlformats.org/officeDocument/2006/relationships/tags" Target="../tags/tag153.xml"/><Relationship Id="rId13" Type="http://schemas.openxmlformats.org/officeDocument/2006/relationships/tags" Target="../tags/tag157.xml"/><Relationship Id="rId18" Type="http://schemas.openxmlformats.org/officeDocument/2006/relationships/tags" Target="../tags/tag162.xml"/><Relationship Id="rId39" Type="http://schemas.openxmlformats.org/officeDocument/2006/relationships/tags" Target="../tags/tag183.xml"/><Relationship Id="rId34" Type="http://schemas.openxmlformats.org/officeDocument/2006/relationships/tags" Target="../tags/tag178.xml"/><Relationship Id="rId50" Type="http://schemas.openxmlformats.org/officeDocument/2006/relationships/tags" Target="../tags/tag194.xml"/><Relationship Id="rId55" Type="http://schemas.openxmlformats.org/officeDocument/2006/relationships/tags" Target="../tags/tag199.xml"/><Relationship Id="rId76" Type="http://schemas.openxmlformats.org/officeDocument/2006/relationships/tags" Target="../tags/tag220.xml"/><Relationship Id="rId7" Type="http://schemas.openxmlformats.org/officeDocument/2006/relationships/tags" Target="../tags/tag151.xml"/><Relationship Id="rId71" Type="http://schemas.openxmlformats.org/officeDocument/2006/relationships/tags" Target="../tags/tag215.xml"/><Relationship Id="rId2" Type="http://schemas.openxmlformats.org/officeDocument/2006/relationships/tags" Target="../tags/tag146.xml"/><Relationship Id="rId29" Type="http://schemas.openxmlformats.org/officeDocument/2006/relationships/tags" Target="../tags/tag173.xml"/></Relationships>
</file>

<file path=ppt/slides/_rels/slide21.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7.svg"/><Relationship Id="rId3" Type="http://schemas.openxmlformats.org/officeDocument/2006/relationships/image" Target="../media/image47.svg"/><Relationship Id="rId7" Type="http://schemas.openxmlformats.org/officeDocument/2006/relationships/image" Target="../media/image51.svg"/><Relationship Id="rId12" Type="http://schemas.openxmlformats.org/officeDocument/2006/relationships/image" Target="../media/image56.png"/><Relationship Id="rId2" Type="http://schemas.openxmlformats.org/officeDocument/2006/relationships/image" Target="../media/image46.png"/><Relationship Id="rId1" Type="http://schemas.openxmlformats.org/officeDocument/2006/relationships/slideLayout" Target="../slideLayouts/slideLayout24.xml"/><Relationship Id="rId6" Type="http://schemas.openxmlformats.org/officeDocument/2006/relationships/image" Target="../media/image50.png"/><Relationship Id="rId11" Type="http://schemas.openxmlformats.org/officeDocument/2006/relationships/image" Target="../media/image55.svg"/><Relationship Id="rId5" Type="http://schemas.openxmlformats.org/officeDocument/2006/relationships/image" Target="../media/image49.sv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sv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9.xml"/><Relationship Id="rId1" Type="http://schemas.openxmlformats.org/officeDocument/2006/relationships/tags" Target="../tags/tag221.xml"/><Relationship Id="rId4" Type="http://schemas.openxmlformats.org/officeDocument/2006/relationships/image" Target="../media/image32.jpeg"/></Relationships>
</file>

<file path=ppt/slides/_rels/slide2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47.xml"/><Relationship Id="rId4" Type="http://schemas.openxmlformats.org/officeDocument/2006/relationships/image" Target="../media/image60.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7.xml"/></Relationships>
</file>

<file path=ppt/slides/_rels/slide27.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8.xml"/><Relationship Id="rId1" Type="http://schemas.openxmlformats.org/officeDocument/2006/relationships/slideLayout" Target="../slideLayouts/slideLayout147.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9.xml"/><Relationship Id="rId1" Type="http://schemas.openxmlformats.org/officeDocument/2006/relationships/tags" Target="../tags/tag222.xml"/><Relationship Id="rId4" Type="http://schemas.openxmlformats.org/officeDocument/2006/relationships/image" Target="../media/image32.jpeg"/></Relationships>
</file>

<file path=ppt/slides/_rels/slide29.xml.rels><?xml version="1.0" encoding="UTF-8" standalone="yes"?>
<Relationships xmlns="http://schemas.openxmlformats.org/package/2006/relationships"><Relationship Id="rId8" Type="http://schemas.openxmlformats.org/officeDocument/2006/relationships/image" Target="../media/image62.jpeg"/><Relationship Id="rId3" Type="http://schemas.openxmlformats.org/officeDocument/2006/relationships/tags" Target="../tags/tag225.xml"/><Relationship Id="rId7" Type="http://schemas.openxmlformats.org/officeDocument/2006/relationships/notesSlide" Target="../notesSlides/notesSlide10.xml"/><Relationship Id="rId2" Type="http://schemas.openxmlformats.org/officeDocument/2006/relationships/tags" Target="../tags/tag224.xml"/><Relationship Id="rId1" Type="http://schemas.openxmlformats.org/officeDocument/2006/relationships/tags" Target="../tags/tag223.xml"/><Relationship Id="rId6" Type="http://schemas.openxmlformats.org/officeDocument/2006/relationships/slideLayout" Target="../slideLayouts/slideLayout147.xml"/><Relationship Id="rId5" Type="http://schemas.openxmlformats.org/officeDocument/2006/relationships/tags" Target="../tags/tag227.xml"/><Relationship Id="rId4" Type="http://schemas.openxmlformats.org/officeDocument/2006/relationships/tags" Target="../tags/tag226.xml"/></Relationships>
</file>

<file path=ppt/slides/_rels/slide3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1.xml"/><Relationship Id="rId1" Type="http://schemas.openxmlformats.org/officeDocument/2006/relationships/slideLayout" Target="../slideLayouts/slideLayout147.xml"/><Relationship Id="rId4" Type="http://schemas.openxmlformats.org/officeDocument/2006/relationships/image" Target="../media/image64.png"/></Relationships>
</file>

<file path=ppt/slides/_rels/slide31.xml.rels><?xml version="1.0" encoding="UTF-8" standalone="yes"?>
<Relationships xmlns="http://schemas.openxmlformats.org/package/2006/relationships"><Relationship Id="rId8" Type="http://schemas.openxmlformats.org/officeDocument/2006/relationships/image" Target="../media/image62.jpeg"/><Relationship Id="rId3" Type="http://schemas.openxmlformats.org/officeDocument/2006/relationships/tags" Target="../tags/tag230.xml"/><Relationship Id="rId7" Type="http://schemas.openxmlformats.org/officeDocument/2006/relationships/notesSlide" Target="../notesSlides/notesSlide12.xml"/><Relationship Id="rId2" Type="http://schemas.openxmlformats.org/officeDocument/2006/relationships/tags" Target="../tags/tag229.xml"/><Relationship Id="rId1" Type="http://schemas.openxmlformats.org/officeDocument/2006/relationships/tags" Target="../tags/tag228.xml"/><Relationship Id="rId6" Type="http://schemas.openxmlformats.org/officeDocument/2006/relationships/slideLayout" Target="../slideLayouts/slideLayout147.xml"/><Relationship Id="rId5" Type="http://schemas.openxmlformats.org/officeDocument/2006/relationships/tags" Target="../tags/tag232.xml"/><Relationship Id="rId4" Type="http://schemas.openxmlformats.org/officeDocument/2006/relationships/tags" Target="../tags/tag231.xml"/></Relationships>
</file>

<file path=ppt/slides/_rels/slide32.xml.rels><?xml version="1.0" encoding="UTF-8" standalone="yes"?>
<Relationships xmlns="http://schemas.openxmlformats.org/package/2006/relationships"><Relationship Id="rId8" Type="http://schemas.openxmlformats.org/officeDocument/2006/relationships/tags" Target="../tags/tag240.xml"/><Relationship Id="rId13" Type="http://schemas.openxmlformats.org/officeDocument/2006/relationships/tags" Target="../tags/tag245.xml"/><Relationship Id="rId18" Type="http://schemas.openxmlformats.org/officeDocument/2006/relationships/tags" Target="../tags/tag250.xml"/><Relationship Id="rId3" Type="http://schemas.openxmlformats.org/officeDocument/2006/relationships/tags" Target="../tags/tag235.xml"/><Relationship Id="rId21" Type="http://schemas.openxmlformats.org/officeDocument/2006/relationships/notesSlide" Target="../notesSlides/notesSlide13.xml"/><Relationship Id="rId7" Type="http://schemas.openxmlformats.org/officeDocument/2006/relationships/tags" Target="../tags/tag239.xml"/><Relationship Id="rId12" Type="http://schemas.openxmlformats.org/officeDocument/2006/relationships/tags" Target="../tags/tag244.xml"/><Relationship Id="rId17" Type="http://schemas.openxmlformats.org/officeDocument/2006/relationships/tags" Target="../tags/tag249.xml"/><Relationship Id="rId2" Type="http://schemas.openxmlformats.org/officeDocument/2006/relationships/tags" Target="../tags/tag234.xml"/><Relationship Id="rId16" Type="http://schemas.openxmlformats.org/officeDocument/2006/relationships/tags" Target="../tags/tag248.xml"/><Relationship Id="rId20" Type="http://schemas.openxmlformats.org/officeDocument/2006/relationships/slideLayout" Target="../slideLayouts/slideLayout147.xml"/><Relationship Id="rId1" Type="http://schemas.openxmlformats.org/officeDocument/2006/relationships/tags" Target="../tags/tag233.xml"/><Relationship Id="rId6" Type="http://schemas.openxmlformats.org/officeDocument/2006/relationships/tags" Target="../tags/tag238.xml"/><Relationship Id="rId11" Type="http://schemas.openxmlformats.org/officeDocument/2006/relationships/tags" Target="../tags/tag243.xml"/><Relationship Id="rId5" Type="http://schemas.openxmlformats.org/officeDocument/2006/relationships/tags" Target="../tags/tag237.xml"/><Relationship Id="rId15" Type="http://schemas.openxmlformats.org/officeDocument/2006/relationships/tags" Target="../tags/tag247.xml"/><Relationship Id="rId10" Type="http://schemas.openxmlformats.org/officeDocument/2006/relationships/tags" Target="../tags/tag242.xml"/><Relationship Id="rId19" Type="http://schemas.openxmlformats.org/officeDocument/2006/relationships/tags" Target="../tags/tag251.xml"/><Relationship Id="rId4" Type="http://schemas.openxmlformats.org/officeDocument/2006/relationships/tags" Target="../tags/tag236.xml"/><Relationship Id="rId9" Type="http://schemas.openxmlformats.org/officeDocument/2006/relationships/tags" Target="../tags/tag241.xml"/><Relationship Id="rId14" Type="http://schemas.openxmlformats.org/officeDocument/2006/relationships/tags" Target="../tags/tag24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B0050"/>
        </a:solidFill>
        <a:effectLst/>
      </p:bgPr>
    </p:bg>
    <p:spTree>
      <p:nvGrpSpPr>
        <p:cNvPr id="1" name=""/>
        <p:cNvGrpSpPr/>
        <p:nvPr/>
      </p:nvGrpSpPr>
      <p:grpSpPr>
        <a:xfrm>
          <a:off x="0" y="0"/>
          <a:ext cx="0" cy="0"/>
          <a:chOff x="0" y="0"/>
          <a:chExt cx="0" cy="0"/>
        </a:xfrm>
      </p:grpSpPr>
      <p:sp>
        <p:nvSpPr>
          <p:cNvPr id="12" name="Subtitle 1">
            <a:extLst>
              <a:ext uri="{FF2B5EF4-FFF2-40B4-BE49-F238E27FC236}">
                <a16:creationId xmlns:a16="http://schemas.microsoft.com/office/drawing/2014/main" id="{F4F87E10-2948-EA05-5915-992ECED553C3}"/>
              </a:ext>
            </a:extLst>
          </p:cNvPr>
          <p:cNvSpPr txBox="1">
            <a:spLocks/>
          </p:cNvSpPr>
          <p:nvPr/>
        </p:nvSpPr>
        <p:spPr>
          <a:xfrm>
            <a:off x="404813" y="4962612"/>
            <a:ext cx="11386134" cy="184666"/>
          </a:xfrm>
          <a:prstGeom prst="rect">
            <a:avLst/>
          </a:prstGeom>
        </p:spPr>
        <p:txBody>
          <a:bodyPr vert="horz" wrap="square" lIns="36000" tIns="0" rIns="36000" bIns="0" rtlCol="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bg1"/>
                </a:solidFill>
                <a:latin typeface="Ubuntu" panose="020B0504030602030204" pitchFamily="34" charset="0"/>
                <a:ea typeface="+mn-ea"/>
                <a:cs typeface="+mn-cs"/>
              </a:defRPr>
            </a:lvl1pPr>
            <a:lvl2pPr marL="457200" indent="0" algn="ctr" defTabSz="914400" rtl="0" eaLnBrk="1" latinLnBrk="0" hangingPunct="1">
              <a:lnSpc>
                <a:spcPct val="100000"/>
              </a:lnSpc>
              <a:spcBef>
                <a:spcPts val="0"/>
              </a:spcBef>
              <a:spcAft>
                <a:spcPts val="600"/>
              </a:spcAft>
              <a:buClr>
                <a:schemeClr val="accent1"/>
              </a:buClr>
              <a:buFont typeface="Wingdings" panose="05000000000000000000" pitchFamily="2" charset="2"/>
              <a:buNone/>
              <a:defRPr sz="2000" kern="1200" baseline="0">
                <a:solidFill>
                  <a:schemeClr val="tx1"/>
                </a:solidFill>
                <a:latin typeface="Ubuntu" panose="020B0504030602030204" pitchFamily="34" charset="0"/>
                <a:ea typeface="+mn-ea"/>
                <a:cs typeface="+mn-cs"/>
              </a:defRPr>
            </a:lvl2pPr>
            <a:lvl3pPr marL="914400" indent="0" algn="ctr" defTabSz="914400" rtl="0" eaLnBrk="1" latinLnBrk="0" hangingPunct="1">
              <a:lnSpc>
                <a:spcPct val="100000"/>
              </a:lnSpc>
              <a:spcBef>
                <a:spcPts val="0"/>
              </a:spcBef>
              <a:spcAft>
                <a:spcPts val="600"/>
              </a:spcAft>
              <a:buClr>
                <a:schemeClr val="accent2"/>
              </a:buClr>
              <a:buFont typeface="Arial" panose="020B0604020202020204" pitchFamily="34" charset="0"/>
              <a:buNone/>
              <a:defRPr sz="1800" kern="1200" baseline="0">
                <a:solidFill>
                  <a:schemeClr val="tx1"/>
                </a:solidFill>
                <a:latin typeface="Ubuntu" panose="020B0504030602030204" pitchFamily="34" charset="0"/>
                <a:ea typeface="+mn-ea"/>
                <a:cs typeface="+mn-cs"/>
              </a:defRPr>
            </a:lvl3pPr>
            <a:lvl4pPr marL="1371600" indent="0" algn="ctr" defTabSz="914400" rtl="0" eaLnBrk="1" latinLnBrk="0" hangingPunct="1">
              <a:lnSpc>
                <a:spcPct val="100000"/>
              </a:lnSpc>
              <a:spcBef>
                <a:spcPts val="0"/>
              </a:spcBef>
              <a:spcAft>
                <a:spcPts val="600"/>
              </a:spcAft>
              <a:buClr>
                <a:schemeClr val="tx1"/>
              </a:buClr>
              <a:buFont typeface="Ubuntu" panose="020B0504030602030204" pitchFamily="34" charset="0"/>
              <a:buNone/>
              <a:defRPr sz="1600" kern="1200" baseline="0">
                <a:solidFill>
                  <a:schemeClr val="tx1"/>
                </a:solidFill>
                <a:latin typeface="Ubuntu" panose="020B0504030602030204" pitchFamily="34" charset="0"/>
                <a:ea typeface="+mn-ea"/>
                <a:cs typeface="+mn-cs"/>
              </a:defRPr>
            </a:lvl4pPr>
            <a:lvl5pPr marL="1828800" indent="0" algn="ctr"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baseline="0">
                <a:solidFill>
                  <a:schemeClr val="tx1"/>
                </a:solidFill>
                <a:latin typeface="Ubuntu" panose="020B050403060203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Aft>
                <a:spcPts val="0"/>
              </a:spcAft>
            </a:pPr>
            <a:r>
              <a:rPr lang="en-IN" sz="1200"/>
              <a:t>Drafted: Apr-2024</a:t>
            </a:r>
          </a:p>
        </p:txBody>
      </p:sp>
      <p:sp>
        <p:nvSpPr>
          <p:cNvPr id="16" name="Freeform: Shape 15">
            <a:extLst>
              <a:ext uri="{FF2B5EF4-FFF2-40B4-BE49-F238E27FC236}">
                <a16:creationId xmlns:a16="http://schemas.microsoft.com/office/drawing/2014/main" id="{94BC40A8-6EF0-89EA-9B54-7AF72BF22B10}"/>
              </a:ext>
            </a:extLst>
          </p:cNvPr>
          <p:cNvSpPr>
            <a:spLocks noChangeAspect="1"/>
          </p:cNvSpPr>
          <p:nvPr/>
        </p:nvSpPr>
        <p:spPr>
          <a:xfrm rot="13950190">
            <a:off x="1423243" y="172591"/>
            <a:ext cx="12000656" cy="7484434"/>
          </a:xfrm>
          <a:custGeom>
            <a:avLst/>
            <a:gdLst>
              <a:gd name="connsiteX0" fmla="*/ 5616388 w 12000656"/>
              <a:gd name="connsiteY0" fmla="*/ 4076496 h 7484434"/>
              <a:gd name="connsiteX1" fmla="*/ 5441159 w 12000656"/>
              <a:gd name="connsiteY1" fmla="*/ 4078236 h 7484434"/>
              <a:gd name="connsiteX2" fmla="*/ 5352655 w 12000656"/>
              <a:gd name="connsiteY2" fmla="*/ 4046118 h 7484434"/>
              <a:gd name="connsiteX3" fmla="*/ 4177141 w 12000656"/>
              <a:gd name="connsiteY3" fmla="*/ 3513781 h 7484434"/>
              <a:gd name="connsiteX4" fmla="*/ 906491 w 12000656"/>
              <a:gd name="connsiteY4" fmla="*/ 5968172 h 7484434"/>
              <a:gd name="connsiteX5" fmla="*/ 57699 w 12000656"/>
              <a:gd name="connsiteY5" fmla="*/ 7484434 h 7484434"/>
              <a:gd name="connsiteX6" fmla="*/ 0 w 12000656"/>
              <a:gd name="connsiteY6" fmla="*/ 7464605 h 7484434"/>
              <a:gd name="connsiteX7" fmla="*/ 857901 w 12000656"/>
              <a:gd name="connsiteY7" fmla="*/ 5930038 h 7484434"/>
              <a:gd name="connsiteX8" fmla="*/ 2136401 w 12000656"/>
              <a:gd name="connsiteY8" fmla="*/ 4610553 h 7484434"/>
              <a:gd name="connsiteX9" fmla="*/ 4166512 w 12000656"/>
              <a:gd name="connsiteY9" fmla="*/ 3449714 h 7484434"/>
              <a:gd name="connsiteX10" fmla="*/ 4178658 w 12000656"/>
              <a:gd name="connsiteY10" fmla="*/ 3445137 h 7484434"/>
              <a:gd name="connsiteX11" fmla="*/ 4190806 w 12000656"/>
              <a:gd name="connsiteY11" fmla="*/ 3451239 h 7484434"/>
              <a:gd name="connsiteX12" fmla="*/ 5364052 w 12000656"/>
              <a:gd name="connsiteY12" fmla="*/ 3984648 h 7484434"/>
              <a:gd name="connsiteX13" fmla="*/ 9608800 w 12000656"/>
              <a:gd name="connsiteY13" fmla="*/ 3884388 h 7484434"/>
              <a:gd name="connsiteX14" fmla="*/ 9351875 w 12000656"/>
              <a:gd name="connsiteY14" fmla="*/ 4152929 h 7484434"/>
              <a:gd name="connsiteX15" fmla="*/ 8090797 w 12000656"/>
              <a:gd name="connsiteY15" fmla="*/ 4575498 h 7484434"/>
              <a:gd name="connsiteX16" fmla="*/ 7882268 w 12000656"/>
              <a:gd name="connsiteY16" fmla="*/ 4582298 h 7484434"/>
              <a:gd name="connsiteX17" fmla="*/ 7901712 w 12000656"/>
              <a:gd name="connsiteY17" fmla="*/ 4518763 h 7484434"/>
              <a:gd name="connsiteX18" fmla="*/ 8079831 w 12000656"/>
              <a:gd name="connsiteY18" fmla="*/ 4513191 h 7484434"/>
              <a:gd name="connsiteX19" fmla="*/ 9312396 w 12000656"/>
              <a:gd name="connsiteY19" fmla="*/ 4104115 h 7484434"/>
              <a:gd name="connsiteX20" fmla="*/ 9728440 w 12000656"/>
              <a:gd name="connsiteY20" fmla="*/ 2005146 h 7484434"/>
              <a:gd name="connsiteX21" fmla="*/ 9972903 w 12000656"/>
              <a:gd name="connsiteY21" fmla="*/ 269224 h 7484434"/>
              <a:gd name="connsiteX22" fmla="*/ 11782845 w 12000656"/>
              <a:gd name="connsiteY22" fmla="*/ 11428 h 7484434"/>
              <a:gd name="connsiteX23" fmla="*/ 11772217 w 12000656"/>
              <a:gd name="connsiteY23" fmla="*/ 72445 h 7484434"/>
              <a:gd name="connsiteX24" fmla="*/ 10013901 w 12000656"/>
              <a:gd name="connsiteY24" fmla="*/ 314987 h 7484434"/>
              <a:gd name="connsiteX25" fmla="*/ 9787657 w 12000656"/>
              <a:gd name="connsiteY25" fmla="*/ 1989892 h 7484434"/>
              <a:gd name="connsiteX26" fmla="*/ 9863577 w 12000656"/>
              <a:gd name="connsiteY26" fmla="*/ 3306325 h 7484434"/>
              <a:gd name="connsiteX27" fmla="*/ 9608800 w 12000656"/>
              <a:gd name="connsiteY27" fmla="*/ 3884388 h 7484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000656" h="7484434">
                <a:moveTo>
                  <a:pt x="5616388" y="4076496"/>
                </a:moveTo>
                <a:lnTo>
                  <a:pt x="5441159" y="4078236"/>
                </a:lnTo>
                <a:lnTo>
                  <a:pt x="5352655" y="4046118"/>
                </a:lnTo>
                <a:cubicBezTo>
                  <a:pt x="4966689" y="3897256"/>
                  <a:pt x="4572876" y="3719140"/>
                  <a:pt x="4177141" y="3513781"/>
                </a:cubicBezTo>
                <a:cubicBezTo>
                  <a:pt x="2509929" y="4162081"/>
                  <a:pt x="1478929" y="5206992"/>
                  <a:pt x="906491" y="5968172"/>
                </a:cubicBezTo>
                <a:cubicBezTo>
                  <a:pt x="286980" y="6794946"/>
                  <a:pt x="59219" y="7476807"/>
                  <a:pt x="57699" y="7484434"/>
                </a:cubicBezTo>
                <a:lnTo>
                  <a:pt x="0" y="7464605"/>
                </a:lnTo>
                <a:cubicBezTo>
                  <a:pt x="1519" y="7456976"/>
                  <a:pt x="232317" y="6765964"/>
                  <a:pt x="857901" y="5930038"/>
                </a:cubicBezTo>
                <a:cubicBezTo>
                  <a:pt x="1225356" y="5438854"/>
                  <a:pt x="1655065" y="4994957"/>
                  <a:pt x="2136401" y="4610553"/>
                </a:cubicBezTo>
                <a:cubicBezTo>
                  <a:pt x="2737690" y="4128523"/>
                  <a:pt x="3420974" y="3738016"/>
                  <a:pt x="4166512" y="3449714"/>
                </a:cubicBezTo>
                <a:lnTo>
                  <a:pt x="4178658" y="3445137"/>
                </a:lnTo>
                <a:lnTo>
                  <a:pt x="4190806" y="3451239"/>
                </a:lnTo>
                <a:cubicBezTo>
                  <a:pt x="4585972" y="3657169"/>
                  <a:pt x="4979002" y="3835643"/>
                  <a:pt x="5364052" y="3984648"/>
                </a:cubicBezTo>
                <a:close/>
                <a:moveTo>
                  <a:pt x="9608800" y="3884388"/>
                </a:moveTo>
                <a:cubicBezTo>
                  <a:pt x="9536076" y="3983823"/>
                  <a:pt x="9450381" y="4073417"/>
                  <a:pt x="9351875" y="4152929"/>
                </a:cubicBezTo>
                <a:cubicBezTo>
                  <a:pt x="9043970" y="4400188"/>
                  <a:pt x="8615743" y="4542339"/>
                  <a:pt x="8090797" y="4575498"/>
                </a:cubicBezTo>
                <a:lnTo>
                  <a:pt x="7882268" y="4582298"/>
                </a:lnTo>
                <a:lnTo>
                  <a:pt x="7901712" y="4518763"/>
                </a:lnTo>
                <a:lnTo>
                  <a:pt x="8079831" y="4513191"/>
                </a:lnTo>
                <a:cubicBezTo>
                  <a:pt x="8594169" y="4481450"/>
                  <a:pt x="9012463" y="4343367"/>
                  <a:pt x="9312396" y="4104115"/>
                </a:cubicBezTo>
                <a:cubicBezTo>
                  <a:pt x="9833210" y="3687678"/>
                  <a:pt x="9975940" y="2961579"/>
                  <a:pt x="9728440" y="2005146"/>
                </a:cubicBezTo>
                <a:cubicBezTo>
                  <a:pt x="9515863" y="1187524"/>
                  <a:pt x="9597857" y="603289"/>
                  <a:pt x="9972903" y="269224"/>
                </a:cubicBezTo>
                <a:cubicBezTo>
                  <a:pt x="10331247" y="-51113"/>
                  <a:pt x="11482959" y="44225"/>
                  <a:pt x="11782845" y="11428"/>
                </a:cubicBezTo>
                <a:cubicBezTo>
                  <a:pt x="12082731" y="-21369"/>
                  <a:pt x="12067042" y="21852"/>
                  <a:pt x="11772217" y="72445"/>
                </a:cubicBezTo>
                <a:cubicBezTo>
                  <a:pt x="11477393" y="123037"/>
                  <a:pt x="10442092" y="-66367"/>
                  <a:pt x="10013901" y="314987"/>
                </a:cubicBezTo>
                <a:cubicBezTo>
                  <a:pt x="9658594" y="632273"/>
                  <a:pt x="9582673" y="1196676"/>
                  <a:pt x="9787657" y="1989892"/>
                </a:cubicBezTo>
                <a:cubicBezTo>
                  <a:pt x="9918240" y="2494803"/>
                  <a:pt x="9944054" y="2937173"/>
                  <a:pt x="9863577" y="3306325"/>
                </a:cubicBezTo>
                <a:cubicBezTo>
                  <a:pt x="9815179" y="3525603"/>
                  <a:pt x="9730006" y="3718663"/>
                  <a:pt x="9608800" y="3884388"/>
                </a:cubicBezTo>
                <a:close/>
              </a:path>
            </a:pathLst>
          </a:custGeom>
          <a:gradFill>
            <a:gsLst>
              <a:gs pos="100000">
                <a:schemeClr val="accent2">
                  <a:alpha val="100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wrap="square" rtlCol="0" anchor="ctr">
            <a:noAutofit/>
          </a:bodyPr>
          <a:lstStyle/>
          <a:p>
            <a:endParaRPr lang="en-GB"/>
          </a:p>
        </p:txBody>
      </p:sp>
      <p:sp>
        <p:nvSpPr>
          <p:cNvPr id="11" name="Title 10">
            <a:extLst>
              <a:ext uri="{FF2B5EF4-FFF2-40B4-BE49-F238E27FC236}">
                <a16:creationId xmlns:a16="http://schemas.microsoft.com/office/drawing/2014/main" id="{CE5626D2-4B84-6929-D4F9-1F67489262B8}"/>
              </a:ext>
            </a:extLst>
          </p:cNvPr>
          <p:cNvSpPr>
            <a:spLocks noGrp="1"/>
          </p:cNvSpPr>
          <p:nvPr>
            <p:ph type="ctrTitle"/>
          </p:nvPr>
        </p:nvSpPr>
        <p:spPr>
          <a:xfrm>
            <a:off x="404812" y="2573515"/>
            <a:ext cx="11619021" cy="1477328"/>
          </a:xfrm>
        </p:spPr>
        <p:txBody>
          <a:bodyPr/>
          <a:lstStyle/>
          <a:p>
            <a:r>
              <a:rPr lang="en-GB" sz="3200"/>
              <a:t>METHODOLOGY INTRO &amp; HANDSHAKE MATERIAL FOR BEAZLEY SME</a:t>
            </a:r>
            <a:br>
              <a:rPr lang="en-GB" sz="3200"/>
            </a:br>
            <a:r>
              <a:rPr lang="en-GB" sz="3200" err="1"/>
              <a:t>gpas</a:t>
            </a:r>
            <a:r>
              <a:rPr lang="en-GB" sz="3200"/>
              <a:t> &amp; billing PROGRAM</a:t>
            </a:r>
          </a:p>
        </p:txBody>
      </p:sp>
    </p:spTree>
    <p:extLst>
      <p:ext uri="{BB962C8B-B14F-4D97-AF65-F5344CB8AC3E}">
        <p14:creationId xmlns:p14="http://schemas.microsoft.com/office/powerpoint/2010/main" val="1923745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STICKY_NOTE">
            <a:extLst>
              <a:ext uri="{FF2B5EF4-FFF2-40B4-BE49-F238E27FC236}">
                <a16:creationId xmlns:a16="http://schemas.microsoft.com/office/drawing/2014/main" id="{2B62B669-C673-52F9-84F9-BE3EADE60FE1}"/>
              </a:ext>
            </a:extLst>
          </p:cNvPr>
          <p:cNvSpPr/>
          <p:nvPr/>
        </p:nvSpPr>
        <p:spPr>
          <a:xfrm rot="20961984">
            <a:off x="1023678" y="2709521"/>
            <a:ext cx="3119094" cy="3116967"/>
          </a:xfrm>
          <a:prstGeom prst="foldedCorner">
            <a:avLst/>
          </a:prstGeom>
          <a:solidFill>
            <a:schemeClr val="accent1"/>
          </a:solidFill>
          <a:ln w="25400" cap="flat" cmpd="sng" algn="ctr">
            <a:no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rot lat="0" lon="0" rev="0"/>
              </a:camera>
              <a:lightRig rig="threePt" dir="t"/>
            </a:scene3d>
            <a:sp3d/>
          </a:bodyPr>
          <a:lstStyle/>
          <a:p>
            <a:pPr lvl="0" algn="ctr">
              <a:defRPr/>
            </a:pPr>
            <a:r>
              <a:rPr lang="en-US" sz="2000" kern="0">
                <a:effectLst>
                  <a:glow>
                    <a:scrgbClr r="0" g="0" b="0"/>
                  </a:glow>
                </a:effectLst>
                <a:latin typeface="+mj-lt"/>
                <a:cs typeface="Kartika" panose="020B0502040204020203" pitchFamily="18" charset="0"/>
              </a:rPr>
              <a:t>Agile </a:t>
            </a:r>
          </a:p>
          <a:p>
            <a:pPr lvl="0" algn="ctr">
              <a:defRPr/>
            </a:pPr>
            <a:r>
              <a:rPr lang="en-US" sz="2000" kern="0">
                <a:effectLst>
                  <a:glow>
                    <a:scrgbClr r="0" g="0" b="0"/>
                  </a:glow>
                </a:effectLst>
                <a:latin typeface="+mj-lt"/>
                <a:cs typeface="Kartika" panose="020B0502040204020203" pitchFamily="18" charset="0"/>
              </a:rPr>
              <a:t>Overview</a:t>
            </a:r>
          </a:p>
        </p:txBody>
      </p:sp>
      <p:grpSp>
        <p:nvGrpSpPr>
          <p:cNvPr id="47" name="Group 46">
            <a:extLst>
              <a:ext uri="{FF2B5EF4-FFF2-40B4-BE49-F238E27FC236}">
                <a16:creationId xmlns:a16="http://schemas.microsoft.com/office/drawing/2014/main" id="{A0CC6D73-2957-8CDC-122F-DBA8DF5B6D73}"/>
              </a:ext>
            </a:extLst>
          </p:cNvPr>
          <p:cNvGrpSpPr/>
          <p:nvPr/>
        </p:nvGrpSpPr>
        <p:grpSpPr>
          <a:xfrm rot="20961984">
            <a:off x="1654194" y="2559295"/>
            <a:ext cx="208183" cy="394370"/>
            <a:chOff x="7445829" y="2572203"/>
            <a:chExt cx="304800" cy="577397"/>
          </a:xfrm>
        </p:grpSpPr>
        <p:cxnSp>
          <p:nvCxnSpPr>
            <p:cNvPr id="48" name="Straight Connector 47">
              <a:extLst>
                <a:ext uri="{FF2B5EF4-FFF2-40B4-BE49-F238E27FC236}">
                  <a16:creationId xmlns:a16="http://schemas.microsoft.com/office/drawing/2014/main" id="{48E2564E-1217-B6ED-5BFD-42C2852C7DF0}"/>
                </a:ext>
              </a:extLst>
            </p:cNvPr>
            <p:cNvCxnSpPr/>
            <p:nvPr/>
          </p:nvCxnSpPr>
          <p:spPr>
            <a:xfrm>
              <a:off x="7597693" y="2757714"/>
              <a:ext cx="152936" cy="391886"/>
            </a:xfrm>
            <a:prstGeom prst="line">
              <a:avLst/>
            </a:prstGeom>
            <a:ln>
              <a:solidFill>
                <a:srgbClr val="7F7F7F"/>
              </a:solidFill>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05A27222-D94D-EF7D-A70A-974C0090A98A}"/>
                </a:ext>
              </a:extLst>
            </p:cNvPr>
            <p:cNvSpPr>
              <a:spLocks noChangeAspect="1"/>
            </p:cNvSpPr>
            <p:nvPr/>
          </p:nvSpPr>
          <p:spPr>
            <a:xfrm>
              <a:off x="7445829" y="2572203"/>
              <a:ext cx="291356" cy="291356"/>
            </a:xfrm>
            <a:prstGeom prst="ellipse">
              <a:avLst/>
            </a:prstGeom>
            <a:gradFill flip="none" rotWithShape="1">
              <a:gsLst>
                <a:gs pos="0">
                  <a:schemeClr val="lt1"/>
                </a:gs>
                <a:gs pos="12000">
                  <a:schemeClr val="accent1">
                    <a:lumMod val="0"/>
                    <a:lumOff val="100000"/>
                  </a:schemeClr>
                </a:gs>
                <a:gs pos="100000">
                  <a:schemeClr val="tx1"/>
                </a:gs>
              </a:gsLst>
              <a:path path="circle">
                <a:fillToRect l="50000" t="-80000" r="50000" b="18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ysClr val="windowText" lastClr="000000"/>
                </a:solidFill>
                <a:effectLst/>
                <a:uLnTx/>
                <a:uFillTx/>
              </a:endParaRPr>
            </a:p>
          </p:txBody>
        </p:sp>
      </p:grpSp>
      <p:sp>
        <p:nvSpPr>
          <p:cNvPr id="50" name="STICKY_NOTE">
            <a:extLst>
              <a:ext uri="{FF2B5EF4-FFF2-40B4-BE49-F238E27FC236}">
                <a16:creationId xmlns:a16="http://schemas.microsoft.com/office/drawing/2014/main" id="{7FE298BD-5706-2FC0-5999-740E97E95042}"/>
              </a:ext>
            </a:extLst>
          </p:cNvPr>
          <p:cNvSpPr/>
          <p:nvPr/>
        </p:nvSpPr>
        <p:spPr>
          <a:xfrm rot="508204">
            <a:off x="4824391" y="1566083"/>
            <a:ext cx="3119094" cy="3116967"/>
          </a:xfrm>
          <a:prstGeom prst="foldedCorner">
            <a:avLst/>
          </a:prstGeom>
          <a:solidFill>
            <a:schemeClr val="accent2"/>
          </a:solidFill>
          <a:ln w="25400" cap="flat" cmpd="sng" algn="ctr">
            <a:no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rot lat="0" lon="0" rev="0"/>
              </a:camera>
              <a:lightRig rig="threePt" dir="t"/>
            </a:scene3d>
            <a:sp3d/>
          </a:bodyPr>
          <a:lstStyle/>
          <a:p>
            <a:pPr marR="0" lvl="0" algn="ctr" defTabSz="914400" eaLnBrk="1" fontAlgn="auto" latinLnBrk="0" hangingPunct="1">
              <a:lnSpc>
                <a:spcPct val="100000"/>
              </a:lnSpc>
              <a:spcBef>
                <a:spcPts val="0"/>
              </a:spcBef>
              <a:spcAft>
                <a:spcPts val="0"/>
              </a:spcAft>
              <a:buClrTx/>
              <a:buSzTx/>
              <a:tabLst/>
              <a:defRPr/>
            </a:pPr>
            <a:r>
              <a:rPr kumimoji="0" lang="en-US" sz="2000" b="0" i="0" u="none" strike="noStrike" kern="0" cap="none" spc="0" normalizeH="0" baseline="0" noProof="0">
                <a:ln>
                  <a:noFill/>
                </a:ln>
                <a:effectLst>
                  <a:glow>
                    <a:scrgbClr r="0" g="0" b="0"/>
                  </a:glow>
                </a:effectLst>
                <a:uLnTx/>
                <a:uFillTx/>
                <a:latin typeface="+mj-lt"/>
              </a:rPr>
              <a:t>Backlog </a:t>
            </a:r>
          </a:p>
          <a:p>
            <a:pPr marR="0" lvl="0" algn="ctr" defTabSz="914400" eaLnBrk="1" fontAlgn="auto" latinLnBrk="0" hangingPunct="1">
              <a:lnSpc>
                <a:spcPct val="100000"/>
              </a:lnSpc>
              <a:spcBef>
                <a:spcPts val="0"/>
              </a:spcBef>
              <a:spcAft>
                <a:spcPts val="0"/>
              </a:spcAft>
              <a:buClrTx/>
              <a:buSzTx/>
              <a:tabLst/>
              <a:defRPr/>
            </a:pPr>
            <a:r>
              <a:rPr kumimoji="0" lang="en-US" sz="2000" b="0" i="0" u="none" strike="noStrike" kern="0" cap="none" spc="0" normalizeH="0" baseline="0" noProof="0">
                <a:ln>
                  <a:noFill/>
                </a:ln>
                <a:effectLst>
                  <a:glow>
                    <a:scrgbClr r="0" g="0" b="0"/>
                  </a:glow>
                </a:effectLst>
                <a:uLnTx/>
                <a:uFillTx/>
                <a:latin typeface="+mj-lt"/>
              </a:rPr>
              <a:t>Construct</a:t>
            </a:r>
          </a:p>
        </p:txBody>
      </p:sp>
      <p:grpSp>
        <p:nvGrpSpPr>
          <p:cNvPr id="51" name="Group 50">
            <a:extLst>
              <a:ext uri="{FF2B5EF4-FFF2-40B4-BE49-F238E27FC236}">
                <a16:creationId xmlns:a16="http://schemas.microsoft.com/office/drawing/2014/main" id="{24D65F21-2BB9-8830-48E3-3C62E98A378E}"/>
              </a:ext>
            </a:extLst>
          </p:cNvPr>
          <p:cNvGrpSpPr/>
          <p:nvPr/>
        </p:nvGrpSpPr>
        <p:grpSpPr>
          <a:xfrm rot="21091796" flipH="1">
            <a:off x="6470940" y="1258211"/>
            <a:ext cx="208183" cy="394370"/>
            <a:chOff x="7445829" y="2572203"/>
            <a:chExt cx="304800" cy="577397"/>
          </a:xfrm>
        </p:grpSpPr>
        <p:cxnSp>
          <p:nvCxnSpPr>
            <p:cNvPr id="52" name="Straight Connector 51">
              <a:extLst>
                <a:ext uri="{FF2B5EF4-FFF2-40B4-BE49-F238E27FC236}">
                  <a16:creationId xmlns:a16="http://schemas.microsoft.com/office/drawing/2014/main" id="{5578C7E9-07DC-AAA4-79D5-2B144BB0C3ED}"/>
                </a:ext>
              </a:extLst>
            </p:cNvPr>
            <p:cNvCxnSpPr/>
            <p:nvPr/>
          </p:nvCxnSpPr>
          <p:spPr>
            <a:xfrm>
              <a:off x="7597693" y="2757714"/>
              <a:ext cx="152936" cy="391886"/>
            </a:xfrm>
            <a:prstGeom prst="line">
              <a:avLst/>
            </a:prstGeom>
            <a:ln>
              <a:solidFill>
                <a:srgbClr val="7F7F7F"/>
              </a:solidFill>
            </a:ln>
          </p:spPr>
          <p:style>
            <a:lnRef idx="1">
              <a:schemeClr val="accent1"/>
            </a:lnRef>
            <a:fillRef idx="0">
              <a:schemeClr val="accent1"/>
            </a:fillRef>
            <a:effectRef idx="0">
              <a:schemeClr val="accent1"/>
            </a:effectRef>
            <a:fontRef idx="minor">
              <a:schemeClr val="tx1"/>
            </a:fontRef>
          </p:style>
        </p:cxnSp>
        <p:sp>
          <p:nvSpPr>
            <p:cNvPr id="53" name="Oval 52">
              <a:extLst>
                <a:ext uri="{FF2B5EF4-FFF2-40B4-BE49-F238E27FC236}">
                  <a16:creationId xmlns:a16="http://schemas.microsoft.com/office/drawing/2014/main" id="{7A928C84-9A35-B165-EF0C-14CED24E6ECD}"/>
                </a:ext>
              </a:extLst>
            </p:cNvPr>
            <p:cNvSpPr>
              <a:spLocks noChangeAspect="1"/>
            </p:cNvSpPr>
            <p:nvPr/>
          </p:nvSpPr>
          <p:spPr>
            <a:xfrm>
              <a:off x="7445829" y="2572203"/>
              <a:ext cx="291356" cy="291356"/>
            </a:xfrm>
            <a:prstGeom prst="ellipse">
              <a:avLst/>
            </a:prstGeom>
            <a:gradFill flip="none" rotWithShape="1">
              <a:gsLst>
                <a:gs pos="0">
                  <a:schemeClr val="lt1"/>
                </a:gs>
                <a:gs pos="15000">
                  <a:schemeClr val="accent1">
                    <a:lumMod val="0"/>
                    <a:lumOff val="100000"/>
                  </a:schemeClr>
                </a:gs>
                <a:gs pos="100000">
                  <a:schemeClr val="tx1"/>
                </a:gs>
              </a:gsLst>
              <a:path path="circle">
                <a:fillToRect l="50000" t="-80000" r="50000" b="18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ysClr val="windowText" lastClr="000000"/>
                </a:solidFill>
                <a:effectLst/>
                <a:uLnTx/>
                <a:uFillTx/>
              </a:endParaRPr>
            </a:p>
          </p:txBody>
        </p:sp>
      </p:grpSp>
      <p:sp>
        <p:nvSpPr>
          <p:cNvPr id="54" name="STICKY_NOTE">
            <a:extLst>
              <a:ext uri="{FF2B5EF4-FFF2-40B4-BE49-F238E27FC236}">
                <a16:creationId xmlns:a16="http://schemas.microsoft.com/office/drawing/2014/main" id="{371DAB25-F5AF-DE9F-2429-2F50C1CF3CF8}"/>
              </a:ext>
            </a:extLst>
          </p:cNvPr>
          <p:cNvSpPr/>
          <p:nvPr/>
        </p:nvSpPr>
        <p:spPr>
          <a:xfrm rot="21369907">
            <a:off x="8206958" y="2878287"/>
            <a:ext cx="3119094" cy="3116967"/>
          </a:xfrm>
          <a:prstGeom prst="foldedCorner">
            <a:avLst/>
          </a:prstGeom>
          <a:solidFill>
            <a:schemeClr val="accent3"/>
          </a:solidFill>
          <a:ln w="25400" cap="flat" cmpd="sng" algn="ctr">
            <a:no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rot lat="0" lon="0" rev="0"/>
              </a:camera>
              <a:lightRig rig="threePt" dir="t"/>
            </a:scene3d>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a:ln>
                  <a:noFill/>
                </a:ln>
                <a:solidFill>
                  <a:schemeClr val="bg1"/>
                </a:solidFill>
                <a:effectLst/>
                <a:uLnTx/>
                <a:uFillTx/>
                <a:latin typeface="+mj-lt"/>
              </a:rPr>
              <a:t>‘A Day in a Life’ of Inception &amp; Elaboration</a:t>
            </a:r>
            <a:r>
              <a:rPr lang="en-US" kern="0">
                <a:effectLst>
                  <a:glow>
                    <a:scrgbClr r="0" g="0" b="0"/>
                  </a:glow>
                </a:effectLst>
              </a:rPr>
              <a:t> </a:t>
            </a:r>
          </a:p>
        </p:txBody>
      </p:sp>
      <p:grpSp>
        <p:nvGrpSpPr>
          <p:cNvPr id="55" name="Group 54">
            <a:extLst>
              <a:ext uri="{FF2B5EF4-FFF2-40B4-BE49-F238E27FC236}">
                <a16:creationId xmlns:a16="http://schemas.microsoft.com/office/drawing/2014/main" id="{E819499C-1A19-AEA8-ABC1-DA81A4725CBC}"/>
              </a:ext>
            </a:extLst>
          </p:cNvPr>
          <p:cNvGrpSpPr/>
          <p:nvPr/>
        </p:nvGrpSpPr>
        <p:grpSpPr>
          <a:xfrm rot="21369907">
            <a:off x="9022212" y="2641033"/>
            <a:ext cx="208183" cy="394370"/>
            <a:chOff x="7445829" y="2572203"/>
            <a:chExt cx="304800" cy="577397"/>
          </a:xfrm>
        </p:grpSpPr>
        <p:cxnSp>
          <p:nvCxnSpPr>
            <p:cNvPr id="56" name="Straight Connector 55">
              <a:extLst>
                <a:ext uri="{FF2B5EF4-FFF2-40B4-BE49-F238E27FC236}">
                  <a16:creationId xmlns:a16="http://schemas.microsoft.com/office/drawing/2014/main" id="{9CDC3954-AD4E-C01E-48C5-6020D58CCDFA}"/>
                </a:ext>
              </a:extLst>
            </p:cNvPr>
            <p:cNvCxnSpPr/>
            <p:nvPr/>
          </p:nvCxnSpPr>
          <p:spPr>
            <a:xfrm>
              <a:off x="7597693" y="2757714"/>
              <a:ext cx="152936" cy="391886"/>
            </a:xfrm>
            <a:prstGeom prst="line">
              <a:avLst/>
            </a:prstGeom>
            <a:ln>
              <a:solidFill>
                <a:srgbClr val="7F7F7F"/>
              </a:solidFill>
            </a:ln>
          </p:spPr>
          <p:style>
            <a:lnRef idx="1">
              <a:schemeClr val="accent1"/>
            </a:lnRef>
            <a:fillRef idx="0">
              <a:schemeClr val="accent1"/>
            </a:fillRef>
            <a:effectRef idx="0">
              <a:schemeClr val="accent1"/>
            </a:effectRef>
            <a:fontRef idx="minor">
              <a:schemeClr val="tx1"/>
            </a:fontRef>
          </p:style>
        </p:cxnSp>
        <p:sp>
          <p:nvSpPr>
            <p:cNvPr id="57" name="Oval 56">
              <a:extLst>
                <a:ext uri="{FF2B5EF4-FFF2-40B4-BE49-F238E27FC236}">
                  <a16:creationId xmlns:a16="http://schemas.microsoft.com/office/drawing/2014/main" id="{1525F599-15E4-6C61-7CFE-2C44B515245F}"/>
                </a:ext>
              </a:extLst>
            </p:cNvPr>
            <p:cNvSpPr>
              <a:spLocks noChangeAspect="1"/>
            </p:cNvSpPr>
            <p:nvPr/>
          </p:nvSpPr>
          <p:spPr>
            <a:xfrm>
              <a:off x="7445829" y="2572203"/>
              <a:ext cx="291356" cy="291356"/>
            </a:xfrm>
            <a:prstGeom prst="ellipse">
              <a:avLst/>
            </a:prstGeom>
            <a:gradFill flip="none" rotWithShape="1">
              <a:gsLst>
                <a:gs pos="0">
                  <a:schemeClr val="lt1"/>
                </a:gs>
                <a:gs pos="24000">
                  <a:schemeClr val="accent1">
                    <a:lumMod val="0"/>
                    <a:lumOff val="100000"/>
                  </a:schemeClr>
                </a:gs>
                <a:gs pos="100000">
                  <a:schemeClr val="tx1"/>
                </a:gs>
              </a:gsLst>
              <a:path path="circle">
                <a:fillToRect l="50000" t="-80000" r="50000" b="18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ysClr val="windowText" lastClr="000000"/>
                </a:solidFill>
                <a:effectLst/>
                <a:uLnTx/>
                <a:uFillTx/>
              </a:endParaRPr>
            </a:p>
          </p:txBody>
        </p:sp>
      </p:grpSp>
      <p:sp>
        <p:nvSpPr>
          <p:cNvPr id="60" name="Title 3">
            <a:extLst>
              <a:ext uri="{FF2B5EF4-FFF2-40B4-BE49-F238E27FC236}">
                <a16:creationId xmlns:a16="http://schemas.microsoft.com/office/drawing/2014/main" id="{58A0B25E-4667-4C53-8BFE-A7EA10BD43D7}"/>
              </a:ext>
            </a:extLst>
          </p:cNvPr>
          <p:cNvSpPr>
            <a:spLocks noGrp="1"/>
          </p:cNvSpPr>
          <p:nvPr>
            <p:ph type="title"/>
          </p:nvPr>
        </p:nvSpPr>
        <p:spPr>
          <a:xfrm>
            <a:off x="184150" y="284162"/>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p>
            <a:r>
              <a:rPr lang="en-US" sz="2800" cap="none">
                <a:solidFill>
                  <a:schemeClr val="tx1"/>
                </a:solidFill>
                <a:latin typeface="+mj-lt"/>
              </a:rPr>
              <a:t>Topics</a:t>
            </a:r>
          </a:p>
        </p:txBody>
      </p:sp>
    </p:spTree>
    <p:extLst>
      <p:ext uri="{BB962C8B-B14F-4D97-AF65-F5344CB8AC3E}">
        <p14:creationId xmlns:p14="http://schemas.microsoft.com/office/powerpoint/2010/main" val="336240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6" descr="Hello My Name Is Images – Browse 4,221 Stock Photos, Vectors, and Video |  Adobe Stock">
            <a:extLst>
              <a:ext uri="{FF2B5EF4-FFF2-40B4-BE49-F238E27FC236}">
                <a16:creationId xmlns:a16="http://schemas.microsoft.com/office/drawing/2014/main" id="{AFCCA90B-8C90-EDE7-41B2-520B636B92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8225" y="2323653"/>
            <a:ext cx="6553200" cy="413730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4">
            <a:extLst>
              <a:ext uri="{FF2B5EF4-FFF2-40B4-BE49-F238E27FC236}">
                <a16:creationId xmlns:a16="http://schemas.microsoft.com/office/drawing/2014/main" id="{E1D6F4AE-DD1A-1738-C3DE-87F1CD07BC28}"/>
              </a:ext>
            </a:extLst>
          </p:cNvPr>
          <p:cNvSpPr txBox="1"/>
          <p:nvPr/>
        </p:nvSpPr>
        <p:spPr>
          <a:xfrm>
            <a:off x="774825" y="3812752"/>
            <a:ext cx="4343400" cy="2062103"/>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2000" i="0" u="none" strike="noStrike" kern="1200" cap="none" spc="0" normalizeH="0" baseline="0" noProof="0">
                <a:ln>
                  <a:noFill/>
                </a:ln>
                <a:solidFill>
                  <a:prstClr val="black"/>
                </a:solidFill>
                <a:effectLst/>
                <a:uLnTx/>
                <a:uFillTx/>
                <a:latin typeface="+mj-lt"/>
                <a:ea typeface="Calibri" panose="020F0502020204030204" pitchFamily="34" charset="0"/>
                <a:cs typeface="+mn-cs"/>
              </a:rPr>
              <a:t>Please Tell Us: </a:t>
            </a:r>
          </a:p>
          <a:p>
            <a:pPr marL="285750" marR="0" lvl="0" indent="-285750" algn="l" defTabSz="914400" rtl="0" eaLnBrk="1" fontAlgn="auto" latinLnBrk="0" hangingPunct="1">
              <a:lnSpc>
                <a:spcPct val="150000"/>
              </a:lnSpc>
              <a:spcBef>
                <a:spcPts val="0"/>
              </a:spcBef>
              <a:spcAft>
                <a:spcPts val="600"/>
              </a:spcAft>
              <a:buClrTx/>
              <a:buSzTx/>
              <a:buFont typeface="Courier New" panose="02070309020205020404" pitchFamily="49" charset="0"/>
              <a:buChar char="­"/>
              <a:tabLst/>
              <a:defRPr/>
            </a:pPr>
            <a:r>
              <a:rPr lang="en-GB" sz="1600">
                <a:solidFill>
                  <a:prstClr val="black"/>
                </a:solidFill>
                <a:latin typeface="+mj-lt"/>
                <a:ea typeface="Calibri" panose="020F0502020204030204" pitchFamily="34" charset="0"/>
              </a:rPr>
              <a:t>Your Name</a:t>
            </a:r>
          </a:p>
          <a:p>
            <a:pPr marL="285750" marR="0" lvl="0" indent="-285750" algn="l" defTabSz="914400" rtl="0" eaLnBrk="1" fontAlgn="auto" latinLnBrk="0" hangingPunct="1">
              <a:lnSpc>
                <a:spcPct val="150000"/>
              </a:lnSpc>
              <a:spcBef>
                <a:spcPts val="0"/>
              </a:spcBef>
              <a:spcAft>
                <a:spcPts val="600"/>
              </a:spcAft>
              <a:buClrTx/>
              <a:buSzTx/>
              <a:buFont typeface="Courier New" panose="02070309020205020404" pitchFamily="49" charset="0"/>
              <a:buChar char="­"/>
              <a:tabLst/>
              <a:defRPr/>
            </a:pPr>
            <a:r>
              <a:rPr kumimoji="0" lang="en-GB" sz="1600" i="0" u="none" strike="noStrike" kern="1200" cap="none" spc="0" normalizeH="0" baseline="0" noProof="0">
                <a:ln>
                  <a:noFill/>
                </a:ln>
                <a:solidFill>
                  <a:prstClr val="black"/>
                </a:solidFill>
                <a:effectLst/>
                <a:uLnTx/>
                <a:uFillTx/>
                <a:latin typeface="+mj-lt"/>
                <a:ea typeface="Calibri" panose="020F0502020204030204" pitchFamily="34" charset="0"/>
                <a:cs typeface="+mn-cs"/>
              </a:rPr>
              <a:t>Your Experience With Agile </a:t>
            </a:r>
          </a:p>
          <a:p>
            <a:pPr marL="285750" marR="0" lvl="0" indent="-285750" algn="l" defTabSz="914400" rtl="0" eaLnBrk="1" fontAlgn="auto" latinLnBrk="0" hangingPunct="1">
              <a:lnSpc>
                <a:spcPct val="150000"/>
              </a:lnSpc>
              <a:spcBef>
                <a:spcPts val="0"/>
              </a:spcBef>
              <a:spcAft>
                <a:spcPts val="600"/>
              </a:spcAft>
              <a:buClrTx/>
              <a:buSzTx/>
              <a:buFont typeface="Courier New" panose="02070309020205020404" pitchFamily="49" charset="0"/>
              <a:buChar char="­"/>
              <a:tabLst/>
              <a:defRPr/>
            </a:pPr>
            <a:r>
              <a:rPr lang="en-GB" sz="1600">
                <a:solidFill>
                  <a:prstClr val="black"/>
                </a:solidFill>
                <a:latin typeface="+mj-lt"/>
                <a:ea typeface="Calibri" panose="020F0502020204030204" pitchFamily="34" charset="0"/>
              </a:rPr>
              <a:t>3 Things That Make You Happy</a:t>
            </a:r>
            <a:endParaRPr kumimoji="0" lang="en-GB" sz="1600" i="0" u="none" strike="noStrike" kern="1200" cap="none" spc="0" normalizeH="0" baseline="0" noProof="0">
              <a:ln>
                <a:noFill/>
              </a:ln>
              <a:solidFill>
                <a:prstClr val="black"/>
              </a:solidFill>
              <a:effectLst/>
              <a:uLnTx/>
              <a:uFillTx/>
              <a:latin typeface="+mj-lt"/>
              <a:ea typeface="Calibri" panose="020F0502020204030204" pitchFamily="34" charset="0"/>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mj-lt"/>
              <a:ea typeface="Calibri" panose="020F0502020204030204" pitchFamily="34" charset="0"/>
              <a:cs typeface="+mn-cs"/>
            </a:endParaRPr>
          </a:p>
        </p:txBody>
      </p:sp>
      <p:pic>
        <p:nvPicPr>
          <p:cNvPr id="8" name="Picture 7">
            <a:extLst>
              <a:ext uri="{FF2B5EF4-FFF2-40B4-BE49-F238E27FC236}">
                <a16:creationId xmlns:a16="http://schemas.microsoft.com/office/drawing/2014/main" id="{B763F925-3B9B-4458-61D1-AE4DBE43CC5F}"/>
              </a:ext>
            </a:extLst>
          </p:cNvPr>
          <p:cNvPicPr>
            <a:picLocks noChangeAspect="1"/>
          </p:cNvPicPr>
          <p:nvPr/>
        </p:nvPicPr>
        <p:blipFill rotWithShape="1">
          <a:blip r:embed="rId3">
            <a:extLst>
              <a:ext uri="{28A0092B-C50C-407E-A947-70E740481C1C}">
                <a14:useLocalDpi xmlns:a14="http://schemas.microsoft.com/office/drawing/2010/main" val="0"/>
              </a:ext>
            </a:extLst>
          </a:blip>
          <a:srcRect l="13852" t="15216" r="14212" b="-45"/>
          <a:stretch/>
        </p:blipFill>
        <p:spPr>
          <a:xfrm>
            <a:off x="404813" y="860034"/>
            <a:ext cx="2971800" cy="2178650"/>
          </a:xfrm>
          <a:prstGeom prst="rect">
            <a:avLst/>
          </a:prstGeom>
        </p:spPr>
      </p:pic>
      <p:sp>
        <p:nvSpPr>
          <p:cNvPr id="10" name="TextBox 9">
            <a:extLst>
              <a:ext uri="{FF2B5EF4-FFF2-40B4-BE49-F238E27FC236}">
                <a16:creationId xmlns:a16="http://schemas.microsoft.com/office/drawing/2014/main" id="{C8D187B9-2F6A-774B-3EED-5FFE25D06261}"/>
              </a:ext>
            </a:extLst>
          </p:cNvPr>
          <p:cNvSpPr txBox="1"/>
          <p:nvPr/>
        </p:nvSpPr>
        <p:spPr>
          <a:xfrm>
            <a:off x="3581150" y="1580027"/>
            <a:ext cx="4480284" cy="400110"/>
          </a:xfrm>
          <a:prstGeom prst="rect">
            <a:avLst/>
          </a:prstGeom>
          <a:noFill/>
          <a:effectLst>
            <a:glow rad="228600">
              <a:schemeClr val="accent1">
                <a:satMod val="175000"/>
                <a:alpha val="40000"/>
              </a:schemeClr>
            </a:glow>
          </a:effectLst>
        </p:spPr>
        <p:txBody>
          <a:bodyPr wrap="square">
            <a:spAutoFit/>
          </a:bodyPr>
          <a:lstStyle/>
          <a:p>
            <a:r>
              <a:rPr lang="en-GB" sz="2000" b="1"/>
              <a:t>Let’s Get To Know Each Other</a:t>
            </a:r>
          </a:p>
        </p:txBody>
      </p:sp>
    </p:spTree>
    <p:extLst>
      <p:ext uri="{BB962C8B-B14F-4D97-AF65-F5344CB8AC3E}">
        <p14:creationId xmlns:p14="http://schemas.microsoft.com/office/powerpoint/2010/main" val="1853885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CE6DA57-3D4D-6568-873B-72D2594FA3E0}"/>
              </a:ext>
            </a:extLst>
          </p:cNvPr>
          <p:cNvSpPr txBox="1"/>
          <p:nvPr/>
        </p:nvSpPr>
        <p:spPr>
          <a:xfrm>
            <a:off x="7803458" y="960827"/>
            <a:ext cx="4018430" cy="5416868"/>
          </a:xfrm>
          <a:prstGeom prst="rect">
            <a:avLst/>
          </a:prstGeom>
          <a:noFill/>
        </p:spPr>
        <p:txBody>
          <a:bodyPr wrap="square">
            <a:spAutoFit/>
          </a:bodyPr>
          <a:lstStyle/>
          <a:p>
            <a:r>
              <a:rPr lang="en-GB"/>
              <a:t>Be Present </a:t>
            </a:r>
          </a:p>
          <a:p>
            <a:r>
              <a:rPr lang="en-GB" sz="1200">
                <a:solidFill>
                  <a:srgbClr val="E146C6"/>
                </a:solidFill>
              </a:rPr>
              <a:t>Limit Distractions: Teams set to Do Not Disturb, Automatic Replies switched on</a:t>
            </a:r>
          </a:p>
          <a:p>
            <a:endParaRPr lang="en-GB" sz="1400"/>
          </a:p>
          <a:p>
            <a:r>
              <a:rPr lang="en-GB"/>
              <a:t>Ready for your close-up</a:t>
            </a:r>
          </a:p>
          <a:p>
            <a:r>
              <a:rPr lang="en-GB" sz="1200">
                <a:solidFill>
                  <a:srgbClr val="E146C6"/>
                </a:solidFill>
              </a:rPr>
              <a:t>Cameras on to encourage active engagement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Ubuntu"/>
                <a:ea typeface="+mn-ea"/>
                <a:cs typeface="+mn-cs"/>
              </a:rPr>
              <a:t>“Be the crew, not the passenger”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E146C6"/>
                </a:solidFill>
                <a:effectLst/>
                <a:uLnTx/>
                <a:uFillTx/>
                <a:latin typeface="Ubuntu"/>
                <a:ea typeface="+mn-ea"/>
                <a:cs typeface="+mn-cs"/>
              </a:rPr>
              <a:t>Don’t be an observer, actively participate &amp; contribute to discussions!</a:t>
            </a:r>
            <a:endParaRPr lang="en-GB" sz="1200">
              <a:solidFill>
                <a:srgbClr val="E146C6"/>
              </a:solidFill>
            </a:endParaRPr>
          </a:p>
          <a:p>
            <a:endParaRPr lang="en-GB" sz="1400"/>
          </a:p>
          <a:p>
            <a:r>
              <a:rPr lang="en-GB"/>
              <a:t>Responsibility</a:t>
            </a:r>
          </a:p>
          <a:p>
            <a:r>
              <a:rPr kumimoji="0" lang="en-GB" sz="1200" b="0" i="0" u="none" strike="noStrike" kern="1200" cap="none" spc="0" normalizeH="0" baseline="0" noProof="0">
                <a:ln>
                  <a:noFill/>
                </a:ln>
                <a:solidFill>
                  <a:srgbClr val="E146C6"/>
                </a:solidFill>
                <a:effectLst/>
                <a:uLnTx/>
                <a:uFillTx/>
                <a:latin typeface="Ubuntu"/>
                <a:ea typeface="+mn-ea"/>
                <a:cs typeface="+mn-cs"/>
              </a:rPr>
              <a:t>Action Items</a:t>
            </a:r>
            <a:r>
              <a:rPr lang="en-GB" sz="1200">
                <a:solidFill>
                  <a:srgbClr val="E146C6"/>
                </a:solidFill>
                <a:latin typeface="Ubuntu"/>
              </a:rPr>
              <a:t>, Key Decisions, keep Target State in mind</a:t>
            </a:r>
            <a:endParaRPr kumimoji="0" lang="en-GB" sz="1200" b="0" i="0" u="none" strike="noStrike" kern="1200" cap="none" spc="0" normalizeH="0" baseline="0" noProof="0">
              <a:ln>
                <a:noFill/>
              </a:ln>
              <a:solidFill>
                <a:srgbClr val="E146C6"/>
              </a:solidFill>
              <a:effectLst/>
              <a:uLnTx/>
              <a:uFillTx/>
              <a:latin typeface="Ubuntu"/>
              <a:ea typeface="+mn-ea"/>
              <a:cs typeface="+mn-cs"/>
            </a:endParaRPr>
          </a:p>
          <a:p>
            <a:endParaRPr lang="en-GB" sz="1400">
              <a:solidFill>
                <a:srgbClr val="E146C6"/>
              </a:solidFill>
              <a:latin typeface="Ubuntu"/>
            </a:endParaRPr>
          </a:p>
          <a:p>
            <a:r>
              <a:rPr lang="en-GB"/>
              <a:t>Open and honest conversations</a:t>
            </a:r>
          </a:p>
          <a:p>
            <a:r>
              <a:rPr lang="en-GB" sz="1200">
                <a:solidFill>
                  <a:srgbClr val="E146C6"/>
                </a:solidFill>
                <a:latin typeface="Ubuntu"/>
              </a:rPr>
              <a:t>Appreciate transparent conversations and voice over if you see any real concerns</a:t>
            </a:r>
            <a:endParaRPr kumimoji="0" lang="en-GB" sz="1200" b="0" i="0" u="none" strike="noStrike" kern="1200" cap="none" spc="0" normalizeH="0" baseline="0" noProof="0">
              <a:ln>
                <a:noFill/>
              </a:ln>
              <a:solidFill>
                <a:srgbClr val="E146C6"/>
              </a:solidFill>
              <a:effectLst/>
              <a:uLnTx/>
              <a:uFillTx/>
              <a:latin typeface="Ubuntu"/>
              <a:ea typeface="+mn-ea"/>
              <a:cs typeface="+mn-cs"/>
            </a:endParaRPr>
          </a:p>
          <a:p>
            <a:endParaRPr lang="en-GB" sz="1400"/>
          </a:p>
          <a:p>
            <a:r>
              <a:rPr lang="en-GB"/>
              <a:t>Defer Judgement</a:t>
            </a:r>
          </a:p>
          <a:p>
            <a:r>
              <a:rPr lang="en-GB" sz="1200">
                <a:solidFill>
                  <a:srgbClr val="E146C6"/>
                </a:solidFill>
                <a:latin typeface="Ubuntu"/>
              </a:rPr>
              <a:t>All ideas are valid when brainstorming!</a:t>
            </a:r>
          </a:p>
          <a:p>
            <a:endParaRPr lang="en-GB" sz="1400"/>
          </a:p>
          <a:p>
            <a:r>
              <a:rPr lang="en-GB"/>
              <a:t>N.E.M.O</a:t>
            </a:r>
          </a:p>
          <a:p>
            <a:r>
              <a:rPr lang="en-GB" sz="1200">
                <a:solidFill>
                  <a:srgbClr val="E146C6"/>
                </a:solidFill>
                <a:latin typeface="Ubuntu"/>
              </a:rPr>
              <a:t>Needs elaboration, move on – remember the Inception principles!</a:t>
            </a:r>
          </a:p>
        </p:txBody>
      </p:sp>
      <p:pic>
        <p:nvPicPr>
          <p:cNvPr id="12" name="Picture 11">
            <a:extLst>
              <a:ext uri="{FF2B5EF4-FFF2-40B4-BE49-F238E27FC236}">
                <a16:creationId xmlns:a16="http://schemas.microsoft.com/office/drawing/2014/main" id="{4900FEE7-1FFB-EDD4-3A0B-B34A484515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813" y="1346177"/>
            <a:ext cx="6842765" cy="4564270"/>
          </a:xfrm>
          <a:prstGeom prst="rect">
            <a:avLst/>
          </a:prstGeom>
        </p:spPr>
      </p:pic>
      <p:sp>
        <p:nvSpPr>
          <p:cNvPr id="2" name="Title 3">
            <a:extLst>
              <a:ext uri="{FF2B5EF4-FFF2-40B4-BE49-F238E27FC236}">
                <a16:creationId xmlns:a16="http://schemas.microsoft.com/office/drawing/2014/main" id="{35A7E95B-1030-0B65-DF76-240B296CAFC6}"/>
              </a:ext>
            </a:extLst>
          </p:cNvPr>
          <p:cNvSpPr>
            <a:spLocks noGrp="1"/>
          </p:cNvSpPr>
          <p:nvPr>
            <p:ph type="title"/>
          </p:nvPr>
        </p:nvSpPr>
        <p:spPr>
          <a:xfrm>
            <a:off x="184150" y="284162"/>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p>
            <a:r>
              <a:rPr lang="en-US" sz="2800" cap="none">
                <a:solidFill>
                  <a:schemeClr val="tx1"/>
                </a:solidFill>
                <a:latin typeface="+mj-lt"/>
              </a:rPr>
              <a:t>Remote Inception - Workshop Guidelines</a:t>
            </a:r>
          </a:p>
        </p:txBody>
      </p:sp>
    </p:spTree>
    <p:extLst>
      <p:ext uri="{BB962C8B-B14F-4D97-AF65-F5344CB8AC3E}">
        <p14:creationId xmlns:p14="http://schemas.microsoft.com/office/powerpoint/2010/main" val="19392450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12ADF75B-A2AF-EC54-F144-3F275EC83A2C}"/>
              </a:ext>
            </a:extLst>
          </p:cNvPr>
          <p:cNvGrpSpPr/>
          <p:nvPr/>
        </p:nvGrpSpPr>
        <p:grpSpPr>
          <a:xfrm>
            <a:off x="0" y="0"/>
            <a:ext cx="12297100" cy="6858000"/>
            <a:chOff x="0" y="0"/>
            <a:chExt cx="12297100" cy="6858000"/>
          </a:xfrm>
        </p:grpSpPr>
        <p:sp>
          <p:nvSpPr>
            <p:cNvPr id="47" name="Freeform: Shape 45">
              <a:extLst>
                <a:ext uri="{FF2B5EF4-FFF2-40B4-BE49-F238E27FC236}">
                  <a16:creationId xmlns:a16="http://schemas.microsoft.com/office/drawing/2014/main" id="{F462E875-B85B-4F81-842E-C7A4B444826C}"/>
                </a:ext>
              </a:extLst>
            </p:cNvPr>
            <p:cNvSpPr/>
            <p:nvPr/>
          </p:nvSpPr>
          <p:spPr>
            <a:xfrm flipV="1">
              <a:off x="4206046" y="0"/>
              <a:ext cx="8091054" cy="6858000"/>
            </a:xfrm>
            <a:custGeom>
              <a:avLst/>
              <a:gdLst>
                <a:gd name="connsiteX0" fmla="*/ 3699163 w 8091054"/>
                <a:gd name="connsiteY0" fmla="*/ 0 h 6858000"/>
                <a:gd name="connsiteX1" fmla="*/ 8091054 w 8091054"/>
                <a:gd name="connsiteY1" fmla="*/ 0 h 6858000"/>
                <a:gd name="connsiteX2" fmla="*/ 8091054 w 8091054"/>
                <a:gd name="connsiteY2" fmla="*/ 6858000 h 6858000"/>
                <a:gd name="connsiteX3" fmla="*/ 3699163 w 8091054"/>
                <a:gd name="connsiteY3" fmla="*/ 6858000 h 6858000"/>
                <a:gd name="connsiteX4" fmla="*/ 3699162 w 8091054"/>
                <a:gd name="connsiteY4" fmla="*/ 0 h 6858000"/>
                <a:gd name="connsiteX5" fmla="*/ 3699162 w 8091054"/>
                <a:gd name="connsiteY5" fmla="*/ 6858000 h 6858000"/>
                <a:gd name="connsiteX6" fmla="*/ 0 w 80910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91054" h="6858000">
                  <a:moveTo>
                    <a:pt x="3699163" y="0"/>
                  </a:moveTo>
                  <a:lnTo>
                    <a:pt x="8091054" y="0"/>
                  </a:lnTo>
                  <a:lnTo>
                    <a:pt x="8091054" y="6858000"/>
                  </a:lnTo>
                  <a:lnTo>
                    <a:pt x="3699163" y="6858000"/>
                  </a:lnTo>
                  <a:close/>
                  <a:moveTo>
                    <a:pt x="3699162" y="0"/>
                  </a:moveTo>
                  <a:lnTo>
                    <a:pt x="3699162" y="6858000"/>
                  </a:lnTo>
                  <a:lnTo>
                    <a:pt x="0" y="685800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0" tIns="45720" rIns="72000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endParaRPr>
            </a:p>
          </p:txBody>
        </p:sp>
        <p:sp>
          <p:nvSpPr>
            <p:cNvPr id="46" name="Freeform: Shape 45">
              <a:extLst>
                <a:ext uri="{FF2B5EF4-FFF2-40B4-BE49-F238E27FC236}">
                  <a16:creationId xmlns:a16="http://schemas.microsoft.com/office/drawing/2014/main" id="{F462E875-B85B-4F81-842E-C7A4B444826C}"/>
                </a:ext>
              </a:extLst>
            </p:cNvPr>
            <p:cNvSpPr/>
            <p:nvPr/>
          </p:nvSpPr>
          <p:spPr>
            <a:xfrm rot="10800000" flipV="1">
              <a:off x="0" y="0"/>
              <a:ext cx="8091054" cy="6858000"/>
            </a:xfrm>
            <a:custGeom>
              <a:avLst/>
              <a:gdLst>
                <a:gd name="connsiteX0" fmla="*/ 3699163 w 8091054"/>
                <a:gd name="connsiteY0" fmla="*/ 0 h 6858000"/>
                <a:gd name="connsiteX1" fmla="*/ 8091054 w 8091054"/>
                <a:gd name="connsiteY1" fmla="*/ 0 h 6858000"/>
                <a:gd name="connsiteX2" fmla="*/ 8091054 w 8091054"/>
                <a:gd name="connsiteY2" fmla="*/ 6858000 h 6858000"/>
                <a:gd name="connsiteX3" fmla="*/ 3699163 w 8091054"/>
                <a:gd name="connsiteY3" fmla="*/ 6858000 h 6858000"/>
                <a:gd name="connsiteX4" fmla="*/ 3699162 w 8091054"/>
                <a:gd name="connsiteY4" fmla="*/ 0 h 6858000"/>
                <a:gd name="connsiteX5" fmla="*/ 3699162 w 8091054"/>
                <a:gd name="connsiteY5" fmla="*/ 6858000 h 6858000"/>
                <a:gd name="connsiteX6" fmla="*/ 0 w 80910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91054" h="6858000">
                  <a:moveTo>
                    <a:pt x="3699163" y="0"/>
                  </a:moveTo>
                  <a:lnTo>
                    <a:pt x="8091054" y="0"/>
                  </a:lnTo>
                  <a:lnTo>
                    <a:pt x="8091054" y="6858000"/>
                  </a:lnTo>
                  <a:lnTo>
                    <a:pt x="3699163" y="6858000"/>
                  </a:lnTo>
                  <a:close/>
                  <a:moveTo>
                    <a:pt x="3699162" y="0"/>
                  </a:moveTo>
                  <a:lnTo>
                    <a:pt x="3699162" y="6858000"/>
                  </a:lnTo>
                  <a:lnTo>
                    <a:pt x="0" y="6858000"/>
                  </a:lnTo>
                  <a:close/>
                </a:path>
              </a:pathLst>
            </a:cu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0" tIns="45720" rIns="72000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endParaRPr>
            </a:p>
          </p:txBody>
        </p:sp>
      </p:grpSp>
      <p:sp>
        <p:nvSpPr>
          <p:cNvPr id="59" name="Oval 58"/>
          <p:cNvSpPr>
            <a:spLocks noChangeAspect="1"/>
          </p:cNvSpPr>
          <p:nvPr/>
        </p:nvSpPr>
        <p:spPr>
          <a:xfrm flipH="1">
            <a:off x="6425308" y="2251244"/>
            <a:ext cx="965292" cy="965292"/>
          </a:xfrm>
          <a:prstGeom prst="ellipse">
            <a:avLst/>
          </a:prstGeom>
          <a:solidFill>
            <a:schemeClr val="accent4"/>
          </a:solidFill>
          <a:ln>
            <a:solidFill>
              <a:schemeClr val="l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0" name="TextBox 59"/>
          <p:cNvSpPr txBox="1"/>
          <p:nvPr/>
        </p:nvSpPr>
        <p:spPr>
          <a:xfrm flipH="1">
            <a:off x="7582249" y="2503058"/>
            <a:ext cx="3515056" cy="461665"/>
          </a:xfrm>
          <a:prstGeom prst="rect">
            <a:avLst/>
          </a:prstGeom>
          <a:noFill/>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chemeClr val="lt1"/>
                </a:solidFill>
                <a:effectLst/>
                <a:uLnTx/>
                <a:uFillTx/>
                <a:latin typeface="+mj-lt"/>
              </a:rPr>
              <a:t>Agile Overview</a:t>
            </a:r>
          </a:p>
        </p:txBody>
      </p:sp>
      <p:grpSp>
        <p:nvGrpSpPr>
          <p:cNvPr id="84" name="POWER_USER_ID_ICONS_Rocket2" descr="{&quot;Key&quot;:&quot;POWER_USER_SHAPE_ICON&quot;,&quot;Value&quot;:&quot;POWER_USER_SHAPE_ICON_STYLE_1&quot;}"/>
          <p:cNvGrpSpPr>
            <a:grpSpLocks noChangeAspect="1"/>
          </p:cNvGrpSpPr>
          <p:nvPr>
            <p:custDataLst>
              <p:tags r:id="rId2"/>
            </p:custDataLst>
          </p:nvPr>
        </p:nvGrpSpPr>
        <p:grpSpPr bwMode="auto">
          <a:xfrm>
            <a:off x="6616957" y="2445520"/>
            <a:ext cx="581994" cy="576741"/>
            <a:chOff x="2506" y="943"/>
            <a:chExt cx="2548" cy="2525"/>
          </a:xfrm>
          <a:solidFill>
            <a:schemeClr val="lt1"/>
          </a:solidFill>
        </p:grpSpPr>
        <p:sp>
          <p:nvSpPr>
            <p:cNvPr id="85" name="Freeform 619"/>
            <p:cNvSpPr>
              <a:spLocks/>
            </p:cNvSpPr>
            <p:nvPr/>
          </p:nvSpPr>
          <p:spPr bwMode="auto">
            <a:xfrm>
              <a:off x="2510" y="2410"/>
              <a:ext cx="1044" cy="1046"/>
            </a:xfrm>
            <a:custGeom>
              <a:avLst/>
              <a:gdLst>
                <a:gd name="T0" fmla="*/ 263 w 263"/>
                <a:gd name="T1" fmla="*/ 94 h 263"/>
                <a:gd name="T2" fmla="*/ 253 w 263"/>
                <a:gd name="T3" fmla="*/ 94 h 263"/>
                <a:gd name="T4" fmla="*/ 234 w 263"/>
                <a:gd name="T5" fmla="*/ 94 h 263"/>
                <a:gd name="T6" fmla="*/ 151 w 263"/>
                <a:gd name="T7" fmla="*/ 159 h 263"/>
                <a:gd name="T8" fmla="*/ 118 w 263"/>
                <a:gd name="T9" fmla="*/ 178 h 263"/>
                <a:gd name="T10" fmla="*/ 95 w 263"/>
                <a:gd name="T11" fmla="*/ 167 h 263"/>
                <a:gd name="T12" fmla="*/ 85 w 263"/>
                <a:gd name="T13" fmla="*/ 144 h 263"/>
                <a:gd name="T14" fmla="*/ 104 w 263"/>
                <a:gd name="T15" fmla="*/ 112 h 263"/>
                <a:gd name="T16" fmla="*/ 106 w 263"/>
                <a:gd name="T17" fmla="*/ 109 h 263"/>
                <a:gd name="T18" fmla="*/ 169 w 263"/>
                <a:gd name="T19" fmla="*/ 29 h 263"/>
                <a:gd name="T20" fmla="*/ 168 w 263"/>
                <a:gd name="T21" fmla="*/ 0 h 263"/>
                <a:gd name="T22" fmla="*/ 146 w 263"/>
                <a:gd name="T23" fmla="*/ 20 h 263"/>
                <a:gd name="T24" fmla="*/ 11 w 263"/>
                <a:gd name="T25" fmla="*/ 252 h 263"/>
                <a:gd name="T26" fmla="*/ 243 w 263"/>
                <a:gd name="T27" fmla="*/ 117 h 263"/>
                <a:gd name="T28" fmla="*/ 263 w 263"/>
                <a:gd name="T29" fmla="*/ 94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3" h="263">
                  <a:moveTo>
                    <a:pt x="263" y="94"/>
                  </a:moveTo>
                  <a:cubicBezTo>
                    <a:pt x="259" y="94"/>
                    <a:pt x="256" y="94"/>
                    <a:pt x="253" y="94"/>
                  </a:cubicBezTo>
                  <a:cubicBezTo>
                    <a:pt x="246" y="94"/>
                    <a:pt x="240" y="94"/>
                    <a:pt x="234" y="94"/>
                  </a:cubicBezTo>
                  <a:lnTo>
                    <a:pt x="151" y="159"/>
                  </a:lnTo>
                  <a:cubicBezTo>
                    <a:pt x="142" y="168"/>
                    <a:pt x="132" y="178"/>
                    <a:pt x="118" y="178"/>
                  </a:cubicBezTo>
                  <a:cubicBezTo>
                    <a:pt x="110" y="178"/>
                    <a:pt x="102" y="174"/>
                    <a:pt x="95" y="167"/>
                  </a:cubicBezTo>
                  <a:cubicBezTo>
                    <a:pt x="88" y="160"/>
                    <a:pt x="85" y="153"/>
                    <a:pt x="85" y="144"/>
                  </a:cubicBezTo>
                  <a:cubicBezTo>
                    <a:pt x="85" y="130"/>
                    <a:pt x="95" y="121"/>
                    <a:pt x="104" y="112"/>
                  </a:cubicBezTo>
                  <a:lnTo>
                    <a:pt x="106" y="109"/>
                  </a:lnTo>
                  <a:lnTo>
                    <a:pt x="169" y="29"/>
                  </a:lnTo>
                  <a:cubicBezTo>
                    <a:pt x="168" y="20"/>
                    <a:pt x="168" y="11"/>
                    <a:pt x="168" y="0"/>
                  </a:cubicBezTo>
                  <a:cubicBezTo>
                    <a:pt x="161" y="6"/>
                    <a:pt x="154" y="12"/>
                    <a:pt x="146" y="20"/>
                  </a:cubicBezTo>
                  <a:cubicBezTo>
                    <a:pt x="62" y="104"/>
                    <a:pt x="0" y="242"/>
                    <a:pt x="11" y="252"/>
                  </a:cubicBezTo>
                  <a:cubicBezTo>
                    <a:pt x="21" y="263"/>
                    <a:pt x="158" y="201"/>
                    <a:pt x="243" y="117"/>
                  </a:cubicBezTo>
                  <a:cubicBezTo>
                    <a:pt x="251" y="109"/>
                    <a:pt x="257" y="102"/>
                    <a:pt x="263" y="94"/>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6" name="Freeform 620"/>
            <p:cNvSpPr>
              <a:spLocks/>
            </p:cNvSpPr>
            <p:nvPr/>
          </p:nvSpPr>
          <p:spPr bwMode="auto">
            <a:xfrm>
              <a:off x="2994" y="2040"/>
              <a:ext cx="941" cy="931"/>
            </a:xfrm>
            <a:custGeom>
              <a:avLst/>
              <a:gdLst>
                <a:gd name="T0" fmla="*/ 0 w 237"/>
                <a:gd name="T1" fmla="*/ 234 h 234"/>
                <a:gd name="T2" fmla="*/ 5 w 237"/>
                <a:gd name="T3" fmla="*/ 228 h 234"/>
                <a:gd name="T4" fmla="*/ 10 w 237"/>
                <a:gd name="T5" fmla="*/ 224 h 234"/>
                <a:gd name="T6" fmla="*/ 221 w 237"/>
                <a:gd name="T7" fmla="*/ 60 h 234"/>
                <a:gd name="T8" fmla="*/ 232 w 237"/>
                <a:gd name="T9" fmla="*/ 1 h 234"/>
                <a:gd name="T10" fmla="*/ 223 w 237"/>
                <a:gd name="T11" fmla="*/ 0 h 234"/>
                <a:gd name="T12" fmla="*/ 174 w 237"/>
                <a:gd name="T13" fmla="*/ 13 h 234"/>
                <a:gd name="T14" fmla="*/ 5 w 237"/>
                <a:gd name="T15" fmla="*/ 228 h 234"/>
                <a:gd name="T16" fmla="*/ 0 w 237"/>
                <a:gd name="T17" fmla="*/ 23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7" h="234">
                  <a:moveTo>
                    <a:pt x="0" y="234"/>
                  </a:moveTo>
                  <a:cubicBezTo>
                    <a:pt x="2" y="232"/>
                    <a:pt x="4" y="230"/>
                    <a:pt x="5" y="228"/>
                  </a:cubicBezTo>
                  <a:lnTo>
                    <a:pt x="10" y="224"/>
                  </a:lnTo>
                  <a:lnTo>
                    <a:pt x="221" y="60"/>
                  </a:lnTo>
                  <a:cubicBezTo>
                    <a:pt x="228" y="51"/>
                    <a:pt x="237" y="13"/>
                    <a:pt x="232" y="1"/>
                  </a:cubicBezTo>
                  <a:cubicBezTo>
                    <a:pt x="231" y="1"/>
                    <a:pt x="228" y="0"/>
                    <a:pt x="223" y="0"/>
                  </a:cubicBezTo>
                  <a:cubicBezTo>
                    <a:pt x="203" y="0"/>
                    <a:pt x="180" y="8"/>
                    <a:pt x="174" y="13"/>
                  </a:cubicBezTo>
                  <a:lnTo>
                    <a:pt x="5" y="228"/>
                  </a:lnTo>
                  <a:cubicBezTo>
                    <a:pt x="4" y="230"/>
                    <a:pt x="2" y="232"/>
                    <a:pt x="0" y="234"/>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7" name="Freeform 621"/>
            <p:cNvSpPr>
              <a:spLocks/>
            </p:cNvSpPr>
            <p:nvPr/>
          </p:nvSpPr>
          <p:spPr bwMode="auto">
            <a:xfrm>
              <a:off x="3359" y="2514"/>
              <a:ext cx="1100" cy="954"/>
            </a:xfrm>
            <a:custGeom>
              <a:avLst/>
              <a:gdLst>
                <a:gd name="T0" fmla="*/ 73 w 277"/>
                <a:gd name="T1" fmla="*/ 67 h 240"/>
                <a:gd name="T2" fmla="*/ 11 w 277"/>
                <a:gd name="T3" fmla="*/ 205 h 240"/>
                <a:gd name="T4" fmla="*/ 55 w 277"/>
                <a:gd name="T5" fmla="*/ 221 h 240"/>
                <a:gd name="T6" fmla="*/ 190 w 277"/>
                <a:gd name="T7" fmla="*/ 147 h 240"/>
                <a:gd name="T8" fmla="*/ 276 w 277"/>
                <a:gd name="T9" fmla="*/ 13 h 240"/>
                <a:gd name="T10" fmla="*/ 275 w 277"/>
                <a:gd name="T11" fmla="*/ 0 h 240"/>
                <a:gd name="T12" fmla="*/ 73 w 277"/>
                <a:gd name="T13" fmla="*/ 67 h 240"/>
              </a:gdLst>
              <a:ahLst/>
              <a:cxnLst>
                <a:cxn ang="0">
                  <a:pos x="T0" y="T1"/>
                </a:cxn>
                <a:cxn ang="0">
                  <a:pos x="T2" y="T3"/>
                </a:cxn>
                <a:cxn ang="0">
                  <a:pos x="T4" y="T5"/>
                </a:cxn>
                <a:cxn ang="0">
                  <a:pos x="T6" y="T7"/>
                </a:cxn>
                <a:cxn ang="0">
                  <a:pos x="T8" y="T9"/>
                </a:cxn>
                <a:cxn ang="0">
                  <a:pos x="T10" y="T11"/>
                </a:cxn>
                <a:cxn ang="0">
                  <a:pos x="T12" y="T13"/>
                </a:cxn>
              </a:cxnLst>
              <a:rect l="0" t="0" r="r" b="b"/>
              <a:pathLst>
                <a:path w="277" h="240">
                  <a:moveTo>
                    <a:pt x="73" y="67"/>
                  </a:moveTo>
                  <a:cubicBezTo>
                    <a:pt x="43" y="128"/>
                    <a:pt x="11" y="205"/>
                    <a:pt x="11" y="205"/>
                  </a:cubicBezTo>
                  <a:cubicBezTo>
                    <a:pt x="0" y="225"/>
                    <a:pt x="17" y="240"/>
                    <a:pt x="55" y="221"/>
                  </a:cubicBezTo>
                  <a:lnTo>
                    <a:pt x="190" y="147"/>
                  </a:lnTo>
                  <a:cubicBezTo>
                    <a:pt x="263" y="106"/>
                    <a:pt x="277" y="96"/>
                    <a:pt x="276" y="13"/>
                  </a:cubicBezTo>
                  <a:lnTo>
                    <a:pt x="275" y="0"/>
                  </a:lnTo>
                  <a:cubicBezTo>
                    <a:pt x="209" y="46"/>
                    <a:pt x="134" y="63"/>
                    <a:pt x="73" y="67"/>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8" name="Freeform 622"/>
            <p:cNvSpPr>
              <a:spLocks/>
            </p:cNvSpPr>
            <p:nvPr/>
          </p:nvSpPr>
          <p:spPr bwMode="auto">
            <a:xfrm>
              <a:off x="2506" y="1511"/>
              <a:ext cx="937" cy="1102"/>
            </a:xfrm>
            <a:custGeom>
              <a:avLst/>
              <a:gdLst>
                <a:gd name="T0" fmla="*/ 35 w 236"/>
                <a:gd name="T1" fmla="*/ 266 h 277"/>
                <a:gd name="T2" fmla="*/ 170 w 236"/>
                <a:gd name="T3" fmla="*/ 206 h 277"/>
                <a:gd name="T4" fmla="*/ 236 w 236"/>
                <a:gd name="T5" fmla="*/ 2 h 277"/>
                <a:gd name="T6" fmla="*/ 227 w 236"/>
                <a:gd name="T7" fmla="*/ 1 h 277"/>
                <a:gd name="T8" fmla="*/ 94 w 236"/>
                <a:gd name="T9" fmla="*/ 87 h 277"/>
                <a:gd name="T10" fmla="*/ 20 w 236"/>
                <a:gd name="T11" fmla="*/ 223 h 277"/>
                <a:gd name="T12" fmla="*/ 35 w 236"/>
                <a:gd name="T13" fmla="*/ 266 h 277"/>
              </a:gdLst>
              <a:ahLst/>
              <a:cxnLst>
                <a:cxn ang="0">
                  <a:pos x="T0" y="T1"/>
                </a:cxn>
                <a:cxn ang="0">
                  <a:pos x="T2" y="T3"/>
                </a:cxn>
                <a:cxn ang="0">
                  <a:pos x="T4" y="T5"/>
                </a:cxn>
                <a:cxn ang="0">
                  <a:pos x="T6" y="T7"/>
                </a:cxn>
                <a:cxn ang="0">
                  <a:pos x="T8" y="T9"/>
                </a:cxn>
                <a:cxn ang="0">
                  <a:pos x="T10" y="T11"/>
                </a:cxn>
                <a:cxn ang="0">
                  <a:pos x="T12" y="T13"/>
                </a:cxn>
              </a:cxnLst>
              <a:rect l="0" t="0" r="r" b="b"/>
              <a:pathLst>
                <a:path w="236" h="277">
                  <a:moveTo>
                    <a:pt x="35" y="266"/>
                  </a:moveTo>
                  <a:cubicBezTo>
                    <a:pt x="35" y="266"/>
                    <a:pt x="109" y="235"/>
                    <a:pt x="170" y="206"/>
                  </a:cubicBezTo>
                  <a:cubicBezTo>
                    <a:pt x="174" y="147"/>
                    <a:pt x="189" y="70"/>
                    <a:pt x="236" y="2"/>
                  </a:cubicBezTo>
                  <a:lnTo>
                    <a:pt x="227" y="1"/>
                  </a:lnTo>
                  <a:cubicBezTo>
                    <a:pt x="145" y="0"/>
                    <a:pt x="134" y="14"/>
                    <a:pt x="94" y="87"/>
                  </a:cubicBezTo>
                  <a:lnTo>
                    <a:pt x="20" y="223"/>
                  </a:lnTo>
                  <a:cubicBezTo>
                    <a:pt x="0" y="260"/>
                    <a:pt x="15" y="277"/>
                    <a:pt x="35" y="266"/>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89" name="Freeform 623"/>
            <p:cNvSpPr>
              <a:spLocks noEditPoints="1"/>
            </p:cNvSpPr>
            <p:nvPr/>
          </p:nvSpPr>
          <p:spPr bwMode="auto">
            <a:xfrm>
              <a:off x="3316" y="943"/>
              <a:ext cx="1738" cy="1706"/>
            </a:xfrm>
            <a:custGeom>
              <a:avLst/>
              <a:gdLst>
                <a:gd name="T0" fmla="*/ 367 w 438"/>
                <a:gd name="T1" fmla="*/ 111 h 429"/>
                <a:gd name="T2" fmla="*/ 320 w 438"/>
                <a:gd name="T3" fmla="*/ 111 h 429"/>
                <a:gd name="T4" fmla="*/ 320 w 438"/>
                <a:gd name="T5" fmla="*/ 64 h 429"/>
                <a:gd name="T6" fmla="*/ 367 w 438"/>
                <a:gd name="T7" fmla="*/ 64 h 429"/>
                <a:gd name="T8" fmla="*/ 367 w 438"/>
                <a:gd name="T9" fmla="*/ 111 h 429"/>
                <a:gd name="T10" fmla="*/ 296 w 438"/>
                <a:gd name="T11" fmla="*/ 229 h 429"/>
                <a:gd name="T12" fmla="*/ 202 w 438"/>
                <a:gd name="T13" fmla="*/ 229 h 429"/>
                <a:gd name="T14" fmla="*/ 202 w 438"/>
                <a:gd name="T15" fmla="*/ 135 h 429"/>
                <a:gd name="T16" fmla="*/ 296 w 438"/>
                <a:gd name="T17" fmla="*/ 135 h 429"/>
                <a:gd name="T18" fmla="*/ 296 w 438"/>
                <a:gd name="T19" fmla="*/ 229 h 429"/>
                <a:gd name="T20" fmla="*/ 383 w 438"/>
                <a:gd name="T21" fmla="*/ 0 h 429"/>
                <a:gd name="T22" fmla="*/ 93 w 438"/>
                <a:gd name="T23" fmla="*/ 124 h 429"/>
                <a:gd name="T24" fmla="*/ 0 w 438"/>
                <a:gd name="T25" fmla="*/ 354 h 429"/>
                <a:gd name="T26" fmla="*/ 69 w 438"/>
                <a:gd name="T27" fmla="*/ 265 h 429"/>
                <a:gd name="T28" fmla="*/ 142 w 438"/>
                <a:gd name="T29" fmla="*/ 243 h 429"/>
                <a:gd name="T30" fmla="*/ 175 w 438"/>
                <a:gd name="T31" fmla="*/ 254 h 429"/>
                <a:gd name="T32" fmla="*/ 163 w 438"/>
                <a:gd name="T33" fmla="*/ 360 h 429"/>
                <a:gd name="T34" fmla="*/ 162 w 438"/>
                <a:gd name="T35" fmla="*/ 361 h 429"/>
                <a:gd name="T36" fmla="*/ 74 w 438"/>
                <a:gd name="T37" fmla="*/ 429 h 429"/>
                <a:gd name="T38" fmla="*/ 304 w 438"/>
                <a:gd name="T39" fmla="*/ 336 h 429"/>
                <a:gd name="T40" fmla="*/ 422 w 438"/>
                <a:gd name="T41" fmla="*/ 6 h 429"/>
                <a:gd name="T42" fmla="*/ 383 w 438"/>
                <a:gd name="T43" fmla="*/ 0 h 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38" h="429">
                  <a:moveTo>
                    <a:pt x="367" y="111"/>
                  </a:moveTo>
                  <a:cubicBezTo>
                    <a:pt x="354" y="124"/>
                    <a:pt x="333" y="124"/>
                    <a:pt x="320" y="111"/>
                  </a:cubicBezTo>
                  <a:cubicBezTo>
                    <a:pt x="307" y="98"/>
                    <a:pt x="307" y="77"/>
                    <a:pt x="320" y="64"/>
                  </a:cubicBezTo>
                  <a:cubicBezTo>
                    <a:pt x="333" y="51"/>
                    <a:pt x="354" y="51"/>
                    <a:pt x="367" y="64"/>
                  </a:cubicBezTo>
                  <a:cubicBezTo>
                    <a:pt x="380" y="77"/>
                    <a:pt x="380" y="98"/>
                    <a:pt x="367" y="111"/>
                  </a:cubicBezTo>
                  <a:close/>
                  <a:moveTo>
                    <a:pt x="296" y="229"/>
                  </a:moveTo>
                  <a:cubicBezTo>
                    <a:pt x="270" y="255"/>
                    <a:pt x="228" y="255"/>
                    <a:pt x="202" y="229"/>
                  </a:cubicBezTo>
                  <a:cubicBezTo>
                    <a:pt x="176" y="203"/>
                    <a:pt x="176" y="161"/>
                    <a:pt x="202" y="135"/>
                  </a:cubicBezTo>
                  <a:cubicBezTo>
                    <a:pt x="228" y="109"/>
                    <a:pt x="270" y="109"/>
                    <a:pt x="296" y="135"/>
                  </a:cubicBezTo>
                  <a:cubicBezTo>
                    <a:pt x="322" y="161"/>
                    <a:pt x="322" y="203"/>
                    <a:pt x="296" y="229"/>
                  </a:cubicBezTo>
                  <a:close/>
                  <a:moveTo>
                    <a:pt x="383" y="0"/>
                  </a:moveTo>
                  <a:cubicBezTo>
                    <a:pt x="303" y="0"/>
                    <a:pt x="178" y="39"/>
                    <a:pt x="93" y="124"/>
                  </a:cubicBezTo>
                  <a:cubicBezTo>
                    <a:pt x="22" y="195"/>
                    <a:pt x="3" y="288"/>
                    <a:pt x="0" y="354"/>
                  </a:cubicBezTo>
                  <a:lnTo>
                    <a:pt x="69" y="265"/>
                  </a:lnTo>
                  <a:cubicBezTo>
                    <a:pt x="82" y="252"/>
                    <a:pt x="117" y="243"/>
                    <a:pt x="142" y="243"/>
                  </a:cubicBezTo>
                  <a:cubicBezTo>
                    <a:pt x="157" y="243"/>
                    <a:pt x="168" y="247"/>
                    <a:pt x="175" y="254"/>
                  </a:cubicBezTo>
                  <a:cubicBezTo>
                    <a:pt x="197" y="276"/>
                    <a:pt x="180" y="343"/>
                    <a:pt x="163" y="360"/>
                  </a:cubicBezTo>
                  <a:lnTo>
                    <a:pt x="162" y="361"/>
                  </a:lnTo>
                  <a:lnTo>
                    <a:pt x="74" y="429"/>
                  </a:lnTo>
                  <a:cubicBezTo>
                    <a:pt x="145" y="426"/>
                    <a:pt x="235" y="405"/>
                    <a:pt x="304" y="336"/>
                  </a:cubicBezTo>
                  <a:cubicBezTo>
                    <a:pt x="431" y="210"/>
                    <a:pt x="438" y="26"/>
                    <a:pt x="422" y="6"/>
                  </a:cubicBezTo>
                  <a:cubicBezTo>
                    <a:pt x="421" y="5"/>
                    <a:pt x="410" y="0"/>
                    <a:pt x="383"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spTree>
    <p:custDataLst>
      <p:tags r:id="rId1"/>
    </p:custDataLst>
    <p:extLst>
      <p:ext uri="{BB962C8B-B14F-4D97-AF65-F5344CB8AC3E}">
        <p14:creationId xmlns:p14="http://schemas.microsoft.com/office/powerpoint/2010/main" val="2096413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E5CD6F6-4E64-DCEF-09FE-A86E0C4310C4}"/>
              </a:ext>
            </a:extLst>
          </p:cNvPr>
          <p:cNvGrpSpPr/>
          <p:nvPr/>
        </p:nvGrpSpPr>
        <p:grpSpPr>
          <a:xfrm>
            <a:off x="1908874" y="1394296"/>
            <a:ext cx="8240889" cy="2600649"/>
            <a:chOff x="384873" y="1394295"/>
            <a:chExt cx="8240889" cy="2600649"/>
          </a:xfrm>
        </p:grpSpPr>
        <p:sp>
          <p:nvSpPr>
            <p:cNvPr id="4" name="Rounded Rectangle 71">
              <a:extLst>
                <a:ext uri="{FF2B5EF4-FFF2-40B4-BE49-F238E27FC236}">
                  <a16:creationId xmlns:a16="http://schemas.microsoft.com/office/drawing/2014/main" id="{CBC7AC30-1F6B-D394-EDD3-5D7C570DAAB8}"/>
                </a:ext>
              </a:extLst>
            </p:cNvPr>
            <p:cNvSpPr/>
            <p:nvPr>
              <p:custDataLst>
                <p:tags r:id="rId24"/>
              </p:custDataLst>
            </p:nvPr>
          </p:nvSpPr>
          <p:spPr bwMode="auto">
            <a:xfrm>
              <a:off x="384873" y="1395250"/>
              <a:ext cx="8240889" cy="2599694"/>
            </a:xfrm>
            <a:prstGeom prst="roundRect">
              <a:avLst>
                <a:gd name="adj" fmla="val 4849"/>
              </a:avLst>
            </a:prstGeom>
            <a:solidFill>
              <a:srgbClr val="FFFFFF">
                <a:lumMod val="95000"/>
              </a:srgbClr>
            </a:solidFill>
            <a:ln w="6350" cap="flat" cmpd="sng" algn="ctr">
              <a:noFill/>
              <a:prstDash val="solid"/>
              <a:round/>
              <a:headEnd type="none" w="med" len="med"/>
              <a:tailEnd type="none" w="med" len="med"/>
            </a:ln>
            <a:effectLst>
              <a:outerShdw blurRad="50800" dist="12700" dir="5400000" algn="t" rotWithShape="0">
                <a:prstClr val="black">
                  <a:alpha val="40000"/>
                </a:prstClr>
              </a:outerShdw>
            </a:effectLst>
          </p:spPr>
          <p:txBody>
            <a:bodyPr vert="horz" wrap="square" lIns="45720" tIns="457200" rIns="45720" bIns="91440" numCol="1" rtlCol="0" anchor="t" anchorCtr="0" compatLnSpc="1">
              <a:prstTxWarp prst="textNoShape">
                <a:avLst/>
              </a:prstTxWarp>
              <a:noAutofit/>
            </a:bodyPr>
            <a:lstStyle/>
            <a:p>
              <a:pPr marL="0" lvl="1" fontAlgn="base">
                <a:spcBef>
                  <a:spcPct val="0"/>
                </a:spcBef>
                <a:spcAft>
                  <a:spcPct val="0"/>
                </a:spcAft>
                <a:defRPr/>
              </a:pPr>
              <a:endParaRPr lang="en-US" kern="0">
                <a:solidFill>
                  <a:sysClr val="windowText" lastClr="000000"/>
                </a:solidFill>
                <a:latin typeface="Arial" panose="020B0604020202020204" pitchFamily="34" charset="0"/>
              </a:endParaRPr>
            </a:p>
          </p:txBody>
        </p:sp>
        <p:sp>
          <p:nvSpPr>
            <p:cNvPr id="5" name="Line 8">
              <a:extLst>
                <a:ext uri="{FF2B5EF4-FFF2-40B4-BE49-F238E27FC236}">
                  <a16:creationId xmlns:a16="http://schemas.microsoft.com/office/drawing/2014/main" id="{8FB25A8D-23C1-8AEB-B7F3-0C9FB2FEC981}"/>
                </a:ext>
              </a:extLst>
            </p:cNvPr>
            <p:cNvSpPr>
              <a:spLocks noChangeShapeType="1"/>
            </p:cNvSpPr>
            <p:nvPr>
              <p:custDataLst>
                <p:tags r:id="rId25"/>
              </p:custDataLst>
            </p:nvPr>
          </p:nvSpPr>
          <p:spPr bwMode="auto">
            <a:xfrm flipH="1">
              <a:off x="2743010" y="1394295"/>
              <a:ext cx="7080" cy="2600649"/>
            </a:xfrm>
            <a:prstGeom prst="line">
              <a:avLst/>
            </a:prstGeom>
            <a:noFill/>
            <a:ln w="12700">
              <a:solidFill>
                <a:srgbClr val="265899"/>
              </a:solidFill>
              <a:prstDash val="sysDot"/>
              <a:round/>
              <a:headEnd/>
              <a:tailEnd/>
            </a:ln>
            <a:effectLst/>
          </p:spPr>
          <p:txBody>
            <a:bodyPr wrap="square" anchor="ctr">
              <a:spAutoFit/>
            </a:bodyPr>
            <a:lstStyle/>
            <a:p>
              <a:pPr fontAlgn="base">
                <a:spcBef>
                  <a:spcPct val="0"/>
                </a:spcBef>
                <a:spcAft>
                  <a:spcPct val="0"/>
                </a:spcAft>
                <a:defRPr/>
              </a:pPr>
              <a:endParaRPr lang="en-US" kern="0">
                <a:solidFill>
                  <a:sysClr val="windowText" lastClr="000000"/>
                </a:solidFill>
                <a:latin typeface="Arial Narrow" pitchFamily="34" charset="0"/>
              </a:endParaRPr>
            </a:p>
          </p:txBody>
        </p:sp>
        <p:sp>
          <p:nvSpPr>
            <p:cNvPr id="6" name="Line 8">
              <a:extLst>
                <a:ext uri="{FF2B5EF4-FFF2-40B4-BE49-F238E27FC236}">
                  <a16:creationId xmlns:a16="http://schemas.microsoft.com/office/drawing/2014/main" id="{25F04CE2-F4EB-46AE-75D4-5EAA7F6AE4E1}"/>
                </a:ext>
              </a:extLst>
            </p:cNvPr>
            <p:cNvSpPr>
              <a:spLocks noChangeShapeType="1"/>
            </p:cNvSpPr>
            <p:nvPr>
              <p:custDataLst>
                <p:tags r:id="rId26"/>
              </p:custDataLst>
            </p:nvPr>
          </p:nvSpPr>
          <p:spPr bwMode="auto">
            <a:xfrm flipH="1">
              <a:off x="4414154" y="1394295"/>
              <a:ext cx="20932" cy="2600649"/>
            </a:xfrm>
            <a:prstGeom prst="line">
              <a:avLst/>
            </a:prstGeom>
            <a:noFill/>
            <a:ln w="12700">
              <a:solidFill>
                <a:srgbClr val="265899"/>
              </a:solidFill>
              <a:prstDash val="sysDot"/>
              <a:round/>
              <a:headEnd/>
              <a:tailEnd/>
            </a:ln>
            <a:effectLst/>
          </p:spPr>
          <p:txBody>
            <a:bodyPr wrap="square" anchor="ctr">
              <a:spAutoFit/>
            </a:bodyPr>
            <a:lstStyle/>
            <a:p>
              <a:pPr fontAlgn="base">
                <a:spcBef>
                  <a:spcPct val="0"/>
                </a:spcBef>
                <a:spcAft>
                  <a:spcPct val="0"/>
                </a:spcAft>
                <a:defRPr/>
              </a:pPr>
              <a:endParaRPr lang="en-US" kern="0">
                <a:solidFill>
                  <a:sysClr val="windowText" lastClr="000000"/>
                </a:solidFill>
                <a:latin typeface="Arial Narrow" pitchFamily="34" charset="0"/>
              </a:endParaRPr>
            </a:p>
          </p:txBody>
        </p:sp>
        <p:sp>
          <p:nvSpPr>
            <p:cNvPr id="7" name="Line 8">
              <a:extLst>
                <a:ext uri="{FF2B5EF4-FFF2-40B4-BE49-F238E27FC236}">
                  <a16:creationId xmlns:a16="http://schemas.microsoft.com/office/drawing/2014/main" id="{0D134546-7BEA-2E90-5774-F943C522E1F2}"/>
                </a:ext>
              </a:extLst>
            </p:cNvPr>
            <p:cNvSpPr>
              <a:spLocks noChangeShapeType="1"/>
            </p:cNvSpPr>
            <p:nvPr>
              <p:custDataLst>
                <p:tags r:id="rId27"/>
              </p:custDataLst>
            </p:nvPr>
          </p:nvSpPr>
          <p:spPr bwMode="auto">
            <a:xfrm flipH="1">
              <a:off x="6104980" y="1394295"/>
              <a:ext cx="15103" cy="2583020"/>
            </a:xfrm>
            <a:prstGeom prst="line">
              <a:avLst/>
            </a:prstGeom>
            <a:noFill/>
            <a:ln w="12700">
              <a:solidFill>
                <a:srgbClr val="265899"/>
              </a:solidFill>
              <a:prstDash val="sysDot"/>
              <a:round/>
              <a:headEnd/>
              <a:tailEnd/>
            </a:ln>
            <a:effectLst/>
          </p:spPr>
          <p:txBody>
            <a:bodyPr wrap="square" anchor="ctr">
              <a:spAutoFit/>
            </a:bodyPr>
            <a:lstStyle/>
            <a:p>
              <a:pPr fontAlgn="base">
                <a:spcBef>
                  <a:spcPct val="0"/>
                </a:spcBef>
                <a:spcAft>
                  <a:spcPct val="0"/>
                </a:spcAft>
                <a:defRPr/>
              </a:pPr>
              <a:endParaRPr lang="en-US" kern="0">
                <a:solidFill>
                  <a:sysClr val="windowText" lastClr="000000"/>
                </a:solidFill>
                <a:latin typeface="Arial Narrow" pitchFamily="34" charset="0"/>
              </a:endParaRPr>
            </a:p>
          </p:txBody>
        </p:sp>
        <p:sp>
          <p:nvSpPr>
            <p:cNvPr id="8" name="Line 8">
              <a:extLst>
                <a:ext uri="{FF2B5EF4-FFF2-40B4-BE49-F238E27FC236}">
                  <a16:creationId xmlns:a16="http://schemas.microsoft.com/office/drawing/2014/main" id="{A3982444-6BD6-C8AF-D180-55C9A798EE3F}"/>
                </a:ext>
              </a:extLst>
            </p:cNvPr>
            <p:cNvSpPr>
              <a:spLocks noChangeShapeType="1"/>
            </p:cNvSpPr>
            <p:nvPr>
              <p:custDataLst>
                <p:tags r:id="rId28"/>
              </p:custDataLst>
            </p:nvPr>
          </p:nvSpPr>
          <p:spPr bwMode="auto">
            <a:xfrm flipH="1">
              <a:off x="7805078" y="1394295"/>
              <a:ext cx="1" cy="2583020"/>
            </a:xfrm>
            <a:prstGeom prst="line">
              <a:avLst/>
            </a:prstGeom>
            <a:noFill/>
            <a:ln w="12700">
              <a:solidFill>
                <a:srgbClr val="265899"/>
              </a:solidFill>
              <a:prstDash val="sysDot"/>
              <a:round/>
              <a:headEnd/>
              <a:tailEnd/>
            </a:ln>
            <a:effectLst/>
          </p:spPr>
          <p:txBody>
            <a:bodyPr wrap="square" anchor="ctr">
              <a:spAutoFit/>
            </a:bodyPr>
            <a:lstStyle/>
            <a:p>
              <a:pPr fontAlgn="base">
                <a:spcBef>
                  <a:spcPct val="0"/>
                </a:spcBef>
                <a:spcAft>
                  <a:spcPct val="0"/>
                </a:spcAft>
                <a:defRPr/>
              </a:pPr>
              <a:endParaRPr lang="en-US" kern="0">
                <a:solidFill>
                  <a:sysClr val="windowText" lastClr="000000"/>
                </a:solidFill>
                <a:latin typeface="Arial Narrow" pitchFamily="34" charset="0"/>
              </a:endParaRPr>
            </a:p>
          </p:txBody>
        </p:sp>
        <p:sp>
          <p:nvSpPr>
            <p:cNvPr id="9" name="Line 8">
              <a:extLst>
                <a:ext uri="{FF2B5EF4-FFF2-40B4-BE49-F238E27FC236}">
                  <a16:creationId xmlns:a16="http://schemas.microsoft.com/office/drawing/2014/main" id="{1B5112A0-DDD0-B11C-CC66-C71BAA9D3A36}"/>
                </a:ext>
              </a:extLst>
            </p:cNvPr>
            <p:cNvSpPr>
              <a:spLocks noChangeShapeType="1"/>
            </p:cNvSpPr>
            <p:nvPr>
              <p:custDataLst>
                <p:tags r:id="rId29"/>
              </p:custDataLst>
            </p:nvPr>
          </p:nvSpPr>
          <p:spPr bwMode="auto">
            <a:xfrm flipH="1">
              <a:off x="1063014" y="1394295"/>
              <a:ext cx="2080" cy="2600649"/>
            </a:xfrm>
            <a:prstGeom prst="line">
              <a:avLst/>
            </a:prstGeom>
            <a:noFill/>
            <a:ln w="12700">
              <a:solidFill>
                <a:srgbClr val="265899"/>
              </a:solidFill>
              <a:prstDash val="sysDot"/>
              <a:round/>
              <a:headEnd/>
              <a:tailEnd/>
            </a:ln>
            <a:effectLst/>
          </p:spPr>
          <p:txBody>
            <a:bodyPr wrap="square" anchor="ctr">
              <a:spAutoFit/>
            </a:bodyPr>
            <a:lstStyle/>
            <a:p>
              <a:pPr fontAlgn="base">
                <a:spcBef>
                  <a:spcPct val="0"/>
                </a:spcBef>
                <a:spcAft>
                  <a:spcPct val="0"/>
                </a:spcAft>
                <a:defRPr/>
              </a:pPr>
              <a:endParaRPr lang="en-US" kern="0">
                <a:solidFill>
                  <a:sysClr val="windowText" lastClr="000000"/>
                </a:solidFill>
                <a:latin typeface="Arial Narrow" pitchFamily="34" charset="0"/>
              </a:endParaRPr>
            </a:p>
          </p:txBody>
        </p:sp>
        <p:sp>
          <p:nvSpPr>
            <p:cNvPr id="10" name="TextBox 9">
              <a:extLst>
                <a:ext uri="{FF2B5EF4-FFF2-40B4-BE49-F238E27FC236}">
                  <a16:creationId xmlns:a16="http://schemas.microsoft.com/office/drawing/2014/main" id="{13C4EAA2-AA42-852B-C47E-EAD09971B1E0}"/>
                </a:ext>
              </a:extLst>
            </p:cNvPr>
            <p:cNvSpPr txBox="1"/>
            <p:nvPr>
              <p:custDataLst>
                <p:tags r:id="rId30"/>
              </p:custDataLst>
            </p:nvPr>
          </p:nvSpPr>
          <p:spPr>
            <a:xfrm>
              <a:off x="2446538" y="3009629"/>
              <a:ext cx="624092" cy="584775"/>
            </a:xfrm>
            <a:prstGeom prst="rect">
              <a:avLst/>
            </a:prstGeom>
            <a:solidFill>
              <a:srgbClr val="FFFFFF">
                <a:lumMod val="95000"/>
              </a:srgbClr>
            </a:solidFill>
          </p:spPr>
          <p:txBody>
            <a:bodyPr wrap="square" rtlCol="0">
              <a:spAutoFit/>
            </a:bodyPr>
            <a:lstStyle/>
            <a:p>
              <a:pPr algn="ctr" fontAlgn="base">
                <a:spcBef>
                  <a:spcPct val="0"/>
                </a:spcBef>
                <a:spcAft>
                  <a:spcPct val="0"/>
                </a:spcAft>
                <a:defRPr/>
              </a:pPr>
              <a:r>
                <a:rPr lang="en-US" sz="3200" kern="0">
                  <a:solidFill>
                    <a:sysClr val="windowText" lastClr="000000"/>
                  </a:solidFill>
                  <a:latin typeface="Wingdings" pitchFamily="2" charset="2"/>
                </a:rPr>
                <a:t>4</a:t>
              </a:r>
              <a:endParaRPr lang="en-US" sz="2800" kern="0">
                <a:solidFill>
                  <a:sysClr val="windowText" lastClr="000000"/>
                </a:solidFill>
                <a:latin typeface="Arial Narrow" pitchFamily="34" charset="0"/>
              </a:endParaRPr>
            </a:p>
          </p:txBody>
        </p:sp>
        <p:sp>
          <p:nvSpPr>
            <p:cNvPr id="11" name="TextBox 10">
              <a:extLst>
                <a:ext uri="{FF2B5EF4-FFF2-40B4-BE49-F238E27FC236}">
                  <a16:creationId xmlns:a16="http://schemas.microsoft.com/office/drawing/2014/main" id="{94980414-0D8E-7EB1-8B85-1BF9F6FABB5E}"/>
                </a:ext>
              </a:extLst>
            </p:cNvPr>
            <p:cNvSpPr txBox="1"/>
            <p:nvPr>
              <p:custDataLst>
                <p:tags r:id="rId31"/>
              </p:custDataLst>
            </p:nvPr>
          </p:nvSpPr>
          <p:spPr>
            <a:xfrm>
              <a:off x="3655765" y="3009629"/>
              <a:ext cx="1568934" cy="584775"/>
            </a:xfrm>
            <a:prstGeom prst="rect">
              <a:avLst/>
            </a:prstGeom>
            <a:solidFill>
              <a:srgbClr val="FFFFFF">
                <a:lumMod val="95000"/>
              </a:srgbClr>
            </a:solidFill>
          </p:spPr>
          <p:txBody>
            <a:bodyPr wrap="square" rtlCol="0">
              <a:spAutoFit/>
            </a:bodyPr>
            <a:lstStyle/>
            <a:p>
              <a:pPr algn="ctr" fontAlgn="base">
                <a:spcBef>
                  <a:spcPct val="0"/>
                </a:spcBef>
                <a:spcAft>
                  <a:spcPct val="0"/>
                </a:spcAft>
                <a:defRPr/>
              </a:pPr>
              <a:r>
                <a:rPr lang="en-US" sz="3200" kern="0">
                  <a:solidFill>
                    <a:sysClr val="windowText" lastClr="000000"/>
                  </a:solidFill>
                  <a:latin typeface="Wingdings" pitchFamily="2" charset="2"/>
                </a:rPr>
                <a:t>444</a:t>
              </a:r>
              <a:endParaRPr lang="en-US" sz="3200" kern="0">
                <a:solidFill>
                  <a:sysClr val="windowText" lastClr="000000"/>
                </a:solidFill>
                <a:latin typeface="Arial Narrow" pitchFamily="34" charset="0"/>
              </a:endParaRPr>
            </a:p>
          </p:txBody>
        </p:sp>
        <p:sp>
          <p:nvSpPr>
            <p:cNvPr id="12" name="TextBox 11">
              <a:extLst>
                <a:ext uri="{FF2B5EF4-FFF2-40B4-BE49-F238E27FC236}">
                  <a16:creationId xmlns:a16="http://schemas.microsoft.com/office/drawing/2014/main" id="{548974B5-FCF0-A38E-2B0E-FBE6D549E326}"/>
                </a:ext>
              </a:extLst>
            </p:cNvPr>
            <p:cNvSpPr txBox="1"/>
            <p:nvPr>
              <p:custDataLst>
                <p:tags r:id="rId32"/>
              </p:custDataLst>
            </p:nvPr>
          </p:nvSpPr>
          <p:spPr>
            <a:xfrm>
              <a:off x="5814563" y="3036403"/>
              <a:ext cx="624091" cy="522145"/>
            </a:xfrm>
            <a:prstGeom prst="rect">
              <a:avLst/>
            </a:prstGeom>
            <a:solidFill>
              <a:srgbClr val="FFFFFF">
                <a:lumMod val="95000"/>
              </a:srgbClr>
            </a:solidFill>
          </p:spPr>
          <p:txBody>
            <a:bodyPr wrap="square" rtlCol="0" anchor="ctr">
              <a:noAutofit/>
            </a:bodyPr>
            <a:lstStyle/>
            <a:p>
              <a:pPr algn="ctr" fontAlgn="base">
                <a:spcBef>
                  <a:spcPct val="0"/>
                </a:spcBef>
                <a:spcAft>
                  <a:spcPct val="0"/>
                </a:spcAft>
                <a:defRPr/>
              </a:pPr>
              <a:r>
                <a:rPr lang="en-US" sz="3600" kern="0">
                  <a:solidFill>
                    <a:sysClr val="windowText" lastClr="000000"/>
                  </a:solidFill>
                  <a:latin typeface="Wingdings" charset="2"/>
                </a:rPr>
                <a:t>:</a:t>
              </a:r>
            </a:p>
          </p:txBody>
        </p:sp>
        <p:sp>
          <p:nvSpPr>
            <p:cNvPr id="13" name="Rounded Rectangle 103">
              <a:extLst>
                <a:ext uri="{FF2B5EF4-FFF2-40B4-BE49-F238E27FC236}">
                  <a16:creationId xmlns:a16="http://schemas.microsoft.com/office/drawing/2014/main" id="{95BB2853-27CA-251A-50B4-89F6CACBC825}"/>
                </a:ext>
              </a:extLst>
            </p:cNvPr>
            <p:cNvSpPr/>
            <p:nvPr>
              <p:custDataLst>
                <p:tags r:id="rId33"/>
              </p:custDataLst>
            </p:nvPr>
          </p:nvSpPr>
          <p:spPr bwMode="auto">
            <a:xfrm>
              <a:off x="1153794" y="1571441"/>
              <a:ext cx="1441818" cy="458741"/>
            </a:xfrm>
            <a:prstGeom prst="roundRect">
              <a:avLst/>
            </a:prstGeom>
            <a:solidFill>
              <a:srgbClr val="000000"/>
            </a:solidFill>
            <a:ln w="6350" cap="flat" cmpd="sng" algn="ctr">
              <a:noFill/>
              <a:prstDash val="solid"/>
              <a:round/>
              <a:headEnd type="none" w="med" len="med"/>
              <a:tailEnd type="none" w="med" len="med"/>
            </a:ln>
            <a:effectLst>
              <a:outerShdw blurRad="50800" dist="50800" dir="2700000" algn="tl" rotWithShape="0">
                <a:srgbClr val="000000">
                  <a:alpha val="22000"/>
                </a:srgbClr>
              </a:outerShdw>
            </a:effectLst>
          </p:spPr>
          <p:txBody>
            <a:bodyPr vert="horz" wrap="square" lIns="91440" tIns="91440" rIns="91440" bIns="91440" numCol="1" rtlCol="0" anchor="ctr" anchorCtr="0" compatLnSpc="1">
              <a:prstTxWarp prst="textNoShape">
                <a:avLst/>
              </a:prstTxWarp>
              <a:noAutofit/>
            </a:bodyPr>
            <a:lstStyle/>
            <a:p>
              <a:pPr algn="ctr" fontAlgn="base">
                <a:spcBef>
                  <a:spcPct val="20000"/>
                </a:spcBef>
                <a:spcAft>
                  <a:spcPct val="0"/>
                </a:spcAft>
                <a:buClr>
                  <a:srgbClr val="FFFFFF"/>
                </a:buClr>
                <a:buSzPct val="100000"/>
                <a:defRPr/>
              </a:pPr>
              <a:r>
                <a:rPr lang="en-US" sz="1300" b="1" kern="0">
                  <a:ln>
                    <a:solidFill>
                      <a:srgbClr val="FFFFFF">
                        <a:alpha val="0"/>
                      </a:srgbClr>
                    </a:solidFill>
                  </a:ln>
                  <a:solidFill>
                    <a:srgbClr val="FFFFFF"/>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Requirements</a:t>
              </a:r>
            </a:p>
          </p:txBody>
        </p:sp>
        <p:sp>
          <p:nvSpPr>
            <p:cNvPr id="15" name="Rounded Rectangle 104">
              <a:extLst>
                <a:ext uri="{FF2B5EF4-FFF2-40B4-BE49-F238E27FC236}">
                  <a16:creationId xmlns:a16="http://schemas.microsoft.com/office/drawing/2014/main" id="{A0B6A051-FEEF-96B6-C3DD-66126022E36B}"/>
                </a:ext>
              </a:extLst>
            </p:cNvPr>
            <p:cNvSpPr/>
            <p:nvPr>
              <p:custDataLst>
                <p:tags r:id="rId34"/>
              </p:custDataLst>
            </p:nvPr>
          </p:nvSpPr>
          <p:spPr bwMode="auto">
            <a:xfrm>
              <a:off x="2837123" y="1857421"/>
              <a:ext cx="1441818" cy="458741"/>
            </a:xfrm>
            <a:prstGeom prst="roundRect">
              <a:avLst/>
            </a:prstGeom>
            <a:solidFill>
              <a:srgbClr val="000000"/>
            </a:solidFill>
            <a:ln w="6350" cap="flat" cmpd="sng" algn="ctr">
              <a:noFill/>
              <a:prstDash val="solid"/>
              <a:round/>
              <a:headEnd type="none" w="med" len="med"/>
              <a:tailEnd type="none" w="med" len="med"/>
            </a:ln>
            <a:effectLst>
              <a:outerShdw blurRad="50800" dist="50800" dir="2700000" algn="tl" rotWithShape="0">
                <a:srgbClr val="000000">
                  <a:alpha val="22000"/>
                </a:srgbClr>
              </a:outerShdw>
            </a:effectLst>
          </p:spPr>
          <p:txBody>
            <a:bodyPr vert="horz" wrap="square" lIns="91440" tIns="91440" rIns="91440" bIns="91440" numCol="1" rtlCol="0" anchor="ctr" anchorCtr="0" compatLnSpc="1">
              <a:prstTxWarp prst="textNoShape">
                <a:avLst/>
              </a:prstTxWarp>
              <a:noAutofit/>
            </a:bodyPr>
            <a:lstStyle/>
            <a:p>
              <a:pPr algn="ctr" fontAlgn="base">
                <a:spcBef>
                  <a:spcPct val="20000"/>
                </a:spcBef>
                <a:spcAft>
                  <a:spcPct val="0"/>
                </a:spcAft>
                <a:buClr>
                  <a:srgbClr val="FFFFFF"/>
                </a:buClr>
                <a:buSzPct val="100000"/>
                <a:defRPr/>
              </a:pPr>
              <a:r>
                <a:rPr lang="en-US" sz="1300" b="1" kern="0">
                  <a:ln>
                    <a:solidFill>
                      <a:srgbClr val="FFFFFF">
                        <a:alpha val="0"/>
                      </a:srgbClr>
                    </a:solidFill>
                  </a:ln>
                  <a:solidFill>
                    <a:srgbClr val="FFFFFF"/>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Design</a:t>
              </a:r>
            </a:p>
          </p:txBody>
        </p:sp>
        <p:sp>
          <p:nvSpPr>
            <p:cNvPr id="16" name="Rounded Rectangle 105">
              <a:extLst>
                <a:ext uri="{FF2B5EF4-FFF2-40B4-BE49-F238E27FC236}">
                  <a16:creationId xmlns:a16="http://schemas.microsoft.com/office/drawing/2014/main" id="{C3FC0A17-7558-A6EF-72F6-48278F903DC6}"/>
                </a:ext>
              </a:extLst>
            </p:cNvPr>
            <p:cNvSpPr/>
            <p:nvPr>
              <p:custDataLst>
                <p:tags r:id="rId35"/>
              </p:custDataLst>
            </p:nvPr>
          </p:nvSpPr>
          <p:spPr bwMode="auto">
            <a:xfrm>
              <a:off x="4489327" y="2143402"/>
              <a:ext cx="1584176" cy="458741"/>
            </a:xfrm>
            <a:prstGeom prst="roundRect">
              <a:avLst/>
            </a:prstGeom>
            <a:solidFill>
              <a:srgbClr val="000000"/>
            </a:solidFill>
            <a:ln w="6350" cap="flat" cmpd="sng" algn="ctr">
              <a:noFill/>
              <a:prstDash val="solid"/>
              <a:round/>
              <a:headEnd type="none" w="med" len="med"/>
              <a:tailEnd type="none" w="med" len="med"/>
            </a:ln>
            <a:effectLst>
              <a:outerShdw blurRad="50800" dist="50800" dir="2700000" algn="tl" rotWithShape="0">
                <a:srgbClr val="000000">
                  <a:alpha val="22000"/>
                </a:srgbClr>
              </a:outerShdw>
            </a:effectLst>
          </p:spPr>
          <p:txBody>
            <a:bodyPr vert="horz" wrap="square" lIns="91440" tIns="91440" rIns="91440" bIns="91440" numCol="1" rtlCol="0" anchor="ctr" anchorCtr="0" compatLnSpc="1">
              <a:prstTxWarp prst="textNoShape">
                <a:avLst/>
              </a:prstTxWarp>
              <a:noAutofit/>
            </a:bodyPr>
            <a:lstStyle/>
            <a:p>
              <a:pPr algn="ctr" fontAlgn="base">
                <a:spcBef>
                  <a:spcPct val="20000"/>
                </a:spcBef>
                <a:spcAft>
                  <a:spcPct val="0"/>
                </a:spcAft>
                <a:buClr>
                  <a:srgbClr val="FFFFFF"/>
                </a:buClr>
                <a:buSzPct val="100000"/>
                <a:defRPr/>
              </a:pPr>
              <a:r>
                <a:rPr lang="en-US" sz="1300" b="1" kern="0">
                  <a:ln>
                    <a:solidFill>
                      <a:srgbClr val="FFFFFF">
                        <a:alpha val="0"/>
                      </a:srgbClr>
                    </a:solidFill>
                  </a:ln>
                  <a:solidFill>
                    <a:srgbClr val="FFFFFF"/>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Implementation</a:t>
              </a:r>
            </a:p>
          </p:txBody>
        </p:sp>
        <p:sp>
          <p:nvSpPr>
            <p:cNvPr id="17" name="Rounded Rectangle 106">
              <a:extLst>
                <a:ext uri="{FF2B5EF4-FFF2-40B4-BE49-F238E27FC236}">
                  <a16:creationId xmlns:a16="http://schemas.microsoft.com/office/drawing/2014/main" id="{B4C48501-FEE4-7262-704E-C76923B38BEC}"/>
                </a:ext>
              </a:extLst>
            </p:cNvPr>
            <p:cNvSpPr/>
            <p:nvPr>
              <p:custDataLst>
                <p:tags r:id="rId36"/>
              </p:custDataLst>
            </p:nvPr>
          </p:nvSpPr>
          <p:spPr bwMode="auto">
            <a:xfrm>
              <a:off x="6203781" y="2429384"/>
              <a:ext cx="1441818" cy="458741"/>
            </a:xfrm>
            <a:prstGeom prst="roundRect">
              <a:avLst/>
            </a:prstGeom>
            <a:solidFill>
              <a:srgbClr val="000000"/>
            </a:solidFill>
            <a:ln w="6350" cap="flat" cmpd="sng" algn="ctr">
              <a:noFill/>
              <a:prstDash val="solid"/>
              <a:round/>
              <a:headEnd type="none" w="med" len="med"/>
              <a:tailEnd type="none" w="med" len="med"/>
            </a:ln>
            <a:effectLst>
              <a:outerShdw blurRad="50800" dist="50800" dir="2700000" algn="tl" rotWithShape="0">
                <a:srgbClr val="000000">
                  <a:alpha val="22000"/>
                </a:srgbClr>
              </a:outerShdw>
            </a:effectLst>
          </p:spPr>
          <p:txBody>
            <a:bodyPr vert="horz" wrap="square" lIns="91440" tIns="91440" rIns="91440" bIns="91440" numCol="1" rtlCol="0" anchor="ctr" anchorCtr="0" compatLnSpc="1">
              <a:prstTxWarp prst="textNoShape">
                <a:avLst/>
              </a:prstTxWarp>
              <a:noAutofit/>
            </a:bodyPr>
            <a:lstStyle/>
            <a:p>
              <a:pPr algn="ctr" fontAlgn="base">
                <a:spcBef>
                  <a:spcPct val="20000"/>
                </a:spcBef>
                <a:spcAft>
                  <a:spcPct val="0"/>
                </a:spcAft>
                <a:buClr>
                  <a:srgbClr val="FFFFFF"/>
                </a:buClr>
                <a:buSzPct val="100000"/>
                <a:defRPr/>
              </a:pPr>
              <a:r>
                <a:rPr lang="en-US" sz="1300" b="1" kern="0">
                  <a:ln>
                    <a:solidFill>
                      <a:srgbClr val="FFFFFF">
                        <a:alpha val="0"/>
                      </a:srgbClr>
                    </a:solidFill>
                  </a:ln>
                  <a:solidFill>
                    <a:srgbClr val="FFFFFF"/>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Verification</a:t>
              </a:r>
            </a:p>
          </p:txBody>
        </p:sp>
        <p:sp>
          <p:nvSpPr>
            <p:cNvPr id="18" name="Bent Arrow 107">
              <a:extLst>
                <a:ext uri="{FF2B5EF4-FFF2-40B4-BE49-F238E27FC236}">
                  <a16:creationId xmlns:a16="http://schemas.microsoft.com/office/drawing/2014/main" id="{D1F55700-F419-C7EA-CBA6-4EC58709A321}"/>
                </a:ext>
              </a:extLst>
            </p:cNvPr>
            <p:cNvSpPr/>
            <p:nvPr>
              <p:custDataLst>
                <p:tags r:id="rId37"/>
              </p:custDataLst>
            </p:nvPr>
          </p:nvSpPr>
          <p:spPr bwMode="auto">
            <a:xfrm rot="5400000">
              <a:off x="3016091" y="1217750"/>
              <a:ext cx="219193" cy="1060154"/>
            </a:xfrm>
            <a:prstGeom prst="bentArrow">
              <a:avLst>
                <a:gd name="adj1" fmla="val 27023"/>
                <a:gd name="adj2" fmla="val 30181"/>
                <a:gd name="adj3" fmla="val 24097"/>
                <a:gd name="adj4" fmla="val 18303"/>
              </a:avLst>
            </a:prstGeom>
            <a:solidFill>
              <a:srgbClr val="FFFFFF">
                <a:lumMod val="65000"/>
              </a:srgbClr>
            </a:solidFill>
            <a:ln w="19050" cap="flat" cmpd="sng" algn="ctr">
              <a:noFill/>
              <a:prstDash val="solid"/>
              <a:round/>
              <a:headEnd type="none" w="med" len="med"/>
              <a:tailEnd type="none" w="med" len="med"/>
            </a:ln>
            <a:effectLst/>
          </p:spPr>
          <p:txBody>
            <a:bodyPr vert="horz" wrap="square" lIns="91440" tIns="91440" rIns="91440" bIns="91440" numCol="1" rtlCol="0" anchor="t" anchorCtr="0" compatLnSpc="1">
              <a:prstTxWarp prst="textNoShape">
                <a:avLst/>
              </a:prstTxWarp>
              <a:noAutofit/>
            </a:bodyPr>
            <a:lstStyle/>
            <a:p>
              <a:pPr eaLnBrk="0" fontAlgn="base" hangingPunct="0">
                <a:spcBef>
                  <a:spcPct val="20000"/>
                </a:spcBef>
                <a:spcAft>
                  <a:spcPct val="0"/>
                </a:spcAft>
                <a:defRPr/>
              </a:pPr>
              <a:endParaRPr lang="en-US" sz="2200" i="1" kern="0">
                <a:solidFill>
                  <a:sysClr val="windowText" lastClr="000000"/>
                </a:solidFill>
                <a:latin typeface="Arial" panose="020B0604020202020204" pitchFamily="34" charset="0"/>
              </a:endParaRPr>
            </a:p>
          </p:txBody>
        </p:sp>
        <p:sp>
          <p:nvSpPr>
            <p:cNvPr id="19" name="Bent Arrow 109">
              <a:extLst>
                <a:ext uri="{FF2B5EF4-FFF2-40B4-BE49-F238E27FC236}">
                  <a16:creationId xmlns:a16="http://schemas.microsoft.com/office/drawing/2014/main" id="{B0EB78BA-CDB3-F7F2-7A3C-5B4CAB57AD62}"/>
                </a:ext>
              </a:extLst>
            </p:cNvPr>
            <p:cNvSpPr/>
            <p:nvPr>
              <p:custDataLst>
                <p:tags r:id="rId38"/>
              </p:custDataLst>
            </p:nvPr>
          </p:nvSpPr>
          <p:spPr bwMode="auto">
            <a:xfrm rot="5400000">
              <a:off x="4699420" y="1503729"/>
              <a:ext cx="219193" cy="1060154"/>
            </a:xfrm>
            <a:prstGeom prst="bentArrow">
              <a:avLst>
                <a:gd name="adj1" fmla="val 27023"/>
                <a:gd name="adj2" fmla="val 30181"/>
                <a:gd name="adj3" fmla="val 24097"/>
                <a:gd name="adj4" fmla="val 18303"/>
              </a:avLst>
            </a:prstGeom>
            <a:solidFill>
              <a:srgbClr val="FFFFFF">
                <a:lumMod val="65000"/>
              </a:srgbClr>
            </a:solidFill>
            <a:ln w="19050" cap="flat" cmpd="sng" algn="ctr">
              <a:noFill/>
              <a:prstDash val="solid"/>
              <a:round/>
              <a:headEnd type="none" w="med" len="med"/>
              <a:tailEnd type="none" w="med" len="med"/>
            </a:ln>
            <a:effectLst/>
          </p:spPr>
          <p:txBody>
            <a:bodyPr vert="horz" wrap="square" lIns="91440" tIns="91440" rIns="91440" bIns="91440" numCol="1" rtlCol="0" anchor="t" anchorCtr="0" compatLnSpc="1">
              <a:prstTxWarp prst="textNoShape">
                <a:avLst/>
              </a:prstTxWarp>
              <a:noAutofit/>
            </a:bodyPr>
            <a:lstStyle/>
            <a:p>
              <a:pPr eaLnBrk="0" fontAlgn="base" hangingPunct="0">
                <a:spcBef>
                  <a:spcPct val="20000"/>
                </a:spcBef>
                <a:spcAft>
                  <a:spcPct val="0"/>
                </a:spcAft>
                <a:defRPr/>
              </a:pPr>
              <a:endParaRPr lang="en-US" sz="2200" i="1" kern="0">
                <a:solidFill>
                  <a:sysClr val="windowText" lastClr="000000"/>
                </a:solidFill>
                <a:latin typeface="Arial" panose="020B0604020202020204" pitchFamily="34" charset="0"/>
              </a:endParaRPr>
            </a:p>
          </p:txBody>
        </p:sp>
        <p:sp>
          <p:nvSpPr>
            <p:cNvPr id="20" name="Bent Arrow 110">
              <a:extLst>
                <a:ext uri="{FF2B5EF4-FFF2-40B4-BE49-F238E27FC236}">
                  <a16:creationId xmlns:a16="http://schemas.microsoft.com/office/drawing/2014/main" id="{74C05C78-E2EA-40A4-1208-1E26BE3E6685}"/>
                </a:ext>
              </a:extLst>
            </p:cNvPr>
            <p:cNvSpPr/>
            <p:nvPr>
              <p:custDataLst>
                <p:tags r:id="rId39"/>
              </p:custDataLst>
            </p:nvPr>
          </p:nvSpPr>
          <p:spPr bwMode="auto">
            <a:xfrm rot="5400000">
              <a:off x="6493983" y="1794122"/>
              <a:ext cx="219193" cy="1060154"/>
            </a:xfrm>
            <a:prstGeom prst="bentArrow">
              <a:avLst>
                <a:gd name="adj1" fmla="val 27023"/>
                <a:gd name="adj2" fmla="val 30181"/>
                <a:gd name="adj3" fmla="val 24097"/>
                <a:gd name="adj4" fmla="val 18303"/>
              </a:avLst>
            </a:prstGeom>
            <a:solidFill>
              <a:srgbClr val="FFFFFF">
                <a:lumMod val="65000"/>
              </a:srgbClr>
            </a:solidFill>
            <a:ln w="19050" cap="flat" cmpd="sng" algn="ctr">
              <a:noFill/>
              <a:prstDash val="solid"/>
              <a:round/>
              <a:headEnd type="none" w="med" len="med"/>
              <a:tailEnd type="none" w="med" len="med"/>
            </a:ln>
            <a:effectLst/>
          </p:spPr>
          <p:txBody>
            <a:bodyPr vert="horz" wrap="square" lIns="91440" tIns="91440" rIns="91440" bIns="91440" numCol="1" rtlCol="0" anchor="t" anchorCtr="0" compatLnSpc="1">
              <a:prstTxWarp prst="textNoShape">
                <a:avLst/>
              </a:prstTxWarp>
              <a:noAutofit/>
            </a:bodyPr>
            <a:lstStyle/>
            <a:p>
              <a:pPr eaLnBrk="0" fontAlgn="base" hangingPunct="0">
                <a:spcBef>
                  <a:spcPct val="20000"/>
                </a:spcBef>
                <a:spcAft>
                  <a:spcPct val="0"/>
                </a:spcAft>
                <a:defRPr/>
              </a:pPr>
              <a:endParaRPr lang="en-US" sz="2200" i="1" kern="0">
                <a:solidFill>
                  <a:sysClr val="windowText" lastClr="000000"/>
                </a:solidFill>
                <a:latin typeface="Arial" panose="020B0604020202020204" pitchFamily="34" charset="0"/>
              </a:endParaRPr>
            </a:p>
          </p:txBody>
        </p:sp>
        <p:sp>
          <p:nvSpPr>
            <p:cNvPr id="21" name="Round Same Side Corner Rectangle 111">
              <a:extLst>
                <a:ext uri="{FF2B5EF4-FFF2-40B4-BE49-F238E27FC236}">
                  <a16:creationId xmlns:a16="http://schemas.microsoft.com/office/drawing/2014/main" id="{D6FB62BD-6092-DAB5-514A-874C1E7A7C3C}"/>
                </a:ext>
              </a:extLst>
            </p:cNvPr>
            <p:cNvSpPr/>
            <p:nvPr>
              <p:custDataLst>
                <p:tags r:id="rId40"/>
              </p:custDataLst>
            </p:nvPr>
          </p:nvSpPr>
          <p:spPr bwMode="auto">
            <a:xfrm rot="16200000">
              <a:off x="-685604" y="2465726"/>
              <a:ext cx="2599695" cy="458741"/>
            </a:xfrm>
            <a:prstGeom prst="round2SameRect">
              <a:avLst>
                <a:gd name="adj1" fmla="val 20755"/>
                <a:gd name="adj2" fmla="val 0"/>
              </a:avLst>
            </a:prstGeom>
            <a:solidFill>
              <a:srgbClr val="DAEDEF"/>
            </a:solidFill>
            <a:ln w="6350" cap="flat" cmpd="sng" algn="ctr">
              <a:noFill/>
              <a:prstDash val="solid"/>
              <a:round/>
              <a:headEnd type="none" w="med" len="med"/>
              <a:tailEnd type="none" w="med" len="med"/>
            </a:ln>
            <a:effectLst/>
          </p:spPr>
          <p:txBody>
            <a:bodyPr vert="horz" wrap="square" lIns="91440" tIns="45720" rIns="91440" bIns="91440" numCol="1" rtlCol="0" anchor="ctr" anchorCtr="0" compatLnSpc="1">
              <a:prstTxWarp prst="textNoShape">
                <a:avLst/>
              </a:prstTxWarp>
              <a:noAutofit/>
            </a:bodyPr>
            <a:lstStyle/>
            <a:p>
              <a:pPr algn="ctr" fontAlgn="base">
                <a:spcBef>
                  <a:spcPct val="20000"/>
                </a:spcBef>
                <a:spcAft>
                  <a:spcPct val="0"/>
                </a:spcAft>
                <a:buClr>
                  <a:srgbClr val="FFFFFF"/>
                </a:buClr>
                <a:buSzPct val="100000"/>
                <a:defRPr/>
              </a:pPr>
              <a:r>
                <a:rPr lang="en-US" b="1" kern="0">
                  <a:ln>
                    <a:solidFill>
                      <a:srgbClr val="FFFFFF">
                        <a:alpha val="0"/>
                      </a:srgbClr>
                    </a:solidFill>
                  </a:ln>
                  <a:solidFill>
                    <a:srgbClr val="00206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WATERFALL</a:t>
              </a:r>
            </a:p>
          </p:txBody>
        </p:sp>
        <p:sp>
          <p:nvSpPr>
            <p:cNvPr id="22" name="TextBox 21">
              <a:extLst>
                <a:ext uri="{FF2B5EF4-FFF2-40B4-BE49-F238E27FC236}">
                  <a16:creationId xmlns:a16="http://schemas.microsoft.com/office/drawing/2014/main" id="{07E30C3B-26DF-2158-7F87-77F4A9828320}"/>
                </a:ext>
              </a:extLst>
            </p:cNvPr>
            <p:cNvSpPr txBox="1"/>
            <p:nvPr>
              <p:custDataLst>
                <p:tags r:id="rId41"/>
              </p:custDataLst>
            </p:nvPr>
          </p:nvSpPr>
          <p:spPr>
            <a:xfrm>
              <a:off x="2178421" y="3654150"/>
              <a:ext cx="1093569" cy="323165"/>
            </a:xfrm>
            <a:prstGeom prst="rect">
              <a:avLst/>
            </a:prstGeom>
            <a:solidFill>
              <a:srgbClr val="FFFFFF">
                <a:lumMod val="95000"/>
              </a:srgbClr>
            </a:solidFill>
          </p:spPr>
          <p:txBody>
            <a:bodyPr wrap="none" rtlCol="0">
              <a:spAutoFit/>
            </a:bodyPr>
            <a:lstStyle/>
            <a:p>
              <a:pPr fontAlgn="base">
                <a:spcBef>
                  <a:spcPct val="0"/>
                </a:spcBef>
                <a:spcAft>
                  <a:spcPct val="0"/>
                </a:spcAft>
                <a:defRPr/>
              </a:pPr>
              <a:r>
                <a:rPr lang="en-US" sz="1500" b="1" kern="0">
                  <a:solidFill>
                    <a:srgbClr val="327F99"/>
                  </a:solidFill>
                  <a:latin typeface="Calibri" panose="020F0502020204030204" pitchFamily="34" charset="0"/>
                  <a:cs typeface="Calibri" panose="020F0502020204030204" pitchFamily="34" charset="0"/>
                </a:rPr>
                <a:t>Documents</a:t>
              </a:r>
            </a:p>
          </p:txBody>
        </p:sp>
        <p:sp>
          <p:nvSpPr>
            <p:cNvPr id="23" name="TextBox 22">
              <a:extLst>
                <a:ext uri="{FF2B5EF4-FFF2-40B4-BE49-F238E27FC236}">
                  <a16:creationId xmlns:a16="http://schemas.microsoft.com/office/drawing/2014/main" id="{60EF9EC0-1B70-F9BC-3807-CA0379073B1A}"/>
                </a:ext>
              </a:extLst>
            </p:cNvPr>
            <p:cNvSpPr txBox="1"/>
            <p:nvPr>
              <p:custDataLst>
                <p:tags r:id="rId42"/>
              </p:custDataLst>
            </p:nvPr>
          </p:nvSpPr>
          <p:spPr>
            <a:xfrm>
              <a:off x="3863417" y="3654150"/>
              <a:ext cx="1093569" cy="323165"/>
            </a:xfrm>
            <a:prstGeom prst="rect">
              <a:avLst/>
            </a:prstGeom>
            <a:solidFill>
              <a:srgbClr val="FFFFFF">
                <a:lumMod val="95000"/>
              </a:srgbClr>
            </a:solidFill>
          </p:spPr>
          <p:txBody>
            <a:bodyPr wrap="none" rtlCol="0">
              <a:spAutoFit/>
            </a:bodyPr>
            <a:lstStyle/>
            <a:p>
              <a:pPr fontAlgn="base">
                <a:spcBef>
                  <a:spcPct val="0"/>
                </a:spcBef>
                <a:spcAft>
                  <a:spcPct val="0"/>
                </a:spcAft>
                <a:defRPr/>
              </a:pPr>
              <a:r>
                <a:rPr lang="en-US" sz="1500" b="1" kern="0">
                  <a:solidFill>
                    <a:srgbClr val="327F99"/>
                  </a:solidFill>
                  <a:latin typeface="Calibri" panose="020F0502020204030204" pitchFamily="34" charset="0"/>
                  <a:cs typeface="Calibri" panose="020F0502020204030204" pitchFamily="34" charset="0"/>
                </a:rPr>
                <a:t>Documents</a:t>
              </a:r>
            </a:p>
          </p:txBody>
        </p:sp>
        <p:sp>
          <p:nvSpPr>
            <p:cNvPr id="24" name="TextBox 23">
              <a:extLst>
                <a:ext uri="{FF2B5EF4-FFF2-40B4-BE49-F238E27FC236}">
                  <a16:creationId xmlns:a16="http://schemas.microsoft.com/office/drawing/2014/main" id="{FA563D7D-F288-7333-6089-3CABFFE768DF}"/>
                </a:ext>
              </a:extLst>
            </p:cNvPr>
            <p:cNvSpPr txBox="1"/>
            <p:nvPr>
              <p:custDataLst>
                <p:tags r:id="rId43"/>
              </p:custDataLst>
            </p:nvPr>
          </p:nvSpPr>
          <p:spPr>
            <a:xfrm>
              <a:off x="5408752" y="3654150"/>
              <a:ext cx="1470274" cy="323165"/>
            </a:xfrm>
            <a:prstGeom prst="rect">
              <a:avLst/>
            </a:prstGeom>
            <a:solidFill>
              <a:srgbClr val="FFFFFF">
                <a:lumMod val="95000"/>
              </a:srgbClr>
            </a:solidFill>
          </p:spPr>
          <p:txBody>
            <a:bodyPr wrap="none" rtlCol="0">
              <a:spAutoFit/>
            </a:bodyPr>
            <a:lstStyle/>
            <a:p>
              <a:pPr fontAlgn="base">
                <a:spcBef>
                  <a:spcPct val="0"/>
                </a:spcBef>
                <a:spcAft>
                  <a:spcPct val="0"/>
                </a:spcAft>
                <a:defRPr/>
              </a:pPr>
              <a:r>
                <a:rPr lang="en-US" sz="1500" b="1" kern="0">
                  <a:solidFill>
                    <a:srgbClr val="327F99"/>
                  </a:solidFill>
                  <a:latin typeface="Calibri" panose="020F0502020204030204" pitchFamily="34" charset="0"/>
                  <a:cs typeface="Calibri" panose="020F0502020204030204" pitchFamily="34" charset="0"/>
                </a:rPr>
                <a:t>Unverified Code</a:t>
              </a:r>
            </a:p>
          </p:txBody>
        </p:sp>
        <p:sp>
          <p:nvSpPr>
            <p:cNvPr id="25" name="TextBox 24">
              <a:extLst>
                <a:ext uri="{FF2B5EF4-FFF2-40B4-BE49-F238E27FC236}">
                  <a16:creationId xmlns:a16="http://schemas.microsoft.com/office/drawing/2014/main" id="{20F7D8C4-2503-BCED-D84D-ACEE0171599C}"/>
                </a:ext>
              </a:extLst>
            </p:cNvPr>
            <p:cNvSpPr txBox="1"/>
            <p:nvPr>
              <p:custDataLst>
                <p:tags r:id="rId44"/>
              </p:custDataLst>
            </p:nvPr>
          </p:nvSpPr>
          <p:spPr>
            <a:xfrm>
              <a:off x="7301283" y="3654150"/>
              <a:ext cx="910827" cy="323165"/>
            </a:xfrm>
            <a:prstGeom prst="rect">
              <a:avLst/>
            </a:prstGeom>
            <a:solidFill>
              <a:srgbClr val="FFFFFF">
                <a:lumMod val="95000"/>
              </a:srgbClr>
            </a:solidFill>
          </p:spPr>
          <p:txBody>
            <a:bodyPr wrap="none" rtlCol="0">
              <a:spAutoFit/>
            </a:bodyPr>
            <a:lstStyle/>
            <a:p>
              <a:pPr fontAlgn="base">
                <a:spcBef>
                  <a:spcPct val="0"/>
                </a:spcBef>
                <a:spcAft>
                  <a:spcPct val="0"/>
                </a:spcAft>
                <a:defRPr/>
              </a:pPr>
              <a:r>
                <a:rPr lang="en-US" sz="1500" b="1" kern="0">
                  <a:solidFill>
                    <a:srgbClr val="327F99"/>
                  </a:solidFill>
                  <a:latin typeface="Calibri" panose="020F0502020204030204" pitchFamily="34" charset="0"/>
                  <a:cs typeface="Calibri" panose="020F0502020204030204" pitchFamily="34" charset="0"/>
                </a:rPr>
                <a:t>Software</a:t>
              </a:r>
            </a:p>
          </p:txBody>
        </p:sp>
        <p:pic>
          <p:nvPicPr>
            <p:cNvPr id="26" name="Picture 25" descr="sprint-software-box.png">
              <a:extLst>
                <a:ext uri="{FF2B5EF4-FFF2-40B4-BE49-F238E27FC236}">
                  <a16:creationId xmlns:a16="http://schemas.microsoft.com/office/drawing/2014/main" id="{F66E3C42-FC93-7124-B992-273E565D98D5}"/>
                </a:ext>
              </a:extLst>
            </p:cNvPr>
            <p:cNvPicPr>
              <a:picLocks noChangeAspect="1"/>
            </p:cNvPicPr>
            <p:nvPr>
              <p:custDataLst>
                <p:tags r:id="rId45"/>
              </p:custDataLst>
            </p:nvPr>
          </p:nvPicPr>
          <p:blipFill>
            <a:blip r:embed="rId47" cstate="screen">
              <a:extLst>
                <a:ext uri="{28A0092B-C50C-407E-A947-70E740481C1C}">
                  <a14:useLocalDpi xmlns:a14="http://schemas.microsoft.com/office/drawing/2010/main"/>
                </a:ext>
              </a:extLst>
            </a:blip>
            <a:stretch>
              <a:fillRect/>
            </a:stretch>
          </p:blipFill>
          <p:spPr>
            <a:xfrm>
              <a:off x="7479188" y="3102993"/>
              <a:ext cx="645795" cy="687652"/>
            </a:xfrm>
            <a:prstGeom prst="rect">
              <a:avLst/>
            </a:prstGeom>
          </p:spPr>
        </p:pic>
      </p:grpSp>
      <p:grpSp>
        <p:nvGrpSpPr>
          <p:cNvPr id="27" name="Group 26">
            <a:extLst>
              <a:ext uri="{FF2B5EF4-FFF2-40B4-BE49-F238E27FC236}">
                <a16:creationId xmlns:a16="http://schemas.microsoft.com/office/drawing/2014/main" id="{1C8E6BFD-7395-DEA3-0648-8500F0049C41}"/>
              </a:ext>
            </a:extLst>
          </p:cNvPr>
          <p:cNvGrpSpPr/>
          <p:nvPr/>
        </p:nvGrpSpPr>
        <p:grpSpPr>
          <a:xfrm>
            <a:off x="1908872" y="4171136"/>
            <a:ext cx="8240890" cy="1808295"/>
            <a:chOff x="384872" y="4171135"/>
            <a:chExt cx="8240890" cy="1808295"/>
          </a:xfrm>
        </p:grpSpPr>
        <p:sp>
          <p:nvSpPr>
            <p:cNvPr id="28" name="Rounded Rectangle 72">
              <a:extLst>
                <a:ext uri="{FF2B5EF4-FFF2-40B4-BE49-F238E27FC236}">
                  <a16:creationId xmlns:a16="http://schemas.microsoft.com/office/drawing/2014/main" id="{2683243A-28B2-749D-7775-590EA81784BC}"/>
                </a:ext>
              </a:extLst>
            </p:cNvPr>
            <p:cNvSpPr/>
            <p:nvPr>
              <p:custDataLst>
                <p:tags r:id="rId1"/>
              </p:custDataLst>
            </p:nvPr>
          </p:nvSpPr>
          <p:spPr bwMode="auto">
            <a:xfrm>
              <a:off x="384872" y="4258338"/>
              <a:ext cx="8240890" cy="1700677"/>
            </a:xfrm>
            <a:prstGeom prst="roundRect">
              <a:avLst>
                <a:gd name="adj" fmla="val 9712"/>
              </a:avLst>
            </a:prstGeom>
            <a:solidFill>
              <a:srgbClr val="FFFFFF">
                <a:lumMod val="95000"/>
              </a:srgbClr>
            </a:solidFill>
            <a:ln w="6350" cap="flat" cmpd="sng" algn="ctr">
              <a:noFill/>
              <a:prstDash val="solid"/>
              <a:round/>
              <a:headEnd type="none" w="med" len="med"/>
              <a:tailEnd type="none" w="med" len="med"/>
            </a:ln>
            <a:effectLst>
              <a:outerShdw blurRad="50800" dist="12700" dir="5400000" algn="t" rotWithShape="0">
                <a:prstClr val="black">
                  <a:alpha val="40000"/>
                </a:prstClr>
              </a:outerShdw>
            </a:effectLst>
          </p:spPr>
          <p:txBody>
            <a:bodyPr vert="horz" wrap="square" lIns="45720" tIns="457200" rIns="45720" bIns="91440" numCol="1" rtlCol="0" anchor="t" anchorCtr="0" compatLnSpc="1">
              <a:prstTxWarp prst="textNoShape">
                <a:avLst/>
              </a:prstTxWarp>
              <a:noAutofit/>
            </a:bodyPr>
            <a:lstStyle/>
            <a:p>
              <a:pPr marL="0" lvl="1" fontAlgn="base">
                <a:spcBef>
                  <a:spcPct val="0"/>
                </a:spcBef>
                <a:spcAft>
                  <a:spcPct val="0"/>
                </a:spcAft>
                <a:defRPr/>
              </a:pPr>
              <a:endParaRPr lang="en-US" kern="0">
                <a:solidFill>
                  <a:sysClr val="windowText" lastClr="000000"/>
                </a:solidFill>
                <a:latin typeface="Arial" panose="020B0604020202020204" pitchFamily="34" charset="0"/>
              </a:endParaRPr>
            </a:p>
          </p:txBody>
        </p:sp>
        <p:grpSp>
          <p:nvGrpSpPr>
            <p:cNvPr id="29" name="Group 7">
              <a:extLst>
                <a:ext uri="{FF2B5EF4-FFF2-40B4-BE49-F238E27FC236}">
                  <a16:creationId xmlns:a16="http://schemas.microsoft.com/office/drawing/2014/main" id="{6840F2C2-5C2E-2260-6DCF-422CF917A01E}"/>
                </a:ext>
              </a:extLst>
            </p:cNvPr>
            <p:cNvGrpSpPr/>
            <p:nvPr>
              <p:custDataLst>
                <p:tags r:id="rId2"/>
              </p:custDataLst>
            </p:nvPr>
          </p:nvGrpSpPr>
          <p:grpSpPr>
            <a:xfrm>
              <a:off x="1139547" y="4453377"/>
              <a:ext cx="648762" cy="562895"/>
              <a:chOff x="4399395" y="2671145"/>
              <a:chExt cx="1842470" cy="1598612"/>
            </a:xfrm>
            <a:solidFill>
              <a:srgbClr val="0085AC"/>
            </a:solidFill>
          </p:grpSpPr>
          <p:sp>
            <p:nvSpPr>
              <p:cNvPr id="80" name="Right Arrow 156">
                <a:extLst>
                  <a:ext uri="{FF2B5EF4-FFF2-40B4-BE49-F238E27FC236}">
                    <a16:creationId xmlns:a16="http://schemas.microsoft.com/office/drawing/2014/main" id="{2B02BFD6-0885-512E-A315-7DE401FCBEA3}"/>
                  </a:ext>
                </a:extLst>
              </p:cNvPr>
              <p:cNvSpPr>
                <a:spLocks noChangeArrowheads="1"/>
              </p:cNvSpPr>
              <p:nvPr/>
            </p:nvSpPr>
            <p:spPr bwMode="auto">
              <a:xfrm>
                <a:off x="5304078" y="3809575"/>
                <a:ext cx="937787" cy="402880"/>
              </a:xfrm>
              <a:prstGeom prst="rightArrow">
                <a:avLst>
                  <a:gd name="adj1" fmla="val 50000"/>
                  <a:gd name="adj2" fmla="val 50004"/>
                </a:avLst>
              </a:prstGeom>
              <a:grpFill/>
              <a:ln w="9525" cap="flat" cmpd="sng" algn="ctr">
                <a:solidFill>
                  <a:srgbClr val="FFFFFF"/>
                </a:solidFill>
                <a:prstDash val="solid"/>
                <a:round/>
                <a:headEnd type="none" w="med" len="med"/>
                <a:tailEnd type="none" w="med" len="med"/>
              </a:ln>
              <a:effectLst/>
            </p:spPr>
            <p:txBody>
              <a:bodyPr/>
              <a:lstStyle/>
              <a:p>
                <a:pPr eaLnBrk="0" fontAlgn="base" hangingPunct="0">
                  <a:spcBef>
                    <a:spcPct val="0"/>
                  </a:spcBef>
                  <a:spcAft>
                    <a:spcPct val="0"/>
                  </a:spcAft>
                  <a:defRPr/>
                </a:pPr>
                <a:endParaRPr lang="en-US" kern="0">
                  <a:solidFill>
                    <a:sysClr val="windowText" lastClr="000000"/>
                  </a:solidFill>
                  <a:latin typeface="Arial" panose="020B0604020202020204" pitchFamily="34" charset="0"/>
                  <a:cs typeface="Arial"/>
                </a:endParaRPr>
              </a:p>
            </p:txBody>
          </p:sp>
          <p:sp>
            <p:nvSpPr>
              <p:cNvPr id="81" name="Rectangle 80">
                <a:extLst>
                  <a:ext uri="{FF2B5EF4-FFF2-40B4-BE49-F238E27FC236}">
                    <a16:creationId xmlns:a16="http://schemas.microsoft.com/office/drawing/2014/main" id="{EE17A23D-F045-C323-03D0-58BDDB3C09A0}"/>
                  </a:ext>
                </a:extLst>
              </p:cNvPr>
              <p:cNvSpPr>
                <a:spLocks noChangeArrowheads="1"/>
              </p:cNvSpPr>
              <p:nvPr/>
            </p:nvSpPr>
            <p:spPr bwMode="auto">
              <a:xfrm>
                <a:off x="4399395" y="3909419"/>
                <a:ext cx="914390" cy="201440"/>
              </a:xfrm>
              <a:prstGeom prst="rect">
                <a:avLst/>
              </a:prstGeom>
              <a:grpFill/>
              <a:ln w="9525" cap="flat" cmpd="sng" algn="ctr">
                <a:solidFill>
                  <a:srgbClr val="FFFFFF"/>
                </a:solidFill>
                <a:prstDash val="solid"/>
                <a:round/>
                <a:headEnd type="none" w="med" len="med"/>
                <a:tailEnd type="none" w="med" len="med"/>
              </a:ln>
              <a:effectLst/>
            </p:spPr>
            <p:txBody>
              <a:bodyPr/>
              <a:lstStyle/>
              <a:p>
                <a:pPr eaLnBrk="0" fontAlgn="base" hangingPunct="0">
                  <a:spcBef>
                    <a:spcPct val="0"/>
                  </a:spcBef>
                  <a:spcAft>
                    <a:spcPct val="0"/>
                  </a:spcAft>
                  <a:defRPr/>
                </a:pPr>
                <a:endParaRPr lang="en-US" kern="0">
                  <a:solidFill>
                    <a:sysClr val="windowText" lastClr="000000"/>
                  </a:solidFill>
                  <a:latin typeface="Arial" panose="020B0604020202020204" pitchFamily="34" charset="0"/>
                  <a:cs typeface="Arial"/>
                </a:endParaRPr>
              </a:p>
            </p:txBody>
          </p:sp>
          <p:sp>
            <p:nvSpPr>
              <p:cNvPr id="82" name="Circular Arrow 186">
                <a:extLst>
                  <a:ext uri="{FF2B5EF4-FFF2-40B4-BE49-F238E27FC236}">
                    <a16:creationId xmlns:a16="http://schemas.microsoft.com/office/drawing/2014/main" id="{D23DC6A5-B902-D800-02AB-DDC12802EB46}"/>
                  </a:ext>
                </a:extLst>
              </p:cNvPr>
              <p:cNvSpPr/>
              <p:nvPr/>
            </p:nvSpPr>
            <p:spPr bwMode="auto">
              <a:xfrm rot="7636339" flipV="1">
                <a:off x="4527366" y="2661619"/>
                <a:ext cx="1598612" cy="1617663"/>
              </a:xfrm>
              <a:prstGeom prst="circularArrow">
                <a:avLst>
                  <a:gd name="adj1" fmla="val 12500"/>
                  <a:gd name="adj2" fmla="val 1142319"/>
                  <a:gd name="adj3" fmla="val 20457681"/>
                  <a:gd name="adj4" fmla="val 2069411"/>
                  <a:gd name="adj5" fmla="val 16214"/>
                </a:avLst>
              </a:prstGeom>
              <a:grpFill/>
              <a:ln w="9525" cap="flat" cmpd="sng" algn="ctr">
                <a:solidFill>
                  <a:srgbClr val="FFFFFF"/>
                </a:solidFill>
                <a:prstDash val="solid"/>
                <a:round/>
                <a:headEnd type="none" w="med" len="med"/>
                <a:tailEnd type="none" w="med" len="med"/>
              </a:ln>
              <a:effectLst/>
            </p:spPr>
            <p:txBody>
              <a:bodyPr/>
              <a:lstStyle/>
              <a:p>
                <a:pPr eaLnBrk="0" fontAlgn="base" hangingPunct="0">
                  <a:spcBef>
                    <a:spcPct val="0"/>
                  </a:spcBef>
                  <a:spcAft>
                    <a:spcPct val="0"/>
                  </a:spcAft>
                  <a:defRPr/>
                </a:pPr>
                <a:endParaRPr lang="en-US" kern="0">
                  <a:solidFill>
                    <a:sysClr val="windowText" lastClr="000000"/>
                  </a:solidFill>
                  <a:latin typeface="Arial" panose="020B0604020202020204" pitchFamily="34" charset="0"/>
                  <a:cs typeface="Arial"/>
                </a:endParaRPr>
              </a:p>
            </p:txBody>
          </p:sp>
        </p:grpSp>
        <p:grpSp>
          <p:nvGrpSpPr>
            <p:cNvPr id="30" name="Group 7">
              <a:extLst>
                <a:ext uri="{FF2B5EF4-FFF2-40B4-BE49-F238E27FC236}">
                  <a16:creationId xmlns:a16="http://schemas.microsoft.com/office/drawing/2014/main" id="{FABEFFF0-6EA4-3B5B-8010-2C8884CFF17F}"/>
                </a:ext>
              </a:extLst>
            </p:cNvPr>
            <p:cNvGrpSpPr/>
            <p:nvPr>
              <p:custDataLst>
                <p:tags r:id="rId3"/>
              </p:custDataLst>
            </p:nvPr>
          </p:nvGrpSpPr>
          <p:grpSpPr>
            <a:xfrm>
              <a:off x="1952980" y="4453377"/>
              <a:ext cx="648762" cy="562895"/>
              <a:chOff x="4399395" y="2671145"/>
              <a:chExt cx="1842470" cy="1598612"/>
            </a:xfrm>
            <a:solidFill>
              <a:srgbClr val="0085AC"/>
            </a:solidFill>
          </p:grpSpPr>
          <p:sp>
            <p:nvSpPr>
              <p:cNvPr id="77" name="Right Arrow 37">
                <a:extLst>
                  <a:ext uri="{FF2B5EF4-FFF2-40B4-BE49-F238E27FC236}">
                    <a16:creationId xmlns:a16="http://schemas.microsoft.com/office/drawing/2014/main" id="{AA2B3052-4E9A-E20A-2630-87AB222D0715}"/>
                  </a:ext>
                </a:extLst>
              </p:cNvPr>
              <p:cNvSpPr>
                <a:spLocks noChangeArrowheads="1"/>
              </p:cNvSpPr>
              <p:nvPr/>
            </p:nvSpPr>
            <p:spPr bwMode="auto">
              <a:xfrm>
                <a:off x="5304078" y="3809575"/>
                <a:ext cx="937787" cy="402880"/>
              </a:xfrm>
              <a:prstGeom prst="rightArrow">
                <a:avLst>
                  <a:gd name="adj1" fmla="val 50000"/>
                  <a:gd name="adj2" fmla="val 50004"/>
                </a:avLst>
              </a:prstGeom>
              <a:grpFill/>
              <a:ln w="9525" cap="flat" cmpd="sng" algn="ctr">
                <a:solidFill>
                  <a:srgbClr val="FFFFFF"/>
                </a:solidFill>
                <a:prstDash val="solid"/>
                <a:round/>
                <a:headEnd type="none" w="med" len="med"/>
                <a:tailEnd type="none" w="med" len="med"/>
              </a:ln>
              <a:effectLst/>
            </p:spPr>
            <p:txBody>
              <a:bodyPr/>
              <a:lstStyle/>
              <a:p>
                <a:pPr eaLnBrk="0" fontAlgn="base" hangingPunct="0">
                  <a:spcBef>
                    <a:spcPct val="0"/>
                  </a:spcBef>
                  <a:spcAft>
                    <a:spcPct val="0"/>
                  </a:spcAft>
                  <a:defRPr/>
                </a:pPr>
                <a:endParaRPr lang="en-US" kern="0">
                  <a:solidFill>
                    <a:sysClr val="windowText" lastClr="000000"/>
                  </a:solidFill>
                  <a:latin typeface="Arial" panose="020B0604020202020204" pitchFamily="34" charset="0"/>
                  <a:cs typeface="Arial"/>
                </a:endParaRPr>
              </a:p>
            </p:txBody>
          </p:sp>
          <p:sp>
            <p:nvSpPr>
              <p:cNvPr id="78" name="Rectangle 38">
                <a:extLst>
                  <a:ext uri="{FF2B5EF4-FFF2-40B4-BE49-F238E27FC236}">
                    <a16:creationId xmlns:a16="http://schemas.microsoft.com/office/drawing/2014/main" id="{51537CC9-D623-6BF7-79E6-6218487107FE}"/>
                  </a:ext>
                </a:extLst>
              </p:cNvPr>
              <p:cNvSpPr>
                <a:spLocks noChangeArrowheads="1"/>
              </p:cNvSpPr>
              <p:nvPr/>
            </p:nvSpPr>
            <p:spPr bwMode="auto">
              <a:xfrm>
                <a:off x="4399395" y="3909419"/>
                <a:ext cx="914390" cy="201440"/>
              </a:xfrm>
              <a:prstGeom prst="rect">
                <a:avLst/>
              </a:prstGeom>
              <a:grpFill/>
              <a:ln w="9525" cap="flat" cmpd="sng" algn="ctr">
                <a:solidFill>
                  <a:srgbClr val="FFFFFF"/>
                </a:solidFill>
                <a:prstDash val="solid"/>
                <a:round/>
                <a:headEnd type="none" w="med" len="med"/>
                <a:tailEnd type="none" w="med" len="med"/>
              </a:ln>
              <a:effectLst/>
            </p:spPr>
            <p:txBody>
              <a:bodyPr/>
              <a:lstStyle/>
              <a:p>
                <a:pPr eaLnBrk="0" fontAlgn="base" hangingPunct="0">
                  <a:spcBef>
                    <a:spcPct val="0"/>
                  </a:spcBef>
                  <a:spcAft>
                    <a:spcPct val="0"/>
                  </a:spcAft>
                  <a:defRPr/>
                </a:pPr>
                <a:endParaRPr lang="en-US" kern="0">
                  <a:solidFill>
                    <a:sysClr val="windowText" lastClr="000000"/>
                  </a:solidFill>
                  <a:latin typeface="Arial" panose="020B0604020202020204" pitchFamily="34" charset="0"/>
                  <a:cs typeface="Arial"/>
                </a:endParaRPr>
              </a:p>
            </p:txBody>
          </p:sp>
          <p:sp>
            <p:nvSpPr>
              <p:cNvPr id="79" name="Circular Arrow 152">
                <a:extLst>
                  <a:ext uri="{FF2B5EF4-FFF2-40B4-BE49-F238E27FC236}">
                    <a16:creationId xmlns:a16="http://schemas.microsoft.com/office/drawing/2014/main" id="{6BB32FE8-6650-C187-B66D-4F555BF58605}"/>
                  </a:ext>
                </a:extLst>
              </p:cNvPr>
              <p:cNvSpPr/>
              <p:nvPr/>
            </p:nvSpPr>
            <p:spPr bwMode="auto">
              <a:xfrm rot="7636339" flipV="1">
                <a:off x="4527366" y="2661619"/>
                <a:ext cx="1598612" cy="1617663"/>
              </a:xfrm>
              <a:prstGeom prst="circularArrow">
                <a:avLst>
                  <a:gd name="adj1" fmla="val 12500"/>
                  <a:gd name="adj2" fmla="val 1142319"/>
                  <a:gd name="adj3" fmla="val 20457681"/>
                  <a:gd name="adj4" fmla="val 2069411"/>
                  <a:gd name="adj5" fmla="val 16214"/>
                </a:avLst>
              </a:prstGeom>
              <a:grpFill/>
              <a:ln w="9525" cap="flat" cmpd="sng" algn="ctr">
                <a:solidFill>
                  <a:srgbClr val="FFFFFF"/>
                </a:solidFill>
                <a:prstDash val="solid"/>
                <a:round/>
                <a:headEnd type="none" w="med" len="med"/>
                <a:tailEnd type="none" w="med" len="med"/>
              </a:ln>
              <a:effectLst/>
            </p:spPr>
            <p:txBody>
              <a:bodyPr/>
              <a:lstStyle/>
              <a:p>
                <a:pPr eaLnBrk="0" fontAlgn="base" hangingPunct="0">
                  <a:spcBef>
                    <a:spcPct val="0"/>
                  </a:spcBef>
                  <a:spcAft>
                    <a:spcPct val="0"/>
                  </a:spcAft>
                  <a:defRPr/>
                </a:pPr>
                <a:endParaRPr lang="en-US" kern="0">
                  <a:solidFill>
                    <a:sysClr val="windowText" lastClr="000000"/>
                  </a:solidFill>
                  <a:latin typeface="Arial" panose="020B0604020202020204" pitchFamily="34" charset="0"/>
                  <a:cs typeface="Arial"/>
                </a:endParaRPr>
              </a:p>
            </p:txBody>
          </p:sp>
        </p:grpSp>
        <p:grpSp>
          <p:nvGrpSpPr>
            <p:cNvPr id="31" name="Group 7">
              <a:extLst>
                <a:ext uri="{FF2B5EF4-FFF2-40B4-BE49-F238E27FC236}">
                  <a16:creationId xmlns:a16="http://schemas.microsoft.com/office/drawing/2014/main" id="{98B2881B-299D-E8E5-C75D-4B7A9C9E490E}"/>
                </a:ext>
              </a:extLst>
            </p:cNvPr>
            <p:cNvGrpSpPr/>
            <p:nvPr>
              <p:custDataLst>
                <p:tags r:id="rId4"/>
              </p:custDataLst>
            </p:nvPr>
          </p:nvGrpSpPr>
          <p:grpSpPr>
            <a:xfrm>
              <a:off x="2853180" y="4453377"/>
              <a:ext cx="648762" cy="562895"/>
              <a:chOff x="4399395" y="2671145"/>
              <a:chExt cx="1842470" cy="1598612"/>
            </a:xfrm>
            <a:solidFill>
              <a:srgbClr val="0085AC"/>
            </a:solidFill>
          </p:grpSpPr>
          <p:sp>
            <p:nvSpPr>
              <p:cNvPr id="74" name="Right Arrow 37">
                <a:extLst>
                  <a:ext uri="{FF2B5EF4-FFF2-40B4-BE49-F238E27FC236}">
                    <a16:creationId xmlns:a16="http://schemas.microsoft.com/office/drawing/2014/main" id="{2BECFCB6-380E-3578-2E2D-73A3EAA32DCF}"/>
                  </a:ext>
                </a:extLst>
              </p:cNvPr>
              <p:cNvSpPr>
                <a:spLocks noChangeArrowheads="1"/>
              </p:cNvSpPr>
              <p:nvPr/>
            </p:nvSpPr>
            <p:spPr bwMode="auto">
              <a:xfrm>
                <a:off x="5304078" y="3809575"/>
                <a:ext cx="937787" cy="402880"/>
              </a:xfrm>
              <a:prstGeom prst="rightArrow">
                <a:avLst>
                  <a:gd name="adj1" fmla="val 50000"/>
                  <a:gd name="adj2" fmla="val 50004"/>
                </a:avLst>
              </a:prstGeom>
              <a:grpFill/>
              <a:ln w="9525" cap="flat" cmpd="sng" algn="ctr">
                <a:solidFill>
                  <a:srgbClr val="FFFFFF"/>
                </a:solidFill>
                <a:prstDash val="solid"/>
                <a:round/>
                <a:headEnd type="none" w="med" len="med"/>
                <a:tailEnd type="none" w="med" len="med"/>
              </a:ln>
              <a:effectLst/>
            </p:spPr>
            <p:txBody>
              <a:bodyPr/>
              <a:lstStyle/>
              <a:p>
                <a:pPr eaLnBrk="0" fontAlgn="base" hangingPunct="0">
                  <a:spcBef>
                    <a:spcPct val="0"/>
                  </a:spcBef>
                  <a:spcAft>
                    <a:spcPct val="0"/>
                  </a:spcAft>
                  <a:defRPr/>
                </a:pPr>
                <a:endParaRPr lang="en-US" kern="0">
                  <a:solidFill>
                    <a:sysClr val="windowText" lastClr="000000"/>
                  </a:solidFill>
                  <a:latin typeface="Arial" panose="020B0604020202020204" pitchFamily="34" charset="0"/>
                  <a:cs typeface="Arial"/>
                </a:endParaRPr>
              </a:p>
            </p:txBody>
          </p:sp>
          <p:sp>
            <p:nvSpPr>
              <p:cNvPr id="75" name="Rectangle 38">
                <a:extLst>
                  <a:ext uri="{FF2B5EF4-FFF2-40B4-BE49-F238E27FC236}">
                    <a16:creationId xmlns:a16="http://schemas.microsoft.com/office/drawing/2014/main" id="{B07D69E7-7ACB-0AF5-D5BC-0CC239EFCC47}"/>
                  </a:ext>
                </a:extLst>
              </p:cNvPr>
              <p:cNvSpPr>
                <a:spLocks noChangeArrowheads="1"/>
              </p:cNvSpPr>
              <p:nvPr/>
            </p:nvSpPr>
            <p:spPr bwMode="auto">
              <a:xfrm>
                <a:off x="4399395" y="3909419"/>
                <a:ext cx="914390" cy="201440"/>
              </a:xfrm>
              <a:prstGeom prst="rect">
                <a:avLst/>
              </a:prstGeom>
              <a:grpFill/>
              <a:ln w="9525" cap="flat" cmpd="sng" algn="ctr">
                <a:solidFill>
                  <a:srgbClr val="FFFFFF"/>
                </a:solidFill>
                <a:prstDash val="solid"/>
                <a:round/>
                <a:headEnd type="none" w="med" len="med"/>
                <a:tailEnd type="none" w="med" len="med"/>
              </a:ln>
              <a:effectLst/>
            </p:spPr>
            <p:txBody>
              <a:bodyPr/>
              <a:lstStyle/>
              <a:p>
                <a:pPr eaLnBrk="0" fontAlgn="base" hangingPunct="0">
                  <a:spcBef>
                    <a:spcPct val="0"/>
                  </a:spcBef>
                  <a:spcAft>
                    <a:spcPct val="0"/>
                  </a:spcAft>
                  <a:defRPr/>
                </a:pPr>
                <a:endParaRPr lang="en-US" kern="0">
                  <a:solidFill>
                    <a:sysClr val="windowText" lastClr="000000"/>
                  </a:solidFill>
                  <a:latin typeface="Arial" panose="020B0604020202020204" pitchFamily="34" charset="0"/>
                  <a:cs typeface="Arial"/>
                </a:endParaRPr>
              </a:p>
            </p:txBody>
          </p:sp>
          <p:sp>
            <p:nvSpPr>
              <p:cNvPr id="76" name="Circular Arrow 140">
                <a:extLst>
                  <a:ext uri="{FF2B5EF4-FFF2-40B4-BE49-F238E27FC236}">
                    <a16:creationId xmlns:a16="http://schemas.microsoft.com/office/drawing/2014/main" id="{D70D7AF9-658E-6E78-BAB8-C6111459C7A2}"/>
                  </a:ext>
                </a:extLst>
              </p:cNvPr>
              <p:cNvSpPr/>
              <p:nvPr/>
            </p:nvSpPr>
            <p:spPr bwMode="auto">
              <a:xfrm rot="7636339" flipV="1">
                <a:off x="4527366" y="2661619"/>
                <a:ext cx="1598612" cy="1617663"/>
              </a:xfrm>
              <a:prstGeom prst="circularArrow">
                <a:avLst>
                  <a:gd name="adj1" fmla="val 12500"/>
                  <a:gd name="adj2" fmla="val 1142319"/>
                  <a:gd name="adj3" fmla="val 20457681"/>
                  <a:gd name="adj4" fmla="val 2069411"/>
                  <a:gd name="adj5" fmla="val 16214"/>
                </a:avLst>
              </a:prstGeom>
              <a:grpFill/>
              <a:ln w="9525" cap="flat" cmpd="sng" algn="ctr">
                <a:solidFill>
                  <a:srgbClr val="FFFFFF"/>
                </a:solidFill>
                <a:prstDash val="solid"/>
                <a:round/>
                <a:headEnd type="none" w="med" len="med"/>
                <a:tailEnd type="none" w="med" len="med"/>
              </a:ln>
              <a:effectLst/>
            </p:spPr>
            <p:txBody>
              <a:bodyPr/>
              <a:lstStyle/>
              <a:p>
                <a:pPr eaLnBrk="0" fontAlgn="base" hangingPunct="0">
                  <a:spcBef>
                    <a:spcPct val="0"/>
                  </a:spcBef>
                  <a:spcAft>
                    <a:spcPct val="0"/>
                  </a:spcAft>
                  <a:defRPr/>
                </a:pPr>
                <a:endParaRPr lang="en-US" kern="0">
                  <a:solidFill>
                    <a:sysClr val="windowText" lastClr="000000"/>
                  </a:solidFill>
                  <a:latin typeface="Arial" panose="020B0604020202020204" pitchFamily="34" charset="0"/>
                  <a:cs typeface="Arial"/>
                </a:endParaRPr>
              </a:p>
            </p:txBody>
          </p:sp>
        </p:grpSp>
        <p:grpSp>
          <p:nvGrpSpPr>
            <p:cNvPr id="32" name="Group 66">
              <a:extLst>
                <a:ext uri="{FF2B5EF4-FFF2-40B4-BE49-F238E27FC236}">
                  <a16:creationId xmlns:a16="http://schemas.microsoft.com/office/drawing/2014/main" id="{A5427746-144B-6754-DBF0-EE8A3197E0C7}"/>
                </a:ext>
              </a:extLst>
            </p:cNvPr>
            <p:cNvGrpSpPr/>
            <p:nvPr>
              <p:custDataLst>
                <p:tags r:id="rId5"/>
              </p:custDataLst>
            </p:nvPr>
          </p:nvGrpSpPr>
          <p:grpSpPr>
            <a:xfrm>
              <a:off x="3655767" y="4453377"/>
              <a:ext cx="648762" cy="562895"/>
              <a:chOff x="4399395" y="2671145"/>
              <a:chExt cx="1842470" cy="1598612"/>
            </a:xfrm>
            <a:solidFill>
              <a:srgbClr val="0085AC"/>
            </a:solidFill>
          </p:grpSpPr>
          <p:sp>
            <p:nvSpPr>
              <p:cNvPr id="71" name="Right Arrow 37">
                <a:extLst>
                  <a:ext uri="{FF2B5EF4-FFF2-40B4-BE49-F238E27FC236}">
                    <a16:creationId xmlns:a16="http://schemas.microsoft.com/office/drawing/2014/main" id="{0BE25F86-8681-6241-11BC-2FBE94C99884}"/>
                  </a:ext>
                </a:extLst>
              </p:cNvPr>
              <p:cNvSpPr>
                <a:spLocks noChangeArrowheads="1"/>
              </p:cNvSpPr>
              <p:nvPr/>
            </p:nvSpPr>
            <p:spPr bwMode="auto">
              <a:xfrm>
                <a:off x="5304078" y="3809575"/>
                <a:ext cx="937787" cy="402880"/>
              </a:xfrm>
              <a:prstGeom prst="rightArrow">
                <a:avLst>
                  <a:gd name="adj1" fmla="val 50000"/>
                  <a:gd name="adj2" fmla="val 50004"/>
                </a:avLst>
              </a:prstGeom>
              <a:grpFill/>
              <a:ln w="9525" cap="flat" cmpd="sng" algn="ctr">
                <a:solidFill>
                  <a:srgbClr val="FFFFFF"/>
                </a:solidFill>
                <a:prstDash val="solid"/>
                <a:round/>
                <a:headEnd type="none" w="med" len="med"/>
                <a:tailEnd type="none" w="med" len="med"/>
              </a:ln>
              <a:effectLst/>
            </p:spPr>
            <p:txBody>
              <a:bodyPr/>
              <a:lstStyle/>
              <a:p>
                <a:pPr eaLnBrk="0" fontAlgn="base" hangingPunct="0">
                  <a:spcBef>
                    <a:spcPct val="0"/>
                  </a:spcBef>
                  <a:spcAft>
                    <a:spcPct val="0"/>
                  </a:spcAft>
                  <a:defRPr/>
                </a:pPr>
                <a:endParaRPr lang="en-US" kern="0">
                  <a:solidFill>
                    <a:sysClr val="windowText" lastClr="000000"/>
                  </a:solidFill>
                  <a:latin typeface="Arial" panose="020B0604020202020204" pitchFamily="34" charset="0"/>
                  <a:cs typeface="Arial"/>
                </a:endParaRPr>
              </a:p>
            </p:txBody>
          </p:sp>
          <p:sp>
            <p:nvSpPr>
              <p:cNvPr id="72" name="Rectangle 38">
                <a:extLst>
                  <a:ext uri="{FF2B5EF4-FFF2-40B4-BE49-F238E27FC236}">
                    <a16:creationId xmlns:a16="http://schemas.microsoft.com/office/drawing/2014/main" id="{E94D55A6-5510-0EA9-6765-EF09EFB01FD3}"/>
                  </a:ext>
                </a:extLst>
              </p:cNvPr>
              <p:cNvSpPr>
                <a:spLocks noChangeArrowheads="1"/>
              </p:cNvSpPr>
              <p:nvPr/>
            </p:nvSpPr>
            <p:spPr bwMode="auto">
              <a:xfrm>
                <a:off x="4399395" y="3909419"/>
                <a:ext cx="914390" cy="201440"/>
              </a:xfrm>
              <a:prstGeom prst="rect">
                <a:avLst/>
              </a:prstGeom>
              <a:grpFill/>
              <a:ln w="9525" cap="flat" cmpd="sng" algn="ctr">
                <a:solidFill>
                  <a:srgbClr val="FFFFFF"/>
                </a:solidFill>
                <a:prstDash val="solid"/>
                <a:round/>
                <a:headEnd type="none" w="med" len="med"/>
                <a:tailEnd type="none" w="med" len="med"/>
              </a:ln>
              <a:effectLst/>
            </p:spPr>
            <p:txBody>
              <a:bodyPr/>
              <a:lstStyle/>
              <a:p>
                <a:pPr eaLnBrk="0" fontAlgn="base" hangingPunct="0">
                  <a:spcBef>
                    <a:spcPct val="0"/>
                  </a:spcBef>
                  <a:spcAft>
                    <a:spcPct val="0"/>
                  </a:spcAft>
                  <a:defRPr/>
                </a:pPr>
                <a:endParaRPr lang="en-US" kern="0">
                  <a:solidFill>
                    <a:sysClr val="windowText" lastClr="000000"/>
                  </a:solidFill>
                  <a:latin typeface="Arial" panose="020B0604020202020204" pitchFamily="34" charset="0"/>
                  <a:cs typeface="Arial"/>
                </a:endParaRPr>
              </a:p>
            </p:txBody>
          </p:sp>
          <p:sp>
            <p:nvSpPr>
              <p:cNvPr id="73" name="Circular Arrow 132">
                <a:extLst>
                  <a:ext uri="{FF2B5EF4-FFF2-40B4-BE49-F238E27FC236}">
                    <a16:creationId xmlns:a16="http://schemas.microsoft.com/office/drawing/2014/main" id="{C18B2E0B-B39B-7004-CC1A-E5E5326FEC53}"/>
                  </a:ext>
                </a:extLst>
              </p:cNvPr>
              <p:cNvSpPr/>
              <p:nvPr/>
            </p:nvSpPr>
            <p:spPr bwMode="auto">
              <a:xfrm rot="7636339" flipV="1">
                <a:off x="4527366" y="2661619"/>
                <a:ext cx="1598612" cy="1617663"/>
              </a:xfrm>
              <a:prstGeom prst="circularArrow">
                <a:avLst>
                  <a:gd name="adj1" fmla="val 12500"/>
                  <a:gd name="adj2" fmla="val 1142319"/>
                  <a:gd name="adj3" fmla="val 20457681"/>
                  <a:gd name="adj4" fmla="val 2069411"/>
                  <a:gd name="adj5" fmla="val 16214"/>
                </a:avLst>
              </a:prstGeom>
              <a:grpFill/>
              <a:ln w="9525" cap="flat" cmpd="sng" algn="ctr">
                <a:solidFill>
                  <a:srgbClr val="FFFFFF"/>
                </a:solidFill>
                <a:prstDash val="solid"/>
                <a:round/>
                <a:headEnd type="none" w="med" len="med"/>
                <a:tailEnd type="none" w="med" len="med"/>
              </a:ln>
              <a:effectLst/>
            </p:spPr>
            <p:txBody>
              <a:bodyPr/>
              <a:lstStyle/>
              <a:p>
                <a:pPr eaLnBrk="0" fontAlgn="base" hangingPunct="0">
                  <a:spcBef>
                    <a:spcPct val="0"/>
                  </a:spcBef>
                  <a:spcAft>
                    <a:spcPct val="0"/>
                  </a:spcAft>
                  <a:defRPr/>
                </a:pPr>
                <a:endParaRPr lang="en-US" kern="0">
                  <a:solidFill>
                    <a:sysClr val="windowText" lastClr="000000"/>
                  </a:solidFill>
                  <a:latin typeface="Arial" panose="020B0604020202020204" pitchFamily="34" charset="0"/>
                  <a:cs typeface="Arial"/>
                </a:endParaRPr>
              </a:p>
            </p:txBody>
          </p:sp>
        </p:grpSp>
        <p:grpSp>
          <p:nvGrpSpPr>
            <p:cNvPr id="33" name="Group 7">
              <a:extLst>
                <a:ext uri="{FF2B5EF4-FFF2-40B4-BE49-F238E27FC236}">
                  <a16:creationId xmlns:a16="http://schemas.microsoft.com/office/drawing/2014/main" id="{31C01AF9-C274-8CAC-08A5-39731C29E6B0}"/>
                </a:ext>
              </a:extLst>
            </p:cNvPr>
            <p:cNvGrpSpPr/>
            <p:nvPr>
              <p:custDataLst>
                <p:tags r:id="rId6"/>
              </p:custDataLst>
            </p:nvPr>
          </p:nvGrpSpPr>
          <p:grpSpPr>
            <a:xfrm>
              <a:off x="4499754" y="4453377"/>
              <a:ext cx="648762" cy="562895"/>
              <a:chOff x="4399395" y="2671145"/>
              <a:chExt cx="1842470" cy="1598612"/>
            </a:xfrm>
            <a:solidFill>
              <a:srgbClr val="0085AC"/>
            </a:solidFill>
          </p:grpSpPr>
          <p:sp>
            <p:nvSpPr>
              <p:cNvPr id="68" name="Right Arrow 37">
                <a:extLst>
                  <a:ext uri="{FF2B5EF4-FFF2-40B4-BE49-F238E27FC236}">
                    <a16:creationId xmlns:a16="http://schemas.microsoft.com/office/drawing/2014/main" id="{53E3F2A6-9FEF-0224-1CF1-27713F17529E}"/>
                  </a:ext>
                </a:extLst>
              </p:cNvPr>
              <p:cNvSpPr>
                <a:spLocks noChangeArrowheads="1"/>
              </p:cNvSpPr>
              <p:nvPr/>
            </p:nvSpPr>
            <p:spPr bwMode="auto">
              <a:xfrm>
                <a:off x="5304078" y="3809575"/>
                <a:ext cx="937787" cy="402880"/>
              </a:xfrm>
              <a:prstGeom prst="rightArrow">
                <a:avLst>
                  <a:gd name="adj1" fmla="val 50000"/>
                  <a:gd name="adj2" fmla="val 50004"/>
                </a:avLst>
              </a:prstGeom>
              <a:grpFill/>
              <a:ln w="9525" cap="flat" cmpd="sng" algn="ctr">
                <a:solidFill>
                  <a:srgbClr val="FFFFFF"/>
                </a:solidFill>
                <a:prstDash val="solid"/>
                <a:round/>
                <a:headEnd type="none" w="med" len="med"/>
                <a:tailEnd type="none" w="med" len="med"/>
              </a:ln>
              <a:effectLst/>
            </p:spPr>
            <p:txBody>
              <a:bodyPr/>
              <a:lstStyle/>
              <a:p>
                <a:pPr eaLnBrk="0" fontAlgn="base" hangingPunct="0">
                  <a:spcBef>
                    <a:spcPct val="0"/>
                  </a:spcBef>
                  <a:spcAft>
                    <a:spcPct val="0"/>
                  </a:spcAft>
                  <a:defRPr/>
                </a:pPr>
                <a:endParaRPr lang="en-US" kern="0">
                  <a:solidFill>
                    <a:sysClr val="windowText" lastClr="000000"/>
                  </a:solidFill>
                  <a:latin typeface="Arial" panose="020B0604020202020204" pitchFamily="34" charset="0"/>
                  <a:cs typeface="Arial"/>
                </a:endParaRPr>
              </a:p>
            </p:txBody>
          </p:sp>
          <p:sp>
            <p:nvSpPr>
              <p:cNvPr id="69" name="Rectangle 38">
                <a:extLst>
                  <a:ext uri="{FF2B5EF4-FFF2-40B4-BE49-F238E27FC236}">
                    <a16:creationId xmlns:a16="http://schemas.microsoft.com/office/drawing/2014/main" id="{32C3363B-9293-BA7E-D979-3AF9E2C289D9}"/>
                  </a:ext>
                </a:extLst>
              </p:cNvPr>
              <p:cNvSpPr>
                <a:spLocks noChangeArrowheads="1"/>
              </p:cNvSpPr>
              <p:nvPr/>
            </p:nvSpPr>
            <p:spPr bwMode="auto">
              <a:xfrm>
                <a:off x="4399395" y="3909419"/>
                <a:ext cx="914390" cy="201440"/>
              </a:xfrm>
              <a:prstGeom prst="rect">
                <a:avLst/>
              </a:prstGeom>
              <a:grpFill/>
              <a:ln w="9525" cap="flat" cmpd="sng" algn="ctr">
                <a:solidFill>
                  <a:srgbClr val="FFFFFF"/>
                </a:solidFill>
                <a:prstDash val="solid"/>
                <a:round/>
                <a:headEnd type="none" w="med" len="med"/>
                <a:tailEnd type="none" w="med" len="med"/>
              </a:ln>
              <a:effectLst/>
            </p:spPr>
            <p:txBody>
              <a:bodyPr/>
              <a:lstStyle/>
              <a:p>
                <a:pPr eaLnBrk="0" fontAlgn="base" hangingPunct="0">
                  <a:spcBef>
                    <a:spcPct val="0"/>
                  </a:spcBef>
                  <a:spcAft>
                    <a:spcPct val="0"/>
                  </a:spcAft>
                  <a:defRPr/>
                </a:pPr>
                <a:endParaRPr lang="en-US" kern="0">
                  <a:solidFill>
                    <a:sysClr val="windowText" lastClr="000000"/>
                  </a:solidFill>
                  <a:latin typeface="Arial" panose="020B0604020202020204" pitchFamily="34" charset="0"/>
                  <a:cs typeface="Arial"/>
                </a:endParaRPr>
              </a:p>
            </p:txBody>
          </p:sp>
          <p:sp>
            <p:nvSpPr>
              <p:cNvPr id="70" name="Circular Arrow 129">
                <a:extLst>
                  <a:ext uri="{FF2B5EF4-FFF2-40B4-BE49-F238E27FC236}">
                    <a16:creationId xmlns:a16="http://schemas.microsoft.com/office/drawing/2014/main" id="{462B8FFD-913F-3F11-C03C-A1F8F382D58A}"/>
                  </a:ext>
                </a:extLst>
              </p:cNvPr>
              <p:cNvSpPr/>
              <p:nvPr/>
            </p:nvSpPr>
            <p:spPr bwMode="auto">
              <a:xfrm rot="7636339" flipV="1">
                <a:off x="4527366" y="2661619"/>
                <a:ext cx="1598612" cy="1617663"/>
              </a:xfrm>
              <a:prstGeom prst="circularArrow">
                <a:avLst>
                  <a:gd name="adj1" fmla="val 12500"/>
                  <a:gd name="adj2" fmla="val 1142319"/>
                  <a:gd name="adj3" fmla="val 20457681"/>
                  <a:gd name="adj4" fmla="val 2069411"/>
                  <a:gd name="adj5" fmla="val 16214"/>
                </a:avLst>
              </a:prstGeom>
              <a:grpFill/>
              <a:ln w="9525" cap="flat" cmpd="sng" algn="ctr">
                <a:solidFill>
                  <a:srgbClr val="FFFFFF"/>
                </a:solidFill>
                <a:prstDash val="solid"/>
                <a:round/>
                <a:headEnd type="none" w="med" len="med"/>
                <a:tailEnd type="none" w="med" len="med"/>
              </a:ln>
              <a:effectLst/>
            </p:spPr>
            <p:txBody>
              <a:bodyPr/>
              <a:lstStyle/>
              <a:p>
                <a:pPr eaLnBrk="0" fontAlgn="base" hangingPunct="0">
                  <a:spcBef>
                    <a:spcPct val="0"/>
                  </a:spcBef>
                  <a:spcAft>
                    <a:spcPct val="0"/>
                  </a:spcAft>
                  <a:defRPr/>
                </a:pPr>
                <a:endParaRPr lang="en-US" kern="0">
                  <a:solidFill>
                    <a:sysClr val="windowText" lastClr="000000"/>
                  </a:solidFill>
                  <a:latin typeface="Arial" panose="020B0604020202020204" pitchFamily="34" charset="0"/>
                  <a:cs typeface="Arial"/>
                </a:endParaRPr>
              </a:p>
            </p:txBody>
          </p:sp>
        </p:grpSp>
        <p:grpSp>
          <p:nvGrpSpPr>
            <p:cNvPr id="34" name="Group 33">
              <a:extLst>
                <a:ext uri="{FF2B5EF4-FFF2-40B4-BE49-F238E27FC236}">
                  <a16:creationId xmlns:a16="http://schemas.microsoft.com/office/drawing/2014/main" id="{75AF4B87-00D5-0865-D2A8-801595E89103}"/>
                </a:ext>
              </a:extLst>
            </p:cNvPr>
            <p:cNvGrpSpPr/>
            <p:nvPr>
              <p:custDataLst>
                <p:tags r:id="rId7"/>
              </p:custDataLst>
            </p:nvPr>
          </p:nvGrpSpPr>
          <p:grpSpPr>
            <a:xfrm>
              <a:off x="5302342" y="4453377"/>
              <a:ext cx="648762" cy="562895"/>
              <a:chOff x="4399395" y="2671145"/>
              <a:chExt cx="1842470" cy="1598612"/>
            </a:xfrm>
            <a:solidFill>
              <a:srgbClr val="0085AC"/>
            </a:solidFill>
          </p:grpSpPr>
          <p:sp>
            <p:nvSpPr>
              <p:cNvPr id="65" name="Right Arrow 37">
                <a:extLst>
                  <a:ext uri="{FF2B5EF4-FFF2-40B4-BE49-F238E27FC236}">
                    <a16:creationId xmlns:a16="http://schemas.microsoft.com/office/drawing/2014/main" id="{1139AE10-42BC-279B-6BD2-99DB2EDA3E56}"/>
                  </a:ext>
                </a:extLst>
              </p:cNvPr>
              <p:cNvSpPr>
                <a:spLocks noChangeArrowheads="1"/>
              </p:cNvSpPr>
              <p:nvPr/>
            </p:nvSpPr>
            <p:spPr bwMode="auto">
              <a:xfrm>
                <a:off x="5304078" y="3809575"/>
                <a:ext cx="937787" cy="402880"/>
              </a:xfrm>
              <a:prstGeom prst="rightArrow">
                <a:avLst>
                  <a:gd name="adj1" fmla="val 50000"/>
                  <a:gd name="adj2" fmla="val 50004"/>
                </a:avLst>
              </a:prstGeom>
              <a:grpFill/>
              <a:ln w="9525" cap="flat" cmpd="sng" algn="ctr">
                <a:solidFill>
                  <a:srgbClr val="FFFFFF"/>
                </a:solidFill>
                <a:prstDash val="solid"/>
                <a:round/>
                <a:headEnd type="none" w="med" len="med"/>
                <a:tailEnd type="none" w="med" len="med"/>
              </a:ln>
              <a:effectLst/>
            </p:spPr>
            <p:txBody>
              <a:bodyPr/>
              <a:lstStyle/>
              <a:p>
                <a:pPr eaLnBrk="0" fontAlgn="base" hangingPunct="0">
                  <a:spcBef>
                    <a:spcPct val="0"/>
                  </a:spcBef>
                  <a:spcAft>
                    <a:spcPct val="0"/>
                  </a:spcAft>
                  <a:defRPr/>
                </a:pPr>
                <a:endParaRPr lang="en-US" kern="0">
                  <a:solidFill>
                    <a:sysClr val="windowText" lastClr="000000"/>
                  </a:solidFill>
                  <a:latin typeface="Arial" panose="020B0604020202020204" pitchFamily="34" charset="0"/>
                  <a:cs typeface="Arial"/>
                </a:endParaRPr>
              </a:p>
            </p:txBody>
          </p:sp>
          <p:sp>
            <p:nvSpPr>
              <p:cNvPr id="66" name="Rectangle 38">
                <a:extLst>
                  <a:ext uri="{FF2B5EF4-FFF2-40B4-BE49-F238E27FC236}">
                    <a16:creationId xmlns:a16="http://schemas.microsoft.com/office/drawing/2014/main" id="{332892D3-9C2C-1145-858F-51E701B61943}"/>
                  </a:ext>
                </a:extLst>
              </p:cNvPr>
              <p:cNvSpPr>
                <a:spLocks noChangeArrowheads="1"/>
              </p:cNvSpPr>
              <p:nvPr/>
            </p:nvSpPr>
            <p:spPr bwMode="auto">
              <a:xfrm>
                <a:off x="4399395" y="3909419"/>
                <a:ext cx="914390" cy="201440"/>
              </a:xfrm>
              <a:prstGeom prst="rect">
                <a:avLst/>
              </a:prstGeom>
              <a:grpFill/>
              <a:ln w="9525" cap="flat" cmpd="sng" algn="ctr">
                <a:solidFill>
                  <a:srgbClr val="FFFFFF"/>
                </a:solidFill>
                <a:prstDash val="solid"/>
                <a:round/>
                <a:headEnd type="none" w="med" len="med"/>
                <a:tailEnd type="none" w="med" len="med"/>
              </a:ln>
              <a:effectLst/>
            </p:spPr>
            <p:txBody>
              <a:bodyPr/>
              <a:lstStyle/>
              <a:p>
                <a:pPr eaLnBrk="0" fontAlgn="base" hangingPunct="0">
                  <a:spcBef>
                    <a:spcPct val="0"/>
                  </a:spcBef>
                  <a:spcAft>
                    <a:spcPct val="0"/>
                  </a:spcAft>
                  <a:defRPr/>
                </a:pPr>
                <a:endParaRPr lang="en-US" kern="0">
                  <a:solidFill>
                    <a:sysClr val="windowText" lastClr="000000"/>
                  </a:solidFill>
                  <a:latin typeface="Arial" panose="020B0604020202020204" pitchFamily="34" charset="0"/>
                  <a:cs typeface="Arial"/>
                </a:endParaRPr>
              </a:p>
            </p:txBody>
          </p:sp>
          <p:sp>
            <p:nvSpPr>
              <p:cNvPr id="67" name="Circular Arrow 126">
                <a:extLst>
                  <a:ext uri="{FF2B5EF4-FFF2-40B4-BE49-F238E27FC236}">
                    <a16:creationId xmlns:a16="http://schemas.microsoft.com/office/drawing/2014/main" id="{A43B1122-C2A1-8726-5127-6B035A526C77}"/>
                  </a:ext>
                </a:extLst>
              </p:cNvPr>
              <p:cNvSpPr/>
              <p:nvPr/>
            </p:nvSpPr>
            <p:spPr bwMode="auto">
              <a:xfrm rot="7636339" flipV="1">
                <a:off x="4527366" y="2661619"/>
                <a:ext cx="1598612" cy="1617663"/>
              </a:xfrm>
              <a:prstGeom prst="circularArrow">
                <a:avLst>
                  <a:gd name="adj1" fmla="val 12500"/>
                  <a:gd name="adj2" fmla="val 1142319"/>
                  <a:gd name="adj3" fmla="val 20457681"/>
                  <a:gd name="adj4" fmla="val 2069411"/>
                  <a:gd name="adj5" fmla="val 16214"/>
                </a:avLst>
              </a:prstGeom>
              <a:grpFill/>
              <a:ln w="9525" cap="flat" cmpd="sng" algn="ctr">
                <a:solidFill>
                  <a:srgbClr val="FFFFFF"/>
                </a:solidFill>
                <a:prstDash val="solid"/>
                <a:round/>
                <a:headEnd type="none" w="med" len="med"/>
                <a:tailEnd type="none" w="med" len="med"/>
              </a:ln>
              <a:effectLst/>
            </p:spPr>
            <p:txBody>
              <a:bodyPr/>
              <a:lstStyle/>
              <a:p>
                <a:pPr eaLnBrk="0" fontAlgn="base" hangingPunct="0">
                  <a:spcBef>
                    <a:spcPct val="0"/>
                  </a:spcBef>
                  <a:spcAft>
                    <a:spcPct val="0"/>
                  </a:spcAft>
                  <a:defRPr/>
                </a:pPr>
                <a:endParaRPr lang="en-US" kern="0">
                  <a:solidFill>
                    <a:sysClr val="windowText" lastClr="000000"/>
                  </a:solidFill>
                  <a:latin typeface="Arial" panose="020B0604020202020204" pitchFamily="34" charset="0"/>
                  <a:cs typeface="Arial"/>
                </a:endParaRPr>
              </a:p>
            </p:txBody>
          </p:sp>
        </p:grpSp>
        <p:grpSp>
          <p:nvGrpSpPr>
            <p:cNvPr id="35" name="Group 88">
              <a:extLst>
                <a:ext uri="{FF2B5EF4-FFF2-40B4-BE49-F238E27FC236}">
                  <a16:creationId xmlns:a16="http://schemas.microsoft.com/office/drawing/2014/main" id="{EB0CF49C-4AB3-DD44-49CA-12CEAA38821B}"/>
                </a:ext>
              </a:extLst>
            </p:cNvPr>
            <p:cNvGrpSpPr/>
            <p:nvPr>
              <p:custDataLst>
                <p:tags r:id="rId8"/>
              </p:custDataLst>
            </p:nvPr>
          </p:nvGrpSpPr>
          <p:grpSpPr>
            <a:xfrm>
              <a:off x="6245926" y="4453377"/>
              <a:ext cx="648762" cy="562895"/>
              <a:chOff x="4399395" y="2671145"/>
              <a:chExt cx="1842470" cy="1598612"/>
            </a:xfrm>
            <a:solidFill>
              <a:srgbClr val="0085AC"/>
            </a:solidFill>
          </p:grpSpPr>
          <p:sp>
            <p:nvSpPr>
              <p:cNvPr id="62" name="Right Arrow 37">
                <a:extLst>
                  <a:ext uri="{FF2B5EF4-FFF2-40B4-BE49-F238E27FC236}">
                    <a16:creationId xmlns:a16="http://schemas.microsoft.com/office/drawing/2014/main" id="{3237F9B7-B300-45CD-5B33-825114141390}"/>
                  </a:ext>
                </a:extLst>
              </p:cNvPr>
              <p:cNvSpPr>
                <a:spLocks noChangeArrowheads="1"/>
              </p:cNvSpPr>
              <p:nvPr/>
            </p:nvSpPr>
            <p:spPr bwMode="auto">
              <a:xfrm>
                <a:off x="5304078" y="3809575"/>
                <a:ext cx="937787" cy="402880"/>
              </a:xfrm>
              <a:prstGeom prst="rightArrow">
                <a:avLst>
                  <a:gd name="adj1" fmla="val 50000"/>
                  <a:gd name="adj2" fmla="val 50004"/>
                </a:avLst>
              </a:prstGeom>
              <a:grpFill/>
              <a:ln w="9525" cap="flat" cmpd="sng" algn="ctr">
                <a:solidFill>
                  <a:srgbClr val="FFFFFF"/>
                </a:solidFill>
                <a:prstDash val="solid"/>
                <a:round/>
                <a:headEnd type="none" w="med" len="med"/>
                <a:tailEnd type="none" w="med" len="med"/>
              </a:ln>
              <a:effectLst/>
            </p:spPr>
            <p:txBody>
              <a:bodyPr/>
              <a:lstStyle/>
              <a:p>
                <a:pPr eaLnBrk="0" fontAlgn="base" hangingPunct="0">
                  <a:spcBef>
                    <a:spcPct val="0"/>
                  </a:spcBef>
                  <a:spcAft>
                    <a:spcPct val="0"/>
                  </a:spcAft>
                  <a:defRPr/>
                </a:pPr>
                <a:endParaRPr lang="en-US" kern="0">
                  <a:solidFill>
                    <a:sysClr val="windowText" lastClr="000000"/>
                  </a:solidFill>
                  <a:latin typeface="Arial" panose="020B0604020202020204" pitchFamily="34" charset="0"/>
                  <a:cs typeface="Arial"/>
                </a:endParaRPr>
              </a:p>
            </p:txBody>
          </p:sp>
          <p:sp>
            <p:nvSpPr>
              <p:cNvPr id="63" name="Rectangle 38">
                <a:extLst>
                  <a:ext uri="{FF2B5EF4-FFF2-40B4-BE49-F238E27FC236}">
                    <a16:creationId xmlns:a16="http://schemas.microsoft.com/office/drawing/2014/main" id="{76592710-7D1D-4265-F2EF-ED92D3D3E6B8}"/>
                  </a:ext>
                </a:extLst>
              </p:cNvPr>
              <p:cNvSpPr>
                <a:spLocks noChangeArrowheads="1"/>
              </p:cNvSpPr>
              <p:nvPr/>
            </p:nvSpPr>
            <p:spPr bwMode="auto">
              <a:xfrm>
                <a:off x="4399395" y="3909419"/>
                <a:ext cx="914390" cy="201440"/>
              </a:xfrm>
              <a:prstGeom prst="rect">
                <a:avLst/>
              </a:prstGeom>
              <a:grpFill/>
              <a:ln w="9525" cap="flat" cmpd="sng" algn="ctr">
                <a:solidFill>
                  <a:srgbClr val="FFFFFF"/>
                </a:solidFill>
                <a:prstDash val="solid"/>
                <a:round/>
                <a:headEnd type="none" w="med" len="med"/>
                <a:tailEnd type="none" w="med" len="med"/>
              </a:ln>
              <a:effectLst/>
            </p:spPr>
            <p:txBody>
              <a:bodyPr/>
              <a:lstStyle/>
              <a:p>
                <a:pPr eaLnBrk="0" fontAlgn="base" hangingPunct="0">
                  <a:spcBef>
                    <a:spcPct val="0"/>
                  </a:spcBef>
                  <a:spcAft>
                    <a:spcPct val="0"/>
                  </a:spcAft>
                  <a:defRPr/>
                </a:pPr>
                <a:endParaRPr lang="en-US" kern="0">
                  <a:solidFill>
                    <a:sysClr val="windowText" lastClr="000000"/>
                  </a:solidFill>
                  <a:latin typeface="Arial" panose="020B0604020202020204" pitchFamily="34" charset="0"/>
                  <a:cs typeface="Arial"/>
                </a:endParaRPr>
              </a:p>
            </p:txBody>
          </p:sp>
          <p:sp>
            <p:nvSpPr>
              <p:cNvPr id="64" name="Circular Arrow 123">
                <a:extLst>
                  <a:ext uri="{FF2B5EF4-FFF2-40B4-BE49-F238E27FC236}">
                    <a16:creationId xmlns:a16="http://schemas.microsoft.com/office/drawing/2014/main" id="{B4BA98C2-BD77-321A-0845-BF5FF8ED7880}"/>
                  </a:ext>
                </a:extLst>
              </p:cNvPr>
              <p:cNvSpPr/>
              <p:nvPr/>
            </p:nvSpPr>
            <p:spPr bwMode="auto">
              <a:xfrm rot="7636339" flipV="1">
                <a:off x="4527366" y="2661619"/>
                <a:ext cx="1598612" cy="1617663"/>
              </a:xfrm>
              <a:prstGeom prst="circularArrow">
                <a:avLst>
                  <a:gd name="adj1" fmla="val 12500"/>
                  <a:gd name="adj2" fmla="val 1142319"/>
                  <a:gd name="adj3" fmla="val 20457681"/>
                  <a:gd name="adj4" fmla="val 2069411"/>
                  <a:gd name="adj5" fmla="val 16214"/>
                </a:avLst>
              </a:prstGeom>
              <a:grpFill/>
              <a:ln w="9525" cap="flat" cmpd="sng" algn="ctr">
                <a:solidFill>
                  <a:srgbClr val="FFFFFF"/>
                </a:solidFill>
                <a:prstDash val="solid"/>
                <a:round/>
                <a:headEnd type="none" w="med" len="med"/>
                <a:tailEnd type="none" w="med" len="med"/>
              </a:ln>
              <a:effectLst/>
            </p:spPr>
            <p:txBody>
              <a:bodyPr/>
              <a:lstStyle/>
              <a:p>
                <a:pPr eaLnBrk="0" fontAlgn="base" hangingPunct="0">
                  <a:spcBef>
                    <a:spcPct val="0"/>
                  </a:spcBef>
                  <a:spcAft>
                    <a:spcPct val="0"/>
                  </a:spcAft>
                  <a:defRPr/>
                </a:pPr>
                <a:endParaRPr lang="en-US" kern="0">
                  <a:solidFill>
                    <a:sysClr val="windowText" lastClr="000000"/>
                  </a:solidFill>
                  <a:latin typeface="Arial" panose="020B0604020202020204" pitchFamily="34" charset="0"/>
                  <a:cs typeface="Arial"/>
                </a:endParaRPr>
              </a:p>
            </p:txBody>
          </p:sp>
        </p:grpSp>
        <p:grpSp>
          <p:nvGrpSpPr>
            <p:cNvPr id="36" name="Group 7">
              <a:extLst>
                <a:ext uri="{FF2B5EF4-FFF2-40B4-BE49-F238E27FC236}">
                  <a16:creationId xmlns:a16="http://schemas.microsoft.com/office/drawing/2014/main" id="{59461C5C-D887-FEF7-13E6-80540FB7749E}"/>
                </a:ext>
              </a:extLst>
            </p:cNvPr>
            <p:cNvGrpSpPr/>
            <p:nvPr>
              <p:custDataLst>
                <p:tags r:id="rId9"/>
              </p:custDataLst>
            </p:nvPr>
          </p:nvGrpSpPr>
          <p:grpSpPr>
            <a:xfrm>
              <a:off x="7048513" y="4453377"/>
              <a:ext cx="648762" cy="562895"/>
              <a:chOff x="4399395" y="2671145"/>
              <a:chExt cx="1842470" cy="1598612"/>
            </a:xfrm>
            <a:solidFill>
              <a:srgbClr val="0085AC"/>
            </a:solidFill>
          </p:grpSpPr>
          <p:sp>
            <p:nvSpPr>
              <p:cNvPr id="59" name="Right Arrow 37">
                <a:extLst>
                  <a:ext uri="{FF2B5EF4-FFF2-40B4-BE49-F238E27FC236}">
                    <a16:creationId xmlns:a16="http://schemas.microsoft.com/office/drawing/2014/main" id="{29FBABE4-E348-2C9F-8A7A-A122D68BA9A1}"/>
                  </a:ext>
                </a:extLst>
              </p:cNvPr>
              <p:cNvSpPr>
                <a:spLocks noChangeArrowheads="1"/>
              </p:cNvSpPr>
              <p:nvPr/>
            </p:nvSpPr>
            <p:spPr bwMode="auto">
              <a:xfrm>
                <a:off x="5304078" y="3809575"/>
                <a:ext cx="937787" cy="402880"/>
              </a:xfrm>
              <a:prstGeom prst="rightArrow">
                <a:avLst>
                  <a:gd name="adj1" fmla="val 50000"/>
                  <a:gd name="adj2" fmla="val 50004"/>
                </a:avLst>
              </a:prstGeom>
              <a:grpFill/>
              <a:ln w="9525" cap="flat" cmpd="sng" algn="ctr">
                <a:solidFill>
                  <a:srgbClr val="FFFFFF"/>
                </a:solidFill>
                <a:prstDash val="solid"/>
                <a:round/>
                <a:headEnd type="none" w="med" len="med"/>
                <a:tailEnd type="none" w="med" len="med"/>
              </a:ln>
              <a:effectLst/>
            </p:spPr>
            <p:txBody>
              <a:bodyPr/>
              <a:lstStyle/>
              <a:p>
                <a:pPr eaLnBrk="0" fontAlgn="base" hangingPunct="0">
                  <a:spcBef>
                    <a:spcPct val="0"/>
                  </a:spcBef>
                  <a:spcAft>
                    <a:spcPct val="0"/>
                  </a:spcAft>
                  <a:defRPr/>
                </a:pPr>
                <a:endParaRPr lang="en-US" kern="0">
                  <a:solidFill>
                    <a:sysClr val="windowText" lastClr="000000"/>
                  </a:solidFill>
                  <a:latin typeface="Arial" panose="020B0604020202020204" pitchFamily="34" charset="0"/>
                  <a:cs typeface="Arial"/>
                </a:endParaRPr>
              </a:p>
            </p:txBody>
          </p:sp>
          <p:sp>
            <p:nvSpPr>
              <p:cNvPr id="60" name="Rectangle 38">
                <a:extLst>
                  <a:ext uri="{FF2B5EF4-FFF2-40B4-BE49-F238E27FC236}">
                    <a16:creationId xmlns:a16="http://schemas.microsoft.com/office/drawing/2014/main" id="{7DBDA0FF-6CDC-24F9-C2CC-48BB953185C7}"/>
                  </a:ext>
                </a:extLst>
              </p:cNvPr>
              <p:cNvSpPr>
                <a:spLocks noChangeArrowheads="1"/>
              </p:cNvSpPr>
              <p:nvPr/>
            </p:nvSpPr>
            <p:spPr bwMode="auto">
              <a:xfrm>
                <a:off x="4399395" y="3909419"/>
                <a:ext cx="914390" cy="201440"/>
              </a:xfrm>
              <a:prstGeom prst="rect">
                <a:avLst/>
              </a:prstGeom>
              <a:grpFill/>
              <a:ln w="9525" cap="flat" cmpd="sng" algn="ctr">
                <a:solidFill>
                  <a:srgbClr val="FFFFFF"/>
                </a:solidFill>
                <a:prstDash val="solid"/>
                <a:round/>
                <a:headEnd type="none" w="med" len="med"/>
                <a:tailEnd type="none" w="med" len="med"/>
              </a:ln>
              <a:effectLst/>
            </p:spPr>
            <p:txBody>
              <a:bodyPr/>
              <a:lstStyle/>
              <a:p>
                <a:pPr eaLnBrk="0" fontAlgn="base" hangingPunct="0">
                  <a:spcBef>
                    <a:spcPct val="0"/>
                  </a:spcBef>
                  <a:spcAft>
                    <a:spcPct val="0"/>
                  </a:spcAft>
                  <a:defRPr/>
                </a:pPr>
                <a:endParaRPr lang="en-US" kern="0">
                  <a:solidFill>
                    <a:sysClr val="windowText" lastClr="000000"/>
                  </a:solidFill>
                  <a:latin typeface="Arial" panose="020B0604020202020204" pitchFamily="34" charset="0"/>
                  <a:cs typeface="Arial"/>
                </a:endParaRPr>
              </a:p>
            </p:txBody>
          </p:sp>
          <p:sp>
            <p:nvSpPr>
              <p:cNvPr id="61" name="Circular Arrow 120">
                <a:extLst>
                  <a:ext uri="{FF2B5EF4-FFF2-40B4-BE49-F238E27FC236}">
                    <a16:creationId xmlns:a16="http://schemas.microsoft.com/office/drawing/2014/main" id="{5F39BAB8-2AC6-6027-7313-93B80F342373}"/>
                  </a:ext>
                </a:extLst>
              </p:cNvPr>
              <p:cNvSpPr/>
              <p:nvPr/>
            </p:nvSpPr>
            <p:spPr bwMode="auto">
              <a:xfrm rot="7636339" flipV="1">
                <a:off x="4527366" y="2661619"/>
                <a:ext cx="1598612" cy="1617663"/>
              </a:xfrm>
              <a:prstGeom prst="circularArrow">
                <a:avLst>
                  <a:gd name="adj1" fmla="val 12500"/>
                  <a:gd name="adj2" fmla="val 1142319"/>
                  <a:gd name="adj3" fmla="val 20457681"/>
                  <a:gd name="adj4" fmla="val 2069411"/>
                  <a:gd name="adj5" fmla="val 16214"/>
                </a:avLst>
              </a:prstGeom>
              <a:grpFill/>
              <a:ln w="9525" cap="flat" cmpd="sng" algn="ctr">
                <a:solidFill>
                  <a:srgbClr val="FFFFFF"/>
                </a:solidFill>
                <a:prstDash val="solid"/>
                <a:round/>
                <a:headEnd type="none" w="med" len="med"/>
                <a:tailEnd type="none" w="med" len="med"/>
              </a:ln>
              <a:effectLst/>
            </p:spPr>
            <p:txBody>
              <a:bodyPr/>
              <a:lstStyle/>
              <a:p>
                <a:pPr eaLnBrk="0" fontAlgn="base" hangingPunct="0">
                  <a:spcBef>
                    <a:spcPct val="0"/>
                  </a:spcBef>
                  <a:spcAft>
                    <a:spcPct val="0"/>
                  </a:spcAft>
                  <a:defRPr/>
                </a:pPr>
                <a:endParaRPr lang="en-US" kern="0">
                  <a:solidFill>
                    <a:sysClr val="windowText" lastClr="000000"/>
                  </a:solidFill>
                  <a:latin typeface="Arial" panose="020B0604020202020204" pitchFamily="34" charset="0"/>
                  <a:cs typeface="Arial"/>
                </a:endParaRPr>
              </a:p>
            </p:txBody>
          </p:sp>
        </p:grpSp>
        <p:pic>
          <p:nvPicPr>
            <p:cNvPr id="37" name="Picture 36" descr="sprint-software-box.png">
              <a:extLst>
                <a:ext uri="{FF2B5EF4-FFF2-40B4-BE49-F238E27FC236}">
                  <a16:creationId xmlns:a16="http://schemas.microsoft.com/office/drawing/2014/main" id="{1016A518-F98B-E807-7FEC-4147B3C73999}"/>
                </a:ext>
              </a:extLst>
            </p:cNvPr>
            <p:cNvPicPr>
              <a:picLocks noChangeAspect="1"/>
            </p:cNvPicPr>
            <p:nvPr>
              <p:custDataLst>
                <p:tags r:id="rId10"/>
              </p:custDataLst>
            </p:nvPr>
          </p:nvPicPr>
          <p:blipFill>
            <a:blip r:embed="rId48" cstate="screen">
              <a:extLst>
                <a:ext uri="{28A0092B-C50C-407E-A947-70E740481C1C}">
                  <a14:useLocalDpi xmlns:a14="http://schemas.microsoft.com/office/drawing/2010/main"/>
                </a:ext>
              </a:extLst>
            </a:blip>
            <a:stretch>
              <a:fillRect/>
            </a:stretch>
          </p:blipFill>
          <p:spPr>
            <a:xfrm>
              <a:off x="1560152" y="5363264"/>
              <a:ext cx="305285" cy="325072"/>
            </a:xfrm>
            <a:prstGeom prst="rect">
              <a:avLst/>
            </a:prstGeom>
          </p:spPr>
        </p:pic>
        <p:pic>
          <p:nvPicPr>
            <p:cNvPr id="38" name="Picture 37" descr="sprint-software-box.png">
              <a:extLst>
                <a:ext uri="{FF2B5EF4-FFF2-40B4-BE49-F238E27FC236}">
                  <a16:creationId xmlns:a16="http://schemas.microsoft.com/office/drawing/2014/main" id="{3D6AE952-A1C4-4E23-932E-CA144397328E}"/>
                </a:ext>
              </a:extLst>
            </p:cNvPr>
            <p:cNvPicPr>
              <a:picLocks noChangeAspect="1"/>
            </p:cNvPicPr>
            <p:nvPr>
              <p:custDataLst>
                <p:tags r:id="rId11"/>
              </p:custDataLst>
            </p:nvPr>
          </p:nvPicPr>
          <p:blipFill>
            <a:blip r:embed="rId49" cstate="screen">
              <a:extLst>
                <a:ext uri="{28A0092B-C50C-407E-A947-70E740481C1C}">
                  <a14:useLocalDpi xmlns:a14="http://schemas.microsoft.com/office/drawing/2010/main"/>
                </a:ext>
              </a:extLst>
            </a:blip>
            <a:stretch>
              <a:fillRect/>
            </a:stretch>
          </p:blipFill>
          <p:spPr>
            <a:xfrm>
              <a:off x="2319561" y="5346074"/>
              <a:ext cx="337574" cy="359453"/>
            </a:xfrm>
            <a:prstGeom prst="rect">
              <a:avLst/>
            </a:prstGeom>
          </p:spPr>
        </p:pic>
        <p:pic>
          <p:nvPicPr>
            <p:cNvPr id="39" name="Picture 38" descr="sprint-software-box.png">
              <a:extLst>
                <a:ext uri="{FF2B5EF4-FFF2-40B4-BE49-F238E27FC236}">
                  <a16:creationId xmlns:a16="http://schemas.microsoft.com/office/drawing/2014/main" id="{CED6598E-8362-958B-B96F-D6FC80B993F7}"/>
                </a:ext>
              </a:extLst>
            </p:cNvPr>
            <p:cNvPicPr>
              <a:picLocks noChangeAspect="1"/>
            </p:cNvPicPr>
            <p:nvPr>
              <p:custDataLst>
                <p:tags r:id="rId12"/>
              </p:custDataLst>
            </p:nvPr>
          </p:nvPicPr>
          <p:blipFill>
            <a:blip r:embed="rId47" cstate="screen">
              <a:extLst>
                <a:ext uri="{28A0092B-C50C-407E-A947-70E740481C1C}">
                  <a14:useLocalDpi xmlns:a14="http://schemas.microsoft.com/office/drawing/2010/main"/>
                </a:ext>
              </a:extLst>
            </a:blip>
            <a:stretch>
              <a:fillRect/>
            </a:stretch>
          </p:blipFill>
          <p:spPr>
            <a:xfrm>
              <a:off x="7479188" y="5181974"/>
              <a:ext cx="645795" cy="687652"/>
            </a:xfrm>
            <a:prstGeom prst="rect">
              <a:avLst/>
            </a:prstGeom>
          </p:spPr>
        </p:pic>
        <p:pic>
          <p:nvPicPr>
            <p:cNvPr id="40" name="Picture 39" descr="sprint-software-box.png">
              <a:extLst>
                <a:ext uri="{FF2B5EF4-FFF2-40B4-BE49-F238E27FC236}">
                  <a16:creationId xmlns:a16="http://schemas.microsoft.com/office/drawing/2014/main" id="{04E1D86D-2750-77B3-F2E4-76CE92BE5A12}"/>
                </a:ext>
              </a:extLst>
            </p:cNvPr>
            <p:cNvPicPr>
              <a:picLocks noChangeAspect="1"/>
            </p:cNvPicPr>
            <p:nvPr>
              <p:custDataLst>
                <p:tags r:id="rId13"/>
              </p:custDataLst>
            </p:nvPr>
          </p:nvPicPr>
          <p:blipFill>
            <a:blip r:embed="rId50" cstate="screen">
              <a:extLst>
                <a:ext uri="{28A0092B-C50C-407E-A947-70E740481C1C}">
                  <a14:useLocalDpi xmlns:a14="http://schemas.microsoft.com/office/drawing/2010/main"/>
                </a:ext>
              </a:extLst>
            </a:blip>
            <a:stretch>
              <a:fillRect/>
            </a:stretch>
          </p:blipFill>
          <p:spPr>
            <a:xfrm>
              <a:off x="3111258" y="5338259"/>
              <a:ext cx="352252" cy="375083"/>
            </a:xfrm>
            <a:prstGeom prst="rect">
              <a:avLst/>
            </a:prstGeom>
          </p:spPr>
        </p:pic>
        <p:pic>
          <p:nvPicPr>
            <p:cNvPr id="41" name="Picture 40" descr="sprint-software-box.png">
              <a:extLst>
                <a:ext uri="{FF2B5EF4-FFF2-40B4-BE49-F238E27FC236}">
                  <a16:creationId xmlns:a16="http://schemas.microsoft.com/office/drawing/2014/main" id="{95F000C4-41EC-E8F8-BC59-475F942B4A9D}"/>
                </a:ext>
              </a:extLst>
            </p:cNvPr>
            <p:cNvPicPr>
              <a:picLocks noChangeAspect="1"/>
            </p:cNvPicPr>
            <p:nvPr>
              <p:custDataLst>
                <p:tags r:id="rId14"/>
              </p:custDataLst>
            </p:nvPr>
          </p:nvPicPr>
          <p:blipFill>
            <a:blip r:embed="rId51" cstate="screen">
              <a:extLst>
                <a:ext uri="{28A0092B-C50C-407E-A947-70E740481C1C}">
                  <a14:useLocalDpi xmlns:a14="http://schemas.microsoft.com/office/drawing/2010/main"/>
                </a:ext>
              </a:extLst>
            </a:blip>
            <a:stretch>
              <a:fillRect/>
            </a:stretch>
          </p:blipFill>
          <p:spPr>
            <a:xfrm>
              <a:off x="3917633" y="5312791"/>
              <a:ext cx="400088" cy="426019"/>
            </a:xfrm>
            <a:prstGeom prst="rect">
              <a:avLst/>
            </a:prstGeom>
          </p:spPr>
        </p:pic>
        <p:pic>
          <p:nvPicPr>
            <p:cNvPr id="42" name="Picture 41" descr="sprint-software-box.png">
              <a:extLst>
                <a:ext uri="{FF2B5EF4-FFF2-40B4-BE49-F238E27FC236}">
                  <a16:creationId xmlns:a16="http://schemas.microsoft.com/office/drawing/2014/main" id="{79320C0A-FBCE-C965-744B-18C5CE6F5671}"/>
                </a:ext>
              </a:extLst>
            </p:cNvPr>
            <p:cNvPicPr>
              <a:picLocks noChangeAspect="1"/>
            </p:cNvPicPr>
            <p:nvPr>
              <p:custDataLst>
                <p:tags r:id="rId15"/>
              </p:custDataLst>
            </p:nvPr>
          </p:nvPicPr>
          <p:blipFill>
            <a:blip r:embed="rId51" cstate="screen">
              <a:extLst>
                <a:ext uri="{28A0092B-C50C-407E-A947-70E740481C1C}">
                  <a14:useLocalDpi xmlns:a14="http://schemas.microsoft.com/office/drawing/2010/main"/>
                </a:ext>
              </a:extLst>
            </a:blip>
            <a:stretch>
              <a:fillRect/>
            </a:stretch>
          </p:blipFill>
          <p:spPr>
            <a:xfrm>
              <a:off x="4771844" y="5312791"/>
              <a:ext cx="400088" cy="426019"/>
            </a:xfrm>
            <a:prstGeom prst="rect">
              <a:avLst/>
            </a:prstGeom>
          </p:spPr>
        </p:pic>
        <p:pic>
          <p:nvPicPr>
            <p:cNvPr id="43" name="Picture 42" descr="sprint-software-box.png">
              <a:extLst>
                <a:ext uri="{FF2B5EF4-FFF2-40B4-BE49-F238E27FC236}">
                  <a16:creationId xmlns:a16="http://schemas.microsoft.com/office/drawing/2014/main" id="{B544952B-A555-1A08-BB16-250D89D7D07C}"/>
                </a:ext>
              </a:extLst>
            </p:cNvPr>
            <p:cNvPicPr>
              <a:picLocks noChangeAspect="1"/>
            </p:cNvPicPr>
            <p:nvPr>
              <p:custDataLst>
                <p:tags r:id="rId16"/>
              </p:custDataLst>
            </p:nvPr>
          </p:nvPicPr>
          <p:blipFill>
            <a:blip r:embed="rId52" cstate="screen">
              <a:extLst>
                <a:ext uri="{28A0092B-C50C-407E-A947-70E740481C1C}">
                  <a14:useLocalDpi xmlns:a14="http://schemas.microsoft.com/office/drawing/2010/main"/>
                </a:ext>
              </a:extLst>
            </a:blip>
            <a:stretch>
              <a:fillRect/>
            </a:stretch>
          </p:blipFill>
          <p:spPr>
            <a:xfrm>
              <a:off x="5626055" y="5300750"/>
              <a:ext cx="422703" cy="450100"/>
            </a:xfrm>
            <a:prstGeom prst="rect">
              <a:avLst/>
            </a:prstGeom>
          </p:spPr>
        </p:pic>
        <p:pic>
          <p:nvPicPr>
            <p:cNvPr id="44" name="Picture 43" descr="sprint-software-box.png">
              <a:extLst>
                <a:ext uri="{FF2B5EF4-FFF2-40B4-BE49-F238E27FC236}">
                  <a16:creationId xmlns:a16="http://schemas.microsoft.com/office/drawing/2014/main" id="{B02CD121-C116-47FD-CE5B-433CFCE0921B}"/>
                </a:ext>
              </a:extLst>
            </p:cNvPr>
            <p:cNvPicPr>
              <a:picLocks noChangeAspect="1"/>
            </p:cNvPicPr>
            <p:nvPr>
              <p:custDataLst>
                <p:tags r:id="rId17"/>
              </p:custDataLst>
            </p:nvPr>
          </p:nvPicPr>
          <p:blipFill>
            <a:blip r:embed="rId53" cstate="screen">
              <a:extLst>
                <a:ext uri="{28A0092B-C50C-407E-A947-70E740481C1C}">
                  <a14:useLocalDpi xmlns:a14="http://schemas.microsoft.com/office/drawing/2010/main"/>
                </a:ext>
              </a:extLst>
            </a:blip>
            <a:stretch>
              <a:fillRect/>
            </a:stretch>
          </p:blipFill>
          <p:spPr>
            <a:xfrm>
              <a:off x="6502881" y="5263590"/>
              <a:ext cx="492500" cy="524420"/>
            </a:xfrm>
            <a:prstGeom prst="rect">
              <a:avLst/>
            </a:prstGeom>
          </p:spPr>
        </p:pic>
        <p:sp>
          <p:nvSpPr>
            <p:cNvPr id="45" name="Round Same Side Corner Rectangle 112">
              <a:extLst>
                <a:ext uri="{FF2B5EF4-FFF2-40B4-BE49-F238E27FC236}">
                  <a16:creationId xmlns:a16="http://schemas.microsoft.com/office/drawing/2014/main" id="{6F6ED835-6ECC-6A2D-8408-9EE3FE4B664A}"/>
                </a:ext>
              </a:extLst>
            </p:cNvPr>
            <p:cNvSpPr/>
            <p:nvPr>
              <p:custDataLst>
                <p:tags r:id="rId18"/>
              </p:custDataLst>
            </p:nvPr>
          </p:nvSpPr>
          <p:spPr bwMode="auto">
            <a:xfrm rot="16200000">
              <a:off x="-236096" y="4879307"/>
              <a:ext cx="1700680" cy="458741"/>
            </a:xfrm>
            <a:prstGeom prst="round2SameRect">
              <a:avLst>
                <a:gd name="adj1" fmla="val 20755"/>
                <a:gd name="adj2" fmla="val 0"/>
              </a:avLst>
            </a:prstGeom>
            <a:solidFill>
              <a:srgbClr val="DAEDEF"/>
            </a:solidFill>
            <a:ln w="6350" cap="flat" cmpd="sng" algn="ctr">
              <a:noFill/>
              <a:prstDash val="solid"/>
              <a:round/>
              <a:headEnd type="none" w="med" len="med"/>
              <a:tailEnd type="none" w="med" len="med"/>
            </a:ln>
            <a:effectLst/>
          </p:spPr>
          <p:txBody>
            <a:bodyPr vert="horz" wrap="square" lIns="91440" tIns="45720" rIns="91440" bIns="91440" numCol="1" rtlCol="0" anchor="ctr" anchorCtr="0" compatLnSpc="1">
              <a:prstTxWarp prst="textNoShape">
                <a:avLst/>
              </a:prstTxWarp>
              <a:noAutofit/>
            </a:bodyPr>
            <a:lstStyle/>
            <a:p>
              <a:pPr algn="ctr" fontAlgn="base">
                <a:spcBef>
                  <a:spcPct val="20000"/>
                </a:spcBef>
                <a:spcAft>
                  <a:spcPct val="0"/>
                </a:spcAft>
                <a:buClr>
                  <a:srgbClr val="FFFFFF"/>
                </a:buClr>
                <a:buSzPct val="100000"/>
                <a:defRPr/>
              </a:pPr>
              <a:r>
                <a:rPr lang="en-US" b="1" kern="0">
                  <a:ln>
                    <a:solidFill>
                      <a:srgbClr val="FFFFFF">
                        <a:alpha val="0"/>
                      </a:srgbClr>
                    </a:solidFill>
                  </a:ln>
                  <a:solidFill>
                    <a:srgbClr val="00206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AGILE</a:t>
              </a:r>
            </a:p>
          </p:txBody>
        </p:sp>
        <p:sp>
          <p:nvSpPr>
            <p:cNvPr id="46" name="Rectangle 45">
              <a:extLst>
                <a:ext uri="{FF2B5EF4-FFF2-40B4-BE49-F238E27FC236}">
                  <a16:creationId xmlns:a16="http://schemas.microsoft.com/office/drawing/2014/main" id="{668505A4-4094-FA24-8725-7BCC2D421B62}"/>
                </a:ext>
              </a:extLst>
            </p:cNvPr>
            <p:cNvSpPr/>
            <p:nvPr/>
          </p:nvSpPr>
          <p:spPr bwMode="auto">
            <a:xfrm>
              <a:off x="3108324" y="4895850"/>
              <a:ext cx="76201" cy="60325"/>
            </a:xfrm>
            <a:prstGeom prst="rect">
              <a:avLst/>
            </a:prstGeom>
            <a:solidFill>
              <a:srgbClr val="0085AC"/>
            </a:solidFill>
            <a:ln w="19050" cap="flat" cmpd="sng" algn="ctr">
              <a:noFill/>
              <a:prstDash val="solid"/>
              <a:round/>
              <a:headEnd type="none" w="med" len="med"/>
              <a:tailEnd type="none" w="med" len="med"/>
            </a:ln>
            <a:effectLst/>
          </p:spPr>
          <p:txBody>
            <a:bodyPr vert="horz" wrap="square" lIns="91440" tIns="91440" rIns="91440" bIns="91440" numCol="1" rtlCol="0" anchor="t" anchorCtr="0" compatLnSpc="1">
              <a:prstTxWarp prst="textNoShape">
                <a:avLst/>
              </a:prstTxWarp>
              <a:noAutofit/>
            </a:bodyPr>
            <a:lstStyle/>
            <a:p>
              <a:pPr eaLnBrk="0" fontAlgn="base" hangingPunct="0">
                <a:spcBef>
                  <a:spcPct val="20000"/>
                </a:spcBef>
                <a:spcAft>
                  <a:spcPct val="0"/>
                </a:spcAft>
                <a:defRPr/>
              </a:pPr>
              <a:endParaRPr lang="en-US" sz="2200" i="1" kern="0">
                <a:solidFill>
                  <a:srgbClr val="000000"/>
                </a:solidFill>
                <a:latin typeface="Arial" panose="020B0604020202020204" pitchFamily="34" charset="0"/>
              </a:endParaRPr>
            </a:p>
          </p:txBody>
        </p:sp>
        <p:sp>
          <p:nvSpPr>
            <p:cNvPr id="47" name="Rectangle 46">
              <a:extLst>
                <a:ext uri="{FF2B5EF4-FFF2-40B4-BE49-F238E27FC236}">
                  <a16:creationId xmlns:a16="http://schemas.microsoft.com/office/drawing/2014/main" id="{3F45F899-AE07-CE89-21C9-F459B1F67957}"/>
                </a:ext>
              </a:extLst>
            </p:cNvPr>
            <p:cNvSpPr/>
            <p:nvPr/>
          </p:nvSpPr>
          <p:spPr bwMode="auto">
            <a:xfrm>
              <a:off x="2216149" y="4895850"/>
              <a:ext cx="76201" cy="60325"/>
            </a:xfrm>
            <a:prstGeom prst="rect">
              <a:avLst/>
            </a:prstGeom>
            <a:solidFill>
              <a:srgbClr val="0085AC"/>
            </a:solidFill>
            <a:ln w="19050" cap="flat" cmpd="sng" algn="ctr">
              <a:noFill/>
              <a:prstDash val="solid"/>
              <a:round/>
              <a:headEnd type="none" w="med" len="med"/>
              <a:tailEnd type="none" w="med" len="med"/>
            </a:ln>
            <a:effectLst/>
          </p:spPr>
          <p:txBody>
            <a:bodyPr vert="horz" wrap="square" lIns="91440" tIns="91440" rIns="91440" bIns="91440" numCol="1" rtlCol="0" anchor="t" anchorCtr="0" compatLnSpc="1">
              <a:prstTxWarp prst="textNoShape">
                <a:avLst/>
              </a:prstTxWarp>
              <a:noAutofit/>
            </a:bodyPr>
            <a:lstStyle/>
            <a:p>
              <a:pPr eaLnBrk="0" fontAlgn="base" hangingPunct="0">
                <a:spcBef>
                  <a:spcPct val="20000"/>
                </a:spcBef>
                <a:spcAft>
                  <a:spcPct val="0"/>
                </a:spcAft>
                <a:defRPr/>
              </a:pPr>
              <a:endParaRPr lang="en-US" sz="2200" i="1" kern="0">
                <a:solidFill>
                  <a:srgbClr val="000000"/>
                </a:solidFill>
                <a:latin typeface="Arial" panose="020B0604020202020204" pitchFamily="34" charset="0"/>
              </a:endParaRPr>
            </a:p>
          </p:txBody>
        </p:sp>
        <p:sp>
          <p:nvSpPr>
            <p:cNvPr id="48" name="Rectangle 47">
              <a:extLst>
                <a:ext uri="{FF2B5EF4-FFF2-40B4-BE49-F238E27FC236}">
                  <a16:creationId xmlns:a16="http://schemas.microsoft.com/office/drawing/2014/main" id="{55D28054-E2DB-66AC-C745-CA151CB9E718}"/>
                </a:ext>
              </a:extLst>
            </p:cNvPr>
            <p:cNvSpPr/>
            <p:nvPr/>
          </p:nvSpPr>
          <p:spPr bwMode="auto">
            <a:xfrm>
              <a:off x="1406524" y="4895850"/>
              <a:ext cx="76201" cy="60325"/>
            </a:xfrm>
            <a:prstGeom prst="rect">
              <a:avLst/>
            </a:prstGeom>
            <a:solidFill>
              <a:srgbClr val="0085AC"/>
            </a:solidFill>
            <a:ln w="19050" cap="flat" cmpd="sng" algn="ctr">
              <a:noFill/>
              <a:prstDash val="solid"/>
              <a:round/>
              <a:headEnd type="none" w="med" len="med"/>
              <a:tailEnd type="none" w="med" len="med"/>
            </a:ln>
            <a:effectLst/>
          </p:spPr>
          <p:txBody>
            <a:bodyPr vert="horz" wrap="square" lIns="91440" tIns="91440" rIns="91440" bIns="91440" numCol="1" rtlCol="0" anchor="t" anchorCtr="0" compatLnSpc="1">
              <a:prstTxWarp prst="textNoShape">
                <a:avLst/>
              </a:prstTxWarp>
              <a:noAutofit/>
            </a:bodyPr>
            <a:lstStyle/>
            <a:p>
              <a:pPr eaLnBrk="0" fontAlgn="base" hangingPunct="0">
                <a:spcBef>
                  <a:spcPct val="20000"/>
                </a:spcBef>
                <a:spcAft>
                  <a:spcPct val="0"/>
                </a:spcAft>
                <a:defRPr/>
              </a:pPr>
              <a:endParaRPr lang="en-US" sz="2200" i="1" kern="0">
                <a:solidFill>
                  <a:srgbClr val="000000"/>
                </a:solidFill>
                <a:latin typeface="Arial" panose="020B0604020202020204" pitchFamily="34" charset="0"/>
              </a:endParaRPr>
            </a:p>
          </p:txBody>
        </p:sp>
        <p:sp>
          <p:nvSpPr>
            <p:cNvPr id="49" name="Rectangle 48">
              <a:extLst>
                <a:ext uri="{FF2B5EF4-FFF2-40B4-BE49-F238E27FC236}">
                  <a16:creationId xmlns:a16="http://schemas.microsoft.com/office/drawing/2014/main" id="{5BDD47A9-62E0-2DD5-30F9-C1A1C97406EB}"/>
                </a:ext>
              </a:extLst>
            </p:cNvPr>
            <p:cNvSpPr/>
            <p:nvPr/>
          </p:nvSpPr>
          <p:spPr bwMode="auto">
            <a:xfrm>
              <a:off x="3921124" y="4895850"/>
              <a:ext cx="76201" cy="60325"/>
            </a:xfrm>
            <a:prstGeom prst="rect">
              <a:avLst/>
            </a:prstGeom>
            <a:solidFill>
              <a:srgbClr val="0085AC"/>
            </a:solidFill>
            <a:ln w="19050" cap="flat" cmpd="sng" algn="ctr">
              <a:noFill/>
              <a:prstDash val="solid"/>
              <a:round/>
              <a:headEnd type="none" w="med" len="med"/>
              <a:tailEnd type="none" w="med" len="med"/>
            </a:ln>
            <a:effectLst/>
          </p:spPr>
          <p:txBody>
            <a:bodyPr vert="horz" wrap="square" lIns="91440" tIns="91440" rIns="91440" bIns="91440" numCol="1" rtlCol="0" anchor="t" anchorCtr="0" compatLnSpc="1">
              <a:prstTxWarp prst="textNoShape">
                <a:avLst/>
              </a:prstTxWarp>
              <a:noAutofit/>
            </a:bodyPr>
            <a:lstStyle/>
            <a:p>
              <a:pPr eaLnBrk="0" fontAlgn="base" hangingPunct="0">
                <a:spcBef>
                  <a:spcPct val="20000"/>
                </a:spcBef>
                <a:spcAft>
                  <a:spcPct val="0"/>
                </a:spcAft>
                <a:defRPr/>
              </a:pPr>
              <a:endParaRPr lang="en-US" sz="2200" i="1" kern="0">
                <a:solidFill>
                  <a:srgbClr val="000000"/>
                </a:solidFill>
                <a:latin typeface="Arial" panose="020B0604020202020204" pitchFamily="34" charset="0"/>
              </a:endParaRPr>
            </a:p>
          </p:txBody>
        </p:sp>
        <p:sp>
          <p:nvSpPr>
            <p:cNvPr id="50" name="Rectangle 49">
              <a:extLst>
                <a:ext uri="{FF2B5EF4-FFF2-40B4-BE49-F238E27FC236}">
                  <a16:creationId xmlns:a16="http://schemas.microsoft.com/office/drawing/2014/main" id="{F0820170-A1A3-1F95-A8C6-D7371670105C}"/>
                </a:ext>
              </a:extLst>
            </p:cNvPr>
            <p:cNvSpPr/>
            <p:nvPr/>
          </p:nvSpPr>
          <p:spPr bwMode="auto">
            <a:xfrm>
              <a:off x="4778374" y="4895850"/>
              <a:ext cx="76201" cy="60325"/>
            </a:xfrm>
            <a:prstGeom prst="rect">
              <a:avLst/>
            </a:prstGeom>
            <a:solidFill>
              <a:srgbClr val="0085AC"/>
            </a:solidFill>
            <a:ln w="19050" cap="flat" cmpd="sng" algn="ctr">
              <a:noFill/>
              <a:prstDash val="solid"/>
              <a:round/>
              <a:headEnd type="none" w="med" len="med"/>
              <a:tailEnd type="none" w="med" len="med"/>
            </a:ln>
            <a:effectLst/>
          </p:spPr>
          <p:txBody>
            <a:bodyPr vert="horz" wrap="square" lIns="91440" tIns="91440" rIns="91440" bIns="91440" numCol="1" rtlCol="0" anchor="t" anchorCtr="0" compatLnSpc="1">
              <a:prstTxWarp prst="textNoShape">
                <a:avLst/>
              </a:prstTxWarp>
              <a:noAutofit/>
            </a:bodyPr>
            <a:lstStyle/>
            <a:p>
              <a:pPr eaLnBrk="0" fontAlgn="base" hangingPunct="0">
                <a:spcBef>
                  <a:spcPct val="20000"/>
                </a:spcBef>
                <a:spcAft>
                  <a:spcPct val="0"/>
                </a:spcAft>
                <a:defRPr/>
              </a:pPr>
              <a:endParaRPr lang="en-US" sz="2200" i="1" kern="0">
                <a:solidFill>
                  <a:srgbClr val="000000"/>
                </a:solidFill>
                <a:latin typeface="Arial" panose="020B0604020202020204" pitchFamily="34" charset="0"/>
              </a:endParaRPr>
            </a:p>
          </p:txBody>
        </p:sp>
        <p:sp>
          <p:nvSpPr>
            <p:cNvPr id="51" name="Rectangle 50">
              <a:extLst>
                <a:ext uri="{FF2B5EF4-FFF2-40B4-BE49-F238E27FC236}">
                  <a16:creationId xmlns:a16="http://schemas.microsoft.com/office/drawing/2014/main" id="{BAEA729B-0F74-0A91-BC30-8C935B2450F9}"/>
                </a:ext>
              </a:extLst>
            </p:cNvPr>
            <p:cNvSpPr/>
            <p:nvPr/>
          </p:nvSpPr>
          <p:spPr bwMode="auto">
            <a:xfrm>
              <a:off x="5572124" y="4895850"/>
              <a:ext cx="76201" cy="60325"/>
            </a:xfrm>
            <a:prstGeom prst="rect">
              <a:avLst/>
            </a:prstGeom>
            <a:solidFill>
              <a:srgbClr val="0085AC"/>
            </a:solidFill>
            <a:ln w="19050" cap="flat" cmpd="sng" algn="ctr">
              <a:noFill/>
              <a:prstDash val="solid"/>
              <a:round/>
              <a:headEnd type="none" w="med" len="med"/>
              <a:tailEnd type="none" w="med" len="med"/>
            </a:ln>
            <a:effectLst/>
          </p:spPr>
          <p:txBody>
            <a:bodyPr vert="horz" wrap="square" lIns="91440" tIns="91440" rIns="91440" bIns="91440" numCol="1" rtlCol="0" anchor="t" anchorCtr="0" compatLnSpc="1">
              <a:prstTxWarp prst="textNoShape">
                <a:avLst/>
              </a:prstTxWarp>
              <a:noAutofit/>
            </a:bodyPr>
            <a:lstStyle/>
            <a:p>
              <a:pPr eaLnBrk="0" fontAlgn="base" hangingPunct="0">
                <a:spcBef>
                  <a:spcPct val="20000"/>
                </a:spcBef>
                <a:spcAft>
                  <a:spcPct val="0"/>
                </a:spcAft>
                <a:defRPr/>
              </a:pPr>
              <a:endParaRPr lang="en-US" sz="2200" i="1" kern="0">
                <a:solidFill>
                  <a:srgbClr val="000000"/>
                </a:solidFill>
                <a:latin typeface="Arial" panose="020B0604020202020204" pitchFamily="34" charset="0"/>
              </a:endParaRPr>
            </a:p>
          </p:txBody>
        </p:sp>
        <p:sp>
          <p:nvSpPr>
            <p:cNvPr id="52" name="Rectangle 51">
              <a:extLst>
                <a:ext uri="{FF2B5EF4-FFF2-40B4-BE49-F238E27FC236}">
                  <a16:creationId xmlns:a16="http://schemas.microsoft.com/office/drawing/2014/main" id="{055A472D-01CF-2248-DA8B-9822A0ED2EE5}"/>
                </a:ext>
              </a:extLst>
            </p:cNvPr>
            <p:cNvSpPr/>
            <p:nvPr/>
          </p:nvSpPr>
          <p:spPr bwMode="auto">
            <a:xfrm>
              <a:off x="6518274" y="4895850"/>
              <a:ext cx="76201" cy="60325"/>
            </a:xfrm>
            <a:prstGeom prst="rect">
              <a:avLst/>
            </a:prstGeom>
            <a:solidFill>
              <a:srgbClr val="0085AC"/>
            </a:solidFill>
            <a:ln w="19050" cap="flat" cmpd="sng" algn="ctr">
              <a:noFill/>
              <a:prstDash val="solid"/>
              <a:round/>
              <a:headEnd type="none" w="med" len="med"/>
              <a:tailEnd type="none" w="med" len="med"/>
            </a:ln>
            <a:effectLst/>
          </p:spPr>
          <p:txBody>
            <a:bodyPr vert="horz" wrap="square" lIns="91440" tIns="91440" rIns="91440" bIns="91440" numCol="1" rtlCol="0" anchor="t" anchorCtr="0" compatLnSpc="1">
              <a:prstTxWarp prst="textNoShape">
                <a:avLst/>
              </a:prstTxWarp>
              <a:noAutofit/>
            </a:bodyPr>
            <a:lstStyle/>
            <a:p>
              <a:pPr eaLnBrk="0" fontAlgn="base" hangingPunct="0">
                <a:spcBef>
                  <a:spcPct val="20000"/>
                </a:spcBef>
                <a:spcAft>
                  <a:spcPct val="0"/>
                </a:spcAft>
                <a:defRPr/>
              </a:pPr>
              <a:endParaRPr lang="en-US" sz="2200" i="1" kern="0">
                <a:solidFill>
                  <a:srgbClr val="000000"/>
                </a:solidFill>
                <a:latin typeface="Arial" panose="020B0604020202020204" pitchFamily="34" charset="0"/>
              </a:endParaRPr>
            </a:p>
          </p:txBody>
        </p:sp>
        <p:sp>
          <p:nvSpPr>
            <p:cNvPr id="53" name="Rectangle 52">
              <a:extLst>
                <a:ext uri="{FF2B5EF4-FFF2-40B4-BE49-F238E27FC236}">
                  <a16:creationId xmlns:a16="http://schemas.microsoft.com/office/drawing/2014/main" id="{2CD9123F-3EE2-695E-9D41-9DF129F803CF}"/>
                </a:ext>
              </a:extLst>
            </p:cNvPr>
            <p:cNvSpPr/>
            <p:nvPr/>
          </p:nvSpPr>
          <p:spPr bwMode="auto">
            <a:xfrm>
              <a:off x="7331074" y="4895850"/>
              <a:ext cx="76201" cy="60325"/>
            </a:xfrm>
            <a:prstGeom prst="rect">
              <a:avLst/>
            </a:prstGeom>
            <a:solidFill>
              <a:srgbClr val="0085AC"/>
            </a:solidFill>
            <a:ln w="19050" cap="flat" cmpd="sng" algn="ctr">
              <a:noFill/>
              <a:prstDash val="solid"/>
              <a:round/>
              <a:headEnd type="none" w="med" len="med"/>
              <a:tailEnd type="none" w="med" len="med"/>
            </a:ln>
            <a:effectLst/>
          </p:spPr>
          <p:txBody>
            <a:bodyPr vert="horz" wrap="square" lIns="91440" tIns="91440" rIns="91440" bIns="91440" numCol="1" rtlCol="0" anchor="t" anchorCtr="0" compatLnSpc="1">
              <a:prstTxWarp prst="textNoShape">
                <a:avLst/>
              </a:prstTxWarp>
              <a:noAutofit/>
            </a:bodyPr>
            <a:lstStyle/>
            <a:p>
              <a:pPr eaLnBrk="0" fontAlgn="base" hangingPunct="0">
                <a:spcBef>
                  <a:spcPct val="20000"/>
                </a:spcBef>
                <a:spcAft>
                  <a:spcPct val="0"/>
                </a:spcAft>
                <a:defRPr/>
              </a:pPr>
              <a:endParaRPr lang="en-US" sz="2200" i="1" kern="0">
                <a:solidFill>
                  <a:srgbClr val="000000"/>
                </a:solidFill>
                <a:latin typeface="Arial" panose="020B0604020202020204" pitchFamily="34" charset="0"/>
              </a:endParaRPr>
            </a:p>
          </p:txBody>
        </p:sp>
        <p:sp>
          <p:nvSpPr>
            <p:cNvPr id="54" name="Line 8">
              <a:extLst>
                <a:ext uri="{FF2B5EF4-FFF2-40B4-BE49-F238E27FC236}">
                  <a16:creationId xmlns:a16="http://schemas.microsoft.com/office/drawing/2014/main" id="{62B31F5B-B108-FBE8-E680-878E1F4933E6}"/>
                </a:ext>
              </a:extLst>
            </p:cNvPr>
            <p:cNvSpPr>
              <a:spLocks noChangeShapeType="1"/>
            </p:cNvSpPr>
            <p:nvPr>
              <p:custDataLst>
                <p:tags r:id="rId19"/>
              </p:custDataLst>
            </p:nvPr>
          </p:nvSpPr>
          <p:spPr bwMode="auto">
            <a:xfrm>
              <a:off x="2729168" y="4237923"/>
              <a:ext cx="0" cy="1631703"/>
            </a:xfrm>
            <a:prstGeom prst="line">
              <a:avLst/>
            </a:prstGeom>
            <a:noFill/>
            <a:ln w="12700">
              <a:solidFill>
                <a:srgbClr val="265899"/>
              </a:solidFill>
              <a:prstDash val="sysDot"/>
              <a:round/>
              <a:headEnd/>
              <a:tailEnd/>
            </a:ln>
            <a:effectLst/>
          </p:spPr>
          <p:txBody>
            <a:bodyPr wrap="square" anchor="ctr">
              <a:spAutoFit/>
            </a:bodyPr>
            <a:lstStyle/>
            <a:p>
              <a:pPr fontAlgn="base">
                <a:spcBef>
                  <a:spcPct val="0"/>
                </a:spcBef>
                <a:spcAft>
                  <a:spcPct val="0"/>
                </a:spcAft>
                <a:defRPr/>
              </a:pPr>
              <a:endParaRPr lang="en-US" kern="0">
                <a:solidFill>
                  <a:sysClr val="windowText" lastClr="000000"/>
                </a:solidFill>
                <a:latin typeface="Arial Narrow" pitchFamily="34" charset="0"/>
              </a:endParaRPr>
            </a:p>
          </p:txBody>
        </p:sp>
        <p:sp>
          <p:nvSpPr>
            <p:cNvPr id="55" name="Line 8">
              <a:extLst>
                <a:ext uri="{FF2B5EF4-FFF2-40B4-BE49-F238E27FC236}">
                  <a16:creationId xmlns:a16="http://schemas.microsoft.com/office/drawing/2014/main" id="{0AA44B6F-357E-1A6A-6CB9-FD73F773AC42}"/>
                </a:ext>
              </a:extLst>
            </p:cNvPr>
            <p:cNvSpPr>
              <a:spLocks noChangeShapeType="1"/>
            </p:cNvSpPr>
            <p:nvPr>
              <p:custDataLst>
                <p:tags r:id="rId20"/>
              </p:custDataLst>
            </p:nvPr>
          </p:nvSpPr>
          <p:spPr bwMode="auto">
            <a:xfrm>
              <a:off x="4424926" y="4258337"/>
              <a:ext cx="0" cy="1721093"/>
            </a:xfrm>
            <a:prstGeom prst="line">
              <a:avLst/>
            </a:prstGeom>
            <a:noFill/>
            <a:ln w="12700">
              <a:solidFill>
                <a:srgbClr val="265899"/>
              </a:solidFill>
              <a:prstDash val="sysDot"/>
              <a:round/>
              <a:headEnd/>
              <a:tailEnd/>
            </a:ln>
            <a:effectLst/>
          </p:spPr>
          <p:txBody>
            <a:bodyPr wrap="square" anchor="ctr">
              <a:spAutoFit/>
            </a:bodyPr>
            <a:lstStyle/>
            <a:p>
              <a:pPr fontAlgn="base">
                <a:spcBef>
                  <a:spcPct val="0"/>
                </a:spcBef>
                <a:spcAft>
                  <a:spcPct val="0"/>
                </a:spcAft>
                <a:defRPr/>
              </a:pPr>
              <a:endParaRPr lang="en-US" kern="0">
                <a:solidFill>
                  <a:sysClr val="windowText" lastClr="000000"/>
                </a:solidFill>
                <a:latin typeface="Arial Narrow" pitchFamily="34" charset="0"/>
              </a:endParaRPr>
            </a:p>
          </p:txBody>
        </p:sp>
        <p:sp>
          <p:nvSpPr>
            <p:cNvPr id="56" name="Line 8">
              <a:extLst>
                <a:ext uri="{FF2B5EF4-FFF2-40B4-BE49-F238E27FC236}">
                  <a16:creationId xmlns:a16="http://schemas.microsoft.com/office/drawing/2014/main" id="{88FE1A6F-9C12-506D-6746-F94ECE73FA67}"/>
                </a:ext>
              </a:extLst>
            </p:cNvPr>
            <p:cNvSpPr>
              <a:spLocks noChangeShapeType="1"/>
            </p:cNvSpPr>
            <p:nvPr>
              <p:custDataLst>
                <p:tags r:id="rId21"/>
              </p:custDataLst>
            </p:nvPr>
          </p:nvSpPr>
          <p:spPr bwMode="auto">
            <a:xfrm>
              <a:off x="6133275" y="4258337"/>
              <a:ext cx="0" cy="1700678"/>
            </a:xfrm>
            <a:prstGeom prst="line">
              <a:avLst/>
            </a:prstGeom>
            <a:noFill/>
            <a:ln w="12700">
              <a:solidFill>
                <a:srgbClr val="265899"/>
              </a:solidFill>
              <a:prstDash val="sysDot"/>
              <a:round/>
              <a:headEnd/>
              <a:tailEnd/>
            </a:ln>
            <a:effectLst/>
          </p:spPr>
          <p:txBody>
            <a:bodyPr wrap="square" anchor="ctr">
              <a:spAutoFit/>
            </a:bodyPr>
            <a:lstStyle/>
            <a:p>
              <a:pPr fontAlgn="base">
                <a:spcBef>
                  <a:spcPct val="0"/>
                </a:spcBef>
                <a:spcAft>
                  <a:spcPct val="0"/>
                </a:spcAft>
                <a:defRPr/>
              </a:pPr>
              <a:endParaRPr lang="en-US" kern="0">
                <a:solidFill>
                  <a:sysClr val="windowText" lastClr="000000"/>
                </a:solidFill>
                <a:latin typeface="Arial Narrow" pitchFamily="34" charset="0"/>
              </a:endParaRPr>
            </a:p>
          </p:txBody>
        </p:sp>
        <p:sp>
          <p:nvSpPr>
            <p:cNvPr id="57" name="Line 8">
              <a:extLst>
                <a:ext uri="{FF2B5EF4-FFF2-40B4-BE49-F238E27FC236}">
                  <a16:creationId xmlns:a16="http://schemas.microsoft.com/office/drawing/2014/main" id="{E8626E33-34A0-6FC9-EF6F-DC1AA4AE2E68}"/>
                </a:ext>
              </a:extLst>
            </p:cNvPr>
            <p:cNvSpPr>
              <a:spLocks noChangeShapeType="1"/>
            </p:cNvSpPr>
            <p:nvPr>
              <p:custDataLst>
                <p:tags r:id="rId22"/>
              </p:custDataLst>
            </p:nvPr>
          </p:nvSpPr>
          <p:spPr bwMode="auto">
            <a:xfrm>
              <a:off x="7841625" y="4237923"/>
              <a:ext cx="0" cy="1721092"/>
            </a:xfrm>
            <a:prstGeom prst="line">
              <a:avLst/>
            </a:prstGeom>
            <a:noFill/>
            <a:ln w="12700">
              <a:solidFill>
                <a:srgbClr val="265899"/>
              </a:solidFill>
              <a:prstDash val="sysDot"/>
              <a:round/>
              <a:headEnd/>
              <a:tailEnd/>
            </a:ln>
            <a:effectLst/>
          </p:spPr>
          <p:txBody>
            <a:bodyPr wrap="square" anchor="ctr">
              <a:spAutoFit/>
            </a:bodyPr>
            <a:lstStyle/>
            <a:p>
              <a:pPr fontAlgn="base">
                <a:spcBef>
                  <a:spcPct val="0"/>
                </a:spcBef>
                <a:spcAft>
                  <a:spcPct val="0"/>
                </a:spcAft>
                <a:defRPr/>
              </a:pPr>
              <a:endParaRPr lang="en-US" kern="0">
                <a:solidFill>
                  <a:sysClr val="windowText" lastClr="000000"/>
                </a:solidFill>
                <a:latin typeface="Arial Narrow" pitchFamily="34" charset="0"/>
              </a:endParaRPr>
            </a:p>
          </p:txBody>
        </p:sp>
        <p:sp>
          <p:nvSpPr>
            <p:cNvPr id="58" name="Line 8">
              <a:extLst>
                <a:ext uri="{FF2B5EF4-FFF2-40B4-BE49-F238E27FC236}">
                  <a16:creationId xmlns:a16="http://schemas.microsoft.com/office/drawing/2014/main" id="{24762EDD-6230-161B-2F6F-30C930B21885}"/>
                </a:ext>
              </a:extLst>
            </p:cNvPr>
            <p:cNvSpPr>
              <a:spLocks noChangeShapeType="1"/>
            </p:cNvSpPr>
            <p:nvPr>
              <p:custDataLst>
                <p:tags r:id="rId23"/>
              </p:custDataLst>
            </p:nvPr>
          </p:nvSpPr>
          <p:spPr bwMode="auto">
            <a:xfrm>
              <a:off x="1049386" y="4171135"/>
              <a:ext cx="0" cy="1787880"/>
            </a:xfrm>
            <a:prstGeom prst="line">
              <a:avLst/>
            </a:prstGeom>
            <a:noFill/>
            <a:ln w="12700">
              <a:solidFill>
                <a:srgbClr val="265899"/>
              </a:solidFill>
              <a:prstDash val="sysDot"/>
              <a:round/>
              <a:headEnd/>
              <a:tailEnd/>
            </a:ln>
            <a:effectLst/>
          </p:spPr>
          <p:txBody>
            <a:bodyPr wrap="square" anchor="ctr">
              <a:spAutoFit/>
            </a:bodyPr>
            <a:lstStyle/>
            <a:p>
              <a:pPr fontAlgn="base">
                <a:spcBef>
                  <a:spcPct val="0"/>
                </a:spcBef>
                <a:spcAft>
                  <a:spcPct val="0"/>
                </a:spcAft>
                <a:defRPr/>
              </a:pPr>
              <a:endParaRPr lang="en-US" kern="0">
                <a:solidFill>
                  <a:sysClr val="windowText" lastClr="000000"/>
                </a:solidFill>
                <a:latin typeface="Arial Narrow" pitchFamily="34" charset="0"/>
              </a:endParaRPr>
            </a:p>
          </p:txBody>
        </p:sp>
      </p:grpSp>
      <p:sp>
        <p:nvSpPr>
          <p:cNvPr id="84" name="Title 3">
            <a:extLst>
              <a:ext uri="{FF2B5EF4-FFF2-40B4-BE49-F238E27FC236}">
                <a16:creationId xmlns:a16="http://schemas.microsoft.com/office/drawing/2014/main" id="{CDC61A55-7F07-277A-54B4-36D5753EE183}"/>
              </a:ext>
            </a:extLst>
          </p:cNvPr>
          <p:cNvSpPr>
            <a:spLocks noGrp="1"/>
          </p:cNvSpPr>
          <p:nvPr>
            <p:ph type="title"/>
          </p:nvPr>
        </p:nvSpPr>
        <p:spPr>
          <a:xfrm>
            <a:off x="184150" y="284162"/>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p>
            <a:r>
              <a:rPr lang="en-US" sz="2800" cap="none">
                <a:solidFill>
                  <a:schemeClr val="tx1"/>
                </a:solidFill>
                <a:latin typeface="+mj-lt"/>
              </a:rPr>
              <a:t>Waterfall Vs Agile Delivery</a:t>
            </a:r>
          </a:p>
        </p:txBody>
      </p:sp>
    </p:spTree>
    <p:extLst>
      <p:ext uri="{BB962C8B-B14F-4D97-AF65-F5344CB8AC3E}">
        <p14:creationId xmlns:p14="http://schemas.microsoft.com/office/powerpoint/2010/main" val="166505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a:solidFill>
            <a:srgbClr val="E51B24"/>
          </a:solidFill>
          <a:ln w="9525" cap="rnd" cmpd="sng" algn="ctr">
            <a:solidFill>
              <a:srgbClr val="E51B2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Trebuchet MS" panose="020B0603020202020204" pitchFamily="34" charset="0"/>
              <a:ea typeface="+mn-ea"/>
              <a:cs typeface="+mn-cs"/>
              <a:sym typeface="Trebuchet MS" panose="020B0603020202020204" pitchFamily="34" charset="0"/>
            </a:endParaRPr>
          </a:p>
        </p:txBody>
      </p:sp>
      <p:sp>
        <p:nvSpPr>
          <p:cNvPr id="2" name="Title 1"/>
          <p:cNvSpPr>
            <a:spLocks noGrp="1"/>
          </p:cNvSpPr>
          <p:nvPr>
            <p:ph type="title"/>
          </p:nvPr>
        </p:nvSpPr>
        <p:spPr>
          <a:xfrm>
            <a:off x="522142" y="2590799"/>
            <a:ext cx="3235739" cy="2205067"/>
          </a:xfrm>
        </p:spPr>
        <p:txBody>
          <a:bodyPr/>
          <a:lstStyle/>
          <a:p>
            <a:r>
              <a:rPr lang="en-US" sz="2800" dirty="0">
                <a:latin typeface="+mn-lt"/>
                <a:cs typeface="Calibri" panose="020F0502020204030204" pitchFamily="34" charset="0"/>
              </a:rPr>
              <a:t>What is the purpose of </a:t>
            </a:r>
            <a:br>
              <a:rPr lang="en-US" sz="2800" dirty="0">
                <a:latin typeface="+mn-lt"/>
                <a:cs typeface="Calibri" panose="020F0502020204030204" pitchFamily="34" charset="0"/>
              </a:rPr>
            </a:br>
            <a:r>
              <a:rPr lang="en-US" sz="2800" dirty="0">
                <a:latin typeface="+mn-lt"/>
                <a:cs typeface="Calibri" panose="020F0502020204030204" pitchFamily="34" charset="0"/>
              </a:rPr>
              <a:t>our Agile journey?</a:t>
            </a:r>
          </a:p>
        </p:txBody>
      </p:sp>
      <p:sp>
        <p:nvSpPr>
          <p:cNvPr id="6" name="TextBox 5">
            <a:extLst>
              <a:ext uri="{FF2B5EF4-FFF2-40B4-BE49-F238E27FC236}">
                <a16:creationId xmlns:a16="http://schemas.microsoft.com/office/drawing/2014/main" id="{667CFC96-043E-4436-9244-09701C60C7DA}"/>
              </a:ext>
            </a:extLst>
          </p:cNvPr>
          <p:cNvSpPr txBox="1"/>
          <p:nvPr/>
        </p:nvSpPr>
        <p:spPr>
          <a:xfrm>
            <a:off x="4343400" y="2133600"/>
            <a:ext cx="7530353" cy="2662267"/>
          </a:xfrm>
          <a:prstGeom prst="rect">
            <a:avLst/>
          </a:prstGeom>
          <a:noFill/>
        </p:spPr>
        <p:txBody>
          <a:bodyPr wrap="square" rtlCol="0">
            <a:spAutoFit/>
          </a:bodyPr>
          <a:lstStyle/>
          <a:p>
            <a:pPr marL="388800" marR="0" lvl="1" indent="-259200" algn="l" defTabSz="4572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b="0" i="0" u="none" strike="noStrike" kern="1200" cap="none" spc="0" normalizeH="0" baseline="0" noProof="0">
                <a:ln>
                  <a:noFill/>
                </a:ln>
                <a:effectLst/>
                <a:uLnTx/>
                <a:uFillTx/>
                <a:latin typeface="+mj-lt"/>
                <a:cs typeface="Calibri" panose="020F0502020204030204" pitchFamily="34" charset="0"/>
              </a:rPr>
              <a:t>Greater alignment with Customer and Business strategy</a:t>
            </a:r>
          </a:p>
          <a:p>
            <a:pPr marL="388800" marR="0" lvl="1" indent="-259200" algn="l" defTabSz="4572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endParaRPr lang="en-US">
              <a:latin typeface="+mj-lt"/>
              <a:cs typeface="Calibri" panose="020F0502020204030204" pitchFamily="34" charset="0"/>
            </a:endParaRPr>
          </a:p>
          <a:p>
            <a:pPr marL="388800" marR="0" lvl="1" indent="-259200" algn="l" defTabSz="4572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b="0" i="0" u="none" strike="noStrike" kern="1200" cap="none" spc="0" normalizeH="0" baseline="0" noProof="0">
                <a:ln>
                  <a:noFill/>
                </a:ln>
                <a:effectLst/>
                <a:uLnTx/>
                <a:uFillTx/>
                <a:latin typeface="+mj-lt"/>
                <a:cs typeface="Calibri" panose="020F0502020204030204" pitchFamily="34" charset="0"/>
              </a:rPr>
              <a:t>Speed to Market</a:t>
            </a:r>
          </a:p>
          <a:p>
            <a:pPr marL="388800" marR="0" lvl="1" indent="-259200" algn="l" defTabSz="4572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endParaRPr kumimoji="0" lang="en-US" b="0" i="0" u="none" strike="noStrike" kern="1200" cap="none" spc="0" normalizeH="0" baseline="0" noProof="0">
              <a:ln>
                <a:noFill/>
              </a:ln>
              <a:effectLst/>
              <a:uLnTx/>
              <a:uFillTx/>
              <a:latin typeface="+mj-lt"/>
              <a:cs typeface="Calibri" panose="020F0502020204030204" pitchFamily="34" charset="0"/>
            </a:endParaRPr>
          </a:p>
          <a:p>
            <a:pPr marL="388800" marR="0" lvl="1" indent="-259200" algn="l" defTabSz="4572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b="0" i="0" u="none" strike="noStrike" kern="1200" cap="none" spc="0" normalizeH="0" baseline="0" noProof="0">
                <a:ln>
                  <a:noFill/>
                </a:ln>
                <a:effectLst/>
                <a:uLnTx/>
                <a:uFillTx/>
                <a:latin typeface="+mj-lt"/>
                <a:cs typeface="Calibri" panose="020F0502020204030204" pitchFamily="34" charset="0"/>
              </a:rPr>
              <a:t>Multiply Adaptability, Flexibility, and Responsiveness to change</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b="0" i="0" u="none" strike="noStrike" kern="1200" cap="none" spc="0" normalizeH="0" baseline="0" noProof="0">
              <a:ln>
                <a:noFill/>
              </a:ln>
              <a:effectLst/>
              <a:uLnTx/>
              <a:uFillTx/>
              <a:latin typeface="+mj-lt"/>
              <a:cs typeface="Calibri" panose="020F0502020204030204" pitchFamily="34" charset="0"/>
            </a:endParaRPr>
          </a:p>
          <a:p>
            <a:pPr marL="388800" marR="0" lvl="1" indent="-259200" algn="l" defTabSz="4572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b="0" i="0" u="none" strike="noStrike" kern="1200" cap="none" spc="0" normalizeH="0" baseline="0" noProof="0">
                <a:ln>
                  <a:noFill/>
                </a:ln>
                <a:effectLst/>
                <a:uLnTx/>
                <a:uFillTx/>
                <a:latin typeface="+mj-lt"/>
                <a:cs typeface="Calibri" panose="020F0502020204030204" pitchFamily="34" charset="0"/>
              </a:rPr>
              <a:t>Increased Employee Engagement</a:t>
            </a:r>
          </a:p>
          <a:p>
            <a:pPr marL="388800" marR="0" lvl="1" indent="-259200" algn="l" defTabSz="4572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endParaRPr kumimoji="0" lang="en-US" b="0" i="0" u="none" strike="noStrike" kern="1200" cap="none" spc="0" normalizeH="0" baseline="0" noProof="0">
              <a:ln>
                <a:noFill/>
              </a:ln>
              <a:effectLst/>
              <a:uLnTx/>
              <a:uFillTx/>
              <a:latin typeface="+mj-lt"/>
              <a:cs typeface="Calibri" panose="020F0502020204030204" pitchFamily="34" charset="0"/>
            </a:endParaRPr>
          </a:p>
          <a:p>
            <a:pPr marL="388800" marR="0" lvl="1" indent="-259200" algn="l" defTabSz="4572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b="0" i="0" u="none" strike="noStrike" kern="1200" cap="none" spc="0" normalizeH="0" baseline="0" noProof="0">
                <a:ln>
                  <a:noFill/>
                </a:ln>
                <a:effectLst/>
                <a:uLnTx/>
                <a:uFillTx/>
                <a:latin typeface="+mj-lt"/>
                <a:cs typeface="Calibri" panose="020F0502020204030204" pitchFamily="34" charset="0"/>
              </a:rPr>
              <a:t>Leverage on Scale</a:t>
            </a:r>
          </a:p>
        </p:txBody>
      </p:sp>
    </p:spTree>
    <p:extLst>
      <p:ext uri="{BB962C8B-B14F-4D97-AF65-F5344CB8AC3E}">
        <p14:creationId xmlns:p14="http://schemas.microsoft.com/office/powerpoint/2010/main" val="606689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52" imgH="355" progId="TCLayout.ActiveDocument.1">
                  <p:embed/>
                </p:oleObj>
              </mc:Choice>
              <mc:Fallback>
                <p:oleObj name="think-cell Slide" r:id="rId5" imgW="352" imgH="355" progId="TCLayout.ActiveDocument.1">
                  <p:embed/>
                  <p:pic>
                    <p:nvPicPr>
                      <p:cNvPr id="3" name="Object 2"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6" name="Rectangle 5" hidden="1"/>
          <p:cNvSpPr/>
          <p:nvPr>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rebuchet MS" panose="020B0603020202020204" pitchFamily="34" charset="0"/>
              <a:ea typeface="+mn-ea"/>
              <a:cs typeface="+mn-cs"/>
              <a:sym typeface="Trebuchet MS" panose="020B0603020202020204" pitchFamily="34" charset="0"/>
            </a:endParaRPr>
          </a:p>
        </p:txBody>
      </p:sp>
      <p:sp>
        <p:nvSpPr>
          <p:cNvPr id="2" name="Title 1"/>
          <p:cNvSpPr>
            <a:spLocks noGrp="1"/>
          </p:cNvSpPr>
          <p:nvPr>
            <p:ph type="title"/>
          </p:nvPr>
        </p:nvSpPr>
        <p:spPr>
          <a:xfrm>
            <a:off x="630000" y="456601"/>
            <a:ext cx="4747822" cy="997196"/>
          </a:xfrm>
        </p:spPr>
        <p:txBody>
          <a:bodyPr>
            <a:spAutoFit/>
          </a:bodyPr>
          <a:lstStyle/>
          <a:p>
            <a:r>
              <a:rPr lang="en-US" sz="2400">
                <a:cs typeface="Calibri" panose="020F0502020204030204" pitchFamily="34" charset="0"/>
              </a:rPr>
              <a:t>Our Agile evolution will require new ways of working</a:t>
            </a:r>
          </a:p>
        </p:txBody>
      </p:sp>
      <p:sp>
        <p:nvSpPr>
          <p:cNvPr id="19" name="Rectangle 3"/>
          <p:cNvSpPr>
            <a:spLocks noChangeArrowheads="1"/>
          </p:cNvSpPr>
          <p:nvPr/>
        </p:nvSpPr>
        <p:spPr bwMode="gray">
          <a:xfrm>
            <a:off x="630000" y="2293608"/>
            <a:ext cx="4995640" cy="307777"/>
          </a:xfrm>
          <a:prstGeom prst="rect">
            <a:avLst/>
          </a:prstGeom>
          <a:noFill/>
          <a:ln cap="rnd">
            <a:noFill/>
          </a:ln>
        </p:spPr>
        <p:txBody>
          <a:bodyPr vert="horz" wrap="square" lIns="0" tIns="0" rIns="0" bIns="0" rtlCol="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E51B24">
                    <a:lumMod val="100000"/>
                  </a:srgbClr>
                </a:solidFill>
                <a:effectLst/>
                <a:uLnTx/>
                <a:uFillTx/>
                <a:latin typeface="+mj-lt"/>
                <a:cs typeface="Calibri" panose="020F0502020204030204" pitchFamily="34" charset="0"/>
              </a:rPr>
              <a:t>From …</a:t>
            </a:r>
          </a:p>
        </p:txBody>
      </p:sp>
      <p:sp>
        <p:nvSpPr>
          <p:cNvPr id="20" name="Rectangle 5"/>
          <p:cNvSpPr>
            <a:spLocks noChangeArrowheads="1"/>
          </p:cNvSpPr>
          <p:nvPr/>
        </p:nvSpPr>
        <p:spPr bwMode="gray">
          <a:xfrm>
            <a:off x="6567560" y="2293608"/>
            <a:ext cx="4995640" cy="307777"/>
          </a:xfrm>
          <a:prstGeom prst="rect">
            <a:avLst/>
          </a:prstGeom>
          <a:noFill/>
          <a:ln cap="rnd">
            <a:noFill/>
          </a:ln>
        </p:spPr>
        <p:txBody>
          <a:bodyPr vert="horz" wrap="square" lIns="0" tIns="0" rIns="0" bIns="0" rtlCol="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mj-lt"/>
                <a:cs typeface="Calibri" panose="020F0502020204030204" pitchFamily="34" charset="0"/>
              </a:rPr>
              <a:t>… To</a:t>
            </a:r>
          </a:p>
        </p:txBody>
      </p:sp>
      <p:sp>
        <p:nvSpPr>
          <p:cNvPr id="35" name="Rectangle 34"/>
          <p:cNvSpPr/>
          <p:nvPr/>
        </p:nvSpPr>
        <p:spPr>
          <a:xfrm>
            <a:off x="630000" y="2848324"/>
            <a:ext cx="4995640" cy="49244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830F15"/>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p>
            <a:pPr marL="378000" marR="0" lvl="1" indent="-252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b="0" i="0" u="none" strike="noStrike" kern="1200" cap="none" spc="0" normalizeH="0" baseline="0" noProof="0">
                <a:ln>
                  <a:noFill/>
                </a:ln>
                <a:solidFill>
                  <a:srgbClr val="5B6770">
                    <a:lumMod val="100000"/>
                  </a:srgbClr>
                </a:solidFill>
                <a:effectLst/>
                <a:uLnTx/>
                <a:uFillTx/>
                <a:latin typeface="+mj-lt"/>
                <a:cs typeface="Calibri" panose="020F0502020204030204" pitchFamily="34" charset="0"/>
                <a:sym typeface="EMprint" panose="020B0503020204020204" pitchFamily="34" charset="0"/>
              </a:rPr>
              <a:t>Bring people to the work in loosely-defined, temporary teams</a:t>
            </a:r>
          </a:p>
        </p:txBody>
      </p:sp>
      <p:sp>
        <p:nvSpPr>
          <p:cNvPr id="15" name="Rectangle 14"/>
          <p:cNvSpPr/>
          <p:nvPr/>
        </p:nvSpPr>
        <p:spPr>
          <a:xfrm>
            <a:off x="630000" y="3569399"/>
            <a:ext cx="4995640" cy="29653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830F15"/>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p>
            <a:pPr marL="378000" marR="0" lvl="1" indent="-252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b="0" i="0" u="none" strike="noStrike" kern="1200" cap="none" spc="0" normalizeH="0" baseline="0" noProof="0">
                <a:ln>
                  <a:noFill/>
                </a:ln>
                <a:solidFill>
                  <a:srgbClr val="5B6770">
                    <a:lumMod val="100000"/>
                  </a:srgbClr>
                </a:solidFill>
                <a:effectLst/>
                <a:uLnTx/>
                <a:uFillTx/>
                <a:latin typeface="+mj-lt"/>
                <a:cs typeface="Calibri" panose="020F0502020204030204" pitchFamily="34" charset="0"/>
                <a:sym typeface="EMprint" panose="020B0503020204020204" pitchFamily="34" charset="0"/>
              </a:rPr>
              <a:t>Decisions through hierarchy</a:t>
            </a:r>
          </a:p>
        </p:txBody>
      </p:sp>
      <p:sp>
        <p:nvSpPr>
          <p:cNvPr id="16" name="Rectangle 15"/>
          <p:cNvSpPr/>
          <p:nvPr/>
        </p:nvSpPr>
        <p:spPr>
          <a:xfrm>
            <a:off x="630000" y="4094564"/>
            <a:ext cx="4995640" cy="29653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830F15"/>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p>
            <a:pPr marL="378000" marR="0" lvl="1" indent="-252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b="0" i="0" u="none" strike="noStrike" kern="1200" cap="none" spc="0" normalizeH="0" baseline="0" noProof="0">
                <a:ln>
                  <a:noFill/>
                </a:ln>
                <a:solidFill>
                  <a:srgbClr val="5B6770">
                    <a:lumMod val="100000"/>
                  </a:srgbClr>
                </a:solidFill>
                <a:effectLst/>
                <a:uLnTx/>
                <a:uFillTx/>
                <a:latin typeface="+mj-lt"/>
                <a:cs typeface="Calibri" panose="020F0502020204030204" pitchFamily="34" charset="0"/>
                <a:sym typeface="EMprint" panose="020B0503020204020204" pitchFamily="34" charset="0"/>
              </a:rPr>
              <a:t>Success defined by delivery of features</a:t>
            </a:r>
          </a:p>
        </p:txBody>
      </p:sp>
      <p:sp>
        <p:nvSpPr>
          <p:cNvPr id="17" name="Rectangle 16"/>
          <p:cNvSpPr/>
          <p:nvPr/>
        </p:nvSpPr>
        <p:spPr>
          <a:xfrm>
            <a:off x="630000" y="4619729"/>
            <a:ext cx="4995640" cy="29653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830F15"/>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p>
            <a:pPr marL="378000" marR="0" lvl="1" indent="-252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b="0" i="0" u="none" strike="noStrike" kern="1200" cap="none" spc="0" normalizeH="0" baseline="0" noProof="0">
                <a:ln>
                  <a:noFill/>
                </a:ln>
                <a:solidFill>
                  <a:srgbClr val="5B6770">
                    <a:lumMod val="100000"/>
                  </a:srgbClr>
                </a:solidFill>
                <a:effectLst/>
                <a:uLnTx/>
                <a:uFillTx/>
                <a:latin typeface="+mj-lt"/>
                <a:cs typeface="Calibri" panose="020F0502020204030204" pitchFamily="34" charset="0"/>
                <a:sym typeface="EMprint" panose="020B0503020204020204" pitchFamily="34" charset="0"/>
              </a:rPr>
              <a:t>Big, perfect, sometimes slow</a:t>
            </a:r>
          </a:p>
        </p:txBody>
      </p:sp>
      <p:sp>
        <p:nvSpPr>
          <p:cNvPr id="18" name="Rectangle 17"/>
          <p:cNvSpPr/>
          <p:nvPr/>
        </p:nvSpPr>
        <p:spPr>
          <a:xfrm>
            <a:off x="630000" y="5144894"/>
            <a:ext cx="4995640" cy="49244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830F15"/>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p>
            <a:pPr marL="378000" marR="0" lvl="1" indent="-252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b="0" i="0" u="none" strike="noStrike" kern="1200" cap="none" spc="0" normalizeH="0" baseline="0" noProof="0">
                <a:ln>
                  <a:noFill/>
                </a:ln>
                <a:solidFill>
                  <a:srgbClr val="5B6770">
                    <a:lumMod val="100000"/>
                  </a:srgbClr>
                </a:solidFill>
                <a:effectLst/>
                <a:uLnTx/>
                <a:uFillTx/>
                <a:latin typeface="+mj-lt"/>
                <a:cs typeface="Calibri" panose="020F0502020204030204" pitchFamily="34" charset="0"/>
                <a:sym typeface="EMprint" panose="020B0503020204020204" pitchFamily="34" charset="0"/>
              </a:rPr>
              <a:t>Agile practices applied primarily to </a:t>
            </a:r>
            <a:br>
              <a:rPr kumimoji="0" lang="en-US" b="0" i="0" u="none" strike="noStrike" kern="1200" cap="none" spc="0" normalizeH="0" baseline="0" noProof="0">
                <a:ln>
                  <a:noFill/>
                </a:ln>
                <a:solidFill>
                  <a:srgbClr val="5B6770">
                    <a:lumMod val="100000"/>
                  </a:srgbClr>
                </a:solidFill>
                <a:effectLst/>
                <a:uLnTx/>
                <a:uFillTx/>
                <a:latin typeface="+mj-lt"/>
                <a:cs typeface="Calibri" panose="020F0502020204030204" pitchFamily="34" charset="0"/>
                <a:sym typeface="EMprint" panose="020B0503020204020204" pitchFamily="34" charset="0"/>
              </a:rPr>
            </a:br>
            <a:r>
              <a:rPr kumimoji="0" lang="en-US" b="0" i="0" u="none" strike="noStrike" kern="1200" cap="none" spc="0" normalizeH="0" baseline="0" noProof="0">
                <a:ln>
                  <a:noFill/>
                </a:ln>
                <a:solidFill>
                  <a:srgbClr val="5B6770">
                    <a:lumMod val="100000"/>
                  </a:srgbClr>
                </a:solidFill>
                <a:effectLst/>
                <a:uLnTx/>
                <a:uFillTx/>
                <a:latin typeface="+mj-lt"/>
                <a:cs typeface="Calibri" panose="020F0502020204030204" pitchFamily="34" charset="0"/>
                <a:sym typeface="EMprint" panose="020B0503020204020204" pitchFamily="34" charset="0"/>
              </a:rPr>
              <a:t>technical teams</a:t>
            </a:r>
          </a:p>
        </p:txBody>
      </p:sp>
      <p:sp>
        <p:nvSpPr>
          <p:cNvPr id="21" name="Rectangle 20"/>
          <p:cNvSpPr/>
          <p:nvPr/>
        </p:nvSpPr>
        <p:spPr>
          <a:xfrm>
            <a:off x="630000" y="5865968"/>
            <a:ext cx="4995640" cy="29653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830F15"/>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p>
            <a:pPr marL="378000" marR="0" lvl="1" indent="-252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b="0" i="0" u="none" strike="noStrike" kern="1200" cap="none" spc="0" normalizeH="0" baseline="0" noProof="0">
                <a:ln>
                  <a:noFill/>
                </a:ln>
                <a:solidFill>
                  <a:srgbClr val="5B6770">
                    <a:lumMod val="100000"/>
                  </a:srgbClr>
                </a:solidFill>
                <a:effectLst/>
                <a:uLnTx/>
                <a:uFillTx/>
                <a:latin typeface="+mj-lt"/>
                <a:cs typeface="Calibri" panose="020F0502020204030204" pitchFamily="34" charset="0"/>
                <a:sym typeface="EMprint" panose="020B0503020204020204" pitchFamily="34" charset="0"/>
              </a:rPr>
              <a:t>Work aligned to projects </a:t>
            </a:r>
          </a:p>
        </p:txBody>
      </p:sp>
      <p:sp>
        <p:nvSpPr>
          <p:cNvPr id="36" name="ee4pContent1"/>
          <p:cNvSpPr txBox="1"/>
          <p:nvPr/>
        </p:nvSpPr>
        <p:spPr>
          <a:xfrm>
            <a:off x="6567560" y="2848324"/>
            <a:ext cx="4995640" cy="49244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830F15"/>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defPPr>
              <a:defRPr lang="en-US"/>
            </a:defPPr>
            <a:lvl1pPr>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cs typeface="Arial" pitchFamily="34" charset="0"/>
              </a:defRPr>
            </a:lvl1pPr>
            <a:lvl2pPr marL="324000" lvl="1" indent="-216000">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defRPr>
            </a:lvl2pPr>
            <a:lvl3pPr marL="648000" lvl="2" indent="-216000">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defRPr>
            </a:lvl3pPr>
            <a:lvl4pPr marL="0" lvl="3">
              <a:buClr>
                <a:srgbClr val="E51B24"/>
              </a:buClr>
              <a:buSzPct val="100000"/>
              <a:buFont typeface="Trebuchet MS" panose="020B0603020202020204" pitchFamily="34" charset="0"/>
              <a:buChar char="​"/>
              <a:defRPr sz="1600">
                <a:solidFill>
                  <a:srgbClr val="E51B24"/>
                </a:solidFill>
                <a:latin typeface="Trebuchet MS" panose="020B0603020202020204" pitchFamily="34" charset="0"/>
              </a:defRPr>
            </a:lvl4pPr>
            <a:lvl5pPr marL="0" lvl="4">
              <a:buClr>
                <a:srgbClr val="E51B24"/>
              </a:buClr>
              <a:buSzPct val="100000"/>
              <a:buFont typeface="Trebuchet MS" panose="020B0603020202020204" pitchFamily="34" charset="0"/>
              <a:buChar char="​"/>
              <a:defRPr sz="1600" b="1">
                <a:solidFill>
                  <a:srgbClr val="5B6770"/>
                </a:solidFill>
                <a:latin typeface="Trebuchet MS" panose="020B0603020202020204" pitchFamily="34" charset="0"/>
              </a:defRPr>
            </a:lvl5pPr>
            <a:lvl6pPr marL="324000" lvl="5" indent="-216000">
              <a:buClr>
                <a:srgbClr val="E51B24"/>
              </a:buClr>
              <a:buSzPct val="100000"/>
              <a:buFont typeface="Trebuchet MS" panose="020B0603020202020204" pitchFamily="34" charset="0"/>
              <a:buChar char="•"/>
              <a:defRPr sz="1600">
                <a:solidFill>
                  <a:srgbClr val="5B6770"/>
                </a:solidFill>
                <a:latin typeface="Trebuchet MS" panose="020B0603020202020204" pitchFamily="34" charset="0"/>
              </a:defRPr>
            </a:lvl6pPr>
            <a:lvl7pPr marL="0" lvl="6">
              <a:buClr>
                <a:srgbClr val="E51B24"/>
              </a:buClr>
              <a:buSzPct val="100000"/>
              <a:buFont typeface="Trebuchet MS" panose="020B0603020202020204" pitchFamily="34" charset="0"/>
              <a:buChar char="​"/>
              <a:defRPr sz="4400">
                <a:solidFill>
                  <a:srgbClr val="5B6770"/>
                </a:solidFill>
                <a:latin typeface="Trebuchet MS" panose="020B0603020202020204" pitchFamily="34" charset="0"/>
              </a:defRPr>
            </a:lvl7pPr>
            <a:lvl8pPr marL="0" lvl="7">
              <a:buClr>
                <a:srgbClr val="E51B24"/>
              </a:buClr>
              <a:buSzPct val="100000"/>
              <a:buFont typeface="Trebuchet MS" panose="020B0603020202020204" pitchFamily="34" charset="0"/>
              <a:buChar char="​"/>
              <a:defRPr sz="5400">
                <a:solidFill>
                  <a:srgbClr val="E51B24"/>
                </a:solidFill>
                <a:latin typeface="Trebuchet MS" panose="020B0603020202020204" pitchFamily="34" charset="0"/>
              </a:defRPr>
            </a:lvl8pPr>
            <a:lvl9pPr marL="0" lvl="8">
              <a:buClr>
                <a:srgbClr val="E51B24"/>
              </a:buClr>
              <a:buSzPct val="100000"/>
              <a:buFont typeface="Trebuchet MS" panose="020B0603020202020204" pitchFamily="34" charset="0"/>
              <a:buChar char="​"/>
              <a:defRPr sz="2400">
                <a:solidFill>
                  <a:srgbClr val="E51B24"/>
                </a:solidFill>
                <a:latin typeface="Trebuchet MS" panose="020B0603020202020204" pitchFamily="34" charset="0"/>
              </a:defRPr>
            </a:lvl9pPr>
          </a:lstStyle>
          <a:p>
            <a:pPr marL="378000" marR="0" lvl="1" indent="-252000" algn="l" defTabSz="914400" rtl="0" eaLnBrk="1" fontAlgn="auto" latinLnBrk="0" hangingPunct="1">
              <a:lnSpc>
                <a:spcPct val="100000"/>
              </a:lnSpc>
              <a:spcBef>
                <a:spcPts val="0"/>
              </a:spcBef>
              <a:spcAft>
                <a:spcPts val="0"/>
              </a:spcAft>
              <a:buClr>
                <a:srgbClr val="FFFFFF"/>
              </a:buClr>
              <a:buSzPct val="100000"/>
              <a:buFont typeface="Trebuchet MS" panose="020B0603020202020204" pitchFamily="34" charset="0"/>
              <a:buChar char="•"/>
              <a:tabLst/>
              <a:defRPr/>
            </a:pPr>
            <a:r>
              <a:rPr kumimoji="0" lang="en-US" sz="1800" b="0" i="0" u="none" strike="noStrike" kern="1200" cap="none" spc="0" normalizeH="0" baseline="0" noProof="0">
                <a:ln>
                  <a:noFill/>
                </a:ln>
                <a:solidFill>
                  <a:srgbClr val="FFFFFF"/>
                </a:solidFill>
                <a:effectLst/>
                <a:uLnTx/>
                <a:uFillTx/>
                <a:latin typeface="+mj-lt"/>
                <a:cs typeface="Calibri" panose="020F0502020204030204" pitchFamily="34" charset="0"/>
                <a:sym typeface="Trebuchet MS" panose="020B0603020202020204" pitchFamily="34" charset="0"/>
              </a:rPr>
              <a:t>Bring the work to standing, dedicated,</a:t>
            </a:r>
            <a:br>
              <a:rPr kumimoji="0" lang="en-US" sz="1800" b="0" i="0" u="none" strike="noStrike" kern="1200" cap="none" spc="0" normalizeH="0" baseline="0" noProof="0">
                <a:ln>
                  <a:noFill/>
                </a:ln>
                <a:solidFill>
                  <a:srgbClr val="FFFFFF"/>
                </a:solidFill>
                <a:effectLst/>
                <a:uLnTx/>
                <a:uFillTx/>
                <a:latin typeface="+mj-lt"/>
                <a:cs typeface="Calibri" panose="020F0502020204030204" pitchFamily="34" charset="0"/>
                <a:sym typeface="Trebuchet MS" panose="020B0603020202020204" pitchFamily="34" charset="0"/>
              </a:rPr>
            </a:br>
            <a:r>
              <a:rPr kumimoji="0" lang="en-US" sz="1800" b="0" i="0" u="none" strike="noStrike" kern="1200" cap="none" spc="0" normalizeH="0" baseline="0" noProof="0">
                <a:ln>
                  <a:noFill/>
                </a:ln>
                <a:solidFill>
                  <a:srgbClr val="FFFFFF"/>
                </a:solidFill>
                <a:effectLst/>
                <a:uLnTx/>
                <a:uFillTx/>
                <a:latin typeface="+mj-lt"/>
                <a:cs typeface="Calibri" panose="020F0502020204030204" pitchFamily="34" charset="0"/>
                <a:sym typeface="Trebuchet MS" panose="020B0603020202020204" pitchFamily="34" charset="0"/>
              </a:rPr>
              <a:t>persistent teams</a:t>
            </a:r>
          </a:p>
        </p:txBody>
      </p:sp>
      <p:sp>
        <p:nvSpPr>
          <p:cNvPr id="22" name="ee4pContent1"/>
          <p:cNvSpPr txBox="1"/>
          <p:nvPr/>
        </p:nvSpPr>
        <p:spPr>
          <a:xfrm>
            <a:off x="6567560" y="3569399"/>
            <a:ext cx="4995640" cy="29653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830F15"/>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defPPr>
              <a:defRPr lang="en-US"/>
            </a:defPPr>
            <a:lvl1pPr>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cs typeface="Arial" pitchFamily="34" charset="0"/>
              </a:defRPr>
            </a:lvl1pPr>
            <a:lvl2pPr marL="324000" lvl="1" indent="-216000">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defRPr>
            </a:lvl2pPr>
            <a:lvl3pPr marL="648000" lvl="2" indent="-216000">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defRPr>
            </a:lvl3pPr>
            <a:lvl4pPr marL="0" lvl="3">
              <a:buClr>
                <a:srgbClr val="E51B24"/>
              </a:buClr>
              <a:buSzPct val="100000"/>
              <a:buFont typeface="Trebuchet MS" panose="020B0603020202020204" pitchFamily="34" charset="0"/>
              <a:buChar char="​"/>
              <a:defRPr sz="1600">
                <a:solidFill>
                  <a:srgbClr val="E51B24"/>
                </a:solidFill>
                <a:latin typeface="Trebuchet MS" panose="020B0603020202020204" pitchFamily="34" charset="0"/>
              </a:defRPr>
            </a:lvl4pPr>
            <a:lvl5pPr marL="0" lvl="4">
              <a:buClr>
                <a:srgbClr val="E51B24"/>
              </a:buClr>
              <a:buSzPct val="100000"/>
              <a:buFont typeface="Trebuchet MS" panose="020B0603020202020204" pitchFamily="34" charset="0"/>
              <a:buChar char="​"/>
              <a:defRPr sz="1600" b="1">
                <a:solidFill>
                  <a:srgbClr val="5B6770"/>
                </a:solidFill>
                <a:latin typeface="Trebuchet MS" panose="020B0603020202020204" pitchFamily="34" charset="0"/>
              </a:defRPr>
            </a:lvl5pPr>
            <a:lvl6pPr marL="324000" lvl="5" indent="-216000">
              <a:buClr>
                <a:srgbClr val="E51B24"/>
              </a:buClr>
              <a:buSzPct val="100000"/>
              <a:buFont typeface="Trebuchet MS" panose="020B0603020202020204" pitchFamily="34" charset="0"/>
              <a:buChar char="•"/>
              <a:defRPr sz="1600">
                <a:solidFill>
                  <a:srgbClr val="5B6770"/>
                </a:solidFill>
                <a:latin typeface="Trebuchet MS" panose="020B0603020202020204" pitchFamily="34" charset="0"/>
              </a:defRPr>
            </a:lvl6pPr>
            <a:lvl7pPr marL="0" lvl="6">
              <a:buClr>
                <a:srgbClr val="E51B24"/>
              </a:buClr>
              <a:buSzPct val="100000"/>
              <a:buFont typeface="Trebuchet MS" panose="020B0603020202020204" pitchFamily="34" charset="0"/>
              <a:buChar char="​"/>
              <a:defRPr sz="4400">
                <a:solidFill>
                  <a:srgbClr val="5B6770"/>
                </a:solidFill>
                <a:latin typeface="Trebuchet MS" panose="020B0603020202020204" pitchFamily="34" charset="0"/>
              </a:defRPr>
            </a:lvl7pPr>
            <a:lvl8pPr marL="0" lvl="7">
              <a:buClr>
                <a:srgbClr val="E51B24"/>
              </a:buClr>
              <a:buSzPct val="100000"/>
              <a:buFont typeface="Trebuchet MS" panose="020B0603020202020204" pitchFamily="34" charset="0"/>
              <a:buChar char="​"/>
              <a:defRPr sz="5400">
                <a:solidFill>
                  <a:srgbClr val="E51B24"/>
                </a:solidFill>
                <a:latin typeface="Trebuchet MS" panose="020B0603020202020204" pitchFamily="34" charset="0"/>
              </a:defRPr>
            </a:lvl8pPr>
            <a:lvl9pPr marL="0" lvl="8">
              <a:buClr>
                <a:srgbClr val="E51B24"/>
              </a:buClr>
              <a:buSzPct val="100000"/>
              <a:buFont typeface="Trebuchet MS" panose="020B0603020202020204" pitchFamily="34" charset="0"/>
              <a:buChar char="​"/>
              <a:defRPr sz="2400">
                <a:solidFill>
                  <a:srgbClr val="E51B24"/>
                </a:solidFill>
                <a:latin typeface="Trebuchet MS" panose="020B0603020202020204" pitchFamily="34" charset="0"/>
              </a:defRPr>
            </a:lvl9pPr>
          </a:lstStyle>
          <a:p>
            <a:pPr marL="378000" marR="0" lvl="1" indent="-252000" algn="l" defTabSz="914400" rtl="0" eaLnBrk="1" fontAlgn="auto" latinLnBrk="0" hangingPunct="1">
              <a:lnSpc>
                <a:spcPct val="100000"/>
              </a:lnSpc>
              <a:spcBef>
                <a:spcPts val="0"/>
              </a:spcBef>
              <a:spcAft>
                <a:spcPts val="0"/>
              </a:spcAft>
              <a:buClr>
                <a:srgbClr val="FFFFFF"/>
              </a:buClr>
              <a:buSzPct val="100000"/>
              <a:buFont typeface="Trebuchet MS" panose="020B0603020202020204" pitchFamily="34" charset="0"/>
              <a:buChar char="•"/>
              <a:tabLst/>
              <a:defRPr/>
            </a:pPr>
            <a:r>
              <a:rPr kumimoji="0" lang="en-US" sz="1800" b="0" i="0" u="none" strike="noStrike" kern="1200" cap="none" spc="0" normalizeH="0" baseline="0" noProof="0">
                <a:ln>
                  <a:noFill/>
                </a:ln>
                <a:solidFill>
                  <a:srgbClr val="FFFFFF"/>
                </a:solidFill>
                <a:effectLst/>
                <a:uLnTx/>
                <a:uFillTx/>
                <a:latin typeface="+mj-lt"/>
                <a:cs typeface="Calibri" panose="020F0502020204030204" pitchFamily="34" charset="0"/>
                <a:sym typeface="Trebuchet MS" panose="020B0603020202020204" pitchFamily="34" charset="0"/>
              </a:rPr>
              <a:t>Team autonomy through alignment</a:t>
            </a:r>
          </a:p>
        </p:txBody>
      </p:sp>
      <p:sp>
        <p:nvSpPr>
          <p:cNvPr id="23" name="ee4pContent1"/>
          <p:cNvSpPr txBox="1"/>
          <p:nvPr/>
        </p:nvSpPr>
        <p:spPr>
          <a:xfrm>
            <a:off x="6567560" y="4094564"/>
            <a:ext cx="4995640" cy="29653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830F15"/>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defPPr>
              <a:defRPr lang="en-US"/>
            </a:defPPr>
            <a:lvl1pPr>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cs typeface="Arial" pitchFamily="34" charset="0"/>
              </a:defRPr>
            </a:lvl1pPr>
            <a:lvl2pPr marL="324000" lvl="1" indent="-216000">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defRPr>
            </a:lvl2pPr>
            <a:lvl3pPr marL="648000" lvl="2" indent="-216000">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defRPr>
            </a:lvl3pPr>
            <a:lvl4pPr marL="0" lvl="3">
              <a:buClr>
                <a:srgbClr val="E51B24"/>
              </a:buClr>
              <a:buSzPct val="100000"/>
              <a:buFont typeface="Trebuchet MS" panose="020B0603020202020204" pitchFamily="34" charset="0"/>
              <a:buChar char="​"/>
              <a:defRPr sz="1600">
                <a:solidFill>
                  <a:srgbClr val="E51B24"/>
                </a:solidFill>
                <a:latin typeface="Trebuchet MS" panose="020B0603020202020204" pitchFamily="34" charset="0"/>
              </a:defRPr>
            </a:lvl4pPr>
            <a:lvl5pPr marL="0" lvl="4">
              <a:buClr>
                <a:srgbClr val="E51B24"/>
              </a:buClr>
              <a:buSzPct val="100000"/>
              <a:buFont typeface="Trebuchet MS" panose="020B0603020202020204" pitchFamily="34" charset="0"/>
              <a:buChar char="​"/>
              <a:defRPr sz="1600" b="1">
                <a:solidFill>
                  <a:srgbClr val="5B6770"/>
                </a:solidFill>
                <a:latin typeface="Trebuchet MS" panose="020B0603020202020204" pitchFamily="34" charset="0"/>
              </a:defRPr>
            </a:lvl5pPr>
            <a:lvl6pPr marL="324000" lvl="5" indent="-216000">
              <a:buClr>
                <a:srgbClr val="E51B24"/>
              </a:buClr>
              <a:buSzPct val="100000"/>
              <a:buFont typeface="Trebuchet MS" panose="020B0603020202020204" pitchFamily="34" charset="0"/>
              <a:buChar char="•"/>
              <a:defRPr sz="1600">
                <a:solidFill>
                  <a:srgbClr val="5B6770"/>
                </a:solidFill>
                <a:latin typeface="Trebuchet MS" panose="020B0603020202020204" pitchFamily="34" charset="0"/>
              </a:defRPr>
            </a:lvl6pPr>
            <a:lvl7pPr marL="0" lvl="6">
              <a:buClr>
                <a:srgbClr val="E51B24"/>
              </a:buClr>
              <a:buSzPct val="100000"/>
              <a:buFont typeface="Trebuchet MS" panose="020B0603020202020204" pitchFamily="34" charset="0"/>
              <a:buChar char="​"/>
              <a:defRPr sz="4400">
                <a:solidFill>
                  <a:srgbClr val="5B6770"/>
                </a:solidFill>
                <a:latin typeface="Trebuchet MS" panose="020B0603020202020204" pitchFamily="34" charset="0"/>
              </a:defRPr>
            </a:lvl7pPr>
            <a:lvl8pPr marL="0" lvl="7">
              <a:buClr>
                <a:srgbClr val="E51B24"/>
              </a:buClr>
              <a:buSzPct val="100000"/>
              <a:buFont typeface="Trebuchet MS" panose="020B0603020202020204" pitchFamily="34" charset="0"/>
              <a:buChar char="​"/>
              <a:defRPr sz="5400">
                <a:solidFill>
                  <a:srgbClr val="E51B24"/>
                </a:solidFill>
                <a:latin typeface="Trebuchet MS" panose="020B0603020202020204" pitchFamily="34" charset="0"/>
              </a:defRPr>
            </a:lvl8pPr>
            <a:lvl9pPr marL="0" lvl="8">
              <a:buClr>
                <a:srgbClr val="E51B24"/>
              </a:buClr>
              <a:buSzPct val="100000"/>
              <a:buFont typeface="Trebuchet MS" panose="020B0603020202020204" pitchFamily="34" charset="0"/>
              <a:buChar char="​"/>
              <a:defRPr sz="2400">
                <a:solidFill>
                  <a:srgbClr val="E51B24"/>
                </a:solidFill>
                <a:latin typeface="Trebuchet MS" panose="020B0603020202020204" pitchFamily="34" charset="0"/>
              </a:defRPr>
            </a:lvl9pPr>
          </a:lstStyle>
          <a:p>
            <a:pPr marL="378000" marR="0" lvl="1" indent="-252000" algn="l" defTabSz="914400" rtl="0" eaLnBrk="1" fontAlgn="auto" latinLnBrk="0" hangingPunct="1">
              <a:lnSpc>
                <a:spcPct val="100000"/>
              </a:lnSpc>
              <a:spcBef>
                <a:spcPts val="0"/>
              </a:spcBef>
              <a:spcAft>
                <a:spcPts val="0"/>
              </a:spcAft>
              <a:buClr>
                <a:srgbClr val="FFFFFF"/>
              </a:buClr>
              <a:buSzPct val="100000"/>
              <a:buFont typeface="Trebuchet MS" panose="020B0603020202020204" pitchFamily="34" charset="0"/>
              <a:buChar char="•"/>
              <a:tabLst/>
              <a:defRPr/>
            </a:pPr>
            <a:r>
              <a:rPr kumimoji="0" lang="en-US" sz="1800" b="0" i="0" u="none" strike="noStrike" kern="1200" cap="none" spc="0" normalizeH="0" baseline="0" noProof="0">
                <a:ln>
                  <a:noFill/>
                </a:ln>
                <a:solidFill>
                  <a:srgbClr val="FFFFFF"/>
                </a:solidFill>
                <a:effectLst/>
                <a:uLnTx/>
                <a:uFillTx/>
                <a:latin typeface="+mj-lt"/>
                <a:cs typeface="Calibri" panose="020F0502020204030204" pitchFamily="34" charset="0"/>
                <a:sym typeface="Trebuchet MS" panose="020B0603020202020204" pitchFamily="34" charset="0"/>
              </a:rPr>
              <a:t>Success defined by value delivered</a:t>
            </a:r>
          </a:p>
        </p:txBody>
      </p:sp>
      <p:sp>
        <p:nvSpPr>
          <p:cNvPr id="24" name="ee4pContent1"/>
          <p:cNvSpPr txBox="1"/>
          <p:nvPr/>
        </p:nvSpPr>
        <p:spPr>
          <a:xfrm>
            <a:off x="6567559" y="4619729"/>
            <a:ext cx="5476051" cy="325250"/>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830F15"/>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defPPr>
              <a:defRPr lang="en-US"/>
            </a:defPPr>
            <a:lvl1pPr>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cs typeface="Arial" pitchFamily="34" charset="0"/>
              </a:defRPr>
            </a:lvl1pPr>
            <a:lvl2pPr marL="324000" lvl="1" indent="-216000">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defRPr>
            </a:lvl2pPr>
            <a:lvl3pPr marL="648000" lvl="2" indent="-216000">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defRPr>
            </a:lvl3pPr>
            <a:lvl4pPr marL="0" lvl="3">
              <a:buClr>
                <a:srgbClr val="E51B24"/>
              </a:buClr>
              <a:buSzPct val="100000"/>
              <a:buFont typeface="Trebuchet MS" panose="020B0603020202020204" pitchFamily="34" charset="0"/>
              <a:buChar char="​"/>
              <a:defRPr sz="1600">
                <a:solidFill>
                  <a:srgbClr val="E51B24"/>
                </a:solidFill>
                <a:latin typeface="Trebuchet MS" panose="020B0603020202020204" pitchFamily="34" charset="0"/>
              </a:defRPr>
            </a:lvl4pPr>
            <a:lvl5pPr marL="0" lvl="4">
              <a:buClr>
                <a:srgbClr val="E51B24"/>
              </a:buClr>
              <a:buSzPct val="100000"/>
              <a:buFont typeface="Trebuchet MS" panose="020B0603020202020204" pitchFamily="34" charset="0"/>
              <a:buChar char="​"/>
              <a:defRPr sz="1600" b="1">
                <a:solidFill>
                  <a:srgbClr val="5B6770"/>
                </a:solidFill>
                <a:latin typeface="Trebuchet MS" panose="020B0603020202020204" pitchFamily="34" charset="0"/>
              </a:defRPr>
            </a:lvl5pPr>
            <a:lvl6pPr marL="324000" lvl="5" indent="-216000">
              <a:buClr>
                <a:srgbClr val="E51B24"/>
              </a:buClr>
              <a:buSzPct val="100000"/>
              <a:buFont typeface="Trebuchet MS" panose="020B0603020202020204" pitchFamily="34" charset="0"/>
              <a:buChar char="•"/>
              <a:defRPr sz="1600">
                <a:solidFill>
                  <a:srgbClr val="5B6770"/>
                </a:solidFill>
                <a:latin typeface="Trebuchet MS" panose="020B0603020202020204" pitchFamily="34" charset="0"/>
              </a:defRPr>
            </a:lvl6pPr>
            <a:lvl7pPr marL="0" lvl="6">
              <a:buClr>
                <a:srgbClr val="E51B24"/>
              </a:buClr>
              <a:buSzPct val="100000"/>
              <a:buFont typeface="Trebuchet MS" panose="020B0603020202020204" pitchFamily="34" charset="0"/>
              <a:buChar char="​"/>
              <a:defRPr sz="4400">
                <a:solidFill>
                  <a:srgbClr val="5B6770"/>
                </a:solidFill>
                <a:latin typeface="Trebuchet MS" panose="020B0603020202020204" pitchFamily="34" charset="0"/>
              </a:defRPr>
            </a:lvl7pPr>
            <a:lvl8pPr marL="0" lvl="7">
              <a:buClr>
                <a:srgbClr val="E51B24"/>
              </a:buClr>
              <a:buSzPct val="100000"/>
              <a:buFont typeface="Trebuchet MS" panose="020B0603020202020204" pitchFamily="34" charset="0"/>
              <a:buChar char="​"/>
              <a:defRPr sz="5400">
                <a:solidFill>
                  <a:srgbClr val="E51B24"/>
                </a:solidFill>
                <a:latin typeface="Trebuchet MS" panose="020B0603020202020204" pitchFamily="34" charset="0"/>
              </a:defRPr>
            </a:lvl8pPr>
            <a:lvl9pPr marL="0" lvl="8">
              <a:buClr>
                <a:srgbClr val="E51B24"/>
              </a:buClr>
              <a:buSzPct val="100000"/>
              <a:buFont typeface="Trebuchet MS" panose="020B0603020202020204" pitchFamily="34" charset="0"/>
              <a:buChar char="​"/>
              <a:defRPr sz="2400">
                <a:solidFill>
                  <a:srgbClr val="E51B24"/>
                </a:solidFill>
                <a:latin typeface="Trebuchet MS" panose="020B0603020202020204" pitchFamily="34" charset="0"/>
              </a:defRPr>
            </a:lvl9pPr>
          </a:lstStyle>
          <a:p>
            <a:pPr marL="378000" marR="0" lvl="1" indent="-252000" algn="l" defTabSz="914400" rtl="0" eaLnBrk="1" fontAlgn="auto" latinLnBrk="0" hangingPunct="1">
              <a:lnSpc>
                <a:spcPct val="100000"/>
              </a:lnSpc>
              <a:spcBef>
                <a:spcPts val="0"/>
              </a:spcBef>
              <a:spcAft>
                <a:spcPts val="0"/>
              </a:spcAft>
              <a:buClr>
                <a:srgbClr val="FFFFFF"/>
              </a:buClr>
              <a:buSzPct val="100000"/>
              <a:buFont typeface="Trebuchet MS" panose="020B0603020202020204" pitchFamily="34" charset="0"/>
              <a:buChar char="•"/>
              <a:tabLst/>
              <a:defRPr/>
            </a:pPr>
            <a:r>
              <a:rPr kumimoji="0" lang="en-US" sz="1800" b="0" i="0" u="none" strike="noStrike" kern="1200" cap="none" spc="0" normalizeH="0" baseline="0" noProof="0">
                <a:ln>
                  <a:noFill/>
                </a:ln>
                <a:solidFill>
                  <a:srgbClr val="FFFFFF"/>
                </a:solidFill>
                <a:effectLst/>
                <a:uLnTx/>
                <a:uFillTx/>
                <a:latin typeface="+mj-lt"/>
                <a:cs typeface="Calibri" panose="020F0502020204030204" pitchFamily="34" charset="0"/>
                <a:sym typeface="Trebuchet MS" panose="020B0603020202020204" pitchFamily="34" charset="0"/>
              </a:rPr>
              <a:t>Pace over perfection (while managing risk)</a:t>
            </a:r>
          </a:p>
        </p:txBody>
      </p:sp>
      <p:sp>
        <p:nvSpPr>
          <p:cNvPr id="25" name="ee4pContent1"/>
          <p:cNvSpPr txBox="1"/>
          <p:nvPr/>
        </p:nvSpPr>
        <p:spPr>
          <a:xfrm>
            <a:off x="6567560" y="5144894"/>
            <a:ext cx="4995640" cy="49244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830F15"/>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defPPr>
              <a:defRPr lang="en-US"/>
            </a:defPPr>
            <a:lvl1pPr>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cs typeface="Arial" pitchFamily="34" charset="0"/>
              </a:defRPr>
            </a:lvl1pPr>
            <a:lvl2pPr marL="324000" lvl="1" indent="-216000">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defRPr>
            </a:lvl2pPr>
            <a:lvl3pPr marL="648000" lvl="2" indent="-216000">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defRPr>
            </a:lvl3pPr>
            <a:lvl4pPr marL="0" lvl="3">
              <a:buClr>
                <a:srgbClr val="E51B24"/>
              </a:buClr>
              <a:buSzPct val="100000"/>
              <a:buFont typeface="Trebuchet MS" panose="020B0603020202020204" pitchFamily="34" charset="0"/>
              <a:buChar char="​"/>
              <a:defRPr sz="1600">
                <a:solidFill>
                  <a:srgbClr val="E51B24"/>
                </a:solidFill>
                <a:latin typeface="Trebuchet MS" panose="020B0603020202020204" pitchFamily="34" charset="0"/>
              </a:defRPr>
            </a:lvl4pPr>
            <a:lvl5pPr marL="0" lvl="4">
              <a:buClr>
                <a:srgbClr val="E51B24"/>
              </a:buClr>
              <a:buSzPct val="100000"/>
              <a:buFont typeface="Trebuchet MS" panose="020B0603020202020204" pitchFamily="34" charset="0"/>
              <a:buChar char="​"/>
              <a:defRPr sz="1600" b="1">
                <a:solidFill>
                  <a:srgbClr val="5B6770"/>
                </a:solidFill>
                <a:latin typeface="Trebuchet MS" panose="020B0603020202020204" pitchFamily="34" charset="0"/>
              </a:defRPr>
            </a:lvl5pPr>
            <a:lvl6pPr marL="324000" lvl="5" indent="-216000">
              <a:buClr>
                <a:srgbClr val="E51B24"/>
              </a:buClr>
              <a:buSzPct val="100000"/>
              <a:buFont typeface="Trebuchet MS" panose="020B0603020202020204" pitchFamily="34" charset="0"/>
              <a:buChar char="•"/>
              <a:defRPr sz="1600">
                <a:solidFill>
                  <a:srgbClr val="5B6770"/>
                </a:solidFill>
                <a:latin typeface="Trebuchet MS" panose="020B0603020202020204" pitchFamily="34" charset="0"/>
              </a:defRPr>
            </a:lvl6pPr>
            <a:lvl7pPr marL="0" lvl="6">
              <a:buClr>
                <a:srgbClr val="E51B24"/>
              </a:buClr>
              <a:buSzPct val="100000"/>
              <a:buFont typeface="Trebuchet MS" panose="020B0603020202020204" pitchFamily="34" charset="0"/>
              <a:buChar char="​"/>
              <a:defRPr sz="4400">
                <a:solidFill>
                  <a:srgbClr val="5B6770"/>
                </a:solidFill>
                <a:latin typeface="Trebuchet MS" panose="020B0603020202020204" pitchFamily="34" charset="0"/>
              </a:defRPr>
            </a:lvl7pPr>
            <a:lvl8pPr marL="0" lvl="7">
              <a:buClr>
                <a:srgbClr val="E51B24"/>
              </a:buClr>
              <a:buSzPct val="100000"/>
              <a:buFont typeface="Trebuchet MS" panose="020B0603020202020204" pitchFamily="34" charset="0"/>
              <a:buChar char="​"/>
              <a:defRPr sz="5400">
                <a:solidFill>
                  <a:srgbClr val="E51B24"/>
                </a:solidFill>
                <a:latin typeface="Trebuchet MS" panose="020B0603020202020204" pitchFamily="34" charset="0"/>
              </a:defRPr>
            </a:lvl8pPr>
            <a:lvl9pPr marL="0" lvl="8">
              <a:buClr>
                <a:srgbClr val="E51B24"/>
              </a:buClr>
              <a:buSzPct val="100000"/>
              <a:buFont typeface="Trebuchet MS" panose="020B0603020202020204" pitchFamily="34" charset="0"/>
              <a:buChar char="​"/>
              <a:defRPr sz="2400">
                <a:solidFill>
                  <a:srgbClr val="E51B24"/>
                </a:solidFill>
                <a:latin typeface="Trebuchet MS" panose="020B0603020202020204" pitchFamily="34" charset="0"/>
              </a:defRPr>
            </a:lvl9pPr>
          </a:lstStyle>
          <a:p>
            <a:pPr marL="378000" marR="0" lvl="1" indent="-252000" algn="l" defTabSz="914400" rtl="0" eaLnBrk="1" fontAlgn="auto" latinLnBrk="0" hangingPunct="1">
              <a:lnSpc>
                <a:spcPct val="100000"/>
              </a:lnSpc>
              <a:spcBef>
                <a:spcPts val="0"/>
              </a:spcBef>
              <a:spcAft>
                <a:spcPts val="0"/>
              </a:spcAft>
              <a:buClr>
                <a:srgbClr val="FFFFFF"/>
              </a:buClr>
              <a:buSzPct val="100000"/>
              <a:buFont typeface="Trebuchet MS" panose="020B0603020202020204" pitchFamily="34" charset="0"/>
              <a:buChar char="•"/>
              <a:tabLst/>
              <a:defRPr/>
            </a:pPr>
            <a:r>
              <a:rPr kumimoji="0" lang="en-US" sz="1800" b="0" i="0" u="none" strike="noStrike" kern="1200" cap="none" spc="0" normalizeH="0" baseline="0" noProof="0">
                <a:ln>
                  <a:noFill/>
                </a:ln>
                <a:solidFill>
                  <a:srgbClr val="FFFFFF"/>
                </a:solidFill>
                <a:effectLst/>
                <a:uLnTx/>
                <a:uFillTx/>
                <a:latin typeface="+mj-lt"/>
                <a:cs typeface="Calibri" panose="020F0502020204030204" pitchFamily="34" charset="0"/>
                <a:sym typeface="Trebuchet MS" panose="020B0603020202020204" pitchFamily="34" charset="0"/>
              </a:rPr>
              <a:t>Agile beliefs and principles applied </a:t>
            </a:r>
            <a:br>
              <a:rPr kumimoji="0" lang="en-US" sz="1800" b="0" i="0" u="none" strike="noStrike" kern="1200" cap="none" spc="0" normalizeH="0" baseline="0" noProof="0">
                <a:ln>
                  <a:noFill/>
                </a:ln>
                <a:solidFill>
                  <a:srgbClr val="FFFFFF"/>
                </a:solidFill>
                <a:effectLst/>
                <a:uLnTx/>
                <a:uFillTx/>
                <a:latin typeface="+mj-lt"/>
                <a:cs typeface="Calibri" panose="020F0502020204030204" pitchFamily="34" charset="0"/>
                <a:sym typeface="Trebuchet MS" panose="020B0603020202020204" pitchFamily="34" charset="0"/>
              </a:rPr>
            </a:br>
            <a:r>
              <a:rPr kumimoji="0" lang="en-US" sz="1800" b="0" i="0" u="none" strike="noStrike" kern="1200" cap="none" spc="0" normalizeH="0" baseline="0" noProof="0">
                <a:ln>
                  <a:noFill/>
                </a:ln>
                <a:solidFill>
                  <a:srgbClr val="FFFFFF"/>
                </a:solidFill>
                <a:effectLst/>
                <a:uLnTx/>
                <a:uFillTx/>
                <a:latin typeface="+mj-lt"/>
                <a:cs typeface="Calibri" panose="020F0502020204030204" pitchFamily="34" charset="0"/>
                <a:sym typeface="Trebuchet MS" panose="020B0603020202020204" pitchFamily="34" charset="0"/>
              </a:rPr>
              <a:t>across Beazley</a:t>
            </a:r>
          </a:p>
        </p:txBody>
      </p:sp>
      <p:sp>
        <p:nvSpPr>
          <p:cNvPr id="26" name="ee4pContent1"/>
          <p:cNvSpPr txBox="1"/>
          <p:nvPr/>
        </p:nvSpPr>
        <p:spPr>
          <a:xfrm>
            <a:off x="6567560" y="5865968"/>
            <a:ext cx="4995640" cy="296533"/>
          </a:xfrm>
          <a:prstGeom prst="rect">
            <a:avLst/>
          </a:prstGeom>
          <a:noFill/>
          <a:ln w="9525" cap="flat" cmpd="sng" algn="ctr">
            <a:noFill/>
            <a:prstDash val="solid"/>
          </a:ln>
          <a:effectLst/>
          <a:extLst>
            <a:ext uri="{91240B29-F687-4F45-9708-019B960494DF}">
              <a14:hiddenLine xmlns:a14="http://schemas.microsoft.com/office/drawing/2010/main" w="9525" cap="flat" cmpd="sng" algn="ctr">
                <a:solidFill>
                  <a:srgbClr val="830F15"/>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defPPr>
              <a:defRPr lang="en-US"/>
            </a:defPPr>
            <a:lvl1pPr>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cs typeface="Arial" pitchFamily="34" charset="0"/>
              </a:defRPr>
            </a:lvl1pPr>
            <a:lvl2pPr marL="324000" lvl="1" indent="-216000">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defRPr>
            </a:lvl2pPr>
            <a:lvl3pPr marL="648000" lvl="2" indent="-216000">
              <a:buClr>
                <a:srgbClr val="E51B24"/>
              </a:buClr>
              <a:buSzPct val="100000"/>
              <a:buFont typeface="Trebuchet MS" panose="020B0603020202020204" pitchFamily="34" charset="0"/>
              <a:buChar char="–"/>
              <a:defRPr sz="1200">
                <a:solidFill>
                  <a:srgbClr val="5B6770"/>
                </a:solidFill>
                <a:latin typeface="Trebuchet MS" panose="020B0603020202020204" pitchFamily="34" charset="0"/>
              </a:defRPr>
            </a:lvl3pPr>
            <a:lvl4pPr marL="0" lvl="3">
              <a:buClr>
                <a:srgbClr val="E51B24"/>
              </a:buClr>
              <a:buSzPct val="100000"/>
              <a:buFont typeface="Trebuchet MS" panose="020B0603020202020204" pitchFamily="34" charset="0"/>
              <a:buChar char="​"/>
              <a:defRPr sz="1600">
                <a:solidFill>
                  <a:srgbClr val="E51B24"/>
                </a:solidFill>
                <a:latin typeface="Trebuchet MS" panose="020B0603020202020204" pitchFamily="34" charset="0"/>
              </a:defRPr>
            </a:lvl4pPr>
            <a:lvl5pPr marL="0" lvl="4">
              <a:buClr>
                <a:srgbClr val="E51B24"/>
              </a:buClr>
              <a:buSzPct val="100000"/>
              <a:buFont typeface="Trebuchet MS" panose="020B0603020202020204" pitchFamily="34" charset="0"/>
              <a:buChar char="​"/>
              <a:defRPr sz="1600" b="1">
                <a:solidFill>
                  <a:srgbClr val="5B6770"/>
                </a:solidFill>
                <a:latin typeface="Trebuchet MS" panose="020B0603020202020204" pitchFamily="34" charset="0"/>
              </a:defRPr>
            </a:lvl5pPr>
            <a:lvl6pPr marL="324000" lvl="5" indent="-216000">
              <a:buClr>
                <a:srgbClr val="E51B24"/>
              </a:buClr>
              <a:buSzPct val="100000"/>
              <a:buFont typeface="Trebuchet MS" panose="020B0603020202020204" pitchFamily="34" charset="0"/>
              <a:buChar char="•"/>
              <a:defRPr sz="1600">
                <a:solidFill>
                  <a:srgbClr val="5B6770"/>
                </a:solidFill>
                <a:latin typeface="Trebuchet MS" panose="020B0603020202020204" pitchFamily="34" charset="0"/>
              </a:defRPr>
            </a:lvl6pPr>
            <a:lvl7pPr marL="0" lvl="6">
              <a:buClr>
                <a:srgbClr val="E51B24"/>
              </a:buClr>
              <a:buSzPct val="100000"/>
              <a:buFont typeface="Trebuchet MS" panose="020B0603020202020204" pitchFamily="34" charset="0"/>
              <a:buChar char="​"/>
              <a:defRPr sz="4400">
                <a:solidFill>
                  <a:srgbClr val="5B6770"/>
                </a:solidFill>
                <a:latin typeface="Trebuchet MS" panose="020B0603020202020204" pitchFamily="34" charset="0"/>
              </a:defRPr>
            </a:lvl7pPr>
            <a:lvl8pPr marL="0" lvl="7">
              <a:buClr>
                <a:srgbClr val="E51B24"/>
              </a:buClr>
              <a:buSzPct val="100000"/>
              <a:buFont typeface="Trebuchet MS" panose="020B0603020202020204" pitchFamily="34" charset="0"/>
              <a:buChar char="​"/>
              <a:defRPr sz="5400">
                <a:solidFill>
                  <a:srgbClr val="E51B24"/>
                </a:solidFill>
                <a:latin typeface="Trebuchet MS" panose="020B0603020202020204" pitchFamily="34" charset="0"/>
              </a:defRPr>
            </a:lvl8pPr>
            <a:lvl9pPr marL="0" lvl="8">
              <a:buClr>
                <a:srgbClr val="E51B24"/>
              </a:buClr>
              <a:buSzPct val="100000"/>
              <a:buFont typeface="Trebuchet MS" panose="020B0603020202020204" pitchFamily="34" charset="0"/>
              <a:buChar char="​"/>
              <a:defRPr sz="2400">
                <a:solidFill>
                  <a:srgbClr val="E51B24"/>
                </a:solidFill>
                <a:latin typeface="Trebuchet MS" panose="020B0603020202020204" pitchFamily="34" charset="0"/>
              </a:defRPr>
            </a:lvl9pPr>
          </a:lstStyle>
          <a:p>
            <a:pPr marL="378000" marR="0" lvl="1" indent="-252000" algn="l" defTabSz="914400" rtl="0" eaLnBrk="1" fontAlgn="auto" latinLnBrk="0" hangingPunct="1">
              <a:lnSpc>
                <a:spcPct val="100000"/>
              </a:lnSpc>
              <a:spcBef>
                <a:spcPts val="0"/>
              </a:spcBef>
              <a:spcAft>
                <a:spcPts val="0"/>
              </a:spcAft>
              <a:buClr>
                <a:srgbClr val="FFFFFF"/>
              </a:buClr>
              <a:buSzPct val="100000"/>
              <a:buFont typeface="Trebuchet MS" panose="020B0603020202020204" pitchFamily="34" charset="0"/>
              <a:buChar char="•"/>
              <a:tabLst/>
              <a:defRPr/>
            </a:pPr>
            <a:r>
              <a:rPr kumimoji="0" lang="en-US" sz="1800" b="0" i="0" u="none" strike="noStrike" kern="1200" cap="none" spc="0" normalizeH="0" baseline="0" noProof="0">
                <a:ln>
                  <a:noFill/>
                </a:ln>
                <a:solidFill>
                  <a:srgbClr val="FFFFFF"/>
                </a:solidFill>
                <a:effectLst/>
                <a:uLnTx/>
                <a:uFillTx/>
                <a:latin typeface="+mj-lt"/>
                <a:cs typeface="Calibri" panose="020F0502020204030204" pitchFamily="34" charset="0"/>
                <a:sym typeface="Trebuchet MS" panose="020B0603020202020204" pitchFamily="34" charset="0"/>
              </a:rPr>
              <a:t>Work aligned to customer value</a:t>
            </a:r>
          </a:p>
        </p:txBody>
      </p:sp>
      <p:cxnSp>
        <p:nvCxnSpPr>
          <p:cNvPr id="5" name="Straight Arrow Connector 4"/>
          <p:cNvCxnSpPr/>
          <p:nvPr/>
        </p:nvCxnSpPr>
        <p:spPr>
          <a:xfrm>
            <a:off x="630000" y="2686941"/>
            <a:ext cx="4995640" cy="0"/>
          </a:xfrm>
          <a:prstGeom prst="straightConnector1">
            <a:avLst/>
          </a:prstGeom>
          <a:ln w="19050" cap="rnd">
            <a:solidFill>
              <a:schemeClr val="tx1">
                <a:lumMod val="60000"/>
                <a:lumOff val="40000"/>
              </a:schemeClr>
            </a:solidFill>
            <a:prstDash val="solid"/>
            <a:round/>
            <a:headEnd type="none"/>
            <a:tailEnd type="oval"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6567560" y="2686941"/>
            <a:ext cx="4995640" cy="0"/>
          </a:xfrm>
          <a:prstGeom prst="straightConnector1">
            <a:avLst/>
          </a:prstGeom>
          <a:ln w="19050" cap="rnd" cmpd="sng" algn="ctr">
            <a:solidFill>
              <a:srgbClr val="FFFFFF"/>
            </a:solidFill>
            <a:prstDash val="solid"/>
            <a:round/>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28" name="bcgIcons_Map">
            <a:extLst>
              <a:ext uri="{FF2B5EF4-FFF2-40B4-BE49-F238E27FC236}">
                <a16:creationId xmlns:a16="http://schemas.microsoft.com/office/drawing/2014/main" id="{0EF42556-F385-494B-88C2-33B3B1A716BF}"/>
              </a:ext>
            </a:extLst>
          </p:cNvPr>
          <p:cNvGrpSpPr>
            <a:grpSpLocks noChangeAspect="1"/>
          </p:cNvGrpSpPr>
          <p:nvPr/>
        </p:nvGrpSpPr>
        <p:grpSpPr bwMode="auto">
          <a:xfrm>
            <a:off x="539106" y="1420404"/>
            <a:ext cx="918220" cy="919071"/>
            <a:chOff x="1682" y="0"/>
            <a:chExt cx="4316" cy="4320"/>
          </a:xfrm>
        </p:grpSpPr>
        <p:sp>
          <p:nvSpPr>
            <p:cNvPr id="29" name="AutoShape 3">
              <a:extLst>
                <a:ext uri="{FF2B5EF4-FFF2-40B4-BE49-F238E27FC236}">
                  <a16:creationId xmlns:a16="http://schemas.microsoft.com/office/drawing/2014/main" id="{E7558E93-1A51-43E3-B21A-00E7597FF0A0}"/>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30" name="Freeform 5">
              <a:extLst>
                <a:ext uri="{FF2B5EF4-FFF2-40B4-BE49-F238E27FC236}">
                  <a16:creationId xmlns:a16="http://schemas.microsoft.com/office/drawing/2014/main" id="{9683158F-C918-482A-87AE-4179F9BBC4F5}"/>
                </a:ext>
              </a:extLst>
            </p:cNvPr>
            <p:cNvSpPr>
              <a:spLocks noEditPoints="1"/>
            </p:cNvSpPr>
            <p:nvPr/>
          </p:nvSpPr>
          <p:spPr bwMode="auto">
            <a:xfrm>
              <a:off x="2115" y="821"/>
              <a:ext cx="3450" cy="2657"/>
            </a:xfrm>
            <a:custGeom>
              <a:avLst/>
              <a:gdLst>
                <a:gd name="T0" fmla="*/ 1837 w 1842"/>
                <a:gd name="T1" fmla="*/ 1409 h 1417"/>
                <a:gd name="T2" fmla="*/ 1819 w 1842"/>
                <a:gd name="T3" fmla="*/ 1417 h 1417"/>
                <a:gd name="T4" fmla="*/ 23 w 1842"/>
                <a:gd name="T5" fmla="*/ 1417 h 1417"/>
                <a:gd name="T6" fmla="*/ 5 w 1842"/>
                <a:gd name="T7" fmla="*/ 1409 h 1417"/>
                <a:gd name="T8" fmla="*/ 1 w 1842"/>
                <a:gd name="T9" fmla="*/ 1391 h 1417"/>
                <a:gd name="T10" fmla="*/ 182 w 1842"/>
                <a:gd name="T11" fmla="*/ 580 h 1417"/>
                <a:gd name="T12" fmla="*/ 203 w 1842"/>
                <a:gd name="T13" fmla="*/ 562 h 1417"/>
                <a:gd name="T14" fmla="*/ 562 w 1842"/>
                <a:gd name="T15" fmla="*/ 562 h 1417"/>
                <a:gd name="T16" fmla="*/ 579 w 1842"/>
                <a:gd name="T17" fmla="*/ 606 h 1417"/>
                <a:gd name="T18" fmla="*/ 221 w 1842"/>
                <a:gd name="T19" fmla="*/ 606 h 1417"/>
                <a:gd name="T20" fmla="*/ 50 w 1842"/>
                <a:gd name="T21" fmla="*/ 1373 h 1417"/>
                <a:gd name="T22" fmla="*/ 1792 w 1842"/>
                <a:gd name="T23" fmla="*/ 1373 h 1417"/>
                <a:gd name="T24" fmla="*/ 1621 w 1842"/>
                <a:gd name="T25" fmla="*/ 606 h 1417"/>
                <a:gd name="T26" fmla="*/ 1263 w 1842"/>
                <a:gd name="T27" fmla="*/ 606 h 1417"/>
                <a:gd name="T28" fmla="*/ 1280 w 1842"/>
                <a:gd name="T29" fmla="*/ 562 h 1417"/>
                <a:gd name="T30" fmla="*/ 1639 w 1842"/>
                <a:gd name="T31" fmla="*/ 562 h 1417"/>
                <a:gd name="T32" fmla="*/ 1660 w 1842"/>
                <a:gd name="T33" fmla="*/ 580 h 1417"/>
                <a:gd name="T34" fmla="*/ 1841 w 1842"/>
                <a:gd name="T35" fmla="*/ 1391 h 1417"/>
                <a:gd name="T36" fmla="*/ 1837 w 1842"/>
                <a:gd name="T37" fmla="*/ 1409 h 1417"/>
                <a:gd name="T38" fmla="*/ 922 w 1842"/>
                <a:gd name="T39" fmla="*/ 1128 h 1417"/>
                <a:gd name="T40" fmla="*/ 960 w 1842"/>
                <a:gd name="T41" fmla="*/ 1106 h 1417"/>
                <a:gd name="T42" fmla="*/ 990 w 1842"/>
                <a:gd name="T43" fmla="*/ 1055 h 1417"/>
                <a:gd name="T44" fmla="*/ 1133 w 1842"/>
                <a:gd name="T45" fmla="*/ 787 h 1417"/>
                <a:gd name="T46" fmla="*/ 1281 w 1842"/>
                <a:gd name="T47" fmla="*/ 369 h 1417"/>
                <a:gd name="T48" fmla="*/ 922 w 1842"/>
                <a:gd name="T49" fmla="*/ 0 h 1417"/>
                <a:gd name="T50" fmla="*/ 561 w 1842"/>
                <a:gd name="T51" fmla="*/ 369 h 1417"/>
                <a:gd name="T52" fmla="*/ 711 w 1842"/>
                <a:gd name="T53" fmla="*/ 787 h 1417"/>
                <a:gd name="T54" fmla="*/ 855 w 1842"/>
                <a:gd name="T55" fmla="*/ 1055 h 1417"/>
                <a:gd name="T56" fmla="*/ 884 w 1842"/>
                <a:gd name="T57" fmla="*/ 1106 h 1417"/>
                <a:gd name="T58" fmla="*/ 922 w 1842"/>
                <a:gd name="T59" fmla="*/ 1128 h 1417"/>
                <a:gd name="T60" fmla="*/ 922 w 1842"/>
                <a:gd name="T61" fmla="*/ 1128 h 1417"/>
                <a:gd name="T62" fmla="*/ 1237 w 1842"/>
                <a:gd name="T63" fmla="*/ 369 h 1417"/>
                <a:gd name="T64" fmla="*/ 1093 w 1842"/>
                <a:gd name="T65" fmla="*/ 767 h 1417"/>
                <a:gd name="T66" fmla="*/ 952 w 1842"/>
                <a:gd name="T67" fmla="*/ 1033 h 1417"/>
                <a:gd name="T68" fmla="*/ 922 w 1842"/>
                <a:gd name="T69" fmla="*/ 1084 h 1417"/>
                <a:gd name="T70" fmla="*/ 893 w 1842"/>
                <a:gd name="T71" fmla="*/ 1033 h 1417"/>
                <a:gd name="T72" fmla="*/ 750 w 1842"/>
                <a:gd name="T73" fmla="*/ 767 h 1417"/>
                <a:gd name="T74" fmla="*/ 605 w 1842"/>
                <a:gd name="T75" fmla="*/ 369 h 1417"/>
                <a:gd name="T76" fmla="*/ 922 w 1842"/>
                <a:gd name="T77" fmla="*/ 44 h 1417"/>
                <a:gd name="T78" fmla="*/ 1237 w 1842"/>
                <a:gd name="T79" fmla="*/ 369 h 1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42" h="1417">
                  <a:moveTo>
                    <a:pt x="1837" y="1409"/>
                  </a:moveTo>
                  <a:cubicBezTo>
                    <a:pt x="1832" y="1414"/>
                    <a:pt x="1826" y="1417"/>
                    <a:pt x="1819" y="1417"/>
                  </a:cubicBezTo>
                  <a:cubicBezTo>
                    <a:pt x="23" y="1417"/>
                    <a:pt x="23" y="1417"/>
                    <a:pt x="23" y="1417"/>
                  </a:cubicBezTo>
                  <a:cubicBezTo>
                    <a:pt x="16" y="1417"/>
                    <a:pt x="10" y="1414"/>
                    <a:pt x="5" y="1409"/>
                  </a:cubicBezTo>
                  <a:cubicBezTo>
                    <a:pt x="1" y="1404"/>
                    <a:pt x="0" y="1397"/>
                    <a:pt x="1" y="1391"/>
                  </a:cubicBezTo>
                  <a:cubicBezTo>
                    <a:pt x="182" y="580"/>
                    <a:pt x="182" y="580"/>
                    <a:pt x="182" y="580"/>
                  </a:cubicBezTo>
                  <a:cubicBezTo>
                    <a:pt x="184" y="570"/>
                    <a:pt x="193" y="562"/>
                    <a:pt x="203" y="562"/>
                  </a:cubicBezTo>
                  <a:cubicBezTo>
                    <a:pt x="562" y="562"/>
                    <a:pt x="562" y="562"/>
                    <a:pt x="562" y="562"/>
                  </a:cubicBezTo>
                  <a:cubicBezTo>
                    <a:pt x="567" y="576"/>
                    <a:pt x="573" y="591"/>
                    <a:pt x="579" y="606"/>
                  </a:cubicBezTo>
                  <a:cubicBezTo>
                    <a:pt x="221" y="606"/>
                    <a:pt x="221" y="606"/>
                    <a:pt x="221" y="606"/>
                  </a:cubicBezTo>
                  <a:cubicBezTo>
                    <a:pt x="50" y="1373"/>
                    <a:pt x="50" y="1373"/>
                    <a:pt x="50" y="1373"/>
                  </a:cubicBezTo>
                  <a:cubicBezTo>
                    <a:pt x="1792" y="1373"/>
                    <a:pt x="1792" y="1373"/>
                    <a:pt x="1792" y="1373"/>
                  </a:cubicBezTo>
                  <a:cubicBezTo>
                    <a:pt x="1621" y="606"/>
                    <a:pt x="1621" y="606"/>
                    <a:pt x="1621" y="606"/>
                  </a:cubicBezTo>
                  <a:cubicBezTo>
                    <a:pt x="1263" y="606"/>
                    <a:pt x="1263" y="606"/>
                    <a:pt x="1263" y="606"/>
                  </a:cubicBezTo>
                  <a:cubicBezTo>
                    <a:pt x="1269" y="591"/>
                    <a:pt x="1275" y="576"/>
                    <a:pt x="1280" y="562"/>
                  </a:cubicBezTo>
                  <a:cubicBezTo>
                    <a:pt x="1639" y="562"/>
                    <a:pt x="1639" y="562"/>
                    <a:pt x="1639" y="562"/>
                  </a:cubicBezTo>
                  <a:cubicBezTo>
                    <a:pt x="1649" y="562"/>
                    <a:pt x="1658" y="570"/>
                    <a:pt x="1660" y="580"/>
                  </a:cubicBezTo>
                  <a:cubicBezTo>
                    <a:pt x="1841" y="1391"/>
                    <a:pt x="1841" y="1391"/>
                    <a:pt x="1841" y="1391"/>
                  </a:cubicBezTo>
                  <a:cubicBezTo>
                    <a:pt x="1842" y="1397"/>
                    <a:pt x="1841" y="1404"/>
                    <a:pt x="1837" y="1409"/>
                  </a:cubicBezTo>
                  <a:close/>
                  <a:moveTo>
                    <a:pt x="922" y="1128"/>
                  </a:moveTo>
                  <a:cubicBezTo>
                    <a:pt x="938" y="1128"/>
                    <a:pt x="952" y="1119"/>
                    <a:pt x="960" y="1106"/>
                  </a:cubicBezTo>
                  <a:cubicBezTo>
                    <a:pt x="990" y="1055"/>
                    <a:pt x="990" y="1055"/>
                    <a:pt x="990" y="1055"/>
                  </a:cubicBezTo>
                  <a:cubicBezTo>
                    <a:pt x="990" y="1054"/>
                    <a:pt x="1062" y="930"/>
                    <a:pt x="1133" y="787"/>
                  </a:cubicBezTo>
                  <a:cubicBezTo>
                    <a:pt x="1233" y="585"/>
                    <a:pt x="1281" y="448"/>
                    <a:pt x="1281" y="369"/>
                  </a:cubicBezTo>
                  <a:cubicBezTo>
                    <a:pt x="1281" y="166"/>
                    <a:pt x="1120" y="0"/>
                    <a:pt x="922" y="0"/>
                  </a:cubicBezTo>
                  <a:cubicBezTo>
                    <a:pt x="723" y="0"/>
                    <a:pt x="561" y="166"/>
                    <a:pt x="561" y="369"/>
                  </a:cubicBezTo>
                  <a:cubicBezTo>
                    <a:pt x="561" y="448"/>
                    <a:pt x="610" y="585"/>
                    <a:pt x="711" y="787"/>
                  </a:cubicBezTo>
                  <a:cubicBezTo>
                    <a:pt x="781" y="928"/>
                    <a:pt x="852" y="1050"/>
                    <a:pt x="855" y="1055"/>
                  </a:cubicBezTo>
                  <a:cubicBezTo>
                    <a:pt x="884" y="1106"/>
                    <a:pt x="884" y="1106"/>
                    <a:pt x="884" y="1106"/>
                  </a:cubicBezTo>
                  <a:cubicBezTo>
                    <a:pt x="892" y="1119"/>
                    <a:pt x="906" y="1128"/>
                    <a:pt x="922" y="1128"/>
                  </a:cubicBezTo>
                  <a:cubicBezTo>
                    <a:pt x="922" y="1128"/>
                    <a:pt x="922" y="1128"/>
                    <a:pt x="922" y="1128"/>
                  </a:cubicBezTo>
                  <a:close/>
                  <a:moveTo>
                    <a:pt x="1237" y="369"/>
                  </a:moveTo>
                  <a:cubicBezTo>
                    <a:pt x="1237" y="440"/>
                    <a:pt x="1189" y="574"/>
                    <a:pt x="1093" y="767"/>
                  </a:cubicBezTo>
                  <a:cubicBezTo>
                    <a:pt x="1023" y="909"/>
                    <a:pt x="952" y="1032"/>
                    <a:pt x="952" y="1033"/>
                  </a:cubicBezTo>
                  <a:cubicBezTo>
                    <a:pt x="922" y="1084"/>
                    <a:pt x="922" y="1084"/>
                    <a:pt x="922" y="1084"/>
                  </a:cubicBezTo>
                  <a:cubicBezTo>
                    <a:pt x="893" y="1033"/>
                    <a:pt x="893" y="1033"/>
                    <a:pt x="893" y="1033"/>
                  </a:cubicBezTo>
                  <a:cubicBezTo>
                    <a:pt x="890" y="1028"/>
                    <a:pt x="820" y="907"/>
                    <a:pt x="750" y="767"/>
                  </a:cubicBezTo>
                  <a:cubicBezTo>
                    <a:pt x="654" y="575"/>
                    <a:pt x="605" y="440"/>
                    <a:pt x="605" y="369"/>
                  </a:cubicBezTo>
                  <a:cubicBezTo>
                    <a:pt x="605" y="190"/>
                    <a:pt x="747" y="44"/>
                    <a:pt x="922" y="44"/>
                  </a:cubicBezTo>
                  <a:cubicBezTo>
                    <a:pt x="1096" y="44"/>
                    <a:pt x="1237" y="190"/>
                    <a:pt x="1237" y="369"/>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mj-lt"/>
                <a:cs typeface="Calibri" panose="020F0502020204030204" pitchFamily="34" charset="0"/>
              </a:endParaRPr>
            </a:p>
          </p:txBody>
        </p:sp>
        <p:sp>
          <p:nvSpPr>
            <p:cNvPr id="31" name="Freeform 6">
              <a:extLst>
                <a:ext uri="{FF2B5EF4-FFF2-40B4-BE49-F238E27FC236}">
                  <a16:creationId xmlns:a16="http://schemas.microsoft.com/office/drawing/2014/main" id="{862080C6-E82E-4DBB-A3D7-9C76F6E965F5}"/>
                </a:ext>
              </a:extLst>
            </p:cNvPr>
            <p:cNvSpPr>
              <a:spLocks noEditPoints="1"/>
            </p:cNvSpPr>
            <p:nvPr/>
          </p:nvSpPr>
          <p:spPr bwMode="auto">
            <a:xfrm>
              <a:off x="3312" y="968"/>
              <a:ext cx="1056" cy="1741"/>
            </a:xfrm>
            <a:custGeom>
              <a:avLst/>
              <a:gdLst>
                <a:gd name="T0" fmla="*/ 564 w 564"/>
                <a:gd name="T1" fmla="*/ 291 h 929"/>
                <a:gd name="T2" fmla="*/ 292 w 564"/>
                <a:gd name="T3" fmla="*/ 923 h 929"/>
                <a:gd name="T4" fmla="*/ 274 w 564"/>
                <a:gd name="T5" fmla="*/ 923 h 929"/>
                <a:gd name="T6" fmla="*/ 0 w 564"/>
                <a:gd name="T7" fmla="*/ 291 h 929"/>
                <a:gd name="T8" fmla="*/ 283 w 564"/>
                <a:gd name="T9" fmla="*/ 0 h 929"/>
                <a:gd name="T10" fmla="*/ 564 w 564"/>
                <a:gd name="T11" fmla="*/ 291 h 929"/>
                <a:gd name="T12" fmla="*/ 283 w 564"/>
                <a:gd name="T13" fmla="*/ 181 h 929"/>
                <a:gd name="T14" fmla="*/ 183 w 564"/>
                <a:gd name="T15" fmla="*/ 282 h 929"/>
                <a:gd name="T16" fmla="*/ 283 w 564"/>
                <a:gd name="T17" fmla="*/ 386 h 929"/>
                <a:gd name="T18" fmla="*/ 381 w 564"/>
                <a:gd name="T19" fmla="*/ 282 h 929"/>
                <a:gd name="T20" fmla="*/ 283 w 564"/>
                <a:gd name="T21" fmla="*/ 181 h 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4" h="929">
                  <a:moveTo>
                    <a:pt x="564" y="291"/>
                  </a:moveTo>
                  <a:cubicBezTo>
                    <a:pt x="564" y="434"/>
                    <a:pt x="339" y="839"/>
                    <a:pt x="292" y="923"/>
                  </a:cubicBezTo>
                  <a:cubicBezTo>
                    <a:pt x="288" y="929"/>
                    <a:pt x="278" y="929"/>
                    <a:pt x="274" y="923"/>
                  </a:cubicBezTo>
                  <a:cubicBezTo>
                    <a:pt x="227" y="839"/>
                    <a:pt x="0" y="434"/>
                    <a:pt x="0" y="291"/>
                  </a:cubicBezTo>
                  <a:cubicBezTo>
                    <a:pt x="0" y="132"/>
                    <a:pt x="126" y="0"/>
                    <a:pt x="283" y="0"/>
                  </a:cubicBezTo>
                  <a:cubicBezTo>
                    <a:pt x="440" y="0"/>
                    <a:pt x="564" y="132"/>
                    <a:pt x="564" y="291"/>
                  </a:cubicBezTo>
                  <a:close/>
                  <a:moveTo>
                    <a:pt x="283" y="181"/>
                  </a:moveTo>
                  <a:cubicBezTo>
                    <a:pt x="227" y="181"/>
                    <a:pt x="183" y="227"/>
                    <a:pt x="183" y="282"/>
                  </a:cubicBezTo>
                  <a:cubicBezTo>
                    <a:pt x="183" y="340"/>
                    <a:pt x="227" y="386"/>
                    <a:pt x="283" y="386"/>
                  </a:cubicBezTo>
                  <a:cubicBezTo>
                    <a:pt x="336" y="386"/>
                    <a:pt x="381" y="340"/>
                    <a:pt x="381" y="282"/>
                  </a:cubicBezTo>
                  <a:cubicBezTo>
                    <a:pt x="381" y="227"/>
                    <a:pt x="336" y="181"/>
                    <a:pt x="283" y="181"/>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mj-lt"/>
                <a:cs typeface="Calibri" panose="020F0502020204030204" pitchFamily="34" charset="0"/>
              </a:endParaRPr>
            </a:p>
          </p:txBody>
        </p:sp>
      </p:grpSp>
      <p:grpSp>
        <p:nvGrpSpPr>
          <p:cNvPr id="32" name="Group 31"/>
          <p:cNvGrpSpPr>
            <a:grpSpLocks noChangeAspect="1"/>
          </p:cNvGrpSpPr>
          <p:nvPr/>
        </p:nvGrpSpPr>
        <p:grpSpPr>
          <a:xfrm>
            <a:off x="6534699" y="1420404"/>
            <a:ext cx="919958" cy="919071"/>
            <a:chOff x="5273675" y="2606675"/>
            <a:chExt cx="1646238" cy="1644650"/>
          </a:xfrm>
        </p:grpSpPr>
        <p:sp>
          <p:nvSpPr>
            <p:cNvPr id="33" name="AutoShape 3"/>
            <p:cNvSpPr>
              <a:spLocks noChangeAspect="1" noChangeArrowheads="1" noTextEdit="1"/>
            </p:cNvSpPr>
            <p:nvPr/>
          </p:nvSpPr>
          <p:spPr bwMode="auto">
            <a:xfrm>
              <a:off x="5273675" y="2606675"/>
              <a:ext cx="1646238"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34" name="Freeform 33"/>
            <p:cNvSpPr>
              <a:spLocks/>
            </p:cNvSpPr>
            <p:nvPr/>
          </p:nvSpPr>
          <p:spPr bwMode="auto">
            <a:xfrm>
              <a:off x="5346006" y="2878138"/>
              <a:ext cx="1504752" cy="1014413"/>
            </a:xfrm>
            <a:custGeom>
              <a:avLst/>
              <a:gdLst>
                <a:gd name="connsiteX0" fmla="*/ 851141 w 1504752"/>
                <a:gd name="connsiteY0" fmla="*/ 558800 h 1014413"/>
                <a:gd name="connsiteX1" fmla="*/ 1030556 w 1504752"/>
                <a:gd name="connsiteY1" fmla="*/ 558800 h 1014413"/>
                <a:gd name="connsiteX2" fmla="*/ 1032701 w 1504752"/>
                <a:gd name="connsiteY2" fmla="*/ 562368 h 1014413"/>
                <a:gd name="connsiteX3" fmla="*/ 1048426 w 1504752"/>
                <a:gd name="connsiteY3" fmla="*/ 590201 h 1014413"/>
                <a:gd name="connsiteX4" fmla="*/ 851141 w 1504752"/>
                <a:gd name="connsiteY4" fmla="*/ 590201 h 1014413"/>
                <a:gd name="connsiteX5" fmla="*/ 821834 w 1504752"/>
                <a:gd name="connsiteY5" fmla="*/ 619460 h 1014413"/>
                <a:gd name="connsiteX6" fmla="*/ 851141 w 1504752"/>
                <a:gd name="connsiteY6" fmla="*/ 648720 h 1014413"/>
                <a:gd name="connsiteX7" fmla="*/ 1103466 w 1504752"/>
                <a:gd name="connsiteY7" fmla="*/ 648720 h 1014413"/>
                <a:gd name="connsiteX8" fmla="*/ 1213545 w 1504752"/>
                <a:gd name="connsiteY8" fmla="*/ 759335 h 1014413"/>
                <a:gd name="connsiteX9" fmla="*/ 1103466 w 1504752"/>
                <a:gd name="connsiteY9" fmla="*/ 869950 h 1014413"/>
                <a:gd name="connsiteX10" fmla="*/ 545207 w 1504752"/>
                <a:gd name="connsiteY10" fmla="*/ 869950 h 1014413"/>
                <a:gd name="connsiteX11" fmla="*/ 563792 w 1504752"/>
                <a:gd name="connsiteY11" fmla="*/ 838550 h 1014413"/>
                <a:gd name="connsiteX12" fmla="*/ 1103466 w 1504752"/>
                <a:gd name="connsiteY12" fmla="*/ 838550 h 1014413"/>
                <a:gd name="connsiteX13" fmla="*/ 1182809 w 1504752"/>
                <a:gd name="connsiteY13" fmla="*/ 759335 h 1014413"/>
                <a:gd name="connsiteX14" fmla="*/ 1103466 w 1504752"/>
                <a:gd name="connsiteY14" fmla="*/ 680120 h 1014413"/>
                <a:gd name="connsiteX15" fmla="*/ 851141 w 1504752"/>
                <a:gd name="connsiteY15" fmla="*/ 680120 h 1014413"/>
                <a:gd name="connsiteX16" fmla="*/ 790383 w 1504752"/>
                <a:gd name="connsiteY16" fmla="*/ 619460 h 1014413"/>
                <a:gd name="connsiteX17" fmla="*/ 851141 w 1504752"/>
                <a:gd name="connsiteY17" fmla="*/ 558800 h 1014413"/>
                <a:gd name="connsiteX18" fmla="*/ 770076 w 1504752"/>
                <a:gd name="connsiteY18" fmla="*/ 419100 h 1014413"/>
                <a:gd name="connsiteX19" fmla="*/ 956528 w 1504752"/>
                <a:gd name="connsiteY19" fmla="*/ 419100 h 1014413"/>
                <a:gd name="connsiteX20" fmla="*/ 957957 w 1504752"/>
                <a:gd name="connsiteY20" fmla="*/ 423430 h 1014413"/>
                <a:gd name="connsiteX21" fmla="*/ 972245 w 1504752"/>
                <a:gd name="connsiteY21" fmla="*/ 450850 h 1014413"/>
                <a:gd name="connsiteX22" fmla="*/ 757932 w 1504752"/>
                <a:gd name="connsiteY22" fmla="*/ 450850 h 1014413"/>
                <a:gd name="connsiteX23" fmla="*/ 770076 w 1504752"/>
                <a:gd name="connsiteY23" fmla="*/ 419100 h 1014413"/>
                <a:gd name="connsiteX24" fmla="*/ 167611 w 1504752"/>
                <a:gd name="connsiteY24" fmla="*/ 419100 h 1014413"/>
                <a:gd name="connsiteX25" fmla="*/ 218304 w 1504752"/>
                <a:gd name="connsiteY25" fmla="*/ 419100 h 1014413"/>
                <a:gd name="connsiteX26" fmla="*/ 230442 w 1504752"/>
                <a:gd name="connsiteY26" fmla="*/ 450508 h 1014413"/>
                <a:gd name="connsiteX27" fmla="*/ 167611 w 1504752"/>
                <a:gd name="connsiteY27" fmla="*/ 450508 h 1014413"/>
                <a:gd name="connsiteX28" fmla="*/ 164755 w 1504752"/>
                <a:gd name="connsiteY28" fmla="*/ 450508 h 1014413"/>
                <a:gd name="connsiteX29" fmla="*/ 33379 w 1504752"/>
                <a:gd name="connsiteY29" fmla="*/ 983006 h 1014413"/>
                <a:gd name="connsiteX30" fmla="*/ 1471373 w 1504752"/>
                <a:gd name="connsiteY30" fmla="*/ 983006 h 1014413"/>
                <a:gd name="connsiteX31" fmla="*/ 1339997 w 1504752"/>
                <a:gd name="connsiteY31" fmla="*/ 450508 h 1014413"/>
                <a:gd name="connsiteX32" fmla="*/ 1337141 w 1504752"/>
                <a:gd name="connsiteY32" fmla="*/ 450508 h 1014413"/>
                <a:gd name="connsiteX33" fmla="*/ 1223616 w 1504752"/>
                <a:gd name="connsiteY33" fmla="*/ 450508 h 1014413"/>
                <a:gd name="connsiteX34" fmla="*/ 1237182 w 1504752"/>
                <a:gd name="connsiteY34" fmla="*/ 422669 h 1014413"/>
                <a:gd name="connsiteX35" fmla="*/ 1239324 w 1504752"/>
                <a:gd name="connsiteY35" fmla="*/ 419100 h 1014413"/>
                <a:gd name="connsiteX36" fmla="*/ 1337141 w 1504752"/>
                <a:gd name="connsiteY36" fmla="*/ 419100 h 1014413"/>
                <a:gd name="connsiteX37" fmla="*/ 1369271 w 1504752"/>
                <a:gd name="connsiteY37" fmla="*/ 439087 h 1014413"/>
                <a:gd name="connsiteX38" fmla="*/ 1504217 w 1504752"/>
                <a:gd name="connsiteY38" fmla="*/ 983006 h 1014413"/>
                <a:gd name="connsiteX39" fmla="*/ 1499933 w 1504752"/>
                <a:gd name="connsiteY39" fmla="*/ 1002992 h 1014413"/>
                <a:gd name="connsiteX40" fmla="*/ 1473515 w 1504752"/>
                <a:gd name="connsiteY40" fmla="*/ 1014413 h 1014413"/>
                <a:gd name="connsiteX41" fmla="*/ 31237 w 1504752"/>
                <a:gd name="connsiteY41" fmla="*/ 1014413 h 1014413"/>
                <a:gd name="connsiteX42" fmla="*/ 4819 w 1504752"/>
                <a:gd name="connsiteY42" fmla="*/ 1002992 h 1014413"/>
                <a:gd name="connsiteX43" fmla="*/ 535 w 1504752"/>
                <a:gd name="connsiteY43" fmla="*/ 983006 h 1014413"/>
                <a:gd name="connsiteX44" fmla="*/ 135481 w 1504752"/>
                <a:gd name="connsiteY44" fmla="*/ 439087 h 1014413"/>
                <a:gd name="connsiteX45" fmla="*/ 167611 w 1504752"/>
                <a:gd name="connsiteY45" fmla="*/ 419100 h 1014413"/>
                <a:gd name="connsiteX46" fmla="*/ 491199 w 1504752"/>
                <a:gd name="connsiteY46" fmla="*/ 156855 h 1014413"/>
                <a:gd name="connsiteX47" fmla="*/ 466966 w 1504752"/>
                <a:gd name="connsiteY47" fmla="*/ 205592 h 1014413"/>
                <a:gd name="connsiteX48" fmla="*/ 463402 w 1504752"/>
                <a:gd name="connsiteY48" fmla="*/ 207026 h 1014413"/>
                <a:gd name="connsiteX49" fmla="*/ 411371 w 1504752"/>
                <a:gd name="connsiteY49" fmla="*/ 214909 h 1014413"/>
                <a:gd name="connsiteX50" fmla="*/ 409233 w 1504752"/>
                <a:gd name="connsiteY50" fmla="*/ 221360 h 1014413"/>
                <a:gd name="connsiteX51" fmla="*/ 447009 w 1504752"/>
                <a:gd name="connsiteY51" fmla="*/ 259346 h 1014413"/>
                <a:gd name="connsiteX52" fmla="*/ 448434 w 1504752"/>
                <a:gd name="connsiteY52" fmla="*/ 262930 h 1014413"/>
                <a:gd name="connsiteX53" fmla="*/ 438455 w 1504752"/>
                <a:gd name="connsiteY53" fmla="*/ 317401 h 1014413"/>
                <a:gd name="connsiteX54" fmla="*/ 444158 w 1504752"/>
                <a:gd name="connsiteY54" fmla="*/ 321701 h 1014413"/>
                <a:gd name="connsiteX55" fmla="*/ 491199 w 1504752"/>
                <a:gd name="connsiteY55" fmla="*/ 295899 h 1014413"/>
                <a:gd name="connsiteX56" fmla="*/ 494763 w 1504752"/>
                <a:gd name="connsiteY56" fmla="*/ 295899 h 1014413"/>
                <a:gd name="connsiteX57" fmla="*/ 542518 w 1504752"/>
                <a:gd name="connsiteY57" fmla="*/ 322418 h 1014413"/>
                <a:gd name="connsiteX58" fmla="*/ 547507 w 1504752"/>
                <a:gd name="connsiteY58" fmla="*/ 318834 h 1014413"/>
                <a:gd name="connsiteX59" fmla="*/ 538954 w 1504752"/>
                <a:gd name="connsiteY59" fmla="*/ 264363 h 1014413"/>
                <a:gd name="connsiteX60" fmla="*/ 540379 w 1504752"/>
                <a:gd name="connsiteY60" fmla="*/ 260780 h 1014413"/>
                <a:gd name="connsiteX61" fmla="*/ 579581 w 1504752"/>
                <a:gd name="connsiteY61" fmla="*/ 222793 h 1014413"/>
                <a:gd name="connsiteX62" fmla="*/ 577443 w 1504752"/>
                <a:gd name="connsiteY62" fmla="*/ 216343 h 1014413"/>
                <a:gd name="connsiteX63" fmla="*/ 523986 w 1504752"/>
                <a:gd name="connsiteY63" fmla="*/ 208459 h 1014413"/>
                <a:gd name="connsiteX64" fmla="*/ 521135 w 1504752"/>
                <a:gd name="connsiteY64" fmla="*/ 205592 h 1014413"/>
                <a:gd name="connsiteX65" fmla="*/ 497614 w 1504752"/>
                <a:gd name="connsiteY65" fmla="*/ 156855 h 1014413"/>
                <a:gd name="connsiteX66" fmla="*/ 491199 w 1504752"/>
                <a:gd name="connsiteY66" fmla="*/ 156855 h 1014413"/>
                <a:gd name="connsiteX67" fmla="*/ 1094729 w 1504752"/>
                <a:gd name="connsiteY67" fmla="*/ 131602 h 1014413"/>
                <a:gd name="connsiteX68" fmla="*/ 1079792 w 1504752"/>
                <a:gd name="connsiteY68" fmla="*/ 161537 h 1014413"/>
                <a:gd name="connsiteX69" fmla="*/ 1077659 w 1504752"/>
                <a:gd name="connsiteY69" fmla="*/ 162963 h 1014413"/>
                <a:gd name="connsiteX70" fmla="*/ 1044939 w 1504752"/>
                <a:gd name="connsiteY70" fmla="*/ 167952 h 1014413"/>
                <a:gd name="connsiteX71" fmla="*/ 1043517 w 1504752"/>
                <a:gd name="connsiteY71" fmla="*/ 171516 h 1014413"/>
                <a:gd name="connsiteX72" fmla="*/ 1066989 w 1504752"/>
                <a:gd name="connsiteY72" fmla="*/ 195750 h 1014413"/>
                <a:gd name="connsiteX73" fmla="*/ 1067701 w 1504752"/>
                <a:gd name="connsiteY73" fmla="*/ 197888 h 1014413"/>
                <a:gd name="connsiteX74" fmla="*/ 1062010 w 1504752"/>
                <a:gd name="connsiteY74" fmla="*/ 231387 h 1014413"/>
                <a:gd name="connsiteX75" fmla="*/ 1065567 w 1504752"/>
                <a:gd name="connsiteY75" fmla="*/ 233526 h 1014413"/>
                <a:gd name="connsiteX76" fmla="*/ 1095441 w 1504752"/>
                <a:gd name="connsiteY76" fmla="*/ 217845 h 1014413"/>
                <a:gd name="connsiteX77" fmla="*/ 1097575 w 1504752"/>
                <a:gd name="connsiteY77" fmla="*/ 218558 h 1014413"/>
                <a:gd name="connsiteX78" fmla="*/ 1126737 w 1504752"/>
                <a:gd name="connsiteY78" fmla="*/ 234238 h 1014413"/>
                <a:gd name="connsiteX79" fmla="*/ 1130294 w 1504752"/>
                <a:gd name="connsiteY79" fmla="*/ 232100 h 1014413"/>
                <a:gd name="connsiteX80" fmla="*/ 1125315 w 1504752"/>
                <a:gd name="connsiteY80" fmla="*/ 198601 h 1014413"/>
                <a:gd name="connsiteX81" fmla="*/ 1126026 w 1504752"/>
                <a:gd name="connsiteY81" fmla="*/ 196462 h 1014413"/>
                <a:gd name="connsiteX82" fmla="*/ 1150210 w 1504752"/>
                <a:gd name="connsiteY82" fmla="*/ 172941 h 1014413"/>
                <a:gd name="connsiteX83" fmla="*/ 1148787 w 1504752"/>
                <a:gd name="connsiteY83" fmla="*/ 168665 h 1014413"/>
                <a:gd name="connsiteX84" fmla="*/ 1115357 w 1504752"/>
                <a:gd name="connsiteY84" fmla="*/ 163676 h 1014413"/>
                <a:gd name="connsiteX85" fmla="*/ 1113934 w 1504752"/>
                <a:gd name="connsiteY85" fmla="*/ 162250 h 1014413"/>
                <a:gd name="connsiteX86" fmla="*/ 1099708 w 1504752"/>
                <a:gd name="connsiteY86" fmla="*/ 131602 h 1014413"/>
                <a:gd name="connsiteX87" fmla="*/ 1094729 w 1504752"/>
                <a:gd name="connsiteY87" fmla="*/ 131602 h 1014413"/>
                <a:gd name="connsiteX88" fmla="*/ 494330 w 1504752"/>
                <a:gd name="connsiteY88" fmla="*/ 63501 h 1014413"/>
                <a:gd name="connsiteX89" fmla="*/ 707132 w 1504752"/>
                <a:gd name="connsiteY89" fmla="*/ 282740 h 1014413"/>
                <a:gd name="connsiteX90" fmla="*/ 498629 w 1504752"/>
                <a:gd name="connsiteY90" fmla="*/ 764780 h 1014413"/>
                <a:gd name="connsiteX91" fmla="*/ 490031 w 1504752"/>
                <a:gd name="connsiteY91" fmla="*/ 764780 h 1014413"/>
                <a:gd name="connsiteX92" fmla="*/ 280094 w 1504752"/>
                <a:gd name="connsiteY92" fmla="*/ 282740 h 1014413"/>
                <a:gd name="connsiteX93" fmla="*/ 494330 w 1504752"/>
                <a:gd name="connsiteY93" fmla="*/ 63501 h 1014413"/>
                <a:gd name="connsiteX94" fmla="*/ 1098730 w 1504752"/>
                <a:gd name="connsiteY94" fmla="*/ 61913 h 1014413"/>
                <a:gd name="connsiteX95" fmla="*/ 1231007 w 1504752"/>
                <a:gd name="connsiteY95" fmla="*/ 198752 h 1014413"/>
                <a:gd name="connsiteX96" fmla="*/ 1100875 w 1504752"/>
                <a:gd name="connsiteY96" fmla="*/ 499513 h 1014413"/>
                <a:gd name="connsiteX97" fmla="*/ 1095870 w 1504752"/>
                <a:gd name="connsiteY97" fmla="*/ 499513 h 1014413"/>
                <a:gd name="connsiteX98" fmla="*/ 964307 w 1504752"/>
                <a:gd name="connsiteY98" fmla="*/ 198752 h 1014413"/>
                <a:gd name="connsiteX99" fmla="*/ 1098730 w 1504752"/>
                <a:gd name="connsiteY99" fmla="*/ 61913 h 1014413"/>
                <a:gd name="connsiteX100" fmla="*/ 1098731 w 1504752"/>
                <a:gd name="connsiteY100" fmla="*/ 31750 h 1014413"/>
                <a:gd name="connsiteX101" fmla="*/ 940494 w 1504752"/>
                <a:gd name="connsiteY101" fmla="*/ 192853 h 1014413"/>
                <a:gd name="connsiteX102" fmla="*/ 1014242 w 1504752"/>
                <a:gd name="connsiteY102" fmla="*/ 394588 h 1014413"/>
                <a:gd name="connsiteX103" fmla="*/ 1087275 w 1504752"/>
                <a:gd name="connsiteY103" fmla="*/ 530028 h 1014413"/>
                <a:gd name="connsiteX104" fmla="*/ 1098731 w 1504752"/>
                <a:gd name="connsiteY104" fmla="*/ 549275 h 1014413"/>
                <a:gd name="connsiteX105" fmla="*/ 1109471 w 1504752"/>
                <a:gd name="connsiteY105" fmla="*/ 530028 h 1014413"/>
                <a:gd name="connsiteX106" fmla="*/ 1182503 w 1504752"/>
                <a:gd name="connsiteY106" fmla="*/ 394588 h 1014413"/>
                <a:gd name="connsiteX107" fmla="*/ 1254819 w 1504752"/>
                <a:gd name="connsiteY107" fmla="*/ 192853 h 1014413"/>
                <a:gd name="connsiteX108" fmla="*/ 1098731 w 1504752"/>
                <a:gd name="connsiteY108" fmla="*/ 31750 h 1014413"/>
                <a:gd name="connsiteX109" fmla="*/ 493971 w 1504752"/>
                <a:gd name="connsiteY109" fmla="*/ 31750 h 1014413"/>
                <a:gd name="connsiteX110" fmla="*/ 249932 w 1504752"/>
                <a:gd name="connsiteY110" fmla="*/ 282322 h 1014413"/>
                <a:gd name="connsiteX111" fmla="*/ 361248 w 1504752"/>
                <a:gd name="connsiteY111" fmla="*/ 589291 h 1014413"/>
                <a:gd name="connsiteX112" fmla="*/ 471137 w 1504752"/>
                <a:gd name="connsiteY112" fmla="*/ 792747 h 1014413"/>
                <a:gd name="connsiteX113" fmla="*/ 493971 w 1504752"/>
                <a:gd name="connsiteY113" fmla="*/ 833438 h 1014413"/>
                <a:gd name="connsiteX114" fmla="*/ 517518 w 1504752"/>
                <a:gd name="connsiteY114" fmla="*/ 792747 h 1014413"/>
                <a:gd name="connsiteX115" fmla="*/ 625980 w 1504752"/>
                <a:gd name="connsiteY115" fmla="*/ 589291 h 1014413"/>
                <a:gd name="connsiteX116" fmla="*/ 737295 w 1504752"/>
                <a:gd name="connsiteY116" fmla="*/ 282322 h 1014413"/>
                <a:gd name="connsiteX117" fmla="*/ 493971 w 1504752"/>
                <a:gd name="connsiteY117" fmla="*/ 31750 h 1014413"/>
                <a:gd name="connsiteX118" fmla="*/ 1098732 w 1504752"/>
                <a:gd name="connsiteY118" fmla="*/ 0 h 1014413"/>
                <a:gd name="connsiteX119" fmla="*/ 1286569 w 1504752"/>
                <a:gd name="connsiteY119" fmla="*/ 192518 h 1014413"/>
                <a:gd name="connsiteX120" fmla="*/ 1209857 w 1504752"/>
                <a:gd name="connsiteY120" fmla="*/ 408566 h 1014413"/>
                <a:gd name="connsiteX121" fmla="*/ 1136730 w 1504752"/>
                <a:gd name="connsiteY121" fmla="*/ 545468 h 1014413"/>
                <a:gd name="connsiteX122" fmla="*/ 1118806 w 1504752"/>
                <a:gd name="connsiteY122" fmla="*/ 576842 h 1014413"/>
                <a:gd name="connsiteX123" fmla="*/ 1098732 w 1504752"/>
                <a:gd name="connsiteY123" fmla="*/ 588963 h 1014413"/>
                <a:gd name="connsiteX124" fmla="*/ 1078658 w 1504752"/>
                <a:gd name="connsiteY124" fmla="*/ 577555 h 1014413"/>
                <a:gd name="connsiteX125" fmla="*/ 1060018 w 1504752"/>
                <a:gd name="connsiteY125" fmla="*/ 545468 h 1014413"/>
                <a:gd name="connsiteX126" fmla="*/ 986173 w 1504752"/>
                <a:gd name="connsiteY126" fmla="*/ 408566 h 1014413"/>
                <a:gd name="connsiteX127" fmla="*/ 908744 w 1504752"/>
                <a:gd name="connsiteY127" fmla="*/ 192518 h 1014413"/>
                <a:gd name="connsiteX128" fmla="*/ 1098732 w 1504752"/>
                <a:gd name="connsiteY128" fmla="*/ 0 h 1014413"/>
                <a:gd name="connsiteX129" fmla="*/ 493971 w 1504752"/>
                <a:gd name="connsiteY129" fmla="*/ 0 h 1014413"/>
                <a:gd name="connsiteX130" fmla="*/ 769045 w 1504752"/>
                <a:gd name="connsiteY130" fmla="*/ 282127 h 1014413"/>
                <a:gd name="connsiteX131" fmla="*/ 654729 w 1504752"/>
                <a:gd name="connsiteY131" fmla="*/ 602823 h 1014413"/>
                <a:gd name="connsiteX132" fmla="*/ 544699 w 1504752"/>
                <a:gd name="connsiteY132" fmla="*/ 808525 h 1014413"/>
                <a:gd name="connsiteX133" fmla="*/ 516834 w 1504752"/>
                <a:gd name="connsiteY133" fmla="*/ 856380 h 1014413"/>
                <a:gd name="connsiteX134" fmla="*/ 493971 w 1504752"/>
                <a:gd name="connsiteY134" fmla="*/ 869950 h 1014413"/>
                <a:gd name="connsiteX135" fmla="*/ 471822 w 1504752"/>
                <a:gd name="connsiteY135" fmla="*/ 856380 h 1014413"/>
                <a:gd name="connsiteX136" fmla="*/ 443957 w 1504752"/>
                <a:gd name="connsiteY136" fmla="*/ 808525 h 1014413"/>
                <a:gd name="connsiteX137" fmla="*/ 333213 w 1504752"/>
                <a:gd name="connsiteY137" fmla="*/ 602823 h 1014413"/>
                <a:gd name="connsiteX138" fmla="*/ 218182 w 1504752"/>
                <a:gd name="connsiteY138" fmla="*/ 282127 h 1014413"/>
                <a:gd name="connsiteX139" fmla="*/ 493971 w 1504752"/>
                <a:gd name="connsiteY139" fmla="*/ 0 h 101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1504752" h="1014413">
                  <a:moveTo>
                    <a:pt x="851141" y="558800"/>
                  </a:moveTo>
                  <a:cubicBezTo>
                    <a:pt x="851141" y="558800"/>
                    <a:pt x="851141" y="558800"/>
                    <a:pt x="1030556" y="558800"/>
                  </a:cubicBezTo>
                  <a:cubicBezTo>
                    <a:pt x="1031986" y="560941"/>
                    <a:pt x="1032701" y="562368"/>
                    <a:pt x="1032701" y="562368"/>
                  </a:cubicBezTo>
                  <a:cubicBezTo>
                    <a:pt x="1032701" y="562368"/>
                    <a:pt x="1032701" y="562368"/>
                    <a:pt x="1048426" y="590201"/>
                  </a:cubicBezTo>
                  <a:cubicBezTo>
                    <a:pt x="1048426" y="590201"/>
                    <a:pt x="1048426" y="590201"/>
                    <a:pt x="851141" y="590201"/>
                  </a:cubicBezTo>
                  <a:cubicBezTo>
                    <a:pt x="834701" y="590201"/>
                    <a:pt x="821834" y="603046"/>
                    <a:pt x="821834" y="619460"/>
                  </a:cubicBezTo>
                  <a:cubicBezTo>
                    <a:pt x="821834" y="635160"/>
                    <a:pt x="834701" y="648720"/>
                    <a:pt x="851141" y="648720"/>
                  </a:cubicBezTo>
                  <a:cubicBezTo>
                    <a:pt x="851141" y="648720"/>
                    <a:pt x="851141" y="648720"/>
                    <a:pt x="1103466" y="648720"/>
                  </a:cubicBezTo>
                  <a:cubicBezTo>
                    <a:pt x="1164224" y="648720"/>
                    <a:pt x="1213545" y="697961"/>
                    <a:pt x="1213545" y="759335"/>
                  </a:cubicBezTo>
                  <a:cubicBezTo>
                    <a:pt x="1213545" y="819995"/>
                    <a:pt x="1164224" y="869950"/>
                    <a:pt x="1103466" y="869950"/>
                  </a:cubicBezTo>
                  <a:cubicBezTo>
                    <a:pt x="1103466" y="869950"/>
                    <a:pt x="1103466" y="869950"/>
                    <a:pt x="545207" y="869950"/>
                  </a:cubicBezTo>
                  <a:cubicBezTo>
                    <a:pt x="545207" y="869950"/>
                    <a:pt x="545207" y="869950"/>
                    <a:pt x="563792" y="838550"/>
                  </a:cubicBezTo>
                  <a:cubicBezTo>
                    <a:pt x="563792" y="838550"/>
                    <a:pt x="563792" y="838550"/>
                    <a:pt x="1103466" y="838550"/>
                  </a:cubicBezTo>
                  <a:cubicBezTo>
                    <a:pt x="1147069" y="838550"/>
                    <a:pt x="1182809" y="802867"/>
                    <a:pt x="1182809" y="759335"/>
                  </a:cubicBezTo>
                  <a:cubicBezTo>
                    <a:pt x="1182809" y="715802"/>
                    <a:pt x="1147069" y="680120"/>
                    <a:pt x="1103466" y="680120"/>
                  </a:cubicBezTo>
                  <a:cubicBezTo>
                    <a:pt x="1103466" y="680120"/>
                    <a:pt x="1103466" y="680120"/>
                    <a:pt x="851141" y="680120"/>
                  </a:cubicBezTo>
                  <a:cubicBezTo>
                    <a:pt x="817546" y="680120"/>
                    <a:pt x="790383" y="653002"/>
                    <a:pt x="790383" y="619460"/>
                  </a:cubicBezTo>
                  <a:cubicBezTo>
                    <a:pt x="790383" y="585919"/>
                    <a:pt x="817546" y="558800"/>
                    <a:pt x="851141" y="558800"/>
                  </a:cubicBezTo>
                  <a:close/>
                  <a:moveTo>
                    <a:pt x="770076" y="419100"/>
                  </a:moveTo>
                  <a:cubicBezTo>
                    <a:pt x="770076" y="419100"/>
                    <a:pt x="770076" y="419100"/>
                    <a:pt x="956528" y="419100"/>
                  </a:cubicBezTo>
                  <a:cubicBezTo>
                    <a:pt x="957243" y="420543"/>
                    <a:pt x="957243" y="421986"/>
                    <a:pt x="957957" y="423430"/>
                  </a:cubicBezTo>
                  <a:cubicBezTo>
                    <a:pt x="962958" y="432810"/>
                    <a:pt x="967245" y="442191"/>
                    <a:pt x="972245" y="450850"/>
                  </a:cubicBezTo>
                  <a:cubicBezTo>
                    <a:pt x="972245" y="450850"/>
                    <a:pt x="972245" y="450850"/>
                    <a:pt x="757932" y="450850"/>
                  </a:cubicBezTo>
                  <a:cubicBezTo>
                    <a:pt x="762218" y="440026"/>
                    <a:pt x="766504" y="429202"/>
                    <a:pt x="770076" y="419100"/>
                  </a:cubicBezTo>
                  <a:close/>
                  <a:moveTo>
                    <a:pt x="167611" y="419100"/>
                  </a:moveTo>
                  <a:cubicBezTo>
                    <a:pt x="167611" y="419100"/>
                    <a:pt x="167611" y="419100"/>
                    <a:pt x="218304" y="419100"/>
                  </a:cubicBezTo>
                  <a:cubicBezTo>
                    <a:pt x="221874" y="429093"/>
                    <a:pt x="226158" y="439800"/>
                    <a:pt x="230442" y="450508"/>
                  </a:cubicBezTo>
                  <a:cubicBezTo>
                    <a:pt x="230442" y="450508"/>
                    <a:pt x="230442" y="450508"/>
                    <a:pt x="167611" y="450508"/>
                  </a:cubicBezTo>
                  <a:cubicBezTo>
                    <a:pt x="166897" y="450508"/>
                    <a:pt x="165469" y="450508"/>
                    <a:pt x="164755" y="450508"/>
                  </a:cubicBezTo>
                  <a:cubicBezTo>
                    <a:pt x="164755" y="450508"/>
                    <a:pt x="164755" y="450508"/>
                    <a:pt x="33379" y="983006"/>
                  </a:cubicBezTo>
                  <a:cubicBezTo>
                    <a:pt x="33379" y="983006"/>
                    <a:pt x="33379" y="983006"/>
                    <a:pt x="1471373" y="983006"/>
                  </a:cubicBezTo>
                  <a:cubicBezTo>
                    <a:pt x="1471373" y="983006"/>
                    <a:pt x="1471373" y="983006"/>
                    <a:pt x="1339997" y="450508"/>
                  </a:cubicBezTo>
                  <a:cubicBezTo>
                    <a:pt x="1339283" y="450508"/>
                    <a:pt x="1337855" y="450508"/>
                    <a:pt x="1337141" y="450508"/>
                  </a:cubicBezTo>
                  <a:cubicBezTo>
                    <a:pt x="1337141" y="450508"/>
                    <a:pt x="1337141" y="450508"/>
                    <a:pt x="1223616" y="450508"/>
                  </a:cubicBezTo>
                  <a:cubicBezTo>
                    <a:pt x="1227900" y="441228"/>
                    <a:pt x="1232898" y="431949"/>
                    <a:pt x="1237182" y="422669"/>
                  </a:cubicBezTo>
                  <a:cubicBezTo>
                    <a:pt x="1237896" y="421955"/>
                    <a:pt x="1238610" y="420528"/>
                    <a:pt x="1239324" y="419100"/>
                  </a:cubicBezTo>
                  <a:cubicBezTo>
                    <a:pt x="1239324" y="419100"/>
                    <a:pt x="1239324" y="419100"/>
                    <a:pt x="1337141" y="419100"/>
                  </a:cubicBezTo>
                  <a:cubicBezTo>
                    <a:pt x="1349993" y="419100"/>
                    <a:pt x="1365701" y="425524"/>
                    <a:pt x="1369271" y="439087"/>
                  </a:cubicBezTo>
                  <a:cubicBezTo>
                    <a:pt x="1369271" y="439087"/>
                    <a:pt x="1369271" y="439087"/>
                    <a:pt x="1504217" y="983006"/>
                  </a:cubicBezTo>
                  <a:cubicBezTo>
                    <a:pt x="1505645" y="990144"/>
                    <a:pt x="1504217" y="997282"/>
                    <a:pt x="1499933" y="1002992"/>
                  </a:cubicBezTo>
                  <a:cubicBezTo>
                    <a:pt x="1494221" y="1010130"/>
                    <a:pt x="1484225" y="1014413"/>
                    <a:pt x="1473515" y="1014413"/>
                  </a:cubicBezTo>
                  <a:cubicBezTo>
                    <a:pt x="1473515" y="1014413"/>
                    <a:pt x="1473515" y="1014413"/>
                    <a:pt x="31237" y="1014413"/>
                  </a:cubicBezTo>
                  <a:cubicBezTo>
                    <a:pt x="20527" y="1014413"/>
                    <a:pt x="10531" y="1010130"/>
                    <a:pt x="4819" y="1002992"/>
                  </a:cubicBezTo>
                  <a:cubicBezTo>
                    <a:pt x="535" y="997282"/>
                    <a:pt x="-893" y="990144"/>
                    <a:pt x="535" y="983006"/>
                  </a:cubicBezTo>
                  <a:cubicBezTo>
                    <a:pt x="535" y="983006"/>
                    <a:pt x="535" y="983006"/>
                    <a:pt x="135481" y="439087"/>
                  </a:cubicBezTo>
                  <a:cubicBezTo>
                    <a:pt x="139051" y="425524"/>
                    <a:pt x="154759" y="419100"/>
                    <a:pt x="167611" y="419100"/>
                  </a:cubicBezTo>
                  <a:close/>
                  <a:moveTo>
                    <a:pt x="491199" y="156855"/>
                  </a:moveTo>
                  <a:cubicBezTo>
                    <a:pt x="491199" y="156855"/>
                    <a:pt x="491199" y="156855"/>
                    <a:pt x="466966" y="205592"/>
                  </a:cubicBezTo>
                  <a:cubicBezTo>
                    <a:pt x="466253" y="206309"/>
                    <a:pt x="464827" y="207026"/>
                    <a:pt x="463402" y="207026"/>
                  </a:cubicBezTo>
                  <a:cubicBezTo>
                    <a:pt x="463402" y="207026"/>
                    <a:pt x="463402" y="207026"/>
                    <a:pt x="411371" y="214909"/>
                  </a:cubicBezTo>
                  <a:cubicBezTo>
                    <a:pt x="407807" y="214909"/>
                    <a:pt x="407094" y="219210"/>
                    <a:pt x="409233" y="221360"/>
                  </a:cubicBezTo>
                  <a:cubicBezTo>
                    <a:pt x="409233" y="221360"/>
                    <a:pt x="409233" y="221360"/>
                    <a:pt x="447009" y="259346"/>
                  </a:cubicBezTo>
                  <a:cubicBezTo>
                    <a:pt x="448434" y="260063"/>
                    <a:pt x="448434" y="261496"/>
                    <a:pt x="448434" y="262930"/>
                  </a:cubicBezTo>
                  <a:cubicBezTo>
                    <a:pt x="448434" y="262930"/>
                    <a:pt x="448434" y="262930"/>
                    <a:pt x="438455" y="317401"/>
                  </a:cubicBezTo>
                  <a:cubicBezTo>
                    <a:pt x="437743" y="320268"/>
                    <a:pt x="441306" y="323134"/>
                    <a:pt x="444158" y="321701"/>
                  </a:cubicBezTo>
                  <a:cubicBezTo>
                    <a:pt x="444158" y="321701"/>
                    <a:pt x="444158" y="321701"/>
                    <a:pt x="491199" y="295899"/>
                  </a:cubicBezTo>
                  <a:cubicBezTo>
                    <a:pt x="492625" y="295182"/>
                    <a:pt x="493338" y="295182"/>
                    <a:pt x="494763" y="295899"/>
                  </a:cubicBezTo>
                  <a:cubicBezTo>
                    <a:pt x="494763" y="295899"/>
                    <a:pt x="494763" y="295899"/>
                    <a:pt x="542518" y="322418"/>
                  </a:cubicBezTo>
                  <a:cubicBezTo>
                    <a:pt x="545369" y="323851"/>
                    <a:pt x="548220" y="321701"/>
                    <a:pt x="547507" y="318834"/>
                  </a:cubicBezTo>
                  <a:cubicBezTo>
                    <a:pt x="547507" y="318834"/>
                    <a:pt x="547507" y="318834"/>
                    <a:pt x="538954" y="264363"/>
                  </a:cubicBezTo>
                  <a:cubicBezTo>
                    <a:pt x="538954" y="262930"/>
                    <a:pt x="539667" y="261496"/>
                    <a:pt x="540379" y="260780"/>
                  </a:cubicBezTo>
                  <a:cubicBezTo>
                    <a:pt x="540379" y="260780"/>
                    <a:pt x="540379" y="260780"/>
                    <a:pt x="579581" y="222793"/>
                  </a:cubicBezTo>
                  <a:cubicBezTo>
                    <a:pt x="581719" y="220643"/>
                    <a:pt x="580294" y="217060"/>
                    <a:pt x="577443" y="216343"/>
                  </a:cubicBezTo>
                  <a:cubicBezTo>
                    <a:pt x="577443" y="216343"/>
                    <a:pt x="577443" y="216343"/>
                    <a:pt x="523986" y="208459"/>
                  </a:cubicBezTo>
                  <a:cubicBezTo>
                    <a:pt x="522561" y="207742"/>
                    <a:pt x="521848" y="207026"/>
                    <a:pt x="521135" y="205592"/>
                  </a:cubicBezTo>
                  <a:cubicBezTo>
                    <a:pt x="521135" y="205592"/>
                    <a:pt x="521135" y="205592"/>
                    <a:pt x="497614" y="156855"/>
                  </a:cubicBezTo>
                  <a:cubicBezTo>
                    <a:pt x="496189" y="153988"/>
                    <a:pt x="492625" y="153988"/>
                    <a:pt x="491199" y="156855"/>
                  </a:cubicBezTo>
                  <a:close/>
                  <a:moveTo>
                    <a:pt x="1094729" y="131602"/>
                  </a:moveTo>
                  <a:cubicBezTo>
                    <a:pt x="1094729" y="131602"/>
                    <a:pt x="1094729" y="131602"/>
                    <a:pt x="1079792" y="161537"/>
                  </a:cubicBezTo>
                  <a:cubicBezTo>
                    <a:pt x="1079792" y="162963"/>
                    <a:pt x="1079081" y="162963"/>
                    <a:pt x="1077659" y="162963"/>
                  </a:cubicBezTo>
                  <a:cubicBezTo>
                    <a:pt x="1077659" y="162963"/>
                    <a:pt x="1077659" y="162963"/>
                    <a:pt x="1044939" y="167952"/>
                  </a:cubicBezTo>
                  <a:cubicBezTo>
                    <a:pt x="1042806" y="167952"/>
                    <a:pt x="1042094" y="170090"/>
                    <a:pt x="1043517" y="171516"/>
                  </a:cubicBezTo>
                  <a:cubicBezTo>
                    <a:pt x="1043517" y="171516"/>
                    <a:pt x="1043517" y="171516"/>
                    <a:pt x="1066989" y="195750"/>
                  </a:cubicBezTo>
                  <a:cubicBezTo>
                    <a:pt x="1067701" y="196462"/>
                    <a:pt x="1067701" y="197175"/>
                    <a:pt x="1067701" y="197888"/>
                  </a:cubicBezTo>
                  <a:cubicBezTo>
                    <a:pt x="1067701" y="197888"/>
                    <a:pt x="1067701" y="197888"/>
                    <a:pt x="1062010" y="231387"/>
                  </a:cubicBezTo>
                  <a:cubicBezTo>
                    <a:pt x="1061299" y="232813"/>
                    <a:pt x="1063433" y="234238"/>
                    <a:pt x="1065567" y="233526"/>
                  </a:cubicBezTo>
                  <a:cubicBezTo>
                    <a:pt x="1065567" y="233526"/>
                    <a:pt x="1065567" y="233526"/>
                    <a:pt x="1095441" y="217845"/>
                  </a:cubicBezTo>
                  <a:cubicBezTo>
                    <a:pt x="1096152" y="217845"/>
                    <a:pt x="1096863" y="217845"/>
                    <a:pt x="1097575" y="218558"/>
                  </a:cubicBezTo>
                  <a:cubicBezTo>
                    <a:pt x="1097575" y="218558"/>
                    <a:pt x="1097575" y="218558"/>
                    <a:pt x="1126737" y="234238"/>
                  </a:cubicBezTo>
                  <a:cubicBezTo>
                    <a:pt x="1128871" y="234951"/>
                    <a:pt x="1131005" y="233526"/>
                    <a:pt x="1130294" y="232100"/>
                  </a:cubicBezTo>
                  <a:cubicBezTo>
                    <a:pt x="1130294" y="232100"/>
                    <a:pt x="1130294" y="232100"/>
                    <a:pt x="1125315" y="198601"/>
                  </a:cubicBezTo>
                  <a:cubicBezTo>
                    <a:pt x="1125315" y="197888"/>
                    <a:pt x="1125315" y="196462"/>
                    <a:pt x="1126026" y="196462"/>
                  </a:cubicBezTo>
                  <a:cubicBezTo>
                    <a:pt x="1126026" y="196462"/>
                    <a:pt x="1126026" y="196462"/>
                    <a:pt x="1150210" y="172941"/>
                  </a:cubicBezTo>
                  <a:cubicBezTo>
                    <a:pt x="1151632" y="171516"/>
                    <a:pt x="1150921" y="169378"/>
                    <a:pt x="1148787" y="168665"/>
                  </a:cubicBezTo>
                  <a:cubicBezTo>
                    <a:pt x="1148787" y="168665"/>
                    <a:pt x="1148787" y="168665"/>
                    <a:pt x="1115357" y="163676"/>
                  </a:cubicBezTo>
                  <a:cubicBezTo>
                    <a:pt x="1114645" y="163676"/>
                    <a:pt x="1113934" y="162963"/>
                    <a:pt x="1113934" y="162250"/>
                  </a:cubicBezTo>
                  <a:cubicBezTo>
                    <a:pt x="1113934" y="162250"/>
                    <a:pt x="1113934" y="162250"/>
                    <a:pt x="1099708" y="131602"/>
                  </a:cubicBezTo>
                  <a:cubicBezTo>
                    <a:pt x="1098286" y="130176"/>
                    <a:pt x="1096152" y="130176"/>
                    <a:pt x="1094729" y="131602"/>
                  </a:cubicBezTo>
                  <a:close/>
                  <a:moveTo>
                    <a:pt x="494330" y="63501"/>
                  </a:moveTo>
                  <a:cubicBezTo>
                    <a:pt x="613270" y="63501"/>
                    <a:pt x="707132" y="162766"/>
                    <a:pt x="707132" y="282740"/>
                  </a:cubicBezTo>
                  <a:cubicBezTo>
                    <a:pt x="707132" y="394145"/>
                    <a:pt x="528722" y="711935"/>
                    <a:pt x="498629" y="764780"/>
                  </a:cubicBezTo>
                  <a:cubicBezTo>
                    <a:pt x="496479" y="768351"/>
                    <a:pt x="491464" y="768351"/>
                    <a:pt x="490031" y="764780"/>
                  </a:cubicBezTo>
                  <a:cubicBezTo>
                    <a:pt x="459937" y="711935"/>
                    <a:pt x="280094" y="394145"/>
                    <a:pt x="280094" y="282740"/>
                  </a:cubicBezTo>
                  <a:cubicBezTo>
                    <a:pt x="280094" y="162766"/>
                    <a:pt x="376106" y="63501"/>
                    <a:pt x="494330" y="63501"/>
                  </a:cubicBezTo>
                  <a:close/>
                  <a:moveTo>
                    <a:pt x="1098730" y="61913"/>
                  </a:moveTo>
                  <a:cubicBezTo>
                    <a:pt x="1172376" y="61913"/>
                    <a:pt x="1231007" y="123918"/>
                    <a:pt x="1231007" y="198752"/>
                  </a:cubicBezTo>
                  <a:cubicBezTo>
                    <a:pt x="1231007" y="267884"/>
                    <a:pt x="1120180" y="466729"/>
                    <a:pt x="1100875" y="499513"/>
                  </a:cubicBezTo>
                  <a:cubicBezTo>
                    <a:pt x="1100160" y="501651"/>
                    <a:pt x="1097300" y="501651"/>
                    <a:pt x="1095870" y="499513"/>
                  </a:cubicBezTo>
                  <a:cubicBezTo>
                    <a:pt x="1076564" y="466729"/>
                    <a:pt x="964307" y="267884"/>
                    <a:pt x="964307" y="198752"/>
                  </a:cubicBezTo>
                  <a:cubicBezTo>
                    <a:pt x="964307" y="123918"/>
                    <a:pt x="1024368" y="61913"/>
                    <a:pt x="1098730" y="61913"/>
                  </a:cubicBezTo>
                  <a:close/>
                  <a:moveTo>
                    <a:pt x="1098731" y="31750"/>
                  </a:moveTo>
                  <a:cubicBezTo>
                    <a:pt x="1011378" y="31750"/>
                    <a:pt x="940494" y="104460"/>
                    <a:pt x="940494" y="192853"/>
                  </a:cubicBezTo>
                  <a:cubicBezTo>
                    <a:pt x="940494" y="229208"/>
                    <a:pt x="964838" y="296928"/>
                    <a:pt x="1014242" y="394588"/>
                  </a:cubicBezTo>
                  <a:cubicBezTo>
                    <a:pt x="1050759" y="467298"/>
                    <a:pt x="1087275" y="529315"/>
                    <a:pt x="1087275" y="530028"/>
                  </a:cubicBezTo>
                  <a:cubicBezTo>
                    <a:pt x="1098731" y="549275"/>
                    <a:pt x="1098731" y="549275"/>
                    <a:pt x="1098731" y="549275"/>
                  </a:cubicBezTo>
                  <a:cubicBezTo>
                    <a:pt x="1109471" y="530028"/>
                    <a:pt x="1109471" y="530028"/>
                    <a:pt x="1109471" y="530028"/>
                  </a:cubicBezTo>
                  <a:cubicBezTo>
                    <a:pt x="1110187" y="529315"/>
                    <a:pt x="1145987" y="467298"/>
                    <a:pt x="1182503" y="394588"/>
                  </a:cubicBezTo>
                  <a:cubicBezTo>
                    <a:pt x="1230475" y="296928"/>
                    <a:pt x="1254819" y="229208"/>
                    <a:pt x="1254819" y="192853"/>
                  </a:cubicBezTo>
                  <a:cubicBezTo>
                    <a:pt x="1254819" y="104460"/>
                    <a:pt x="1185367" y="31750"/>
                    <a:pt x="1098731" y="31750"/>
                  </a:cubicBezTo>
                  <a:close/>
                  <a:moveTo>
                    <a:pt x="493971" y="31750"/>
                  </a:moveTo>
                  <a:cubicBezTo>
                    <a:pt x="359821" y="31750"/>
                    <a:pt x="249932" y="144543"/>
                    <a:pt x="249932" y="282322"/>
                  </a:cubicBezTo>
                  <a:cubicBezTo>
                    <a:pt x="249932" y="338005"/>
                    <a:pt x="286324" y="438662"/>
                    <a:pt x="361248" y="589291"/>
                  </a:cubicBezTo>
                  <a:cubicBezTo>
                    <a:pt x="415479" y="697087"/>
                    <a:pt x="470423" y="792033"/>
                    <a:pt x="471137" y="792747"/>
                  </a:cubicBezTo>
                  <a:cubicBezTo>
                    <a:pt x="493971" y="833438"/>
                    <a:pt x="493971" y="833438"/>
                    <a:pt x="493971" y="833438"/>
                  </a:cubicBezTo>
                  <a:cubicBezTo>
                    <a:pt x="517518" y="792747"/>
                    <a:pt x="517518" y="792747"/>
                    <a:pt x="517518" y="792747"/>
                  </a:cubicBezTo>
                  <a:cubicBezTo>
                    <a:pt x="518232" y="792033"/>
                    <a:pt x="572462" y="697087"/>
                    <a:pt x="625980" y="589291"/>
                  </a:cubicBezTo>
                  <a:cubicBezTo>
                    <a:pt x="700904" y="438662"/>
                    <a:pt x="737295" y="338005"/>
                    <a:pt x="737295" y="282322"/>
                  </a:cubicBezTo>
                  <a:cubicBezTo>
                    <a:pt x="737295" y="144543"/>
                    <a:pt x="628120" y="31750"/>
                    <a:pt x="493971" y="31750"/>
                  </a:cubicBezTo>
                  <a:close/>
                  <a:moveTo>
                    <a:pt x="1098732" y="0"/>
                  </a:moveTo>
                  <a:cubicBezTo>
                    <a:pt x="1201971" y="0"/>
                    <a:pt x="1286569" y="86990"/>
                    <a:pt x="1286569" y="192518"/>
                  </a:cubicBezTo>
                  <a:cubicBezTo>
                    <a:pt x="1286569" y="234587"/>
                    <a:pt x="1262193" y="303038"/>
                    <a:pt x="1209857" y="408566"/>
                  </a:cubicBezTo>
                  <a:cubicBezTo>
                    <a:pt x="1174727" y="481296"/>
                    <a:pt x="1137447" y="544755"/>
                    <a:pt x="1136730" y="545468"/>
                  </a:cubicBezTo>
                  <a:cubicBezTo>
                    <a:pt x="1118806" y="576842"/>
                    <a:pt x="1118806" y="576842"/>
                    <a:pt x="1118806" y="576842"/>
                  </a:cubicBezTo>
                  <a:cubicBezTo>
                    <a:pt x="1114505" y="583972"/>
                    <a:pt x="1106618" y="588963"/>
                    <a:pt x="1098732" y="588963"/>
                  </a:cubicBezTo>
                  <a:cubicBezTo>
                    <a:pt x="1090129" y="588963"/>
                    <a:pt x="1082960" y="583972"/>
                    <a:pt x="1078658" y="577555"/>
                  </a:cubicBezTo>
                  <a:cubicBezTo>
                    <a:pt x="1060018" y="545468"/>
                    <a:pt x="1060018" y="545468"/>
                    <a:pt x="1060018" y="545468"/>
                  </a:cubicBezTo>
                  <a:cubicBezTo>
                    <a:pt x="1060018" y="544755"/>
                    <a:pt x="1022737" y="481296"/>
                    <a:pt x="986173" y="408566"/>
                  </a:cubicBezTo>
                  <a:cubicBezTo>
                    <a:pt x="933120" y="303038"/>
                    <a:pt x="908744" y="234587"/>
                    <a:pt x="908744" y="192518"/>
                  </a:cubicBezTo>
                  <a:cubicBezTo>
                    <a:pt x="908744" y="86990"/>
                    <a:pt x="994060" y="0"/>
                    <a:pt x="1098732" y="0"/>
                  </a:cubicBezTo>
                  <a:close/>
                  <a:moveTo>
                    <a:pt x="493971" y="0"/>
                  </a:moveTo>
                  <a:cubicBezTo>
                    <a:pt x="645440" y="0"/>
                    <a:pt x="769045" y="126421"/>
                    <a:pt x="769045" y="282127"/>
                  </a:cubicBezTo>
                  <a:cubicBezTo>
                    <a:pt x="769045" y="342838"/>
                    <a:pt x="731178" y="447832"/>
                    <a:pt x="654729" y="602823"/>
                  </a:cubicBezTo>
                  <a:cubicBezTo>
                    <a:pt x="600428" y="712102"/>
                    <a:pt x="545413" y="807811"/>
                    <a:pt x="544699" y="808525"/>
                  </a:cubicBezTo>
                  <a:cubicBezTo>
                    <a:pt x="516834" y="856380"/>
                    <a:pt x="516834" y="856380"/>
                    <a:pt x="516834" y="856380"/>
                  </a:cubicBezTo>
                  <a:cubicBezTo>
                    <a:pt x="512547" y="864950"/>
                    <a:pt x="503974" y="869950"/>
                    <a:pt x="493971" y="869950"/>
                  </a:cubicBezTo>
                  <a:cubicBezTo>
                    <a:pt x="484683" y="869950"/>
                    <a:pt x="476109" y="864950"/>
                    <a:pt x="471822" y="856380"/>
                  </a:cubicBezTo>
                  <a:cubicBezTo>
                    <a:pt x="443957" y="808525"/>
                    <a:pt x="443957" y="808525"/>
                    <a:pt x="443957" y="808525"/>
                  </a:cubicBezTo>
                  <a:cubicBezTo>
                    <a:pt x="443243" y="807811"/>
                    <a:pt x="387514" y="712102"/>
                    <a:pt x="333213" y="602823"/>
                  </a:cubicBezTo>
                  <a:cubicBezTo>
                    <a:pt x="255335" y="447832"/>
                    <a:pt x="218182" y="342838"/>
                    <a:pt x="218182" y="282127"/>
                  </a:cubicBezTo>
                  <a:cubicBezTo>
                    <a:pt x="218182" y="126421"/>
                    <a:pt x="341787" y="0"/>
                    <a:pt x="493971" y="0"/>
                  </a:cubicBezTo>
                  <a:close/>
                </a:path>
              </a:pathLst>
            </a:custGeom>
            <a:solidFill>
              <a:srgbClr val="FFFFFF"/>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mj-lt"/>
                <a:cs typeface="Calibri" panose="020F0502020204030204" pitchFamily="34" charset="0"/>
              </a:endParaRPr>
            </a:p>
          </p:txBody>
        </p:sp>
      </p:grpSp>
      <p:sp>
        <p:nvSpPr>
          <p:cNvPr id="37" name="Title 1"/>
          <p:cNvSpPr txBox="1">
            <a:spLocks/>
          </p:cNvSpPr>
          <p:nvPr/>
        </p:nvSpPr>
        <p:spPr>
          <a:xfrm>
            <a:off x="6357031" y="622800"/>
            <a:ext cx="4747822" cy="6647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2400" kern="1200">
                <a:solidFill>
                  <a:srgbClr val="E51B24"/>
                </a:solidFill>
                <a:latin typeface="+mj-lt"/>
                <a:ea typeface="+mj-ea"/>
                <a:cs typeface="+mj-cs"/>
                <a:sym typeface="Trebuchet MS" panose="020B0603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FFFF"/>
                </a:solidFill>
                <a:effectLst/>
                <a:uLnTx/>
                <a:uFillTx/>
                <a:cs typeface="Calibri" panose="020F0502020204030204" pitchFamily="34" charset="0"/>
                <a:sym typeface="Trebuchet MS" panose="020B0603020202020204" pitchFamily="34" charset="0"/>
              </a:rPr>
              <a:t>Change management enables us to undertake the journey</a:t>
            </a:r>
          </a:p>
        </p:txBody>
      </p:sp>
    </p:spTree>
    <p:extLst>
      <p:ext uri="{BB962C8B-B14F-4D97-AF65-F5344CB8AC3E}">
        <p14:creationId xmlns:p14="http://schemas.microsoft.com/office/powerpoint/2010/main" val="1918211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p:custDataLst>
              <p:tags r:id="rId2"/>
            </p:custDataLst>
          </p:nvPr>
        </p:nvSpPr>
        <p:spPr>
          <a:xfrm>
            <a:off x="0" y="0"/>
            <a:ext cx="158750" cy="158750"/>
          </a:xfrm>
          <a:prstGeom prst="rect">
            <a:avLst/>
          </a:prstGeom>
          <a:solidFill>
            <a:srgbClr val="E51B24"/>
          </a:solidFill>
          <a:ln w="9525" cap="rnd" cmpd="sng" algn="ctr">
            <a:solidFill>
              <a:srgbClr val="E51B2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de-DE" sz="2400" b="0" i="0" u="none" strike="noStrike" kern="1200" cap="none" spc="0" normalizeH="0" baseline="0" noProof="0">
              <a:ln>
                <a:noFill/>
              </a:ln>
              <a:solidFill>
                <a:srgbClr val="FFFFFF"/>
              </a:solidFill>
              <a:effectLst/>
              <a:uLnTx/>
              <a:uFillTx/>
              <a:latin typeface="Trebuchet MS" panose="020B0603020202020204" pitchFamily="34" charset="0"/>
              <a:ea typeface="+mn-ea"/>
              <a:cs typeface="+mn-cs"/>
              <a:sym typeface="Trebuchet MS" panose="020B0603020202020204" pitchFamily="34" charset="0"/>
            </a:endParaRPr>
          </a:p>
        </p:txBody>
      </p:sp>
      <p:sp>
        <p:nvSpPr>
          <p:cNvPr id="75" name="TextBox 74"/>
          <p:cNvSpPr txBox="1"/>
          <p:nvPr/>
        </p:nvSpPr>
        <p:spPr bwMode="gray">
          <a:xfrm>
            <a:off x="8318233" y="4170899"/>
            <a:ext cx="993902" cy="492443"/>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effectLst/>
                <a:uLnTx/>
                <a:uFillTx/>
                <a:cs typeface="Calibri" panose="020F0502020204030204" pitchFamily="34" charset="0"/>
              </a:rPr>
              <a:t>Sprint Increment</a:t>
            </a:r>
          </a:p>
        </p:txBody>
      </p:sp>
      <p:sp>
        <p:nvSpPr>
          <p:cNvPr id="76" name="TextBox 75"/>
          <p:cNvSpPr txBox="1"/>
          <p:nvPr/>
        </p:nvSpPr>
        <p:spPr bwMode="gray">
          <a:xfrm>
            <a:off x="10352675" y="4152364"/>
            <a:ext cx="1265442" cy="492443"/>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effectLst/>
                <a:uLnTx/>
                <a:uFillTx/>
                <a:cs typeface="Calibri" panose="020F0502020204030204" pitchFamily="34" charset="0"/>
              </a:rPr>
              <a:t>Incremental release</a:t>
            </a:r>
          </a:p>
        </p:txBody>
      </p:sp>
      <p:sp>
        <p:nvSpPr>
          <p:cNvPr id="84" name="Block arrow"/>
          <p:cNvSpPr>
            <a:spLocks noChangeArrowheads="1"/>
          </p:cNvSpPr>
          <p:nvPr/>
        </p:nvSpPr>
        <p:spPr bwMode="gray">
          <a:xfrm>
            <a:off x="2198057" y="4606324"/>
            <a:ext cx="2174036" cy="623691"/>
          </a:xfrm>
          <a:prstGeom prst="rightArrow">
            <a:avLst>
              <a:gd name="adj1" fmla="val 64493"/>
              <a:gd name="adj2" fmla="val 38744"/>
            </a:avLst>
          </a:prstGeom>
          <a:solidFill>
            <a:srgbClr val="D763C6"/>
          </a:solidFill>
          <a:ln w="9525" cap="flat" cmpd="sng" algn="ctr">
            <a:solidFill>
              <a:schemeClr val="bg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21" tIns="70887" rIns="72021" bIns="70887"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3" b="0" i="0" u="none" strike="noStrike" kern="1200" cap="none" spc="0" normalizeH="0" baseline="0" noProof="0">
              <a:ln>
                <a:noFill/>
              </a:ln>
              <a:solidFill>
                <a:srgbClr val="000000"/>
              </a:solidFill>
              <a:effectLst/>
              <a:uLnTx/>
              <a:uFillTx/>
              <a:latin typeface="Calibri" panose="020F0502020204030204" pitchFamily="34" charset="0"/>
              <a:cs typeface="Calibri" panose="020F0502020204030204" pitchFamily="34" charset="0"/>
            </a:endParaRPr>
          </a:p>
        </p:txBody>
      </p:sp>
      <p:sp>
        <p:nvSpPr>
          <p:cNvPr id="85" name="Block arrow"/>
          <p:cNvSpPr>
            <a:spLocks noChangeArrowheads="1"/>
          </p:cNvSpPr>
          <p:nvPr/>
        </p:nvSpPr>
        <p:spPr bwMode="gray">
          <a:xfrm>
            <a:off x="7284035" y="4606323"/>
            <a:ext cx="883121" cy="623691"/>
          </a:xfrm>
          <a:prstGeom prst="rightArrow">
            <a:avLst>
              <a:gd name="adj1" fmla="val 64493"/>
              <a:gd name="adj2" fmla="val 38744"/>
            </a:avLst>
          </a:prstGeom>
          <a:solidFill>
            <a:srgbClr val="D763C6"/>
          </a:solidFill>
          <a:ln w="0">
            <a:solidFill>
              <a:schemeClr val="bg1"/>
            </a:solid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cs typeface="Calibri" panose="020F0502020204030204" pitchFamily="34" charset="0"/>
            </a:endParaRPr>
          </a:p>
        </p:txBody>
      </p:sp>
      <p:sp>
        <p:nvSpPr>
          <p:cNvPr id="86" name="Block arrow"/>
          <p:cNvSpPr>
            <a:spLocks noChangeArrowheads="1"/>
          </p:cNvSpPr>
          <p:nvPr/>
        </p:nvSpPr>
        <p:spPr bwMode="gray">
          <a:xfrm>
            <a:off x="9464492" y="4606323"/>
            <a:ext cx="883121" cy="623691"/>
          </a:xfrm>
          <a:prstGeom prst="rightArrow">
            <a:avLst>
              <a:gd name="adj1" fmla="val 64493"/>
              <a:gd name="adj2" fmla="val 38744"/>
            </a:avLst>
          </a:prstGeom>
          <a:solidFill>
            <a:srgbClr val="D763C6"/>
          </a:solidFill>
          <a:ln w="0">
            <a:solidFill>
              <a:schemeClr val="bg1"/>
            </a:solid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cs typeface="Calibri" panose="020F0502020204030204" pitchFamily="34" charset="0"/>
            </a:endParaRPr>
          </a:p>
        </p:txBody>
      </p:sp>
      <p:grpSp>
        <p:nvGrpSpPr>
          <p:cNvPr id="80" name="Group 79"/>
          <p:cNvGrpSpPr/>
          <p:nvPr/>
        </p:nvGrpSpPr>
        <p:grpSpPr>
          <a:xfrm flipH="1">
            <a:off x="4115425" y="2301983"/>
            <a:ext cx="1427112" cy="1904003"/>
            <a:chOff x="6278239" y="2321242"/>
            <a:chExt cx="1569228" cy="2093610"/>
          </a:xfrm>
          <a:solidFill>
            <a:srgbClr val="D763C6"/>
          </a:solidFill>
        </p:grpSpPr>
        <p:sp>
          <p:nvSpPr>
            <p:cNvPr id="81" name="Freeform 27"/>
            <p:cNvSpPr>
              <a:spLocks/>
            </p:cNvSpPr>
            <p:nvPr/>
          </p:nvSpPr>
          <p:spPr bwMode="gray">
            <a:xfrm flipV="1">
              <a:off x="6937494" y="2641188"/>
              <a:ext cx="625999" cy="1773664"/>
            </a:xfrm>
            <a:custGeom>
              <a:avLst/>
              <a:gdLst>
                <a:gd name="T0" fmla="*/ 268 w 444"/>
                <a:gd name="T1" fmla="*/ 1258 h 1258"/>
                <a:gd name="T2" fmla="*/ 313 w 444"/>
                <a:gd name="T3" fmla="*/ 1174 h 1258"/>
                <a:gd name="T4" fmla="*/ 351 w 444"/>
                <a:gd name="T5" fmla="*/ 1088 h 1258"/>
                <a:gd name="T6" fmla="*/ 382 w 444"/>
                <a:gd name="T7" fmla="*/ 1001 h 1258"/>
                <a:gd name="T8" fmla="*/ 407 w 444"/>
                <a:gd name="T9" fmla="*/ 911 h 1258"/>
                <a:gd name="T10" fmla="*/ 425 w 444"/>
                <a:gd name="T11" fmla="*/ 821 h 1258"/>
                <a:gd name="T12" fmla="*/ 437 w 444"/>
                <a:gd name="T13" fmla="*/ 728 h 1258"/>
                <a:gd name="T14" fmla="*/ 444 w 444"/>
                <a:gd name="T15" fmla="*/ 632 h 1258"/>
                <a:gd name="T16" fmla="*/ 442 w 444"/>
                <a:gd name="T17" fmla="*/ 538 h 1258"/>
                <a:gd name="T18" fmla="*/ 435 w 444"/>
                <a:gd name="T19" fmla="*/ 444 h 1258"/>
                <a:gd name="T20" fmla="*/ 420 w 444"/>
                <a:gd name="T21" fmla="*/ 352 h 1258"/>
                <a:gd name="T22" fmla="*/ 399 w 444"/>
                <a:gd name="T23" fmla="*/ 262 h 1258"/>
                <a:gd name="T24" fmla="*/ 372 w 444"/>
                <a:gd name="T25" fmla="*/ 173 h 1258"/>
                <a:gd name="T26" fmla="*/ 338 w 444"/>
                <a:gd name="T27" fmla="*/ 85 h 1258"/>
                <a:gd name="T28" fmla="*/ 297 w 444"/>
                <a:gd name="T29" fmla="*/ 0 h 1258"/>
                <a:gd name="T30" fmla="*/ 167 w 444"/>
                <a:gd name="T31" fmla="*/ 84 h 1258"/>
                <a:gd name="T32" fmla="*/ 29 w 444"/>
                <a:gd name="T33" fmla="*/ 154 h 1258"/>
                <a:gd name="T34" fmla="*/ 64 w 444"/>
                <a:gd name="T35" fmla="*/ 230 h 1258"/>
                <a:gd name="T36" fmla="*/ 92 w 444"/>
                <a:gd name="T37" fmla="*/ 307 h 1258"/>
                <a:gd name="T38" fmla="*/ 113 w 444"/>
                <a:gd name="T39" fmla="*/ 387 h 1258"/>
                <a:gd name="T40" fmla="*/ 126 w 444"/>
                <a:gd name="T41" fmla="*/ 467 h 1258"/>
                <a:gd name="T42" fmla="*/ 133 w 444"/>
                <a:gd name="T43" fmla="*/ 550 h 1258"/>
                <a:gd name="T44" fmla="*/ 135 w 444"/>
                <a:gd name="T45" fmla="*/ 632 h 1258"/>
                <a:gd name="T46" fmla="*/ 128 w 444"/>
                <a:gd name="T47" fmla="*/ 716 h 1258"/>
                <a:gd name="T48" fmla="*/ 116 w 444"/>
                <a:gd name="T49" fmla="*/ 797 h 1258"/>
                <a:gd name="T50" fmla="*/ 97 w 444"/>
                <a:gd name="T51" fmla="*/ 877 h 1258"/>
                <a:gd name="T52" fmla="*/ 72 w 444"/>
                <a:gd name="T53" fmla="*/ 954 h 1258"/>
                <a:gd name="T54" fmla="*/ 39 w 444"/>
                <a:gd name="T55" fmla="*/ 1030 h 1258"/>
                <a:gd name="T56" fmla="*/ 0 w 444"/>
                <a:gd name="T57" fmla="*/ 1103 h 1258"/>
                <a:gd name="T58" fmla="*/ 1 w 444"/>
                <a:gd name="T59" fmla="*/ 1103 h 1258"/>
                <a:gd name="T60" fmla="*/ 131 w 444"/>
                <a:gd name="T61" fmla="*/ 1187 h 1258"/>
                <a:gd name="T62" fmla="*/ 267 w 444"/>
                <a:gd name="T63" fmla="*/ 1258 h 1258"/>
                <a:gd name="T64" fmla="*/ 268 w 444"/>
                <a:gd name="T65" fmla="*/ 1258 h 1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44" h="1258">
                  <a:moveTo>
                    <a:pt x="268" y="1258"/>
                  </a:moveTo>
                  <a:lnTo>
                    <a:pt x="313" y="1174"/>
                  </a:lnTo>
                  <a:lnTo>
                    <a:pt x="351" y="1088"/>
                  </a:lnTo>
                  <a:lnTo>
                    <a:pt x="382" y="1001"/>
                  </a:lnTo>
                  <a:lnTo>
                    <a:pt x="407" y="911"/>
                  </a:lnTo>
                  <a:lnTo>
                    <a:pt x="425" y="821"/>
                  </a:lnTo>
                  <a:lnTo>
                    <a:pt x="437" y="728"/>
                  </a:lnTo>
                  <a:lnTo>
                    <a:pt x="444" y="632"/>
                  </a:lnTo>
                  <a:lnTo>
                    <a:pt x="442" y="538"/>
                  </a:lnTo>
                  <a:lnTo>
                    <a:pt x="435" y="444"/>
                  </a:lnTo>
                  <a:lnTo>
                    <a:pt x="420" y="352"/>
                  </a:lnTo>
                  <a:lnTo>
                    <a:pt x="399" y="262"/>
                  </a:lnTo>
                  <a:lnTo>
                    <a:pt x="372" y="173"/>
                  </a:lnTo>
                  <a:lnTo>
                    <a:pt x="338" y="85"/>
                  </a:lnTo>
                  <a:lnTo>
                    <a:pt x="297" y="0"/>
                  </a:lnTo>
                  <a:lnTo>
                    <a:pt x="167" y="84"/>
                  </a:lnTo>
                  <a:lnTo>
                    <a:pt x="29" y="154"/>
                  </a:lnTo>
                  <a:lnTo>
                    <a:pt x="64" y="230"/>
                  </a:lnTo>
                  <a:lnTo>
                    <a:pt x="92" y="307"/>
                  </a:lnTo>
                  <a:lnTo>
                    <a:pt x="113" y="387"/>
                  </a:lnTo>
                  <a:lnTo>
                    <a:pt x="126" y="467"/>
                  </a:lnTo>
                  <a:lnTo>
                    <a:pt x="133" y="550"/>
                  </a:lnTo>
                  <a:lnTo>
                    <a:pt x="135" y="632"/>
                  </a:lnTo>
                  <a:lnTo>
                    <a:pt x="128" y="716"/>
                  </a:lnTo>
                  <a:lnTo>
                    <a:pt x="116" y="797"/>
                  </a:lnTo>
                  <a:lnTo>
                    <a:pt x="97" y="877"/>
                  </a:lnTo>
                  <a:lnTo>
                    <a:pt x="72" y="954"/>
                  </a:lnTo>
                  <a:lnTo>
                    <a:pt x="39" y="1030"/>
                  </a:lnTo>
                  <a:lnTo>
                    <a:pt x="0" y="1103"/>
                  </a:lnTo>
                  <a:lnTo>
                    <a:pt x="1" y="1103"/>
                  </a:lnTo>
                  <a:lnTo>
                    <a:pt x="131" y="1187"/>
                  </a:lnTo>
                  <a:lnTo>
                    <a:pt x="267" y="1258"/>
                  </a:lnTo>
                  <a:lnTo>
                    <a:pt x="268" y="1258"/>
                  </a:lnTo>
                  <a:close/>
                </a:path>
              </a:pathLst>
            </a:custGeom>
            <a:grp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cs typeface="Calibri" panose="020F0502020204030204" pitchFamily="34" charset="0"/>
              </a:endParaRPr>
            </a:p>
          </p:txBody>
        </p:sp>
        <p:sp>
          <p:nvSpPr>
            <p:cNvPr id="82" name="Freeform 28"/>
            <p:cNvSpPr>
              <a:spLocks/>
            </p:cNvSpPr>
            <p:nvPr/>
          </p:nvSpPr>
          <p:spPr bwMode="gray">
            <a:xfrm rot="1909035" flipV="1">
              <a:off x="6278239" y="2321242"/>
              <a:ext cx="1569228" cy="1071530"/>
            </a:xfrm>
            <a:custGeom>
              <a:avLst/>
              <a:gdLst>
                <a:gd name="T0" fmla="*/ 8 w 1113"/>
                <a:gd name="T1" fmla="*/ 760 h 760"/>
                <a:gd name="T2" fmla="*/ 104 w 1113"/>
                <a:gd name="T3" fmla="*/ 756 h 760"/>
                <a:gd name="T4" fmla="*/ 197 w 1113"/>
                <a:gd name="T5" fmla="*/ 747 h 760"/>
                <a:gd name="T6" fmla="*/ 288 w 1113"/>
                <a:gd name="T7" fmla="*/ 730 h 760"/>
                <a:gd name="T8" fmla="*/ 377 w 1113"/>
                <a:gd name="T9" fmla="*/ 707 h 760"/>
                <a:gd name="T10" fmla="*/ 466 w 1113"/>
                <a:gd name="T11" fmla="*/ 677 h 760"/>
                <a:gd name="T12" fmla="*/ 553 w 1113"/>
                <a:gd name="T13" fmla="*/ 641 h 760"/>
                <a:gd name="T14" fmla="*/ 638 w 1113"/>
                <a:gd name="T15" fmla="*/ 599 h 760"/>
                <a:gd name="T16" fmla="*/ 719 w 1113"/>
                <a:gd name="T17" fmla="*/ 550 h 760"/>
                <a:gd name="T18" fmla="*/ 796 w 1113"/>
                <a:gd name="T19" fmla="*/ 497 h 760"/>
                <a:gd name="T20" fmla="*/ 868 w 1113"/>
                <a:gd name="T21" fmla="*/ 438 h 760"/>
                <a:gd name="T22" fmla="*/ 936 w 1113"/>
                <a:gd name="T23" fmla="*/ 375 h 760"/>
                <a:gd name="T24" fmla="*/ 1000 w 1113"/>
                <a:gd name="T25" fmla="*/ 307 h 760"/>
                <a:gd name="T26" fmla="*/ 1058 w 1113"/>
                <a:gd name="T27" fmla="*/ 233 h 760"/>
                <a:gd name="T28" fmla="*/ 1113 w 1113"/>
                <a:gd name="T29" fmla="*/ 155 h 760"/>
                <a:gd name="T30" fmla="*/ 974 w 1113"/>
                <a:gd name="T31" fmla="*/ 84 h 760"/>
                <a:gd name="T32" fmla="*/ 845 w 1113"/>
                <a:gd name="T33" fmla="*/ 0 h 760"/>
                <a:gd name="T34" fmla="*/ 796 w 1113"/>
                <a:gd name="T35" fmla="*/ 69 h 760"/>
                <a:gd name="T36" fmla="*/ 742 w 1113"/>
                <a:gd name="T37" fmla="*/ 131 h 760"/>
                <a:gd name="T38" fmla="*/ 685 w 1113"/>
                <a:gd name="T39" fmla="*/ 189 h 760"/>
                <a:gd name="T40" fmla="*/ 622 w 1113"/>
                <a:gd name="T41" fmla="*/ 241 h 760"/>
                <a:gd name="T42" fmla="*/ 555 w 1113"/>
                <a:gd name="T43" fmla="*/ 288 h 760"/>
                <a:gd name="T44" fmla="*/ 483 w 1113"/>
                <a:gd name="T45" fmla="*/ 332 h 760"/>
                <a:gd name="T46" fmla="*/ 409 w 1113"/>
                <a:gd name="T47" fmla="*/ 368 h 760"/>
                <a:gd name="T48" fmla="*/ 331 w 1113"/>
                <a:gd name="T49" fmla="*/ 397 h 760"/>
                <a:gd name="T50" fmla="*/ 253 w 1113"/>
                <a:gd name="T51" fmla="*/ 421 h 760"/>
                <a:gd name="T52" fmla="*/ 173 w 1113"/>
                <a:gd name="T53" fmla="*/ 438 h 760"/>
                <a:gd name="T54" fmla="*/ 92 w 1113"/>
                <a:gd name="T55" fmla="*/ 448 h 760"/>
                <a:gd name="T56" fmla="*/ 8 w 1113"/>
                <a:gd name="T57" fmla="*/ 451 h 760"/>
                <a:gd name="T58" fmla="*/ 0 w 1113"/>
                <a:gd name="T59" fmla="*/ 605 h 760"/>
                <a:gd name="T60" fmla="*/ 8 w 1113"/>
                <a:gd name="T61" fmla="*/ 760 h 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13" h="760">
                  <a:moveTo>
                    <a:pt x="8" y="760"/>
                  </a:moveTo>
                  <a:lnTo>
                    <a:pt x="104" y="756"/>
                  </a:lnTo>
                  <a:lnTo>
                    <a:pt x="197" y="747"/>
                  </a:lnTo>
                  <a:lnTo>
                    <a:pt x="288" y="730"/>
                  </a:lnTo>
                  <a:lnTo>
                    <a:pt x="377" y="707"/>
                  </a:lnTo>
                  <a:lnTo>
                    <a:pt x="466" y="677"/>
                  </a:lnTo>
                  <a:lnTo>
                    <a:pt x="553" y="641"/>
                  </a:lnTo>
                  <a:lnTo>
                    <a:pt x="638" y="599"/>
                  </a:lnTo>
                  <a:lnTo>
                    <a:pt x="719" y="550"/>
                  </a:lnTo>
                  <a:lnTo>
                    <a:pt x="796" y="497"/>
                  </a:lnTo>
                  <a:lnTo>
                    <a:pt x="868" y="438"/>
                  </a:lnTo>
                  <a:lnTo>
                    <a:pt x="936" y="375"/>
                  </a:lnTo>
                  <a:lnTo>
                    <a:pt x="1000" y="307"/>
                  </a:lnTo>
                  <a:lnTo>
                    <a:pt x="1058" y="233"/>
                  </a:lnTo>
                  <a:lnTo>
                    <a:pt x="1113" y="155"/>
                  </a:lnTo>
                  <a:lnTo>
                    <a:pt x="974" y="84"/>
                  </a:lnTo>
                  <a:lnTo>
                    <a:pt x="845" y="0"/>
                  </a:lnTo>
                  <a:lnTo>
                    <a:pt x="796" y="69"/>
                  </a:lnTo>
                  <a:lnTo>
                    <a:pt x="742" y="131"/>
                  </a:lnTo>
                  <a:lnTo>
                    <a:pt x="685" y="189"/>
                  </a:lnTo>
                  <a:lnTo>
                    <a:pt x="622" y="241"/>
                  </a:lnTo>
                  <a:lnTo>
                    <a:pt x="555" y="288"/>
                  </a:lnTo>
                  <a:lnTo>
                    <a:pt x="483" y="332"/>
                  </a:lnTo>
                  <a:lnTo>
                    <a:pt x="409" y="368"/>
                  </a:lnTo>
                  <a:lnTo>
                    <a:pt x="331" y="397"/>
                  </a:lnTo>
                  <a:lnTo>
                    <a:pt x="253" y="421"/>
                  </a:lnTo>
                  <a:lnTo>
                    <a:pt x="173" y="438"/>
                  </a:lnTo>
                  <a:lnTo>
                    <a:pt x="92" y="448"/>
                  </a:lnTo>
                  <a:lnTo>
                    <a:pt x="8" y="451"/>
                  </a:lnTo>
                  <a:lnTo>
                    <a:pt x="0" y="605"/>
                  </a:lnTo>
                  <a:lnTo>
                    <a:pt x="8" y="760"/>
                  </a:lnTo>
                  <a:close/>
                </a:path>
              </a:pathLst>
            </a:custGeom>
            <a:grp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cs typeface="Calibri" panose="020F0502020204030204" pitchFamily="34" charset="0"/>
              </a:endParaRPr>
            </a:p>
          </p:txBody>
        </p:sp>
      </p:grpSp>
      <p:sp>
        <p:nvSpPr>
          <p:cNvPr id="83" name="Freeform 26"/>
          <p:cNvSpPr>
            <a:spLocks/>
          </p:cNvSpPr>
          <p:nvPr/>
        </p:nvSpPr>
        <p:spPr bwMode="gray">
          <a:xfrm flipV="1">
            <a:off x="6139056" y="4076483"/>
            <a:ext cx="1379668" cy="1037317"/>
          </a:xfrm>
          <a:custGeom>
            <a:avLst/>
            <a:gdLst>
              <a:gd name="T0" fmla="*/ 1076 w 1076"/>
              <a:gd name="T1" fmla="*/ 654 h 809"/>
              <a:gd name="T2" fmla="*/ 1025 w 1076"/>
              <a:gd name="T3" fmla="*/ 574 h 809"/>
              <a:gd name="T4" fmla="*/ 970 w 1076"/>
              <a:gd name="T5" fmla="*/ 498 h 809"/>
              <a:gd name="T6" fmla="*/ 910 w 1076"/>
              <a:gd name="T7" fmla="*/ 426 h 809"/>
              <a:gd name="T8" fmla="*/ 846 w 1076"/>
              <a:gd name="T9" fmla="*/ 361 h 809"/>
              <a:gd name="T10" fmla="*/ 775 w 1076"/>
              <a:gd name="T11" fmla="*/ 299 h 809"/>
              <a:gd name="T12" fmla="*/ 701 w 1076"/>
              <a:gd name="T13" fmla="*/ 242 h 809"/>
              <a:gd name="T14" fmla="*/ 622 w 1076"/>
              <a:gd name="T15" fmla="*/ 189 h 809"/>
              <a:gd name="T16" fmla="*/ 540 w 1076"/>
              <a:gd name="T17" fmla="*/ 144 h 809"/>
              <a:gd name="T18" fmla="*/ 454 w 1076"/>
              <a:gd name="T19" fmla="*/ 103 h 809"/>
              <a:gd name="T20" fmla="*/ 367 w 1076"/>
              <a:gd name="T21" fmla="*/ 69 h 809"/>
              <a:gd name="T22" fmla="*/ 279 w 1076"/>
              <a:gd name="T23" fmla="*/ 43 h 809"/>
              <a:gd name="T24" fmla="*/ 187 w 1076"/>
              <a:gd name="T25" fmla="*/ 22 h 809"/>
              <a:gd name="T26" fmla="*/ 96 w 1076"/>
              <a:gd name="T27" fmla="*/ 7 h 809"/>
              <a:gd name="T28" fmla="*/ 0 w 1076"/>
              <a:gd name="T29" fmla="*/ 0 h 809"/>
              <a:gd name="T30" fmla="*/ 8 w 1076"/>
              <a:gd name="T31" fmla="*/ 155 h 809"/>
              <a:gd name="T32" fmla="*/ 0 w 1076"/>
              <a:gd name="T33" fmla="*/ 309 h 809"/>
              <a:gd name="T34" fmla="*/ 84 w 1076"/>
              <a:gd name="T35" fmla="*/ 318 h 809"/>
              <a:gd name="T36" fmla="*/ 164 w 1076"/>
              <a:gd name="T37" fmla="*/ 332 h 809"/>
              <a:gd name="T38" fmla="*/ 244 w 1076"/>
              <a:gd name="T39" fmla="*/ 353 h 809"/>
              <a:gd name="T40" fmla="*/ 320 w 1076"/>
              <a:gd name="T41" fmla="*/ 382 h 809"/>
              <a:gd name="T42" fmla="*/ 394 w 1076"/>
              <a:gd name="T43" fmla="*/ 416 h 809"/>
              <a:gd name="T44" fmla="*/ 468 w 1076"/>
              <a:gd name="T45" fmla="*/ 456 h 809"/>
              <a:gd name="T46" fmla="*/ 537 w 1076"/>
              <a:gd name="T47" fmla="*/ 504 h 809"/>
              <a:gd name="T48" fmla="*/ 601 w 1076"/>
              <a:gd name="T49" fmla="*/ 555 h 809"/>
              <a:gd name="T50" fmla="*/ 660 w 1076"/>
              <a:gd name="T51" fmla="*/ 611 h 809"/>
              <a:gd name="T52" fmla="*/ 715 w 1076"/>
              <a:gd name="T53" fmla="*/ 672 h 809"/>
              <a:gd name="T54" fmla="*/ 763 w 1076"/>
              <a:gd name="T55" fmla="*/ 738 h 809"/>
              <a:gd name="T56" fmla="*/ 808 w 1076"/>
              <a:gd name="T57" fmla="*/ 809 h 809"/>
              <a:gd name="T58" fmla="*/ 809 w 1076"/>
              <a:gd name="T59" fmla="*/ 809 h 809"/>
              <a:gd name="T60" fmla="*/ 945 w 1076"/>
              <a:gd name="T61" fmla="*/ 738 h 809"/>
              <a:gd name="T62" fmla="*/ 1075 w 1076"/>
              <a:gd name="T63" fmla="*/ 654 h 809"/>
              <a:gd name="T64" fmla="*/ 1076 w 1076"/>
              <a:gd name="T65" fmla="*/ 654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76" h="809">
                <a:moveTo>
                  <a:pt x="1076" y="654"/>
                </a:moveTo>
                <a:lnTo>
                  <a:pt x="1025" y="574"/>
                </a:lnTo>
                <a:lnTo>
                  <a:pt x="970" y="498"/>
                </a:lnTo>
                <a:lnTo>
                  <a:pt x="910" y="426"/>
                </a:lnTo>
                <a:lnTo>
                  <a:pt x="846" y="361"/>
                </a:lnTo>
                <a:lnTo>
                  <a:pt x="775" y="299"/>
                </a:lnTo>
                <a:lnTo>
                  <a:pt x="701" y="242"/>
                </a:lnTo>
                <a:lnTo>
                  <a:pt x="622" y="189"/>
                </a:lnTo>
                <a:lnTo>
                  <a:pt x="540" y="144"/>
                </a:lnTo>
                <a:lnTo>
                  <a:pt x="454" y="103"/>
                </a:lnTo>
                <a:lnTo>
                  <a:pt x="367" y="69"/>
                </a:lnTo>
                <a:lnTo>
                  <a:pt x="279" y="43"/>
                </a:lnTo>
                <a:lnTo>
                  <a:pt x="187" y="22"/>
                </a:lnTo>
                <a:lnTo>
                  <a:pt x="96" y="7"/>
                </a:lnTo>
                <a:lnTo>
                  <a:pt x="0" y="0"/>
                </a:lnTo>
                <a:lnTo>
                  <a:pt x="8" y="155"/>
                </a:lnTo>
                <a:lnTo>
                  <a:pt x="0" y="309"/>
                </a:lnTo>
                <a:lnTo>
                  <a:pt x="84" y="318"/>
                </a:lnTo>
                <a:lnTo>
                  <a:pt x="164" y="332"/>
                </a:lnTo>
                <a:lnTo>
                  <a:pt x="244" y="353"/>
                </a:lnTo>
                <a:lnTo>
                  <a:pt x="320" y="382"/>
                </a:lnTo>
                <a:lnTo>
                  <a:pt x="394" y="416"/>
                </a:lnTo>
                <a:lnTo>
                  <a:pt x="468" y="456"/>
                </a:lnTo>
                <a:lnTo>
                  <a:pt x="537" y="504"/>
                </a:lnTo>
                <a:lnTo>
                  <a:pt x="601" y="555"/>
                </a:lnTo>
                <a:lnTo>
                  <a:pt x="660" y="611"/>
                </a:lnTo>
                <a:lnTo>
                  <a:pt x="715" y="672"/>
                </a:lnTo>
                <a:lnTo>
                  <a:pt x="763" y="738"/>
                </a:lnTo>
                <a:lnTo>
                  <a:pt x="808" y="809"/>
                </a:lnTo>
                <a:lnTo>
                  <a:pt x="809" y="809"/>
                </a:lnTo>
                <a:lnTo>
                  <a:pt x="945" y="738"/>
                </a:lnTo>
                <a:lnTo>
                  <a:pt x="1075" y="654"/>
                </a:lnTo>
                <a:lnTo>
                  <a:pt x="1076" y="654"/>
                </a:lnTo>
                <a:close/>
              </a:path>
            </a:pathLst>
          </a:custGeom>
          <a:solidFill>
            <a:srgbClr val="D763C6"/>
          </a:solid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cs typeface="Calibri" panose="020F0502020204030204" pitchFamily="34" charset="0"/>
            </a:endParaRPr>
          </a:p>
        </p:txBody>
      </p:sp>
      <p:grpSp>
        <p:nvGrpSpPr>
          <p:cNvPr id="87" name="Group 86"/>
          <p:cNvGrpSpPr/>
          <p:nvPr/>
        </p:nvGrpSpPr>
        <p:grpSpPr>
          <a:xfrm>
            <a:off x="6575540" y="2301983"/>
            <a:ext cx="1427112" cy="1904003"/>
            <a:chOff x="6278239" y="2321242"/>
            <a:chExt cx="1569228" cy="2093610"/>
          </a:xfrm>
          <a:solidFill>
            <a:srgbClr val="D763C6"/>
          </a:solidFill>
        </p:grpSpPr>
        <p:sp>
          <p:nvSpPr>
            <p:cNvPr id="88" name="Freeform 27"/>
            <p:cNvSpPr>
              <a:spLocks/>
            </p:cNvSpPr>
            <p:nvPr/>
          </p:nvSpPr>
          <p:spPr bwMode="gray">
            <a:xfrm flipV="1">
              <a:off x="6937494" y="2641188"/>
              <a:ext cx="625999" cy="1773664"/>
            </a:xfrm>
            <a:custGeom>
              <a:avLst/>
              <a:gdLst>
                <a:gd name="T0" fmla="*/ 268 w 444"/>
                <a:gd name="T1" fmla="*/ 1258 h 1258"/>
                <a:gd name="T2" fmla="*/ 313 w 444"/>
                <a:gd name="T3" fmla="*/ 1174 h 1258"/>
                <a:gd name="T4" fmla="*/ 351 w 444"/>
                <a:gd name="T5" fmla="*/ 1088 h 1258"/>
                <a:gd name="T6" fmla="*/ 382 w 444"/>
                <a:gd name="T7" fmla="*/ 1001 h 1258"/>
                <a:gd name="T8" fmla="*/ 407 w 444"/>
                <a:gd name="T9" fmla="*/ 911 h 1258"/>
                <a:gd name="T10" fmla="*/ 425 w 444"/>
                <a:gd name="T11" fmla="*/ 821 h 1258"/>
                <a:gd name="T12" fmla="*/ 437 w 444"/>
                <a:gd name="T13" fmla="*/ 728 h 1258"/>
                <a:gd name="T14" fmla="*/ 444 w 444"/>
                <a:gd name="T15" fmla="*/ 632 h 1258"/>
                <a:gd name="T16" fmla="*/ 442 w 444"/>
                <a:gd name="T17" fmla="*/ 538 h 1258"/>
                <a:gd name="T18" fmla="*/ 435 w 444"/>
                <a:gd name="T19" fmla="*/ 444 h 1258"/>
                <a:gd name="T20" fmla="*/ 420 w 444"/>
                <a:gd name="T21" fmla="*/ 352 h 1258"/>
                <a:gd name="T22" fmla="*/ 399 w 444"/>
                <a:gd name="T23" fmla="*/ 262 h 1258"/>
                <a:gd name="T24" fmla="*/ 372 w 444"/>
                <a:gd name="T25" fmla="*/ 173 h 1258"/>
                <a:gd name="T26" fmla="*/ 338 w 444"/>
                <a:gd name="T27" fmla="*/ 85 h 1258"/>
                <a:gd name="T28" fmla="*/ 297 w 444"/>
                <a:gd name="T29" fmla="*/ 0 h 1258"/>
                <a:gd name="T30" fmla="*/ 167 w 444"/>
                <a:gd name="T31" fmla="*/ 84 h 1258"/>
                <a:gd name="T32" fmla="*/ 29 w 444"/>
                <a:gd name="T33" fmla="*/ 154 h 1258"/>
                <a:gd name="T34" fmla="*/ 64 w 444"/>
                <a:gd name="T35" fmla="*/ 230 h 1258"/>
                <a:gd name="T36" fmla="*/ 92 w 444"/>
                <a:gd name="T37" fmla="*/ 307 h 1258"/>
                <a:gd name="T38" fmla="*/ 113 w 444"/>
                <a:gd name="T39" fmla="*/ 387 h 1258"/>
                <a:gd name="T40" fmla="*/ 126 w 444"/>
                <a:gd name="T41" fmla="*/ 467 h 1258"/>
                <a:gd name="T42" fmla="*/ 133 w 444"/>
                <a:gd name="T43" fmla="*/ 550 h 1258"/>
                <a:gd name="T44" fmla="*/ 135 w 444"/>
                <a:gd name="T45" fmla="*/ 632 h 1258"/>
                <a:gd name="T46" fmla="*/ 128 w 444"/>
                <a:gd name="T47" fmla="*/ 716 h 1258"/>
                <a:gd name="T48" fmla="*/ 116 w 444"/>
                <a:gd name="T49" fmla="*/ 797 h 1258"/>
                <a:gd name="T50" fmla="*/ 97 w 444"/>
                <a:gd name="T51" fmla="*/ 877 h 1258"/>
                <a:gd name="T52" fmla="*/ 72 w 444"/>
                <a:gd name="T53" fmla="*/ 954 h 1258"/>
                <a:gd name="T54" fmla="*/ 39 w 444"/>
                <a:gd name="T55" fmla="*/ 1030 h 1258"/>
                <a:gd name="T56" fmla="*/ 0 w 444"/>
                <a:gd name="T57" fmla="*/ 1103 h 1258"/>
                <a:gd name="T58" fmla="*/ 1 w 444"/>
                <a:gd name="T59" fmla="*/ 1103 h 1258"/>
                <a:gd name="T60" fmla="*/ 131 w 444"/>
                <a:gd name="T61" fmla="*/ 1187 h 1258"/>
                <a:gd name="T62" fmla="*/ 267 w 444"/>
                <a:gd name="T63" fmla="*/ 1258 h 1258"/>
                <a:gd name="T64" fmla="*/ 268 w 444"/>
                <a:gd name="T65" fmla="*/ 1258 h 1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44" h="1258">
                  <a:moveTo>
                    <a:pt x="268" y="1258"/>
                  </a:moveTo>
                  <a:lnTo>
                    <a:pt x="313" y="1174"/>
                  </a:lnTo>
                  <a:lnTo>
                    <a:pt x="351" y="1088"/>
                  </a:lnTo>
                  <a:lnTo>
                    <a:pt x="382" y="1001"/>
                  </a:lnTo>
                  <a:lnTo>
                    <a:pt x="407" y="911"/>
                  </a:lnTo>
                  <a:lnTo>
                    <a:pt x="425" y="821"/>
                  </a:lnTo>
                  <a:lnTo>
                    <a:pt x="437" y="728"/>
                  </a:lnTo>
                  <a:lnTo>
                    <a:pt x="444" y="632"/>
                  </a:lnTo>
                  <a:lnTo>
                    <a:pt x="442" y="538"/>
                  </a:lnTo>
                  <a:lnTo>
                    <a:pt x="435" y="444"/>
                  </a:lnTo>
                  <a:lnTo>
                    <a:pt x="420" y="352"/>
                  </a:lnTo>
                  <a:lnTo>
                    <a:pt x="399" y="262"/>
                  </a:lnTo>
                  <a:lnTo>
                    <a:pt x="372" y="173"/>
                  </a:lnTo>
                  <a:lnTo>
                    <a:pt x="338" y="85"/>
                  </a:lnTo>
                  <a:lnTo>
                    <a:pt x="297" y="0"/>
                  </a:lnTo>
                  <a:lnTo>
                    <a:pt x="167" y="84"/>
                  </a:lnTo>
                  <a:lnTo>
                    <a:pt x="29" y="154"/>
                  </a:lnTo>
                  <a:lnTo>
                    <a:pt x="64" y="230"/>
                  </a:lnTo>
                  <a:lnTo>
                    <a:pt x="92" y="307"/>
                  </a:lnTo>
                  <a:lnTo>
                    <a:pt x="113" y="387"/>
                  </a:lnTo>
                  <a:lnTo>
                    <a:pt x="126" y="467"/>
                  </a:lnTo>
                  <a:lnTo>
                    <a:pt x="133" y="550"/>
                  </a:lnTo>
                  <a:lnTo>
                    <a:pt x="135" y="632"/>
                  </a:lnTo>
                  <a:lnTo>
                    <a:pt x="128" y="716"/>
                  </a:lnTo>
                  <a:lnTo>
                    <a:pt x="116" y="797"/>
                  </a:lnTo>
                  <a:lnTo>
                    <a:pt x="97" y="877"/>
                  </a:lnTo>
                  <a:lnTo>
                    <a:pt x="72" y="954"/>
                  </a:lnTo>
                  <a:lnTo>
                    <a:pt x="39" y="1030"/>
                  </a:lnTo>
                  <a:lnTo>
                    <a:pt x="0" y="1103"/>
                  </a:lnTo>
                  <a:lnTo>
                    <a:pt x="1" y="1103"/>
                  </a:lnTo>
                  <a:lnTo>
                    <a:pt x="131" y="1187"/>
                  </a:lnTo>
                  <a:lnTo>
                    <a:pt x="267" y="1258"/>
                  </a:lnTo>
                  <a:lnTo>
                    <a:pt x="268" y="1258"/>
                  </a:lnTo>
                  <a:close/>
                </a:path>
              </a:pathLst>
            </a:custGeom>
            <a:grp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cs typeface="Calibri" panose="020F0502020204030204" pitchFamily="34" charset="0"/>
              </a:endParaRPr>
            </a:p>
          </p:txBody>
        </p:sp>
        <p:sp>
          <p:nvSpPr>
            <p:cNvPr id="89" name="Freeform 28"/>
            <p:cNvSpPr>
              <a:spLocks/>
            </p:cNvSpPr>
            <p:nvPr/>
          </p:nvSpPr>
          <p:spPr bwMode="gray">
            <a:xfrm rot="1909035" flipV="1">
              <a:off x="6278239" y="2321242"/>
              <a:ext cx="1569228" cy="1071530"/>
            </a:xfrm>
            <a:custGeom>
              <a:avLst/>
              <a:gdLst>
                <a:gd name="T0" fmla="*/ 8 w 1113"/>
                <a:gd name="T1" fmla="*/ 760 h 760"/>
                <a:gd name="T2" fmla="*/ 104 w 1113"/>
                <a:gd name="T3" fmla="*/ 756 h 760"/>
                <a:gd name="T4" fmla="*/ 197 w 1113"/>
                <a:gd name="T5" fmla="*/ 747 h 760"/>
                <a:gd name="T6" fmla="*/ 288 w 1113"/>
                <a:gd name="T7" fmla="*/ 730 h 760"/>
                <a:gd name="T8" fmla="*/ 377 w 1113"/>
                <a:gd name="T9" fmla="*/ 707 h 760"/>
                <a:gd name="T10" fmla="*/ 466 w 1113"/>
                <a:gd name="T11" fmla="*/ 677 h 760"/>
                <a:gd name="T12" fmla="*/ 553 w 1113"/>
                <a:gd name="T13" fmla="*/ 641 h 760"/>
                <a:gd name="T14" fmla="*/ 638 w 1113"/>
                <a:gd name="T15" fmla="*/ 599 h 760"/>
                <a:gd name="T16" fmla="*/ 719 w 1113"/>
                <a:gd name="T17" fmla="*/ 550 h 760"/>
                <a:gd name="T18" fmla="*/ 796 w 1113"/>
                <a:gd name="T19" fmla="*/ 497 h 760"/>
                <a:gd name="T20" fmla="*/ 868 w 1113"/>
                <a:gd name="T21" fmla="*/ 438 h 760"/>
                <a:gd name="T22" fmla="*/ 936 w 1113"/>
                <a:gd name="T23" fmla="*/ 375 h 760"/>
                <a:gd name="T24" fmla="*/ 1000 w 1113"/>
                <a:gd name="T25" fmla="*/ 307 h 760"/>
                <a:gd name="T26" fmla="*/ 1058 w 1113"/>
                <a:gd name="T27" fmla="*/ 233 h 760"/>
                <a:gd name="T28" fmla="*/ 1113 w 1113"/>
                <a:gd name="T29" fmla="*/ 155 h 760"/>
                <a:gd name="T30" fmla="*/ 974 w 1113"/>
                <a:gd name="T31" fmla="*/ 84 h 760"/>
                <a:gd name="T32" fmla="*/ 845 w 1113"/>
                <a:gd name="T33" fmla="*/ 0 h 760"/>
                <a:gd name="T34" fmla="*/ 796 w 1113"/>
                <a:gd name="T35" fmla="*/ 69 h 760"/>
                <a:gd name="T36" fmla="*/ 742 w 1113"/>
                <a:gd name="T37" fmla="*/ 131 h 760"/>
                <a:gd name="T38" fmla="*/ 685 w 1113"/>
                <a:gd name="T39" fmla="*/ 189 h 760"/>
                <a:gd name="T40" fmla="*/ 622 w 1113"/>
                <a:gd name="T41" fmla="*/ 241 h 760"/>
                <a:gd name="T42" fmla="*/ 555 w 1113"/>
                <a:gd name="T43" fmla="*/ 288 h 760"/>
                <a:gd name="T44" fmla="*/ 483 w 1113"/>
                <a:gd name="T45" fmla="*/ 332 h 760"/>
                <a:gd name="T46" fmla="*/ 409 w 1113"/>
                <a:gd name="T47" fmla="*/ 368 h 760"/>
                <a:gd name="T48" fmla="*/ 331 w 1113"/>
                <a:gd name="T49" fmla="*/ 397 h 760"/>
                <a:gd name="T50" fmla="*/ 253 w 1113"/>
                <a:gd name="T51" fmla="*/ 421 h 760"/>
                <a:gd name="T52" fmla="*/ 173 w 1113"/>
                <a:gd name="T53" fmla="*/ 438 h 760"/>
                <a:gd name="T54" fmla="*/ 92 w 1113"/>
                <a:gd name="T55" fmla="*/ 448 h 760"/>
                <a:gd name="T56" fmla="*/ 8 w 1113"/>
                <a:gd name="T57" fmla="*/ 451 h 760"/>
                <a:gd name="T58" fmla="*/ 0 w 1113"/>
                <a:gd name="T59" fmla="*/ 605 h 760"/>
                <a:gd name="T60" fmla="*/ 8 w 1113"/>
                <a:gd name="T61" fmla="*/ 760 h 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13" h="760">
                  <a:moveTo>
                    <a:pt x="8" y="760"/>
                  </a:moveTo>
                  <a:lnTo>
                    <a:pt x="104" y="756"/>
                  </a:lnTo>
                  <a:lnTo>
                    <a:pt x="197" y="747"/>
                  </a:lnTo>
                  <a:lnTo>
                    <a:pt x="288" y="730"/>
                  </a:lnTo>
                  <a:lnTo>
                    <a:pt x="377" y="707"/>
                  </a:lnTo>
                  <a:lnTo>
                    <a:pt x="466" y="677"/>
                  </a:lnTo>
                  <a:lnTo>
                    <a:pt x="553" y="641"/>
                  </a:lnTo>
                  <a:lnTo>
                    <a:pt x="638" y="599"/>
                  </a:lnTo>
                  <a:lnTo>
                    <a:pt x="719" y="550"/>
                  </a:lnTo>
                  <a:lnTo>
                    <a:pt x="796" y="497"/>
                  </a:lnTo>
                  <a:lnTo>
                    <a:pt x="868" y="438"/>
                  </a:lnTo>
                  <a:lnTo>
                    <a:pt x="936" y="375"/>
                  </a:lnTo>
                  <a:lnTo>
                    <a:pt x="1000" y="307"/>
                  </a:lnTo>
                  <a:lnTo>
                    <a:pt x="1058" y="233"/>
                  </a:lnTo>
                  <a:lnTo>
                    <a:pt x="1113" y="155"/>
                  </a:lnTo>
                  <a:lnTo>
                    <a:pt x="974" y="84"/>
                  </a:lnTo>
                  <a:lnTo>
                    <a:pt x="845" y="0"/>
                  </a:lnTo>
                  <a:lnTo>
                    <a:pt x="796" y="69"/>
                  </a:lnTo>
                  <a:lnTo>
                    <a:pt x="742" y="131"/>
                  </a:lnTo>
                  <a:lnTo>
                    <a:pt x="685" y="189"/>
                  </a:lnTo>
                  <a:lnTo>
                    <a:pt x="622" y="241"/>
                  </a:lnTo>
                  <a:lnTo>
                    <a:pt x="555" y="288"/>
                  </a:lnTo>
                  <a:lnTo>
                    <a:pt x="483" y="332"/>
                  </a:lnTo>
                  <a:lnTo>
                    <a:pt x="409" y="368"/>
                  </a:lnTo>
                  <a:lnTo>
                    <a:pt x="331" y="397"/>
                  </a:lnTo>
                  <a:lnTo>
                    <a:pt x="253" y="421"/>
                  </a:lnTo>
                  <a:lnTo>
                    <a:pt x="173" y="438"/>
                  </a:lnTo>
                  <a:lnTo>
                    <a:pt x="92" y="448"/>
                  </a:lnTo>
                  <a:lnTo>
                    <a:pt x="8" y="451"/>
                  </a:lnTo>
                  <a:lnTo>
                    <a:pt x="0" y="605"/>
                  </a:lnTo>
                  <a:lnTo>
                    <a:pt x="8" y="760"/>
                  </a:lnTo>
                  <a:close/>
                </a:path>
              </a:pathLst>
            </a:custGeom>
            <a:grp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cs typeface="Calibri" panose="020F0502020204030204" pitchFamily="34" charset="0"/>
              </a:endParaRPr>
            </a:p>
          </p:txBody>
        </p:sp>
      </p:grpSp>
      <p:sp>
        <p:nvSpPr>
          <p:cNvPr id="90" name="Freeform 29"/>
          <p:cNvSpPr>
            <a:spLocks/>
          </p:cNvSpPr>
          <p:nvPr/>
        </p:nvSpPr>
        <p:spPr bwMode="gray">
          <a:xfrm rot="1909035" flipV="1">
            <a:off x="5332182" y="1524406"/>
            <a:ext cx="1379668" cy="1037317"/>
          </a:xfrm>
          <a:custGeom>
            <a:avLst/>
            <a:gdLst>
              <a:gd name="T0" fmla="*/ 0 w 1076"/>
              <a:gd name="T1" fmla="*/ 155 h 809"/>
              <a:gd name="T2" fmla="*/ 51 w 1076"/>
              <a:gd name="T3" fmla="*/ 235 h 809"/>
              <a:gd name="T4" fmla="*/ 106 w 1076"/>
              <a:gd name="T5" fmla="*/ 311 h 809"/>
              <a:gd name="T6" fmla="*/ 166 w 1076"/>
              <a:gd name="T7" fmla="*/ 383 h 809"/>
              <a:gd name="T8" fmla="*/ 230 w 1076"/>
              <a:gd name="T9" fmla="*/ 448 h 809"/>
              <a:gd name="T10" fmla="*/ 301 w 1076"/>
              <a:gd name="T11" fmla="*/ 510 h 809"/>
              <a:gd name="T12" fmla="*/ 375 w 1076"/>
              <a:gd name="T13" fmla="*/ 567 h 809"/>
              <a:gd name="T14" fmla="*/ 454 w 1076"/>
              <a:gd name="T15" fmla="*/ 620 h 809"/>
              <a:gd name="T16" fmla="*/ 536 w 1076"/>
              <a:gd name="T17" fmla="*/ 665 h 809"/>
              <a:gd name="T18" fmla="*/ 622 w 1076"/>
              <a:gd name="T19" fmla="*/ 706 h 809"/>
              <a:gd name="T20" fmla="*/ 709 w 1076"/>
              <a:gd name="T21" fmla="*/ 740 h 809"/>
              <a:gd name="T22" fmla="*/ 797 w 1076"/>
              <a:gd name="T23" fmla="*/ 766 h 809"/>
              <a:gd name="T24" fmla="*/ 889 w 1076"/>
              <a:gd name="T25" fmla="*/ 787 h 809"/>
              <a:gd name="T26" fmla="*/ 980 w 1076"/>
              <a:gd name="T27" fmla="*/ 802 h 809"/>
              <a:gd name="T28" fmla="*/ 1076 w 1076"/>
              <a:gd name="T29" fmla="*/ 809 h 809"/>
              <a:gd name="T30" fmla="*/ 1068 w 1076"/>
              <a:gd name="T31" fmla="*/ 654 h 809"/>
              <a:gd name="T32" fmla="*/ 1076 w 1076"/>
              <a:gd name="T33" fmla="*/ 500 h 809"/>
              <a:gd name="T34" fmla="*/ 992 w 1076"/>
              <a:gd name="T35" fmla="*/ 491 h 809"/>
              <a:gd name="T36" fmla="*/ 912 w 1076"/>
              <a:gd name="T37" fmla="*/ 477 h 809"/>
              <a:gd name="T38" fmla="*/ 832 w 1076"/>
              <a:gd name="T39" fmla="*/ 456 h 809"/>
              <a:gd name="T40" fmla="*/ 756 w 1076"/>
              <a:gd name="T41" fmla="*/ 427 h 809"/>
              <a:gd name="T42" fmla="*/ 682 w 1076"/>
              <a:gd name="T43" fmla="*/ 393 h 809"/>
              <a:gd name="T44" fmla="*/ 608 w 1076"/>
              <a:gd name="T45" fmla="*/ 353 h 809"/>
              <a:gd name="T46" fmla="*/ 539 w 1076"/>
              <a:gd name="T47" fmla="*/ 305 h 809"/>
              <a:gd name="T48" fmla="*/ 475 w 1076"/>
              <a:gd name="T49" fmla="*/ 254 h 809"/>
              <a:gd name="T50" fmla="*/ 416 w 1076"/>
              <a:gd name="T51" fmla="*/ 198 h 809"/>
              <a:gd name="T52" fmla="*/ 361 w 1076"/>
              <a:gd name="T53" fmla="*/ 137 h 809"/>
              <a:gd name="T54" fmla="*/ 313 w 1076"/>
              <a:gd name="T55" fmla="*/ 71 h 809"/>
              <a:gd name="T56" fmla="*/ 268 w 1076"/>
              <a:gd name="T57" fmla="*/ 0 h 809"/>
              <a:gd name="T58" fmla="*/ 267 w 1076"/>
              <a:gd name="T59" fmla="*/ 0 h 809"/>
              <a:gd name="T60" fmla="*/ 131 w 1076"/>
              <a:gd name="T61" fmla="*/ 71 h 809"/>
              <a:gd name="T62" fmla="*/ 1 w 1076"/>
              <a:gd name="T63" fmla="*/ 155 h 809"/>
              <a:gd name="T64" fmla="*/ 0 w 1076"/>
              <a:gd name="T65" fmla="*/ 155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76" h="809">
                <a:moveTo>
                  <a:pt x="0" y="155"/>
                </a:moveTo>
                <a:lnTo>
                  <a:pt x="51" y="235"/>
                </a:lnTo>
                <a:lnTo>
                  <a:pt x="106" y="311"/>
                </a:lnTo>
                <a:lnTo>
                  <a:pt x="166" y="383"/>
                </a:lnTo>
                <a:lnTo>
                  <a:pt x="230" y="448"/>
                </a:lnTo>
                <a:lnTo>
                  <a:pt x="301" y="510"/>
                </a:lnTo>
                <a:lnTo>
                  <a:pt x="375" y="567"/>
                </a:lnTo>
                <a:lnTo>
                  <a:pt x="454" y="620"/>
                </a:lnTo>
                <a:lnTo>
                  <a:pt x="536" y="665"/>
                </a:lnTo>
                <a:lnTo>
                  <a:pt x="622" y="706"/>
                </a:lnTo>
                <a:lnTo>
                  <a:pt x="709" y="740"/>
                </a:lnTo>
                <a:lnTo>
                  <a:pt x="797" y="766"/>
                </a:lnTo>
                <a:lnTo>
                  <a:pt x="889" y="787"/>
                </a:lnTo>
                <a:lnTo>
                  <a:pt x="980" y="802"/>
                </a:lnTo>
                <a:lnTo>
                  <a:pt x="1076" y="809"/>
                </a:lnTo>
                <a:lnTo>
                  <a:pt x="1068" y="654"/>
                </a:lnTo>
                <a:lnTo>
                  <a:pt x="1076" y="500"/>
                </a:lnTo>
                <a:lnTo>
                  <a:pt x="992" y="491"/>
                </a:lnTo>
                <a:lnTo>
                  <a:pt x="912" y="477"/>
                </a:lnTo>
                <a:lnTo>
                  <a:pt x="832" y="456"/>
                </a:lnTo>
                <a:lnTo>
                  <a:pt x="756" y="427"/>
                </a:lnTo>
                <a:lnTo>
                  <a:pt x="682" y="393"/>
                </a:lnTo>
                <a:lnTo>
                  <a:pt x="608" y="353"/>
                </a:lnTo>
                <a:lnTo>
                  <a:pt x="539" y="305"/>
                </a:lnTo>
                <a:lnTo>
                  <a:pt x="475" y="254"/>
                </a:lnTo>
                <a:lnTo>
                  <a:pt x="416" y="198"/>
                </a:lnTo>
                <a:lnTo>
                  <a:pt x="361" y="137"/>
                </a:lnTo>
                <a:lnTo>
                  <a:pt x="313" y="71"/>
                </a:lnTo>
                <a:lnTo>
                  <a:pt x="268" y="0"/>
                </a:lnTo>
                <a:lnTo>
                  <a:pt x="267" y="0"/>
                </a:lnTo>
                <a:lnTo>
                  <a:pt x="131" y="71"/>
                </a:lnTo>
                <a:lnTo>
                  <a:pt x="1" y="155"/>
                </a:lnTo>
                <a:lnTo>
                  <a:pt x="0" y="155"/>
                </a:lnTo>
                <a:close/>
              </a:path>
            </a:pathLst>
          </a:custGeom>
          <a:solidFill>
            <a:srgbClr val="D763C6"/>
          </a:solid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cs typeface="Calibri" panose="020F0502020204030204" pitchFamily="34" charset="0"/>
            </a:endParaRPr>
          </a:p>
        </p:txBody>
      </p:sp>
      <p:sp>
        <p:nvSpPr>
          <p:cNvPr id="99" name="TextBox 98"/>
          <p:cNvSpPr txBox="1"/>
          <p:nvPr/>
        </p:nvSpPr>
        <p:spPr bwMode="gray">
          <a:xfrm>
            <a:off x="4955880" y="3729976"/>
            <a:ext cx="2137167" cy="1128041"/>
          </a:xfrm>
          <a:prstGeom prst="rect">
            <a:avLst/>
          </a:prstGeom>
          <a:noFill/>
          <a:ln>
            <a:noFill/>
          </a:ln>
        </p:spPr>
        <p:txBody>
          <a:bodyPr wrap="square" lIns="0" tIns="70886" rIns="0" bIns="70886"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effectLst/>
                <a:uLnTx/>
                <a:uFillTx/>
                <a:cs typeface="Calibri" panose="020F0502020204030204" pitchFamily="34" charset="0"/>
              </a:rPr>
              <a:t>Time-boxed </a:t>
            </a:r>
            <a:br>
              <a:rPr kumimoji="0" lang="en-US" sz="1600" b="0" i="0" u="none" strike="noStrike" kern="1200" cap="none" spc="0" normalizeH="0" baseline="0" noProof="0">
                <a:ln>
                  <a:noFill/>
                </a:ln>
                <a:effectLst/>
                <a:uLnTx/>
                <a:uFillTx/>
                <a:cs typeface="Calibri" panose="020F0502020204030204" pitchFamily="34" charset="0"/>
              </a:rPr>
            </a:br>
            <a:r>
              <a:rPr kumimoji="0" lang="en-US" sz="1600" b="0" i="0" u="none" strike="noStrike" kern="1200" cap="none" spc="0" normalizeH="0" baseline="0" noProof="0">
                <a:ln>
                  <a:noFill/>
                </a:ln>
                <a:effectLst/>
                <a:uLnTx/>
                <a:uFillTx/>
                <a:cs typeface="Calibri" panose="020F0502020204030204" pitchFamily="34" charset="0"/>
              </a:rPr>
              <a:t>working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effectLst/>
                <a:uLnTx/>
                <a:uFillTx/>
                <a:cs typeface="Calibri" panose="020F0502020204030204" pitchFamily="34" charset="0"/>
              </a:rPr>
              <a:t>(4-week sprint)</a:t>
            </a:r>
            <a:br>
              <a:rPr kumimoji="0" lang="en-US" sz="1600" b="1" i="0" u="none" strike="noStrike" kern="1200" cap="none" spc="0" normalizeH="0" baseline="0" noProof="0">
                <a:ln>
                  <a:noFill/>
                </a:ln>
                <a:effectLst/>
                <a:uLnTx/>
                <a:uFillTx/>
                <a:cs typeface="Calibri" panose="020F0502020204030204" pitchFamily="34" charset="0"/>
              </a:rPr>
            </a:br>
            <a:endParaRPr kumimoji="0" lang="en-US" sz="1600" b="0" i="0" u="none" strike="noStrike" kern="1200" cap="none" spc="0" normalizeH="0" baseline="0" noProof="0">
              <a:ln>
                <a:noFill/>
              </a:ln>
              <a:effectLst/>
              <a:uLnTx/>
              <a:uFillTx/>
              <a:cs typeface="Calibri" panose="020F0502020204030204" pitchFamily="34" charset="0"/>
            </a:endParaRPr>
          </a:p>
        </p:txBody>
      </p:sp>
      <p:grpSp>
        <p:nvGrpSpPr>
          <p:cNvPr id="115" name="Group 114"/>
          <p:cNvGrpSpPr/>
          <p:nvPr/>
        </p:nvGrpSpPr>
        <p:grpSpPr>
          <a:xfrm>
            <a:off x="640885" y="1386136"/>
            <a:ext cx="1601501" cy="2350820"/>
            <a:chOff x="5378622" y="2424986"/>
            <a:chExt cx="1952657" cy="2088563"/>
          </a:xfrm>
        </p:grpSpPr>
        <p:cxnSp>
          <p:nvCxnSpPr>
            <p:cNvPr id="116" name="Straight Connector 115"/>
            <p:cNvCxnSpPr/>
            <p:nvPr/>
          </p:nvCxnSpPr>
          <p:spPr>
            <a:xfrm rot="16200000" flipV="1">
              <a:off x="6158222" y="4351663"/>
              <a:ext cx="323773" cy="0"/>
            </a:xfrm>
            <a:prstGeom prst="line">
              <a:avLst/>
            </a:prstGeom>
            <a:noFill/>
            <a:ln w="19050" cap="rnd" cmpd="sng" algn="ctr">
              <a:solidFill>
                <a:schemeClr val="accent5"/>
              </a:solidFill>
              <a:prstDash val="solid"/>
              <a:headEnd type="oval"/>
              <a:tailEnd type="none" w="sm" len="sm"/>
            </a:ln>
            <a:effectLst/>
          </p:spPr>
        </p:cxnSp>
        <p:sp>
          <p:nvSpPr>
            <p:cNvPr id="117" name="Rectangle 116"/>
            <p:cNvSpPr/>
            <p:nvPr/>
          </p:nvSpPr>
          <p:spPr>
            <a:xfrm>
              <a:off x="5378622" y="2424986"/>
              <a:ext cx="1952657" cy="1764792"/>
            </a:xfrm>
            <a:prstGeom prst="rect">
              <a:avLst/>
            </a:prstGeom>
            <a:solidFill>
              <a:sysClr val="window" lastClr="FFFFFF"/>
            </a:solidFill>
            <a:ln w="19050" cap="rnd" cmpd="sng" algn="ctr">
              <a:solidFill>
                <a:schemeClr val="accent4"/>
              </a:solidFill>
              <a:prstDash val="solid"/>
            </a:ln>
            <a:effectLst/>
          </p:spPr>
          <p:txBody>
            <a:bodyPr lIns="91440" tIns="45720" rIns="91440" bIns="137160" rtlCol="0" anchor="b"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effectLst/>
                  <a:uLnTx/>
                  <a:uFillTx/>
                  <a:cs typeface="Calibri" panose="020F0502020204030204" pitchFamily="34" charset="0"/>
                </a:rPr>
                <a:t>Briefing from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effectLst/>
                  <a:uLnTx/>
                  <a:uFillTx/>
                  <a:cs typeface="Calibri" panose="020F0502020204030204" pitchFamily="34" charset="0"/>
                </a:rPr>
                <a:t>customers and other stakeholders</a:t>
              </a:r>
            </a:p>
          </p:txBody>
        </p:sp>
      </p:grpSp>
      <p:grpSp>
        <p:nvGrpSpPr>
          <p:cNvPr id="118" name="bcgIcons_Speaking">
            <a:extLst>
              <a:ext uri="{FF2B5EF4-FFF2-40B4-BE49-F238E27FC236}">
                <a16:creationId xmlns:a16="http://schemas.microsoft.com/office/drawing/2014/main" id="{935BD149-9489-44E7-A66D-E1A32859FC0E}"/>
              </a:ext>
            </a:extLst>
          </p:cNvPr>
          <p:cNvGrpSpPr>
            <a:grpSpLocks noChangeAspect="1"/>
          </p:cNvGrpSpPr>
          <p:nvPr/>
        </p:nvGrpSpPr>
        <p:grpSpPr bwMode="auto">
          <a:xfrm>
            <a:off x="892995" y="1325563"/>
            <a:ext cx="1097280" cy="1098296"/>
            <a:chOff x="1682" y="0"/>
            <a:chExt cx="4316" cy="4320"/>
          </a:xfrm>
        </p:grpSpPr>
        <p:sp>
          <p:nvSpPr>
            <p:cNvPr id="119" name="AutoShape 18">
              <a:extLst>
                <a:ext uri="{FF2B5EF4-FFF2-40B4-BE49-F238E27FC236}">
                  <a16:creationId xmlns:a16="http://schemas.microsoft.com/office/drawing/2014/main" id="{100AC5BD-F30F-4F9C-94F8-3ECEAAF56365}"/>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20" name="Freeform 20">
              <a:extLst>
                <a:ext uri="{FF2B5EF4-FFF2-40B4-BE49-F238E27FC236}">
                  <a16:creationId xmlns:a16="http://schemas.microsoft.com/office/drawing/2014/main" id="{D44F01FC-0979-4CF2-A046-0010F3FF82EE}"/>
                </a:ext>
              </a:extLst>
            </p:cNvPr>
            <p:cNvSpPr>
              <a:spLocks noEditPoints="1"/>
            </p:cNvSpPr>
            <p:nvPr/>
          </p:nvSpPr>
          <p:spPr bwMode="auto">
            <a:xfrm>
              <a:off x="1984" y="1474"/>
              <a:ext cx="1935" cy="1976"/>
            </a:xfrm>
            <a:custGeom>
              <a:avLst/>
              <a:gdLst>
                <a:gd name="T0" fmla="*/ 989 w 1033"/>
                <a:gd name="T1" fmla="*/ 0 h 1054"/>
                <a:gd name="T2" fmla="*/ 44 w 1033"/>
                <a:gd name="T3" fmla="*/ 0 h 1054"/>
                <a:gd name="T4" fmla="*/ 0 w 1033"/>
                <a:gd name="T5" fmla="*/ 44 h 1054"/>
                <a:gd name="T6" fmla="*/ 0 w 1033"/>
                <a:gd name="T7" fmla="*/ 725 h 1054"/>
                <a:gd name="T8" fmla="*/ 44 w 1033"/>
                <a:gd name="T9" fmla="*/ 769 h 1054"/>
                <a:gd name="T10" fmla="*/ 299 w 1033"/>
                <a:gd name="T11" fmla="*/ 769 h 1054"/>
                <a:gd name="T12" fmla="*/ 299 w 1033"/>
                <a:gd name="T13" fmla="*/ 1010 h 1054"/>
                <a:gd name="T14" fmla="*/ 300 w 1033"/>
                <a:gd name="T15" fmla="*/ 1017 h 1054"/>
                <a:gd name="T16" fmla="*/ 337 w 1033"/>
                <a:gd name="T17" fmla="*/ 1053 h 1054"/>
                <a:gd name="T18" fmla="*/ 347 w 1033"/>
                <a:gd name="T19" fmla="*/ 1054 h 1054"/>
                <a:gd name="T20" fmla="*/ 401 w 1033"/>
                <a:gd name="T21" fmla="*/ 1026 h 1054"/>
                <a:gd name="T22" fmla="*/ 469 w 1033"/>
                <a:gd name="T23" fmla="*/ 951 h 1054"/>
                <a:gd name="T24" fmla="*/ 637 w 1033"/>
                <a:gd name="T25" fmla="*/ 769 h 1054"/>
                <a:gd name="T26" fmla="*/ 989 w 1033"/>
                <a:gd name="T27" fmla="*/ 769 h 1054"/>
                <a:gd name="T28" fmla="*/ 1033 w 1033"/>
                <a:gd name="T29" fmla="*/ 725 h 1054"/>
                <a:gd name="T30" fmla="*/ 1033 w 1033"/>
                <a:gd name="T31" fmla="*/ 44 h 1054"/>
                <a:gd name="T32" fmla="*/ 989 w 1033"/>
                <a:gd name="T33" fmla="*/ 0 h 1054"/>
                <a:gd name="T34" fmla="*/ 832 w 1033"/>
                <a:gd name="T35" fmla="*/ 552 h 1054"/>
                <a:gd name="T36" fmla="*/ 201 w 1033"/>
                <a:gd name="T37" fmla="*/ 552 h 1054"/>
                <a:gd name="T38" fmla="*/ 179 w 1033"/>
                <a:gd name="T39" fmla="*/ 530 h 1054"/>
                <a:gd name="T40" fmla="*/ 201 w 1033"/>
                <a:gd name="T41" fmla="*/ 508 h 1054"/>
                <a:gd name="T42" fmla="*/ 832 w 1033"/>
                <a:gd name="T43" fmla="*/ 508 h 1054"/>
                <a:gd name="T44" fmla="*/ 854 w 1033"/>
                <a:gd name="T45" fmla="*/ 530 h 1054"/>
                <a:gd name="T46" fmla="*/ 832 w 1033"/>
                <a:gd name="T47" fmla="*/ 552 h 1054"/>
                <a:gd name="T48" fmla="*/ 832 w 1033"/>
                <a:gd name="T49" fmla="*/ 415 h 1054"/>
                <a:gd name="T50" fmla="*/ 201 w 1033"/>
                <a:gd name="T51" fmla="*/ 415 h 1054"/>
                <a:gd name="T52" fmla="*/ 179 w 1033"/>
                <a:gd name="T53" fmla="*/ 393 h 1054"/>
                <a:gd name="T54" fmla="*/ 201 w 1033"/>
                <a:gd name="T55" fmla="*/ 371 h 1054"/>
                <a:gd name="T56" fmla="*/ 832 w 1033"/>
                <a:gd name="T57" fmla="*/ 371 h 1054"/>
                <a:gd name="T58" fmla="*/ 854 w 1033"/>
                <a:gd name="T59" fmla="*/ 393 h 1054"/>
                <a:gd name="T60" fmla="*/ 832 w 1033"/>
                <a:gd name="T61" fmla="*/ 415 h 1054"/>
                <a:gd name="T62" fmla="*/ 832 w 1033"/>
                <a:gd name="T63" fmla="*/ 279 h 1054"/>
                <a:gd name="T64" fmla="*/ 201 w 1033"/>
                <a:gd name="T65" fmla="*/ 279 h 1054"/>
                <a:gd name="T66" fmla="*/ 179 w 1033"/>
                <a:gd name="T67" fmla="*/ 257 h 1054"/>
                <a:gd name="T68" fmla="*/ 201 w 1033"/>
                <a:gd name="T69" fmla="*/ 235 h 1054"/>
                <a:gd name="T70" fmla="*/ 832 w 1033"/>
                <a:gd name="T71" fmla="*/ 235 h 1054"/>
                <a:gd name="T72" fmla="*/ 854 w 1033"/>
                <a:gd name="T73" fmla="*/ 257 h 1054"/>
                <a:gd name="T74" fmla="*/ 832 w 1033"/>
                <a:gd name="T75" fmla="*/ 279 h 10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33" h="1054">
                  <a:moveTo>
                    <a:pt x="989" y="0"/>
                  </a:moveTo>
                  <a:cubicBezTo>
                    <a:pt x="44" y="0"/>
                    <a:pt x="44" y="0"/>
                    <a:pt x="44" y="0"/>
                  </a:cubicBezTo>
                  <a:cubicBezTo>
                    <a:pt x="20" y="0"/>
                    <a:pt x="0" y="20"/>
                    <a:pt x="0" y="44"/>
                  </a:cubicBezTo>
                  <a:cubicBezTo>
                    <a:pt x="0" y="725"/>
                    <a:pt x="0" y="725"/>
                    <a:pt x="0" y="725"/>
                  </a:cubicBezTo>
                  <a:cubicBezTo>
                    <a:pt x="0" y="750"/>
                    <a:pt x="20" y="769"/>
                    <a:pt x="44" y="769"/>
                  </a:cubicBezTo>
                  <a:cubicBezTo>
                    <a:pt x="299" y="769"/>
                    <a:pt x="299" y="769"/>
                    <a:pt x="299" y="769"/>
                  </a:cubicBezTo>
                  <a:cubicBezTo>
                    <a:pt x="299" y="1010"/>
                    <a:pt x="299" y="1010"/>
                    <a:pt x="299" y="1010"/>
                  </a:cubicBezTo>
                  <a:cubicBezTo>
                    <a:pt x="299" y="1012"/>
                    <a:pt x="299" y="1015"/>
                    <a:pt x="300" y="1017"/>
                  </a:cubicBezTo>
                  <a:cubicBezTo>
                    <a:pt x="301" y="1020"/>
                    <a:pt x="311" y="1047"/>
                    <a:pt x="337" y="1053"/>
                  </a:cubicBezTo>
                  <a:cubicBezTo>
                    <a:pt x="341" y="1054"/>
                    <a:pt x="344" y="1054"/>
                    <a:pt x="347" y="1054"/>
                  </a:cubicBezTo>
                  <a:cubicBezTo>
                    <a:pt x="365" y="1054"/>
                    <a:pt x="383" y="1045"/>
                    <a:pt x="401" y="1026"/>
                  </a:cubicBezTo>
                  <a:cubicBezTo>
                    <a:pt x="414" y="1013"/>
                    <a:pt x="438" y="986"/>
                    <a:pt x="469" y="951"/>
                  </a:cubicBezTo>
                  <a:cubicBezTo>
                    <a:pt x="516" y="899"/>
                    <a:pt x="579" y="829"/>
                    <a:pt x="637" y="769"/>
                  </a:cubicBezTo>
                  <a:cubicBezTo>
                    <a:pt x="989" y="769"/>
                    <a:pt x="989" y="769"/>
                    <a:pt x="989" y="769"/>
                  </a:cubicBezTo>
                  <a:cubicBezTo>
                    <a:pt x="1013" y="769"/>
                    <a:pt x="1033" y="750"/>
                    <a:pt x="1033" y="725"/>
                  </a:cubicBezTo>
                  <a:cubicBezTo>
                    <a:pt x="1033" y="44"/>
                    <a:pt x="1033" y="44"/>
                    <a:pt x="1033" y="44"/>
                  </a:cubicBezTo>
                  <a:cubicBezTo>
                    <a:pt x="1033" y="20"/>
                    <a:pt x="1013" y="0"/>
                    <a:pt x="989" y="0"/>
                  </a:cubicBezTo>
                  <a:close/>
                  <a:moveTo>
                    <a:pt x="832" y="552"/>
                  </a:moveTo>
                  <a:cubicBezTo>
                    <a:pt x="201" y="552"/>
                    <a:pt x="201" y="552"/>
                    <a:pt x="201" y="552"/>
                  </a:cubicBezTo>
                  <a:cubicBezTo>
                    <a:pt x="189" y="552"/>
                    <a:pt x="179" y="543"/>
                    <a:pt x="179" y="530"/>
                  </a:cubicBezTo>
                  <a:cubicBezTo>
                    <a:pt x="179" y="518"/>
                    <a:pt x="189" y="508"/>
                    <a:pt x="201" y="508"/>
                  </a:cubicBezTo>
                  <a:cubicBezTo>
                    <a:pt x="832" y="508"/>
                    <a:pt x="832" y="508"/>
                    <a:pt x="832" y="508"/>
                  </a:cubicBezTo>
                  <a:cubicBezTo>
                    <a:pt x="844" y="508"/>
                    <a:pt x="854" y="518"/>
                    <a:pt x="854" y="530"/>
                  </a:cubicBezTo>
                  <a:cubicBezTo>
                    <a:pt x="854" y="543"/>
                    <a:pt x="844" y="552"/>
                    <a:pt x="832" y="552"/>
                  </a:cubicBezTo>
                  <a:close/>
                  <a:moveTo>
                    <a:pt x="832" y="415"/>
                  </a:moveTo>
                  <a:cubicBezTo>
                    <a:pt x="201" y="415"/>
                    <a:pt x="201" y="415"/>
                    <a:pt x="201" y="415"/>
                  </a:cubicBezTo>
                  <a:cubicBezTo>
                    <a:pt x="189" y="415"/>
                    <a:pt x="179" y="405"/>
                    <a:pt x="179" y="393"/>
                  </a:cubicBezTo>
                  <a:cubicBezTo>
                    <a:pt x="179" y="380"/>
                    <a:pt x="189" y="371"/>
                    <a:pt x="201" y="371"/>
                  </a:cubicBezTo>
                  <a:cubicBezTo>
                    <a:pt x="832" y="371"/>
                    <a:pt x="832" y="371"/>
                    <a:pt x="832" y="371"/>
                  </a:cubicBezTo>
                  <a:cubicBezTo>
                    <a:pt x="844" y="371"/>
                    <a:pt x="854" y="380"/>
                    <a:pt x="854" y="393"/>
                  </a:cubicBezTo>
                  <a:cubicBezTo>
                    <a:pt x="854" y="405"/>
                    <a:pt x="844" y="415"/>
                    <a:pt x="832" y="415"/>
                  </a:cubicBezTo>
                  <a:close/>
                  <a:moveTo>
                    <a:pt x="832" y="279"/>
                  </a:moveTo>
                  <a:cubicBezTo>
                    <a:pt x="201" y="279"/>
                    <a:pt x="201" y="279"/>
                    <a:pt x="201" y="279"/>
                  </a:cubicBezTo>
                  <a:cubicBezTo>
                    <a:pt x="189" y="279"/>
                    <a:pt x="179" y="269"/>
                    <a:pt x="179" y="257"/>
                  </a:cubicBezTo>
                  <a:cubicBezTo>
                    <a:pt x="179" y="245"/>
                    <a:pt x="189" y="235"/>
                    <a:pt x="201" y="235"/>
                  </a:cubicBezTo>
                  <a:cubicBezTo>
                    <a:pt x="832" y="235"/>
                    <a:pt x="832" y="235"/>
                    <a:pt x="832" y="235"/>
                  </a:cubicBezTo>
                  <a:cubicBezTo>
                    <a:pt x="844" y="235"/>
                    <a:pt x="854" y="245"/>
                    <a:pt x="854" y="257"/>
                  </a:cubicBezTo>
                  <a:cubicBezTo>
                    <a:pt x="854" y="269"/>
                    <a:pt x="844" y="279"/>
                    <a:pt x="832" y="27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121" name="Freeform 21">
              <a:extLst>
                <a:ext uri="{FF2B5EF4-FFF2-40B4-BE49-F238E27FC236}">
                  <a16:creationId xmlns:a16="http://schemas.microsoft.com/office/drawing/2014/main" id="{9FEAEA2A-1D9C-469F-A298-EC5C9220C30F}"/>
                </a:ext>
              </a:extLst>
            </p:cNvPr>
            <p:cNvSpPr>
              <a:spLocks noEditPoints="1"/>
            </p:cNvSpPr>
            <p:nvPr/>
          </p:nvSpPr>
          <p:spPr bwMode="auto">
            <a:xfrm>
              <a:off x="3748" y="911"/>
              <a:ext cx="1935" cy="1976"/>
            </a:xfrm>
            <a:custGeom>
              <a:avLst/>
              <a:gdLst>
                <a:gd name="T0" fmla="*/ 1033 w 1033"/>
                <a:gd name="T1" fmla="*/ 44 h 1054"/>
                <a:gd name="T2" fmla="*/ 1033 w 1033"/>
                <a:gd name="T3" fmla="*/ 725 h 1054"/>
                <a:gd name="T4" fmla="*/ 989 w 1033"/>
                <a:gd name="T5" fmla="*/ 769 h 1054"/>
                <a:gd name="T6" fmla="*/ 734 w 1033"/>
                <a:gd name="T7" fmla="*/ 769 h 1054"/>
                <a:gd name="T8" fmla="*/ 734 w 1033"/>
                <a:gd name="T9" fmla="*/ 1010 h 1054"/>
                <a:gd name="T10" fmla="*/ 733 w 1033"/>
                <a:gd name="T11" fmla="*/ 1017 h 1054"/>
                <a:gd name="T12" fmla="*/ 696 w 1033"/>
                <a:gd name="T13" fmla="*/ 1053 h 1054"/>
                <a:gd name="T14" fmla="*/ 686 w 1033"/>
                <a:gd name="T15" fmla="*/ 1054 h 1054"/>
                <a:gd name="T16" fmla="*/ 632 w 1033"/>
                <a:gd name="T17" fmla="*/ 1025 h 1054"/>
                <a:gd name="T18" fmla="*/ 564 w 1033"/>
                <a:gd name="T19" fmla="*/ 951 h 1054"/>
                <a:gd name="T20" fmla="*/ 396 w 1033"/>
                <a:gd name="T21" fmla="*/ 769 h 1054"/>
                <a:gd name="T22" fmla="*/ 135 w 1033"/>
                <a:gd name="T23" fmla="*/ 769 h 1054"/>
                <a:gd name="T24" fmla="*/ 135 w 1033"/>
                <a:gd name="T25" fmla="*/ 725 h 1054"/>
                <a:gd name="T26" fmla="*/ 405 w 1033"/>
                <a:gd name="T27" fmla="*/ 725 h 1054"/>
                <a:gd name="T28" fmla="*/ 421 w 1033"/>
                <a:gd name="T29" fmla="*/ 732 h 1054"/>
                <a:gd name="T30" fmla="*/ 597 w 1033"/>
                <a:gd name="T31" fmla="*/ 922 h 1054"/>
                <a:gd name="T32" fmla="*/ 663 w 1033"/>
                <a:gd name="T33" fmla="*/ 994 h 1054"/>
                <a:gd name="T34" fmla="*/ 686 w 1033"/>
                <a:gd name="T35" fmla="*/ 1010 h 1054"/>
                <a:gd name="T36" fmla="*/ 690 w 1033"/>
                <a:gd name="T37" fmla="*/ 1005 h 1054"/>
                <a:gd name="T38" fmla="*/ 690 w 1033"/>
                <a:gd name="T39" fmla="*/ 747 h 1054"/>
                <a:gd name="T40" fmla="*/ 712 w 1033"/>
                <a:gd name="T41" fmla="*/ 725 h 1054"/>
                <a:gd name="T42" fmla="*/ 989 w 1033"/>
                <a:gd name="T43" fmla="*/ 725 h 1054"/>
                <a:gd name="T44" fmla="*/ 989 w 1033"/>
                <a:gd name="T45" fmla="*/ 44 h 1054"/>
                <a:gd name="T46" fmla="*/ 44 w 1033"/>
                <a:gd name="T47" fmla="*/ 44 h 1054"/>
                <a:gd name="T48" fmla="*/ 44 w 1033"/>
                <a:gd name="T49" fmla="*/ 256 h 1054"/>
                <a:gd name="T50" fmla="*/ 0 w 1033"/>
                <a:gd name="T51" fmla="*/ 256 h 1054"/>
                <a:gd name="T52" fmla="*/ 0 w 1033"/>
                <a:gd name="T53" fmla="*/ 44 h 1054"/>
                <a:gd name="T54" fmla="*/ 44 w 1033"/>
                <a:gd name="T55" fmla="*/ 0 h 1054"/>
                <a:gd name="T56" fmla="*/ 989 w 1033"/>
                <a:gd name="T57" fmla="*/ 0 h 1054"/>
                <a:gd name="T58" fmla="*/ 1033 w 1033"/>
                <a:gd name="T59" fmla="*/ 44 h 1054"/>
                <a:gd name="T60" fmla="*/ 835 w 1033"/>
                <a:gd name="T61" fmla="*/ 247 h 1054"/>
                <a:gd name="T62" fmla="*/ 813 w 1033"/>
                <a:gd name="T63" fmla="*/ 225 h 1054"/>
                <a:gd name="T64" fmla="*/ 220 w 1033"/>
                <a:gd name="T65" fmla="*/ 225 h 1054"/>
                <a:gd name="T66" fmla="*/ 198 w 1033"/>
                <a:gd name="T67" fmla="*/ 247 h 1054"/>
                <a:gd name="T68" fmla="*/ 220 w 1033"/>
                <a:gd name="T69" fmla="*/ 269 h 1054"/>
                <a:gd name="T70" fmla="*/ 813 w 1033"/>
                <a:gd name="T71" fmla="*/ 269 h 1054"/>
                <a:gd name="T72" fmla="*/ 835 w 1033"/>
                <a:gd name="T73" fmla="*/ 247 h 1054"/>
                <a:gd name="T74" fmla="*/ 835 w 1033"/>
                <a:gd name="T75" fmla="*/ 383 h 1054"/>
                <a:gd name="T76" fmla="*/ 813 w 1033"/>
                <a:gd name="T77" fmla="*/ 361 h 1054"/>
                <a:gd name="T78" fmla="*/ 220 w 1033"/>
                <a:gd name="T79" fmla="*/ 361 h 1054"/>
                <a:gd name="T80" fmla="*/ 198 w 1033"/>
                <a:gd name="T81" fmla="*/ 383 h 1054"/>
                <a:gd name="T82" fmla="*/ 220 w 1033"/>
                <a:gd name="T83" fmla="*/ 405 h 1054"/>
                <a:gd name="T84" fmla="*/ 813 w 1033"/>
                <a:gd name="T85" fmla="*/ 405 h 1054"/>
                <a:gd name="T86" fmla="*/ 835 w 1033"/>
                <a:gd name="T87" fmla="*/ 383 h 1054"/>
                <a:gd name="T88" fmla="*/ 835 w 1033"/>
                <a:gd name="T89" fmla="*/ 521 h 1054"/>
                <a:gd name="T90" fmla="*/ 813 w 1033"/>
                <a:gd name="T91" fmla="*/ 499 h 1054"/>
                <a:gd name="T92" fmla="*/ 220 w 1033"/>
                <a:gd name="T93" fmla="*/ 499 h 1054"/>
                <a:gd name="T94" fmla="*/ 198 w 1033"/>
                <a:gd name="T95" fmla="*/ 521 h 1054"/>
                <a:gd name="T96" fmla="*/ 220 w 1033"/>
                <a:gd name="T97" fmla="*/ 543 h 1054"/>
                <a:gd name="T98" fmla="*/ 813 w 1033"/>
                <a:gd name="T99" fmla="*/ 543 h 1054"/>
                <a:gd name="T100" fmla="*/ 835 w 1033"/>
                <a:gd name="T101" fmla="*/ 521 h 10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033" h="1054">
                  <a:moveTo>
                    <a:pt x="1033" y="44"/>
                  </a:moveTo>
                  <a:cubicBezTo>
                    <a:pt x="1033" y="725"/>
                    <a:pt x="1033" y="725"/>
                    <a:pt x="1033" y="725"/>
                  </a:cubicBezTo>
                  <a:cubicBezTo>
                    <a:pt x="1033" y="750"/>
                    <a:pt x="1013" y="769"/>
                    <a:pt x="989" y="769"/>
                  </a:cubicBezTo>
                  <a:cubicBezTo>
                    <a:pt x="734" y="769"/>
                    <a:pt x="734" y="769"/>
                    <a:pt x="734" y="769"/>
                  </a:cubicBezTo>
                  <a:cubicBezTo>
                    <a:pt x="734" y="1010"/>
                    <a:pt x="734" y="1010"/>
                    <a:pt x="734" y="1010"/>
                  </a:cubicBezTo>
                  <a:cubicBezTo>
                    <a:pt x="734" y="1012"/>
                    <a:pt x="734" y="1015"/>
                    <a:pt x="733" y="1017"/>
                  </a:cubicBezTo>
                  <a:cubicBezTo>
                    <a:pt x="732" y="1020"/>
                    <a:pt x="722" y="1047"/>
                    <a:pt x="696" y="1053"/>
                  </a:cubicBezTo>
                  <a:cubicBezTo>
                    <a:pt x="693" y="1054"/>
                    <a:pt x="689" y="1054"/>
                    <a:pt x="686" y="1054"/>
                  </a:cubicBezTo>
                  <a:cubicBezTo>
                    <a:pt x="668" y="1054"/>
                    <a:pt x="650" y="1044"/>
                    <a:pt x="632" y="1025"/>
                  </a:cubicBezTo>
                  <a:cubicBezTo>
                    <a:pt x="619" y="1013"/>
                    <a:pt x="595" y="985"/>
                    <a:pt x="564" y="951"/>
                  </a:cubicBezTo>
                  <a:cubicBezTo>
                    <a:pt x="517" y="899"/>
                    <a:pt x="454" y="829"/>
                    <a:pt x="396" y="769"/>
                  </a:cubicBezTo>
                  <a:cubicBezTo>
                    <a:pt x="135" y="769"/>
                    <a:pt x="135" y="769"/>
                    <a:pt x="135" y="769"/>
                  </a:cubicBezTo>
                  <a:cubicBezTo>
                    <a:pt x="135" y="725"/>
                    <a:pt x="135" y="725"/>
                    <a:pt x="135" y="725"/>
                  </a:cubicBezTo>
                  <a:cubicBezTo>
                    <a:pt x="405" y="725"/>
                    <a:pt x="405" y="725"/>
                    <a:pt x="405" y="725"/>
                  </a:cubicBezTo>
                  <a:cubicBezTo>
                    <a:pt x="411" y="725"/>
                    <a:pt x="417" y="728"/>
                    <a:pt x="421" y="732"/>
                  </a:cubicBezTo>
                  <a:cubicBezTo>
                    <a:pt x="481" y="793"/>
                    <a:pt x="548" y="867"/>
                    <a:pt x="597" y="922"/>
                  </a:cubicBezTo>
                  <a:cubicBezTo>
                    <a:pt x="627" y="956"/>
                    <a:pt x="651" y="982"/>
                    <a:pt x="663" y="994"/>
                  </a:cubicBezTo>
                  <a:cubicBezTo>
                    <a:pt x="677" y="1008"/>
                    <a:pt x="684" y="1010"/>
                    <a:pt x="686" y="1010"/>
                  </a:cubicBezTo>
                  <a:cubicBezTo>
                    <a:pt x="687" y="1010"/>
                    <a:pt x="689" y="1008"/>
                    <a:pt x="690" y="1005"/>
                  </a:cubicBezTo>
                  <a:cubicBezTo>
                    <a:pt x="690" y="747"/>
                    <a:pt x="690" y="747"/>
                    <a:pt x="690" y="747"/>
                  </a:cubicBezTo>
                  <a:cubicBezTo>
                    <a:pt x="690" y="735"/>
                    <a:pt x="700" y="725"/>
                    <a:pt x="712" y="725"/>
                  </a:cubicBezTo>
                  <a:cubicBezTo>
                    <a:pt x="989" y="725"/>
                    <a:pt x="989" y="725"/>
                    <a:pt x="989" y="725"/>
                  </a:cubicBezTo>
                  <a:cubicBezTo>
                    <a:pt x="989" y="44"/>
                    <a:pt x="989" y="44"/>
                    <a:pt x="989" y="44"/>
                  </a:cubicBezTo>
                  <a:cubicBezTo>
                    <a:pt x="44" y="44"/>
                    <a:pt x="44" y="44"/>
                    <a:pt x="44" y="44"/>
                  </a:cubicBezTo>
                  <a:cubicBezTo>
                    <a:pt x="44" y="256"/>
                    <a:pt x="44" y="256"/>
                    <a:pt x="44" y="256"/>
                  </a:cubicBezTo>
                  <a:cubicBezTo>
                    <a:pt x="0" y="256"/>
                    <a:pt x="0" y="256"/>
                    <a:pt x="0" y="256"/>
                  </a:cubicBezTo>
                  <a:cubicBezTo>
                    <a:pt x="0" y="44"/>
                    <a:pt x="0" y="44"/>
                    <a:pt x="0" y="44"/>
                  </a:cubicBezTo>
                  <a:cubicBezTo>
                    <a:pt x="0" y="20"/>
                    <a:pt x="20" y="0"/>
                    <a:pt x="44" y="0"/>
                  </a:cubicBezTo>
                  <a:cubicBezTo>
                    <a:pt x="989" y="0"/>
                    <a:pt x="989" y="0"/>
                    <a:pt x="989" y="0"/>
                  </a:cubicBezTo>
                  <a:cubicBezTo>
                    <a:pt x="1013" y="0"/>
                    <a:pt x="1033" y="20"/>
                    <a:pt x="1033" y="44"/>
                  </a:cubicBezTo>
                  <a:close/>
                  <a:moveTo>
                    <a:pt x="835" y="247"/>
                  </a:moveTo>
                  <a:cubicBezTo>
                    <a:pt x="835" y="235"/>
                    <a:pt x="826" y="225"/>
                    <a:pt x="813" y="225"/>
                  </a:cubicBezTo>
                  <a:cubicBezTo>
                    <a:pt x="220" y="225"/>
                    <a:pt x="220" y="225"/>
                    <a:pt x="220" y="225"/>
                  </a:cubicBezTo>
                  <a:cubicBezTo>
                    <a:pt x="208" y="225"/>
                    <a:pt x="198" y="235"/>
                    <a:pt x="198" y="247"/>
                  </a:cubicBezTo>
                  <a:cubicBezTo>
                    <a:pt x="198" y="259"/>
                    <a:pt x="208" y="269"/>
                    <a:pt x="220" y="269"/>
                  </a:cubicBezTo>
                  <a:cubicBezTo>
                    <a:pt x="813" y="269"/>
                    <a:pt x="813" y="269"/>
                    <a:pt x="813" y="269"/>
                  </a:cubicBezTo>
                  <a:cubicBezTo>
                    <a:pt x="826" y="269"/>
                    <a:pt x="835" y="259"/>
                    <a:pt x="835" y="247"/>
                  </a:cubicBezTo>
                  <a:close/>
                  <a:moveTo>
                    <a:pt x="835" y="383"/>
                  </a:moveTo>
                  <a:cubicBezTo>
                    <a:pt x="835" y="371"/>
                    <a:pt x="826" y="361"/>
                    <a:pt x="813" y="361"/>
                  </a:cubicBezTo>
                  <a:cubicBezTo>
                    <a:pt x="220" y="361"/>
                    <a:pt x="220" y="361"/>
                    <a:pt x="220" y="361"/>
                  </a:cubicBezTo>
                  <a:cubicBezTo>
                    <a:pt x="208" y="361"/>
                    <a:pt x="198" y="371"/>
                    <a:pt x="198" y="383"/>
                  </a:cubicBezTo>
                  <a:cubicBezTo>
                    <a:pt x="198" y="395"/>
                    <a:pt x="208" y="405"/>
                    <a:pt x="220" y="405"/>
                  </a:cubicBezTo>
                  <a:cubicBezTo>
                    <a:pt x="813" y="405"/>
                    <a:pt x="813" y="405"/>
                    <a:pt x="813" y="405"/>
                  </a:cubicBezTo>
                  <a:cubicBezTo>
                    <a:pt x="826" y="405"/>
                    <a:pt x="835" y="395"/>
                    <a:pt x="835" y="383"/>
                  </a:cubicBezTo>
                  <a:close/>
                  <a:moveTo>
                    <a:pt x="835" y="521"/>
                  </a:moveTo>
                  <a:cubicBezTo>
                    <a:pt x="835" y="508"/>
                    <a:pt x="826" y="499"/>
                    <a:pt x="813" y="499"/>
                  </a:cubicBezTo>
                  <a:cubicBezTo>
                    <a:pt x="220" y="499"/>
                    <a:pt x="220" y="499"/>
                    <a:pt x="220" y="499"/>
                  </a:cubicBezTo>
                  <a:cubicBezTo>
                    <a:pt x="208" y="499"/>
                    <a:pt x="198" y="508"/>
                    <a:pt x="198" y="521"/>
                  </a:cubicBezTo>
                  <a:cubicBezTo>
                    <a:pt x="198" y="533"/>
                    <a:pt x="208" y="543"/>
                    <a:pt x="220" y="543"/>
                  </a:cubicBezTo>
                  <a:cubicBezTo>
                    <a:pt x="813" y="543"/>
                    <a:pt x="813" y="543"/>
                    <a:pt x="813" y="543"/>
                  </a:cubicBezTo>
                  <a:cubicBezTo>
                    <a:pt x="826" y="543"/>
                    <a:pt x="835" y="533"/>
                    <a:pt x="835" y="52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grpSp>
      <p:grpSp>
        <p:nvGrpSpPr>
          <p:cNvPr id="130" name="bcgIcons_InStock">
            <a:extLst>
              <a:ext uri="{FF2B5EF4-FFF2-40B4-BE49-F238E27FC236}">
                <a16:creationId xmlns:a16="http://schemas.microsoft.com/office/drawing/2014/main" id="{F356FAE1-C6C2-406E-AED1-D1A1FFD3DDA3}"/>
              </a:ext>
            </a:extLst>
          </p:cNvPr>
          <p:cNvGrpSpPr>
            <a:grpSpLocks noChangeAspect="1"/>
          </p:cNvGrpSpPr>
          <p:nvPr/>
        </p:nvGrpSpPr>
        <p:grpSpPr bwMode="auto">
          <a:xfrm>
            <a:off x="8358624" y="4589432"/>
            <a:ext cx="914400" cy="915246"/>
            <a:chOff x="1682" y="0"/>
            <a:chExt cx="4316" cy="4320"/>
          </a:xfrm>
        </p:grpSpPr>
        <p:sp>
          <p:nvSpPr>
            <p:cNvPr id="131" name="AutoShape 8">
              <a:extLst>
                <a:ext uri="{FF2B5EF4-FFF2-40B4-BE49-F238E27FC236}">
                  <a16:creationId xmlns:a16="http://schemas.microsoft.com/office/drawing/2014/main" id="{257E3190-7074-4D79-BFB5-E1556FF27866}"/>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32" name="Freeform 10">
              <a:extLst>
                <a:ext uri="{FF2B5EF4-FFF2-40B4-BE49-F238E27FC236}">
                  <a16:creationId xmlns:a16="http://schemas.microsoft.com/office/drawing/2014/main" id="{E860E132-5E15-411F-AC29-454553076D00}"/>
                </a:ext>
              </a:extLst>
            </p:cNvPr>
            <p:cNvSpPr>
              <a:spLocks noEditPoints="1"/>
            </p:cNvSpPr>
            <p:nvPr/>
          </p:nvSpPr>
          <p:spPr bwMode="auto">
            <a:xfrm>
              <a:off x="2087" y="1931"/>
              <a:ext cx="3506" cy="1750"/>
            </a:xfrm>
            <a:custGeom>
              <a:avLst/>
              <a:gdLst>
                <a:gd name="T0" fmla="*/ 1850 w 1872"/>
                <a:gd name="T1" fmla="*/ 44 h 933"/>
                <a:gd name="T2" fmla="*/ 22 w 1872"/>
                <a:gd name="T3" fmla="*/ 44 h 933"/>
                <a:gd name="T4" fmla="*/ 0 w 1872"/>
                <a:gd name="T5" fmla="*/ 22 h 933"/>
                <a:gd name="T6" fmla="*/ 22 w 1872"/>
                <a:gd name="T7" fmla="*/ 0 h 933"/>
                <a:gd name="T8" fmla="*/ 1850 w 1872"/>
                <a:gd name="T9" fmla="*/ 0 h 933"/>
                <a:gd name="T10" fmla="*/ 1872 w 1872"/>
                <a:gd name="T11" fmla="*/ 22 h 933"/>
                <a:gd name="T12" fmla="*/ 1850 w 1872"/>
                <a:gd name="T13" fmla="*/ 44 h 933"/>
                <a:gd name="T14" fmla="*/ 1872 w 1872"/>
                <a:gd name="T15" fmla="*/ 911 h 933"/>
                <a:gd name="T16" fmla="*/ 1850 w 1872"/>
                <a:gd name="T17" fmla="*/ 889 h 933"/>
                <a:gd name="T18" fmla="*/ 22 w 1872"/>
                <a:gd name="T19" fmla="*/ 889 h 933"/>
                <a:gd name="T20" fmla="*/ 0 w 1872"/>
                <a:gd name="T21" fmla="*/ 911 h 933"/>
                <a:gd name="T22" fmla="*/ 22 w 1872"/>
                <a:gd name="T23" fmla="*/ 933 h 933"/>
                <a:gd name="T24" fmla="*/ 1850 w 1872"/>
                <a:gd name="T25" fmla="*/ 933 h 933"/>
                <a:gd name="T26" fmla="*/ 1872 w 1872"/>
                <a:gd name="T27" fmla="*/ 911 h 9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72" h="933">
                  <a:moveTo>
                    <a:pt x="1850" y="44"/>
                  </a:moveTo>
                  <a:cubicBezTo>
                    <a:pt x="22" y="44"/>
                    <a:pt x="22" y="44"/>
                    <a:pt x="22" y="44"/>
                  </a:cubicBezTo>
                  <a:cubicBezTo>
                    <a:pt x="10" y="44"/>
                    <a:pt x="0" y="34"/>
                    <a:pt x="0" y="22"/>
                  </a:cubicBezTo>
                  <a:cubicBezTo>
                    <a:pt x="0" y="10"/>
                    <a:pt x="10" y="0"/>
                    <a:pt x="22" y="0"/>
                  </a:cubicBezTo>
                  <a:cubicBezTo>
                    <a:pt x="1850" y="0"/>
                    <a:pt x="1850" y="0"/>
                    <a:pt x="1850" y="0"/>
                  </a:cubicBezTo>
                  <a:cubicBezTo>
                    <a:pt x="1862" y="0"/>
                    <a:pt x="1872" y="10"/>
                    <a:pt x="1872" y="22"/>
                  </a:cubicBezTo>
                  <a:cubicBezTo>
                    <a:pt x="1872" y="34"/>
                    <a:pt x="1862" y="44"/>
                    <a:pt x="1850" y="44"/>
                  </a:cubicBezTo>
                  <a:close/>
                  <a:moveTo>
                    <a:pt x="1872" y="911"/>
                  </a:moveTo>
                  <a:cubicBezTo>
                    <a:pt x="1872" y="899"/>
                    <a:pt x="1862" y="889"/>
                    <a:pt x="1850" y="889"/>
                  </a:cubicBezTo>
                  <a:cubicBezTo>
                    <a:pt x="22" y="889"/>
                    <a:pt x="22" y="889"/>
                    <a:pt x="22" y="889"/>
                  </a:cubicBezTo>
                  <a:cubicBezTo>
                    <a:pt x="10" y="889"/>
                    <a:pt x="0" y="899"/>
                    <a:pt x="0" y="911"/>
                  </a:cubicBezTo>
                  <a:cubicBezTo>
                    <a:pt x="0" y="923"/>
                    <a:pt x="10" y="933"/>
                    <a:pt x="22" y="933"/>
                  </a:cubicBezTo>
                  <a:cubicBezTo>
                    <a:pt x="1850" y="933"/>
                    <a:pt x="1850" y="933"/>
                    <a:pt x="1850" y="933"/>
                  </a:cubicBezTo>
                  <a:cubicBezTo>
                    <a:pt x="1862" y="933"/>
                    <a:pt x="1872" y="923"/>
                    <a:pt x="1872" y="91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133" name="Freeform 11">
              <a:extLst>
                <a:ext uri="{FF2B5EF4-FFF2-40B4-BE49-F238E27FC236}">
                  <a16:creationId xmlns:a16="http://schemas.microsoft.com/office/drawing/2014/main" id="{8AA79B95-8399-449E-B159-F215D9A6AD32}"/>
                </a:ext>
              </a:extLst>
            </p:cNvPr>
            <p:cNvSpPr>
              <a:spLocks noEditPoints="1"/>
            </p:cNvSpPr>
            <p:nvPr/>
          </p:nvSpPr>
          <p:spPr bwMode="auto">
            <a:xfrm>
              <a:off x="2169" y="718"/>
              <a:ext cx="3342" cy="2792"/>
            </a:xfrm>
            <a:custGeom>
              <a:avLst/>
              <a:gdLst>
                <a:gd name="T0" fmla="*/ 816 w 1784"/>
                <a:gd name="T1" fmla="*/ 901 h 1489"/>
                <a:gd name="T2" fmla="*/ 1091 w 1784"/>
                <a:gd name="T3" fmla="*/ 599 h 1489"/>
                <a:gd name="T4" fmla="*/ 1091 w 1784"/>
                <a:gd name="T5" fmla="*/ 392 h 1489"/>
                <a:gd name="T6" fmla="*/ 1271 w 1784"/>
                <a:gd name="T7" fmla="*/ 348 h 1489"/>
                <a:gd name="T8" fmla="*/ 1081 w 1784"/>
                <a:gd name="T9" fmla="*/ 151 h 1489"/>
                <a:gd name="T10" fmla="*/ 517 w 1784"/>
                <a:gd name="T11" fmla="*/ 1489 h 1489"/>
                <a:gd name="T12" fmla="*/ 517 w 1784"/>
                <a:gd name="T13" fmla="*/ 1008 h 1489"/>
                <a:gd name="T14" fmla="*/ 427 w 1784"/>
                <a:gd name="T15" fmla="*/ 1293 h 1489"/>
                <a:gd name="T16" fmla="*/ 419 w 1784"/>
                <a:gd name="T17" fmla="*/ 1290 h 1489"/>
                <a:gd name="T18" fmla="*/ 406 w 1784"/>
                <a:gd name="T19" fmla="*/ 1291 h 1489"/>
                <a:gd name="T20" fmla="*/ 345 w 1784"/>
                <a:gd name="T21" fmla="*/ 1350 h 1489"/>
                <a:gd name="T22" fmla="*/ 415 w 1784"/>
                <a:gd name="T23" fmla="*/ 1453 h 1489"/>
                <a:gd name="T24" fmla="*/ 484 w 1784"/>
                <a:gd name="T25" fmla="*/ 1381 h 1489"/>
                <a:gd name="T26" fmla="*/ 581 w 1784"/>
                <a:gd name="T27" fmla="*/ 1489 h 1489"/>
                <a:gd name="T28" fmla="*/ 1132 w 1784"/>
                <a:gd name="T29" fmla="*/ 1135 h 1489"/>
                <a:gd name="T30" fmla="*/ 1032 w 1784"/>
                <a:gd name="T31" fmla="*/ 1293 h 1489"/>
                <a:gd name="T32" fmla="*/ 1020 w 1784"/>
                <a:gd name="T33" fmla="*/ 1290 h 1489"/>
                <a:gd name="T34" fmla="*/ 1008 w 1784"/>
                <a:gd name="T35" fmla="*/ 1293 h 1489"/>
                <a:gd name="T36" fmla="*/ 951 w 1784"/>
                <a:gd name="T37" fmla="*/ 1381 h 1489"/>
                <a:gd name="T38" fmla="*/ 1042 w 1784"/>
                <a:gd name="T39" fmla="*/ 1431 h 1489"/>
                <a:gd name="T40" fmla="*/ 1090 w 1784"/>
                <a:gd name="T41" fmla="*/ 1350 h 1489"/>
                <a:gd name="T42" fmla="*/ 467 w 1784"/>
                <a:gd name="T43" fmla="*/ 589 h 1489"/>
                <a:gd name="T44" fmla="*/ 994 w 1784"/>
                <a:gd name="T45" fmla="*/ 459 h 1489"/>
                <a:gd name="T46" fmla="*/ 933 w 1784"/>
                <a:gd name="T47" fmla="*/ 401 h 1489"/>
                <a:gd name="T48" fmla="*/ 921 w 1784"/>
                <a:gd name="T49" fmla="*/ 399 h 1489"/>
                <a:gd name="T50" fmla="*/ 913 w 1784"/>
                <a:gd name="T51" fmla="*/ 403 h 1489"/>
                <a:gd name="T52" fmla="*/ 886 w 1784"/>
                <a:gd name="T53" fmla="*/ 490 h 1489"/>
                <a:gd name="T54" fmla="*/ 947 w 1784"/>
                <a:gd name="T55" fmla="*/ 474 h 1489"/>
                <a:gd name="T56" fmla="*/ 1784 w 1784"/>
                <a:gd name="T57" fmla="*/ 247 h 1489"/>
                <a:gd name="T58" fmla="*/ 1325 w 1784"/>
                <a:gd name="T59" fmla="*/ 247 h 1489"/>
                <a:gd name="T60" fmla="*/ 1688 w 1784"/>
                <a:gd name="T61" fmla="*/ 405 h 1489"/>
                <a:gd name="T62" fmla="*/ 1680 w 1784"/>
                <a:gd name="T63" fmla="*/ 400 h 1489"/>
                <a:gd name="T64" fmla="*/ 1668 w 1784"/>
                <a:gd name="T65" fmla="*/ 399 h 1489"/>
                <a:gd name="T66" fmla="*/ 1656 w 1784"/>
                <a:gd name="T67" fmla="*/ 405 h 1489"/>
                <a:gd name="T68" fmla="*/ 1650 w 1784"/>
                <a:gd name="T69" fmla="*/ 474 h 1489"/>
                <a:gd name="T70" fmla="*/ 1710 w 1784"/>
                <a:gd name="T71" fmla="*/ 490 h 1489"/>
                <a:gd name="T72" fmla="*/ 423 w 1784"/>
                <a:gd name="T73" fmla="*/ 589 h 1489"/>
                <a:gd name="T74" fmla="*/ 10 w 1784"/>
                <a:gd name="T75" fmla="*/ 237 h 1489"/>
                <a:gd name="T76" fmla="*/ 327 w 1784"/>
                <a:gd name="T77" fmla="*/ 405 h 1489"/>
                <a:gd name="T78" fmla="*/ 316 w 1784"/>
                <a:gd name="T79" fmla="*/ 399 h 1489"/>
                <a:gd name="T80" fmla="*/ 303 w 1784"/>
                <a:gd name="T81" fmla="*/ 400 h 1489"/>
                <a:gd name="T82" fmla="*/ 296 w 1784"/>
                <a:gd name="T83" fmla="*/ 405 h 1489"/>
                <a:gd name="T84" fmla="*/ 289 w 1784"/>
                <a:gd name="T85" fmla="*/ 541 h 1489"/>
                <a:gd name="T86" fmla="*/ 365 w 1784"/>
                <a:gd name="T87" fmla="*/ 497 h 1489"/>
                <a:gd name="T88" fmla="*/ 1774 w 1784"/>
                <a:gd name="T89" fmla="*/ 1489 h 1489"/>
                <a:gd name="T90" fmla="*/ 1774 w 1784"/>
                <a:gd name="T91" fmla="*/ 953 h 1489"/>
                <a:gd name="T92" fmla="*/ 1684 w 1784"/>
                <a:gd name="T93" fmla="*/ 1293 h 1489"/>
                <a:gd name="T94" fmla="*/ 1676 w 1784"/>
                <a:gd name="T95" fmla="*/ 1290 h 1489"/>
                <a:gd name="T96" fmla="*/ 1664 w 1784"/>
                <a:gd name="T97" fmla="*/ 1291 h 1489"/>
                <a:gd name="T98" fmla="*/ 1603 w 1784"/>
                <a:gd name="T99" fmla="*/ 1350 h 1489"/>
                <a:gd name="T100" fmla="*/ 1672 w 1784"/>
                <a:gd name="T101" fmla="*/ 1453 h 1489"/>
                <a:gd name="T102" fmla="*/ 1741 w 1784"/>
                <a:gd name="T103" fmla="*/ 1381 h 1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784" h="1489">
                  <a:moveTo>
                    <a:pt x="625" y="1071"/>
                  </a:moveTo>
                  <a:cubicBezTo>
                    <a:pt x="625" y="901"/>
                    <a:pt x="625" y="901"/>
                    <a:pt x="625" y="901"/>
                  </a:cubicBezTo>
                  <a:cubicBezTo>
                    <a:pt x="625" y="895"/>
                    <a:pt x="630" y="891"/>
                    <a:pt x="635" y="891"/>
                  </a:cubicBezTo>
                  <a:cubicBezTo>
                    <a:pt x="806" y="891"/>
                    <a:pt x="806" y="891"/>
                    <a:pt x="806" y="891"/>
                  </a:cubicBezTo>
                  <a:cubicBezTo>
                    <a:pt x="811" y="891"/>
                    <a:pt x="816" y="895"/>
                    <a:pt x="816" y="901"/>
                  </a:cubicBezTo>
                  <a:cubicBezTo>
                    <a:pt x="816" y="1071"/>
                    <a:pt x="816" y="1071"/>
                    <a:pt x="816" y="1071"/>
                  </a:cubicBezTo>
                  <a:cubicBezTo>
                    <a:pt x="816" y="1077"/>
                    <a:pt x="811" y="1081"/>
                    <a:pt x="806" y="1081"/>
                  </a:cubicBezTo>
                  <a:cubicBezTo>
                    <a:pt x="635" y="1081"/>
                    <a:pt x="635" y="1081"/>
                    <a:pt x="635" y="1081"/>
                  </a:cubicBezTo>
                  <a:cubicBezTo>
                    <a:pt x="630" y="1081"/>
                    <a:pt x="625" y="1077"/>
                    <a:pt x="625" y="1071"/>
                  </a:cubicBezTo>
                  <a:close/>
                  <a:moveTo>
                    <a:pt x="1091" y="599"/>
                  </a:moveTo>
                  <a:cubicBezTo>
                    <a:pt x="1271" y="599"/>
                    <a:pt x="1271" y="599"/>
                    <a:pt x="1271" y="599"/>
                  </a:cubicBezTo>
                  <a:cubicBezTo>
                    <a:pt x="1277" y="599"/>
                    <a:pt x="1281" y="594"/>
                    <a:pt x="1281" y="589"/>
                  </a:cubicBezTo>
                  <a:cubicBezTo>
                    <a:pt x="1281" y="402"/>
                    <a:pt x="1281" y="402"/>
                    <a:pt x="1281" y="402"/>
                  </a:cubicBezTo>
                  <a:cubicBezTo>
                    <a:pt x="1281" y="397"/>
                    <a:pt x="1277" y="392"/>
                    <a:pt x="1271" y="392"/>
                  </a:cubicBezTo>
                  <a:cubicBezTo>
                    <a:pt x="1091" y="392"/>
                    <a:pt x="1091" y="392"/>
                    <a:pt x="1091" y="392"/>
                  </a:cubicBezTo>
                  <a:cubicBezTo>
                    <a:pt x="1085" y="392"/>
                    <a:pt x="1081" y="397"/>
                    <a:pt x="1081" y="402"/>
                  </a:cubicBezTo>
                  <a:cubicBezTo>
                    <a:pt x="1081" y="589"/>
                    <a:pt x="1081" y="589"/>
                    <a:pt x="1081" y="589"/>
                  </a:cubicBezTo>
                  <a:cubicBezTo>
                    <a:pt x="1081" y="594"/>
                    <a:pt x="1085" y="599"/>
                    <a:pt x="1091" y="599"/>
                  </a:cubicBezTo>
                  <a:close/>
                  <a:moveTo>
                    <a:pt x="1091" y="348"/>
                  </a:moveTo>
                  <a:cubicBezTo>
                    <a:pt x="1271" y="348"/>
                    <a:pt x="1271" y="348"/>
                    <a:pt x="1271" y="348"/>
                  </a:cubicBezTo>
                  <a:cubicBezTo>
                    <a:pt x="1277" y="348"/>
                    <a:pt x="1281" y="344"/>
                    <a:pt x="1281" y="338"/>
                  </a:cubicBezTo>
                  <a:cubicBezTo>
                    <a:pt x="1281" y="151"/>
                    <a:pt x="1281" y="151"/>
                    <a:pt x="1281" y="151"/>
                  </a:cubicBezTo>
                  <a:cubicBezTo>
                    <a:pt x="1281" y="146"/>
                    <a:pt x="1277" y="141"/>
                    <a:pt x="1271" y="141"/>
                  </a:cubicBezTo>
                  <a:cubicBezTo>
                    <a:pt x="1091" y="141"/>
                    <a:pt x="1091" y="141"/>
                    <a:pt x="1091" y="141"/>
                  </a:cubicBezTo>
                  <a:cubicBezTo>
                    <a:pt x="1085" y="141"/>
                    <a:pt x="1081" y="146"/>
                    <a:pt x="1081" y="151"/>
                  </a:cubicBezTo>
                  <a:cubicBezTo>
                    <a:pt x="1081" y="338"/>
                    <a:pt x="1081" y="338"/>
                    <a:pt x="1081" y="338"/>
                  </a:cubicBezTo>
                  <a:cubicBezTo>
                    <a:pt x="1081" y="344"/>
                    <a:pt x="1085" y="348"/>
                    <a:pt x="1091" y="348"/>
                  </a:cubicBezTo>
                  <a:close/>
                  <a:moveTo>
                    <a:pt x="527" y="1018"/>
                  </a:moveTo>
                  <a:cubicBezTo>
                    <a:pt x="527" y="1479"/>
                    <a:pt x="527" y="1479"/>
                    <a:pt x="527" y="1479"/>
                  </a:cubicBezTo>
                  <a:cubicBezTo>
                    <a:pt x="527" y="1485"/>
                    <a:pt x="522" y="1489"/>
                    <a:pt x="517" y="1489"/>
                  </a:cubicBezTo>
                  <a:cubicBezTo>
                    <a:pt x="10" y="1489"/>
                    <a:pt x="10" y="1489"/>
                    <a:pt x="10" y="1489"/>
                  </a:cubicBezTo>
                  <a:cubicBezTo>
                    <a:pt x="4" y="1489"/>
                    <a:pt x="0" y="1485"/>
                    <a:pt x="0" y="1479"/>
                  </a:cubicBezTo>
                  <a:cubicBezTo>
                    <a:pt x="0" y="1018"/>
                    <a:pt x="0" y="1018"/>
                    <a:pt x="0" y="1018"/>
                  </a:cubicBezTo>
                  <a:cubicBezTo>
                    <a:pt x="0" y="1013"/>
                    <a:pt x="4" y="1008"/>
                    <a:pt x="10" y="1008"/>
                  </a:cubicBezTo>
                  <a:cubicBezTo>
                    <a:pt x="517" y="1008"/>
                    <a:pt x="517" y="1008"/>
                    <a:pt x="517" y="1008"/>
                  </a:cubicBezTo>
                  <a:cubicBezTo>
                    <a:pt x="522" y="1008"/>
                    <a:pt x="527" y="1013"/>
                    <a:pt x="527" y="1018"/>
                  </a:cubicBezTo>
                  <a:close/>
                  <a:moveTo>
                    <a:pt x="484" y="1350"/>
                  </a:moveTo>
                  <a:cubicBezTo>
                    <a:pt x="430" y="1296"/>
                    <a:pt x="430" y="1296"/>
                    <a:pt x="430" y="1296"/>
                  </a:cubicBezTo>
                  <a:cubicBezTo>
                    <a:pt x="430" y="1296"/>
                    <a:pt x="430" y="1296"/>
                    <a:pt x="430" y="1296"/>
                  </a:cubicBezTo>
                  <a:cubicBezTo>
                    <a:pt x="429" y="1295"/>
                    <a:pt x="428" y="1294"/>
                    <a:pt x="427" y="1293"/>
                  </a:cubicBezTo>
                  <a:cubicBezTo>
                    <a:pt x="427" y="1293"/>
                    <a:pt x="427" y="1293"/>
                    <a:pt x="427" y="1293"/>
                  </a:cubicBezTo>
                  <a:cubicBezTo>
                    <a:pt x="426" y="1292"/>
                    <a:pt x="424" y="1292"/>
                    <a:pt x="423" y="1291"/>
                  </a:cubicBezTo>
                  <a:cubicBezTo>
                    <a:pt x="423" y="1291"/>
                    <a:pt x="423" y="1291"/>
                    <a:pt x="423" y="1291"/>
                  </a:cubicBezTo>
                  <a:cubicBezTo>
                    <a:pt x="422" y="1291"/>
                    <a:pt x="420" y="1290"/>
                    <a:pt x="419" y="1290"/>
                  </a:cubicBezTo>
                  <a:cubicBezTo>
                    <a:pt x="419" y="1290"/>
                    <a:pt x="419" y="1290"/>
                    <a:pt x="419" y="1290"/>
                  </a:cubicBezTo>
                  <a:cubicBezTo>
                    <a:pt x="418" y="1290"/>
                    <a:pt x="416" y="1290"/>
                    <a:pt x="415" y="1290"/>
                  </a:cubicBezTo>
                  <a:cubicBezTo>
                    <a:pt x="413" y="1290"/>
                    <a:pt x="412" y="1290"/>
                    <a:pt x="411" y="1290"/>
                  </a:cubicBezTo>
                  <a:cubicBezTo>
                    <a:pt x="411" y="1290"/>
                    <a:pt x="411" y="1290"/>
                    <a:pt x="411" y="1290"/>
                  </a:cubicBezTo>
                  <a:cubicBezTo>
                    <a:pt x="409" y="1290"/>
                    <a:pt x="408" y="1291"/>
                    <a:pt x="407" y="1291"/>
                  </a:cubicBezTo>
                  <a:cubicBezTo>
                    <a:pt x="407" y="1291"/>
                    <a:pt x="406" y="1291"/>
                    <a:pt x="406" y="1291"/>
                  </a:cubicBezTo>
                  <a:cubicBezTo>
                    <a:pt x="405" y="1292"/>
                    <a:pt x="404" y="1292"/>
                    <a:pt x="403" y="1293"/>
                  </a:cubicBezTo>
                  <a:cubicBezTo>
                    <a:pt x="403" y="1293"/>
                    <a:pt x="403" y="1293"/>
                    <a:pt x="403" y="1293"/>
                  </a:cubicBezTo>
                  <a:cubicBezTo>
                    <a:pt x="401" y="1294"/>
                    <a:pt x="400" y="1295"/>
                    <a:pt x="399" y="1296"/>
                  </a:cubicBezTo>
                  <a:cubicBezTo>
                    <a:pt x="399" y="1296"/>
                    <a:pt x="399" y="1296"/>
                    <a:pt x="399" y="1296"/>
                  </a:cubicBezTo>
                  <a:cubicBezTo>
                    <a:pt x="345" y="1350"/>
                    <a:pt x="345" y="1350"/>
                    <a:pt x="345" y="1350"/>
                  </a:cubicBezTo>
                  <a:cubicBezTo>
                    <a:pt x="337" y="1359"/>
                    <a:pt x="337" y="1372"/>
                    <a:pt x="345" y="1381"/>
                  </a:cubicBezTo>
                  <a:cubicBezTo>
                    <a:pt x="354" y="1390"/>
                    <a:pt x="368" y="1390"/>
                    <a:pt x="376" y="1381"/>
                  </a:cubicBezTo>
                  <a:cubicBezTo>
                    <a:pt x="393" y="1365"/>
                    <a:pt x="393" y="1365"/>
                    <a:pt x="393" y="1365"/>
                  </a:cubicBezTo>
                  <a:cubicBezTo>
                    <a:pt x="393" y="1431"/>
                    <a:pt x="393" y="1431"/>
                    <a:pt x="393" y="1431"/>
                  </a:cubicBezTo>
                  <a:cubicBezTo>
                    <a:pt x="393" y="1443"/>
                    <a:pt x="403" y="1453"/>
                    <a:pt x="415" y="1453"/>
                  </a:cubicBezTo>
                  <a:cubicBezTo>
                    <a:pt x="427" y="1453"/>
                    <a:pt x="437" y="1443"/>
                    <a:pt x="437" y="1431"/>
                  </a:cubicBezTo>
                  <a:cubicBezTo>
                    <a:pt x="437" y="1365"/>
                    <a:pt x="437" y="1365"/>
                    <a:pt x="437" y="1365"/>
                  </a:cubicBezTo>
                  <a:cubicBezTo>
                    <a:pt x="453" y="1381"/>
                    <a:pt x="453" y="1381"/>
                    <a:pt x="453" y="1381"/>
                  </a:cubicBezTo>
                  <a:cubicBezTo>
                    <a:pt x="457" y="1385"/>
                    <a:pt x="463" y="1387"/>
                    <a:pt x="469" y="1387"/>
                  </a:cubicBezTo>
                  <a:cubicBezTo>
                    <a:pt x="474" y="1387"/>
                    <a:pt x="480" y="1385"/>
                    <a:pt x="484" y="1381"/>
                  </a:cubicBezTo>
                  <a:cubicBezTo>
                    <a:pt x="493" y="1372"/>
                    <a:pt x="493" y="1359"/>
                    <a:pt x="484" y="1350"/>
                  </a:cubicBezTo>
                  <a:close/>
                  <a:moveTo>
                    <a:pt x="1132" y="1135"/>
                  </a:moveTo>
                  <a:cubicBezTo>
                    <a:pt x="1132" y="1479"/>
                    <a:pt x="1132" y="1479"/>
                    <a:pt x="1132" y="1479"/>
                  </a:cubicBezTo>
                  <a:cubicBezTo>
                    <a:pt x="1132" y="1485"/>
                    <a:pt x="1128" y="1489"/>
                    <a:pt x="1122" y="1489"/>
                  </a:cubicBezTo>
                  <a:cubicBezTo>
                    <a:pt x="581" y="1489"/>
                    <a:pt x="581" y="1489"/>
                    <a:pt x="581" y="1489"/>
                  </a:cubicBezTo>
                  <a:cubicBezTo>
                    <a:pt x="575" y="1489"/>
                    <a:pt x="571" y="1485"/>
                    <a:pt x="571" y="1479"/>
                  </a:cubicBezTo>
                  <a:cubicBezTo>
                    <a:pt x="571" y="1135"/>
                    <a:pt x="571" y="1135"/>
                    <a:pt x="571" y="1135"/>
                  </a:cubicBezTo>
                  <a:cubicBezTo>
                    <a:pt x="571" y="1130"/>
                    <a:pt x="575" y="1125"/>
                    <a:pt x="581" y="1125"/>
                  </a:cubicBezTo>
                  <a:cubicBezTo>
                    <a:pt x="1122" y="1125"/>
                    <a:pt x="1122" y="1125"/>
                    <a:pt x="1122" y="1125"/>
                  </a:cubicBezTo>
                  <a:cubicBezTo>
                    <a:pt x="1128" y="1125"/>
                    <a:pt x="1132" y="1130"/>
                    <a:pt x="1132" y="1135"/>
                  </a:cubicBezTo>
                  <a:close/>
                  <a:moveTo>
                    <a:pt x="1090" y="1350"/>
                  </a:moveTo>
                  <a:cubicBezTo>
                    <a:pt x="1036" y="1296"/>
                    <a:pt x="1036" y="1296"/>
                    <a:pt x="1036" y="1296"/>
                  </a:cubicBezTo>
                  <a:cubicBezTo>
                    <a:pt x="1036" y="1296"/>
                    <a:pt x="1036" y="1296"/>
                    <a:pt x="1036" y="1296"/>
                  </a:cubicBezTo>
                  <a:cubicBezTo>
                    <a:pt x="1035" y="1295"/>
                    <a:pt x="1034" y="1294"/>
                    <a:pt x="1032" y="1293"/>
                  </a:cubicBezTo>
                  <a:cubicBezTo>
                    <a:pt x="1032" y="1293"/>
                    <a:pt x="1032" y="1293"/>
                    <a:pt x="1032" y="1293"/>
                  </a:cubicBezTo>
                  <a:cubicBezTo>
                    <a:pt x="1031" y="1292"/>
                    <a:pt x="1030" y="1292"/>
                    <a:pt x="1029" y="1291"/>
                  </a:cubicBezTo>
                  <a:cubicBezTo>
                    <a:pt x="1029" y="1291"/>
                    <a:pt x="1028" y="1291"/>
                    <a:pt x="1028" y="1291"/>
                  </a:cubicBezTo>
                  <a:cubicBezTo>
                    <a:pt x="1027" y="1291"/>
                    <a:pt x="1026" y="1290"/>
                    <a:pt x="1024" y="1290"/>
                  </a:cubicBezTo>
                  <a:cubicBezTo>
                    <a:pt x="1024" y="1290"/>
                    <a:pt x="1024" y="1290"/>
                    <a:pt x="1024" y="1290"/>
                  </a:cubicBezTo>
                  <a:cubicBezTo>
                    <a:pt x="1023" y="1290"/>
                    <a:pt x="1022" y="1290"/>
                    <a:pt x="1020" y="1290"/>
                  </a:cubicBezTo>
                  <a:cubicBezTo>
                    <a:pt x="1019" y="1290"/>
                    <a:pt x="1017" y="1290"/>
                    <a:pt x="1016" y="1290"/>
                  </a:cubicBezTo>
                  <a:cubicBezTo>
                    <a:pt x="1016" y="1290"/>
                    <a:pt x="1016" y="1290"/>
                    <a:pt x="1016" y="1290"/>
                  </a:cubicBezTo>
                  <a:cubicBezTo>
                    <a:pt x="1015" y="1290"/>
                    <a:pt x="1013" y="1291"/>
                    <a:pt x="1012" y="1291"/>
                  </a:cubicBezTo>
                  <a:cubicBezTo>
                    <a:pt x="1012" y="1291"/>
                    <a:pt x="1012" y="1291"/>
                    <a:pt x="1012" y="1291"/>
                  </a:cubicBezTo>
                  <a:cubicBezTo>
                    <a:pt x="1011" y="1292"/>
                    <a:pt x="1009" y="1292"/>
                    <a:pt x="1008" y="1293"/>
                  </a:cubicBezTo>
                  <a:cubicBezTo>
                    <a:pt x="1008" y="1293"/>
                    <a:pt x="1008" y="1293"/>
                    <a:pt x="1008" y="1293"/>
                  </a:cubicBezTo>
                  <a:cubicBezTo>
                    <a:pt x="1007" y="1294"/>
                    <a:pt x="1006" y="1295"/>
                    <a:pt x="1005" y="1296"/>
                  </a:cubicBezTo>
                  <a:cubicBezTo>
                    <a:pt x="1005" y="1296"/>
                    <a:pt x="1005" y="1296"/>
                    <a:pt x="1005" y="1296"/>
                  </a:cubicBezTo>
                  <a:cubicBezTo>
                    <a:pt x="951" y="1350"/>
                    <a:pt x="951" y="1350"/>
                    <a:pt x="951" y="1350"/>
                  </a:cubicBezTo>
                  <a:cubicBezTo>
                    <a:pt x="942" y="1359"/>
                    <a:pt x="942" y="1372"/>
                    <a:pt x="951" y="1381"/>
                  </a:cubicBezTo>
                  <a:cubicBezTo>
                    <a:pt x="959" y="1390"/>
                    <a:pt x="973" y="1390"/>
                    <a:pt x="982" y="1381"/>
                  </a:cubicBezTo>
                  <a:cubicBezTo>
                    <a:pt x="998" y="1365"/>
                    <a:pt x="998" y="1365"/>
                    <a:pt x="998" y="1365"/>
                  </a:cubicBezTo>
                  <a:cubicBezTo>
                    <a:pt x="998" y="1431"/>
                    <a:pt x="998" y="1431"/>
                    <a:pt x="998" y="1431"/>
                  </a:cubicBezTo>
                  <a:cubicBezTo>
                    <a:pt x="998" y="1443"/>
                    <a:pt x="1008" y="1453"/>
                    <a:pt x="1020" y="1453"/>
                  </a:cubicBezTo>
                  <a:cubicBezTo>
                    <a:pt x="1032" y="1453"/>
                    <a:pt x="1042" y="1443"/>
                    <a:pt x="1042" y="1431"/>
                  </a:cubicBezTo>
                  <a:cubicBezTo>
                    <a:pt x="1042" y="1365"/>
                    <a:pt x="1042" y="1365"/>
                    <a:pt x="1042" y="1365"/>
                  </a:cubicBezTo>
                  <a:cubicBezTo>
                    <a:pt x="1059" y="1381"/>
                    <a:pt x="1059" y="1381"/>
                    <a:pt x="1059" y="1381"/>
                  </a:cubicBezTo>
                  <a:cubicBezTo>
                    <a:pt x="1063" y="1385"/>
                    <a:pt x="1069" y="1387"/>
                    <a:pt x="1074" y="1387"/>
                  </a:cubicBezTo>
                  <a:cubicBezTo>
                    <a:pt x="1080" y="1387"/>
                    <a:pt x="1085" y="1385"/>
                    <a:pt x="1090" y="1381"/>
                  </a:cubicBezTo>
                  <a:cubicBezTo>
                    <a:pt x="1098" y="1372"/>
                    <a:pt x="1098" y="1359"/>
                    <a:pt x="1090" y="1350"/>
                  </a:cubicBezTo>
                  <a:close/>
                  <a:moveTo>
                    <a:pt x="1037" y="10"/>
                  </a:moveTo>
                  <a:cubicBezTo>
                    <a:pt x="1037" y="589"/>
                    <a:pt x="1037" y="589"/>
                    <a:pt x="1037" y="589"/>
                  </a:cubicBezTo>
                  <a:cubicBezTo>
                    <a:pt x="1037" y="594"/>
                    <a:pt x="1032" y="599"/>
                    <a:pt x="1027" y="599"/>
                  </a:cubicBezTo>
                  <a:cubicBezTo>
                    <a:pt x="477" y="599"/>
                    <a:pt x="477" y="599"/>
                    <a:pt x="477" y="599"/>
                  </a:cubicBezTo>
                  <a:cubicBezTo>
                    <a:pt x="472" y="599"/>
                    <a:pt x="467" y="594"/>
                    <a:pt x="467" y="589"/>
                  </a:cubicBezTo>
                  <a:cubicBezTo>
                    <a:pt x="467" y="10"/>
                    <a:pt x="467" y="10"/>
                    <a:pt x="467" y="10"/>
                  </a:cubicBezTo>
                  <a:cubicBezTo>
                    <a:pt x="467" y="5"/>
                    <a:pt x="472" y="0"/>
                    <a:pt x="477" y="0"/>
                  </a:cubicBezTo>
                  <a:cubicBezTo>
                    <a:pt x="1027" y="0"/>
                    <a:pt x="1027" y="0"/>
                    <a:pt x="1027" y="0"/>
                  </a:cubicBezTo>
                  <a:cubicBezTo>
                    <a:pt x="1032" y="0"/>
                    <a:pt x="1037" y="5"/>
                    <a:pt x="1037" y="10"/>
                  </a:cubicBezTo>
                  <a:close/>
                  <a:moveTo>
                    <a:pt x="994" y="459"/>
                  </a:moveTo>
                  <a:cubicBezTo>
                    <a:pt x="940" y="405"/>
                    <a:pt x="940" y="405"/>
                    <a:pt x="940" y="405"/>
                  </a:cubicBezTo>
                  <a:cubicBezTo>
                    <a:pt x="940" y="405"/>
                    <a:pt x="940" y="405"/>
                    <a:pt x="940" y="405"/>
                  </a:cubicBezTo>
                  <a:cubicBezTo>
                    <a:pt x="939" y="404"/>
                    <a:pt x="938" y="403"/>
                    <a:pt x="937" y="403"/>
                  </a:cubicBezTo>
                  <a:cubicBezTo>
                    <a:pt x="937" y="403"/>
                    <a:pt x="937" y="402"/>
                    <a:pt x="937" y="402"/>
                  </a:cubicBezTo>
                  <a:cubicBezTo>
                    <a:pt x="935" y="402"/>
                    <a:pt x="934" y="401"/>
                    <a:pt x="933" y="401"/>
                  </a:cubicBezTo>
                  <a:cubicBezTo>
                    <a:pt x="933" y="400"/>
                    <a:pt x="933" y="400"/>
                    <a:pt x="933" y="400"/>
                  </a:cubicBezTo>
                  <a:cubicBezTo>
                    <a:pt x="932" y="400"/>
                    <a:pt x="930" y="400"/>
                    <a:pt x="929" y="399"/>
                  </a:cubicBezTo>
                  <a:cubicBezTo>
                    <a:pt x="929" y="399"/>
                    <a:pt x="929" y="399"/>
                    <a:pt x="929" y="399"/>
                  </a:cubicBezTo>
                  <a:cubicBezTo>
                    <a:pt x="927" y="399"/>
                    <a:pt x="926" y="399"/>
                    <a:pt x="925" y="399"/>
                  </a:cubicBezTo>
                  <a:cubicBezTo>
                    <a:pt x="923" y="399"/>
                    <a:pt x="922" y="399"/>
                    <a:pt x="921" y="399"/>
                  </a:cubicBezTo>
                  <a:cubicBezTo>
                    <a:pt x="921" y="399"/>
                    <a:pt x="920" y="399"/>
                    <a:pt x="920" y="399"/>
                  </a:cubicBezTo>
                  <a:cubicBezTo>
                    <a:pt x="919" y="400"/>
                    <a:pt x="918" y="400"/>
                    <a:pt x="917" y="400"/>
                  </a:cubicBezTo>
                  <a:cubicBezTo>
                    <a:pt x="916" y="400"/>
                    <a:pt x="916" y="400"/>
                    <a:pt x="916" y="401"/>
                  </a:cubicBezTo>
                  <a:cubicBezTo>
                    <a:pt x="915" y="401"/>
                    <a:pt x="914" y="402"/>
                    <a:pt x="913" y="402"/>
                  </a:cubicBezTo>
                  <a:cubicBezTo>
                    <a:pt x="913" y="402"/>
                    <a:pt x="913" y="403"/>
                    <a:pt x="913" y="403"/>
                  </a:cubicBezTo>
                  <a:cubicBezTo>
                    <a:pt x="911" y="403"/>
                    <a:pt x="910" y="404"/>
                    <a:pt x="909" y="405"/>
                  </a:cubicBezTo>
                  <a:cubicBezTo>
                    <a:pt x="909" y="405"/>
                    <a:pt x="909" y="405"/>
                    <a:pt x="909" y="405"/>
                  </a:cubicBezTo>
                  <a:cubicBezTo>
                    <a:pt x="855" y="459"/>
                    <a:pt x="855" y="459"/>
                    <a:pt x="855" y="459"/>
                  </a:cubicBezTo>
                  <a:cubicBezTo>
                    <a:pt x="847" y="468"/>
                    <a:pt x="847" y="482"/>
                    <a:pt x="855" y="490"/>
                  </a:cubicBezTo>
                  <a:cubicBezTo>
                    <a:pt x="864" y="499"/>
                    <a:pt x="878" y="499"/>
                    <a:pt x="886" y="490"/>
                  </a:cubicBezTo>
                  <a:cubicBezTo>
                    <a:pt x="903" y="474"/>
                    <a:pt x="903" y="474"/>
                    <a:pt x="903" y="474"/>
                  </a:cubicBezTo>
                  <a:cubicBezTo>
                    <a:pt x="903" y="541"/>
                    <a:pt x="903" y="541"/>
                    <a:pt x="903" y="541"/>
                  </a:cubicBezTo>
                  <a:cubicBezTo>
                    <a:pt x="903" y="553"/>
                    <a:pt x="913" y="563"/>
                    <a:pt x="925" y="563"/>
                  </a:cubicBezTo>
                  <a:cubicBezTo>
                    <a:pt x="937" y="563"/>
                    <a:pt x="947" y="553"/>
                    <a:pt x="947" y="541"/>
                  </a:cubicBezTo>
                  <a:cubicBezTo>
                    <a:pt x="947" y="474"/>
                    <a:pt x="947" y="474"/>
                    <a:pt x="947" y="474"/>
                  </a:cubicBezTo>
                  <a:cubicBezTo>
                    <a:pt x="963" y="490"/>
                    <a:pt x="963" y="490"/>
                    <a:pt x="963" y="490"/>
                  </a:cubicBezTo>
                  <a:cubicBezTo>
                    <a:pt x="967" y="495"/>
                    <a:pt x="973" y="497"/>
                    <a:pt x="979" y="497"/>
                  </a:cubicBezTo>
                  <a:cubicBezTo>
                    <a:pt x="984" y="497"/>
                    <a:pt x="990" y="495"/>
                    <a:pt x="994" y="490"/>
                  </a:cubicBezTo>
                  <a:cubicBezTo>
                    <a:pt x="1003" y="482"/>
                    <a:pt x="1003" y="468"/>
                    <a:pt x="994" y="459"/>
                  </a:cubicBezTo>
                  <a:close/>
                  <a:moveTo>
                    <a:pt x="1784" y="247"/>
                  </a:moveTo>
                  <a:cubicBezTo>
                    <a:pt x="1784" y="589"/>
                    <a:pt x="1784" y="589"/>
                    <a:pt x="1784" y="589"/>
                  </a:cubicBezTo>
                  <a:cubicBezTo>
                    <a:pt x="1784" y="594"/>
                    <a:pt x="1780" y="599"/>
                    <a:pt x="1774" y="599"/>
                  </a:cubicBezTo>
                  <a:cubicBezTo>
                    <a:pt x="1335" y="599"/>
                    <a:pt x="1335" y="599"/>
                    <a:pt x="1335" y="599"/>
                  </a:cubicBezTo>
                  <a:cubicBezTo>
                    <a:pt x="1330" y="599"/>
                    <a:pt x="1325" y="594"/>
                    <a:pt x="1325" y="589"/>
                  </a:cubicBezTo>
                  <a:cubicBezTo>
                    <a:pt x="1325" y="247"/>
                    <a:pt x="1325" y="247"/>
                    <a:pt x="1325" y="247"/>
                  </a:cubicBezTo>
                  <a:cubicBezTo>
                    <a:pt x="1325" y="242"/>
                    <a:pt x="1330" y="237"/>
                    <a:pt x="1335" y="237"/>
                  </a:cubicBezTo>
                  <a:cubicBezTo>
                    <a:pt x="1774" y="237"/>
                    <a:pt x="1774" y="237"/>
                    <a:pt x="1774" y="237"/>
                  </a:cubicBezTo>
                  <a:cubicBezTo>
                    <a:pt x="1780" y="237"/>
                    <a:pt x="1784" y="242"/>
                    <a:pt x="1784" y="247"/>
                  </a:cubicBezTo>
                  <a:close/>
                  <a:moveTo>
                    <a:pt x="1741" y="459"/>
                  </a:moveTo>
                  <a:cubicBezTo>
                    <a:pt x="1688" y="405"/>
                    <a:pt x="1688" y="405"/>
                    <a:pt x="1688" y="405"/>
                  </a:cubicBezTo>
                  <a:cubicBezTo>
                    <a:pt x="1688" y="405"/>
                    <a:pt x="1688" y="405"/>
                    <a:pt x="1688" y="405"/>
                  </a:cubicBezTo>
                  <a:cubicBezTo>
                    <a:pt x="1687" y="404"/>
                    <a:pt x="1685" y="403"/>
                    <a:pt x="1684" y="403"/>
                  </a:cubicBezTo>
                  <a:cubicBezTo>
                    <a:pt x="1684" y="403"/>
                    <a:pt x="1684" y="402"/>
                    <a:pt x="1684" y="402"/>
                  </a:cubicBezTo>
                  <a:cubicBezTo>
                    <a:pt x="1683" y="402"/>
                    <a:pt x="1682" y="401"/>
                    <a:pt x="1680" y="401"/>
                  </a:cubicBezTo>
                  <a:cubicBezTo>
                    <a:pt x="1680" y="400"/>
                    <a:pt x="1680" y="400"/>
                    <a:pt x="1680" y="400"/>
                  </a:cubicBezTo>
                  <a:cubicBezTo>
                    <a:pt x="1679" y="400"/>
                    <a:pt x="1678" y="400"/>
                    <a:pt x="1676" y="399"/>
                  </a:cubicBezTo>
                  <a:cubicBezTo>
                    <a:pt x="1676" y="399"/>
                    <a:pt x="1676" y="399"/>
                    <a:pt x="1676" y="399"/>
                  </a:cubicBezTo>
                  <a:cubicBezTo>
                    <a:pt x="1675" y="399"/>
                    <a:pt x="1673" y="399"/>
                    <a:pt x="1672" y="399"/>
                  </a:cubicBezTo>
                  <a:cubicBezTo>
                    <a:pt x="1671" y="399"/>
                    <a:pt x="1669" y="399"/>
                    <a:pt x="1668" y="399"/>
                  </a:cubicBezTo>
                  <a:cubicBezTo>
                    <a:pt x="1668" y="399"/>
                    <a:pt x="1668" y="399"/>
                    <a:pt x="1668" y="399"/>
                  </a:cubicBezTo>
                  <a:cubicBezTo>
                    <a:pt x="1666" y="400"/>
                    <a:pt x="1665" y="400"/>
                    <a:pt x="1664" y="400"/>
                  </a:cubicBezTo>
                  <a:cubicBezTo>
                    <a:pt x="1664" y="400"/>
                    <a:pt x="1664" y="400"/>
                    <a:pt x="1664" y="401"/>
                  </a:cubicBezTo>
                  <a:cubicBezTo>
                    <a:pt x="1662" y="401"/>
                    <a:pt x="1661" y="402"/>
                    <a:pt x="1660" y="402"/>
                  </a:cubicBezTo>
                  <a:cubicBezTo>
                    <a:pt x="1660" y="402"/>
                    <a:pt x="1660" y="403"/>
                    <a:pt x="1660" y="403"/>
                  </a:cubicBezTo>
                  <a:cubicBezTo>
                    <a:pt x="1659" y="403"/>
                    <a:pt x="1657" y="404"/>
                    <a:pt x="1656" y="405"/>
                  </a:cubicBezTo>
                  <a:cubicBezTo>
                    <a:pt x="1656" y="405"/>
                    <a:pt x="1656" y="405"/>
                    <a:pt x="1656" y="405"/>
                  </a:cubicBezTo>
                  <a:cubicBezTo>
                    <a:pt x="1603" y="459"/>
                    <a:pt x="1603" y="459"/>
                    <a:pt x="1603" y="459"/>
                  </a:cubicBezTo>
                  <a:cubicBezTo>
                    <a:pt x="1594" y="468"/>
                    <a:pt x="1594" y="482"/>
                    <a:pt x="1603" y="490"/>
                  </a:cubicBezTo>
                  <a:cubicBezTo>
                    <a:pt x="1611" y="499"/>
                    <a:pt x="1625" y="499"/>
                    <a:pt x="1634" y="490"/>
                  </a:cubicBezTo>
                  <a:cubicBezTo>
                    <a:pt x="1650" y="474"/>
                    <a:pt x="1650" y="474"/>
                    <a:pt x="1650" y="474"/>
                  </a:cubicBezTo>
                  <a:cubicBezTo>
                    <a:pt x="1650" y="541"/>
                    <a:pt x="1650" y="541"/>
                    <a:pt x="1650" y="541"/>
                  </a:cubicBezTo>
                  <a:cubicBezTo>
                    <a:pt x="1650" y="553"/>
                    <a:pt x="1660" y="563"/>
                    <a:pt x="1672" y="563"/>
                  </a:cubicBezTo>
                  <a:cubicBezTo>
                    <a:pt x="1684" y="563"/>
                    <a:pt x="1694" y="553"/>
                    <a:pt x="1694" y="541"/>
                  </a:cubicBezTo>
                  <a:cubicBezTo>
                    <a:pt x="1694" y="474"/>
                    <a:pt x="1694" y="474"/>
                    <a:pt x="1694" y="474"/>
                  </a:cubicBezTo>
                  <a:cubicBezTo>
                    <a:pt x="1710" y="490"/>
                    <a:pt x="1710" y="490"/>
                    <a:pt x="1710" y="490"/>
                  </a:cubicBezTo>
                  <a:cubicBezTo>
                    <a:pt x="1715" y="495"/>
                    <a:pt x="1720" y="497"/>
                    <a:pt x="1726" y="497"/>
                  </a:cubicBezTo>
                  <a:cubicBezTo>
                    <a:pt x="1732" y="497"/>
                    <a:pt x="1737" y="495"/>
                    <a:pt x="1741" y="490"/>
                  </a:cubicBezTo>
                  <a:cubicBezTo>
                    <a:pt x="1750" y="482"/>
                    <a:pt x="1750" y="468"/>
                    <a:pt x="1741" y="459"/>
                  </a:cubicBezTo>
                  <a:close/>
                  <a:moveTo>
                    <a:pt x="423" y="247"/>
                  </a:moveTo>
                  <a:cubicBezTo>
                    <a:pt x="423" y="589"/>
                    <a:pt x="423" y="589"/>
                    <a:pt x="423" y="589"/>
                  </a:cubicBezTo>
                  <a:cubicBezTo>
                    <a:pt x="423" y="594"/>
                    <a:pt x="419" y="599"/>
                    <a:pt x="413" y="599"/>
                  </a:cubicBezTo>
                  <a:cubicBezTo>
                    <a:pt x="10" y="599"/>
                    <a:pt x="10" y="599"/>
                    <a:pt x="10" y="599"/>
                  </a:cubicBezTo>
                  <a:cubicBezTo>
                    <a:pt x="4" y="599"/>
                    <a:pt x="0" y="594"/>
                    <a:pt x="0" y="589"/>
                  </a:cubicBezTo>
                  <a:cubicBezTo>
                    <a:pt x="0" y="247"/>
                    <a:pt x="0" y="247"/>
                    <a:pt x="0" y="247"/>
                  </a:cubicBezTo>
                  <a:cubicBezTo>
                    <a:pt x="0" y="242"/>
                    <a:pt x="4" y="237"/>
                    <a:pt x="10" y="237"/>
                  </a:cubicBezTo>
                  <a:cubicBezTo>
                    <a:pt x="413" y="237"/>
                    <a:pt x="413" y="237"/>
                    <a:pt x="413" y="237"/>
                  </a:cubicBezTo>
                  <a:cubicBezTo>
                    <a:pt x="419" y="237"/>
                    <a:pt x="423" y="242"/>
                    <a:pt x="423" y="247"/>
                  </a:cubicBezTo>
                  <a:close/>
                  <a:moveTo>
                    <a:pt x="381" y="459"/>
                  </a:moveTo>
                  <a:cubicBezTo>
                    <a:pt x="327" y="405"/>
                    <a:pt x="327" y="405"/>
                    <a:pt x="327" y="405"/>
                  </a:cubicBezTo>
                  <a:cubicBezTo>
                    <a:pt x="327" y="405"/>
                    <a:pt x="327" y="405"/>
                    <a:pt x="327" y="405"/>
                  </a:cubicBezTo>
                  <a:cubicBezTo>
                    <a:pt x="326" y="404"/>
                    <a:pt x="325" y="403"/>
                    <a:pt x="324" y="403"/>
                  </a:cubicBezTo>
                  <a:cubicBezTo>
                    <a:pt x="323" y="403"/>
                    <a:pt x="323" y="402"/>
                    <a:pt x="323" y="402"/>
                  </a:cubicBezTo>
                  <a:cubicBezTo>
                    <a:pt x="322" y="402"/>
                    <a:pt x="321" y="401"/>
                    <a:pt x="320" y="401"/>
                  </a:cubicBezTo>
                  <a:cubicBezTo>
                    <a:pt x="320" y="400"/>
                    <a:pt x="320" y="400"/>
                    <a:pt x="319" y="400"/>
                  </a:cubicBezTo>
                  <a:cubicBezTo>
                    <a:pt x="318" y="400"/>
                    <a:pt x="317" y="400"/>
                    <a:pt x="316" y="399"/>
                  </a:cubicBezTo>
                  <a:cubicBezTo>
                    <a:pt x="316" y="399"/>
                    <a:pt x="315" y="399"/>
                    <a:pt x="315" y="399"/>
                  </a:cubicBezTo>
                  <a:cubicBezTo>
                    <a:pt x="314" y="399"/>
                    <a:pt x="313" y="399"/>
                    <a:pt x="311" y="399"/>
                  </a:cubicBezTo>
                  <a:cubicBezTo>
                    <a:pt x="310" y="399"/>
                    <a:pt x="309" y="399"/>
                    <a:pt x="307" y="399"/>
                  </a:cubicBezTo>
                  <a:cubicBezTo>
                    <a:pt x="307" y="399"/>
                    <a:pt x="307" y="399"/>
                    <a:pt x="307" y="399"/>
                  </a:cubicBezTo>
                  <a:cubicBezTo>
                    <a:pt x="306" y="400"/>
                    <a:pt x="304" y="400"/>
                    <a:pt x="303" y="400"/>
                  </a:cubicBezTo>
                  <a:cubicBezTo>
                    <a:pt x="303" y="400"/>
                    <a:pt x="303" y="400"/>
                    <a:pt x="303" y="401"/>
                  </a:cubicBezTo>
                  <a:cubicBezTo>
                    <a:pt x="302" y="401"/>
                    <a:pt x="301" y="402"/>
                    <a:pt x="299" y="402"/>
                  </a:cubicBezTo>
                  <a:cubicBezTo>
                    <a:pt x="299" y="402"/>
                    <a:pt x="299" y="403"/>
                    <a:pt x="299" y="403"/>
                  </a:cubicBezTo>
                  <a:cubicBezTo>
                    <a:pt x="298" y="403"/>
                    <a:pt x="297" y="404"/>
                    <a:pt x="296" y="405"/>
                  </a:cubicBezTo>
                  <a:cubicBezTo>
                    <a:pt x="296" y="405"/>
                    <a:pt x="296" y="405"/>
                    <a:pt x="296" y="405"/>
                  </a:cubicBezTo>
                  <a:cubicBezTo>
                    <a:pt x="242" y="459"/>
                    <a:pt x="242" y="459"/>
                    <a:pt x="242" y="459"/>
                  </a:cubicBezTo>
                  <a:cubicBezTo>
                    <a:pt x="233" y="468"/>
                    <a:pt x="233" y="482"/>
                    <a:pt x="242" y="490"/>
                  </a:cubicBezTo>
                  <a:cubicBezTo>
                    <a:pt x="250" y="499"/>
                    <a:pt x="264" y="499"/>
                    <a:pt x="273" y="490"/>
                  </a:cubicBezTo>
                  <a:cubicBezTo>
                    <a:pt x="289" y="474"/>
                    <a:pt x="289" y="474"/>
                    <a:pt x="289" y="474"/>
                  </a:cubicBezTo>
                  <a:cubicBezTo>
                    <a:pt x="289" y="541"/>
                    <a:pt x="289" y="541"/>
                    <a:pt x="289" y="541"/>
                  </a:cubicBezTo>
                  <a:cubicBezTo>
                    <a:pt x="289" y="553"/>
                    <a:pt x="299" y="563"/>
                    <a:pt x="311" y="563"/>
                  </a:cubicBezTo>
                  <a:cubicBezTo>
                    <a:pt x="323" y="563"/>
                    <a:pt x="333" y="553"/>
                    <a:pt x="333" y="541"/>
                  </a:cubicBezTo>
                  <a:cubicBezTo>
                    <a:pt x="333" y="474"/>
                    <a:pt x="333" y="474"/>
                    <a:pt x="333" y="474"/>
                  </a:cubicBezTo>
                  <a:cubicBezTo>
                    <a:pt x="350" y="490"/>
                    <a:pt x="350" y="490"/>
                    <a:pt x="350" y="490"/>
                  </a:cubicBezTo>
                  <a:cubicBezTo>
                    <a:pt x="354" y="495"/>
                    <a:pt x="360" y="497"/>
                    <a:pt x="365" y="497"/>
                  </a:cubicBezTo>
                  <a:cubicBezTo>
                    <a:pt x="371" y="497"/>
                    <a:pt x="377" y="495"/>
                    <a:pt x="381" y="490"/>
                  </a:cubicBezTo>
                  <a:cubicBezTo>
                    <a:pt x="389" y="482"/>
                    <a:pt x="389" y="468"/>
                    <a:pt x="381" y="459"/>
                  </a:cubicBezTo>
                  <a:close/>
                  <a:moveTo>
                    <a:pt x="1784" y="963"/>
                  </a:moveTo>
                  <a:cubicBezTo>
                    <a:pt x="1784" y="1479"/>
                    <a:pt x="1784" y="1479"/>
                    <a:pt x="1784" y="1479"/>
                  </a:cubicBezTo>
                  <a:cubicBezTo>
                    <a:pt x="1784" y="1485"/>
                    <a:pt x="1780" y="1489"/>
                    <a:pt x="1774" y="1489"/>
                  </a:cubicBezTo>
                  <a:cubicBezTo>
                    <a:pt x="1186" y="1489"/>
                    <a:pt x="1186" y="1489"/>
                    <a:pt x="1186" y="1489"/>
                  </a:cubicBezTo>
                  <a:cubicBezTo>
                    <a:pt x="1181" y="1489"/>
                    <a:pt x="1176" y="1485"/>
                    <a:pt x="1176" y="1479"/>
                  </a:cubicBezTo>
                  <a:cubicBezTo>
                    <a:pt x="1176" y="963"/>
                    <a:pt x="1176" y="963"/>
                    <a:pt x="1176" y="963"/>
                  </a:cubicBezTo>
                  <a:cubicBezTo>
                    <a:pt x="1176" y="958"/>
                    <a:pt x="1181" y="953"/>
                    <a:pt x="1186" y="953"/>
                  </a:cubicBezTo>
                  <a:cubicBezTo>
                    <a:pt x="1774" y="953"/>
                    <a:pt x="1774" y="953"/>
                    <a:pt x="1774" y="953"/>
                  </a:cubicBezTo>
                  <a:cubicBezTo>
                    <a:pt x="1780" y="953"/>
                    <a:pt x="1784" y="958"/>
                    <a:pt x="1784" y="963"/>
                  </a:cubicBezTo>
                  <a:close/>
                  <a:moveTo>
                    <a:pt x="1741" y="1350"/>
                  </a:moveTo>
                  <a:cubicBezTo>
                    <a:pt x="1688" y="1296"/>
                    <a:pt x="1688" y="1296"/>
                    <a:pt x="1688" y="1296"/>
                  </a:cubicBezTo>
                  <a:cubicBezTo>
                    <a:pt x="1688" y="1296"/>
                    <a:pt x="1688" y="1296"/>
                    <a:pt x="1688" y="1296"/>
                  </a:cubicBezTo>
                  <a:cubicBezTo>
                    <a:pt x="1687" y="1295"/>
                    <a:pt x="1685" y="1294"/>
                    <a:pt x="1684" y="1293"/>
                  </a:cubicBezTo>
                  <a:cubicBezTo>
                    <a:pt x="1684" y="1293"/>
                    <a:pt x="1684" y="1293"/>
                    <a:pt x="1684" y="1293"/>
                  </a:cubicBezTo>
                  <a:cubicBezTo>
                    <a:pt x="1683" y="1292"/>
                    <a:pt x="1682" y="1292"/>
                    <a:pt x="1680" y="1291"/>
                  </a:cubicBezTo>
                  <a:cubicBezTo>
                    <a:pt x="1680" y="1291"/>
                    <a:pt x="1680" y="1291"/>
                    <a:pt x="1680" y="1291"/>
                  </a:cubicBezTo>
                  <a:cubicBezTo>
                    <a:pt x="1679" y="1291"/>
                    <a:pt x="1678" y="1290"/>
                    <a:pt x="1676" y="1290"/>
                  </a:cubicBezTo>
                  <a:cubicBezTo>
                    <a:pt x="1676" y="1290"/>
                    <a:pt x="1676" y="1290"/>
                    <a:pt x="1676" y="1290"/>
                  </a:cubicBezTo>
                  <a:cubicBezTo>
                    <a:pt x="1675" y="1290"/>
                    <a:pt x="1673" y="1290"/>
                    <a:pt x="1672" y="1290"/>
                  </a:cubicBezTo>
                  <a:cubicBezTo>
                    <a:pt x="1671" y="1290"/>
                    <a:pt x="1669" y="1290"/>
                    <a:pt x="1668" y="1290"/>
                  </a:cubicBezTo>
                  <a:cubicBezTo>
                    <a:pt x="1668" y="1290"/>
                    <a:pt x="1668" y="1290"/>
                    <a:pt x="1668" y="1290"/>
                  </a:cubicBezTo>
                  <a:cubicBezTo>
                    <a:pt x="1666" y="1290"/>
                    <a:pt x="1665" y="1291"/>
                    <a:pt x="1664" y="1291"/>
                  </a:cubicBezTo>
                  <a:cubicBezTo>
                    <a:pt x="1664" y="1291"/>
                    <a:pt x="1664" y="1291"/>
                    <a:pt x="1664" y="1291"/>
                  </a:cubicBezTo>
                  <a:cubicBezTo>
                    <a:pt x="1662" y="1292"/>
                    <a:pt x="1661" y="1292"/>
                    <a:pt x="1660" y="1293"/>
                  </a:cubicBezTo>
                  <a:cubicBezTo>
                    <a:pt x="1660" y="1293"/>
                    <a:pt x="1660" y="1293"/>
                    <a:pt x="1660" y="1293"/>
                  </a:cubicBezTo>
                  <a:cubicBezTo>
                    <a:pt x="1659" y="1294"/>
                    <a:pt x="1658" y="1295"/>
                    <a:pt x="1656" y="1296"/>
                  </a:cubicBezTo>
                  <a:cubicBezTo>
                    <a:pt x="1656" y="1296"/>
                    <a:pt x="1656" y="1296"/>
                    <a:pt x="1656" y="1296"/>
                  </a:cubicBezTo>
                  <a:cubicBezTo>
                    <a:pt x="1603" y="1350"/>
                    <a:pt x="1603" y="1350"/>
                    <a:pt x="1603" y="1350"/>
                  </a:cubicBezTo>
                  <a:cubicBezTo>
                    <a:pt x="1594" y="1359"/>
                    <a:pt x="1594" y="1372"/>
                    <a:pt x="1603" y="1381"/>
                  </a:cubicBezTo>
                  <a:cubicBezTo>
                    <a:pt x="1611" y="1390"/>
                    <a:pt x="1625" y="1390"/>
                    <a:pt x="1634" y="1381"/>
                  </a:cubicBezTo>
                  <a:cubicBezTo>
                    <a:pt x="1650" y="1365"/>
                    <a:pt x="1650" y="1365"/>
                    <a:pt x="1650" y="1365"/>
                  </a:cubicBezTo>
                  <a:cubicBezTo>
                    <a:pt x="1650" y="1431"/>
                    <a:pt x="1650" y="1431"/>
                    <a:pt x="1650" y="1431"/>
                  </a:cubicBezTo>
                  <a:cubicBezTo>
                    <a:pt x="1650" y="1443"/>
                    <a:pt x="1660" y="1453"/>
                    <a:pt x="1672" y="1453"/>
                  </a:cubicBezTo>
                  <a:cubicBezTo>
                    <a:pt x="1684" y="1453"/>
                    <a:pt x="1694" y="1443"/>
                    <a:pt x="1694" y="1431"/>
                  </a:cubicBezTo>
                  <a:cubicBezTo>
                    <a:pt x="1694" y="1365"/>
                    <a:pt x="1694" y="1365"/>
                    <a:pt x="1694" y="1365"/>
                  </a:cubicBezTo>
                  <a:cubicBezTo>
                    <a:pt x="1710" y="1381"/>
                    <a:pt x="1710" y="1381"/>
                    <a:pt x="1710" y="1381"/>
                  </a:cubicBezTo>
                  <a:cubicBezTo>
                    <a:pt x="1715" y="1385"/>
                    <a:pt x="1720" y="1387"/>
                    <a:pt x="1726" y="1387"/>
                  </a:cubicBezTo>
                  <a:cubicBezTo>
                    <a:pt x="1732" y="1387"/>
                    <a:pt x="1737" y="1385"/>
                    <a:pt x="1741" y="1381"/>
                  </a:cubicBezTo>
                  <a:cubicBezTo>
                    <a:pt x="1750" y="1372"/>
                    <a:pt x="1750" y="1359"/>
                    <a:pt x="1741" y="135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grpSp>
      <p:grpSp>
        <p:nvGrpSpPr>
          <p:cNvPr id="134" name="bcgIcons_Directions">
            <a:extLst>
              <a:ext uri="{FF2B5EF4-FFF2-40B4-BE49-F238E27FC236}">
                <a16:creationId xmlns:a16="http://schemas.microsoft.com/office/drawing/2014/main" id="{BA66A877-EDEC-49DB-B471-5BAE61976E9A}"/>
              </a:ext>
            </a:extLst>
          </p:cNvPr>
          <p:cNvGrpSpPr>
            <a:grpSpLocks noChangeAspect="1"/>
          </p:cNvGrpSpPr>
          <p:nvPr/>
        </p:nvGrpSpPr>
        <p:grpSpPr bwMode="auto">
          <a:xfrm>
            <a:off x="10539081" y="4589432"/>
            <a:ext cx="914400" cy="915247"/>
            <a:chOff x="1682" y="0"/>
            <a:chExt cx="4316" cy="4320"/>
          </a:xfrm>
        </p:grpSpPr>
        <p:sp>
          <p:nvSpPr>
            <p:cNvPr id="135" name="AutoShape 411">
              <a:extLst>
                <a:ext uri="{FF2B5EF4-FFF2-40B4-BE49-F238E27FC236}">
                  <a16:creationId xmlns:a16="http://schemas.microsoft.com/office/drawing/2014/main" id="{8A5F8D16-70F7-430C-8FA3-E8292897345E}"/>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36" name="Freeform 413">
              <a:extLst>
                <a:ext uri="{FF2B5EF4-FFF2-40B4-BE49-F238E27FC236}">
                  <a16:creationId xmlns:a16="http://schemas.microsoft.com/office/drawing/2014/main" id="{2099CFA4-0571-4FE6-BD32-770A55A0930B}"/>
                </a:ext>
              </a:extLst>
            </p:cNvPr>
            <p:cNvSpPr>
              <a:spLocks/>
            </p:cNvSpPr>
            <p:nvPr/>
          </p:nvSpPr>
          <p:spPr bwMode="auto">
            <a:xfrm>
              <a:off x="2042" y="926"/>
              <a:ext cx="1751" cy="1842"/>
            </a:xfrm>
            <a:custGeom>
              <a:avLst/>
              <a:gdLst>
                <a:gd name="T0" fmla="*/ 827 w 935"/>
                <a:gd name="T1" fmla="*/ 982 h 982"/>
                <a:gd name="T2" fmla="*/ 846 w 935"/>
                <a:gd name="T3" fmla="*/ 896 h 982"/>
                <a:gd name="T4" fmla="*/ 714 w 935"/>
                <a:gd name="T5" fmla="*/ 671 h 982"/>
                <a:gd name="T6" fmla="*/ 300 w 935"/>
                <a:gd name="T7" fmla="*/ 419 h 982"/>
                <a:gd name="T8" fmla="*/ 294 w 935"/>
                <a:gd name="T9" fmla="*/ 419 h 982"/>
                <a:gd name="T10" fmla="*/ 277 w 935"/>
                <a:gd name="T11" fmla="*/ 427 h 982"/>
                <a:gd name="T12" fmla="*/ 275 w 935"/>
                <a:gd name="T13" fmla="*/ 452 h 982"/>
                <a:gd name="T14" fmla="*/ 359 w 935"/>
                <a:gd name="T15" fmla="*/ 598 h 982"/>
                <a:gd name="T16" fmla="*/ 335 w 935"/>
                <a:gd name="T17" fmla="*/ 685 h 982"/>
                <a:gd name="T18" fmla="*/ 303 w 935"/>
                <a:gd name="T19" fmla="*/ 694 h 982"/>
                <a:gd name="T20" fmla="*/ 247 w 935"/>
                <a:gd name="T21" fmla="*/ 662 h 982"/>
                <a:gd name="T22" fmla="*/ 67 w 935"/>
                <a:gd name="T23" fmla="*/ 346 h 982"/>
                <a:gd name="T24" fmla="*/ 89 w 935"/>
                <a:gd name="T25" fmla="*/ 260 h 982"/>
                <a:gd name="T26" fmla="*/ 398 w 935"/>
                <a:gd name="T27" fmla="*/ 69 h 982"/>
                <a:gd name="T28" fmla="*/ 486 w 935"/>
                <a:gd name="T29" fmla="*/ 90 h 982"/>
                <a:gd name="T30" fmla="*/ 465 w 935"/>
                <a:gd name="T31" fmla="*/ 178 h 982"/>
                <a:gd name="T32" fmla="*/ 335 w 935"/>
                <a:gd name="T33" fmla="*/ 258 h 982"/>
                <a:gd name="T34" fmla="*/ 325 w 935"/>
                <a:gd name="T35" fmla="*/ 280 h 982"/>
                <a:gd name="T36" fmla="*/ 341 w 935"/>
                <a:gd name="T37" fmla="*/ 298 h 982"/>
                <a:gd name="T38" fmla="*/ 741 w 935"/>
                <a:gd name="T39" fmla="*/ 516 h 982"/>
                <a:gd name="T40" fmla="*/ 910 w 935"/>
                <a:gd name="T41" fmla="*/ 727 h 982"/>
                <a:gd name="T42" fmla="*/ 935 w 935"/>
                <a:gd name="T43" fmla="*/ 681 h 982"/>
                <a:gd name="T44" fmla="*/ 771 w 935"/>
                <a:gd name="T45" fmla="*/ 483 h 982"/>
                <a:gd name="T46" fmla="*/ 399 w 935"/>
                <a:gd name="T47" fmla="*/ 270 h 982"/>
                <a:gd name="T48" fmla="*/ 489 w 935"/>
                <a:gd name="T49" fmla="*/ 215 h 982"/>
                <a:gd name="T50" fmla="*/ 524 w 935"/>
                <a:gd name="T51" fmla="*/ 66 h 982"/>
                <a:gd name="T52" fmla="*/ 375 w 935"/>
                <a:gd name="T53" fmla="*/ 31 h 982"/>
                <a:gd name="T54" fmla="*/ 66 w 935"/>
                <a:gd name="T55" fmla="*/ 223 h 982"/>
                <a:gd name="T56" fmla="*/ 29 w 935"/>
                <a:gd name="T57" fmla="*/ 368 h 982"/>
                <a:gd name="T58" fmla="*/ 209 w 935"/>
                <a:gd name="T59" fmla="*/ 683 h 982"/>
                <a:gd name="T60" fmla="*/ 303 w 935"/>
                <a:gd name="T61" fmla="*/ 738 h 982"/>
                <a:gd name="T62" fmla="*/ 357 w 935"/>
                <a:gd name="T63" fmla="*/ 724 h 982"/>
                <a:gd name="T64" fmla="*/ 397 w 935"/>
                <a:gd name="T65" fmla="*/ 576 h 982"/>
                <a:gd name="T66" fmla="*/ 341 w 935"/>
                <a:gd name="T67" fmla="*/ 479 h 982"/>
                <a:gd name="T68" fmla="*/ 827 w 935"/>
                <a:gd name="T69" fmla="*/ 982 h 9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35" h="982">
                  <a:moveTo>
                    <a:pt x="827" y="982"/>
                  </a:moveTo>
                  <a:cubicBezTo>
                    <a:pt x="832" y="953"/>
                    <a:pt x="839" y="924"/>
                    <a:pt x="846" y="896"/>
                  </a:cubicBezTo>
                  <a:cubicBezTo>
                    <a:pt x="816" y="813"/>
                    <a:pt x="772" y="738"/>
                    <a:pt x="714" y="671"/>
                  </a:cubicBezTo>
                  <a:cubicBezTo>
                    <a:pt x="612" y="555"/>
                    <a:pt x="469" y="468"/>
                    <a:pt x="300" y="419"/>
                  </a:cubicBezTo>
                  <a:cubicBezTo>
                    <a:pt x="298" y="419"/>
                    <a:pt x="296" y="419"/>
                    <a:pt x="294" y="419"/>
                  </a:cubicBezTo>
                  <a:cubicBezTo>
                    <a:pt x="287" y="419"/>
                    <a:pt x="281" y="422"/>
                    <a:pt x="277" y="427"/>
                  </a:cubicBezTo>
                  <a:cubicBezTo>
                    <a:pt x="271" y="434"/>
                    <a:pt x="270" y="444"/>
                    <a:pt x="275" y="452"/>
                  </a:cubicBezTo>
                  <a:cubicBezTo>
                    <a:pt x="359" y="598"/>
                    <a:pt x="359" y="598"/>
                    <a:pt x="359" y="598"/>
                  </a:cubicBezTo>
                  <a:cubicBezTo>
                    <a:pt x="376" y="629"/>
                    <a:pt x="365" y="668"/>
                    <a:pt x="335" y="685"/>
                  </a:cubicBezTo>
                  <a:cubicBezTo>
                    <a:pt x="325" y="691"/>
                    <a:pt x="314" y="694"/>
                    <a:pt x="303" y="694"/>
                  </a:cubicBezTo>
                  <a:cubicBezTo>
                    <a:pt x="280" y="694"/>
                    <a:pt x="259" y="682"/>
                    <a:pt x="247" y="662"/>
                  </a:cubicBezTo>
                  <a:cubicBezTo>
                    <a:pt x="67" y="346"/>
                    <a:pt x="67" y="346"/>
                    <a:pt x="67" y="346"/>
                  </a:cubicBezTo>
                  <a:cubicBezTo>
                    <a:pt x="50" y="316"/>
                    <a:pt x="60" y="278"/>
                    <a:pt x="89" y="260"/>
                  </a:cubicBezTo>
                  <a:cubicBezTo>
                    <a:pt x="398" y="69"/>
                    <a:pt x="398" y="69"/>
                    <a:pt x="398" y="69"/>
                  </a:cubicBezTo>
                  <a:cubicBezTo>
                    <a:pt x="428" y="50"/>
                    <a:pt x="468" y="60"/>
                    <a:pt x="486" y="90"/>
                  </a:cubicBezTo>
                  <a:cubicBezTo>
                    <a:pt x="505" y="120"/>
                    <a:pt x="495" y="159"/>
                    <a:pt x="465" y="178"/>
                  </a:cubicBezTo>
                  <a:cubicBezTo>
                    <a:pt x="335" y="258"/>
                    <a:pt x="335" y="258"/>
                    <a:pt x="335" y="258"/>
                  </a:cubicBezTo>
                  <a:cubicBezTo>
                    <a:pt x="328" y="263"/>
                    <a:pt x="324" y="271"/>
                    <a:pt x="325" y="280"/>
                  </a:cubicBezTo>
                  <a:cubicBezTo>
                    <a:pt x="326" y="288"/>
                    <a:pt x="332" y="296"/>
                    <a:pt x="341" y="298"/>
                  </a:cubicBezTo>
                  <a:cubicBezTo>
                    <a:pt x="495" y="343"/>
                    <a:pt x="634" y="418"/>
                    <a:pt x="741" y="516"/>
                  </a:cubicBezTo>
                  <a:cubicBezTo>
                    <a:pt x="810" y="577"/>
                    <a:pt x="866" y="648"/>
                    <a:pt x="910" y="727"/>
                  </a:cubicBezTo>
                  <a:cubicBezTo>
                    <a:pt x="918" y="712"/>
                    <a:pt x="926" y="696"/>
                    <a:pt x="935" y="681"/>
                  </a:cubicBezTo>
                  <a:cubicBezTo>
                    <a:pt x="890" y="608"/>
                    <a:pt x="836" y="542"/>
                    <a:pt x="771" y="483"/>
                  </a:cubicBezTo>
                  <a:cubicBezTo>
                    <a:pt x="669" y="391"/>
                    <a:pt x="542" y="318"/>
                    <a:pt x="399" y="270"/>
                  </a:cubicBezTo>
                  <a:cubicBezTo>
                    <a:pt x="489" y="215"/>
                    <a:pt x="489" y="215"/>
                    <a:pt x="489" y="215"/>
                  </a:cubicBezTo>
                  <a:cubicBezTo>
                    <a:pt x="539" y="184"/>
                    <a:pt x="555" y="117"/>
                    <a:pt x="524" y="66"/>
                  </a:cubicBezTo>
                  <a:cubicBezTo>
                    <a:pt x="492" y="16"/>
                    <a:pt x="426" y="0"/>
                    <a:pt x="375" y="31"/>
                  </a:cubicBezTo>
                  <a:cubicBezTo>
                    <a:pt x="66" y="223"/>
                    <a:pt x="66" y="223"/>
                    <a:pt x="66" y="223"/>
                  </a:cubicBezTo>
                  <a:cubicBezTo>
                    <a:pt x="16" y="253"/>
                    <a:pt x="0" y="317"/>
                    <a:pt x="29" y="368"/>
                  </a:cubicBezTo>
                  <a:cubicBezTo>
                    <a:pt x="209" y="683"/>
                    <a:pt x="209" y="683"/>
                    <a:pt x="209" y="683"/>
                  </a:cubicBezTo>
                  <a:cubicBezTo>
                    <a:pt x="228" y="717"/>
                    <a:pt x="264" y="738"/>
                    <a:pt x="303" y="738"/>
                  </a:cubicBezTo>
                  <a:cubicBezTo>
                    <a:pt x="322" y="738"/>
                    <a:pt x="340" y="733"/>
                    <a:pt x="357" y="724"/>
                  </a:cubicBezTo>
                  <a:cubicBezTo>
                    <a:pt x="408" y="694"/>
                    <a:pt x="426" y="628"/>
                    <a:pt x="397" y="576"/>
                  </a:cubicBezTo>
                  <a:cubicBezTo>
                    <a:pt x="341" y="479"/>
                    <a:pt x="341" y="479"/>
                    <a:pt x="341" y="479"/>
                  </a:cubicBezTo>
                  <a:cubicBezTo>
                    <a:pt x="497" y="534"/>
                    <a:pt x="747" y="669"/>
                    <a:pt x="827" y="98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137" name="Freeform 414">
              <a:extLst>
                <a:ext uri="{FF2B5EF4-FFF2-40B4-BE49-F238E27FC236}">
                  <a16:creationId xmlns:a16="http://schemas.microsoft.com/office/drawing/2014/main" id="{3E89E4E6-BBAA-4D32-957B-390EC635BCD4}"/>
                </a:ext>
              </a:extLst>
            </p:cNvPr>
            <p:cNvSpPr>
              <a:spLocks/>
            </p:cNvSpPr>
            <p:nvPr/>
          </p:nvSpPr>
          <p:spPr bwMode="auto">
            <a:xfrm>
              <a:off x="3638" y="926"/>
              <a:ext cx="2000" cy="2440"/>
            </a:xfrm>
            <a:custGeom>
              <a:avLst/>
              <a:gdLst>
                <a:gd name="T0" fmla="*/ 1002 w 1068"/>
                <a:gd name="T1" fmla="*/ 223 h 1301"/>
                <a:gd name="T2" fmla="*/ 693 w 1068"/>
                <a:gd name="T3" fmla="*/ 31 h 1301"/>
                <a:gd name="T4" fmla="*/ 544 w 1068"/>
                <a:gd name="T5" fmla="*/ 66 h 1301"/>
                <a:gd name="T6" fmla="*/ 579 w 1068"/>
                <a:gd name="T7" fmla="*/ 215 h 1301"/>
                <a:gd name="T8" fmla="*/ 669 w 1068"/>
                <a:gd name="T9" fmla="*/ 270 h 1301"/>
                <a:gd name="T10" fmla="*/ 297 w 1068"/>
                <a:gd name="T11" fmla="*/ 483 h 1301"/>
                <a:gd name="T12" fmla="*/ 82 w 1068"/>
                <a:gd name="T13" fmla="*/ 780 h 1301"/>
                <a:gd name="T14" fmla="*/ 0 w 1068"/>
                <a:gd name="T15" fmla="*/ 1193 h 1301"/>
                <a:gd name="T16" fmla="*/ 108 w 1068"/>
                <a:gd name="T17" fmla="*/ 1301 h 1301"/>
                <a:gd name="T18" fmla="*/ 216 w 1068"/>
                <a:gd name="T19" fmla="*/ 1193 h 1301"/>
                <a:gd name="T20" fmla="*/ 727 w 1068"/>
                <a:gd name="T21" fmla="*/ 479 h 1301"/>
                <a:gd name="T22" fmla="*/ 671 w 1068"/>
                <a:gd name="T23" fmla="*/ 576 h 1301"/>
                <a:gd name="T24" fmla="*/ 711 w 1068"/>
                <a:gd name="T25" fmla="*/ 724 h 1301"/>
                <a:gd name="T26" fmla="*/ 765 w 1068"/>
                <a:gd name="T27" fmla="*/ 738 h 1301"/>
                <a:gd name="T28" fmla="*/ 859 w 1068"/>
                <a:gd name="T29" fmla="*/ 683 h 1301"/>
                <a:gd name="T30" fmla="*/ 1039 w 1068"/>
                <a:gd name="T31" fmla="*/ 368 h 1301"/>
                <a:gd name="T32" fmla="*/ 1002 w 1068"/>
                <a:gd name="T33" fmla="*/ 223 h 1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8" h="1301">
                  <a:moveTo>
                    <a:pt x="1002" y="223"/>
                  </a:moveTo>
                  <a:cubicBezTo>
                    <a:pt x="693" y="31"/>
                    <a:pt x="693" y="31"/>
                    <a:pt x="693" y="31"/>
                  </a:cubicBezTo>
                  <a:cubicBezTo>
                    <a:pt x="642" y="0"/>
                    <a:pt x="576" y="16"/>
                    <a:pt x="544" y="66"/>
                  </a:cubicBezTo>
                  <a:cubicBezTo>
                    <a:pt x="513" y="117"/>
                    <a:pt x="529" y="184"/>
                    <a:pt x="579" y="215"/>
                  </a:cubicBezTo>
                  <a:cubicBezTo>
                    <a:pt x="669" y="270"/>
                    <a:pt x="669" y="270"/>
                    <a:pt x="669" y="270"/>
                  </a:cubicBezTo>
                  <a:cubicBezTo>
                    <a:pt x="526" y="318"/>
                    <a:pt x="399" y="391"/>
                    <a:pt x="297" y="483"/>
                  </a:cubicBezTo>
                  <a:cubicBezTo>
                    <a:pt x="204" y="567"/>
                    <a:pt x="132" y="667"/>
                    <a:pt x="82" y="780"/>
                  </a:cubicBezTo>
                  <a:cubicBezTo>
                    <a:pt x="28" y="903"/>
                    <a:pt x="0" y="1042"/>
                    <a:pt x="0" y="1193"/>
                  </a:cubicBezTo>
                  <a:cubicBezTo>
                    <a:pt x="0" y="1252"/>
                    <a:pt x="49" y="1301"/>
                    <a:pt x="108" y="1301"/>
                  </a:cubicBezTo>
                  <a:cubicBezTo>
                    <a:pt x="168" y="1301"/>
                    <a:pt x="216" y="1252"/>
                    <a:pt x="216" y="1193"/>
                  </a:cubicBezTo>
                  <a:cubicBezTo>
                    <a:pt x="216" y="726"/>
                    <a:pt x="540" y="545"/>
                    <a:pt x="727" y="479"/>
                  </a:cubicBezTo>
                  <a:cubicBezTo>
                    <a:pt x="671" y="576"/>
                    <a:pt x="671" y="576"/>
                    <a:pt x="671" y="576"/>
                  </a:cubicBezTo>
                  <a:cubicBezTo>
                    <a:pt x="642" y="628"/>
                    <a:pt x="660" y="694"/>
                    <a:pt x="711" y="724"/>
                  </a:cubicBezTo>
                  <a:cubicBezTo>
                    <a:pt x="728" y="733"/>
                    <a:pt x="746" y="738"/>
                    <a:pt x="765" y="738"/>
                  </a:cubicBezTo>
                  <a:cubicBezTo>
                    <a:pt x="804" y="738"/>
                    <a:pt x="840" y="717"/>
                    <a:pt x="859" y="683"/>
                  </a:cubicBezTo>
                  <a:cubicBezTo>
                    <a:pt x="1039" y="368"/>
                    <a:pt x="1039" y="368"/>
                    <a:pt x="1039" y="368"/>
                  </a:cubicBezTo>
                  <a:cubicBezTo>
                    <a:pt x="1068" y="317"/>
                    <a:pt x="1052" y="253"/>
                    <a:pt x="1002" y="223"/>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grpSp>
      <p:grpSp>
        <p:nvGrpSpPr>
          <p:cNvPr id="138" name="bcgIcons_PublicSector">
            <a:extLst>
              <a:ext uri="{FF2B5EF4-FFF2-40B4-BE49-F238E27FC236}">
                <a16:creationId xmlns:a16="http://schemas.microsoft.com/office/drawing/2014/main" id="{DCC15F7D-CDC2-4E1F-A0B5-9B1EF884CF51}"/>
              </a:ext>
            </a:extLst>
          </p:cNvPr>
          <p:cNvGrpSpPr>
            <a:grpSpLocks noChangeAspect="1"/>
          </p:cNvGrpSpPr>
          <p:nvPr/>
        </p:nvGrpSpPr>
        <p:grpSpPr bwMode="auto">
          <a:xfrm>
            <a:off x="2843115" y="4011797"/>
            <a:ext cx="731520" cy="732197"/>
            <a:chOff x="1682" y="0"/>
            <a:chExt cx="4316" cy="4320"/>
          </a:xfrm>
        </p:grpSpPr>
        <p:sp>
          <p:nvSpPr>
            <p:cNvPr id="139" name="AutoShape 18">
              <a:extLst>
                <a:ext uri="{FF2B5EF4-FFF2-40B4-BE49-F238E27FC236}">
                  <a16:creationId xmlns:a16="http://schemas.microsoft.com/office/drawing/2014/main" id="{575286B9-FCC8-4EFB-9834-BD5493C559C3}"/>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40" name="Freeform 20">
              <a:extLst>
                <a:ext uri="{FF2B5EF4-FFF2-40B4-BE49-F238E27FC236}">
                  <a16:creationId xmlns:a16="http://schemas.microsoft.com/office/drawing/2014/main" id="{CEF9E0BC-00B7-4B29-B377-3473BD5B2EB2}"/>
                </a:ext>
              </a:extLst>
            </p:cNvPr>
            <p:cNvSpPr>
              <a:spLocks noEditPoints="1"/>
            </p:cNvSpPr>
            <p:nvPr/>
          </p:nvSpPr>
          <p:spPr bwMode="auto">
            <a:xfrm>
              <a:off x="1847" y="431"/>
              <a:ext cx="3979" cy="3443"/>
            </a:xfrm>
            <a:custGeom>
              <a:avLst/>
              <a:gdLst>
                <a:gd name="T0" fmla="*/ 227 w 2124"/>
                <a:gd name="T1" fmla="*/ 496 h 1836"/>
                <a:gd name="T2" fmla="*/ 528 w 2124"/>
                <a:gd name="T3" fmla="*/ 467 h 1836"/>
                <a:gd name="T4" fmla="*/ 996 w 2124"/>
                <a:gd name="T5" fmla="*/ 467 h 1836"/>
                <a:gd name="T6" fmla="*/ 695 w 2124"/>
                <a:gd name="T7" fmla="*/ 496 h 1836"/>
                <a:gd name="T8" fmla="*/ 994 w 2124"/>
                <a:gd name="T9" fmla="*/ 498 h 1836"/>
                <a:gd name="T10" fmla="*/ 1130 w 2124"/>
                <a:gd name="T11" fmla="*/ 467 h 1836"/>
                <a:gd name="T12" fmla="*/ 1431 w 2124"/>
                <a:gd name="T13" fmla="*/ 496 h 1836"/>
                <a:gd name="T14" fmla="*/ 1933 w 2124"/>
                <a:gd name="T15" fmla="*/ 467 h 1836"/>
                <a:gd name="T16" fmla="*/ 1631 w 2124"/>
                <a:gd name="T17" fmla="*/ 496 h 1836"/>
                <a:gd name="T18" fmla="*/ 1930 w 2124"/>
                <a:gd name="T19" fmla="*/ 498 h 1836"/>
                <a:gd name="T20" fmla="*/ 427 w 2124"/>
                <a:gd name="T21" fmla="*/ 273 h 1836"/>
                <a:gd name="T22" fmla="*/ 729 w 2124"/>
                <a:gd name="T23" fmla="*/ 301 h 1836"/>
                <a:gd name="T24" fmla="*/ 1230 w 2124"/>
                <a:gd name="T25" fmla="*/ 273 h 1836"/>
                <a:gd name="T26" fmla="*/ 929 w 2124"/>
                <a:gd name="T27" fmla="*/ 301 h 1836"/>
                <a:gd name="T28" fmla="*/ 1228 w 2124"/>
                <a:gd name="T29" fmla="*/ 304 h 1836"/>
                <a:gd name="T30" fmla="*/ 1364 w 2124"/>
                <a:gd name="T31" fmla="*/ 273 h 1836"/>
                <a:gd name="T32" fmla="*/ 1665 w 2124"/>
                <a:gd name="T33" fmla="*/ 301 h 1836"/>
                <a:gd name="T34" fmla="*/ 996 w 2124"/>
                <a:gd name="T35" fmla="*/ 78 h 1836"/>
                <a:gd name="T36" fmla="*/ 695 w 2124"/>
                <a:gd name="T37" fmla="*/ 107 h 1836"/>
                <a:gd name="T38" fmla="*/ 994 w 2124"/>
                <a:gd name="T39" fmla="*/ 109 h 1836"/>
                <a:gd name="T40" fmla="*/ 1130 w 2124"/>
                <a:gd name="T41" fmla="*/ 78 h 1836"/>
                <a:gd name="T42" fmla="*/ 1431 w 2124"/>
                <a:gd name="T43" fmla="*/ 107 h 1836"/>
                <a:gd name="T44" fmla="*/ 1893 w 2124"/>
                <a:gd name="T45" fmla="*/ 584 h 1836"/>
                <a:gd name="T46" fmla="*/ 1893 w 2124"/>
                <a:gd name="T47" fmla="*/ 628 h 1836"/>
                <a:gd name="T48" fmla="*/ 2060 w 2124"/>
                <a:gd name="T49" fmla="*/ 662 h 1836"/>
                <a:gd name="T50" fmla="*/ 69 w 2124"/>
                <a:gd name="T51" fmla="*/ 693 h 1836"/>
                <a:gd name="T52" fmla="*/ 377 w 2124"/>
                <a:gd name="T53" fmla="*/ 638 h 1836"/>
                <a:gd name="T54" fmla="*/ 1533 w 2124"/>
                <a:gd name="T55" fmla="*/ 1602 h 1836"/>
                <a:gd name="T56" fmla="*/ 1155 w 2124"/>
                <a:gd name="T57" fmla="*/ 1543 h 1836"/>
                <a:gd name="T58" fmla="*/ 2102 w 2124"/>
                <a:gd name="T59" fmla="*/ 1836 h 1836"/>
                <a:gd name="T60" fmla="*/ 1191 w 2124"/>
                <a:gd name="T61" fmla="*/ 1811 h 1836"/>
                <a:gd name="T62" fmla="*/ 787 w 2124"/>
                <a:gd name="T63" fmla="*/ 1449 h 1836"/>
                <a:gd name="T64" fmla="*/ 404 w 2124"/>
                <a:gd name="T65" fmla="*/ 1449 h 1836"/>
                <a:gd name="T66" fmla="*/ 0 w 2124"/>
                <a:gd name="T67" fmla="*/ 1814 h 1836"/>
                <a:gd name="T68" fmla="*/ 1191 w 2124"/>
                <a:gd name="T69" fmla="*/ 1811 h 1836"/>
                <a:gd name="T70" fmla="*/ 896 w 2124"/>
                <a:gd name="T71" fmla="*/ 662 h 1836"/>
                <a:gd name="T72" fmla="*/ 1197 w 2124"/>
                <a:gd name="T73" fmla="*/ 690 h 1836"/>
                <a:gd name="T74" fmla="*/ 1356 w 2124"/>
                <a:gd name="T75" fmla="*/ 1362 h 1836"/>
                <a:gd name="T76" fmla="*/ 1407 w 2124"/>
                <a:gd name="T77" fmla="*/ 1450 h 1836"/>
                <a:gd name="T78" fmla="*/ 1649 w 2124"/>
                <a:gd name="T79" fmla="*/ 1450 h 1836"/>
                <a:gd name="T80" fmla="*/ 1701 w 2124"/>
                <a:gd name="T81" fmla="*/ 1362 h 1836"/>
                <a:gd name="T82" fmla="*/ 1796 w 2124"/>
                <a:gd name="T83" fmla="*/ 1101 h 1836"/>
                <a:gd name="T84" fmla="*/ 1528 w 2124"/>
                <a:gd name="T85" fmla="*/ 1401 h 1836"/>
                <a:gd name="T86" fmla="*/ 1261 w 2124"/>
                <a:gd name="T87" fmla="*/ 1101 h 1836"/>
                <a:gd name="T88" fmla="*/ 322 w 2124"/>
                <a:gd name="T89" fmla="*/ 1157 h 1836"/>
                <a:gd name="T90" fmla="*/ 440 w 2124"/>
                <a:gd name="T91" fmla="*/ 1423 h 1836"/>
                <a:gd name="T92" fmla="*/ 717 w 2124"/>
                <a:gd name="T93" fmla="*/ 1399 h 1836"/>
                <a:gd name="T94" fmla="*/ 761 w 2124"/>
                <a:gd name="T95" fmla="*/ 1367 h 1836"/>
                <a:gd name="T96" fmla="*/ 916 w 2124"/>
                <a:gd name="T97" fmla="*/ 1076 h 1836"/>
                <a:gd name="T98" fmla="*/ 738 w 2124"/>
                <a:gd name="T99" fmla="*/ 1329 h 1836"/>
                <a:gd name="T100" fmla="*/ 350 w 2124"/>
                <a:gd name="T101" fmla="*/ 1122 h 1836"/>
                <a:gd name="T102" fmla="*/ 322 w 2124"/>
                <a:gd name="T103" fmla="*/ 1157 h 18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24" h="1836">
                  <a:moveTo>
                    <a:pt x="512" y="503"/>
                  </a:moveTo>
                  <a:cubicBezTo>
                    <a:pt x="505" y="503"/>
                    <a:pt x="499" y="501"/>
                    <a:pt x="495" y="496"/>
                  </a:cubicBezTo>
                  <a:cubicBezTo>
                    <a:pt x="461" y="456"/>
                    <a:pt x="413" y="433"/>
                    <a:pt x="361" y="433"/>
                  </a:cubicBezTo>
                  <a:cubicBezTo>
                    <a:pt x="309" y="433"/>
                    <a:pt x="260" y="456"/>
                    <a:pt x="227" y="496"/>
                  </a:cubicBezTo>
                  <a:cubicBezTo>
                    <a:pt x="219" y="505"/>
                    <a:pt x="205" y="506"/>
                    <a:pt x="196" y="498"/>
                  </a:cubicBezTo>
                  <a:cubicBezTo>
                    <a:pt x="187" y="491"/>
                    <a:pt x="186" y="477"/>
                    <a:pt x="193" y="467"/>
                  </a:cubicBezTo>
                  <a:cubicBezTo>
                    <a:pt x="235" y="418"/>
                    <a:pt x="296" y="389"/>
                    <a:pt x="361" y="389"/>
                  </a:cubicBezTo>
                  <a:cubicBezTo>
                    <a:pt x="426" y="389"/>
                    <a:pt x="487" y="418"/>
                    <a:pt x="528" y="467"/>
                  </a:cubicBezTo>
                  <a:cubicBezTo>
                    <a:pt x="536" y="477"/>
                    <a:pt x="535" y="491"/>
                    <a:pt x="526" y="498"/>
                  </a:cubicBezTo>
                  <a:cubicBezTo>
                    <a:pt x="522" y="502"/>
                    <a:pt x="516" y="503"/>
                    <a:pt x="512" y="503"/>
                  </a:cubicBezTo>
                  <a:close/>
                  <a:moveTo>
                    <a:pt x="994" y="498"/>
                  </a:moveTo>
                  <a:cubicBezTo>
                    <a:pt x="1003" y="491"/>
                    <a:pt x="1004" y="477"/>
                    <a:pt x="996" y="467"/>
                  </a:cubicBezTo>
                  <a:cubicBezTo>
                    <a:pt x="955" y="418"/>
                    <a:pt x="894" y="389"/>
                    <a:pt x="829" y="389"/>
                  </a:cubicBezTo>
                  <a:cubicBezTo>
                    <a:pt x="764" y="389"/>
                    <a:pt x="703" y="418"/>
                    <a:pt x="661" y="467"/>
                  </a:cubicBezTo>
                  <a:cubicBezTo>
                    <a:pt x="654" y="477"/>
                    <a:pt x="655" y="491"/>
                    <a:pt x="664" y="498"/>
                  </a:cubicBezTo>
                  <a:cubicBezTo>
                    <a:pt x="673" y="506"/>
                    <a:pt x="687" y="505"/>
                    <a:pt x="695" y="496"/>
                  </a:cubicBezTo>
                  <a:cubicBezTo>
                    <a:pt x="728" y="456"/>
                    <a:pt x="777" y="433"/>
                    <a:pt x="829" y="433"/>
                  </a:cubicBezTo>
                  <a:cubicBezTo>
                    <a:pt x="881" y="433"/>
                    <a:pt x="929" y="456"/>
                    <a:pt x="963" y="496"/>
                  </a:cubicBezTo>
                  <a:cubicBezTo>
                    <a:pt x="967" y="501"/>
                    <a:pt x="973" y="503"/>
                    <a:pt x="980" y="503"/>
                  </a:cubicBezTo>
                  <a:cubicBezTo>
                    <a:pt x="985" y="503"/>
                    <a:pt x="990" y="502"/>
                    <a:pt x="994" y="498"/>
                  </a:cubicBezTo>
                  <a:close/>
                  <a:moveTo>
                    <a:pt x="1462" y="498"/>
                  </a:moveTo>
                  <a:cubicBezTo>
                    <a:pt x="1471" y="491"/>
                    <a:pt x="1472" y="477"/>
                    <a:pt x="1465" y="467"/>
                  </a:cubicBezTo>
                  <a:cubicBezTo>
                    <a:pt x="1423" y="418"/>
                    <a:pt x="1362" y="389"/>
                    <a:pt x="1297" y="389"/>
                  </a:cubicBezTo>
                  <a:cubicBezTo>
                    <a:pt x="1232" y="389"/>
                    <a:pt x="1171" y="418"/>
                    <a:pt x="1130" y="467"/>
                  </a:cubicBezTo>
                  <a:cubicBezTo>
                    <a:pt x="1122" y="477"/>
                    <a:pt x="1123" y="491"/>
                    <a:pt x="1132" y="498"/>
                  </a:cubicBezTo>
                  <a:cubicBezTo>
                    <a:pt x="1142" y="506"/>
                    <a:pt x="1155" y="505"/>
                    <a:pt x="1163" y="496"/>
                  </a:cubicBezTo>
                  <a:cubicBezTo>
                    <a:pt x="1197" y="456"/>
                    <a:pt x="1245" y="433"/>
                    <a:pt x="1297" y="433"/>
                  </a:cubicBezTo>
                  <a:cubicBezTo>
                    <a:pt x="1349" y="433"/>
                    <a:pt x="1398" y="456"/>
                    <a:pt x="1431" y="496"/>
                  </a:cubicBezTo>
                  <a:cubicBezTo>
                    <a:pt x="1435" y="501"/>
                    <a:pt x="1441" y="503"/>
                    <a:pt x="1448" y="503"/>
                  </a:cubicBezTo>
                  <a:cubicBezTo>
                    <a:pt x="1453" y="503"/>
                    <a:pt x="1458" y="502"/>
                    <a:pt x="1462" y="498"/>
                  </a:cubicBezTo>
                  <a:close/>
                  <a:moveTo>
                    <a:pt x="1930" y="498"/>
                  </a:moveTo>
                  <a:cubicBezTo>
                    <a:pt x="1939" y="491"/>
                    <a:pt x="1940" y="477"/>
                    <a:pt x="1933" y="467"/>
                  </a:cubicBezTo>
                  <a:cubicBezTo>
                    <a:pt x="1891" y="418"/>
                    <a:pt x="1830" y="389"/>
                    <a:pt x="1765" y="389"/>
                  </a:cubicBezTo>
                  <a:cubicBezTo>
                    <a:pt x="1700" y="389"/>
                    <a:pt x="1639" y="418"/>
                    <a:pt x="1598" y="467"/>
                  </a:cubicBezTo>
                  <a:cubicBezTo>
                    <a:pt x="1590" y="477"/>
                    <a:pt x="1591" y="491"/>
                    <a:pt x="1600" y="498"/>
                  </a:cubicBezTo>
                  <a:cubicBezTo>
                    <a:pt x="1610" y="506"/>
                    <a:pt x="1624" y="505"/>
                    <a:pt x="1631" y="496"/>
                  </a:cubicBezTo>
                  <a:cubicBezTo>
                    <a:pt x="1665" y="456"/>
                    <a:pt x="1713" y="433"/>
                    <a:pt x="1765" y="433"/>
                  </a:cubicBezTo>
                  <a:cubicBezTo>
                    <a:pt x="1817" y="433"/>
                    <a:pt x="1866" y="456"/>
                    <a:pt x="1899" y="496"/>
                  </a:cubicBezTo>
                  <a:cubicBezTo>
                    <a:pt x="1903" y="501"/>
                    <a:pt x="1910" y="503"/>
                    <a:pt x="1916" y="503"/>
                  </a:cubicBezTo>
                  <a:cubicBezTo>
                    <a:pt x="1921" y="503"/>
                    <a:pt x="1926" y="502"/>
                    <a:pt x="1930" y="498"/>
                  </a:cubicBezTo>
                  <a:close/>
                  <a:moveTo>
                    <a:pt x="760" y="304"/>
                  </a:moveTo>
                  <a:cubicBezTo>
                    <a:pt x="769" y="296"/>
                    <a:pt x="770" y="282"/>
                    <a:pt x="762" y="273"/>
                  </a:cubicBezTo>
                  <a:cubicBezTo>
                    <a:pt x="721" y="223"/>
                    <a:pt x="660" y="195"/>
                    <a:pt x="595" y="195"/>
                  </a:cubicBezTo>
                  <a:cubicBezTo>
                    <a:pt x="530" y="195"/>
                    <a:pt x="469" y="223"/>
                    <a:pt x="427" y="273"/>
                  </a:cubicBezTo>
                  <a:cubicBezTo>
                    <a:pt x="420" y="282"/>
                    <a:pt x="421" y="296"/>
                    <a:pt x="430" y="304"/>
                  </a:cubicBezTo>
                  <a:cubicBezTo>
                    <a:pt x="439" y="312"/>
                    <a:pt x="453" y="310"/>
                    <a:pt x="461" y="301"/>
                  </a:cubicBezTo>
                  <a:cubicBezTo>
                    <a:pt x="494" y="262"/>
                    <a:pt x="543" y="239"/>
                    <a:pt x="595" y="239"/>
                  </a:cubicBezTo>
                  <a:cubicBezTo>
                    <a:pt x="647" y="239"/>
                    <a:pt x="695" y="262"/>
                    <a:pt x="729" y="301"/>
                  </a:cubicBezTo>
                  <a:cubicBezTo>
                    <a:pt x="733" y="306"/>
                    <a:pt x="739" y="309"/>
                    <a:pt x="746" y="309"/>
                  </a:cubicBezTo>
                  <a:cubicBezTo>
                    <a:pt x="751" y="309"/>
                    <a:pt x="756" y="307"/>
                    <a:pt x="760" y="304"/>
                  </a:cubicBezTo>
                  <a:close/>
                  <a:moveTo>
                    <a:pt x="1228" y="304"/>
                  </a:moveTo>
                  <a:cubicBezTo>
                    <a:pt x="1237" y="296"/>
                    <a:pt x="1238" y="282"/>
                    <a:pt x="1230" y="273"/>
                  </a:cubicBezTo>
                  <a:cubicBezTo>
                    <a:pt x="1189" y="223"/>
                    <a:pt x="1128" y="195"/>
                    <a:pt x="1063" y="195"/>
                  </a:cubicBezTo>
                  <a:cubicBezTo>
                    <a:pt x="998" y="195"/>
                    <a:pt x="937" y="223"/>
                    <a:pt x="896" y="273"/>
                  </a:cubicBezTo>
                  <a:cubicBezTo>
                    <a:pt x="888" y="282"/>
                    <a:pt x="889" y="296"/>
                    <a:pt x="898" y="304"/>
                  </a:cubicBezTo>
                  <a:cubicBezTo>
                    <a:pt x="908" y="312"/>
                    <a:pt x="921" y="310"/>
                    <a:pt x="929" y="301"/>
                  </a:cubicBezTo>
                  <a:cubicBezTo>
                    <a:pt x="963" y="262"/>
                    <a:pt x="1011" y="239"/>
                    <a:pt x="1063" y="239"/>
                  </a:cubicBezTo>
                  <a:cubicBezTo>
                    <a:pt x="1115" y="239"/>
                    <a:pt x="1163" y="262"/>
                    <a:pt x="1197" y="301"/>
                  </a:cubicBezTo>
                  <a:cubicBezTo>
                    <a:pt x="1201" y="306"/>
                    <a:pt x="1207" y="309"/>
                    <a:pt x="1214" y="309"/>
                  </a:cubicBezTo>
                  <a:cubicBezTo>
                    <a:pt x="1219" y="309"/>
                    <a:pt x="1224" y="307"/>
                    <a:pt x="1228" y="304"/>
                  </a:cubicBezTo>
                  <a:close/>
                  <a:moveTo>
                    <a:pt x="1696" y="304"/>
                  </a:moveTo>
                  <a:cubicBezTo>
                    <a:pt x="1705" y="296"/>
                    <a:pt x="1706" y="282"/>
                    <a:pt x="1699" y="273"/>
                  </a:cubicBezTo>
                  <a:cubicBezTo>
                    <a:pt x="1657" y="223"/>
                    <a:pt x="1596" y="195"/>
                    <a:pt x="1531" y="195"/>
                  </a:cubicBezTo>
                  <a:cubicBezTo>
                    <a:pt x="1466" y="195"/>
                    <a:pt x="1405" y="223"/>
                    <a:pt x="1364" y="273"/>
                  </a:cubicBezTo>
                  <a:cubicBezTo>
                    <a:pt x="1356" y="282"/>
                    <a:pt x="1357" y="296"/>
                    <a:pt x="1366" y="304"/>
                  </a:cubicBezTo>
                  <a:cubicBezTo>
                    <a:pt x="1376" y="312"/>
                    <a:pt x="1389" y="310"/>
                    <a:pt x="1397" y="301"/>
                  </a:cubicBezTo>
                  <a:cubicBezTo>
                    <a:pt x="1431" y="262"/>
                    <a:pt x="1479" y="239"/>
                    <a:pt x="1531" y="239"/>
                  </a:cubicBezTo>
                  <a:cubicBezTo>
                    <a:pt x="1583" y="239"/>
                    <a:pt x="1632" y="262"/>
                    <a:pt x="1665" y="301"/>
                  </a:cubicBezTo>
                  <a:cubicBezTo>
                    <a:pt x="1669" y="306"/>
                    <a:pt x="1675" y="309"/>
                    <a:pt x="1682" y="309"/>
                  </a:cubicBezTo>
                  <a:cubicBezTo>
                    <a:pt x="1687" y="309"/>
                    <a:pt x="1692" y="307"/>
                    <a:pt x="1696" y="304"/>
                  </a:cubicBezTo>
                  <a:close/>
                  <a:moveTo>
                    <a:pt x="994" y="109"/>
                  </a:moveTo>
                  <a:cubicBezTo>
                    <a:pt x="1003" y="101"/>
                    <a:pt x="1004" y="88"/>
                    <a:pt x="996" y="78"/>
                  </a:cubicBezTo>
                  <a:cubicBezTo>
                    <a:pt x="955" y="29"/>
                    <a:pt x="894" y="0"/>
                    <a:pt x="829" y="0"/>
                  </a:cubicBezTo>
                  <a:cubicBezTo>
                    <a:pt x="764" y="0"/>
                    <a:pt x="703" y="29"/>
                    <a:pt x="661" y="78"/>
                  </a:cubicBezTo>
                  <a:cubicBezTo>
                    <a:pt x="654" y="88"/>
                    <a:pt x="655" y="101"/>
                    <a:pt x="664" y="109"/>
                  </a:cubicBezTo>
                  <a:cubicBezTo>
                    <a:pt x="673" y="117"/>
                    <a:pt x="687" y="116"/>
                    <a:pt x="695" y="107"/>
                  </a:cubicBezTo>
                  <a:cubicBezTo>
                    <a:pt x="728" y="67"/>
                    <a:pt x="777" y="44"/>
                    <a:pt x="829" y="44"/>
                  </a:cubicBezTo>
                  <a:cubicBezTo>
                    <a:pt x="881" y="44"/>
                    <a:pt x="929" y="67"/>
                    <a:pt x="963" y="107"/>
                  </a:cubicBezTo>
                  <a:cubicBezTo>
                    <a:pt x="967" y="112"/>
                    <a:pt x="973" y="114"/>
                    <a:pt x="980" y="114"/>
                  </a:cubicBezTo>
                  <a:cubicBezTo>
                    <a:pt x="985" y="114"/>
                    <a:pt x="990" y="113"/>
                    <a:pt x="994" y="109"/>
                  </a:cubicBezTo>
                  <a:close/>
                  <a:moveTo>
                    <a:pt x="1462" y="109"/>
                  </a:moveTo>
                  <a:cubicBezTo>
                    <a:pt x="1471" y="101"/>
                    <a:pt x="1472" y="88"/>
                    <a:pt x="1465" y="78"/>
                  </a:cubicBezTo>
                  <a:cubicBezTo>
                    <a:pt x="1423" y="29"/>
                    <a:pt x="1362" y="0"/>
                    <a:pt x="1297" y="0"/>
                  </a:cubicBezTo>
                  <a:cubicBezTo>
                    <a:pt x="1232" y="0"/>
                    <a:pt x="1171" y="29"/>
                    <a:pt x="1130" y="78"/>
                  </a:cubicBezTo>
                  <a:cubicBezTo>
                    <a:pt x="1122" y="88"/>
                    <a:pt x="1123" y="101"/>
                    <a:pt x="1132" y="109"/>
                  </a:cubicBezTo>
                  <a:cubicBezTo>
                    <a:pt x="1142" y="117"/>
                    <a:pt x="1155" y="116"/>
                    <a:pt x="1163" y="107"/>
                  </a:cubicBezTo>
                  <a:cubicBezTo>
                    <a:pt x="1197" y="67"/>
                    <a:pt x="1245" y="44"/>
                    <a:pt x="1297" y="44"/>
                  </a:cubicBezTo>
                  <a:cubicBezTo>
                    <a:pt x="1349" y="44"/>
                    <a:pt x="1398" y="67"/>
                    <a:pt x="1431" y="107"/>
                  </a:cubicBezTo>
                  <a:cubicBezTo>
                    <a:pt x="1435" y="112"/>
                    <a:pt x="1441" y="114"/>
                    <a:pt x="1448" y="114"/>
                  </a:cubicBezTo>
                  <a:cubicBezTo>
                    <a:pt x="1453" y="114"/>
                    <a:pt x="1458" y="113"/>
                    <a:pt x="1462" y="109"/>
                  </a:cubicBezTo>
                  <a:close/>
                  <a:moveTo>
                    <a:pt x="2060" y="662"/>
                  </a:moveTo>
                  <a:cubicBezTo>
                    <a:pt x="2018" y="612"/>
                    <a:pt x="1957" y="584"/>
                    <a:pt x="1893" y="584"/>
                  </a:cubicBezTo>
                  <a:cubicBezTo>
                    <a:pt x="1839" y="584"/>
                    <a:pt x="1788" y="603"/>
                    <a:pt x="1749" y="638"/>
                  </a:cubicBezTo>
                  <a:cubicBezTo>
                    <a:pt x="1760" y="647"/>
                    <a:pt x="1771" y="657"/>
                    <a:pt x="1781" y="667"/>
                  </a:cubicBezTo>
                  <a:cubicBezTo>
                    <a:pt x="1781" y="667"/>
                    <a:pt x="1781" y="668"/>
                    <a:pt x="1781" y="668"/>
                  </a:cubicBezTo>
                  <a:cubicBezTo>
                    <a:pt x="1813" y="642"/>
                    <a:pt x="1852" y="628"/>
                    <a:pt x="1893" y="628"/>
                  </a:cubicBezTo>
                  <a:cubicBezTo>
                    <a:pt x="1944" y="628"/>
                    <a:pt x="1993" y="651"/>
                    <a:pt x="2026" y="690"/>
                  </a:cubicBezTo>
                  <a:cubicBezTo>
                    <a:pt x="2031" y="695"/>
                    <a:pt x="2037" y="698"/>
                    <a:pt x="2043" y="698"/>
                  </a:cubicBezTo>
                  <a:cubicBezTo>
                    <a:pt x="2048" y="698"/>
                    <a:pt x="2053" y="696"/>
                    <a:pt x="2057" y="693"/>
                  </a:cubicBezTo>
                  <a:cubicBezTo>
                    <a:pt x="2067" y="685"/>
                    <a:pt x="2068" y="671"/>
                    <a:pt x="2060" y="662"/>
                  </a:cubicBezTo>
                  <a:close/>
                  <a:moveTo>
                    <a:pt x="377" y="638"/>
                  </a:moveTo>
                  <a:cubicBezTo>
                    <a:pt x="338" y="603"/>
                    <a:pt x="287" y="584"/>
                    <a:pt x="233" y="584"/>
                  </a:cubicBezTo>
                  <a:cubicBezTo>
                    <a:pt x="169" y="584"/>
                    <a:pt x="108" y="612"/>
                    <a:pt x="66" y="662"/>
                  </a:cubicBezTo>
                  <a:cubicBezTo>
                    <a:pt x="58" y="671"/>
                    <a:pt x="59" y="685"/>
                    <a:pt x="69" y="693"/>
                  </a:cubicBezTo>
                  <a:cubicBezTo>
                    <a:pt x="78" y="701"/>
                    <a:pt x="92" y="699"/>
                    <a:pt x="100" y="690"/>
                  </a:cubicBezTo>
                  <a:cubicBezTo>
                    <a:pt x="133" y="651"/>
                    <a:pt x="182" y="628"/>
                    <a:pt x="233" y="628"/>
                  </a:cubicBezTo>
                  <a:cubicBezTo>
                    <a:pt x="274" y="628"/>
                    <a:pt x="313" y="642"/>
                    <a:pt x="344" y="667"/>
                  </a:cubicBezTo>
                  <a:cubicBezTo>
                    <a:pt x="355" y="657"/>
                    <a:pt x="366" y="647"/>
                    <a:pt x="377" y="638"/>
                  </a:cubicBezTo>
                  <a:close/>
                  <a:moveTo>
                    <a:pt x="2052" y="1567"/>
                  </a:moveTo>
                  <a:cubicBezTo>
                    <a:pt x="2030" y="1534"/>
                    <a:pt x="2004" y="1506"/>
                    <a:pt x="1974" y="1492"/>
                  </a:cubicBezTo>
                  <a:cubicBezTo>
                    <a:pt x="1885" y="1451"/>
                    <a:pt x="1720" y="1449"/>
                    <a:pt x="1720" y="1449"/>
                  </a:cubicBezTo>
                  <a:cubicBezTo>
                    <a:pt x="1720" y="1449"/>
                    <a:pt x="1614" y="1537"/>
                    <a:pt x="1533" y="1602"/>
                  </a:cubicBezTo>
                  <a:cubicBezTo>
                    <a:pt x="1530" y="1604"/>
                    <a:pt x="1527" y="1604"/>
                    <a:pt x="1524" y="1602"/>
                  </a:cubicBezTo>
                  <a:cubicBezTo>
                    <a:pt x="1464" y="1555"/>
                    <a:pt x="1337" y="1449"/>
                    <a:pt x="1337" y="1449"/>
                  </a:cubicBezTo>
                  <a:cubicBezTo>
                    <a:pt x="1337" y="1449"/>
                    <a:pt x="1197" y="1451"/>
                    <a:pt x="1105" y="1483"/>
                  </a:cubicBezTo>
                  <a:cubicBezTo>
                    <a:pt x="1123" y="1499"/>
                    <a:pt x="1139" y="1519"/>
                    <a:pt x="1155" y="1543"/>
                  </a:cubicBezTo>
                  <a:cubicBezTo>
                    <a:pt x="1208" y="1621"/>
                    <a:pt x="1235" y="1714"/>
                    <a:pt x="1235" y="1811"/>
                  </a:cubicBezTo>
                  <a:cubicBezTo>
                    <a:pt x="1235" y="1814"/>
                    <a:pt x="1235" y="1814"/>
                    <a:pt x="1235" y="1814"/>
                  </a:cubicBezTo>
                  <a:cubicBezTo>
                    <a:pt x="1235" y="1821"/>
                    <a:pt x="1234" y="1829"/>
                    <a:pt x="1231" y="1836"/>
                  </a:cubicBezTo>
                  <a:cubicBezTo>
                    <a:pt x="2102" y="1836"/>
                    <a:pt x="2102" y="1836"/>
                    <a:pt x="2102" y="1836"/>
                  </a:cubicBezTo>
                  <a:cubicBezTo>
                    <a:pt x="2114" y="1836"/>
                    <a:pt x="2124" y="1826"/>
                    <a:pt x="2124" y="1814"/>
                  </a:cubicBezTo>
                  <a:cubicBezTo>
                    <a:pt x="2124" y="1811"/>
                    <a:pt x="2124" y="1811"/>
                    <a:pt x="2124" y="1811"/>
                  </a:cubicBezTo>
                  <a:cubicBezTo>
                    <a:pt x="2124" y="1724"/>
                    <a:pt x="2100" y="1639"/>
                    <a:pt x="2052" y="1567"/>
                  </a:cubicBezTo>
                  <a:close/>
                  <a:moveTo>
                    <a:pt x="1191" y="1811"/>
                  </a:moveTo>
                  <a:cubicBezTo>
                    <a:pt x="1191" y="1724"/>
                    <a:pt x="1167" y="1639"/>
                    <a:pt x="1119" y="1567"/>
                  </a:cubicBezTo>
                  <a:cubicBezTo>
                    <a:pt x="1097" y="1534"/>
                    <a:pt x="1071" y="1506"/>
                    <a:pt x="1042" y="1492"/>
                  </a:cubicBezTo>
                  <a:cubicBezTo>
                    <a:pt x="952" y="1451"/>
                    <a:pt x="787" y="1449"/>
                    <a:pt x="787" y="1449"/>
                  </a:cubicBezTo>
                  <a:cubicBezTo>
                    <a:pt x="787" y="1449"/>
                    <a:pt x="787" y="1449"/>
                    <a:pt x="787" y="1449"/>
                  </a:cubicBezTo>
                  <a:cubicBezTo>
                    <a:pt x="787" y="1449"/>
                    <a:pt x="722" y="1541"/>
                    <a:pt x="592" y="1541"/>
                  </a:cubicBezTo>
                  <a:cubicBezTo>
                    <a:pt x="599" y="1541"/>
                    <a:pt x="599" y="1541"/>
                    <a:pt x="599" y="1541"/>
                  </a:cubicBezTo>
                  <a:cubicBezTo>
                    <a:pt x="469" y="1541"/>
                    <a:pt x="404" y="1449"/>
                    <a:pt x="404" y="1449"/>
                  </a:cubicBezTo>
                  <a:cubicBezTo>
                    <a:pt x="404" y="1449"/>
                    <a:pt x="404" y="1449"/>
                    <a:pt x="404" y="1449"/>
                  </a:cubicBezTo>
                  <a:cubicBezTo>
                    <a:pt x="404" y="1449"/>
                    <a:pt x="239" y="1451"/>
                    <a:pt x="150" y="1492"/>
                  </a:cubicBezTo>
                  <a:cubicBezTo>
                    <a:pt x="120" y="1506"/>
                    <a:pt x="94" y="1534"/>
                    <a:pt x="72" y="1567"/>
                  </a:cubicBezTo>
                  <a:cubicBezTo>
                    <a:pt x="24" y="1639"/>
                    <a:pt x="0" y="1724"/>
                    <a:pt x="0" y="1811"/>
                  </a:cubicBezTo>
                  <a:cubicBezTo>
                    <a:pt x="0" y="1814"/>
                    <a:pt x="0" y="1814"/>
                    <a:pt x="0" y="1814"/>
                  </a:cubicBezTo>
                  <a:cubicBezTo>
                    <a:pt x="0" y="1826"/>
                    <a:pt x="10" y="1836"/>
                    <a:pt x="22" y="1836"/>
                  </a:cubicBezTo>
                  <a:cubicBezTo>
                    <a:pt x="1169" y="1836"/>
                    <a:pt x="1169" y="1836"/>
                    <a:pt x="1169" y="1836"/>
                  </a:cubicBezTo>
                  <a:cubicBezTo>
                    <a:pt x="1181" y="1836"/>
                    <a:pt x="1191" y="1826"/>
                    <a:pt x="1191" y="1814"/>
                  </a:cubicBezTo>
                  <a:lnTo>
                    <a:pt x="1191" y="1811"/>
                  </a:lnTo>
                  <a:close/>
                  <a:moveTo>
                    <a:pt x="1228" y="693"/>
                  </a:moveTo>
                  <a:cubicBezTo>
                    <a:pt x="1237" y="685"/>
                    <a:pt x="1238" y="671"/>
                    <a:pt x="1230" y="662"/>
                  </a:cubicBezTo>
                  <a:cubicBezTo>
                    <a:pt x="1189" y="612"/>
                    <a:pt x="1128" y="584"/>
                    <a:pt x="1063" y="584"/>
                  </a:cubicBezTo>
                  <a:cubicBezTo>
                    <a:pt x="998" y="584"/>
                    <a:pt x="937" y="612"/>
                    <a:pt x="896" y="662"/>
                  </a:cubicBezTo>
                  <a:cubicBezTo>
                    <a:pt x="888" y="671"/>
                    <a:pt x="889" y="685"/>
                    <a:pt x="898" y="693"/>
                  </a:cubicBezTo>
                  <a:cubicBezTo>
                    <a:pt x="908" y="701"/>
                    <a:pt x="921" y="699"/>
                    <a:pt x="929" y="690"/>
                  </a:cubicBezTo>
                  <a:cubicBezTo>
                    <a:pt x="963" y="651"/>
                    <a:pt x="1011" y="628"/>
                    <a:pt x="1063" y="628"/>
                  </a:cubicBezTo>
                  <a:cubicBezTo>
                    <a:pt x="1115" y="628"/>
                    <a:pt x="1163" y="651"/>
                    <a:pt x="1197" y="690"/>
                  </a:cubicBezTo>
                  <a:cubicBezTo>
                    <a:pt x="1201" y="695"/>
                    <a:pt x="1207" y="698"/>
                    <a:pt x="1214" y="698"/>
                  </a:cubicBezTo>
                  <a:cubicBezTo>
                    <a:pt x="1219" y="698"/>
                    <a:pt x="1224" y="696"/>
                    <a:pt x="1228" y="693"/>
                  </a:cubicBezTo>
                  <a:close/>
                  <a:moveTo>
                    <a:pt x="1255" y="1157"/>
                  </a:moveTo>
                  <a:cubicBezTo>
                    <a:pt x="1275" y="1207"/>
                    <a:pt x="1328" y="1336"/>
                    <a:pt x="1356" y="1362"/>
                  </a:cubicBezTo>
                  <a:cubicBezTo>
                    <a:pt x="1358" y="1363"/>
                    <a:pt x="1361" y="1365"/>
                    <a:pt x="1363" y="1367"/>
                  </a:cubicBezTo>
                  <a:cubicBezTo>
                    <a:pt x="1363" y="1414"/>
                    <a:pt x="1363" y="1414"/>
                    <a:pt x="1363" y="1414"/>
                  </a:cubicBezTo>
                  <a:cubicBezTo>
                    <a:pt x="1365" y="1415"/>
                    <a:pt x="1365" y="1415"/>
                    <a:pt x="1365" y="1415"/>
                  </a:cubicBezTo>
                  <a:cubicBezTo>
                    <a:pt x="1365" y="1416"/>
                    <a:pt x="1383" y="1430"/>
                    <a:pt x="1407" y="1450"/>
                  </a:cubicBezTo>
                  <a:cubicBezTo>
                    <a:pt x="1407" y="1399"/>
                    <a:pt x="1407" y="1399"/>
                    <a:pt x="1407" y="1399"/>
                  </a:cubicBezTo>
                  <a:cubicBezTo>
                    <a:pt x="1444" y="1422"/>
                    <a:pt x="1492" y="1445"/>
                    <a:pt x="1528" y="1445"/>
                  </a:cubicBezTo>
                  <a:cubicBezTo>
                    <a:pt x="1565" y="1445"/>
                    <a:pt x="1613" y="1422"/>
                    <a:pt x="1649" y="1399"/>
                  </a:cubicBezTo>
                  <a:cubicBezTo>
                    <a:pt x="1649" y="1450"/>
                    <a:pt x="1649" y="1450"/>
                    <a:pt x="1649" y="1450"/>
                  </a:cubicBezTo>
                  <a:cubicBezTo>
                    <a:pt x="1675" y="1430"/>
                    <a:pt x="1692" y="1415"/>
                    <a:pt x="1692" y="1415"/>
                  </a:cubicBezTo>
                  <a:cubicBezTo>
                    <a:pt x="1693" y="1414"/>
                    <a:pt x="1693" y="1414"/>
                    <a:pt x="1693" y="1414"/>
                  </a:cubicBezTo>
                  <a:cubicBezTo>
                    <a:pt x="1693" y="1368"/>
                    <a:pt x="1693" y="1368"/>
                    <a:pt x="1693" y="1368"/>
                  </a:cubicBezTo>
                  <a:cubicBezTo>
                    <a:pt x="1696" y="1365"/>
                    <a:pt x="1699" y="1363"/>
                    <a:pt x="1701" y="1362"/>
                  </a:cubicBezTo>
                  <a:cubicBezTo>
                    <a:pt x="1729" y="1336"/>
                    <a:pt x="1782" y="1207"/>
                    <a:pt x="1802" y="1157"/>
                  </a:cubicBezTo>
                  <a:cubicBezTo>
                    <a:pt x="1837" y="1135"/>
                    <a:pt x="1846" y="1097"/>
                    <a:pt x="1849" y="1081"/>
                  </a:cubicBezTo>
                  <a:cubicBezTo>
                    <a:pt x="1849" y="1079"/>
                    <a:pt x="1849" y="1078"/>
                    <a:pt x="1849" y="1076"/>
                  </a:cubicBezTo>
                  <a:cubicBezTo>
                    <a:pt x="1796" y="1101"/>
                    <a:pt x="1796" y="1101"/>
                    <a:pt x="1796" y="1101"/>
                  </a:cubicBezTo>
                  <a:cubicBezTo>
                    <a:pt x="1791" y="1109"/>
                    <a:pt x="1784" y="1117"/>
                    <a:pt x="1774" y="1122"/>
                  </a:cubicBezTo>
                  <a:cubicBezTo>
                    <a:pt x="1769" y="1124"/>
                    <a:pt x="1766" y="1129"/>
                    <a:pt x="1764" y="1134"/>
                  </a:cubicBezTo>
                  <a:cubicBezTo>
                    <a:pt x="1731" y="1217"/>
                    <a:pt x="1687" y="1315"/>
                    <a:pt x="1671" y="1329"/>
                  </a:cubicBezTo>
                  <a:cubicBezTo>
                    <a:pt x="1644" y="1353"/>
                    <a:pt x="1568" y="1401"/>
                    <a:pt x="1528" y="1401"/>
                  </a:cubicBezTo>
                  <a:cubicBezTo>
                    <a:pt x="1489" y="1401"/>
                    <a:pt x="1413" y="1353"/>
                    <a:pt x="1385" y="1329"/>
                  </a:cubicBezTo>
                  <a:cubicBezTo>
                    <a:pt x="1370" y="1315"/>
                    <a:pt x="1326" y="1217"/>
                    <a:pt x="1293" y="1134"/>
                  </a:cubicBezTo>
                  <a:cubicBezTo>
                    <a:pt x="1291" y="1129"/>
                    <a:pt x="1287" y="1124"/>
                    <a:pt x="1283" y="1122"/>
                  </a:cubicBezTo>
                  <a:cubicBezTo>
                    <a:pt x="1273" y="1117"/>
                    <a:pt x="1266" y="1109"/>
                    <a:pt x="1261" y="1101"/>
                  </a:cubicBezTo>
                  <a:cubicBezTo>
                    <a:pt x="1208" y="1076"/>
                    <a:pt x="1208" y="1076"/>
                    <a:pt x="1208" y="1076"/>
                  </a:cubicBezTo>
                  <a:cubicBezTo>
                    <a:pt x="1208" y="1078"/>
                    <a:pt x="1208" y="1080"/>
                    <a:pt x="1208" y="1083"/>
                  </a:cubicBezTo>
                  <a:cubicBezTo>
                    <a:pt x="1212" y="1102"/>
                    <a:pt x="1222" y="1136"/>
                    <a:pt x="1255" y="1157"/>
                  </a:cubicBezTo>
                  <a:close/>
                  <a:moveTo>
                    <a:pt x="322" y="1157"/>
                  </a:moveTo>
                  <a:cubicBezTo>
                    <a:pt x="342" y="1207"/>
                    <a:pt x="395" y="1336"/>
                    <a:pt x="423" y="1362"/>
                  </a:cubicBezTo>
                  <a:cubicBezTo>
                    <a:pt x="425" y="1363"/>
                    <a:pt x="428" y="1365"/>
                    <a:pt x="431" y="1368"/>
                  </a:cubicBezTo>
                  <a:cubicBezTo>
                    <a:pt x="431" y="1411"/>
                    <a:pt x="431" y="1411"/>
                    <a:pt x="431" y="1411"/>
                  </a:cubicBezTo>
                  <a:cubicBezTo>
                    <a:pt x="440" y="1423"/>
                    <a:pt x="440" y="1423"/>
                    <a:pt x="440" y="1423"/>
                  </a:cubicBezTo>
                  <a:cubicBezTo>
                    <a:pt x="441" y="1425"/>
                    <a:pt x="452" y="1440"/>
                    <a:pt x="475" y="1457"/>
                  </a:cubicBezTo>
                  <a:cubicBezTo>
                    <a:pt x="475" y="1399"/>
                    <a:pt x="475" y="1399"/>
                    <a:pt x="475" y="1399"/>
                  </a:cubicBezTo>
                  <a:cubicBezTo>
                    <a:pt x="511" y="1422"/>
                    <a:pt x="559" y="1445"/>
                    <a:pt x="595" y="1445"/>
                  </a:cubicBezTo>
                  <a:cubicBezTo>
                    <a:pt x="632" y="1445"/>
                    <a:pt x="680" y="1422"/>
                    <a:pt x="717" y="1399"/>
                  </a:cubicBezTo>
                  <a:cubicBezTo>
                    <a:pt x="717" y="1457"/>
                    <a:pt x="717" y="1457"/>
                    <a:pt x="717" y="1457"/>
                  </a:cubicBezTo>
                  <a:cubicBezTo>
                    <a:pt x="740" y="1440"/>
                    <a:pt x="751" y="1424"/>
                    <a:pt x="751" y="1423"/>
                  </a:cubicBezTo>
                  <a:cubicBezTo>
                    <a:pt x="761" y="1411"/>
                    <a:pt x="761" y="1411"/>
                    <a:pt x="761" y="1411"/>
                  </a:cubicBezTo>
                  <a:cubicBezTo>
                    <a:pt x="761" y="1367"/>
                    <a:pt x="761" y="1367"/>
                    <a:pt x="761" y="1367"/>
                  </a:cubicBezTo>
                  <a:cubicBezTo>
                    <a:pt x="763" y="1365"/>
                    <a:pt x="766" y="1363"/>
                    <a:pt x="768" y="1362"/>
                  </a:cubicBezTo>
                  <a:cubicBezTo>
                    <a:pt x="796" y="1336"/>
                    <a:pt x="849" y="1207"/>
                    <a:pt x="869" y="1157"/>
                  </a:cubicBezTo>
                  <a:cubicBezTo>
                    <a:pt x="904" y="1135"/>
                    <a:pt x="913" y="1097"/>
                    <a:pt x="916" y="1081"/>
                  </a:cubicBezTo>
                  <a:cubicBezTo>
                    <a:pt x="916" y="1079"/>
                    <a:pt x="916" y="1078"/>
                    <a:pt x="916" y="1076"/>
                  </a:cubicBezTo>
                  <a:cubicBezTo>
                    <a:pt x="863" y="1101"/>
                    <a:pt x="863" y="1101"/>
                    <a:pt x="863" y="1101"/>
                  </a:cubicBezTo>
                  <a:cubicBezTo>
                    <a:pt x="858" y="1109"/>
                    <a:pt x="851" y="1117"/>
                    <a:pt x="841" y="1122"/>
                  </a:cubicBezTo>
                  <a:cubicBezTo>
                    <a:pt x="836" y="1124"/>
                    <a:pt x="833" y="1129"/>
                    <a:pt x="831" y="1134"/>
                  </a:cubicBezTo>
                  <a:cubicBezTo>
                    <a:pt x="798" y="1217"/>
                    <a:pt x="754" y="1315"/>
                    <a:pt x="738" y="1329"/>
                  </a:cubicBezTo>
                  <a:cubicBezTo>
                    <a:pt x="711" y="1353"/>
                    <a:pt x="635" y="1401"/>
                    <a:pt x="595" y="1401"/>
                  </a:cubicBezTo>
                  <a:cubicBezTo>
                    <a:pt x="556" y="1401"/>
                    <a:pt x="480" y="1353"/>
                    <a:pt x="452" y="1329"/>
                  </a:cubicBezTo>
                  <a:cubicBezTo>
                    <a:pt x="437" y="1315"/>
                    <a:pt x="393" y="1217"/>
                    <a:pt x="360" y="1134"/>
                  </a:cubicBezTo>
                  <a:cubicBezTo>
                    <a:pt x="358" y="1129"/>
                    <a:pt x="354" y="1124"/>
                    <a:pt x="350" y="1122"/>
                  </a:cubicBezTo>
                  <a:cubicBezTo>
                    <a:pt x="339" y="1117"/>
                    <a:pt x="333" y="1109"/>
                    <a:pt x="328" y="1101"/>
                  </a:cubicBezTo>
                  <a:cubicBezTo>
                    <a:pt x="275" y="1076"/>
                    <a:pt x="275" y="1076"/>
                    <a:pt x="275" y="1076"/>
                  </a:cubicBezTo>
                  <a:cubicBezTo>
                    <a:pt x="275" y="1078"/>
                    <a:pt x="275" y="1080"/>
                    <a:pt x="275" y="1083"/>
                  </a:cubicBezTo>
                  <a:cubicBezTo>
                    <a:pt x="279" y="1102"/>
                    <a:pt x="289" y="1136"/>
                    <a:pt x="322" y="115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141" name="Freeform 21">
              <a:extLst>
                <a:ext uri="{FF2B5EF4-FFF2-40B4-BE49-F238E27FC236}">
                  <a16:creationId xmlns:a16="http://schemas.microsoft.com/office/drawing/2014/main" id="{9A32768F-1F7B-41E4-AD1E-05F5E20985B3}"/>
                </a:ext>
              </a:extLst>
            </p:cNvPr>
            <p:cNvSpPr>
              <a:spLocks noEditPoints="1"/>
            </p:cNvSpPr>
            <p:nvPr/>
          </p:nvSpPr>
          <p:spPr bwMode="auto">
            <a:xfrm>
              <a:off x="2383" y="1568"/>
              <a:ext cx="3019" cy="1511"/>
            </a:xfrm>
            <a:custGeom>
              <a:avLst/>
              <a:gdLst>
                <a:gd name="T0" fmla="*/ 1542 w 1612"/>
                <a:gd name="T1" fmla="*/ 422 h 806"/>
                <a:gd name="T2" fmla="*/ 1542 w 1612"/>
                <a:gd name="T3" fmla="*/ 421 h 806"/>
                <a:gd name="T4" fmla="*/ 1508 w 1612"/>
                <a:gd name="T5" fmla="*/ 469 h 806"/>
                <a:gd name="T6" fmla="*/ 1505 w 1612"/>
                <a:gd name="T7" fmla="*/ 470 h 806"/>
                <a:gd name="T8" fmla="*/ 1485 w 1612"/>
                <a:gd name="T9" fmla="*/ 470 h 806"/>
                <a:gd name="T10" fmla="*/ 1483 w 1612"/>
                <a:gd name="T11" fmla="*/ 470 h 806"/>
                <a:gd name="T12" fmla="*/ 1074 w 1612"/>
                <a:gd name="T13" fmla="*/ 253 h 806"/>
                <a:gd name="T14" fmla="*/ 1070 w 1612"/>
                <a:gd name="T15" fmla="*/ 253 h 806"/>
                <a:gd name="T16" fmla="*/ 949 w 1612"/>
                <a:gd name="T17" fmla="*/ 445 h 806"/>
                <a:gd name="T18" fmla="*/ 949 w 1612"/>
                <a:gd name="T19" fmla="*/ 444 h 806"/>
                <a:gd name="T20" fmla="*/ 932 w 1612"/>
                <a:gd name="T21" fmla="*/ 315 h 806"/>
                <a:gd name="T22" fmla="*/ 1242 w 1612"/>
                <a:gd name="T23" fmla="*/ 0 h 806"/>
                <a:gd name="T24" fmla="*/ 1553 w 1612"/>
                <a:gd name="T25" fmla="*/ 315 h 806"/>
                <a:gd name="T26" fmla="*/ 1542 w 1612"/>
                <a:gd name="T27" fmla="*/ 422 h 806"/>
                <a:gd name="T28" fmla="*/ 619 w 1612"/>
                <a:gd name="T29" fmla="*/ 317 h 806"/>
                <a:gd name="T30" fmla="*/ 310 w 1612"/>
                <a:gd name="T31" fmla="*/ 0 h 806"/>
                <a:gd name="T32" fmla="*/ 0 w 1612"/>
                <a:gd name="T33" fmla="*/ 317 h 806"/>
                <a:gd name="T34" fmla="*/ 12 w 1612"/>
                <a:gd name="T35" fmla="*/ 427 h 806"/>
                <a:gd name="T36" fmla="*/ 12 w 1612"/>
                <a:gd name="T37" fmla="*/ 428 h 806"/>
                <a:gd name="T38" fmla="*/ 43 w 1612"/>
                <a:gd name="T39" fmla="*/ 467 h 806"/>
                <a:gd name="T40" fmla="*/ 64 w 1612"/>
                <a:gd name="T41" fmla="*/ 469 h 806"/>
                <a:gd name="T42" fmla="*/ 140 w 1612"/>
                <a:gd name="T43" fmla="*/ 254 h 806"/>
                <a:gd name="T44" fmla="*/ 547 w 1612"/>
                <a:gd name="T45" fmla="*/ 240 h 806"/>
                <a:gd name="T46" fmla="*/ 550 w 1612"/>
                <a:gd name="T47" fmla="*/ 473 h 806"/>
                <a:gd name="T48" fmla="*/ 573 w 1612"/>
                <a:gd name="T49" fmla="*/ 473 h 806"/>
                <a:gd name="T50" fmla="*/ 608 w 1612"/>
                <a:gd name="T51" fmla="*/ 424 h 806"/>
                <a:gd name="T52" fmla="*/ 608 w 1612"/>
                <a:gd name="T53" fmla="*/ 424 h 806"/>
                <a:gd name="T54" fmla="*/ 619 w 1612"/>
                <a:gd name="T55" fmla="*/ 317 h 806"/>
                <a:gd name="T56" fmla="*/ 1033 w 1612"/>
                <a:gd name="T57" fmla="*/ 780 h 806"/>
                <a:gd name="T58" fmla="*/ 946 w 1612"/>
                <a:gd name="T59" fmla="*/ 612 h 806"/>
                <a:gd name="T60" fmla="*/ 872 w 1612"/>
                <a:gd name="T61" fmla="*/ 756 h 806"/>
                <a:gd name="T62" fmla="*/ 949 w 1612"/>
                <a:gd name="T63" fmla="*/ 806 h 806"/>
                <a:gd name="T64" fmla="*/ 1033 w 1612"/>
                <a:gd name="T65" fmla="*/ 799 h 806"/>
                <a:gd name="T66" fmla="*/ 1033 w 1612"/>
                <a:gd name="T67" fmla="*/ 780 h 806"/>
                <a:gd name="T68" fmla="*/ 1538 w 1612"/>
                <a:gd name="T69" fmla="*/ 613 h 806"/>
                <a:gd name="T70" fmla="*/ 1451 w 1612"/>
                <a:gd name="T71" fmla="*/ 781 h 806"/>
                <a:gd name="T72" fmla="*/ 1451 w 1612"/>
                <a:gd name="T73" fmla="*/ 799 h 806"/>
                <a:gd name="T74" fmla="*/ 1536 w 1612"/>
                <a:gd name="T75" fmla="*/ 806 h 806"/>
                <a:gd name="T76" fmla="*/ 1612 w 1612"/>
                <a:gd name="T77" fmla="*/ 756 h 806"/>
                <a:gd name="T78" fmla="*/ 1538 w 1612"/>
                <a:gd name="T79" fmla="*/ 613 h 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12" h="806">
                  <a:moveTo>
                    <a:pt x="1542" y="422"/>
                  </a:moveTo>
                  <a:cubicBezTo>
                    <a:pt x="1542" y="422"/>
                    <a:pt x="1542" y="421"/>
                    <a:pt x="1542" y="421"/>
                  </a:cubicBezTo>
                  <a:cubicBezTo>
                    <a:pt x="1541" y="422"/>
                    <a:pt x="1536" y="437"/>
                    <a:pt x="1508" y="469"/>
                  </a:cubicBezTo>
                  <a:cubicBezTo>
                    <a:pt x="1507" y="470"/>
                    <a:pt x="1506" y="470"/>
                    <a:pt x="1505" y="470"/>
                  </a:cubicBezTo>
                  <a:cubicBezTo>
                    <a:pt x="1485" y="470"/>
                    <a:pt x="1485" y="470"/>
                    <a:pt x="1485" y="470"/>
                  </a:cubicBezTo>
                  <a:cubicBezTo>
                    <a:pt x="1484" y="470"/>
                    <a:pt x="1484" y="470"/>
                    <a:pt x="1483" y="470"/>
                  </a:cubicBezTo>
                  <a:cubicBezTo>
                    <a:pt x="1074" y="253"/>
                    <a:pt x="1074" y="253"/>
                    <a:pt x="1074" y="253"/>
                  </a:cubicBezTo>
                  <a:cubicBezTo>
                    <a:pt x="1073" y="253"/>
                    <a:pt x="1071" y="253"/>
                    <a:pt x="1070" y="253"/>
                  </a:cubicBezTo>
                  <a:cubicBezTo>
                    <a:pt x="979" y="283"/>
                    <a:pt x="980" y="472"/>
                    <a:pt x="949" y="445"/>
                  </a:cubicBezTo>
                  <a:cubicBezTo>
                    <a:pt x="949" y="444"/>
                    <a:pt x="949" y="444"/>
                    <a:pt x="949" y="444"/>
                  </a:cubicBezTo>
                  <a:cubicBezTo>
                    <a:pt x="936" y="410"/>
                    <a:pt x="932" y="354"/>
                    <a:pt x="932" y="315"/>
                  </a:cubicBezTo>
                  <a:cubicBezTo>
                    <a:pt x="932" y="141"/>
                    <a:pt x="1067" y="0"/>
                    <a:pt x="1242" y="0"/>
                  </a:cubicBezTo>
                  <a:cubicBezTo>
                    <a:pt x="1418" y="0"/>
                    <a:pt x="1553" y="141"/>
                    <a:pt x="1553" y="315"/>
                  </a:cubicBezTo>
                  <a:cubicBezTo>
                    <a:pt x="1553" y="353"/>
                    <a:pt x="1554" y="389"/>
                    <a:pt x="1542" y="422"/>
                  </a:cubicBezTo>
                  <a:close/>
                  <a:moveTo>
                    <a:pt x="619" y="317"/>
                  </a:moveTo>
                  <a:cubicBezTo>
                    <a:pt x="619" y="142"/>
                    <a:pt x="485" y="0"/>
                    <a:pt x="310" y="0"/>
                  </a:cubicBezTo>
                  <a:cubicBezTo>
                    <a:pt x="134" y="0"/>
                    <a:pt x="0" y="142"/>
                    <a:pt x="0" y="317"/>
                  </a:cubicBezTo>
                  <a:cubicBezTo>
                    <a:pt x="0" y="356"/>
                    <a:pt x="0" y="393"/>
                    <a:pt x="12" y="427"/>
                  </a:cubicBezTo>
                  <a:cubicBezTo>
                    <a:pt x="12" y="428"/>
                    <a:pt x="12" y="428"/>
                    <a:pt x="12" y="428"/>
                  </a:cubicBezTo>
                  <a:cubicBezTo>
                    <a:pt x="43" y="456"/>
                    <a:pt x="43" y="467"/>
                    <a:pt x="43" y="467"/>
                  </a:cubicBezTo>
                  <a:cubicBezTo>
                    <a:pt x="64" y="469"/>
                    <a:pt x="64" y="469"/>
                    <a:pt x="64" y="469"/>
                  </a:cubicBezTo>
                  <a:cubicBezTo>
                    <a:pt x="64" y="469"/>
                    <a:pt x="47" y="283"/>
                    <a:pt x="140" y="254"/>
                  </a:cubicBezTo>
                  <a:cubicBezTo>
                    <a:pt x="140" y="254"/>
                    <a:pt x="512" y="418"/>
                    <a:pt x="547" y="240"/>
                  </a:cubicBezTo>
                  <a:cubicBezTo>
                    <a:pt x="550" y="462"/>
                    <a:pt x="550" y="473"/>
                    <a:pt x="550" y="473"/>
                  </a:cubicBezTo>
                  <a:cubicBezTo>
                    <a:pt x="573" y="473"/>
                    <a:pt x="573" y="473"/>
                    <a:pt x="573" y="473"/>
                  </a:cubicBezTo>
                  <a:cubicBezTo>
                    <a:pt x="602" y="440"/>
                    <a:pt x="607" y="424"/>
                    <a:pt x="608" y="424"/>
                  </a:cubicBezTo>
                  <a:cubicBezTo>
                    <a:pt x="608" y="424"/>
                    <a:pt x="608" y="424"/>
                    <a:pt x="608" y="424"/>
                  </a:cubicBezTo>
                  <a:cubicBezTo>
                    <a:pt x="620" y="391"/>
                    <a:pt x="619" y="355"/>
                    <a:pt x="619" y="317"/>
                  </a:cubicBezTo>
                  <a:close/>
                  <a:moveTo>
                    <a:pt x="1033" y="780"/>
                  </a:moveTo>
                  <a:cubicBezTo>
                    <a:pt x="1011" y="755"/>
                    <a:pt x="982" y="699"/>
                    <a:pt x="946" y="612"/>
                  </a:cubicBezTo>
                  <a:cubicBezTo>
                    <a:pt x="943" y="671"/>
                    <a:pt x="933" y="750"/>
                    <a:pt x="872" y="756"/>
                  </a:cubicBezTo>
                  <a:cubicBezTo>
                    <a:pt x="899" y="783"/>
                    <a:pt x="925" y="798"/>
                    <a:pt x="949" y="806"/>
                  </a:cubicBezTo>
                  <a:cubicBezTo>
                    <a:pt x="984" y="802"/>
                    <a:pt x="1015" y="800"/>
                    <a:pt x="1033" y="799"/>
                  </a:cubicBezTo>
                  <a:lnTo>
                    <a:pt x="1033" y="780"/>
                  </a:lnTo>
                  <a:close/>
                  <a:moveTo>
                    <a:pt x="1538" y="613"/>
                  </a:moveTo>
                  <a:cubicBezTo>
                    <a:pt x="1502" y="699"/>
                    <a:pt x="1473" y="755"/>
                    <a:pt x="1451" y="781"/>
                  </a:cubicBezTo>
                  <a:cubicBezTo>
                    <a:pt x="1451" y="799"/>
                    <a:pt x="1451" y="799"/>
                    <a:pt x="1451" y="799"/>
                  </a:cubicBezTo>
                  <a:cubicBezTo>
                    <a:pt x="1469" y="800"/>
                    <a:pt x="1501" y="802"/>
                    <a:pt x="1536" y="806"/>
                  </a:cubicBezTo>
                  <a:cubicBezTo>
                    <a:pt x="1560" y="798"/>
                    <a:pt x="1586" y="783"/>
                    <a:pt x="1612" y="756"/>
                  </a:cubicBezTo>
                  <a:cubicBezTo>
                    <a:pt x="1552" y="750"/>
                    <a:pt x="1542" y="672"/>
                    <a:pt x="1538" y="613"/>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grpSp>
      <p:grpSp>
        <p:nvGrpSpPr>
          <p:cNvPr id="63" name="Group 62"/>
          <p:cNvGrpSpPr>
            <a:grpSpLocks noChangeAspect="1"/>
          </p:cNvGrpSpPr>
          <p:nvPr/>
        </p:nvGrpSpPr>
        <p:grpSpPr>
          <a:xfrm>
            <a:off x="974977" y="3777042"/>
            <a:ext cx="810244" cy="2055398"/>
            <a:chOff x="2625978" y="4949011"/>
            <a:chExt cx="906408" cy="2299344"/>
          </a:xfrm>
        </p:grpSpPr>
        <p:sp>
          <p:nvSpPr>
            <p:cNvPr id="64" name="Rectangle 63">
              <a:extLst>
                <a:ext uri="{FF2B5EF4-FFF2-40B4-BE49-F238E27FC236}">
                  <a16:creationId xmlns:a16="http://schemas.microsoft.com/office/drawing/2014/main" id="{EC3D35D7-2D14-48DE-876D-E8BA58AB821D}"/>
                </a:ext>
              </a:extLst>
            </p:cNvPr>
            <p:cNvSpPr/>
            <p:nvPr/>
          </p:nvSpPr>
          <p:spPr>
            <a:xfrm>
              <a:off x="2625978" y="4949011"/>
              <a:ext cx="906408" cy="2299344"/>
            </a:xfrm>
            <a:prstGeom prst="rect">
              <a:avLst/>
            </a:prstGeom>
            <a:noFill/>
            <a:ln w="190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grpSp>
          <p:nvGrpSpPr>
            <p:cNvPr id="65" name="Group 64"/>
            <p:cNvGrpSpPr/>
            <p:nvPr/>
          </p:nvGrpSpPr>
          <p:grpSpPr>
            <a:xfrm>
              <a:off x="2696270" y="5045693"/>
              <a:ext cx="765825" cy="2105979"/>
              <a:chOff x="2696270" y="5045693"/>
              <a:chExt cx="765825" cy="2105979"/>
            </a:xfrm>
          </p:grpSpPr>
          <p:sp>
            <p:nvSpPr>
              <p:cNvPr id="66" name="Freeform: Shape 76">
                <a:extLst>
                  <a:ext uri="{FF2B5EF4-FFF2-40B4-BE49-F238E27FC236}">
                    <a16:creationId xmlns:a16="http://schemas.microsoft.com/office/drawing/2014/main" id="{3C9E493A-DEF5-4C5D-B348-651236B5B25F}"/>
                  </a:ext>
                </a:extLst>
              </p:cNvPr>
              <p:cNvSpPr/>
              <p:nvPr/>
            </p:nvSpPr>
            <p:spPr>
              <a:xfrm>
                <a:off x="3159704" y="5406597"/>
                <a:ext cx="302391" cy="301460"/>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BB151D"/>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67" name="Freeform: Shape 76">
                <a:extLst>
                  <a:ext uri="{FF2B5EF4-FFF2-40B4-BE49-F238E27FC236}">
                    <a16:creationId xmlns:a16="http://schemas.microsoft.com/office/drawing/2014/main" id="{3C9E493A-DEF5-4C5D-B348-651236B5B25F}"/>
                  </a:ext>
                </a:extLst>
              </p:cNvPr>
              <p:cNvSpPr/>
              <p:nvPr/>
            </p:nvSpPr>
            <p:spPr>
              <a:xfrm>
                <a:off x="2696270" y="5406597"/>
                <a:ext cx="302391" cy="301460"/>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BB151D"/>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68" name="Freeform: Shape 76">
                <a:extLst>
                  <a:ext uri="{FF2B5EF4-FFF2-40B4-BE49-F238E27FC236}">
                    <a16:creationId xmlns:a16="http://schemas.microsoft.com/office/drawing/2014/main" id="{3C9E493A-DEF5-4C5D-B348-651236B5B25F}"/>
                  </a:ext>
                </a:extLst>
              </p:cNvPr>
              <p:cNvSpPr/>
              <p:nvPr/>
            </p:nvSpPr>
            <p:spPr>
              <a:xfrm>
                <a:off x="3159704" y="5767501"/>
                <a:ext cx="302391" cy="301460"/>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69" name="Freeform: Shape 76">
                <a:extLst>
                  <a:ext uri="{FF2B5EF4-FFF2-40B4-BE49-F238E27FC236}">
                    <a16:creationId xmlns:a16="http://schemas.microsoft.com/office/drawing/2014/main" id="{3C9E493A-DEF5-4C5D-B348-651236B5B25F}"/>
                  </a:ext>
                </a:extLst>
              </p:cNvPr>
              <p:cNvSpPr/>
              <p:nvPr/>
            </p:nvSpPr>
            <p:spPr>
              <a:xfrm>
                <a:off x="2696270" y="5767501"/>
                <a:ext cx="302391" cy="301460"/>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BB151D"/>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70" name="Freeform: Shape 76">
                <a:extLst>
                  <a:ext uri="{FF2B5EF4-FFF2-40B4-BE49-F238E27FC236}">
                    <a16:creationId xmlns:a16="http://schemas.microsoft.com/office/drawing/2014/main" id="{3C9E493A-DEF5-4C5D-B348-651236B5B25F}"/>
                  </a:ext>
                </a:extLst>
              </p:cNvPr>
              <p:cNvSpPr/>
              <p:nvPr/>
            </p:nvSpPr>
            <p:spPr>
              <a:xfrm>
                <a:off x="3159704" y="6128405"/>
                <a:ext cx="302391" cy="301460"/>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71" name="Freeform: Shape 76">
                <a:extLst>
                  <a:ext uri="{FF2B5EF4-FFF2-40B4-BE49-F238E27FC236}">
                    <a16:creationId xmlns:a16="http://schemas.microsoft.com/office/drawing/2014/main" id="{3C9E493A-DEF5-4C5D-B348-651236B5B25F}"/>
                  </a:ext>
                </a:extLst>
              </p:cNvPr>
              <p:cNvSpPr/>
              <p:nvPr/>
            </p:nvSpPr>
            <p:spPr>
              <a:xfrm>
                <a:off x="2696270" y="6128405"/>
                <a:ext cx="302391" cy="301460"/>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BB151D"/>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72" name="Freeform: Shape 76">
                <a:extLst>
                  <a:ext uri="{FF2B5EF4-FFF2-40B4-BE49-F238E27FC236}">
                    <a16:creationId xmlns:a16="http://schemas.microsoft.com/office/drawing/2014/main" id="{3C9E493A-DEF5-4C5D-B348-651236B5B25F}"/>
                  </a:ext>
                </a:extLst>
              </p:cNvPr>
              <p:cNvSpPr/>
              <p:nvPr/>
            </p:nvSpPr>
            <p:spPr>
              <a:xfrm>
                <a:off x="3159704" y="6489309"/>
                <a:ext cx="302391" cy="301460"/>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73" name="Freeform: Shape 76">
                <a:extLst>
                  <a:ext uri="{FF2B5EF4-FFF2-40B4-BE49-F238E27FC236}">
                    <a16:creationId xmlns:a16="http://schemas.microsoft.com/office/drawing/2014/main" id="{3C9E493A-DEF5-4C5D-B348-651236B5B25F}"/>
                  </a:ext>
                </a:extLst>
              </p:cNvPr>
              <p:cNvSpPr/>
              <p:nvPr/>
            </p:nvSpPr>
            <p:spPr>
              <a:xfrm>
                <a:off x="2696270" y="6489309"/>
                <a:ext cx="302391" cy="301460"/>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77" name="Freeform: Shape 76">
                <a:extLst>
                  <a:ext uri="{FF2B5EF4-FFF2-40B4-BE49-F238E27FC236}">
                    <a16:creationId xmlns:a16="http://schemas.microsoft.com/office/drawing/2014/main" id="{3C9E493A-DEF5-4C5D-B348-651236B5B25F}"/>
                  </a:ext>
                </a:extLst>
              </p:cNvPr>
              <p:cNvSpPr/>
              <p:nvPr/>
            </p:nvSpPr>
            <p:spPr>
              <a:xfrm>
                <a:off x="3159704" y="6850212"/>
                <a:ext cx="302391" cy="301460"/>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91" name="Freeform: Shape 76">
                <a:extLst>
                  <a:ext uri="{FF2B5EF4-FFF2-40B4-BE49-F238E27FC236}">
                    <a16:creationId xmlns:a16="http://schemas.microsoft.com/office/drawing/2014/main" id="{3C9E493A-DEF5-4C5D-B348-651236B5B25F}"/>
                  </a:ext>
                </a:extLst>
              </p:cNvPr>
              <p:cNvSpPr/>
              <p:nvPr/>
            </p:nvSpPr>
            <p:spPr>
              <a:xfrm>
                <a:off x="2696270" y="6850212"/>
                <a:ext cx="302391" cy="301460"/>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92" name="Freeform: Shape 76">
                <a:extLst>
                  <a:ext uri="{FF2B5EF4-FFF2-40B4-BE49-F238E27FC236}">
                    <a16:creationId xmlns:a16="http://schemas.microsoft.com/office/drawing/2014/main" id="{3C9E493A-DEF5-4C5D-B348-651236B5B25F}"/>
                  </a:ext>
                </a:extLst>
              </p:cNvPr>
              <p:cNvSpPr/>
              <p:nvPr/>
            </p:nvSpPr>
            <p:spPr>
              <a:xfrm>
                <a:off x="3159704" y="5045693"/>
                <a:ext cx="302391" cy="301460"/>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BB151D"/>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93" name="Freeform: Shape 76">
                <a:extLst>
                  <a:ext uri="{FF2B5EF4-FFF2-40B4-BE49-F238E27FC236}">
                    <a16:creationId xmlns:a16="http://schemas.microsoft.com/office/drawing/2014/main" id="{3C9E493A-DEF5-4C5D-B348-651236B5B25F}"/>
                  </a:ext>
                </a:extLst>
              </p:cNvPr>
              <p:cNvSpPr/>
              <p:nvPr/>
            </p:nvSpPr>
            <p:spPr>
              <a:xfrm>
                <a:off x="2696270" y="5045693"/>
                <a:ext cx="302391" cy="301460"/>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BB151D"/>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grpSp>
      </p:grpSp>
      <p:sp>
        <p:nvSpPr>
          <p:cNvPr id="102" name="TextBox 101"/>
          <p:cNvSpPr txBox="1"/>
          <p:nvPr/>
        </p:nvSpPr>
        <p:spPr>
          <a:xfrm>
            <a:off x="842619" y="5893636"/>
            <a:ext cx="1218917" cy="293908"/>
          </a:xfrm>
          <a:prstGeom prst="rect">
            <a:avLst/>
          </a:prstGeom>
          <a:noFill/>
          <a:ln w="9525" cap="rnd">
            <a:solidFill>
              <a:schemeClr val="tx1"/>
            </a:solid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cs typeface="Calibri" panose="020F0502020204030204" pitchFamily="34" charset="0"/>
              </a:rPr>
              <a:t>Product  Backlog</a:t>
            </a:r>
          </a:p>
        </p:txBody>
      </p:sp>
      <p:sp>
        <p:nvSpPr>
          <p:cNvPr id="103" name="TextBox 102"/>
          <p:cNvSpPr txBox="1"/>
          <p:nvPr/>
        </p:nvSpPr>
        <p:spPr>
          <a:xfrm>
            <a:off x="729948" y="6235284"/>
            <a:ext cx="1601500" cy="33855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cs typeface="Calibri" panose="020F0502020204030204" pitchFamily="34" charset="0"/>
              </a:rPr>
              <a:t>Ordered list of the work that the Team may do</a:t>
            </a:r>
          </a:p>
        </p:txBody>
      </p:sp>
      <p:sp>
        <p:nvSpPr>
          <p:cNvPr id="107" name="TextBox 106"/>
          <p:cNvSpPr txBox="1"/>
          <p:nvPr/>
        </p:nvSpPr>
        <p:spPr>
          <a:xfrm>
            <a:off x="2518354" y="5167209"/>
            <a:ext cx="1923664"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tx1"/>
                </a:solidFill>
                <a:effectLst/>
                <a:uLnTx/>
                <a:uFillTx/>
                <a:cs typeface="Calibri" panose="020F0502020204030204" pitchFamily="34" charset="0"/>
              </a:rPr>
              <a:t>Sprint Planning</a:t>
            </a:r>
          </a:p>
        </p:txBody>
      </p:sp>
      <p:sp>
        <p:nvSpPr>
          <p:cNvPr id="109" name="TextBox 108"/>
          <p:cNvSpPr txBox="1"/>
          <p:nvPr/>
        </p:nvSpPr>
        <p:spPr>
          <a:xfrm>
            <a:off x="2518354" y="5466456"/>
            <a:ext cx="1693290" cy="1107996"/>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cs typeface="Calibri" panose="020F0502020204030204" pitchFamily="34" charset="0"/>
              </a:rPr>
              <a:t>Plan what work the team will do within the sprint; the Team decides how much to pull and how they will achieve the goal</a:t>
            </a:r>
          </a:p>
        </p:txBody>
      </p:sp>
      <p:sp>
        <p:nvSpPr>
          <p:cNvPr id="113" name="Oval 20"/>
          <p:cNvSpPr>
            <a:spLocks noChangeArrowheads="1"/>
          </p:cNvSpPr>
          <p:nvPr/>
        </p:nvSpPr>
        <p:spPr bwMode="auto">
          <a:xfrm>
            <a:off x="2229196" y="5165128"/>
            <a:ext cx="228600" cy="22860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A</a:t>
            </a:r>
          </a:p>
        </p:txBody>
      </p:sp>
      <p:sp>
        <p:nvSpPr>
          <p:cNvPr id="144" name="TextBox 143"/>
          <p:cNvSpPr txBox="1"/>
          <p:nvPr/>
        </p:nvSpPr>
        <p:spPr>
          <a:xfrm>
            <a:off x="4715582" y="5603523"/>
            <a:ext cx="2317045"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tx1"/>
                </a:solidFill>
                <a:effectLst/>
                <a:uLnTx/>
                <a:uFillTx/>
                <a:cs typeface="Calibri" panose="020F0502020204030204" pitchFamily="34" charset="0"/>
              </a:rPr>
              <a:t>Team Stand-up</a:t>
            </a:r>
          </a:p>
        </p:txBody>
      </p:sp>
      <p:sp>
        <p:nvSpPr>
          <p:cNvPr id="145" name="TextBox 144"/>
          <p:cNvSpPr txBox="1"/>
          <p:nvPr/>
        </p:nvSpPr>
        <p:spPr>
          <a:xfrm>
            <a:off x="4753857" y="5855335"/>
            <a:ext cx="3742665" cy="55399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cs typeface="Calibri" panose="020F0502020204030204" pitchFamily="34" charset="0"/>
              </a:rPr>
              <a:t>Daily meeting to improve coordination through a quick check-in on progress, agreeing action plans for the day and surfacing obstacles. </a:t>
            </a:r>
          </a:p>
        </p:txBody>
      </p:sp>
      <p:sp>
        <p:nvSpPr>
          <p:cNvPr id="143" name="Oval 20"/>
          <p:cNvSpPr>
            <a:spLocks noChangeArrowheads="1"/>
          </p:cNvSpPr>
          <p:nvPr/>
        </p:nvSpPr>
        <p:spPr bwMode="auto">
          <a:xfrm>
            <a:off x="4457954" y="5612334"/>
            <a:ext cx="228600" cy="22860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B</a:t>
            </a:r>
          </a:p>
        </p:txBody>
      </p:sp>
      <p:sp>
        <p:nvSpPr>
          <p:cNvPr id="114" name="TextBox 113"/>
          <p:cNvSpPr txBox="1"/>
          <p:nvPr/>
        </p:nvSpPr>
        <p:spPr>
          <a:xfrm>
            <a:off x="8057450" y="2721524"/>
            <a:ext cx="2929556"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tx1"/>
                </a:solidFill>
                <a:effectLst/>
                <a:uLnTx/>
                <a:uFillTx/>
                <a:cs typeface="Calibri" panose="020F0502020204030204" pitchFamily="34" charset="0"/>
              </a:rPr>
              <a:t>Backlog Refinement</a:t>
            </a:r>
          </a:p>
        </p:txBody>
      </p:sp>
      <p:sp>
        <p:nvSpPr>
          <p:cNvPr id="142" name="TextBox 141"/>
          <p:cNvSpPr txBox="1"/>
          <p:nvPr/>
        </p:nvSpPr>
        <p:spPr>
          <a:xfrm>
            <a:off x="8086130" y="2979637"/>
            <a:ext cx="3111293" cy="55399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cs typeface="Calibri" panose="020F0502020204030204" pitchFamily="34" charset="0"/>
              </a:rPr>
              <a:t>Looking ahead to get greater clarity and prepare work that is prioritized for the next 2-3 sprints</a:t>
            </a:r>
          </a:p>
        </p:txBody>
      </p:sp>
      <p:sp>
        <p:nvSpPr>
          <p:cNvPr id="146" name="Oval 20"/>
          <p:cNvSpPr>
            <a:spLocks noChangeArrowheads="1"/>
          </p:cNvSpPr>
          <p:nvPr/>
        </p:nvSpPr>
        <p:spPr bwMode="auto">
          <a:xfrm>
            <a:off x="7799822" y="2730334"/>
            <a:ext cx="228600" cy="22860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C</a:t>
            </a:r>
          </a:p>
        </p:txBody>
      </p:sp>
      <p:sp>
        <p:nvSpPr>
          <p:cNvPr id="149" name="TextBox 148"/>
          <p:cNvSpPr txBox="1"/>
          <p:nvPr/>
        </p:nvSpPr>
        <p:spPr>
          <a:xfrm>
            <a:off x="4620532" y="1082189"/>
            <a:ext cx="2936781"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tx1"/>
                </a:solidFill>
                <a:effectLst/>
                <a:uLnTx/>
                <a:uFillTx/>
                <a:cs typeface="Calibri" panose="020F0502020204030204" pitchFamily="34" charset="0"/>
              </a:rPr>
              <a:t>Sprint Review &amp; Demo</a:t>
            </a:r>
          </a:p>
        </p:txBody>
      </p:sp>
      <p:sp>
        <p:nvSpPr>
          <p:cNvPr id="150" name="TextBox 149"/>
          <p:cNvSpPr txBox="1"/>
          <p:nvPr/>
        </p:nvSpPr>
        <p:spPr>
          <a:xfrm>
            <a:off x="4615015" y="1279267"/>
            <a:ext cx="4071785" cy="55399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cs typeface="Calibri" panose="020F0502020204030204" pitchFamily="34" charset="0"/>
              </a:rPr>
              <a:t>Share the Sprint increment and outcomes to stakeholders for feedback at the end of a Sprint in order to adapt future iterations</a:t>
            </a:r>
          </a:p>
        </p:txBody>
      </p:sp>
      <p:sp>
        <p:nvSpPr>
          <p:cNvPr id="151" name="Oval 20"/>
          <p:cNvSpPr>
            <a:spLocks noChangeArrowheads="1"/>
          </p:cNvSpPr>
          <p:nvPr/>
        </p:nvSpPr>
        <p:spPr bwMode="auto">
          <a:xfrm>
            <a:off x="4362904" y="1091000"/>
            <a:ext cx="228600" cy="22860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D</a:t>
            </a:r>
          </a:p>
        </p:txBody>
      </p:sp>
      <p:sp>
        <p:nvSpPr>
          <p:cNvPr id="152" name="TextBox 151"/>
          <p:cNvSpPr txBox="1"/>
          <p:nvPr/>
        </p:nvSpPr>
        <p:spPr>
          <a:xfrm>
            <a:off x="2663896" y="2534008"/>
            <a:ext cx="1445609"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tx1"/>
                </a:solidFill>
                <a:effectLst/>
                <a:uLnTx/>
                <a:uFillTx/>
                <a:cs typeface="Calibri" panose="020F0502020204030204" pitchFamily="34" charset="0"/>
              </a:rPr>
              <a:t>Retrospective</a:t>
            </a:r>
          </a:p>
        </p:txBody>
      </p:sp>
      <p:sp>
        <p:nvSpPr>
          <p:cNvPr id="153" name="TextBox 152"/>
          <p:cNvSpPr txBox="1"/>
          <p:nvPr/>
        </p:nvSpPr>
        <p:spPr>
          <a:xfrm>
            <a:off x="2659238" y="2791204"/>
            <a:ext cx="1703383" cy="92333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cs typeface="Calibri" panose="020F0502020204030204" pitchFamily="34" charset="0"/>
              </a:rPr>
              <a:t>Team meeting where they reflect on processes and how to deliver better customer outcomes, faster</a:t>
            </a:r>
          </a:p>
        </p:txBody>
      </p:sp>
      <p:sp>
        <p:nvSpPr>
          <p:cNvPr id="154" name="Oval 20"/>
          <p:cNvSpPr>
            <a:spLocks noChangeArrowheads="1"/>
          </p:cNvSpPr>
          <p:nvPr/>
        </p:nvSpPr>
        <p:spPr bwMode="auto">
          <a:xfrm>
            <a:off x="2362200" y="2542819"/>
            <a:ext cx="228600" cy="22860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E</a:t>
            </a:r>
          </a:p>
        </p:txBody>
      </p:sp>
      <p:sp>
        <p:nvSpPr>
          <p:cNvPr id="157" name="Freeform 11">
            <a:extLst>
              <a:ext uri="{FF2B5EF4-FFF2-40B4-BE49-F238E27FC236}">
                <a16:creationId xmlns:a16="http://schemas.microsoft.com/office/drawing/2014/main" id="{58E17237-35DE-43B6-A27C-FD6A59CB9A05}"/>
              </a:ext>
            </a:extLst>
          </p:cNvPr>
          <p:cNvSpPr>
            <a:spLocks/>
          </p:cNvSpPr>
          <p:nvPr/>
        </p:nvSpPr>
        <p:spPr bwMode="auto">
          <a:xfrm>
            <a:off x="5178451" y="3508808"/>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158" name="Freeform 12">
            <a:extLst>
              <a:ext uri="{FF2B5EF4-FFF2-40B4-BE49-F238E27FC236}">
                <a16:creationId xmlns:a16="http://schemas.microsoft.com/office/drawing/2014/main" id="{DB001D81-2BBD-431C-AF94-D8538ED5FC54}"/>
              </a:ext>
            </a:extLst>
          </p:cNvPr>
          <p:cNvSpPr>
            <a:spLocks noEditPoints="1"/>
          </p:cNvSpPr>
          <p:nvPr/>
        </p:nvSpPr>
        <p:spPr bwMode="auto">
          <a:xfrm>
            <a:off x="5072507" y="3323676"/>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160" name="Freeform 11">
            <a:extLst>
              <a:ext uri="{FF2B5EF4-FFF2-40B4-BE49-F238E27FC236}">
                <a16:creationId xmlns:a16="http://schemas.microsoft.com/office/drawing/2014/main" id="{58E17237-35DE-43B6-A27C-FD6A59CB9A05}"/>
              </a:ext>
            </a:extLst>
          </p:cNvPr>
          <p:cNvSpPr>
            <a:spLocks/>
          </p:cNvSpPr>
          <p:nvPr/>
        </p:nvSpPr>
        <p:spPr bwMode="auto">
          <a:xfrm>
            <a:off x="5668308" y="3508808"/>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161" name="Freeform 12">
            <a:extLst>
              <a:ext uri="{FF2B5EF4-FFF2-40B4-BE49-F238E27FC236}">
                <a16:creationId xmlns:a16="http://schemas.microsoft.com/office/drawing/2014/main" id="{DB001D81-2BBD-431C-AF94-D8538ED5FC54}"/>
              </a:ext>
            </a:extLst>
          </p:cNvPr>
          <p:cNvSpPr>
            <a:spLocks noEditPoints="1"/>
          </p:cNvSpPr>
          <p:nvPr/>
        </p:nvSpPr>
        <p:spPr bwMode="auto">
          <a:xfrm>
            <a:off x="5562363" y="3323676"/>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163" name="Freeform 11">
            <a:extLst>
              <a:ext uri="{FF2B5EF4-FFF2-40B4-BE49-F238E27FC236}">
                <a16:creationId xmlns:a16="http://schemas.microsoft.com/office/drawing/2014/main" id="{58E17237-35DE-43B6-A27C-FD6A59CB9A05}"/>
              </a:ext>
            </a:extLst>
          </p:cNvPr>
          <p:cNvSpPr>
            <a:spLocks/>
          </p:cNvSpPr>
          <p:nvPr/>
        </p:nvSpPr>
        <p:spPr bwMode="auto">
          <a:xfrm>
            <a:off x="6158165" y="3508808"/>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164" name="Freeform 12">
            <a:extLst>
              <a:ext uri="{FF2B5EF4-FFF2-40B4-BE49-F238E27FC236}">
                <a16:creationId xmlns:a16="http://schemas.microsoft.com/office/drawing/2014/main" id="{DB001D81-2BBD-431C-AF94-D8538ED5FC54}"/>
              </a:ext>
            </a:extLst>
          </p:cNvPr>
          <p:cNvSpPr>
            <a:spLocks noEditPoints="1"/>
          </p:cNvSpPr>
          <p:nvPr/>
        </p:nvSpPr>
        <p:spPr bwMode="auto">
          <a:xfrm>
            <a:off x="6052220" y="3323676"/>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165" name="AutoShape 9">
            <a:extLst>
              <a:ext uri="{FF2B5EF4-FFF2-40B4-BE49-F238E27FC236}">
                <a16:creationId xmlns:a16="http://schemas.microsoft.com/office/drawing/2014/main" id="{3E14E4B4-76F8-4224-B362-71FE45C93005}"/>
              </a:ext>
            </a:extLst>
          </p:cNvPr>
          <p:cNvSpPr>
            <a:spLocks noChangeAspect="1" noChangeArrowheads="1" noTextEdit="1"/>
          </p:cNvSpPr>
          <p:nvPr/>
        </p:nvSpPr>
        <p:spPr bwMode="auto">
          <a:xfrm>
            <a:off x="6462258" y="3237879"/>
            <a:ext cx="619591" cy="657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66" name="Freeform 11">
            <a:extLst>
              <a:ext uri="{FF2B5EF4-FFF2-40B4-BE49-F238E27FC236}">
                <a16:creationId xmlns:a16="http://schemas.microsoft.com/office/drawing/2014/main" id="{58E17237-35DE-43B6-A27C-FD6A59CB9A05}"/>
              </a:ext>
            </a:extLst>
          </p:cNvPr>
          <p:cNvSpPr>
            <a:spLocks/>
          </p:cNvSpPr>
          <p:nvPr/>
        </p:nvSpPr>
        <p:spPr bwMode="auto">
          <a:xfrm>
            <a:off x="6648021" y="3508808"/>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167" name="Freeform 12">
            <a:extLst>
              <a:ext uri="{FF2B5EF4-FFF2-40B4-BE49-F238E27FC236}">
                <a16:creationId xmlns:a16="http://schemas.microsoft.com/office/drawing/2014/main" id="{DB001D81-2BBD-431C-AF94-D8538ED5FC54}"/>
              </a:ext>
            </a:extLst>
          </p:cNvPr>
          <p:cNvSpPr>
            <a:spLocks noEditPoints="1"/>
          </p:cNvSpPr>
          <p:nvPr/>
        </p:nvSpPr>
        <p:spPr bwMode="auto">
          <a:xfrm>
            <a:off x="6542076" y="3323676"/>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168" name="AutoShape 9">
            <a:extLst>
              <a:ext uri="{FF2B5EF4-FFF2-40B4-BE49-F238E27FC236}">
                <a16:creationId xmlns:a16="http://schemas.microsoft.com/office/drawing/2014/main" id="{3E14E4B4-76F8-4224-B362-71FE45C93005}"/>
              </a:ext>
            </a:extLst>
          </p:cNvPr>
          <p:cNvSpPr>
            <a:spLocks noChangeAspect="1" noChangeArrowheads="1" noTextEdit="1"/>
          </p:cNvSpPr>
          <p:nvPr/>
        </p:nvSpPr>
        <p:spPr bwMode="auto">
          <a:xfrm>
            <a:off x="4992689" y="2724162"/>
            <a:ext cx="619591" cy="657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69" name="Freeform 11">
            <a:extLst>
              <a:ext uri="{FF2B5EF4-FFF2-40B4-BE49-F238E27FC236}">
                <a16:creationId xmlns:a16="http://schemas.microsoft.com/office/drawing/2014/main" id="{58E17237-35DE-43B6-A27C-FD6A59CB9A05}"/>
              </a:ext>
            </a:extLst>
          </p:cNvPr>
          <p:cNvSpPr>
            <a:spLocks/>
          </p:cNvSpPr>
          <p:nvPr/>
        </p:nvSpPr>
        <p:spPr bwMode="auto">
          <a:xfrm>
            <a:off x="5178451" y="2995091"/>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170" name="Freeform 12">
            <a:extLst>
              <a:ext uri="{FF2B5EF4-FFF2-40B4-BE49-F238E27FC236}">
                <a16:creationId xmlns:a16="http://schemas.microsoft.com/office/drawing/2014/main" id="{DB001D81-2BBD-431C-AF94-D8538ED5FC54}"/>
              </a:ext>
            </a:extLst>
          </p:cNvPr>
          <p:cNvSpPr>
            <a:spLocks noEditPoints="1"/>
          </p:cNvSpPr>
          <p:nvPr/>
        </p:nvSpPr>
        <p:spPr bwMode="auto">
          <a:xfrm>
            <a:off x="5072507" y="2809959"/>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171" name="AutoShape 9">
            <a:extLst>
              <a:ext uri="{FF2B5EF4-FFF2-40B4-BE49-F238E27FC236}">
                <a16:creationId xmlns:a16="http://schemas.microsoft.com/office/drawing/2014/main" id="{3E14E4B4-76F8-4224-B362-71FE45C93005}"/>
              </a:ext>
            </a:extLst>
          </p:cNvPr>
          <p:cNvSpPr>
            <a:spLocks noChangeAspect="1" noChangeArrowheads="1" noTextEdit="1"/>
          </p:cNvSpPr>
          <p:nvPr/>
        </p:nvSpPr>
        <p:spPr bwMode="auto">
          <a:xfrm>
            <a:off x="5482545" y="2724162"/>
            <a:ext cx="619591" cy="657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72" name="Freeform 11">
            <a:extLst>
              <a:ext uri="{FF2B5EF4-FFF2-40B4-BE49-F238E27FC236}">
                <a16:creationId xmlns:a16="http://schemas.microsoft.com/office/drawing/2014/main" id="{58E17237-35DE-43B6-A27C-FD6A59CB9A05}"/>
              </a:ext>
            </a:extLst>
          </p:cNvPr>
          <p:cNvSpPr>
            <a:spLocks/>
          </p:cNvSpPr>
          <p:nvPr/>
        </p:nvSpPr>
        <p:spPr bwMode="auto">
          <a:xfrm>
            <a:off x="5668308" y="2995091"/>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173" name="Freeform 12">
            <a:extLst>
              <a:ext uri="{FF2B5EF4-FFF2-40B4-BE49-F238E27FC236}">
                <a16:creationId xmlns:a16="http://schemas.microsoft.com/office/drawing/2014/main" id="{DB001D81-2BBD-431C-AF94-D8538ED5FC54}"/>
              </a:ext>
            </a:extLst>
          </p:cNvPr>
          <p:cNvSpPr>
            <a:spLocks noEditPoints="1"/>
          </p:cNvSpPr>
          <p:nvPr/>
        </p:nvSpPr>
        <p:spPr bwMode="auto">
          <a:xfrm>
            <a:off x="5562363" y="2809959"/>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174" name="AutoShape 9">
            <a:extLst>
              <a:ext uri="{FF2B5EF4-FFF2-40B4-BE49-F238E27FC236}">
                <a16:creationId xmlns:a16="http://schemas.microsoft.com/office/drawing/2014/main" id="{3E14E4B4-76F8-4224-B362-71FE45C93005}"/>
              </a:ext>
            </a:extLst>
          </p:cNvPr>
          <p:cNvSpPr>
            <a:spLocks noChangeAspect="1" noChangeArrowheads="1" noTextEdit="1"/>
          </p:cNvSpPr>
          <p:nvPr/>
        </p:nvSpPr>
        <p:spPr bwMode="auto">
          <a:xfrm>
            <a:off x="5972402" y="2724162"/>
            <a:ext cx="619591" cy="657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75" name="Freeform 11">
            <a:extLst>
              <a:ext uri="{FF2B5EF4-FFF2-40B4-BE49-F238E27FC236}">
                <a16:creationId xmlns:a16="http://schemas.microsoft.com/office/drawing/2014/main" id="{58E17237-35DE-43B6-A27C-FD6A59CB9A05}"/>
              </a:ext>
            </a:extLst>
          </p:cNvPr>
          <p:cNvSpPr>
            <a:spLocks/>
          </p:cNvSpPr>
          <p:nvPr/>
        </p:nvSpPr>
        <p:spPr bwMode="auto">
          <a:xfrm>
            <a:off x="6158165" y="2995091"/>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176" name="Freeform 12">
            <a:extLst>
              <a:ext uri="{FF2B5EF4-FFF2-40B4-BE49-F238E27FC236}">
                <a16:creationId xmlns:a16="http://schemas.microsoft.com/office/drawing/2014/main" id="{DB001D81-2BBD-431C-AF94-D8538ED5FC54}"/>
              </a:ext>
            </a:extLst>
          </p:cNvPr>
          <p:cNvSpPr>
            <a:spLocks noEditPoints="1"/>
          </p:cNvSpPr>
          <p:nvPr/>
        </p:nvSpPr>
        <p:spPr bwMode="auto">
          <a:xfrm>
            <a:off x="6052220" y="2809959"/>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177" name="AutoShape 9">
            <a:extLst>
              <a:ext uri="{FF2B5EF4-FFF2-40B4-BE49-F238E27FC236}">
                <a16:creationId xmlns:a16="http://schemas.microsoft.com/office/drawing/2014/main" id="{3E14E4B4-76F8-4224-B362-71FE45C93005}"/>
              </a:ext>
            </a:extLst>
          </p:cNvPr>
          <p:cNvSpPr>
            <a:spLocks noChangeAspect="1" noChangeArrowheads="1" noTextEdit="1"/>
          </p:cNvSpPr>
          <p:nvPr/>
        </p:nvSpPr>
        <p:spPr bwMode="auto">
          <a:xfrm>
            <a:off x="6462258" y="2724162"/>
            <a:ext cx="619591" cy="657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78" name="Freeform 11">
            <a:extLst>
              <a:ext uri="{FF2B5EF4-FFF2-40B4-BE49-F238E27FC236}">
                <a16:creationId xmlns:a16="http://schemas.microsoft.com/office/drawing/2014/main" id="{58E17237-35DE-43B6-A27C-FD6A59CB9A05}"/>
              </a:ext>
            </a:extLst>
          </p:cNvPr>
          <p:cNvSpPr>
            <a:spLocks/>
          </p:cNvSpPr>
          <p:nvPr/>
        </p:nvSpPr>
        <p:spPr bwMode="auto">
          <a:xfrm>
            <a:off x="6648021" y="2995091"/>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179" name="Freeform 12">
            <a:extLst>
              <a:ext uri="{FF2B5EF4-FFF2-40B4-BE49-F238E27FC236}">
                <a16:creationId xmlns:a16="http://schemas.microsoft.com/office/drawing/2014/main" id="{DB001D81-2BBD-431C-AF94-D8538ED5FC54}"/>
              </a:ext>
            </a:extLst>
          </p:cNvPr>
          <p:cNvSpPr>
            <a:spLocks noEditPoints="1"/>
          </p:cNvSpPr>
          <p:nvPr/>
        </p:nvSpPr>
        <p:spPr bwMode="auto">
          <a:xfrm>
            <a:off x="6542076" y="2809959"/>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97" name="TextBox 96"/>
          <p:cNvSpPr txBox="1"/>
          <p:nvPr/>
        </p:nvSpPr>
        <p:spPr bwMode="gray">
          <a:xfrm>
            <a:off x="5230263" y="5230824"/>
            <a:ext cx="942789" cy="169277"/>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75757"/>
                </a:solidFill>
                <a:effectLst/>
                <a:uLnTx/>
                <a:uFillTx/>
                <a:latin typeface="Calibri" panose="020F0502020204030204" pitchFamily="34" charset="0"/>
                <a:cs typeface="Calibri" panose="020F0502020204030204" pitchFamily="34" charset="0"/>
              </a:rPr>
              <a:t>Daily</a:t>
            </a:r>
          </a:p>
        </p:txBody>
      </p:sp>
      <p:grpSp>
        <p:nvGrpSpPr>
          <p:cNvPr id="5" name="Group 4"/>
          <p:cNvGrpSpPr/>
          <p:nvPr/>
        </p:nvGrpSpPr>
        <p:grpSpPr>
          <a:xfrm>
            <a:off x="4703760" y="4608409"/>
            <a:ext cx="923045" cy="915246"/>
            <a:chOff x="4830224" y="4608409"/>
            <a:chExt cx="923045" cy="915246"/>
          </a:xfrm>
        </p:grpSpPr>
        <p:sp>
          <p:nvSpPr>
            <p:cNvPr id="127" name="AutoShape 23">
              <a:extLst>
                <a:ext uri="{FF2B5EF4-FFF2-40B4-BE49-F238E27FC236}">
                  <a16:creationId xmlns:a16="http://schemas.microsoft.com/office/drawing/2014/main" id="{3659893E-A63E-43B3-9581-A797B0C717D4}"/>
                </a:ext>
              </a:extLst>
            </p:cNvPr>
            <p:cNvSpPr>
              <a:spLocks noChangeAspect="1" noChangeArrowheads="1" noTextEdit="1"/>
            </p:cNvSpPr>
            <p:nvPr/>
          </p:nvSpPr>
          <p:spPr bwMode="auto">
            <a:xfrm flipH="1">
              <a:off x="4830224" y="4608409"/>
              <a:ext cx="923045" cy="915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28" name="Freeform 25">
              <a:extLst>
                <a:ext uri="{FF2B5EF4-FFF2-40B4-BE49-F238E27FC236}">
                  <a16:creationId xmlns:a16="http://schemas.microsoft.com/office/drawing/2014/main" id="{428B800B-7BCF-495B-A3E0-A8B64B387C09}"/>
                </a:ext>
              </a:extLst>
            </p:cNvPr>
            <p:cNvSpPr>
              <a:spLocks noEditPoints="1"/>
            </p:cNvSpPr>
            <p:nvPr/>
          </p:nvSpPr>
          <p:spPr bwMode="auto">
            <a:xfrm flipH="1">
              <a:off x="4951914" y="4682773"/>
              <a:ext cx="679666" cy="765883"/>
            </a:xfrm>
            <a:custGeom>
              <a:avLst/>
              <a:gdLst>
                <a:gd name="T0" fmla="*/ 1693 w 1696"/>
                <a:gd name="T1" fmla="*/ 1152 h 1928"/>
                <a:gd name="T2" fmla="*/ 1394 w 1696"/>
                <a:gd name="T3" fmla="*/ 1637 h 1928"/>
                <a:gd name="T4" fmla="*/ 865 w 1696"/>
                <a:gd name="T5" fmla="*/ 1831 h 1928"/>
                <a:gd name="T6" fmla="*/ 924 w 1696"/>
                <a:gd name="T7" fmla="*/ 1891 h 1928"/>
                <a:gd name="T8" fmla="*/ 923 w 1696"/>
                <a:gd name="T9" fmla="*/ 1922 h 1928"/>
                <a:gd name="T10" fmla="*/ 908 w 1696"/>
                <a:gd name="T11" fmla="*/ 1928 h 1928"/>
                <a:gd name="T12" fmla="*/ 892 w 1696"/>
                <a:gd name="T13" fmla="*/ 1922 h 1928"/>
                <a:gd name="T14" fmla="*/ 796 w 1696"/>
                <a:gd name="T15" fmla="*/ 1823 h 1928"/>
                <a:gd name="T16" fmla="*/ 796 w 1696"/>
                <a:gd name="T17" fmla="*/ 1791 h 1928"/>
                <a:gd name="T18" fmla="*/ 895 w 1696"/>
                <a:gd name="T19" fmla="*/ 1695 h 1928"/>
                <a:gd name="T20" fmla="*/ 926 w 1696"/>
                <a:gd name="T21" fmla="*/ 1695 h 1928"/>
                <a:gd name="T22" fmla="*/ 926 w 1696"/>
                <a:gd name="T23" fmla="*/ 1726 h 1928"/>
                <a:gd name="T24" fmla="*/ 864 w 1696"/>
                <a:gd name="T25" fmla="*/ 1787 h 1928"/>
                <a:gd name="T26" fmla="*/ 1650 w 1696"/>
                <a:gd name="T27" fmla="*/ 1143 h 1928"/>
                <a:gd name="T28" fmla="*/ 1677 w 1696"/>
                <a:gd name="T29" fmla="*/ 1126 h 1928"/>
                <a:gd name="T30" fmla="*/ 1693 w 1696"/>
                <a:gd name="T31" fmla="*/ 1152 h 1928"/>
                <a:gd name="T32" fmla="*/ 900 w 1696"/>
                <a:gd name="T33" fmla="*/ 107 h 1928"/>
                <a:gd name="T34" fmla="*/ 804 w 1696"/>
                <a:gd name="T35" fmla="*/ 8 h 1928"/>
                <a:gd name="T36" fmla="*/ 773 w 1696"/>
                <a:gd name="T37" fmla="*/ 8 h 1928"/>
                <a:gd name="T38" fmla="*/ 772 w 1696"/>
                <a:gd name="T39" fmla="*/ 39 h 1928"/>
                <a:gd name="T40" fmla="*/ 831 w 1696"/>
                <a:gd name="T41" fmla="*/ 99 h 1928"/>
                <a:gd name="T42" fmla="*/ 302 w 1696"/>
                <a:gd name="T43" fmla="*/ 293 h 1928"/>
                <a:gd name="T44" fmla="*/ 3 w 1696"/>
                <a:gd name="T45" fmla="*/ 778 h 1928"/>
                <a:gd name="T46" fmla="*/ 19 w 1696"/>
                <a:gd name="T47" fmla="*/ 804 h 1928"/>
                <a:gd name="T48" fmla="*/ 24 w 1696"/>
                <a:gd name="T49" fmla="*/ 804 h 1928"/>
                <a:gd name="T50" fmla="*/ 46 w 1696"/>
                <a:gd name="T51" fmla="*/ 787 h 1928"/>
                <a:gd name="T52" fmla="*/ 832 w 1696"/>
                <a:gd name="T53" fmla="*/ 143 h 1928"/>
                <a:gd name="T54" fmla="*/ 770 w 1696"/>
                <a:gd name="T55" fmla="*/ 204 h 1928"/>
                <a:gd name="T56" fmla="*/ 770 w 1696"/>
                <a:gd name="T57" fmla="*/ 235 h 1928"/>
                <a:gd name="T58" fmla="*/ 786 w 1696"/>
                <a:gd name="T59" fmla="*/ 241 h 1928"/>
                <a:gd name="T60" fmla="*/ 801 w 1696"/>
                <a:gd name="T61" fmla="*/ 235 h 1928"/>
                <a:gd name="T62" fmla="*/ 900 w 1696"/>
                <a:gd name="T63" fmla="*/ 139 h 1928"/>
                <a:gd name="T64" fmla="*/ 900 w 1696"/>
                <a:gd name="T65" fmla="*/ 107 h 1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96" h="1928">
                  <a:moveTo>
                    <a:pt x="1693" y="1152"/>
                  </a:moveTo>
                  <a:cubicBezTo>
                    <a:pt x="1652" y="1342"/>
                    <a:pt x="1545" y="1514"/>
                    <a:pt x="1394" y="1637"/>
                  </a:cubicBezTo>
                  <a:cubicBezTo>
                    <a:pt x="1245" y="1759"/>
                    <a:pt x="1057" y="1827"/>
                    <a:pt x="865" y="1831"/>
                  </a:cubicBezTo>
                  <a:cubicBezTo>
                    <a:pt x="924" y="1891"/>
                    <a:pt x="924" y="1891"/>
                    <a:pt x="924" y="1891"/>
                  </a:cubicBezTo>
                  <a:cubicBezTo>
                    <a:pt x="932" y="1900"/>
                    <a:pt x="932" y="1914"/>
                    <a:pt x="923" y="1922"/>
                  </a:cubicBezTo>
                  <a:cubicBezTo>
                    <a:pt x="919" y="1926"/>
                    <a:pt x="913" y="1928"/>
                    <a:pt x="908" y="1928"/>
                  </a:cubicBezTo>
                  <a:cubicBezTo>
                    <a:pt x="902" y="1928"/>
                    <a:pt x="896" y="1926"/>
                    <a:pt x="892" y="1922"/>
                  </a:cubicBezTo>
                  <a:cubicBezTo>
                    <a:pt x="796" y="1823"/>
                    <a:pt x="796" y="1823"/>
                    <a:pt x="796" y="1823"/>
                  </a:cubicBezTo>
                  <a:cubicBezTo>
                    <a:pt x="787" y="1814"/>
                    <a:pt x="787" y="1800"/>
                    <a:pt x="796" y="1791"/>
                  </a:cubicBezTo>
                  <a:cubicBezTo>
                    <a:pt x="895" y="1695"/>
                    <a:pt x="895" y="1695"/>
                    <a:pt x="895" y="1695"/>
                  </a:cubicBezTo>
                  <a:cubicBezTo>
                    <a:pt x="904" y="1686"/>
                    <a:pt x="918" y="1687"/>
                    <a:pt x="926" y="1695"/>
                  </a:cubicBezTo>
                  <a:cubicBezTo>
                    <a:pt x="935" y="1704"/>
                    <a:pt x="934" y="1718"/>
                    <a:pt x="926" y="1726"/>
                  </a:cubicBezTo>
                  <a:cubicBezTo>
                    <a:pt x="864" y="1787"/>
                    <a:pt x="864" y="1787"/>
                    <a:pt x="864" y="1787"/>
                  </a:cubicBezTo>
                  <a:cubicBezTo>
                    <a:pt x="1240" y="1779"/>
                    <a:pt x="1569" y="1511"/>
                    <a:pt x="1650" y="1143"/>
                  </a:cubicBezTo>
                  <a:cubicBezTo>
                    <a:pt x="1653" y="1131"/>
                    <a:pt x="1665" y="1124"/>
                    <a:pt x="1677" y="1126"/>
                  </a:cubicBezTo>
                  <a:cubicBezTo>
                    <a:pt x="1689" y="1129"/>
                    <a:pt x="1696" y="1141"/>
                    <a:pt x="1693" y="1152"/>
                  </a:cubicBezTo>
                  <a:close/>
                  <a:moveTo>
                    <a:pt x="900" y="107"/>
                  </a:moveTo>
                  <a:cubicBezTo>
                    <a:pt x="804" y="8"/>
                    <a:pt x="804" y="8"/>
                    <a:pt x="804" y="8"/>
                  </a:cubicBezTo>
                  <a:cubicBezTo>
                    <a:pt x="795" y="0"/>
                    <a:pt x="782" y="0"/>
                    <a:pt x="773" y="8"/>
                  </a:cubicBezTo>
                  <a:cubicBezTo>
                    <a:pt x="764" y="17"/>
                    <a:pt x="764" y="30"/>
                    <a:pt x="772" y="39"/>
                  </a:cubicBezTo>
                  <a:cubicBezTo>
                    <a:pt x="831" y="99"/>
                    <a:pt x="831" y="99"/>
                    <a:pt x="831" y="99"/>
                  </a:cubicBezTo>
                  <a:cubicBezTo>
                    <a:pt x="639" y="103"/>
                    <a:pt x="451" y="172"/>
                    <a:pt x="302" y="293"/>
                  </a:cubicBezTo>
                  <a:cubicBezTo>
                    <a:pt x="151" y="416"/>
                    <a:pt x="44" y="588"/>
                    <a:pt x="3" y="778"/>
                  </a:cubicBezTo>
                  <a:cubicBezTo>
                    <a:pt x="0" y="789"/>
                    <a:pt x="7" y="801"/>
                    <a:pt x="19" y="804"/>
                  </a:cubicBezTo>
                  <a:cubicBezTo>
                    <a:pt x="21" y="804"/>
                    <a:pt x="23" y="804"/>
                    <a:pt x="24" y="804"/>
                  </a:cubicBezTo>
                  <a:cubicBezTo>
                    <a:pt x="34" y="804"/>
                    <a:pt x="43" y="797"/>
                    <a:pt x="46" y="787"/>
                  </a:cubicBezTo>
                  <a:cubicBezTo>
                    <a:pt x="127" y="419"/>
                    <a:pt x="456" y="151"/>
                    <a:pt x="832" y="143"/>
                  </a:cubicBezTo>
                  <a:cubicBezTo>
                    <a:pt x="770" y="204"/>
                    <a:pt x="770" y="204"/>
                    <a:pt x="770" y="204"/>
                  </a:cubicBezTo>
                  <a:cubicBezTo>
                    <a:pt x="762" y="212"/>
                    <a:pt x="761" y="226"/>
                    <a:pt x="770" y="235"/>
                  </a:cubicBezTo>
                  <a:cubicBezTo>
                    <a:pt x="774" y="239"/>
                    <a:pt x="780" y="241"/>
                    <a:pt x="786" y="241"/>
                  </a:cubicBezTo>
                  <a:cubicBezTo>
                    <a:pt x="791" y="241"/>
                    <a:pt x="797" y="239"/>
                    <a:pt x="801" y="235"/>
                  </a:cubicBezTo>
                  <a:cubicBezTo>
                    <a:pt x="900" y="139"/>
                    <a:pt x="900" y="139"/>
                    <a:pt x="900" y="139"/>
                  </a:cubicBezTo>
                  <a:cubicBezTo>
                    <a:pt x="909" y="130"/>
                    <a:pt x="909" y="116"/>
                    <a:pt x="900" y="10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129" name="Freeform 26">
              <a:extLst>
                <a:ext uri="{FF2B5EF4-FFF2-40B4-BE49-F238E27FC236}">
                  <a16:creationId xmlns:a16="http://schemas.microsoft.com/office/drawing/2014/main" id="{6C176381-1432-4B8C-A2F8-2DE04B2F16FA}"/>
                </a:ext>
              </a:extLst>
            </p:cNvPr>
            <p:cNvSpPr>
              <a:spLocks noEditPoints="1"/>
            </p:cNvSpPr>
            <p:nvPr/>
          </p:nvSpPr>
          <p:spPr bwMode="auto">
            <a:xfrm flipH="1">
              <a:off x="4905077" y="4729171"/>
              <a:ext cx="773339" cy="672875"/>
            </a:xfrm>
            <a:custGeom>
              <a:avLst/>
              <a:gdLst>
                <a:gd name="T0" fmla="*/ 1922 w 1930"/>
                <a:gd name="T1" fmla="*/ 804 h 1694"/>
                <a:gd name="T2" fmla="*/ 1823 w 1930"/>
                <a:gd name="T3" fmla="*/ 900 h 1694"/>
                <a:gd name="T4" fmla="*/ 1807 w 1930"/>
                <a:gd name="T5" fmla="*/ 907 h 1694"/>
                <a:gd name="T6" fmla="*/ 1791 w 1930"/>
                <a:gd name="T7" fmla="*/ 900 h 1694"/>
                <a:gd name="T8" fmla="*/ 1695 w 1930"/>
                <a:gd name="T9" fmla="*/ 801 h 1694"/>
                <a:gd name="T10" fmla="*/ 1695 w 1930"/>
                <a:gd name="T11" fmla="*/ 770 h 1694"/>
                <a:gd name="T12" fmla="*/ 1726 w 1930"/>
                <a:gd name="T13" fmla="*/ 770 h 1694"/>
                <a:gd name="T14" fmla="*/ 1787 w 1930"/>
                <a:gd name="T15" fmla="*/ 832 h 1694"/>
                <a:gd name="T16" fmla="*/ 1143 w 1930"/>
                <a:gd name="T17" fmla="*/ 46 h 1694"/>
                <a:gd name="T18" fmla="*/ 1126 w 1930"/>
                <a:gd name="T19" fmla="*/ 19 h 1694"/>
                <a:gd name="T20" fmla="*/ 1152 w 1930"/>
                <a:gd name="T21" fmla="*/ 3 h 1694"/>
                <a:gd name="T22" fmla="*/ 1637 w 1930"/>
                <a:gd name="T23" fmla="*/ 302 h 1694"/>
                <a:gd name="T24" fmla="*/ 1831 w 1930"/>
                <a:gd name="T25" fmla="*/ 831 h 1694"/>
                <a:gd name="T26" fmla="*/ 1891 w 1930"/>
                <a:gd name="T27" fmla="*/ 772 h 1694"/>
                <a:gd name="T28" fmla="*/ 1922 w 1930"/>
                <a:gd name="T29" fmla="*/ 773 h 1694"/>
                <a:gd name="T30" fmla="*/ 1922 w 1930"/>
                <a:gd name="T31" fmla="*/ 804 h 1694"/>
                <a:gd name="T32" fmla="*/ 787 w 1930"/>
                <a:gd name="T33" fmla="*/ 1651 h 1694"/>
                <a:gd name="T34" fmla="*/ 143 w 1930"/>
                <a:gd name="T35" fmla="*/ 864 h 1694"/>
                <a:gd name="T36" fmla="*/ 204 w 1930"/>
                <a:gd name="T37" fmla="*/ 926 h 1694"/>
                <a:gd name="T38" fmla="*/ 219 w 1930"/>
                <a:gd name="T39" fmla="*/ 932 h 1694"/>
                <a:gd name="T40" fmla="*/ 235 w 1930"/>
                <a:gd name="T41" fmla="*/ 926 h 1694"/>
                <a:gd name="T42" fmla="*/ 235 w 1930"/>
                <a:gd name="T43" fmla="*/ 895 h 1694"/>
                <a:gd name="T44" fmla="*/ 139 w 1930"/>
                <a:gd name="T45" fmla="*/ 796 h 1694"/>
                <a:gd name="T46" fmla="*/ 107 w 1930"/>
                <a:gd name="T47" fmla="*/ 796 h 1694"/>
                <a:gd name="T48" fmla="*/ 8 w 1930"/>
                <a:gd name="T49" fmla="*/ 892 h 1694"/>
                <a:gd name="T50" fmla="*/ 8 w 1930"/>
                <a:gd name="T51" fmla="*/ 923 h 1694"/>
                <a:gd name="T52" fmla="*/ 39 w 1930"/>
                <a:gd name="T53" fmla="*/ 924 h 1694"/>
                <a:gd name="T54" fmla="*/ 99 w 1930"/>
                <a:gd name="T55" fmla="*/ 865 h 1694"/>
                <a:gd name="T56" fmla="*/ 293 w 1930"/>
                <a:gd name="T57" fmla="*/ 1394 h 1694"/>
                <a:gd name="T58" fmla="*/ 778 w 1930"/>
                <a:gd name="T59" fmla="*/ 1693 h 1694"/>
                <a:gd name="T60" fmla="*/ 782 w 1930"/>
                <a:gd name="T61" fmla="*/ 1694 h 1694"/>
                <a:gd name="T62" fmla="*/ 804 w 1930"/>
                <a:gd name="T63" fmla="*/ 1677 h 1694"/>
                <a:gd name="T64" fmla="*/ 787 w 1930"/>
                <a:gd name="T65" fmla="*/ 1651 h 1694"/>
                <a:gd name="T66" fmla="*/ 1473 w 1930"/>
                <a:gd name="T67" fmla="*/ 848 h 1694"/>
                <a:gd name="T68" fmla="*/ 965 w 1930"/>
                <a:gd name="T69" fmla="*/ 1356 h 1694"/>
                <a:gd name="T70" fmla="*/ 457 w 1930"/>
                <a:gd name="T71" fmla="*/ 848 h 1694"/>
                <a:gd name="T72" fmla="*/ 965 w 1930"/>
                <a:gd name="T73" fmla="*/ 340 h 1694"/>
                <a:gd name="T74" fmla="*/ 1473 w 1930"/>
                <a:gd name="T75" fmla="*/ 848 h 1694"/>
                <a:gd name="T76" fmla="*/ 1290 w 1930"/>
                <a:gd name="T77" fmla="*/ 639 h 1694"/>
                <a:gd name="T78" fmla="*/ 1259 w 1930"/>
                <a:gd name="T79" fmla="*/ 640 h 1694"/>
                <a:gd name="T80" fmla="*/ 921 w 1930"/>
                <a:gd name="T81" fmla="*/ 988 h 1694"/>
                <a:gd name="T82" fmla="*/ 735 w 1930"/>
                <a:gd name="T83" fmla="*/ 819 h 1694"/>
                <a:gd name="T84" fmla="*/ 704 w 1930"/>
                <a:gd name="T85" fmla="*/ 820 h 1694"/>
                <a:gd name="T86" fmla="*/ 705 w 1930"/>
                <a:gd name="T87" fmla="*/ 851 h 1694"/>
                <a:gd name="T88" fmla="*/ 907 w 1930"/>
                <a:gd name="T89" fmla="*/ 1035 h 1694"/>
                <a:gd name="T90" fmla="*/ 922 w 1930"/>
                <a:gd name="T91" fmla="*/ 1041 h 1694"/>
                <a:gd name="T92" fmla="*/ 937 w 1930"/>
                <a:gd name="T93" fmla="*/ 1034 h 1694"/>
                <a:gd name="T94" fmla="*/ 1290 w 1930"/>
                <a:gd name="T95" fmla="*/ 671 h 1694"/>
                <a:gd name="T96" fmla="*/ 1290 w 1930"/>
                <a:gd name="T97" fmla="*/ 639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30" h="1694">
                  <a:moveTo>
                    <a:pt x="1922" y="804"/>
                  </a:moveTo>
                  <a:cubicBezTo>
                    <a:pt x="1823" y="900"/>
                    <a:pt x="1823" y="900"/>
                    <a:pt x="1823" y="900"/>
                  </a:cubicBezTo>
                  <a:cubicBezTo>
                    <a:pt x="1818" y="905"/>
                    <a:pt x="1813" y="907"/>
                    <a:pt x="1807" y="907"/>
                  </a:cubicBezTo>
                  <a:cubicBezTo>
                    <a:pt x="1801" y="907"/>
                    <a:pt x="1796" y="904"/>
                    <a:pt x="1791" y="900"/>
                  </a:cubicBezTo>
                  <a:cubicBezTo>
                    <a:pt x="1695" y="801"/>
                    <a:pt x="1695" y="801"/>
                    <a:pt x="1695" y="801"/>
                  </a:cubicBezTo>
                  <a:cubicBezTo>
                    <a:pt x="1686" y="792"/>
                    <a:pt x="1687" y="778"/>
                    <a:pt x="1695" y="770"/>
                  </a:cubicBezTo>
                  <a:cubicBezTo>
                    <a:pt x="1704" y="761"/>
                    <a:pt x="1718" y="762"/>
                    <a:pt x="1726" y="770"/>
                  </a:cubicBezTo>
                  <a:cubicBezTo>
                    <a:pt x="1787" y="832"/>
                    <a:pt x="1787" y="832"/>
                    <a:pt x="1787" y="832"/>
                  </a:cubicBezTo>
                  <a:cubicBezTo>
                    <a:pt x="1779" y="456"/>
                    <a:pt x="1511" y="127"/>
                    <a:pt x="1143" y="46"/>
                  </a:cubicBezTo>
                  <a:cubicBezTo>
                    <a:pt x="1131" y="43"/>
                    <a:pt x="1124" y="31"/>
                    <a:pt x="1126" y="19"/>
                  </a:cubicBezTo>
                  <a:cubicBezTo>
                    <a:pt x="1129" y="8"/>
                    <a:pt x="1141" y="0"/>
                    <a:pt x="1152" y="3"/>
                  </a:cubicBezTo>
                  <a:cubicBezTo>
                    <a:pt x="1342" y="44"/>
                    <a:pt x="1514" y="151"/>
                    <a:pt x="1637" y="302"/>
                  </a:cubicBezTo>
                  <a:cubicBezTo>
                    <a:pt x="1759" y="451"/>
                    <a:pt x="1827" y="639"/>
                    <a:pt x="1831" y="831"/>
                  </a:cubicBezTo>
                  <a:cubicBezTo>
                    <a:pt x="1891" y="772"/>
                    <a:pt x="1891" y="772"/>
                    <a:pt x="1891" y="772"/>
                  </a:cubicBezTo>
                  <a:cubicBezTo>
                    <a:pt x="1900" y="764"/>
                    <a:pt x="1914" y="764"/>
                    <a:pt x="1922" y="773"/>
                  </a:cubicBezTo>
                  <a:cubicBezTo>
                    <a:pt x="1930" y="781"/>
                    <a:pt x="1930" y="795"/>
                    <a:pt x="1922" y="804"/>
                  </a:cubicBezTo>
                  <a:close/>
                  <a:moveTo>
                    <a:pt x="787" y="1651"/>
                  </a:moveTo>
                  <a:cubicBezTo>
                    <a:pt x="419" y="1569"/>
                    <a:pt x="151" y="1240"/>
                    <a:pt x="143" y="864"/>
                  </a:cubicBezTo>
                  <a:cubicBezTo>
                    <a:pt x="204" y="926"/>
                    <a:pt x="204" y="926"/>
                    <a:pt x="204" y="926"/>
                  </a:cubicBezTo>
                  <a:cubicBezTo>
                    <a:pt x="208" y="930"/>
                    <a:pt x="214" y="932"/>
                    <a:pt x="219" y="932"/>
                  </a:cubicBezTo>
                  <a:cubicBezTo>
                    <a:pt x="225" y="932"/>
                    <a:pt x="230" y="930"/>
                    <a:pt x="235" y="926"/>
                  </a:cubicBezTo>
                  <a:cubicBezTo>
                    <a:pt x="243" y="918"/>
                    <a:pt x="244" y="904"/>
                    <a:pt x="235" y="895"/>
                  </a:cubicBezTo>
                  <a:cubicBezTo>
                    <a:pt x="139" y="796"/>
                    <a:pt x="139" y="796"/>
                    <a:pt x="139" y="796"/>
                  </a:cubicBezTo>
                  <a:cubicBezTo>
                    <a:pt x="130" y="787"/>
                    <a:pt x="116" y="787"/>
                    <a:pt x="107" y="796"/>
                  </a:cubicBezTo>
                  <a:cubicBezTo>
                    <a:pt x="8" y="892"/>
                    <a:pt x="8" y="892"/>
                    <a:pt x="8" y="892"/>
                  </a:cubicBezTo>
                  <a:cubicBezTo>
                    <a:pt x="0" y="901"/>
                    <a:pt x="0" y="915"/>
                    <a:pt x="8" y="923"/>
                  </a:cubicBezTo>
                  <a:cubicBezTo>
                    <a:pt x="16" y="932"/>
                    <a:pt x="30" y="932"/>
                    <a:pt x="39" y="924"/>
                  </a:cubicBezTo>
                  <a:cubicBezTo>
                    <a:pt x="99" y="865"/>
                    <a:pt x="99" y="865"/>
                    <a:pt x="99" y="865"/>
                  </a:cubicBezTo>
                  <a:cubicBezTo>
                    <a:pt x="103" y="1057"/>
                    <a:pt x="172" y="1245"/>
                    <a:pt x="293" y="1394"/>
                  </a:cubicBezTo>
                  <a:cubicBezTo>
                    <a:pt x="416" y="1545"/>
                    <a:pt x="588" y="1652"/>
                    <a:pt x="778" y="1693"/>
                  </a:cubicBezTo>
                  <a:cubicBezTo>
                    <a:pt x="779" y="1694"/>
                    <a:pt x="781" y="1694"/>
                    <a:pt x="782" y="1694"/>
                  </a:cubicBezTo>
                  <a:cubicBezTo>
                    <a:pt x="792" y="1694"/>
                    <a:pt x="802" y="1687"/>
                    <a:pt x="804" y="1677"/>
                  </a:cubicBezTo>
                  <a:cubicBezTo>
                    <a:pt x="806" y="1665"/>
                    <a:pt x="799" y="1653"/>
                    <a:pt x="787" y="1651"/>
                  </a:cubicBezTo>
                  <a:close/>
                  <a:moveTo>
                    <a:pt x="1473" y="848"/>
                  </a:moveTo>
                  <a:cubicBezTo>
                    <a:pt x="1473" y="1129"/>
                    <a:pt x="1246" y="1356"/>
                    <a:pt x="965" y="1356"/>
                  </a:cubicBezTo>
                  <a:cubicBezTo>
                    <a:pt x="684" y="1356"/>
                    <a:pt x="457" y="1129"/>
                    <a:pt x="457" y="848"/>
                  </a:cubicBezTo>
                  <a:cubicBezTo>
                    <a:pt x="457" y="567"/>
                    <a:pt x="684" y="340"/>
                    <a:pt x="965" y="340"/>
                  </a:cubicBezTo>
                  <a:cubicBezTo>
                    <a:pt x="1246" y="340"/>
                    <a:pt x="1473" y="567"/>
                    <a:pt x="1473" y="848"/>
                  </a:cubicBezTo>
                  <a:close/>
                  <a:moveTo>
                    <a:pt x="1290" y="639"/>
                  </a:moveTo>
                  <a:cubicBezTo>
                    <a:pt x="1281" y="631"/>
                    <a:pt x="1267" y="631"/>
                    <a:pt x="1259" y="640"/>
                  </a:cubicBezTo>
                  <a:cubicBezTo>
                    <a:pt x="921" y="988"/>
                    <a:pt x="921" y="988"/>
                    <a:pt x="921" y="988"/>
                  </a:cubicBezTo>
                  <a:cubicBezTo>
                    <a:pt x="735" y="819"/>
                    <a:pt x="735" y="819"/>
                    <a:pt x="735" y="819"/>
                  </a:cubicBezTo>
                  <a:cubicBezTo>
                    <a:pt x="726" y="810"/>
                    <a:pt x="712" y="811"/>
                    <a:pt x="704" y="820"/>
                  </a:cubicBezTo>
                  <a:cubicBezTo>
                    <a:pt x="696" y="829"/>
                    <a:pt x="696" y="843"/>
                    <a:pt x="705" y="851"/>
                  </a:cubicBezTo>
                  <a:cubicBezTo>
                    <a:pt x="907" y="1035"/>
                    <a:pt x="907" y="1035"/>
                    <a:pt x="907" y="1035"/>
                  </a:cubicBezTo>
                  <a:cubicBezTo>
                    <a:pt x="911" y="1039"/>
                    <a:pt x="916" y="1041"/>
                    <a:pt x="922" y="1041"/>
                  </a:cubicBezTo>
                  <a:cubicBezTo>
                    <a:pt x="927" y="1041"/>
                    <a:pt x="933" y="1039"/>
                    <a:pt x="937" y="1034"/>
                  </a:cubicBezTo>
                  <a:cubicBezTo>
                    <a:pt x="1290" y="671"/>
                    <a:pt x="1290" y="671"/>
                    <a:pt x="1290" y="671"/>
                  </a:cubicBezTo>
                  <a:cubicBezTo>
                    <a:pt x="1299" y="662"/>
                    <a:pt x="1299" y="648"/>
                    <a:pt x="1290" y="63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98" name="Oval 20"/>
            <p:cNvSpPr>
              <a:spLocks noChangeArrowheads="1"/>
            </p:cNvSpPr>
            <p:nvPr/>
          </p:nvSpPr>
          <p:spPr bwMode="auto">
            <a:xfrm>
              <a:off x="5115889" y="4918233"/>
              <a:ext cx="337472" cy="276468"/>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grpSp>
      <p:sp>
        <p:nvSpPr>
          <p:cNvPr id="104" name="Freeform 17"/>
          <p:cNvSpPr>
            <a:spLocks/>
          </p:cNvSpPr>
          <p:nvPr/>
        </p:nvSpPr>
        <p:spPr bwMode="auto">
          <a:xfrm>
            <a:off x="5035570" y="4972922"/>
            <a:ext cx="238813" cy="215677"/>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100" name="TextBox 99"/>
          <p:cNvSpPr txBox="1"/>
          <p:nvPr/>
        </p:nvSpPr>
        <p:spPr>
          <a:xfrm>
            <a:off x="9478124" y="874815"/>
            <a:ext cx="1793059"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tx1"/>
                </a:solidFill>
                <a:effectLst/>
                <a:uLnTx/>
                <a:uFillTx/>
                <a:cs typeface="Calibri" panose="020F0502020204030204" pitchFamily="34" charset="0"/>
              </a:rPr>
              <a:t>Team Leadership</a:t>
            </a:r>
          </a:p>
        </p:txBody>
      </p:sp>
      <p:sp>
        <p:nvSpPr>
          <p:cNvPr id="101" name="Oval 20"/>
          <p:cNvSpPr>
            <a:spLocks noChangeArrowheads="1"/>
          </p:cNvSpPr>
          <p:nvPr/>
        </p:nvSpPr>
        <p:spPr bwMode="auto">
          <a:xfrm>
            <a:off x="9176428" y="904646"/>
            <a:ext cx="228600" cy="22860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F</a:t>
            </a:r>
          </a:p>
        </p:txBody>
      </p:sp>
      <p:sp>
        <p:nvSpPr>
          <p:cNvPr id="105" name="TextBox 104"/>
          <p:cNvSpPr txBox="1"/>
          <p:nvPr/>
        </p:nvSpPr>
        <p:spPr>
          <a:xfrm>
            <a:off x="9478124" y="1779571"/>
            <a:ext cx="1793059"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tx1"/>
                </a:solidFill>
                <a:effectLst/>
                <a:uLnTx/>
                <a:uFillTx/>
                <a:cs typeface="Calibri" panose="020F0502020204030204" pitchFamily="34" charset="0"/>
              </a:rPr>
              <a:t>Scrum of Scrums</a:t>
            </a:r>
          </a:p>
        </p:txBody>
      </p:sp>
      <p:sp>
        <p:nvSpPr>
          <p:cNvPr id="106" name="Oval 20"/>
          <p:cNvSpPr>
            <a:spLocks noChangeArrowheads="1"/>
          </p:cNvSpPr>
          <p:nvPr/>
        </p:nvSpPr>
        <p:spPr bwMode="auto">
          <a:xfrm>
            <a:off x="9176428" y="1788382"/>
            <a:ext cx="228600" cy="22860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G</a:t>
            </a:r>
          </a:p>
        </p:txBody>
      </p:sp>
      <p:sp>
        <p:nvSpPr>
          <p:cNvPr id="108" name="TextBox 107"/>
          <p:cNvSpPr txBox="1"/>
          <p:nvPr/>
        </p:nvSpPr>
        <p:spPr>
          <a:xfrm>
            <a:off x="9176428" y="1131419"/>
            <a:ext cx="2634572" cy="55399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cs typeface="Calibri" panose="020F0502020204030204" pitchFamily="34" charset="0"/>
              </a:rPr>
              <a:t>Ensure Team is achieving balance between purpose, mastery and autonomy</a:t>
            </a:r>
          </a:p>
        </p:txBody>
      </p:sp>
      <p:sp>
        <p:nvSpPr>
          <p:cNvPr id="110" name="TextBox 109"/>
          <p:cNvSpPr txBox="1"/>
          <p:nvPr/>
        </p:nvSpPr>
        <p:spPr>
          <a:xfrm>
            <a:off x="9176428" y="2073012"/>
            <a:ext cx="2342369" cy="369332"/>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cs typeface="Calibri" panose="020F0502020204030204" pitchFamily="34" charset="0"/>
              </a:rPr>
              <a:t>Gain operational alignment on cross-team dependencies</a:t>
            </a:r>
          </a:p>
        </p:txBody>
      </p:sp>
      <p:sp>
        <p:nvSpPr>
          <p:cNvPr id="6" name="Rectangle 5"/>
          <p:cNvSpPr/>
          <p:nvPr/>
        </p:nvSpPr>
        <p:spPr>
          <a:xfrm>
            <a:off x="8935665" y="858042"/>
            <a:ext cx="2936781" cy="1684527"/>
          </a:xfrm>
          <a:prstGeom prst="rect">
            <a:avLst/>
          </a:prstGeom>
          <a:noFill/>
          <a:ln w="9525" cap="rnd" cmpd="sng" algn="ctr">
            <a:solidFill>
              <a:srgbClr val="99A4AC"/>
            </a:solidFill>
            <a:prstDash val="dash"/>
            <a:round/>
            <a:headEnd type="none" w="med" len="med"/>
            <a:tailEnd type="none" w="med" len="med"/>
          </a:ln>
          <a:extLst>
            <a:ext uri="{909E8E84-426E-40DD-AFC4-6F175D3DCCD1}">
              <a14:hiddenFill xmlns:a14="http://schemas.microsoft.com/office/drawing/2010/main">
                <a:solidFill>
                  <a:srgbClr val="E51B2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Trebuchet MS"/>
              <a:ea typeface="+mn-ea"/>
              <a:cs typeface="+mn-cs"/>
            </a:endParaRPr>
          </a:p>
        </p:txBody>
      </p:sp>
      <p:sp>
        <p:nvSpPr>
          <p:cNvPr id="111" name="TextBox 110"/>
          <p:cNvSpPr txBox="1"/>
          <p:nvPr/>
        </p:nvSpPr>
        <p:spPr>
          <a:xfrm>
            <a:off x="8935665" y="679087"/>
            <a:ext cx="2936781" cy="169277"/>
          </a:xfrm>
          <a:prstGeom prst="rect">
            <a:avLst/>
          </a:prstGeom>
          <a:solidFill>
            <a:srgbClr val="FFFFFF"/>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75757"/>
                </a:solidFill>
                <a:effectLst/>
                <a:uLnTx/>
                <a:uFillTx/>
                <a:cs typeface="Calibri" panose="020F0502020204030204" pitchFamily="34" charset="0"/>
              </a:rPr>
              <a:t>Events and activities for select subset of team</a:t>
            </a:r>
          </a:p>
        </p:txBody>
      </p:sp>
      <p:sp>
        <p:nvSpPr>
          <p:cNvPr id="7" name="TextBox 6">
            <a:extLst>
              <a:ext uri="{FF2B5EF4-FFF2-40B4-BE49-F238E27FC236}">
                <a16:creationId xmlns:a16="http://schemas.microsoft.com/office/drawing/2014/main" id="{DEB7A64A-4AF2-868E-098A-A7D7254B8572}"/>
              </a:ext>
            </a:extLst>
          </p:cNvPr>
          <p:cNvSpPr txBox="1"/>
          <p:nvPr/>
        </p:nvSpPr>
        <p:spPr>
          <a:xfrm>
            <a:off x="8152310" y="5430754"/>
            <a:ext cx="2289142" cy="369332"/>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cs typeface="Calibri" panose="020F0502020204030204" pitchFamily="34" charset="0"/>
              </a:rPr>
              <a:t>Working, tested solutions created based on the Sprint plan</a:t>
            </a:r>
          </a:p>
        </p:txBody>
      </p:sp>
      <p:sp>
        <p:nvSpPr>
          <p:cNvPr id="8" name="Title 3">
            <a:extLst>
              <a:ext uri="{FF2B5EF4-FFF2-40B4-BE49-F238E27FC236}">
                <a16:creationId xmlns:a16="http://schemas.microsoft.com/office/drawing/2014/main" id="{E79EF90A-20B5-094A-598F-4C68C58F203A}"/>
              </a:ext>
            </a:extLst>
          </p:cNvPr>
          <p:cNvSpPr txBox="1">
            <a:spLocks/>
          </p:cNvSpPr>
          <p:nvPr/>
        </p:nvSpPr>
        <p:spPr>
          <a:xfrm>
            <a:off x="184150" y="284162"/>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r>
              <a:rPr lang="en-US" sz="2800" cap="none">
                <a:solidFill>
                  <a:schemeClr val="tx1"/>
                </a:solidFill>
              </a:rPr>
              <a:t>Teams work in 4-week Sprints with Key Events &amp; Activities</a:t>
            </a:r>
          </a:p>
        </p:txBody>
      </p:sp>
    </p:spTree>
    <p:extLst>
      <p:ext uri="{BB962C8B-B14F-4D97-AF65-F5344CB8AC3E}">
        <p14:creationId xmlns:p14="http://schemas.microsoft.com/office/powerpoint/2010/main" val="18178719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Object 5"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p:cNvSpPr/>
          <p:nvPr>
            <p:custDataLst>
              <p:tags r:id="rId2"/>
            </p:custDataLst>
          </p:nvPr>
        </p:nvSpPr>
        <p:spPr>
          <a:xfrm>
            <a:off x="0" y="0"/>
            <a:ext cx="158750" cy="158750"/>
          </a:xfrm>
          <a:prstGeom prst="rect">
            <a:avLst/>
          </a:prstGeom>
          <a:solidFill>
            <a:srgbClr val="E51B24"/>
          </a:solidFill>
          <a:ln w="9525" cap="rnd" cmpd="sng" algn="ctr">
            <a:solidFill>
              <a:srgbClr val="E51B2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Trebuchet MS" panose="020B0603020202020204" pitchFamily="34" charset="0"/>
              <a:ea typeface="+mn-ea"/>
              <a:cs typeface="+mn-cs"/>
              <a:sym typeface="Trebuchet MS" panose="020B0603020202020204" pitchFamily="34" charset="0"/>
            </a:endParaRPr>
          </a:p>
        </p:txBody>
      </p:sp>
      <p:sp>
        <p:nvSpPr>
          <p:cNvPr id="3" name="TextBox 2"/>
          <p:cNvSpPr txBox="1"/>
          <p:nvPr/>
        </p:nvSpPr>
        <p:spPr>
          <a:xfrm>
            <a:off x="628650" y="1323534"/>
            <a:ext cx="6330950" cy="4262705"/>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554"/>
              </a:spcBef>
              <a:spcAft>
                <a:spcPts val="185"/>
              </a:spcAft>
              <a:buClr>
                <a:srgbClr val="5BC6E8"/>
              </a:buClr>
              <a:buSzPct val="100000"/>
              <a:buFontTx/>
              <a:buNone/>
              <a:tabLst/>
              <a:defRPr/>
            </a:pPr>
            <a:r>
              <a:rPr kumimoji="0" lang="en-AU" sz="1600" b="1" i="0" u="none" strike="noStrike" kern="1200" cap="none" spc="0" normalizeH="0" baseline="0" noProof="0">
                <a:ln>
                  <a:noFill/>
                </a:ln>
                <a:effectLst/>
                <a:uLnTx/>
                <a:uFillTx/>
                <a:latin typeface="Calibri" panose="020F0502020204030204" pitchFamily="34" charset="0"/>
                <a:cs typeface="Calibri" panose="020F0502020204030204" pitchFamily="34" charset="0"/>
              </a:rPr>
              <a:t>What is Sprint Planning?</a:t>
            </a:r>
          </a:p>
          <a:p>
            <a:pPr marL="0" marR="0" lvl="0" indent="0" algn="l" defTabSz="914400" rtl="0" eaLnBrk="1" fontAlgn="auto" latinLnBrk="0" hangingPunct="1">
              <a:lnSpc>
                <a:spcPct val="100000"/>
              </a:lnSpc>
              <a:spcBef>
                <a:spcPts val="0"/>
              </a:spcBef>
              <a:spcAft>
                <a:spcPts val="185"/>
              </a:spcAft>
              <a:buClr>
                <a:srgbClr val="5BC6E8"/>
              </a:buClr>
              <a:buSzPct val="100000"/>
              <a:buFontTx/>
              <a:buNone/>
              <a:tabLst/>
              <a:defRPr/>
            </a:pP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A Scrum, Team event at the start of each sprint where the Team </a:t>
            </a:r>
            <a:b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b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plans for the work they plan on delivering during sprint</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We discuss the sprint goal and stories for this sprint</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GB"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We develop a common understanding on these stories</a:t>
            </a:r>
            <a:endPar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We plan the stories we will deliver as a Team this sprint</a:t>
            </a:r>
          </a:p>
          <a:p>
            <a:pPr marL="109730" marR="0" lvl="1" indent="0" algn="l" defTabSz="914400" rtl="0" eaLnBrk="1" fontAlgn="auto" latinLnBrk="0" hangingPunct="1">
              <a:lnSpc>
                <a:spcPct val="100000"/>
              </a:lnSpc>
              <a:spcBef>
                <a:spcPts val="0"/>
              </a:spcBef>
              <a:spcAft>
                <a:spcPts val="185"/>
              </a:spcAft>
              <a:buClr>
                <a:srgbClr val="5BC6E8"/>
              </a:buClr>
              <a:buSzPct val="100000"/>
              <a:buFontTx/>
              <a:buNone/>
              <a:tabLst/>
              <a:defRPr/>
            </a:pPr>
            <a:endParaRPr kumimoji="0" lang="en-AU" sz="1600" b="1" i="0" u="none" strike="noStrike" kern="1200" cap="none" spc="0" normalizeH="0" baseline="0" noProof="0">
              <a:ln>
                <a:noFill/>
              </a:ln>
              <a:effectLst/>
              <a:uLnTx/>
              <a:uFillTx/>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554"/>
              </a:spcBef>
              <a:spcAft>
                <a:spcPts val="185"/>
              </a:spcAft>
              <a:buClr>
                <a:srgbClr val="5BC6E8"/>
              </a:buClr>
              <a:buSzPct val="100000"/>
              <a:buFontTx/>
              <a:buNone/>
              <a:tabLst/>
              <a:defRPr/>
            </a:pPr>
            <a:r>
              <a:rPr kumimoji="0" lang="en-AU" sz="1600" b="1" i="0" u="none" strike="noStrike" kern="1200" cap="none" spc="0" normalizeH="0" baseline="0" noProof="0">
                <a:ln>
                  <a:noFill/>
                </a:ln>
                <a:effectLst/>
                <a:uLnTx/>
                <a:uFillTx/>
                <a:latin typeface="Calibri" panose="020F0502020204030204" pitchFamily="34" charset="0"/>
                <a:cs typeface="Calibri" panose="020F0502020204030204" pitchFamily="34" charset="0"/>
              </a:rPr>
              <a:t>Why do we have Sprint Planning?</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We want to have a plan for the work that we will deliver</a:t>
            </a:r>
            <a:endParaRPr kumimoji="0" lang="en-AU" alt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AU" alt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We want to come to a shared understanding of the sprint</a:t>
            </a: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 goals</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We want to build confidence in our ability to deliver on the goal</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We want to give transparency on what the Team is working on</a:t>
            </a:r>
          </a:p>
          <a:p>
            <a:pPr marL="0" marR="0" lvl="0" indent="0" algn="l" defTabSz="914400" rtl="0" eaLnBrk="1" fontAlgn="auto" latinLnBrk="0" hangingPunct="1">
              <a:lnSpc>
                <a:spcPct val="100000"/>
              </a:lnSpc>
              <a:spcBef>
                <a:spcPts val="0"/>
              </a:spcBef>
              <a:spcAft>
                <a:spcPts val="185"/>
              </a:spcAft>
              <a:buClr>
                <a:srgbClr val="5BC6E8"/>
              </a:buClr>
              <a:buSzPct val="100000"/>
              <a:buFontTx/>
              <a:buNone/>
              <a:tabLst/>
              <a:defRPr/>
            </a:pPr>
            <a:endParaRPr kumimoji="0" lang="en-AU" sz="1600" b="1" i="0" u="none" strike="noStrike" kern="1200" cap="none" spc="0" normalizeH="0" baseline="0" noProof="0">
              <a:ln>
                <a:noFill/>
              </a:ln>
              <a:effectLst/>
              <a:uLnTx/>
              <a:uFillTx/>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185"/>
              </a:spcAft>
              <a:buClr>
                <a:srgbClr val="5BC6E8"/>
              </a:buClr>
              <a:buSzPct val="100000"/>
              <a:buFontTx/>
              <a:buNone/>
              <a:tabLst/>
              <a:defRPr/>
            </a:pPr>
            <a:r>
              <a:rPr kumimoji="0" lang="en-AU" sz="1600" b="1" i="0" u="none" strike="noStrike" kern="1200" cap="none" spc="0" normalizeH="0" baseline="0" noProof="0">
                <a:ln>
                  <a:noFill/>
                </a:ln>
                <a:effectLst/>
                <a:uLnTx/>
                <a:uFillTx/>
                <a:latin typeface="Calibri" panose="020F0502020204030204" pitchFamily="34" charset="0"/>
                <a:cs typeface="Calibri" panose="020F0502020204030204" pitchFamily="34" charset="0"/>
              </a:rPr>
              <a:t>Who participates and what are their roles?</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Agile Product Owner comes with prioritized backlog</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Full team participates in the discussion</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Team members self-organize to determine what they plan on completing during the Sprint and how they will achieve the Sprint Goal</a:t>
            </a:r>
          </a:p>
        </p:txBody>
      </p:sp>
      <p:cxnSp>
        <p:nvCxnSpPr>
          <p:cNvPr id="104" name="Straight Connector 103"/>
          <p:cNvCxnSpPr/>
          <p:nvPr/>
        </p:nvCxnSpPr>
        <p:spPr>
          <a:xfrm>
            <a:off x="6959600" y="1480375"/>
            <a:ext cx="0" cy="4967135"/>
          </a:xfrm>
          <a:prstGeom prst="line">
            <a:avLst/>
          </a:prstGeom>
          <a:ln w="9525" cap="rnd">
            <a:solidFill>
              <a:schemeClr val="tx1">
                <a:lumMod val="60000"/>
                <a:lumOff val="40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76" name="NavigationIcon"/>
          <p:cNvSpPr>
            <a:spLocks noChangeAspect="1" noChangeArrowheads="1"/>
          </p:cNvSpPr>
          <p:nvPr>
            <p:custDataLst>
              <p:tags r:id="rId3"/>
            </p:custDataLst>
          </p:nvPr>
        </p:nvSpPr>
        <p:spPr bwMode="auto">
          <a:xfrm>
            <a:off x="575594" y="974071"/>
            <a:ext cx="365760" cy="365760"/>
          </a:xfrm>
          <a:prstGeom prst="ellipse">
            <a:avLst/>
          </a:prstGeom>
          <a:solidFill>
            <a:schemeClr val="tx1"/>
          </a:solidFill>
          <a:ln>
            <a:noFill/>
          </a:ln>
        </p:spPr>
        <p:txBody>
          <a:bodyPr vert="horz" wrap="square" lIns="123928" tIns="61964" rIns="123928" bIns="61964"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26" b="0" i="0" u="none" strike="noStrike" kern="1200" cap="none" spc="0" normalizeH="0" baseline="0" noProof="0">
                <a:ln>
                  <a:noFill/>
                </a:ln>
                <a:solidFill>
                  <a:schemeClr val="bg1"/>
                </a:solidFill>
                <a:effectLst/>
                <a:uLnTx/>
                <a:uFillTx/>
                <a:latin typeface="Calibri" panose="020F0502020204030204" pitchFamily="34" charset="0"/>
                <a:cs typeface="Calibri" panose="020F0502020204030204" pitchFamily="34" charset="0"/>
              </a:rPr>
              <a:t>A</a:t>
            </a:r>
          </a:p>
        </p:txBody>
      </p:sp>
      <p:sp>
        <p:nvSpPr>
          <p:cNvPr id="82" name="TextBox 81"/>
          <p:cNvSpPr txBox="1"/>
          <p:nvPr/>
        </p:nvSpPr>
        <p:spPr>
          <a:xfrm>
            <a:off x="9015156" y="1808890"/>
            <a:ext cx="2675388" cy="73866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t>Agile Product Owner comes with prioritized backlog (incl. acceptance criteria)</a:t>
            </a:r>
          </a:p>
        </p:txBody>
      </p:sp>
      <p:sp>
        <p:nvSpPr>
          <p:cNvPr id="86" name="Rectangle 85">
            <a:extLst>
              <a:ext uri="{FF2B5EF4-FFF2-40B4-BE49-F238E27FC236}">
                <a16:creationId xmlns:a16="http://schemas.microsoft.com/office/drawing/2014/main" id="{EC3D35D7-2D14-48DE-876D-E8BA58AB821D}"/>
              </a:ext>
            </a:extLst>
          </p:cNvPr>
          <p:cNvSpPr/>
          <p:nvPr/>
        </p:nvSpPr>
        <p:spPr>
          <a:xfrm>
            <a:off x="7461702" y="1838265"/>
            <a:ext cx="1583755" cy="1004284"/>
          </a:xfrm>
          <a:prstGeom prst="rect">
            <a:avLst/>
          </a:prstGeom>
          <a:noFill/>
          <a:ln w="19050">
            <a:solidFill>
              <a:schemeClr val="bg2">
                <a:lumMod val="9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87" name="Freeform: Shape 76">
            <a:extLst>
              <a:ext uri="{FF2B5EF4-FFF2-40B4-BE49-F238E27FC236}">
                <a16:creationId xmlns:a16="http://schemas.microsoft.com/office/drawing/2014/main" id="{3C9E493A-DEF5-4C5D-B348-651236B5B25F}"/>
              </a:ext>
            </a:extLst>
          </p:cNvPr>
          <p:cNvSpPr/>
          <p:nvPr/>
        </p:nvSpPr>
        <p:spPr>
          <a:xfrm>
            <a:off x="7925710" y="2223970"/>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88" name="Freeform: Shape 76">
            <a:extLst>
              <a:ext uri="{FF2B5EF4-FFF2-40B4-BE49-F238E27FC236}">
                <a16:creationId xmlns:a16="http://schemas.microsoft.com/office/drawing/2014/main" id="{3C9E493A-DEF5-4C5D-B348-651236B5B25F}"/>
              </a:ext>
            </a:extLst>
          </p:cNvPr>
          <p:cNvSpPr/>
          <p:nvPr/>
        </p:nvSpPr>
        <p:spPr>
          <a:xfrm>
            <a:off x="7540784" y="2223970"/>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C41300"/>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89" name="Freeform: Shape 76">
            <a:extLst>
              <a:ext uri="{FF2B5EF4-FFF2-40B4-BE49-F238E27FC236}">
                <a16:creationId xmlns:a16="http://schemas.microsoft.com/office/drawing/2014/main" id="{3C9E493A-DEF5-4C5D-B348-651236B5B25F}"/>
              </a:ext>
            </a:extLst>
          </p:cNvPr>
          <p:cNvSpPr/>
          <p:nvPr/>
        </p:nvSpPr>
        <p:spPr>
          <a:xfrm>
            <a:off x="7925710" y="2523734"/>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90" name="Freeform: Shape 76">
            <a:extLst>
              <a:ext uri="{FF2B5EF4-FFF2-40B4-BE49-F238E27FC236}">
                <a16:creationId xmlns:a16="http://schemas.microsoft.com/office/drawing/2014/main" id="{3C9E493A-DEF5-4C5D-B348-651236B5B25F}"/>
              </a:ext>
            </a:extLst>
          </p:cNvPr>
          <p:cNvSpPr/>
          <p:nvPr/>
        </p:nvSpPr>
        <p:spPr>
          <a:xfrm>
            <a:off x="7540784" y="2523734"/>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91" name="Freeform: Shape 76">
            <a:extLst>
              <a:ext uri="{FF2B5EF4-FFF2-40B4-BE49-F238E27FC236}">
                <a16:creationId xmlns:a16="http://schemas.microsoft.com/office/drawing/2014/main" id="{3C9E493A-DEF5-4C5D-B348-651236B5B25F}"/>
              </a:ext>
            </a:extLst>
          </p:cNvPr>
          <p:cNvSpPr/>
          <p:nvPr/>
        </p:nvSpPr>
        <p:spPr>
          <a:xfrm>
            <a:off x="8684910" y="1924205"/>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C41300"/>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92" name="Freeform: Shape 76">
            <a:extLst>
              <a:ext uri="{FF2B5EF4-FFF2-40B4-BE49-F238E27FC236}">
                <a16:creationId xmlns:a16="http://schemas.microsoft.com/office/drawing/2014/main" id="{3C9E493A-DEF5-4C5D-B348-651236B5B25F}"/>
              </a:ext>
            </a:extLst>
          </p:cNvPr>
          <p:cNvSpPr/>
          <p:nvPr/>
        </p:nvSpPr>
        <p:spPr>
          <a:xfrm>
            <a:off x="8299984" y="1924205"/>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C41300"/>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93" name="Freeform: Shape 76">
            <a:extLst>
              <a:ext uri="{FF2B5EF4-FFF2-40B4-BE49-F238E27FC236}">
                <a16:creationId xmlns:a16="http://schemas.microsoft.com/office/drawing/2014/main" id="{3C9E493A-DEF5-4C5D-B348-651236B5B25F}"/>
              </a:ext>
            </a:extLst>
          </p:cNvPr>
          <p:cNvSpPr/>
          <p:nvPr/>
        </p:nvSpPr>
        <p:spPr>
          <a:xfrm>
            <a:off x="8684910" y="2223969"/>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95" name="Freeform: Shape 76">
            <a:extLst>
              <a:ext uri="{FF2B5EF4-FFF2-40B4-BE49-F238E27FC236}">
                <a16:creationId xmlns:a16="http://schemas.microsoft.com/office/drawing/2014/main" id="{3C9E493A-DEF5-4C5D-B348-651236B5B25F}"/>
              </a:ext>
            </a:extLst>
          </p:cNvPr>
          <p:cNvSpPr/>
          <p:nvPr/>
        </p:nvSpPr>
        <p:spPr>
          <a:xfrm>
            <a:off x="8299984" y="2223969"/>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96" name="Freeform: Shape 76">
            <a:extLst>
              <a:ext uri="{FF2B5EF4-FFF2-40B4-BE49-F238E27FC236}">
                <a16:creationId xmlns:a16="http://schemas.microsoft.com/office/drawing/2014/main" id="{3C9E493A-DEF5-4C5D-B348-651236B5B25F}"/>
              </a:ext>
            </a:extLst>
          </p:cNvPr>
          <p:cNvSpPr/>
          <p:nvPr/>
        </p:nvSpPr>
        <p:spPr>
          <a:xfrm>
            <a:off x="8684910" y="2523733"/>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97" name="Freeform: Shape 76">
            <a:extLst>
              <a:ext uri="{FF2B5EF4-FFF2-40B4-BE49-F238E27FC236}">
                <a16:creationId xmlns:a16="http://schemas.microsoft.com/office/drawing/2014/main" id="{3C9E493A-DEF5-4C5D-B348-651236B5B25F}"/>
              </a:ext>
            </a:extLst>
          </p:cNvPr>
          <p:cNvSpPr/>
          <p:nvPr/>
        </p:nvSpPr>
        <p:spPr>
          <a:xfrm>
            <a:off x="8299984" y="2523733"/>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98" name="Freeform: Shape 76">
            <a:extLst>
              <a:ext uri="{FF2B5EF4-FFF2-40B4-BE49-F238E27FC236}">
                <a16:creationId xmlns:a16="http://schemas.microsoft.com/office/drawing/2014/main" id="{3C9E493A-DEF5-4C5D-B348-651236B5B25F}"/>
              </a:ext>
            </a:extLst>
          </p:cNvPr>
          <p:cNvSpPr/>
          <p:nvPr/>
        </p:nvSpPr>
        <p:spPr>
          <a:xfrm>
            <a:off x="7925710" y="1924205"/>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C41300"/>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99" name="Freeform: Shape 76">
            <a:extLst>
              <a:ext uri="{FF2B5EF4-FFF2-40B4-BE49-F238E27FC236}">
                <a16:creationId xmlns:a16="http://schemas.microsoft.com/office/drawing/2014/main" id="{3C9E493A-DEF5-4C5D-B348-651236B5B25F}"/>
              </a:ext>
            </a:extLst>
          </p:cNvPr>
          <p:cNvSpPr/>
          <p:nvPr/>
        </p:nvSpPr>
        <p:spPr>
          <a:xfrm>
            <a:off x="7540784" y="1924205"/>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C41300"/>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50" name="TextBox 149"/>
          <p:cNvSpPr txBox="1"/>
          <p:nvPr/>
        </p:nvSpPr>
        <p:spPr>
          <a:xfrm>
            <a:off x="7751838" y="1723095"/>
            <a:ext cx="978486" cy="152349"/>
          </a:xfrm>
          <a:prstGeom prst="rect">
            <a:avLst/>
          </a:prstGeom>
          <a:solidFill>
            <a:schemeClr val="bg1"/>
          </a:solidFill>
        </p:spPr>
        <p:txBody>
          <a:bodyPr wrap="square" lIns="0" tIns="0" rIns="0" bIns="0" rtlCol="0" anchor="ctr">
            <a:spAutoFit/>
          </a:bodyPr>
          <a:lstStyle>
            <a:defPPr>
              <a:defRPr lang="en-US"/>
            </a:defPPr>
            <a:lvl1pPr algn="ctr">
              <a:lnSpc>
                <a:spcPct val="90000"/>
              </a:lnSpc>
              <a:defRPr sz="2400">
                <a:solidFill>
                  <a:schemeClr val="tx2"/>
                </a:solidFill>
                <a:latin typeface="Italo Medium" panose="02000000000000000000" pitchFamily="2" charset="0"/>
                <a:cs typeface="Arial" pitchFamily="34" charset="0"/>
              </a:defRPr>
            </a:lvl1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AU" sz="11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t>Backlog</a:t>
            </a:r>
          </a:p>
        </p:txBody>
      </p:sp>
      <p:grpSp>
        <p:nvGrpSpPr>
          <p:cNvPr id="12" name="Group 11"/>
          <p:cNvGrpSpPr/>
          <p:nvPr/>
        </p:nvGrpSpPr>
        <p:grpSpPr>
          <a:xfrm>
            <a:off x="7476727" y="4104388"/>
            <a:ext cx="1583755" cy="1113361"/>
            <a:chOff x="7476727" y="5156438"/>
            <a:chExt cx="1583755" cy="1113361"/>
          </a:xfrm>
        </p:grpSpPr>
        <p:sp>
          <p:nvSpPr>
            <p:cNvPr id="129" name="Freeform: Shape 76">
              <a:extLst>
                <a:ext uri="{FF2B5EF4-FFF2-40B4-BE49-F238E27FC236}">
                  <a16:creationId xmlns:a16="http://schemas.microsoft.com/office/drawing/2014/main" id="{3C9E493A-DEF5-4C5D-B348-651236B5B25F}"/>
                </a:ext>
              </a:extLst>
            </p:cNvPr>
            <p:cNvSpPr/>
            <p:nvPr/>
          </p:nvSpPr>
          <p:spPr>
            <a:xfrm>
              <a:off x="8147085" y="5551137"/>
              <a:ext cx="182880" cy="182880"/>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chemeClr val="bg2">
                <a:lumMod val="9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p:txBody>
        </p:sp>
        <p:sp>
          <p:nvSpPr>
            <p:cNvPr id="130" name="Freeform: Shape 76">
              <a:extLst>
                <a:ext uri="{FF2B5EF4-FFF2-40B4-BE49-F238E27FC236}">
                  <a16:creationId xmlns:a16="http://schemas.microsoft.com/office/drawing/2014/main" id="{3C9E493A-DEF5-4C5D-B348-651236B5B25F}"/>
                </a:ext>
              </a:extLst>
            </p:cNvPr>
            <p:cNvSpPr/>
            <p:nvPr/>
          </p:nvSpPr>
          <p:spPr>
            <a:xfrm>
              <a:off x="7620515" y="5551137"/>
              <a:ext cx="182880" cy="182880"/>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chemeClr val="bg2">
                <a:lumMod val="9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p:txBody>
        </p:sp>
        <p:sp>
          <p:nvSpPr>
            <p:cNvPr id="131" name="Freeform: Shape 76">
              <a:extLst>
                <a:ext uri="{FF2B5EF4-FFF2-40B4-BE49-F238E27FC236}">
                  <a16:creationId xmlns:a16="http://schemas.microsoft.com/office/drawing/2014/main" id="{3C9E493A-DEF5-4C5D-B348-651236B5B25F}"/>
                </a:ext>
              </a:extLst>
            </p:cNvPr>
            <p:cNvSpPr/>
            <p:nvPr/>
          </p:nvSpPr>
          <p:spPr>
            <a:xfrm>
              <a:off x="8693755" y="5551137"/>
              <a:ext cx="182880" cy="182880"/>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BB151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132" name="Freeform: Shape 76">
              <a:extLst>
                <a:ext uri="{FF2B5EF4-FFF2-40B4-BE49-F238E27FC236}">
                  <a16:creationId xmlns:a16="http://schemas.microsoft.com/office/drawing/2014/main" id="{3C9E493A-DEF5-4C5D-B348-651236B5B25F}"/>
                </a:ext>
              </a:extLst>
            </p:cNvPr>
            <p:cNvSpPr/>
            <p:nvPr/>
          </p:nvSpPr>
          <p:spPr>
            <a:xfrm>
              <a:off x="8147085" y="5789804"/>
              <a:ext cx="182880" cy="182880"/>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chemeClr val="bg2">
                <a:lumMod val="9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p:txBody>
        </p:sp>
        <p:sp>
          <p:nvSpPr>
            <p:cNvPr id="133" name="Freeform: Shape 76">
              <a:extLst>
                <a:ext uri="{FF2B5EF4-FFF2-40B4-BE49-F238E27FC236}">
                  <a16:creationId xmlns:a16="http://schemas.microsoft.com/office/drawing/2014/main" id="{3C9E493A-DEF5-4C5D-B348-651236B5B25F}"/>
                </a:ext>
              </a:extLst>
            </p:cNvPr>
            <p:cNvSpPr/>
            <p:nvPr/>
          </p:nvSpPr>
          <p:spPr>
            <a:xfrm>
              <a:off x="7620515" y="5789804"/>
              <a:ext cx="182880" cy="182880"/>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BB151D"/>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p:txBody>
        </p:sp>
        <p:sp>
          <p:nvSpPr>
            <p:cNvPr id="134" name="Freeform: Shape 76">
              <a:extLst>
                <a:ext uri="{FF2B5EF4-FFF2-40B4-BE49-F238E27FC236}">
                  <a16:creationId xmlns:a16="http://schemas.microsoft.com/office/drawing/2014/main" id="{3C9E493A-DEF5-4C5D-B348-651236B5B25F}"/>
                </a:ext>
              </a:extLst>
            </p:cNvPr>
            <p:cNvSpPr/>
            <p:nvPr/>
          </p:nvSpPr>
          <p:spPr>
            <a:xfrm>
              <a:off x="7620515" y="6036928"/>
              <a:ext cx="182880" cy="182880"/>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chemeClr val="bg2">
                <a:lumMod val="9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p:txBody>
        </p:sp>
        <p:sp>
          <p:nvSpPr>
            <p:cNvPr id="135" name="Rectangle 134"/>
            <p:cNvSpPr/>
            <p:nvPr/>
          </p:nvSpPr>
          <p:spPr>
            <a:xfrm>
              <a:off x="7567684" y="5332859"/>
              <a:ext cx="288541" cy="153888"/>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000" b="0" i="1" u="none" strike="noStrike" kern="1200" cap="none" spc="0" normalizeH="0" baseline="0" noProof="0">
                  <a:ln>
                    <a:noFill/>
                  </a:ln>
                  <a:effectLst/>
                  <a:uLnTx/>
                  <a:uFillTx/>
                  <a:latin typeface="Calibri" panose="020F0502020204030204" pitchFamily="34" charset="0"/>
                  <a:cs typeface="Calibri" panose="020F0502020204030204" pitchFamily="34" charset="0"/>
                </a:rPr>
                <a:t>To do</a:t>
              </a:r>
            </a:p>
          </p:txBody>
        </p:sp>
        <p:sp>
          <p:nvSpPr>
            <p:cNvPr id="136" name="Rectangle 135"/>
            <p:cNvSpPr/>
            <p:nvPr/>
          </p:nvSpPr>
          <p:spPr>
            <a:xfrm>
              <a:off x="8086239" y="5332859"/>
              <a:ext cx="304571" cy="153888"/>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000" b="0" i="1" u="none" strike="noStrike" kern="1200" cap="none" spc="0" normalizeH="0" baseline="0" noProof="0">
                  <a:ln>
                    <a:noFill/>
                  </a:ln>
                  <a:effectLst/>
                  <a:uLnTx/>
                  <a:uFillTx/>
                  <a:latin typeface="Calibri" panose="020F0502020204030204" pitchFamily="34" charset="0"/>
                  <a:cs typeface="Calibri" panose="020F0502020204030204" pitchFamily="34" charset="0"/>
                </a:rPr>
                <a:t>Doing</a:t>
              </a:r>
            </a:p>
          </p:txBody>
        </p:sp>
        <p:sp>
          <p:nvSpPr>
            <p:cNvPr id="139" name="Rectangle 138"/>
            <p:cNvSpPr/>
            <p:nvPr/>
          </p:nvSpPr>
          <p:spPr>
            <a:xfrm>
              <a:off x="8649740" y="5332859"/>
              <a:ext cx="270908" cy="153888"/>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000" b="0" i="1" u="none" strike="noStrike" kern="1200" cap="none" spc="0" normalizeH="0" baseline="0" noProof="0">
                  <a:ln>
                    <a:noFill/>
                  </a:ln>
                  <a:effectLst/>
                  <a:uLnTx/>
                  <a:uFillTx/>
                  <a:latin typeface="Calibri" panose="020F0502020204030204" pitchFamily="34" charset="0"/>
                  <a:cs typeface="Calibri" panose="020F0502020204030204" pitchFamily="34" charset="0"/>
                </a:rPr>
                <a:t>Done</a:t>
              </a:r>
            </a:p>
          </p:txBody>
        </p:sp>
        <p:sp>
          <p:nvSpPr>
            <p:cNvPr id="151" name="Rectangle 150">
              <a:extLst>
                <a:ext uri="{FF2B5EF4-FFF2-40B4-BE49-F238E27FC236}">
                  <a16:creationId xmlns:a16="http://schemas.microsoft.com/office/drawing/2014/main" id="{EC3D35D7-2D14-48DE-876D-E8BA58AB821D}"/>
                </a:ext>
              </a:extLst>
            </p:cNvPr>
            <p:cNvSpPr/>
            <p:nvPr/>
          </p:nvSpPr>
          <p:spPr>
            <a:xfrm>
              <a:off x="7476727" y="5271608"/>
              <a:ext cx="1583755" cy="998191"/>
            </a:xfrm>
            <a:prstGeom prst="rect">
              <a:avLst/>
            </a:prstGeom>
            <a:noFill/>
            <a:ln w="19050">
              <a:solidFill>
                <a:schemeClr val="bg2">
                  <a:lumMod val="9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166" name="TextBox 165"/>
            <p:cNvSpPr txBox="1"/>
            <p:nvPr/>
          </p:nvSpPr>
          <p:spPr>
            <a:xfrm>
              <a:off x="7751838" y="5156438"/>
              <a:ext cx="978486" cy="152349"/>
            </a:xfrm>
            <a:prstGeom prst="rect">
              <a:avLst/>
            </a:prstGeom>
            <a:solidFill>
              <a:schemeClr val="bg1"/>
            </a:solidFill>
          </p:spPr>
          <p:txBody>
            <a:bodyPr wrap="square" lIns="0" tIns="0" rIns="0" bIns="0" rtlCol="0" anchor="ctr">
              <a:spAutoFit/>
            </a:bodyPr>
            <a:lstStyle>
              <a:defPPr>
                <a:defRPr lang="en-US"/>
              </a:defPPr>
              <a:lvl1pPr algn="ctr">
                <a:lnSpc>
                  <a:spcPct val="90000"/>
                </a:lnSpc>
                <a:defRPr sz="2400">
                  <a:solidFill>
                    <a:schemeClr val="tx2"/>
                  </a:solidFill>
                  <a:latin typeface="Italo Medium" panose="02000000000000000000" pitchFamily="2" charset="0"/>
                  <a:cs typeface="Arial" pitchFamily="34" charset="0"/>
                </a:defRPr>
              </a:lvl1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AU" sz="11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Sprint Board</a:t>
              </a:r>
            </a:p>
          </p:txBody>
        </p:sp>
      </p:grpSp>
      <p:grpSp>
        <p:nvGrpSpPr>
          <p:cNvPr id="167" name="Group 166"/>
          <p:cNvGrpSpPr/>
          <p:nvPr/>
        </p:nvGrpSpPr>
        <p:grpSpPr>
          <a:xfrm>
            <a:off x="7841433" y="3030029"/>
            <a:ext cx="854341" cy="849621"/>
            <a:chOff x="9881019" y="4968092"/>
            <a:chExt cx="1112660" cy="1112660"/>
          </a:xfrm>
        </p:grpSpPr>
        <p:sp>
          <p:nvSpPr>
            <p:cNvPr id="168" name="Oval 167"/>
            <p:cNvSpPr/>
            <p:nvPr/>
          </p:nvSpPr>
          <p:spPr>
            <a:xfrm>
              <a:off x="9881019" y="4968092"/>
              <a:ext cx="1112660" cy="1112660"/>
            </a:xfrm>
            <a:prstGeom prst="ellipse">
              <a:avLst/>
            </a:prstGeom>
            <a:solidFill>
              <a:srgbClr val="FFFFFF"/>
            </a:solidFill>
            <a:ln w="22225" cap="rnd" cmpd="sng" algn="ctr">
              <a:solidFill>
                <a:srgbClr val="DADADA"/>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grpSp>
          <p:nvGrpSpPr>
            <p:cNvPr id="169" name="Group 168"/>
            <p:cNvGrpSpPr>
              <a:grpSpLocks noChangeAspect="1"/>
            </p:cNvGrpSpPr>
            <p:nvPr/>
          </p:nvGrpSpPr>
          <p:grpSpPr>
            <a:xfrm>
              <a:off x="10023192" y="5109882"/>
              <a:ext cx="828313" cy="829080"/>
              <a:chOff x="5273801" y="2606040"/>
              <a:chExt cx="1644396" cy="1645920"/>
            </a:xfrm>
          </p:grpSpPr>
          <p:sp>
            <p:nvSpPr>
              <p:cNvPr id="170" name="AutoShape 18">
                <a:extLst>
                  <a:ext uri="{FF2B5EF4-FFF2-40B4-BE49-F238E27FC236}">
                    <a16:creationId xmlns:a16="http://schemas.microsoft.com/office/drawing/2014/main" id="{100AC5BD-F30F-4F9C-94F8-3ECEAAF56365}"/>
                  </a:ext>
                </a:extLst>
              </p:cNvPr>
              <p:cNvSpPr>
                <a:spLocks noChangeAspect="1" noChangeArrowheads="1" noTextEdit="1"/>
              </p:cNvSpPr>
              <p:nvPr/>
            </p:nvSpPr>
            <p:spPr bwMode="auto">
              <a:xfrm>
                <a:off x="5273801" y="2606040"/>
                <a:ext cx="1644396" cy="1645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grpSp>
            <p:nvGrpSpPr>
              <p:cNvPr id="171" name="Group 170"/>
              <p:cNvGrpSpPr/>
              <p:nvPr/>
            </p:nvGrpSpPr>
            <p:grpSpPr>
              <a:xfrm>
                <a:off x="5388863" y="2953131"/>
                <a:ext cx="1409319" cy="967359"/>
                <a:chOff x="5388863" y="2953131"/>
                <a:chExt cx="1409319" cy="967359"/>
              </a:xfrm>
            </p:grpSpPr>
            <p:sp>
              <p:nvSpPr>
                <p:cNvPr id="172" name="Freeform 20">
                  <a:extLst>
                    <a:ext uri="{FF2B5EF4-FFF2-40B4-BE49-F238E27FC236}">
                      <a16:creationId xmlns:a16="http://schemas.microsoft.com/office/drawing/2014/main" id="{D44F01FC-0979-4CF2-A046-0010F3FF82EE}"/>
                    </a:ext>
                  </a:extLst>
                </p:cNvPr>
                <p:cNvSpPr>
                  <a:spLocks noEditPoints="1"/>
                </p:cNvSpPr>
                <p:nvPr/>
              </p:nvSpPr>
              <p:spPr bwMode="auto">
                <a:xfrm>
                  <a:off x="5388863" y="3167634"/>
                  <a:ext cx="737235" cy="752856"/>
                </a:xfrm>
                <a:custGeom>
                  <a:avLst/>
                  <a:gdLst>
                    <a:gd name="T0" fmla="*/ 989 w 1033"/>
                    <a:gd name="T1" fmla="*/ 0 h 1054"/>
                    <a:gd name="T2" fmla="*/ 44 w 1033"/>
                    <a:gd name="T3" fmla="*/ 0 h 1054"/>
                    <a:gd name="T4" fmla="*/ 0 w 1033"/>
                    <a:gd name="T5" fmla="*/ 44 h 1054"/>
                    <a:gd name="T6" fmla="*/ 0 w 1033"/>
                    <a:gd name="T7" fmla="*/ 725 h 1054"/>
                    <a:gd name="T8" fmla="*/ 44 w 1033"/>
                    <a:gd name="T9" fmla="*/ 769 h 1054"/>
                    <a:gd name="T10" fmla="*/ 299 w 1033"/>
                    <a:gd name="T11" fmla="*/ 769 h 1054"/>
                    <a:gd name="T12" fmla="*/ 299 w 1033"/>
                    <a:gd name="T13" fmla="*/ 1010 h 1054"/>
                    <a:gd name="T14" fmla="*/ 300 w 1033"/>
                    <a:gd name="T15" fmla="*/ 1017 h 1054"/>
                    <a:gd name="T16" fmla="*/ 337 w 1033"/>
                    <a:gd name="T17" fmla="*/ 1053 h 1054"/>
                    <a:gd name="T18" fmla="*/ 347 w 1033"/>
                    <a:gd name="T19" fmla="*/ 1054 h 1054"/>
                    <a:gd name="T20" fmla="*/ 401 w 1033"/>
                    <a:gd name="T21" fmla="*/ 1026 h 1054"/>
                    <a:gd name="T22" fmla="*/ 469 w 1033"/>
                    <a:gd name="T23" fmla="*/ 951 h 1054"/>
                    <a:gd name="T24" fmla="*/ 637 w 1033"/>
                    <a:gd name="T25" fmla="*/ 769 h 1054"/>
                    <a:gd name="T26" fmla="*/ 989 w 1033"/>
                    <a:gd name="T27" fmla="*/ 769 h 1054"/>
                    <a:gd name="T28" fmla="*/ 1033 w 1033"/>
                    <a:gd name="T29" fmla="*/ 725 h 1054"/>
                    <a:gd name="T30" fmla="*/ 1033 w 1033"/>
                    <a:gd name="T31" fmla="*/ 44 h 1054"/>
                    <a:gd name="T32" fmla="*/ 989 w 1033"/>
                    <a:gd name="T33" fmla="*/ 0 h 1054"/>
                    <a:gd name="T34" fmla="*/ 832 w 1033"/>
                    <a:gd name="T35" fmla="*/ 552 h 1054"/>
                    <a:gd name="T36" fmla="*/ 201 w 1033"/>
                    <a:gd name="T37" fmla="*/ 552 h 1054"/>
                    <a:gd name="T38" fmla="*/ 179 w 1033"/>
                    <a:gd name="T39" fmla="*/ 530 h 1054"/>
                    <a:gd name="T40" fmla="*/ 201 w 1033"/>
                    <a:gd name="T41" fmla="*/ 508 h 1054"/>
                    <a:gd name="T42" fmla="*/ 832 w 1033"/>
                    <a:gd name="T43" fmla="*/ 508 h 1054"/>
                    <a:gd name="T44" fmla="*/ 854 w 1033"/>
                    <a:gd name="T45" fmla="*/ 530 h 1054"/>
                    <a:gd name="T46" fmla="*/ 832 w 1033"/>
                    <a:gd name="T47" fmla="*/ 552 h 1054"/>
                    <a:gd name="T48" fmla="*/ 832 w 1033"/>
                    <a:gd name="T49" fmla="*/ 415 h 1054"/>
                    <a:gd name="T50" fmla="*/ 201 w 1033"/>
                    <a:gd name="T51" fmla="*/ 415 h 1054"/>
                    <a:gd name="T52" fmla="*/ 179 w 1033"/>
                    <a:gd name="T53" fmla="*/ 393 h 1054"/>
                    <a:gd name="T54" fmla="*/ 201 w 1033"/>
                    <a:gd name="T55" fmla="*/ 371 h 1054"/>
                    <a:gd name="T56" fmla="*/ 832 w 1033"/>
                    <a:gd name="T57" fmla="*/ 371 h 1054"/>
                    <a:gd name="T58" fmla="*/ 854 w 1033"/>
                    <a:gd name="T59" fmla="*/ 393 h 1054"/>
                    <a:gd name="T60" fmla="*/ 832 w 1033"/>
                    <a:gd name="T61" fmla="*/ 415 h 1054"/>
                    <a:gd name="T62" fmla="*/ 832 w 1033"/>
                    <a:gd name="T63" fmla="*/ 279 h 1054"/>
                    <a:gd name="T64" fmla="*/ 201 w 1033"/>
                    <a:gd name="T65" fmla="*/ 279 h 1054"/>
                    <a:gd name="T66" fmla="*/ 179 w 1033"/>
                    <a:gd name="T67" fmla="*/ 257 h 1054"/>
                    <a:gd name="T68" fmla="*/ 201 w 1033"/>
                    <a:gd name="T69" fmla="*/ 235 h 1054"/>
                    <a:gd name="T70" fmla="*/ 832 w 1033"/>
                    <a:gd name="T71" fmla="*/ 235 h 1054"/>
                    <a:gd name="T72" fmla="*/ 854 w 1033"/>
                    <a:gd name="T73" fmla="*/ 257 h 1054"/>
                    <a:gd name="T74" fmla="*/ 832 w 1033"/>
                    <a:gd name="T75" fmla="*/ 279 h 10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33" h="1054">
                      <a:moveTo>
                        <a:pt x="989" y="0"/>
                      </a:moveTo>
                      <a:cubicBezTo>
                        <a:pt x="44" y="0"/>
                        <a:pt x="44" y="0"/>
                        <a:pt x="44" y="0"/>
                      </a:cubicBezTo>
                      <a:cubicBezTo>
                        <a:pt x="20" y="0"/>
                        <a:pt x="0" y="20"/>
                        <a:pt x="0" y="44"/>
                      </a:cubicBezTo>
                      <a:cubicBezTo>
                        <a:pt x="0" y="725"/>
                        <a:pt x="0" y="725"/>
                        <a:pt x="0" y="725"/>
                      </a:cubicBezTo>
                      <a:cubicBezTo>
                        <a:pt x="0" y="750"/>
                        <a:pt x="20" y="769"/>
                        <a:pt x="44" y="769"/>
                      </a:cubicBezTo>
                      <a:cubicBezTo>
                        <a:pt x="299" y="769"/>
                        <a:pt x="299" y="769"/>
                        <a:pt x="299" y="769"/>
                      </a:cubicBezTo>
                      <a:cubicBezTo>
                        <a:pt x="299" y="1010"/>
                        <a:pt x="299" y="1010"/>
                        <a:pt x="299" y="1010"/>
                      </a:cubicBezTo>
                      <a:cubicBezTo>
                        <a:pt x="299" y="1012"/>
                        <a:pt x="299" y="1015"/>
                        <a:pt x="300" y="1017"/>
                      </a:cubicBezTo>
                      <a:cubicBezTo>
                        <a:pt x="301" y="1020"/>
                        <a:pt x="311" y="1047"/>
                        <a:pt x="337" y="1053"/>
                      </a:cubicBezTo>
                      <a:cubicBezTo>
                        <a:pt x="341" y="1054"/>
                        <a:pt x="344" y="1054"/>
                        <a:pt x="347" y="1054"/>
                      </a:cubicBezTo>
                      <a:cubicBezTo>
                        <a:pt x="365" y="1054"/>
                        <a:pt x="383" y="1045"/>
                        <a:pt x="401" y="1026"/>
                      </a:cubicBezTo>
                      <a:cubicBezTo>
                        <a:pt x="414" y="1013"/>
                        <a:pt x="438" y="986"/>
                        <a:pt x="469" y="951"/>
                      </a:cubicBezTo>
                      <a:cubicBezTo>
                        <a:pt x="516" y="899"/>
                        <a:pt x="579" y="829"/>
                        <a:pt x="637" y="769"/>
                      </a:cubicBezTo>
                      <a:cubicBezTo>
                        <a:pt x="989" y="769"/>
                        <a:pt x="989" y="769"/>
                        <a:pt x="989" y="769"/>
                      </a:cubicBezTo>
                      <a:cubicBezTo>
                        <a:pt x="1013" y="769"/>
                        <a:pt x="1033" y="750"/>
                        <a:pt x="1033" y="725"/>
                      </a:cubicBezTo>
                      <a:cubicBezTo>
                        <a:pt x="1033" y="44"/>
                        <a:pt x="1033" y="44"/>
                        <a:pt x="1033" y="44"/>
                      </a:cubicBezTo>
                      <a:cubicBezTo>
                        <a:pt x="1033" y="20"/>
                        <a:pt x="1013" y="0"/>
                        <a:pt x="989" y="0"/>
                      </a:cubicBezTo>
                      <a:close/>
                      <a:moveTo>
                        <a:pt x="832" y="552"/>
                      </a:moveTo>
                      <a:cubicBezTo>
                        <a:pt x="201" y="552"/>
                        <a:pt x="201" y="552"/>
                        <a:pt x="201" y="552"/>
                      </a:cubicBezTo>
                      <a:cubicBezTo>
                        <a:pt x="189" y="552"/>
                        <a:pt x="179" y="543"/>
                        <a:pt x="179" y="530"/>
                      </a:cubicBezTo>
                      <a:cubicBezTo>
                        <a:pt x="179" y="518"/>
                        <a:pt x="189" y="508"/>
                        <a:pt x="201" y="508"/>
                      </a:cubicBezTo>
                      <a:cubicBezTo>
                        <a:pt x="832" y="508"/>
                        <a:pt x="832" y="508"/>
                        <a:pt x="832" y="508"/>
                      </a:cubicBezTo>
                      <a:cubicBezTo>
                        <a:pt x="844" y="508"/>
                        <a:pt x="854" y="518"/>
                        <a:pt x="854" y="530"/>
                      </a:cubicBezTo>
                      <a:cubicBezTo>
                        <a:pt x="854" y="543"/>
                        <a:pt x="844" y="552"/>
                        <a:pt x="832" y="552"/>
                      </a:cubicBezTo>
                      <a:close/>
                      <a:moveTo>
                        <a:pt x="832" y="415"/>
                      </a:moveTo>
                      <a:cubicBezTo>
                        <a:pt x="201" y="415"/>
                        <a:pt x="201" y="415"/>
                        <a:pt x="201" y="415"/>
                      </a:cubicBezTo>
                      <a:cubicBezTo>
                        <a:pt x="189" y="415"/>
                        <a:pt x="179" y="405"/>
                        <a:pt x="179" y="393"/>
                      </a:cubicBezTo>
                      <a:cubicBezTo>
                        <a:pt x="179" y="380"/>
                        <a:pt x="189" y="371"/>
                        <a:pt x="201" y="371"/>
                      </a:cubicBezTo>
                      <a:cubicBezTo>
                        <a:pt x="832" y="371"/>
                        <a:pt x="832" y="371"/>
                        <a:pt x="832" y="371"/>
                      </a:cubicBezTo>
                      <a:cubicBezTo>
                        <a:pt x="844" y="371"/>
                        <a:pt x="854" y="380"/>
                        <a:pt x="854" y="393"/>
                      </a:cubicBezTo>
                      <a:cubicBezTo>
                        <a:pt x="854" y="405"/>
                        <a:pt x="844" y="415"/>
                        <a:pt x="832" y="415"/>
                      </a:cubicBezTo>
                      <a:close/>
                      <a:moveTo>
                        <a:pt x="832" y="279"/>
                      </a:moveTo>
                      <a:cubicBezTo>
                        <a:pt x="201" y="279"/>
                        <a:pt x="201" y="279"/>
                        <a:pt x="201" y="279"/>
                      </a:cubicBezTo>
                      <a:cubicBezTo>
                        <a:pt x="189" y="279"/>
                        <a:pt x="179" y="269"/>
                        <a:pt x="179" y="257"/>
                      </a:cubicBezTo>
                      <a:cubicBezTo>
                        <a:pt x="179" y="245"/>
                        <a:pt x="189" y="235"/>
                        <a:pt x="201" y="235"/>
                      </a:cubicBezTo>
                      <a:cubicBezTo>
                        <a:pt x="832" y="235"/>
                        <a:pt x="832" y="235"/>
                        <a:pt x="832" y="235"/>
                      </a:cubicBezTo>
                      <a:cubicBezTo>
                        <a:pt x="844" y="235"/>
                        <a:pt x="854" y="245"/>
                        <a:pt x="854" y="257"/>
                      </a:cubicBezTo>
                      <a:cubicBezTo>
                        <a:pt x="854" y="269"/>
                        <a:pt x="844" y="279"/>
                        <a:pt x="832" y="27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173" name="Freeform 21">
                  <a:extLst>
                    <a:ext uri="{FF2B5EF4-FFF2-40B4-BE49-F238E27FC236}">
                      <a16:creationId xmlns:a16="http://schemas.microsoft.com/office/drawing/2014/main" id="{9FEAEA2A-1D9C-469F-A298-EC5C9220C30F}"/>
                    </a:ext>
                  </a:extLst>
                </p:cNvPr>
                <p:cNvSpPr>
                  <a:spLocks noEditPoints="1"/>
                </p:cNvSpPr>
                <p:nvPr/>
              </p:nvSpPr>
              <p:spPr bwMode="auto">
                <a:xfrm>
                  <a:off x="6060947" y="2953131"/>
                  <a:ext cx="737235" cy="752856"/>
                </a:xfrm>
                <a:custGeom>
                  <a:avLst/>
                  <a:gdLst>
                    <a:gd name="T0" fmla="*/ 1033 w 1033"/>
                    <a:gd name="T1" fmla="*/ 44 h 1054"/>
                    <a:gd name="T2" fmla="*/ 1033 w 1033"/>
                    <a:gd name="T3" fmla="*/ 725 h 1054"/>
                    <a:gd name="T4" fmla="*/ 989 w 1033"/>
                    <a:gd name="T5" fmla="*/ 769 h 1054"/>
                    <a:gd name="T6" fmla="*/ 734 w 1033"/>
                    <a:gd name="T7" fmla="*/ 769 h 1054"/>
                    <a:gd name="T8" fmla="*/ 734 w 1033"/>
                    <a:gd name="T9" fmla="*/ 1010 h 1054"/>
                    <a:gd name="T10" fmla="*/ 733 w 1033"/>
                    <a:gd name="T11" fmla="*/ 1017 h 1054"/>
                    <a:gd name="T12" fmla="*/ 696 w 1033"/>
                    <a:gd name="T13" fmla="*/ 1053 h 1054"/>
                    <a:gd name="T14" fmla="*/ 686 w 1033"/>
                    <a:gd name="T15" fmla="*/ 1054 h 1054"/>
                    <a:gd name="T16" fmla="*/ 632 w 1033"/>
                    <a:gd name="T17" fmla="*/ 1025 h 1054"/>
                    <a:gd name="T18" fmla="*/ 564 w 1033"/>
                    <a:gd name="T19" fmla="*/ 951 h 1054"/>
                    <a:gd name="T20" fmla="*/ 396 w 1033"/>
                    <a:gd name="T21" fmla="*/ 769 h 1054"/>
                    <a:gd name="T22" fmla="*/ 135 w 1033"/>
                    <a:gd name="T23" fmla="*/ 769 h 1054"/>
                    <a:gd name="T24" fmla="*/ 135 w 1033"/>
                    <a:gd name="T25" fmla="*/ 725 h 1054"/>
                    <a:gd name="T26" fmla="*/ 405 w 1033"/>
                    <a:gd name="T27" fmla="*/ 725 h 1054"/>
                    <a:gd name="T28" fmla="*/ 421 w 1033"/>
                    <a:gd name="T29" fmla="*/ 732 h 1054"/>
                    <a:gd name="T30" fmla="*/ 597 w 1033"/>
                    <a:gd name="T31" fmla="*/ 922 h 1054"/>
                    <a:gd name="T32" fmla="*/ 663 w 1033"/>
                    <a:gd name="T33" fmla="*/ 994 h 1054"/>
                    <a:gd name="T34" fmla="*/ 686 w 1033"/>
                    <a:gd name="T35" fmla="*/ 1010 h 1054"/>
                    <a:gd name="T36" fmla="*/ 690 w 1033"/>
                    <a:gd name="T37" fmla="*/ 1005 h 1054"/>
                    <a:gd name="T38" fmla="*/ 690 w 1033"/>
                    <a:gd name="T39" fmla="*/ 747 h 1054"/>
                    <a:gd name="T40" fmla="*/ 712 w 1033"/>
                    <a:gd name="T41" fmla="*/ 725 h 1054"/>
                    <a:gd name="T42" fmla="*/ 989 w 1033"/>
                    <a:gd name="T43" fmla="*/ 725 h 1054"/>
                    <a:gd name="T44" fmla="*/ 989 w 1033"/>
                    <a:gd name="T45" fmla="*/ 44 h 1054"/>
                    <a:gd name="T46" fmla="*/ 44 w 1033"/>
                    <a:gd name="T47" fmla="*/ 44 h 1054"/>
                    <a:gd name="T48" fmla="*/ 44 w 1033"/>
                    <a:gd name="T49" fmla="*/ 256 h 1054"/>
                    <a:gd name="T50" fmla="*/ 0 w 1033"/>
                    <a:gd name="T51" fmla="*/ 256 h 1054"/>
                    <a:gd name="T52" fmla="*/ 0 w 1033"/>
                    <a:gd name="T53" fmla="*/ 44 h 1054"/>
                    <a:gd name="T54" fmla="*/ 44 w 1033"/>
                    <a:gd name="T55" fmla="*/ 0 h 1054"/>
                    <a:gd name="T56" fmla="*/ 989 w 1033"/>
                    <a:gd name="T57" fmla="*/ 0 h 1054"/>
                    <a:gd name="T58" fmla="*/ 1033 w 1033"/>
                    <a:gd name="T59" fmla="*/ 44 h 1054"/>
                    <a:gd name="T60" fmla="*/ 835 w 1033"/>
                    <a:gd name="T61" fmla="*/ 247 h 1054"/>
                    <a:gd name="T62" fmla="*/ 813 w 1033"/>
                    <a:gd name="T63" fmla="*/ 225 h 1054"/>
                    <a:gd name="T64" fmla="*/ 220 w 1033"/>
                    <a:gd name="T65" fmla="*/ 225 h 1054"/>
                    <a:gd name="T66" fmla="*/ 198 w 1033"/>
                    <a:gd name="T67" fmla="*/ 247 h 1054"/>
                    <a:gd name="T68" fmla="*/ 220 w 1033"/>
                    <a:gd name="T69" fmla="*/ 269 h 1054"/>
                    <a:gd name="T70" fmla="*/ 813 w 1033"/>
                    <a:gd name="T71" fmla="*/ 269 h 1054"/>
                    <a:gd name="T72" fmla="*/ 835 w 1033"/>
                    <a:gd name="T73" fmla="*/ 247 h 1054"/>
                    <a:gd name="T74" fmla="*/ 835 w 1033"/>
                    <a:gd name="T75" fmla="*/ 383 h 1054"/>
                    <a:gd name="T76" fmla="*/ 813 w 1033"/>
                    <a:gd name="T77" fmla="*/ 361 h 1054"/>
                    <a:gd name="T78" fmla="*/ 220 w 1033"/>
                    <a:gd name="T79" fmla="*/ 361 h 1054"/>
                    <a:gd name="T80" fmla="*/ 198 w 1033"/>
                    <a:gd name="T81" fmla="*/ 383 h 1054"/>
                    <a:gd name="T82" fmla="*/ 220 w 1033"/>
                    <a:gd name="T83" fmla="*/ 405 h 1054"/>
                    <a:gd name="T84" fmla="*/ 813 w 1033"/>
                    <a:gd name="T85" fmla="*/ 405 h 1054"/>
                    <a:gd name="T86" fmla="*/ 835 w 1033"/>
                    <a:gd name="T87" fmla="*/ 383 h 1054"/>
                    <a:gd name="T88" fmla="*/ 835 w 1033"/>
                    <a:gd name="T89" fmla="*/ 521 h 1054"/>
                    <a:gd name="T90" fmla="*/ 813 w 1033"/>
                    <a:gd name="T91" fmla="*/ 499 h 1054"/>
                    <a:gd name="T92" fmla="*/ 220 w 1033"/>
                    <a:gd name="T93" fmla="*/ 499 h 1054"/>
                    <a:gd name="T94" fmla="*/ 198 w 1033"/>
                    <a:gd name="T95" fmla="*/ 521 h 1054"/>
                    <a:gd name="T96" fmla="*/ 220 w 1033"/>
                    <a:gd name="T97" fmla="*/ 543 h 1054"/>
                    <a:gd name="T98" fmla="*/ 813 w 1033"/>
                    <a:gd name="T99" fmla="*/ 543 h 1054"/>
                    <a:gd name="T100" fmla="*/ 835 w 1033"/>
                    <a:gd name="T101" fmla="*/ 521 h 10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033" h="1054">
                      <a:moveTo>
                        <a:pt x="1033" y="44"/>
                      </a:moveTo>
                      <a:cubicBezTo>
                        <a:pt x="1033" y="725"/>
                        <a:pt x="1033" y="725"/>
                        <a:pt x="1033" y="725"/>
                      </a:cubicBezTo>
                      <a:cubicBezTo>
                        <a:pt x="1033" y="750"/>
                        <a:pt x="1013" y="769"/>
                        <a:pt x="989" y="769"/>
                      </a:cubicBezTo>
                      <a:cubicBezTo>
                        <a:pt x="734" y="769"/>
                        <a:pt x="734" y="769"/>
                        <a:pt x="734" y="769"/>
                      </a:cubicBezTo>
                      <a:cubicBezTo>
                        <a:pt x="734" y="1010"/>
                        <a:pt x="734" y="1010"/>
                        <a:pt x="734" y="1010"/>
                      </a:cubicBezTo>
                      <a:cubicBezTo>
                        <a:pt x="734" y="1012"/>
                        <a:pt x="734" y="1015"/>
                        <a:pt x="733" y="1017"/>
                      </a:cubicBezTo>
                      <a:cubicBezTo>
                        <a:pt x="732" y="1020"/>
                        <a:pt x="722" y="1047"/>
                        <a:pt x="696" y="1053"/>
                      </a:cubicBezTo>
                      <a:cubicBezTo>
                        <a:pt x="693" y="1054"/>
                        <a:pt x="689" y="1054"/>
                        <a:pt x="686" y="1054"/>
                      </a:cubicBezTo>
                      <a:cubicBezTo>
                        <a:pt x="668" y="1054"/>
                        <a:pt x="650" y="1044"/>
                        <a:pt x="632" y="1025"/>
                      </a:cubicBezTo>
                      <a:cubicBezTo>
                        <a:pt x="619" y="1013"/>
                        <a:pt x="595" y="985"/>
                        <a:pt x="564" y="951"/>
                      </a:cubicBezTo>
                      <a:cubicBezTo>
                        <a:pt x="517" y="899"/>
                        <a:pt x="454" y="829"/>
                        <a:pt x="396" y="769"/>
                      </a:cubicBezTo>
                      <a:cubicBezTo>
                        <a:pt x="135" y="769"/>
                        <a:pt x="135" y="769"/>
                        <a:pt x="135" y="769"/>
                      </a:cubicBezTo>
                      <a:cubicBezTo>
                        <a:pt x="135" y="725"/>
                        <a:pt x="135" y="725"/>
                        <a:pt x="135" y="725"/>
                      </a:cubicBezTo>
                      <a:cubicBezTo>
                        <a:pt x="405" y="725"/>
                        <a:pt x="405" y="725"/>
                        <a:pt x="405" y="725"/>
                      </a:cubicBezTo>
                      <a:cubicBezTo>
                        <a:pt x="411" y="725"/>
                        <a:pt x="417" y="728"/>
                        <a:pt x="421" y="732"/>
                      </a:cubicBezTo>
                      <a:cubicBezTo>
                        <a:pt x="481" y="793"/>
                        <a:pt x="548" y="867"/>
                        <a:pt x="597" y="922"/>
                      </a:cubicBezTo>
                      <a:cubicBezTo>
                        <a:pt x="627" y="956"/>
                        <a:pt x="651" y="982"/>
                        <a:pt x="663" y="994"/>
                      </a:cubicBezTo>
                      <a:cubicBezTo>
                        <a:pt x="677" y="1008"/>
                        <a:pt x="684" y="1010"/>
                        <a:pt x="686" y="1010"/>
                      </a:cubicBezTo>
                      <a:cubicBezTo>
                        <a:pt x="687" y="1010"/>
                        <a:pt x="689" y="1008"/>
                        <a:pt x="690" y="1005"/>
                      </a:cubicBezTo>
                      <a:cubicBezTo>
                        <a:pt x="690" y="747"/>
                        <a:pt x="690" y="747"/>
                        <a:pt x="690" y="747"/>
                      </a:cubicBezTo>
                      <a:cubicBezTo>
                        <a:pt x="690" y="735"/>
                        <a:pt x="700" y="725"/>
                        <a:pt x="712" y="725"/>
                      </a:cubicBezTo>
                      <a:cubicBezTo>
                        <a:pt x="989" y="725"/>
                        <a:pt x="989" y="725"/>
                        <a:pt x="989" y="725"/>
                      </a:cubicBezTo>
                      <a:cubicBezTo>
                        <a:pt x="989" y="44"/>
                        <a:pt x="989" y="44"/>
                        <a:pt x="989" y="44"/>
                      </a:cubicBezTo>
                      <a:cubicBezTo>
                        <a:pt x="44" y="44"/>
                        <a:pt x="44" y="44"/>
                        <a:pt x="44" y="44"/>
                      </a:cubicBezTo>
                      <a:cubicBezTo>
                        <a:pt x="44" y="256"/>
                        <a:pt x="44" y="256"/>
                        <a:pt x="44" y="256"/>
                      </a:cubicBezTo>
                      <a:cubicBezTo>
                        <a:pt x="0" y="256"/>
                        <a:pt x="0" y="256"/>
                        <a:pt x="0" y="256"/>
                      </a:cubicBezTo>
                      <a:cubicBezTo>
                        <a:pt x="0" y="44"/>
                        <a:pt x="0" y="44"/>
                        <a:pt x="0" y="44"/>
                      </a:cubicBezTo>
                      <a:cubicBezTo>
                        <a:pt x="0" y="20"/>
                        <a:pt x="20" y="0"/>
                        <a:pt x="44" y="0"/>
                      </a:cubicBezTo>
                      <a:cubicBezTo>
                        <a:pt x="989" y="0"/>
                        <a:pt x="989" y="0"/>
                        <a:pt x="989" y="0"/>
                      </a:cubicBezTo>
                      <a:cubicBezTo>
                        <a:pt x="1013" y="0"/>
                        <a:pt x="1033" y="20"/>
                        <a:pt x="1033" y="44"/>
                      </a:cubicBezTo>
                      <a:close/>
                      <a:moveTo>
                        <a:pt x="835" y="247"/>
                      </a:moveTo>
                      <a:cubicBezTo>
                        <a:pt x="835" y="235"/>
                        <a:pt x="826" y="225"/>
                        <a:pt x="813" y="225"/>
                      </a:cubicBezTo>
                      <a:cubicBezTo>
                        <a:pt x="220" y="225"/>
                        <a:pt x="220" y="225"/>
                        <a:pt x="220" y="225"/>
                      </a:cubicBezTo>
                      <a:cubicBezTo>
                        <a:pt x="208" y="225"/>
                        <a:pt x="198" y="235"/>
                        <a:pt x="198" y="247"/>
                      </a:cubicBezTo>
                      <a:cubicBezTo>
                        <a:pt x="198" y="259"/>
                        <a:pt x="208" y="269"/>
                        <a:pt x="220" y="269"/>
                      </a:cubicBezTo>
                      <a:cubicBezTo>
                        <a:pt x="813" y="269"/>
                        <a:pt x="813" y="269"/>
                        <a:pt x="813" y="269"/>
                      </a:cubicBezTo>
                      <a:cubicBezTo>
                        <a:pt x="826" y="269"/>
                        <a:pt x="835" y="259"/>
                        <a:pt x="835" y="247"/>
                      </a:cubicBezTo>
                      <a:close/>
                      <a:moveTo>
                        <a:pt x="835" y="383"/>
                      </a:moveTo>
                      <a:cubicBezTo>
                        <a:pt x="835" y="371"/>
                        <a:pt x="826" y="361"/>
                        <a:pt x="813" y="361"/>
                      </a:cubicBezTo>
                      <a:cubicBezTo>
                        <a:pt x="220" y="361"/>
                        <a:pt x="220" y="361"/>
                        <a:pt x="220" y="361"/>
                      </a:cubicBezTo>
                      <a:cubicBezTo>
                        <a:pt x="208" y="361"/>
                        <a:pt x="198" y="371"/>
                        <a:pt x="198" y="383"/>
                      </a:cubicBezTo>
                      <a:cubicBezTo>
                        <a:pt x="198" y="395"/>
                        <a:pt x="208" y="405"/>
                        <a:pt x="220" y="405"/>
                      </a:cubicBezTo>
                      <a:cubicBezTo>
                        <a:pt x="813" y="405"/>
                        <a:pt x="813" y="405"/>
                        <a:pt x="813" y="405"/>
                      </a:cubicBezTo>
                      <a:cubicBezTo>
                        <a:pt x="826" y="405"/>
                        <a:pt x="835" y="395"/>
                        <a:pt x="835" y="383"/>
                      </a:cubicBezTo>
                      <a:close/>
                      <a:moveTo>
                        <a:pt x="835" y="521"/>
                      </a:moveTo>
                      <a:cubicBezTo>
                        <a:pt x="835" y="508"/>
                        <a:pt x="826" y="499"/>
                        <a:pt x="813" y="499"/>
                      </a:cubicBezTo>
                      <a:cubicBezTo>
                        <a:pt x="220" y="499"/>
                        <a:pt x="220" y="499"/>
                        <a:pt x="220" y="499"/>
                      </a:cubicBezTo>
                      <a:cubicBezTo>
                        <a:pt x="208" y="499"/>
                        <a:pt x="198" y="508"/>
                        <a:pt x="198" y="521"/>
                      </a:cubicBezTo>
                      <a:cubicBezTo>
                        <a:pt x="198" y="533"/>
                        <a:pt x="208" y="543"/>
                        <a:pt x="220" y="543"/>
                      </a:cubicBezTo>
                      <a:cubicBezTo>
                        <a:pt x="813" y="543"/>
                        <a:pt x="813" y="543"/>
                        <a:pt x="813" y="543"/>
                      </a:cubicBezTo>
                      <a:cubicBezTo>
                        <a:pt x="826" y="543"/>
                        <a:pt x="835" y="533"/>
                        <a:pt x="835" y="52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grpSp>
        </p:grpSp>
      </p:grpSp>
      <p:sp>
        <p:nvSpPr>
          <p:cNvPr id="174" name="TextBox 173"/>
          <p:cNvSpPr txBox="1"/>
          <p:nvPr/>
        </p:nvSpPr>
        <p:spPr>
          <a:xfrm>
            <a:off x="9015155" y="3097658"/>
            <a:ext cx="2813679" cy="52322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Team estimates capacity to deliver for sprint</a:t>
            </a:r>
          </a:p>
        </p:txBody>
      </p:sp>
      <p:grpSp>
        <p:nvGrpSpPr>
          <p:cNvPr id="175" name="Group 174"/>
          <p:cNvGrpSpPr/>
          <p:nvPr/>
        </p:nvGrpSpPr>
        <p:grpSpPr>
          <a:xfrm>
            <a:off x="7476727" y="5471069"/>
            <a:ext cx="1583755" cy="1113361"/>
            <a:chOff x="7476727" y="5156438"/>
            <a:chExt cx="1583755" cy="1113361"/>
          </a:xfrm>
        </p:grpSpPr>
        <p:sp>
          <p:nvSpPr>
            <p:cNvPr id="176" name="Freeform: Shape 76">
              <a:extLst>
                <a:ext uri="{FF2B5EF4-FFF2-40B4-BE49-F238E27FC236}">
                  <a16:creationId xmlns:a16="http://schemas.microsoft.com/office/drawing/2014/main" id="{3C9E493A-DEF5-4C5D-B348-651236B5B25F}"/>
                </a:ext>
              </a:extLst>
            </p:cNvPr>
            <p:cNvSpPr/>
            <p:nvPr/>
          </p:nvSpPr>
          <p:spPr>
            <a:xfrm>
              <a:off x="8147085" y="5551137"/>
              <a:ext cx="182880" cy="182880"/>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chemeClr val="bg2">
                <a:lumMod val="9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p:txBody>
        </p:sp>
        <p:sp>
          <p:nvSpPr>
            <p:cNvPr id="177" name="Freeform: Shape 76">
              <a:extLst>
                <a:ext uri="{FF2B5EF4-FFF2-40B4-BE49-F238E27FC236}">
                  <a16:creationId xmlns:a16="http://schemas.microsoft.com/office/drawing/2014/main" id="{3C9E493A-DEF5-4C5D-B348-651236B5B25F}"/>
                </a:ext>
              </a:extLst>
            </p:cNvPr>
            <p:cNvSpPr/>
            <p:nvPr/>
          </p:nvSpPr>
          <p:spPr>
            <a:xfrm>
              <a:off x="7620515" y="5551137"/>
              <a:ext cx="182880" cy="182880"/>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chemeClr val="bg2">
                <a:lumMod val="9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p:txBody>
        </p:sp>
        <p:sp>
          <p:nvSpPr>
            <p:cNvPr id="178" name="Freeform: Shape 76">
              <a:extLst>
                <a:ext uri="{FF2B5EF4-FFF2-40B4-BE49-F238E27FC236}">
                  <a16:creationId xmlns:a16="http://schemas.microsoft.com/office/drawing/2014/main" id="{3C9E493A-DEF5-4C5D-B348-651236B5B25F}"/>
                </a:ext>
              </a:extLst>
            </p:cNvPr>
            <p:cNvSpPr/>
            <p:nvPr/>
          </p:nvSpPr>
          <p:spPr>
            <a:xfrm>
              <a:off x="8693755" y="5551137"/>
              <a:ext cx="182880" cy="182880"/>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BB151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179" name="Freeform: Shape 76">
              <a:extLst>
                <a:ext uri="{FF2B5EF4-FFF2-40B4-BE49-F238E27FC236}">
                  <a16:creationId xmlns:a16="http://schemas.microsoft.com/office/drawing/2014/main" id="{3C9E493A-DEF5-4C5D-B348-651236B5B25F}"/>
                </a:ext>
              </a:extLst>
            </p:cNvPr>
            <p:cNvSpPr/>
            <p:nvPr/>
          </p:nvSpPr>
          <p:spPr>
            <a:xfrm>
              <a:off x="8147085" y="5789804"/>
              <a:ext cx="182880" cy="182880"/>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chemeClr val="bg2">
                <a:lumMod val="9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p:txBody>
        </p:sp>
        <p:sp>
          <p:nvSpPr>
            <p:cNvPr id="180" name="Freeform: Shape 76">
              <a:extLst>
                <a:ext uri="{FF2B5EF4-FFF2-40B4-BE49-F238E27FC236}">
                  <a16:creationId xmlns:a16="http://schemas.microsoft.com/office/drawing/2014/main" id="{3C9E493A-DEF5-4C5D-B348-651236B5B25F}"/>
                </a:ext>
              </a:extLst>
            </p:cNvPr>
            <p:cNvSpPr/>
            <p:nvPr/>
          </p:nvSpPr>
          <p:spPr>
            <a:xfrm>
              <a:off x="7620515" y="5789804"/>
              <a:ext cx="182880" cy="182880"/>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BB151D"/>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p:txBody>
        </p:sp>
        <p:sp>
          <p:nvSpPr>
            <p:cNvPr id="181" name="Freeform: Shape 76">
              <a:extLst>
                <a:ext uri="{FF2B5EF4-FFF2-40B4-BE49-F238E27FC236}">
                  <a16:creationId xmlns:a16="http://schemas.microsoft.com/office/drawing/2014/main" id="{3C9E493A-DEF5-4C5D-B348-651236B5B25F}"/>
                </a:ext>
              </a:extLst>
            </p:cNvPr>
            <p:cNvSpPr/>
            <p:nvPr/>
          </p:nvSpPr>
          <p:spPr>
            <a:xfrm>
              <a:off x="7620515" y="6036928"/>
              <a:ext cx="182880" cy="182880"/>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chemeClr val="bg2">
                <a:lumMod val="9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p:txBody>
        </p:sp>
        <p:sp>
          <p:nvSpPr>
            <p:cNvPr id="182" name="Rectangle 181"/>
            <p:cNvSpPr/>
            <p:nvPr/>
          </p:nvSpPr>
          <p:spPr>
            <a:xfrm>
              <a:off x="7567684" y="5332859"/>
              <a:ext cx="288541" cy="153888"/>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000" b="0" i="1" u="none" strike="noStrike" kern="1200" cap="none" spc="0" normalizeH="0" baseline="0" noProof="0">
                  <a:ln>
                    <a:noFill/>
                  </a:ln>
                  <a:effectLst/>
                  <a:uLnTx/>
                  <a:uFillTx/>
                  <a:latin typeface="Calibri" panose="020F0502020204030204" pitchFamily="34" charset="0"/>
                  <a:cs typeface="Calibri" panose="020F0502020204030204" pitchFamily="34" charset="0"/>
                </a:rPr>
                <a:t>To do</a:t>
              </a:r>
            </a:p>
          </p:txBody>
        </p:sp>
        <p:sp>
          <p:nvSpPr>
            <p:cNvPr id="183" name="Rectangle 182"/>
            <p:cNvSpPr/>
            <p:nvPr/>
          </p:nvSpPr>
          <p:spPr>
            <a:xfrm>
              <a:off x="8086239" y="5332859"/>
              <a:ext cx="304571" cy="153888"/>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000" b="0" i="1" u="none" strike="noStrike" kern="1200" cap="none" spc="0" normalizeH="0" baseline="0" noProof="0">
                  <a:ln>
                    <a:noFill/>
                  </a:ln>
                  <a:effectLst/>
                  <a:uLnTx/>
                  <a:uFillTx/>
                  <a:latin typeface="Calibri" panose="020F0502020204030204" pitchFamily="34" charset="0"/>
                  <a:cs typeface="Calibri" panose="020F0502020204030204" pitchFamily="34" charset="0"/>
                </a:rPr>
                <a:t>Doing</a:t>
              </a:r>
            </a:p>
          </p:txBody>
        </p:sp>
        <p:sp>
          <p:nvSpPr>
            <p:cNvPr id="184" name="Rectangle 183"/>
            <p:cNvSpPr/>
            <p:nvPr/>
          </p:nvSpPr>
          <p:spPr>
            <a:xfrm>
              <a:off x="8649740" y="5332859"/>
              <a:ext cx="270908" cy="153888"/>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000" b="0" i="1" u="none" strike="noStrike" kern="1200" cap="none" spc="0" normalizeH="0" baseline="0" noProof="0">
                  <a:ln>
                    <a:noFill/>
                  </a:ln>
                  <a:effectLst/>
                  <a:uLnTx/>
                  <a:uFillTx/>
                  <a:latin typeface="Calibri" panose="020F0502020204030204" pitchFamily="34" charset="0"/>
                  <a:cs typeface="Calibri" panose="020F0502020204030204" pitchFamily="34" charset="0"/>
                </a:rPr>
                <a:t>Done</a:t>
              </a:r>
            </a:p>
          </p:txBody>
        </p:sp>
        <p:sp>
          <p:nvSpPr>
            <p:cNvPr id="185" name="Rectangle 184">
              <a:extLst>
                <a:ext uri="{FF2B5EF4-FFF2-40B4-BE49-F238E27FC236}">
                  <a16:creationId xmlns:a16="http://schemas.microsoft.com/office/drawing/2014/main" id="{EC3D35D7-2D14-48DE-876D-E8BA58AB821D}"/>
                </a:ext>
              </a:extLst>
            </p:cNvPr>
            <p:cNvSpPr/>
            <p:nvPr/>
          </p:nvSpPr>
          <p:spPr>
            <a:xfrm>
              <a:off x="7476727" y="5271608"/>
              <a:ext cx="1583755" cy="998191"/>
            </a:xfrm>
            <a:prstGeom prst="rect">
              <a:avLst/>
            </a:prstGeom>
            <a:noFill/>
            <a:ln w="19050">
              <a:solidFill>
                <a:schemeClr val="bg2">
                  <a:lumMod val="9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186" name="TextBox 185"/>
            <p:cNvSpPr txBox="1"/>
            <p:nvPr/>
          </p:nvSpPr>
          <p:spPr>
            <a:xfrm>
              <a:off x="7751838" y="5156438"/>
              <a:ext cx="978486" cy="152349"/>
            </a:xfrm>
            <a:prstGeom prst="rect">
              <a:avLst/>
            </a:prstGeom>
            <a:solidFill>
              <a:schemeClr val="bg1"/>
            </a:solidFill>
          </p:spPr>
          <p:txBody>
            <a:bodyPr wrap="square" lIns="0" tIns="0" rIns="0" bIns="0" rtlCol="0" anchor="ctr">
              <a:spAutoFit/>
            </a:bodyPr>
            <a:lstStyle>
              <a:defPPr>
                <a:defRPr lang="en-US"/>
              </a:defPPr>
              <a:lvl1pPr algn="ctr">
                <a:lnSpc>
                  <a:spcPct val="90000"/>
                </a:lnSpc>
                <a:defRPr sz="2400">
                  <a:solidFill>
                    <a:schemeClr val="tx2"/>
                  </a:solidFill>
                  <a:latin typeface="Italo Medium" panose="02000000000000000000" pitchFamily="2" charset="0"/>
                  <a:cs typeface="Arial" pitchFamily="34" charset="0"/>
                </a:defRPr>
              </a:lvl1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AU" sz="11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Sprint Board</a:t>
              </a:r>
            </a:p>
          </p:txBody>
        </p:sp>
      </p:grpSp>
      <p:sp>
        <p:nvSpPr>
          <p:cNvPr id="187" name="TextBox 186"/>
          <p:cNvSpPr txBox="1"/>
          <p:nvPr/>
        </p:nvSpPr>
        <p:spPr>
          <a:xfrm>
            <a:off x="9015156" y="4249054"/>
            <a:ext cx="2675388" cy="73866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Team pulls stories from backlog into "To do" column of the Sprint Board</a:t>
            </a:r>
          </a:p>
        </p:txBody>
      </p:sp>
      <p:sp>
        <p:nvSpPr>
          <p:cNvPr id="188" name="TextBox 187"/>
          <p:cNvSpPr txBox="1"/>
          <p:nvPr/>
        </p:nvSpPr>
        <p:spPr>
          <a:xfrm>
            <a:off x="9015156" y="5702280"/>
            <a:ext cx="2367950" cy="73866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Team determines who will do what to achieve the Sprint goal</a:t>
            </a:r>
          </a:p>
        </p:txBody>
      </p:sp>
      <p:sp>
        <p:nvSpPr>
          <p:cNvPr id="15" name="Arc 14"/>
          <p:cNvSpPr/>
          <p:nvPr/>
        </p:nvSpPr>
        <p:spPr>
          <a:xfrm rot="12549886">
            <a:off x="7433104" y="752002"/>
            <a:ext cx="2455256" cy="4244206"/>
          </a:xfrm>
          <a:prstGeom prst="arc">
            <a:avLst>
              <a:gd name="adj1" fmla="val 16200000"/>
              <a:gd name="adj2" fmla="val 21420746"/>
            </a:avLst>
          </a:prstGeom>
          <a:ln w="6350" cap="rnd">
            <a:solidFill>
              <a:schemeClr val="accent1"/>
            </a:solidFill>
            <a:prstDash val="solid"/>
            <a:round/>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16" name="Folded Corner 15"/>
          <p:cNvSpPr/>
          <p:nvPr/>
        </p:nvSpPr>
        <p:spPr>
          <a:xfrm>
            <a:off x="7719523" y="5943901"/>
            <a:ext cx="237795" cy="93770"/>
          </a:xfrm>
          <a:prstGeom prst="foldedCorner">
            <a:avLst/>
          </a:prstGeom>
          <a:solidFill>
            <a:schemeClr val="accent3">
              <a:lumMod val="20000"/>
              <a:lumOff val="80000"/>
            </a:schemeClr>
          </a:solidFill>
          <a:ln w="9525" cap="rnd" cmpd="sng" algn="ctr">
            <a:solidFill>
              <a:schemeClr val="accent3">
                <a:lumMod val="50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18288" rIns="9144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830F15"/>
                </a:solidFill>
                <a:effectLst/>
                <a:uLnTx/>
                <a:uFillTx/>
                <a:latin typeface="Calibri" panose="020F0502020204030204" pitchFamily="34" charset="0"/>
                <a:cs typeface="Calibri" panose="020F0502020204030204" pitchFamily="34" charset="0"/>
              </a:rPr>
              <a:t>Mike</a:t>
            </a:r>
          </a:p>
        </p:txBody>
      </p:sp>
      <p:sp>
        <p:nvSpPr>
          <p:cNvPr id="189" name="Folded Corner 188"/>
          <p:cNvSpPr/>
          <p:nvPr/>
        </p:nvSpPr>
        <p:spPr>
          <a:xfrm>
            <a:off x="7736172" y="6172741"/>
            <a:ext cx="237795" cy="93770"/>
          </a:xfrm>
          <a:prstGeom prst="foldedCorner">
            <a:avLst/>
          </a:prstGeom>
          <a:solidFill>
            <a:schemeClr val="accent3">
              <a:lumMod val="20000"/>
              <a:lumOff val="80000"/>
            </a:schemeClr>
          </a:solidFill>
          <a:ln w="9525" cap="rnd" cmpd="sng" algn="ctr">
            <a:solidFill>
              <a:schemeClr val="accent3">
                <a:lumMod val="50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18288" rIns="9144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830F15"/>
                </a:solidFill>
                <a:effectLst/>
                <a:uLnTx/>
                <a:uFillTx/>
                <a:latin typeface="Calibri" panose="020F0502020204030204" pitchFamily="34" charset="0"/>
                <a:cs typeface="Calibri" panose="020F0502020204030204" pitchFamily="34" charset="0"/>
              </a:rPr>
              <a:t>Kelley</a:t>
            </a:r>
          </a:p>
        </p:txBody>
      </p:sp>
      <p:sp>
        <p:nvSpPr>
          <p:cNvPr id="190" name="Folded Corner 189"/>
          <p:cNvSpPr/>
          <p:nvPr/>
        </p:nvSpPr>
        <p:spPr>
          <a:xfrm>
            <a:off x="7736172" y="6416444"/>
            <a:ext cx="237795" cy="93770"/>
          </a:xfrm>
          <a:prstGeom prst="foldedCorner">
            <a:avLst/>
          </a:prstGeom>
          <a:solidFill>
            <a:schemeClr val="accent3">
              <a:lumMod val="20000"/>
              <a:lumOff val="80000"/>
            </a:schemeClr>
          </a:solidFill>
          <a:ln w="9525" cap="rnd" cmpd="sng" algn="ctr">
            <a:solidFill>
              <a:schemeClr val="accent3">
                <a:lumMod val="50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18288" rIns="9144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830F15"/>
                </a:solidFill>
                <a:effectLst/>
                <a:uLnTx/>
                <a:uFillTx/>
                <a:latin typeface="Calibri" panose="020F0502020204030204" pitchFamily="34" charset="0"/>
                <a:cs typeface="Calibri" panose="020F0502020204030204" pitchFamily="34" charset="0"/>
              </a:rPr>
              <a:t>Kelley</a:t>
            </a:r>
          </a:p>
        </p:txBody>
      </p:sp>
      <p:sp>
        <p:nvSpPr>
          <p:cNvPr id="191" name="Rectangle 190"/>
          <p:cNvSpPr/>
          <p:nvPr/>
        </p:nvSpPr>
        <p:spPr>
          <a:xfrm>
            <a:off x="7271588" y="1307048"/>
            <a:ext cx="3952223" cy="30777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185"/>
              </a:spcAft>
              <a:buClr>
                <a:srgbClr val="5BC6E8"/>
              </a:buClr>
              <a:buSzPct val="100000"/>
              <a:buFontTx/>
              <a:buNone/>
              <a:tabLst/>
              <a:defRPr/>
            </a:pPr>
            <a:r>
              <a:rPr kumimoji="0" lang="en-AU" sz="1400" b="1" i="0" u="none" strike="noStrike" kern="1200" cap="none" spc="0" normalizeH="0" baseline="0" noProof="0">
                <a:ln>
                  <a:noFill/>
                </a:ln>
                <a:effectLst/>
                <a:uLnTx/>
                <a:uFillTx/>
                <a:latin typeface="Calibri" panose="020F0502020204030204" pitchFamily="34" charset="0"/>
                <a:cs typeface="Calibri" panose="020F0502020204030204" pitchFamily="34" charset="0"/>
              </a:rPr>
              <a:t>How to conduct Sprint Planning</a:t>
            </a:r>
          </a:p>
        </p:txBody>
      </p:sp>
      <p:grpSp>
        <p:nvGrpSpPr>
          <p:cNvPr id="192" name="Group 191"/>
          <p:cNvGrpSpPr/>
          <p:nvPr/>
        </p:nvGrpSpPr>
        <p:grpSpPr>
          <a:xfrm rot="5194849">
            <a:off x="10052841" y="5277067"/>
            <a:ext cx="138996" cy="145552"/>
            <a:chOff x="7896709" y="213753"/>
            <a:chExt cx="138996" cy="145552"/>
          </a:xfrm>
        </p:grpSpPr>
        <p:sp>
          <p:nvSpPr>
            <p:cNvPr id="193" name="Freeform 192"/>
            <p:cNvSpPr/>
            <p:nvPr/>
          </p:nvSpPr>
          <p:spPr>
            <a:xfrm flipH="1">
              <a:off x="7896709" y="213753"/>
              <a:ext cx="58323" cy="145552"/>
            </a:xfrm>
            <a:custGeom>
              <a:avLst/>
              <a:gdLst>
                <a:gd name="connsiteX0" fmla="*/ 85917 w 98190"/>
                <a:gd name="connsiteY0" fmla="*/ 0 h 184107"/>
                <a:gd name="connsiteX1" fmla="*/ 0 w 98190"/>
                <a:gd name="connsiteY1" fmla="*/ 98191 h 184107"/>
                <a:gd name="connsiteX2" fmla="*/ 98190 w 98190"/>
                <a:gd name="connsiteY2" fmla="*/ 184107 h 184107"/>
              </a:gdLst>
              <a:ahLst/>
              <a:cxnLst>
                <a:cxn ang="0">
                  <a:pos x="connsiteX0" y="connsiteY0"/>
                </a:cxn>
                <a:cxn ang="0">
                  <a:pos x="connsiteX1" y="connsiteY1"/>
                </a:cxn>
                <a:cxn ang="0">
                  <a:pos x="connsiteX2" y="connsiteY2"/>
                </a:cxn>
              </a:cxnLst>
              <a:rect l="l" t="t" r="r" b="b"/>
              <a:pathLst>
                <a:path w="98190" h="184107">
                  <a:moveTo>
                    <a:pt x="85917" y="0"/>
                  </a:moveTo>
                  <a:lnTo>
                    <a:pt x="0" y="98191"/>
                  </a:lnTo>
                  <a:lnTo>
                    <a:pt x="98190" y="184107"/>
                  </a:lnTo>
                </a:path>
              </a:pathLst>
            </a:custGeom>
            <a:noFill/>
            <a:ln w="19050" cap="flat" cmpd="sng" algn="ctr">
              <a:solidFill>
                <a:srgbClr val="E51B24"/>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62"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194" name="Freeform 193"/>
            <p:cNvSpPr/>
            <p:nvPr/>
          </p:nvSpPr>
          <p:spPr>
            <a:xfrm flipH="1">
              <a:off x="7977382" y="213753"/>
              <a:ext cx="58323" cy="145552"/>
            </a:xfrm>
            <a:custGeom>
              <a:avLst/>
              <a:gdLst>
                <a:gd name="connsiteX0" fmla="*/ 85917 w 98190"/>
                <a:gd name="connsiteY0" fmla="*/ 0 h 184107"/>
                <a:gd name="connsiteX1" fmla="*/ 0 w 98190"/>
                <a:gd name="connsiteY1" fmla="*/ 98191 h 184107"/>
                <a:gd name="connsiteX2" fmla="*/ 98190 w 98190"/>
                <a:gd name="connsiteY2" fmla="*/ 184107 h 184107"/>
              </a:gdLst>
              <a:ahLst/>
              <a:cxnLst>
                <a:cxn ang="0">
                  <a:pos x="connsiteX0" y="connsiteY0"/>
                </a:cxn>
                <a:cxn ang="0">
                  <a:pos x="connsiteX1" y="connsiteY1"/>
                </a:cxn>
                <a:cxn ang="0">
                  <a:pos x="connsiteX2" y="connsiteY2"/>
                </a:cxn>
              </a:cxnLst>
              <a:rect l="l" t="t" r="r" b="b"/>
              <a:pathLst>
                <a:path w="98190" h="184107">
                  <a:moveTo>
                    <a:pt x="85917" y="0"/>
                  </a:moveTo>
                  <a:lnTo>
                    <a:pt x="0" y="98191"/>
                  </a:lnTo>
                  <a:lnTo>
                    <a:pt x="98190" y="184107"/>
                  </a:lnTo>
                </a:path>
              </a:pathLst>
            </a:custGeom>
            <a:noFill/>
            <a:ln w="19050" cap="flat" cmpd="sng" algn="ctr">
              <a:solidFill>
                <a:srgbClr val="E51B24"/>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62"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grpSp>
      <p:grpSp>
        <p:nvGrpSpPr>
          <p:cNvPr id="195" name="Group 194"/>
          <p:cNvGrpSpPr/>
          <p:nvPr/>
        </p:nvGrpSpPr>
        <p:grpSpPr>
          <a:xfrm rot="5194849">
            <a:off x="10052842" y="3902866"/>
            <a:ext cx="138996" cy="145552"/>
            <a:chOff x="7896709" y="213753"/>
            <a:chExt cx="138996" cy="145552"/>
          </a:xfrm>
        </p:grpSpPr>
        <p:sp>
          <p:nvSpPr>
            <p:cNvPr id="196" name="Freeform 195"/>
            <p:cNvSpPr/>
            <p:nvPr/>
          </p:nvSpPr>
          <p:spPr>
            <a:xfrm flipH="1">
              <a:off x="7896709" y="213753"/>
              <a:ext cx="58323" cy="145552"/>
            </a:xfrm>
            <a:custGeom>
              <a:avLst/>
              <a:gdLst>
                <a:gd name="connsiteX0" fmla="*/ 85917 w 98190"/>
                <a:gd name="connsiteY0" fmla="*/ 0 h 184107"/>
                <a:gd name="connsiteX1" fmla="*/ 0 w 98190"/>
                <a:gd name="connsiteY1" fmla="*/ 98191 h 184107"/>
                <a:gd name="connsiteX2" fmla="*/ 98190 w 98190"/>
                <a:gd name="connsiteY2" fmla="*/ 184107 h 184107"/>
              </a:gdLst>
              <a:ahLst/>
              <a:cxnLst>
                <a:cxn ang="0">
                  <a:pos x="connsiteX0" y="connsiteY0"/>
                </a:cxn>
                <a:cxn ang="0">
                  <a:pos x="connsiteX1" y="connsiteY1"/>
                </a:cxn>
                <a:cxn ang="0">
                  <a:pos x="connsiteX2" y="connsiteY2"/>
                </a:cxn>
              </a:cxnLst>
              <a:rect l="l" t="t" r="r" b="b"/>
              <a:pathLst>
                <a:path w="98190" h="184107">
                  <a:moveTo>
                    <a:pt x="85917" y="0"/>
                  </a:moveTo>
                  <a:lnTo>
                    <a:pt x="0" y="98191"/>
                  </a:lnTo>
                  <a:lnTo>
                    <a:pt x="98190" y="184107"/>
                  </a:lnTo>
                </a:path>
              </a:pathLst>
            </a:custGeom>
            <a:noFill/>
            <a:ln w="19050" cap="flat" cmpd="sng" algn="ctr">
              <a:solidFill>
                <a:srgbClr val="E51B24"/>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62"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197" name="Freeform 196"/>
            <p:cNvSpPr/>
            <p:nvPr/>
          </p:nvSpPr>
          <p:spPr>
            <a:xfrm flipH="1">
              <a:off x="7977382" y="213753"/>
              <a:ext cx="58323" cy="145552"/>
            </a:xfrm>
            <a:custGeom>
              <a:avLst/>
              <a:gdLst>
                <a:gd name="connsiteX0" fmla="*/ 85917 w 98190"/>
                <a:gd name="connsiteY0" fmla="*/ 0 h 184107"/>
                <a:gd name="connsiteX1" fmla="*/ 0 w 98190"/>
                <a:gd name="connsiteY1" fmla="*/ 98191 h 184107"/>
                <a:gd name="connsiteX2" fmla="*/ 98190 w 98190"/>
                <a:gd name="connsiteY2" fmla="*/ 184107 h 184107"/>
              </a:gdLst>
              <a:ahLst/>
              <a:cxnLst>
                <a:cxn ang="0">
                  <a:pos x="connsiteX0" y="connsiteY0"/>
                </a:cxn>
                <a:cxn ang="0">
                  <a:pos x="connsiteX1" y="connsiteY1"/>
                </a:cxn>
                <a:cxn ang="0">
                  <a:pos x="connsiteX2" y="connsiteY2"/>
                </a:cxn>
              </a:cxnLst>
              <a:rect l="l" t="t" r="r" b="b"/>
              <a:pathLst>
                <a:path w="98190" h="184107">
                  <a:moveTo>
                    <a:pt x="85917" y="0"/>
                  </a:moveTo>
                  <a:lnTo>
                    <a:pt x="0" y="98191"/>
                  </a:lnTo>
                  <a:lnTo>
                    <a:pt x="98190" y="184107"/>
                  </a:lnTo>
                </a:path>
              </a:pathLst>
            </a:custGeom>
            <a:noFill/>
            <a:ln w="19050" cap="flat" cmpd="sng" algn="ctr">
              <a:solidFill>
                <a:srgbClr val="E51B24"/>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62"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grpSp>
      <p:grpSp>
        <p:nvGrpSpPr>
          <p:cNvPr id="198" name="Group 197"/>
          <p:cNvGrpSpPr/>
          <p:nvPr/>
        </p:nvGrpSpPr>
        <p:grpSpPr>
          <a:xfrm rot="5194849">
            <a:off x="10052842" y="2807215"/>
            <a:ext cx="138996" cy="145552"/>
            <a:chOff x="7896709" y="213753"/>
            <a:chExt cx="138996" cy="145552"/>
          </a:xfrm>
        </p:grpSpPr>
        <p:sp>
          <p:nvSpPr>
            <p:cNvPr id="199" name="Freeform 198"/>
            <p:cNvSpPr/>
            <p:nvPr/>
          </p:nvSpPr>
          <p:spPr>
            <a:xfrm flipH="1">
              <a:off x="7896709" y="213753"/>
              <a:ext cx="58323" cy="145552"/>
            </a:xfrm>
            <a:custGeom>
              <a:avLst/>
              <a:gdLst>
                <a:gd name="connsiteX0" fmla="*/ 85917 w 98190"/>
                <a:gd name="connsiteY0" fmla="*/ 0 h 184107"/>
                <a:gd name="connsiteX1" fmla="*/ 0 w 98190"/>
                <a:gd name="connsiteY1" fmla="*/ 98191 h 184107"/>
                <a:gd name="connsiteX2" fmla="*/ 98190 w 98190"/>
                <a:gd name="connsiteY2" fmla="*/ 184107 h 184107"/>
              </a:gdLst>
              <a:ahLst/>
              <a:cxnLst>
                <a:cxn ang="0">
                  <a:pos x="connsiteX0" y="connsiteY0"/>
                </a:cxn>
                <a:cxn ang="0">
                  <a:pos x="connsiteX1" y="connsiteY1"/>
                </a:cxn>
                <a:cxn ang="0">
                  <a:pos x="connsiteX2" y="connsiteY2"/>
                </a:cxn>
              </a:cxnLst>
              <a:rect l="l" t="t" r="r" b="b"/>
              <a:pathLst>
                <a:path w="98190" h="184107">
                  <a:moveTo>
                    <a:pt x="85917" y="0"/>
                  </a:moveTo>
                  <a:lnTo>
                    <a:pt x="0" y="98191"/>
                  </a:lnTo>
                  <a:lnTo>
                    <a:pt x="98190" y="184107"/>
                  </a:lnTo>
                </a:path>
              </a:pathLst>
            </a:custGeom>
            <a:noFill/>
            <a:ln w="19050" cap="flat" cmpd="sng" algn="ctr">
              <a:solidFill>
                <a:srgbClr val="E51B24"/>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62"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200" name="Freeform 199"/>
            <p:cNvSpPr/>
            <p:nvPr/>
          </p:nvSpPr>
          <p:spPr>
            <a:xfrm flipH="1">
              <a:off x="7977382" y="213753"/>
              <a:ext cx="58323" cy="145552"/>
            </a:xfrm>
            <a:custGeom>
              <a:avLst/>
              <a:gdLst>
                <a:gd name="connsiteX0" fmla="*/ 85917 w 98190"/>
                <a:gd name="connsiteY0" fmla="*/ 0 h 184107"/>
                <a:gd name="connsiteX1" fmla="*/ 0 w 98190"/>
                <a:gd name="connsiteY1" fmla="*/ 98191 h 184107"/>
                <a:gd name="connsiteX2" fmla="*/ 98190 w 98190"/>
                <a:gd name="connsiteY2" fmla="*/ 184107 h 184107"/>
              </a:gdLst>
              <a:ahLst/>
              <a:cxnLst>
                <a:cxn ang="0">
                  <a:pos x="connsiteX0" y="connsiteY0"/>
                </a:cxn>
                <a:cxn ang="0">
                  <a:pos x="connsiteX1" y="connsiteY1"/>
                </a:cxn>
                <a:cxn ang="0">
                  <a:pos x="connsiteX2" y="connsiteY2"/>
                </a:cxn>
              </a:cxnLst>
              <a:rect l="l" t="t" r="r" b="b"/>
              <a:pathLst>
                <a:path w="98190" h="184107">
                  <a:moveTo>
                    <a:pt x="85917" y="0"/>
                  </a:moveTo>
                  <a:lnTo>
                    <a:pt x="0" y="98191"/>
                  </a:lnTo>
                  <a:lnTo>
                    <a:pt x="98190" y="184107"/>
                  </a:lnTo>
                </a:path>
              </a:pathLst>
            </a:custGeom>
            <a:noFill/>
            <a:ln w="19050" cap="flat" cmpd="sng" algn="ctr">
              <a:solidFill>
                <a:srgbClr val="E51B24"/>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62"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grpSp>
      <p:sp>
        <p:nvSpPr>
          <p:cNvPr id="8" name="Title 3">
            <a:extLst>
              <a:ext uri="{FF2B5EF4-FFF2-40B4-BE49-F238E27FC236}">
                <a16:creationId xmlns:a16="http://schemas.microsoft.com/office/drawing/2014/main" id="{06AE47F3-6D04-FF4C-B081-A1BF8A0A4712}"/>
              </a:ext>
            </a:extLst>
          </p:cNvPr>
          <p:cNvSpPr txBox="1">
            <a:spLocks/>
          </p:cNvSpPr>
          <p:nvPr/>
        </p:nvSpPr>
        <p:spPr>
          <a:xfrm>
            <a:off x="184150" y="284162"/>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r>
              <a:rPr lang="en-US" sz="2800" cap="none">
                <a:solidFill>
                  <a:schemeClr val="tx1"/>
                </a:solidFill>
              </a:rPr>
              <a:t>Sprint Planning</a:t>
            </a:r>
          </a:p>
        </p:txBody>
      </p:sp>
      <p:sp>
        <p:nvSpPr>
          <p:cNvPr id="9" name="TextBox 8">
            <a:extLst>
              <a:ext uri="{FF2B5EF4-FFF2-40B4-BE49-F238E27FC236}">
                <a16:creationId xmlns:a16="http://schemas.microsoft.com/office/drawing/2014/main" id="{349BEB73-7BFC-CBF1-3532-1BC89F56721C}"/>
              </a:ext>
            </a:extLst>
          </p:cNvPr>
          <p:cNvSpPr txBox="1"/>
          <p:nvPr/>
        </p:nvSpPr>
        <p:spPr>
          <a:xfrm>
            <a:off x="575594" y="6011696"/>
            <a:ext cx="6140510" cy="369332"/>
          </a:xfrm>
          <a:prstGeom prst="rect">
            <a:avLst/>
          </a:prstGeom>
          <a:noFill/>
        </p:spPr>
        <p:txBody>
          <a:bodyPr wrap="square">
            <a:spAutoFit/>
          </a:bodyPr>
          <a:lstStyle/>
          <a:p>
            <a:r>
              <a:rPr lang="en-US" b="1">
                <a:solidFill>
                  <a:srgbClr val="D763C6"/>
                </a:solidFill>
                <a:latin typeface="Calibri" panose="020F0502020204030204" pitchFamily="34" charset="0"/>
                <a:cs typeface="Calibri" panose="020F0502020204030204" pitchFamily="34" charset="0"/>
              </a:rPr>
              <a:t>Shared Understanding of Sprint Goal</a:t>
            </a:r>
            <a:endParaRPr lang="en-US" b="1">
              <a:solidFill>
                <a:srgbClr val="D763C6"/>
              </a:solidFill>
            </a:endParaRPr>
          </a:p>
        </p:txBody>
      </p:sp>
    </p:spTree>
    <p:extLst>
      <p:ext uri="{BB962C8B-B14F-4D97-AF65-F5344CB8AC3E}">
        <p14:creationId xmlns:p14="http://schemas.microsoft.com/office/powerpoint/2010/main" val="13928664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 name="Object 46" hidden="1"/>
          <p:cNvGraphicFramePr>
            <a:graphicFrameLocks noChangeAspect="1"/>
          </p:cNvGraphicFramePr>
          <p:nvPr>
            <p:custDataLst>
              <p:tags r:id="rId1"/>
            </p:custDataLst>
          </p:nvPr>
        </p:nvGraphicFramePr>
        <p:xfrm>
          <a:off x="1525467" y="265237"/>
          <a:ext cx="1465" cy="1465"/>
        </p:xfrm>
        <a:graphic>
          <a:graphicData uri="http://schemas.openxmlformats.org/presentationml/2006/ole">
            <mc:AlternateContent xmlns:mc="http://schemas.openxmlformats.org/markup-compatibility/2006">
              <mc:Choice xmlns:v="urn:schemas-microsoft-com:vml" Requires="v">
                <p:oleObj name="think-cell Slide" r:id="rId6" imgW="360" imgH="360" progId="TCLayout.ActiveDocument.1">
                  <p:embed/>
                </p:oleObj>
              </mc:Choice>
              <mc:Fallback>
                <p:oleObj name="think-cell Slide" r:id="rId6" imgW="360" imgH="360" progId="TCLayout.ActiveDocument.1">
                  <p:embed/>
                  <p:pic>
                    <p:nvPicPr>
                      <p:cNvPr id="47" name="Object 46"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5467" y="265237"/>
                        <a:ext cx="1465" cy="14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2" hidden="1"/>
          <p:cNvSpPr/>
          <p:nvPr>
            <p:custDataLst>
              <p:tags r:id="rId2"/>
            </p:custDataLst>
          </p:nvPr>
        </p:nvSpPr>
        <p:spPr>
          <a:xfrm>
            <a:off x="0" y="0"/>
            <a:ext cx="158750" cy="158750"/>
          </a:xfrm>
          <a:prstGeom prst="rect">
            <a:avLst/>
          </a:prstGeom>
          <a:solidFill>
            <a:srgbClr val="E51B24"/>
          </a:solidFill>
          <a:ln w="9525" cap="rnd" cmpd="sng" algn="ctr">
            <a:solidFill>
              <a:srgbClr val="E51B2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Trebuchet MS" panose="020B0603020202020204" pitchFamily="34" charset="0"/>
              <a:ea typeface="+mn-ea"/>
              <a:cs typeface="+mn-cs"/>
              <a:sym typeface="Trebuchet MS" panose="020B0603020202020204" pitchFamily="34" charset="0"/>
            </a:endParaRPr>
          </a:p>
        </p:txBody>
      </p:sp>
      <p:sp>
        <p:nvSpPr>
          <p:cNvPr id="34" name="TextBox 33"/>
          <p:cNvSpPr txBox="1"/>
          <p:nvPr/>
        </p:nvSpPr>
        <p:spPr>
          <a:xfrm>
            <a:off x="642700" y="1321617"/>
            <a:ext cx="6327648" cy="4515327"/>
          </a:xfrm>
          <a:prstGeom prst="rect">
            <a:avLst/>
          </a:prstGeom>
          <a:noFill/>
        </p:spPr>
        <p:txBody>
          <a:bodyPr wrap="square" lIns="0" tIns="0" rIns="0" bIns="0" rtlCol="0" anchor="t">
            <a:noAutofit/>
          </a:bodyPr>
          <a:lstStyle/>
          <a:p>
            <a:pPr marL="0" marR="0" lvl="0" indent="0" algn="l" defTabSz="914400" rtl="0" eaLnBrk="1" fontAlgn="auto" latinLnBrk="0" hangingPunct="1">
              <a:lnSpc>
                <a:spcPct val="100000"/>
              </a:lnSpc>
              <a:spcBef>
                <a:spcPts val="554"/>
              </a:spcBef>
              <a:spcAft>
                <a:spcPts val="185"/>
              </a:spcAft>
              <a:buClr>
                <a:srgbClr val="5BC6E8"/>
              </a:buClr>
              <a:buSzPct val="100000"/>
              <a:buFontTx/>
              <a:buNone/>
              <a:tabLst/>
              <a:defRPr/>
            </a:pPr>
            <a:r>
              <a:rPr kumimoji="0" lang="en-AU" sz="1600" b="1" i="0" u="none" strike="noStrike" kern="1200" cap="none" spc="0" normalizeH="0" baseline="0" noProof="0">
                <a:ln>
                  <a:noFill/>
                </a:ln>
                <a:effectLst/>
                <a:uLnTx/>
                <a:uFillTx/>
                <a:latin typeface="Calibri" panose="020F0502020204030204" pitchFamily="34" charset="0"/>
                <a:cs typeface="Calibri" panose="020F0502020204030204" pitchFamily="34" charset="0"/>
              </a:rPr>
              <a:t>What is a Team Stand-up?</a:t>
            </a:r>
            <a:b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b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The Team holds a daily stand-up every day for 15 minutes to discuss, agree, and create a firm plan for the day</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Stand-up at the same time each day; if members of the Team are in different time zones, rotate timing to accommodate</a:t>
            </a:r>
          </a:p>
          <a:p>
            <a:pPr marL="109731" marR="0" lvl="1" indent="0" algn="l" defTabSz="914400" rtl="0" eaLnBrk="1" fontAlgn="auto" latinLnBrk="0" hangingPunct="1">
              <a:lnSpc>
                <a:spcPct val="100000"/>
              </a:lnSpc>
              <a:spcBef>
                <a:spcPts val="0"/>
              </a:spcBef>
              <a:spcAft>
                <a:spcPts val="185"/>
              </a:spcAft>
              <a:buClr>
                <a:srgbClr val="5BC6E8"/>
              </a:buClr>
              <a:buSzPct val="100000"/>
              <a:buFontTx/>
              <a:buNone/>
              <a:tabLst/>
              <a:defRPr/>
            </a:pPr>
            <a:endPar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a:p>
            <a:pPr marL="0" marR="0" lvl="0" indent="-312311" algn="l" defTabSz="914400" rtl="0" eaLnBrk="1" fontAlgn="auto" latinLnBrk="0" hangingPunct="1">
              <a:lnSpc>
                <a:spcPct val="100000"/>
              </a:lnSpc>
              <a:spcBef>
                <a:spcPts val="0"/>
              </a:spcBef>
              <a:spcAft>
                <a:spcPts val="0"/>
              </a:spcAft>
              <a:buClr>
                <a:srgbClr val="5BC6E8"/>
              </a:buClr>
              <a:buSzPct val="100000"/>
              <a:buFontTx/>
              <a:buNone/>
              <a:tabLst/>
              <a:defRPr/>
            </a:pPr>
            <a:r>
              <a:rPr kumimoji="0" lang="en-AU" sz="1600" b="1" i="0" u="none" strike="noStrike" kern="1200" cap="none" spc="0" normalizeH="0" baseline="0" noProof="0">
                <a:ln>
                  <a:noFill/>
                </a:ln>
                <a:effectLst/>
                <a:uLnTx/>
                <a:uFillTx/>
                <a:latin typeface="Calibri" panose="020F0502020204030204" pitchFamily="34" charset="0"/>
                <a:cs typeface="Calibri" panose="020F0502020204030204" pitchFamily="34" charset="0"/>
              </a:rPr>
              <a:t>Why do we have a Team Stand-up?</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We want to create transparency into our progress</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We want to coordinate dependencies within the Team</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We want to identify anything slowing us down or preventing us from achieving our sprint goal</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We want to provide an opportunity to share issues and help each other</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endParaRPr kumimoji="0" lang="en-AU" sz="1600" b="1" i="0" u="none" strike="noStrike" kern="1200" cap="none" spc="0" normalizeH="0" baseline="0" noProof="0">
              <a:ln>
                <a:noFill/>
              </a:ln>
              <a:effectLst/>
              <a:uLnTx/>
              <a:uFillTx/>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185"/>
              </a:spcAft>
              <a:buClr>
                <a:srgbClr val="5BC6E8"/>
              </a:buClr>
              <a:buSzPct val="100000"/>
              <a:buFontTx/>
              <a:buNone/>
              <a:tabLst/>
              <a:defRPr/>
            </a:pPr>
            <a:r>
              <a:rPr kumimoji="0" lang="en-AU" sz="1600" b="1" i="0" u="none" strike="noStrike" kern="1200" cap="none" spc="0" normalizeH="0" baseline="0" noProof="0">
                <a:ln>
                  <a:noFill/>
                </a:ln>
                <a:effectLst/>
                <a:uLnTx/>
                <a:uFillTx/>
                <a:latin typeface="Calibri" panose="020F0502020204030204" pitchFamily="34" charset="0"/>
                <a:cs typeface="Calibri" panose="020F0502020204030204" pitchFamily="34" charset="0"/>
              </a:rPr>
              <a:t>Who participates and what are their roles?</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Full Team participates in the discussion</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Agile Product Owner understands and aligns on next steps to remove impediments</a:t>
            </a:r>
          </a:p>
        </p:txBody>
      </p:sp>
      <p:cxnSp>
        <p:nvCxnSpPr>
          <p:cNvPr id="63" name="Straight Connector 62"/>
          <p:cNvCxnSpPr/>
          <p:nvPr/>
        </p:nvCxnSpPr>
        <p:spPr>
          <a:xfrm>
            <a:off x="7184704" y="1484465"/>
            <a:ext cx="0" cy="4967135"/>
          </a:xfrm>
          <a:prstGeom prst="line">
            <a:avLst/>
          </a:prstGeom>
          <a:ln w="9525" cap="rnd">
            <a:solidFill>
              <a:schemeClr val="tx1">
                <a:lumMod val="60000"/>
                <a:lumOff val="40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76" name="Rectangle 75"/>
          <p:cNvSpPr/>
          <p:nvPr/>
        </p:nvSpPr>
        <p:spPr>
          <a:xfrm>
            <a:off x="7728979" y="2779998"/>
            <a:ext cx="3672618" cy="430887"/>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effectLst/>
                <a:uLnTx/>
                <a:uFillTx/>
                <a:latin typeface="Calibri" panose="020F0502020204030204" pitchFamily="34" charset="0"/>
                <a:cs typeface="Calibri" panose="020F0502020204030204" pitchFamily="34" charset="0"/>
              </a:rPr>
              <a:t>Q1</a:t>
            </a: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 What did you accomplish yesterday that gets us closer to the Sprit Goal?</a:t>
            </a:r>
          </a:p>
        </p:txBody>
      </p:sp>
      <p:sp>
        <p:nvSpPr>
          <p:cNvPr id="81" name="Rectangle 80">
            <a:extLst>
              <a:ext uri="{FF2B5EF4-FFF2-40B4-BE49-F238E27FC236}">
                <a16:creationId xmlns:a16="http://schemas.microsoft.com/office/drawing/2014/main" id="{EC3D35D7-2D14-48DE-876D-E8BA58AB821D}"/>
              </a:ext>
            </a:extLst>
          </p:cNvPr>
          <p:cNvSpPr/>
          <p:nvPr/>
        </p:nvSpPr>
        <p:spPr>
          <a:xfrm>
            <a:off x="7638709" y="2453435"/>
            <a:ext cx="4172291" cy="2251693"/>
          </a:xfrm>
          <a:prstGeom prst="rect">
            <a:avLst/>
          </a:prstGeom>
          <a:noFill/>
          <a:ln w="19050">
            <a:solidFill>
              <a:schemeClr val="bg2">
                <a:lumMod val="9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5" name="Rectangle 4"/>
          <p:cNvSpPr/>
          <p:nvPr/>
        </p:nvSpPr>
        <p:spPr>
          <a:xfrm>
            <a:off x="7442013" y="1432123"/>
            <a:ext cx="4168140" cy="307777"/>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185"/>
              </a:spcAft>
              <a:buClr>
                <a:srgbClr val="5BC6E8"/>
              </a:buClr>
              <a:buSzPct val="100000"/>
              <a:buFontTx/>
              <a:buNone/>
              <a:tabLst/>
              <a:defRPr/>
            </a:pPr>
            <a:r>
              <a:rPr kumimoji="0" lang="en-AU" sz="1400" b="1" i="0" u="none" strike="noStrike" kern="1200" cap="none" spc="0" normalizeH="0" baseline="0" noProof="0">
                <a:ln>
                  <a:noFill/>
                </a:ln>
                <a:effectLst/>
                <a:uLnTx/>
                <a:uFillTx/>
                <a:latin typeface="Calibri" panose="020F0502020204030204" pitchFamily="34" charset="0"/>
                <a:cs typeface="Calibri" panose="020F0502020204030204" pitchFamily="34" charset="0"/>
              </a:rPr>
              <a:t>How to conduct Team Stand-ups</a:t>
            </a:r>
          </a:p>
        </p:txBody>
      </p:sp>
      <p:sp>
        <p:nvSpPr>
          <p:cNvPr id="35" name="TextBox 34"/>
          <p:cNvSpPr txBox="1"/>
          <p:nvPr/>
        </p:nvSpPr>
        <p:spPr>
          <a:xfrm>
            <a:off x="8723058" y="2362200"/>
            <a:ext cx="1721239" cy="193899"/>
          </a:xfrm>
          <a:prstGeom prst="rect">
            <a:avLst/>
          </a:prstGeom>
          <a:solidFill>
            <a:schemeClr val="bg1"/>
          </a:solidFill>
        </p:spPr>
        <p:txBody>
          <a:bodyPr wrap="square" lIns="0" tIns="0" rIns="0" bIns="0" rtlCol="0" anchor="ctr">
            <a:spAutoFit/>
          </a:bodyPr>
          <a:lstStyle>
            <a:defPPr>
              <a:defRPr lang="en-US"/>
            </a:defPPr>
            <a:lvl1pPr algn="ctr">
              <a:lnSpc>
                <a:spcPct val="90000"/>
              </a:lnSpc>
              <a:defRPr sz="2400">
                <a:solidFill>
                  <a:schemeClr val="tx2"/>
                </a:solidFill>
                <a:latin typeface="Italo Medium" panose="02000000000000000000" pitchFamily="2" charset="0"/>
                <a:cs typeface="Arial" pitchFamily="34" charset="0"/>
              </a:defRPr>
            </a:lvl1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AU" sz="14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t>Daily Round Robin</a:t>
            </a:r>
          </a:p>
        </p:txBody>
      </p:sp>
      <p:sp>
        <p:nvSpPr>
          <p:cNvPr id="36" name="Rectangle 35"/>
          <p:cNvSpPr/>
          <p:nvPr/>
        </p:nvSpPr>
        <p:spPr>
          <a:xfrm>
            <a:off x="7728979" y="3313609"/>
            <a:ext cx="3834372" cy="430887"/>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effectLst/>
                <a:uLnTx/>
                <a:uFillTx/>
                <a:latin typeface="Calibri" panose="020F0502020204030204" pitchFamily="34" charset="0"/>
                <a:cs typeface="Calibri" panose="020F0502020204030204" pitchFamily="34" charset="0"/>
              </a:rPr>
              <a:t>Q2</a:t>
            </a: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 </a:t>
            </a:r>
            <a:r>
              <a:rPr kumimoji="0" 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What do you plan to accomplish today </a:t>
            </a: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 that gets us closer to the Sprit Goal</a:t>
            </a:r>
            <a:r>
              <a:rPr kumimoji="0" 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a:t>
            </a:r>
          </a:p>
        </p:txBody>
      </p:sp>
      <p:sp>
        <p:nvSpPr>
          <p:cNvPr id="37" name="Rectangle 36"/>
          <p:cNvSpPr/>
          <p:nvPr/>
        </p:nvSpPr>
        <p:spPr>
          <a:xfrm>
            <a:off x="7728978" y="3896142"/>
            <a:ext cx="4082022" cy="430887"/>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a:ln>
                  <a:noFill/>
                </a:ln>
                <a:effectLst/>
                <a:uLnTx/>
                <a:uFillTx/>
                <a:latin typeface="Calibri" panose="020F0502020204030204" pitchFamily="34" charset="0"/>
                <a:cs typeface="Calibri" panose="020F0502020204030204" pitchFamily="34" charset="0"/>
              </a:rPr>
              <a:t>Q3</a:t>
            </a: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 </a:t>
            </a:r>
            <a:r>
              <a:rPr kumimoji="0" 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Do you have anything slowing you down or preventing progress towards achieving our Sprint Goal?</a:t>
            </a:r>
          </a:p>
        </p:txBody>
      </p:sp>
      <p:sp>
        <p:nvSpPr>
          <p:cNvPr id="7" name="Title 3">
            <a:extLst>
              <a:ext uri="{FF2B5EF4-FFF2-40B4-BE49-F238E27FC236}">
                <a16:creationId xmlns:a16="http://schemas.microsoft.com/office/drawing/2014/main" id="{D188FD17-E5C3-879D-0004-D4E230E19C7B}"/>
              </a:ext>
            </a:extLst>
          </p:cNvPr>
          <p:cNvSpPr txBox="1">
            <a:spLocks/>
          </p:cNvSpPr>
          <p:nvPr/>
        </p:nvSpPr>
        <p:spPr>
          <a:xfrm>
            <a:off x="184150" y="284162"/>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r>
              <a:rPr lang="en-US" sz="2800" cap="none">
                <a:solidFill>
                  <a:schemeClr val="tx1"/>
                </a:solidFill>
              </a:rPr>
              <a:t>Team’s Stand-up</a:t>
            </a:r>
          </a:p>
        </p:txBody>
      </p:sp>
      <p:sp>
        <p:nvSpPr>
          <p:cNvPr id="8" name="NavigationIcon">
            <a:extLst>
              <a:ext uri="{FF2B5EF4-FFF2-40B4-BE49-F238E27FC236}">
                <a16:creationId xmlns:a16="http://schemas.microsoft.com/office/drawing/2014/main" id="{49D201CE-450E-AACA-9385-7095F0047531}"/>
              </a:ext>
            </a:extLst>
          </p:cNvPr>
          <p:cNvSpPr>
            <a:spLocks noChangeAspect="1" noChangeArrowheads="1"/>
          </p:cNvSpPr>
          <p:nvPr>
            <p:custDataLst>
              <p:tags r:id="rId3"/>
            </p:custDataLst>
          </p:nvPr>
        </p:nvSpPr>
        <p:spPr bwMode="auto">
          <a:xfrm>
            <a:off x="575594" y="974071"/>
            <a:ext cx="365760" cy="365760"/>
          </a:xfrm>
          <a:prstGeom prst="ellipse">
            <a:avLst/>
          </a:prstGeom>
          <a:solidFill>
            <a:schemeClr val="tx1"/>
          </a:solidFill>
          <a:ln>
            <a:noFill/>
          </a:ln>
        </p:spPr>
        <p:txBody>
          <a:bodyPr vert="horz" wrap="square" lIns="123928" tIns="61964" rIns="123928" bIns="61964"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26" b="0" i="0" u="none" strike="noStrike" kern="1200" cap="none" spc="0" normalizeH="0" baseline="0" noProof="0">
                <a:ln>
                  <a:noFill/>
                </a:ln>
                <a:solidFill>
                  <a:schemeClr val="bg1"/>
                </a:solidFill>
                <a:effectLst/>
                <a:uLnTx/>
                <a:uFillTx/>
                <a:latin typeface="Calibri" panose="020F0502020204030204" pitchFamily="34" charset="0"/>
                <a:cs typeface="Calibri" panose="020F0502020204030204" pitchFamily="34" charset="0"/>
              </a:rPr>
              <a:t>B</a:t>
            </a:r>
          </a:p>
        </p:txBody>
      </p:sp>
      <p:sp>
        <p:nvSpPr>
          <p:cNvPr id="9" name="TextBox 8">
            <a:extLst>
              <a:ext uri="{FF2B5EF4-FFF2-40B4-BE49-F238E27FC236}">
                <a16:creationId xmlns:a16="http://schemas.microsoft.com/office/drawing/2014/main" id="{AD448732-7001-768F-3A47-FBC1A2FD8251}"/>
              </a:ext>
            </a:extLst>
          </p:cNvPr>
          <p:cNvSpPr txBox="1"/>
          <p:nvPr/>
        </p:nvSpPr>
        <p:spPr>
          <a:xfrm>
            <a:off x="629324" y="5920436"/>
            <a:ext cx="6140510" cy="369332"/>
          </a:xfrm>
          <a:prstGeom prst="rect">
            <a:avLst/>
          </a:prstGeom>
          <a:noFill/>
        </p:spPr>
        <p:txBody>
          <a:bodyPr wrap="square">
            <a:spAutoFit/>
          </a:bodyPr>
          <a:lstStyle/>
          <a:p>
            <a:r>
              <a:rPr lang="en-US" b="1">
                <a:solidFill>
                  <a:srgbClr val="D763C6"/>
                </a:solidFill>
                <a:latin typeface="Calibri" panose="020F0502020204030204" pitchFamily="34" charset="0"/>
                <a:cs typeface="Calibri" panose="020F0502020204030204" pitchFamily="34" charset="0"/>
              </a:rPr>
              <a:t>Discuss and create a firm Plan for the day</a:t>
            </a:r>
            <a:endParaRPr lang="en-US" b="1">
              <a:solidFill>
                <a:srgbClr val="D763C6"/>
              </a:solidFill>
            </a:endParaRPr>
          </a:p>
        </p:txBody>
      </p:sp>
    </p:spTree>
    <p:extLst>
      <p:ext uri="{BB962C8B-B14F-4D97-AF65-F5344CB8AC3E}">
        <p14:creationId xmlns:p14="http://schemas.microsoft.com/office/powerpoint/2010/main" val="247529464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 name="Object 46" hidden="1"/>
          <p:cNvGraphicFramePr>
            <a:graphicFrameLocks noChangeAspect="1"/>
          </p:cNvGraphicFramePr>
          <p:nvPr>
            <p:custDataLst>
              <p:tags r:id="rId1"/>
            </p:custDataLst>
          </p:nvPr>
        </p:nvGraphicFramePr>
        <p:xfrm>
          <a:off x="1525467" y="265237"/>
          <a:ext cx="1465" cy="1465"/>
        </p:xfrm>
        <a:graphic>
          <a:graphicData uri="http://schemas.openxmlformats.org/presentationml/2006/ole">
            <mc:AlternateContent xmlns:mc="http://schemas.openxmlformats.org/markup-compatibility/2006">
              <mc:Choice xmlns:v="urn:schemas-microsoft-com:vml" Requires="v">
                <p:oleObj name="think-cell Slide" r:id="rId5" imgW="360" imgH="360" progId="TCLayout.ActiveDocument.1">
                  <p:embed/>
                </p:oleObj>
              </mc:Choice>
              <mc:Fallback>
                <p:oleObj name="think-cell Slide" r:id="rId5" imgW="360" imgH="360" progId="TCLayout.ActiveDocument.1">
                  <p:embed/>
                  <p:pic>
                    <p:nvPicPr>
                      <p:cNvPr id="47" name="Object 46"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5467" y="265237"/>
                        <a:ext cx="1465" cy="14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8" hidden="1"/>
          <p:cNvSpPr/>
          <p:nvPr>
            <p:custDataLst>
              <p:tags r:id="rId2"/>
            </p:custDataLst>
          </p:nvPr>
        </p:nvSpPr>
        <p:spPr>
          <a:xfrm>
            <a:off x="0" y="0"/>
            <a:ext cx="158750" cy="158750"/>
          </a:xfrm>
          <a:prstGeom prst="rect">
            <a:avLst/>
          </a:prstGeom>
          <a:solidFill>
            <a:srgbClr val="E51B24"/>
          </a:solidFill>
          <a:ln w="9525" cap="rnd" cmpd="sng" algn="ctr">
            <a:solidFill>
              <a:srgbClr val="E51B2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Trebuchet MS" panose="020B0603020202020204" pitchFamily="34" charset="0"/>
              <a:ea typeface="+mn-ea"/>
              <a:cs typeface="+mn-cs"/>
              <a:sym typeface="Trebuchet MS" panose="020B0603020202020204" pitchFamily="34" charset="0"/>
            </a:endParaRPr>
          </a:p>
        </p:txBody>
      </p:sp>
      <p:cxnSp>
        <p:nvCxnSpPr>
          <p:cNvPr id="46" name="Straight Connector 45"/>
          <p:cNvCxnSpPr/>
          <p:nvPr/>
        </p:nvCxnSpPr>
        <p:spPr>
          <a:xfrm>
            <a:off x="7097155" y="1736692"/>
            <a:ext cx="0" cy="4967135"/>
          </a:xfrm>
          <a:prstGeom prst="line">
            <a:avLst/>
          </a:prstGeom>
          <a:ln w="9525" cap="rnd">
            <a:solidFill>
              <a:schemeClr val="tx1">
                <a:lumMod val="60000"/>
                <a:lumOff val="40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105" name="Rectangle 104">
            <a:extLst>
              <a:ext uri="{FF2B5EF4-FFF2-40B4-BE49-F238E27FC236}">
                <a16:creationId xmlns:a16="http://schemas.microsoft.com/office/drawing/2014/main" id="{EC3D35D7-2D14-48DE-876D-E8BA58AB821D}"/>
              </a:ext>
            </a:extLst>
          </p:cNvPr>
          <p:cNvSpPr/>
          <p:nvPr/>
        </p:nvSpPr>
        <p:spPr>
          <a:xfrm>
            <a:off x="7773790" y="1966670"/>
            <a:ext cx="1583755" cy="1004284"/>
          </a:xfrm>
          <a:prstGeom prst="rect">
            <a:avLst/>
          </a:prstGeom>
          <a:noFill/>
          <a:ln w="19050">
            <a:solidFill>
              <a:schemeClr val="bg2">
                <a:lumMod val="9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07" name="Freeform: Shape 76">
            <a:extLst>
              <a:ext uri="{FF2B5EF4-FFF2-40B4-BE49-F238E27FC236}">
                <a16:creationId xmlns:a16="http://schemas.microsoft.com/office/drawing/2014/main" id="{3C9E493A-DEF5-4C5D-B348-651236B5B25F}"/>
              </a:ext>
            </a:extLst>
          </p:cNvPr>
          <p:cNvSpPr/>
          <p:nvPr/>
        </p:nvSpPr>
        <p:spPr>
          <a:xfrm>
            <a:off x="8237798" y="2352375"/>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08" name="Freeform: Shape 76">
            <a:extLst>
              <a:ext uri="{FF2B5EF4-FFF2-40B4-BE49-F238E27FC236}">
                <a16:creationId xmlns:a16="http://schemas.microsoft.com/office/drawing/2014/main" id="{3C9E493A-DEF5-4C5D-B348-651236B5B25F}"/>
              </a:ext>
            </a:extLst>
          </p:cNvPr>
          <p:cNvSpPr/>
          <p:nvPr/>
        </p:nvSpPr>
        <p:spPr>
          <a:xfrm>
            <a:off x="7852872" y="2352375"/>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09" name="Freeform: Shape 76">
            <a:extLst>
              <a:ext uri="{FF2B5EF4-FFF2-40B4-BE49-F238E27FC236}">
                <a16:creationId xmlns:a16="http://schemas.microsoft.com/office/drawing/2014/main" id="{3C9E493A-DEF5-4C5D-B348-651236B5B25F}"/>
              </a:ext>
            </a:extLst>
          </p:cNvPr>
          <p:cNvSpPr/>
          <p:nvPr/>
        </p:nvSpPr>
        <p:spPr>
          <a:xfrm>
            <a:off x="8237798" y="2652139"/>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10" name="Freeform: Shape 76">
            <a:extLst>
              <a:ext uri="{FF2B5EF4-FFF2-40B4-BE49-F238E27FC236}">
                <a16:creationId xmlns:a16="http://schemas.microsoft.com/office/drawing/2014/main" id="{3C9E493A-DEF5-4C5D-B348-651236B5B25F}"/>
              </a:ext>
            </a:extLst>
          </p:cNvPr>
          <p:cNvSpPr/>
          <p:nvPr/>
        </p:nvSpPr>
        <p:spPr>
          <a:xfrm>
            <a:off x="7852872" y="2652139"/>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11" name="Freeform: Shape 76">
            <a:extLst>
              <a:ext uri="{FF2B5EF4-FFF2-40B4-BE49-F238E27FC236}">
                <a16:creationId xmlns:a16="http://schemas.microsoft.com/office/drawing/2014/main" id="{3C9E493A-DEF5-4C5D-B348-651236B5B25F}"/>
              </a:ext>
            </a:extLst>
          </p:cNvPr>
          <p:cNvSpPr/>
          <p:nvPr/>
        </p:nvSpPr>
        <p:spPr>
          <a:xfrm>
            <a:off x="8996998" y="2052610"/>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12" name="Freeform: Shape 76">
            <a:extLst>
              <a:ext uri="{FF2B5EF4-FFF2-40B4-BE49-F238E27FC236}">
                <a16:creationId xmlns:a16="http://schemas.microsoft.com/office/drawing/2014/main" id="{3C9E493A-DEF5-4C5D-B348-651236B5B25F}"/>
              </a:ext>
            </a:extLst>
          </p:cNvPr>
          <p:cNvSpPr/>
          <p:nvPr/>
        </p:nvSpPr>
        <p:spPr>
          <a:xfrm>
            <a:off x="8612072" y="2052610"/>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13" name="Freeform: Shape 76">
            <a:extLst>
              <a:ext uri="{FF2B5EF4-FFF2-40B4-BE49-F238E27FC236}">
                <a16:creationId xmlns:a16="http://schemas.microsoft.com/office/drawing/2014/main" id="{3C9E493A-DEF5-4C5D-B348-651236B5B25F}"/>
              </a:ext>
            </a:extLst>
          </p:cNvPr>
          <p:cNvSpPr/>
          <p:nvPr/>
        </p:nvSpPr>
        <p:spPr>
          <a:xfrm>
            <a:off x="8996998" y="2352374"/>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14" name="Freeform: Shape 76">
            <a:extLst>
              <a:ext uri="{FF2B5EF4-FFF2-40B4-BE49-F238E27FC236}">
                <a16:creationId xmlns:a16="http://schemas.microsoft.com/office/drawing/2014/main" id="{3C9E493A-DEF5-4C5D-B348-651236B5B25F}"/>
              </a:ext>
            </a:extLst>
          </p:cNvPr>
          <p:cNvSpPr/>
          <p:nvPr/>
        </p:nvSpPr>
        <p:spPr>
          <a:xfrm>
            <a:off x="8612072" y="2352374"/>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15" name="Freeform: Shape 76">
            <a:extLst>
              <a:ext uri="{FF2B5EF4-FFF2-40B4-BE49-F238E27FC236}">
                <a16:creationId xmlns:a16="http://schemas.microsoft.com/office/drawing/2014/main" id="{3C9E493A-DEF5-4C5D-B348-651236B5B25F}"/>
              </a:ext>
            </a:extLst>
          </p:cNvPr>
          <p:cNvSpPr/>
          <p:nvPr/>
        </p:nvSpPr>
        <p:spPr>
          <a:xfrm>
            <a:off x="8996998" y="2652138"/>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16" name="Freeform: Shape 76">
            <a:extLst>
              <a:ext uri="{FF2B5EF4-FFF2-40B4-BE49-F238E27FC236}">
                <a16:creationId xmlns:a16="http://schemas.microsoft.com/office/drawing/2014/main" id="{3C9E493A-DEF5-4C5D-B348-651236B5B25F}"/>
              </a:ext>
            </a:extLst>
          </p:cNvPr>
          <p:cNvSpPr/>
          <p:nvPr/>
        </p:nvSpPr>
        <p:spPr>
          <a:xfrm>
            <a:off x="8612072" y="2652138"/>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17" name="Freeform: Shape 76">
            <a:extLst>
              <a:ext uri="{FF2B5EF4-FFF2-40B4-BE49-F238E27FC236}">
                <a16:creationId xmlns:a16="http://schemas.microsoft.com/office/drawing/2014/main" id="{3C9E493A-DEF5-4C5D-B348-651236B5B25F}"/>
              </a:ext>
            </a:extLst>
          </p:cNvPr>
          <p:cNvSpPr/>
          <p:nvPr/>
        </p:nvSpPr>
        <p:spPr>
          <a:xfrm>
            <a:off x="8237798" y="2052610"/>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18" name="Freeform: Shape 76">
            <a:extLst>
              <a:ext uri="{FF2B5EF4-FFF2-40B4-BE49-F238E27FC236}">
                <a16:creationId xmlns:a16="http://schemas.microsoft.com/office/drawing/2014/main" id="{3C9E493A-DEF5-4C5D-B348-651236B5B25F}"/>
              </a:ext>
            </a:extLst>
          </p:cNvPr>
          <p:cNvSpPr/>
          <p:nvPr/>
        </p:nvSpPr>
        <p:spPr>
          <a:xfrm>
            <a:off x="7852872" y="2052610"/>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69" name="Rectangle 68"/>
          <p:cNvSpPr/>
          <p:nvPr/>
        </p:nvSpPr>
        <p:spPr>
          <a:xfrm>
            <a:off x="7271588" y="1308721"/>
            <a:ext cx="3952223" cy="30777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185"/>
              </a:spcAft>
              <a:buClr>
                <a:srgbClr val="5BC6E8"/>
              </a:buClr>
              <a:buSzPct val="100000"/>
              <a:buFontTx/>
              <a:buNone/>
              <a:tabLst/>
              <a:defRPr/>
            </a:pPr>
            <a:r>
              <a:rPr kumimoji="0" lang="en-AU" sz="1400" b="1" i="0" u="none" strike="noStrike" kern="1200" cap="none" spc="0" normalizeH="0" baseline="0" noProof="0">
                <a:ln>
                  <a:noFill/>
                </a:ln>
                <a:effectLst/>
                <a:uLnTx/>
                <a:uFillTx/>
                <a:latin typeface="Calibri" panose="020F0502020204030204" pitchFamily="34" charset="0"/>
                <a:cs typeface="Calibri" panose="020F0502020204030204" pitchFamily="34" charset="0"/>
              </a:rPr>
              <a:t>How to conduct Backlog Refinement</a:t>
            </a:r>
          </a:p>
        </p:txBody>
      </p:sp>
      <p:sp>
        <p:nvSpPr>
          <p:cNvPr id="41" name="TextBox 40"/>
          <p:cNvSpPr txBox="1"/>
          <p:nvPr/>
        </p:nvSpPr>
        <p:spPr>
          <a:xfrm>
            <a:off x="9383455" y="1840353"/>
            <a:ext cx="2453733" cy="116955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t>Agile Product Owner brings stories</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Team flag ambiguities, dependencies, and work to be decomposed further</a:t>
            </a:r>
          </a:p>
        </p:txBody>
      </p:sp>
      <p:sp>
        <p:nvSpPr>
          <p:cNvPr id="76" name="TextBox 75"/>
          <p:cNvSpPr txBox="1"/>
          <p:nvPr/>
        </p:nvSpPr>
        <p:spPr>
          <a:xfrm>
            <a:off x="9414094" y="3590560"/>
            <a:ext cx="2367950" cy="73866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t>Full team discusses and refines story narrative and acceptance criteria</a:t>
            </a:r>
          </a:p>
        </p:txBody>
      </p:sp>
      <p:sp>
        <p:nvSpPr>
          <p:cNvPr id="77" name="TextBox 76"/>
          <p:cNvSpPr txBox="1"/>
          <p:nvPr/>
        </p:nvSpPr>
        <p:spPr>
          <a:xfrm>
            <a:off x="9395426" y="5010563"/>
            <a:ext cx="2367950" cy="73866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4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Team updates the Product Backlog with revisions</a:t>
            </a:r>
          </a:p>
        </p:txBody>
      </p:sp>
      <p:sp>
        <p:nvSpPr>
          <p:cNvPr id="42" name="Rectangle 41">
            <a:extLst>
              <a:ext uri="{FF2B5EF4-FFF2-40B4-BE49-F238E27FC236}">
                <a16:creationId xmlns:a16="http://schemas.microsoft.com/office/drawing/2014/main" id="{EC3D35D7-2D14-48DE-876D-E8BA58AB821D}"/>
              </a:ext>
            </a:extLst>
          </p:cNvPr>
          <p:cNvSpPr/>
          <p:nvPr/>
        </p:nvSpPr>
        <p:spPr>
          <a:xfrm>
            <a:off x="7818313" y="4914108"/>
            <a:ext cx="1583755" cy="1004284"/>
          </a:xfrm>
          <a:prstGeom prst="rect">
            <a:avLst/>
          </a:prstGeom>
          <a:noFill/>
          <a:ln w="19050">
            <a:solidFill>
              <a:schemeClr val="bg2">
                <a:lumMod val="9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43" name="Freeform: Shape 76">
            <a:extLst>
              <a:ext uri="{FF2B5EF4-FFF2-40B4-BE49-F238E27FC236}">
                <a16:creationId xmlns:a16="http://schemas.microsoft.com/office/drawing/2014/main" id="{3C9E493A-DEF5-4C5D-B348-651236B5B25F}"/>
              </a:ext>
            </a:extLst>
          </p:cNvPr>
          <p:cNvSpPr/>
          <p:nvPr/>
        </p:nvSpPr>
        <p:spPr>
          <a:xfrm>
            <a:off x="8282321" y="5299813"/>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44" name="Freeform: Shape 76">
            <a:extLst>
              <a:ext uri="{FF2B5EF4-FFF2-40B4-BE49-F238E27FC236}">
                <a16:creationId xmlns:a16="http://schemas.microsoft.com/office/drawing/2014/main" id="{3C9E493A-DEF5-4C5D-B348-651236B5B25F}"/>
              </a:ext>
            </a:extLst>
          </p:cNvPr>
          <p:cNvSpPr/>
          <p:nvPr/>
        </p:nvSpPr>
        <p:spPr>
          <a:xfrm>
            <a:off x="7897395" y="5299813"/>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C41300"/>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45" name="Freeform: Shape 76">
            <a:extLst>
              <a:ext uri="{FF2B5EF4-FFF2-40B4-BE49-F238E27FC236}">
                <a16:creationId xmlns:a16="http://schemas.microsoft.com/office/drawing/2014/main" id="{3C9E493A-DEF5-4C5D-B348-651236B5B25F}"/>
              </a:ext>
            </a:extLst>
          </p:cNvPr>
          <p:cNvSpPr/>
          <p:nvPr/>
        </p:nvSpPr>
        <p:spPr>
          <a:xfrm>
            <a:off x="8282321" y="5599577"/>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48" name="Freeform: Shape 76">
            <a:extLst>
              <a:ext uri="{FF2B5EF4-FFF2-40B4-BE49-F238E27FC236}">
                <a16:creationId xmlns:a16="http://schemas.microsoft.com/office/drawing/2014/main" id="{3C9E493A-DEF5-4C5D-B348-651236B5B25F}"/>
              </a:ext>
            </a:extLst>
          </p:cNvPr>
          <p:cNvSpPr/>
          <p:nvPr/>
        </p:nvSpPr>
        <p:spPr>
          <a:xfrm>
            <a:off x="7897395" y="5599577"/>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49" name="Freeform: Shape 76">
            <a:extLst>
              <a:ext uri="{FF2B5EF4-FFF2-40B4-BE49-F238E27FC236}">
                <a16:creationId xmlns:a16="http://schemas.microsoft.com/office/drawing/2014/main" id="{3C9E493A-DEF5-4C5D-B348-651236B5B25F}"/>
              </a:ext>
            </a:extLst>
          </p:cNvPr>
          <p:cNvSpPr/>
          <p:nvPr/>
        </p:nvSpPr>
        <p:spPr>
          <a:xfrm>
            <a:off x="9041521" y="5000048"/>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C41300"/>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50" name="Freeform: Shape 76">
            <a:extLst>
              <a:ext uri="{FF2B5EF4-FFF2-40B4-BE49-F238E27FC236}">
                <a16:creationId xmlns:a16="http://schemas.microsoft.com/office/drawing/2014/main" id="{3C9E493A-DEF5-4C5D-B348-651236B5B25F}"/>
              </a:ext>
            </a:extLst>
          </p:cNvPr>
          <p:cNvSpPr/>
          <p:nvPr/>
        </p:nvSpPr>
        <p:spPr>
          <a:xfrm>
            <a:off x="8656595" y="5000048"/>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C41300"/>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51" name="Freeform: Shape 76">
            <a:extLst>
              <a:ext uri="{FF2B5EF4-FFF2-40B4-BE49-F238E27FC236}">
                <a16:creationId xmlns:a16="http://schemas.microsoft.com/office/drawing/2014/main" id="{3C9E493A-DEF5-4C5D-B348-651236B5B25F}"/>
              </a:ext>
            </a:extLst>
          </p:cNvPr>
          <p:cNvSpPr/>
          <p:nvPr/>
        </p:nvSpPr>
        <p:spPr>
          <a:xfrm>
            <a:off x="9041521" y="5299812"/>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52" name="Freeform: Shape 76">
            <a:extLst>
              <a:ext uri="{FF2B5EF4-FFF2-40B4-BE49-F238E27FC236}">
                <a16:creationId xmlns:a16="http://schemas.microsoft.com/office/drawing/2014/main" id="{3C9E493A-DEF5-4C5D-B348-651236B5B25F}"/>
              </a:ext>
            </a:extLst>
          </p:cNvPr>
          <p:cNvSpPr/>
          <p:nvPr/>
        </p:nvSpPr>
        <p:spPr>
          <a:xfrm>
            <a:off x="8656595" y="5299812"/>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53" name="Freeform: Shape 76">
            <a:extLst>
              <a:ext uri="{FF2B5EF4-FFF2-40B4-BE49-F238E27FC236}">
                <a16:creationId xmlns:a16="http://schemas.microsoft.com/office/drawing/2014/main" id="{3C9E493A-DEF5-4C5D-B348-651236B5B25F}"/>
              </a:ext>
            </a:extLst>
          </p:cNvPr>
          <p:cNvSpPr/>
          <p:nvPr/>
        </p:nvSpPr>
        <p:spPr>
          <a:xfrm>
            <a:off x="9041521" y="5599576"/>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54" name="Freeform: Shape 76">
            <a:extLst>
              <a:ext uri="{FF2B5EF4-FFF2-40B4-BE49-F238E27FC236}">
                <a16:creationId xmlns:a16="http://schemas.microsoft.com/office/drawing/2014/main" id="{3C9E493A-DEF5-4C5D-B348-651236B5B25F}"/>
              </a:ext>
            </a:extLst>
          </p:cNvPr>
          <p:cNvSpPr/>
          <p:nvPr/>
        </p:nvSpPr>
        <p:spPr>
          <a:xfrm>
            <a:off x="8656595" y="5599576"/>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55" name="Freeform: Shape 76">
            <a:extLst>
              <a:ext uri="{FF2B5EF4-FFF2-40B4-BE49-F238E27FC236}">
                <a16:creationId xmlns:a16="http://schemas.microsoft.com/office/drawing/2014/main" id="{3C9E493A-DEF5-4C5D-B348-651236B5B25F}"/>
              </a:ext>
            </a:extLst>
          </p:cNvPr>
          <p:cNvSpPr/>
          <p:nvPr/>
        </p:nvSpPr>
        <p:spPr>
          <a:xfrm>
            <a:off x="8282321" y="5000048"/>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C41300"/>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56" name="Freeform: Shape 76">
            <a:extLst>
              <a:ext uri="{FF2B5EF4-FFF2-40B4-BE49-F238E27FC236}">
                <a16:creationId xmlns:a16="http://schemas.microsoft.com/office/drawing/2014/main" id="{3C9E493A-DEF5-4C5D-B348-651236B5B25F}"/>
              </a:ext>
            </a:extLst>
          </p:cNvPr>
          <p:cNvSpPr/>
          <p:nvPr/>
        </p:nvSpPr>
        <p:spPr>
          <a:xfrm>
            <a:off x="7897395" y="5000048"/>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C41300"/>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grpSp>
        <p:nvGrpSpPr>
          <p:cNvPr id="4" name="Group 3"/>
          <p:cNvGrpSpPr/>
          <p:nvPr/>
        </p:nvGrpSpPr>
        <p:grpSpPr>
          <a:xfrm>
            <a:off x="8077200" y="3387757"/>
            <a:ext cx="1112660" cy="1112660"/>
            <a:chOff x="9881019" y="4968092"/>
            <a:chExt cx="1112660" cy="1112660"/>
          </a:xfrm>
        </p:grpSpPr>
        <p:sp>
          <p:nvSpPr>
            <p:cNvPr id="3" name="Oval 2"/>
            <p:cNvSpPr/>
            <p:nvPr/>
          </p:nvSpPr>
          <p:spPr>
            <a:xfrm>
              <a:off x="9881019" y="4968092"/>
              <a:ext cx="1112660" cy="1112660"/>
            </a:xfrm>
            <a:prstGeom prst="ellipse">
              <a:avLst/>
            </a:prstGeom>
            <a:solidFill>
              <a:srgbClr val="FFFFFF"/>
            </a:solidFill>
            <a:ln w="22225" cap="rnd" cmpd="sng" algn="ctr">
              <a:solidFill>
                <a:srgbClr val="DADADA"/>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grpSp>
          <p:nvGrpSpPr>
            <p:cNvPr id="57" name="Group 56"/>
            <p:cNvGrpSpPr>
              <a:grpSpLocks noChangeAspect="1"/>
            </p:cNvGrpSpPr>
            <p:nvPr/>
          </p:nvGrpSpPr>
          <p:grpSpPr>
            <a:xfrm>
              <a:off x="10023192" y="5109882"/>
              <a:ext cx="828313" cy="829080"/>
              <a:chOff x="5273801" y="2606040"/>
              <a:chExt cx="1644396" cy="1645920"/>
            </a:xfrm>
          </p:grpSpPr>
          <p:sp>
            <p:nvSpPr>
              <p:cNvPr id="58" name="AutoShape 18">
                <a:extLst>
                  <a:ext uri="{FF2B5EF4-FFF2-40B4-BE49-F238E27FC236}">
                    <a16:creationId xmlns:a16="http://schemas.microsoft.com/office/drawing/2014/main" id="{100AC5BD-F30F-4F9C-94F8-3ECEAAF56365}"/>
                  </a:ext>
                </a:extLst>
              </p:cNvPr>
              <p:cNvSpPr>
                <a:spLocks noChangeAspect="1" noChangeArrowheads="1" noTextEdit="1"/>
              </p:cNvSpPr>
              <p:nvPr/>
            </p:nvSpPr>
            <p:spPr bwMode="auto">
              <a:xfrm>
                <a:off x="5273801" y="2606040"/>
                <a:ext cx="1644396" cy="1645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grpSp>
            <p:nvGrpSpPr>
              <p:cNvPr id="59" name="Group 58"/>
              <p:cNvGrpSpPr/>
              <p:nvPr/>
            </p:nvGrpSpPr>
            <p:grpSpPr>
              <a:xfrm>
                <a:off x="5388863" y="2953131"/>
                <a:ext cx="1409319" cy="967359"/>
                <a:chOff x="5388863" y="2953131"/>
                <a:chExt cx="1409319" cy="967359"/>
              </a:xfrm>
            </p:grpSpPr>
            <p:sp>
              <p:nvSpPr>
                <p:cNvPr id="60" name="Freeform 20">
                  <a:extLst>
                    <a:ext uri="{FF2B5EF4-FFF2-40B4-BE49-F238E27FC236}">
                      <a16:creationId xmlns:a16="http://schemas.microsoft.com/office/drawing/2014/main" id="{D44F01FC-0979-4CF2-A046-0010F3FF82EE}"/>
                    </a:ext>
                  </a:extLst>
                </p:cNvPr>
                <p:cNvSpPr>
                  <a:spLocks noEditPoints="1"/>
                </p:cNvSpPr>
                <p:nvPr/>
              </p:nvSpPr>
              <p:spPr bwMode="auto">
                <a:xfrm>
                  <a:off x="5388863" y="3167634"/>
                  <a:ext cx="737235" cy="752856"/>
                </a:xfrm>
                <a:custGeom>
                  <a:avLst/>
                  <a:gdLst>
                    <a:gd name="T0" fmla="*/ 989 w 1033"/>
                    <a:gd name="T1" fmla="*/ 0 h 1054"/>
                    <a:gd name="T2" fmla="*/ 44 w 1033"/>
                    <a:gd name="T3" fmla="*/ 0 h 1054"/>
                    <a:gd name="T4" fmla="*/ 0 w 1033"/>
                    <a:gd name="T5" fmla="*/ 44 h 1054"/>
                    <a:gd name="T6" fmla="*/ 0 w 1033"/>
                    <a:gd name="T7" fmla="*/ 725 h 1054"/>
                    <a:gd name="T8" fmla="*/ 44 w 1033"/>
                    <a:gd name="T9" fmla="*/ 769 h 1054"/>
                    <a:gd name="T10" fmla="*/ 299 w 1033"/>
                    <a:gd name="T11" fmla="*/ 769 h 1054"/>
                    <a:gd name="T12" fmla="*/ 299 w 1033"/>
                    <a:gd name="T13" fmla="*/ 1010 h 1054"/>
                    <a:gd name="T14" fmla="*/ 300 w 1033"/>
                    <a:gd name="T15" fmla="*/ 1017 h 1054"/>
                    <a:gd name="T16" fmla="*/ 337 w 1033"/>
                    <a:gd name="T17" fmla="*/ 1053 h 1054"/>
                    <a:gd name="T18" fmla="*/ 347 w 1033"/>
                    <a:gd name="T19" fmla="*/ 1054 h 1054"/>
                    <a:gd name="T20" fmla="*/ 401 w 1033"/>
                    <a:gd name="T21" fmla="*/ 1026 h 1054"/>
                    <a:gd name="T22" fmla="*/ 469 w 1033"/>
                    <a:gd name="T23" fmla="*/ 951 h 1054"/>
                    <a:gd name="T24" fmla="*/ 637 w 1033"/>
                    <a:gd name="T25" fmla="*/ 769 h 1054"/>
                    <a:gd name="T26" fmla="*/ 989 w 1033"/>
                    <a:gd name="T27" fmla="*/ 769 h 1054"/>
                    <a:gd name="T28" fmla="*/ 1033 w 1033"/>
                    <a:gd name="T29" fmla="*/ 725 h 1054"/>
                    <a:gd name="T30" fmla="*/ 1033 w 1033"/>
                    <a:gd name="T31" fmla="*/ 44 h 1054"/>
                    <a:gd name="T32" fmla="*/ 989 w 1033"/>
                    <a:gd name="T33" fmla="*/ 0 h 1054"/>
                    <a:gd name="T34" fmla="*/ 832 w 1033"/>
                    <a:gd name="T35" fmla="*/ 552 h 1054"/>
                    <a:gd name="T36" fmla="*/ 201 w 1033"/>
                    <a:gd name="T37" fmla="*/ 552 h 1054"/>
                    <a:gd name="T38" fmla="*/ 179 w 1033"/>
                    <a:gd name="T39" fmla="*/ 530 h 1054"/>
                    <a:gd name="T40" fmla="*/ 201 w 1033"/>
                    <a:gd name="T41" fmla="*/ 508 h 1054"/>
                    <a:gd name="T42" fmla="*/ 832 w 1033"/>
                    <a:gd name="T43" fmla="*/ 508 h 1054"/>
                    <a:gd name="T44" fmla="*/ 854 w 1033"/>
                    <a:gd name="T45" fmla="*/ 530 h 1054"/>
                    <a:gd name="T46" fmla="*/ 832 w 1033"/>
                    <a:gd name="T47" fmla="*/ 552 h 1054"/>
                    <a:gd name="T48" fmla="*/ 832 w 1033"/>
                    <a:gd name="T49" fmla="*/ 415 h 1054"/>
                    <a:gd name="T50" fmla="*/ 201 w 1033"/>
                    <a:gd name="T51" fmla="*/ 415 h 1054"/>
                    <a:gd name="T52" fmla="*/ 179 w 1033"/>
                    <a:gd name="T53" fmla="*/ 393 h 1054"/>
                    <a:gd name="T54" fmla="*/ 201 w 1033"/>
                    <a:gd name="T55" fmla="*/ 371 h 1054"/>
                    <a:gd name="T56" fmla="*/ 832 w 1033"/>
                    <a:gd name="T57" fmla="*/ 371 h 1054"/>
                    <a:gd name="T58" fmla="*/ 854 w 1033"/>
                    <a:gd name="T59" fmla="*/ 393 h 1054"/>
                    <a:gd name="T60" fmla="*/ 832 w 1033"/>
                    <a:gd name="T61" fmla="*/ 415 h 1054"/>
                    <a:gd name="T62" fmla="*/ 832 w 1033"/>
                    <a:gd name="T63" fmla="*/ 279 h 1054"/>
                    <a:gd name="T64" fmla="*/ 201 w 1033"/>
                    <a:gd name="T65" fmla="*/ 279 h 1054"/>
                    <a:gd name="T66" fmla="*/ 179 w 1033"/>
                    <a:gd name="T67" fmla="*/ 257 h 1054"/>
                    <a:gd name="T68" fmla="*/ 201 w 1033"/>
                    <a:gd name="T69" fmla="*/ 235 h 1054"/>
                    <a:gd name="T70" fmla="*/ 832 w 1033"/>
                    <a:gd name="T71" fmla="*/ 235 h 1054"/>
                    <a:gd name="T72" fmla="*/ 854 w 1033"/>
                    <a:gd name="T73" fmla="*/ 257 h 1054"/>
                    <a:gd name="T74" fmla="*/ 832 w 1033"/>
                    <a:gd name="T75" fmla="*/ 279 h 10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33" h="1054">
                      <a:moveTo>
                        <a:pt x="989" y="0"/>
                      </a:moveTo>
                      <a:cubicBezTo>
                        <a:pt x="44" y="0"/>
                        <a:pt x="44" y="0"/>
                        <a:pt x="44" y="0"/>
                      </a:cubicBezTo>
                      <a:cubicBezTo>
                        <a:pt x="20" y="0"/>
                        <a:pt x="0" y="20"/>
                        <a:pt x="0" y="44"/>
                      </a:cubicBezTo>
                      <a:cubicBezTo>
                        <a:pt x="0" y="725"/>
                        <a:pt x="0" y="725"/>
                        <a:pt x="0" y="725"/>
                      </a:cubicBezTo>
                      <a:cubicBezTo>
                        <a:pt x="0" y="750"/>
                        <a:pt x="20" y="769"/>
                        <a:pt x="44" y="769"/>
                      </a:cubicBezTo>
                      <a:cubicBezTo>
                        <a:pt x="299" y="769"/>
                        <a:pt x="299" y="769"/>
                        <a:pt x="299" y="769"/>
                      </a:cubicBezTo>
                      <a:cubicBezTo>
                        <a:pt x="299" y="1010"/>
                        <a:pt x="299" y="1010"/>
                        <a:pt x="299" y="1010"/>
                      </a:cubicBezTo>
                      <a:cubicBezTo>
                        <a:pt x="299" y="1012"/>
                        <a:pt x="299" y="1015"/>
                        <a:pt x="300" y="1017"/>
                      </a:cubicBezTo>
                      <a:cubicBezTo>
                        <a:pt x="301" y="1020"/>
                        <a:pt x="311" y="1047"/>
                        <a:pt x="337" y="1053"/>
                      </a:cubicBezTo>
                      <a:cubicBezTo>
                        <a:pt x="341" y="1054"/>
                        <a:pt x="344" y="1054"/>
                        <a:pt x="347" y="1054"/>
                      </a:cubicBezTo>
                      <a:cubicBezTo>
                        <a:pt x="365" y="1054"/>
                        <a:pt x="383" y="1045"/>
                        <a:pt x="401" y="1026"/>
                      </a:cubicBezTo>
                      <a:cubicBezTo>
                        <a:pt x="414" y="1013"/>
                        <a:pt x="438" y="986"/>
                        <a:pt x="469" y="951"/>
                      </a:cubicBezTo>
                      <a:cubicBezTo>
                        <a:pt x="516" y="899"/>
                        <a:pt x="579" y="829"/>
                        <a:pt x="637" y="769"/>
                      </a:cubicBezTo>
                      <a:cubicBezTo>
                        <a:pt x="989" y="769"/>
                        <a:pt x="989" y="769"/>
                        <a:pt x="989" y="769"/>
                      </a:cubicBezTo>
                      <a:cubicBezTo>
                        <a:pt x="1013" y="769"/>
                        <a:pt x="1033" y="750"/>
                        <a:pt x="1033" y="725"/>
                      </a:cubicBezTo>
                      <a:cubicBezTo>
                        <a:pt x="1033" y="44"/>
                        <a:pt x="1033" y="44"/>
                        <a:pt x="1033" y="44"/>
                      </a:cubicBezTo>
                      <a:cubicBezTo>
                        <a:pt x="1033" y="20"/>
                        <a:pt x="1013" y="0"/>
                        <a:pt x="989" y="0"/>
                      </a:cubicBezTo>
                      <a:close/>
                      <a:moveTo>
                        <a:pt x="832" y="552"/>
                      </a:moveTo>
                      <a:cubicBezTo>
                        <a:pt x="201" y="552"/>
                        <a:pt x="201" y="552"/>
                        <a:pt x="201" y="552"/>
                      </a:cubicBezTo>
                      <a:cubicBezTo>
                        <a:pt x="189" y="552"/>
                        <a:pt x="179" y="543"/>
                        <a:pt x="179" y="530"/>
                      </a:cubicBezTo>
                      <a:cubicBezTo>
                        <a:pt x="179" y="518"/>
                        <a:pt x="189" y="508"/>
                        <a:pt x="201" y="508"/>
                      </a:cubicBezTo>
                      <a:cubicBezTo>
                        <a:pt x="832" y="508"/>
                        <a:pt x="832" y="508"/>
                        <a:pt x="832" y="508"/>
                      </a:cubicBezTo>
                      <a:cubicBezTo>
                        <a:pt x="844" y="508"/>
                        <a:pt x="854" y="518"/>
                        <a:pt x="854" y="530"/>
                      </a:cubicBezTo>
                      <a:cubicBezTo>
                        <a:pt x="854" y="543"/>
                        <a:pt x="844" y="552"/>
                        <a:pt x="832" y="552"/>
                      </a:cubicBezTo>
                      <a:close/>
                      <a:moveTo>
                        <a:pt x="832" y="415"/>
                      </a:moveTo>
                      <a:cubicBezTo>
                        <a:pt x="201" y="415"/>
                        <a:pt x="201" y="415"/>
                        <a:pt x="201" y="415"/>
                      </a:cubicBezTo>
                      <a:cubicBezTo>
                        <a:pt x="189" y="415"/>
                        <a:pt x="179" y="405"/>
                        <a:pt x="179" y="393"/>
                      </a:cubicBezTo>
                      <a:cubicBezTo>
                        <a:pt x="179" y="380"/>
                        <a:pt x="189" y="371"/>
                        <a:pt x="201" y="371"/>
                      </a:cubicBezTo>
                      <a:cubicBezTo>
                        <a:pt x="832" y="371"/>
                        <a:pt x="832" y="371"/>
                        <a:pt x="832" y="371"/>
                      </a:cubicBezTo>
                      <a:cubicBezTo>
                        <a:pt x="844" y="371"/>
                        <a:pt x="854" y="380"/>
                        <a:pt x="854" y="393"/>
                      </a:cubicBezTo>
                      <a:cubicBezTo>
                        <a:pt x="854" y="405"/>
                        <a:pt x="844" y="415"/>
                        <a:pt x="832" y="415"/>
                      </a:cubicBezTo>
                      <a:close/>
                      <a:moveTo>
                        <a:pt x="832" y="279"/>
                      </a:moveTo>
                      <a:cubicBezTo>
                        <a:pt x="201" y="279"/>
                        <a:pt x="201" y="279"/>
                        <a:pt x="201" y="279"/>
                      </a:cubicBezTo>
                      <a:cubicBezTo>
                        <a:pt x="189" y="279"/>
                        <a:pt x="179" y="269"/>
                        <a:pt x="179" y="257"/>
                      </a:cubicBezTo>
                      <a:cubicBezTo>
                        <a:pt x="179" y="245"/>
                        <a:pt x="189" y="235"/>
                        <a:pt x="201" y="235"/>
                      </a:cubicBezTo>
                      <a:cubicBezTo>
                        <a:pt x="832" y="235"/>
                        <a:pt x="832" y="235"/>
                        <a:pt x="832" y="235"/>
                      </a:cubicBezTo>
                      <a:cubicBezTo>
                        <a:pt x="844" y="235"/>
                        <a:pt x="854" y="245"/>
                        <a:pt x="854" y="257"/>
                      </a:cubicBezTo>
                      <a:cubicBezTo>
                        <a:pt x="854" y="269"/>
                        <a:pt x="844" y="279"/>
                        <a:pt x="832" y="27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61" name="Freeform 21">
                  <a:extLst>
                    <a:ext uri="{FF2B5EF4-FFF2-40B4-BE49-F238E27FC236}">
                      <a16:creationId xmlns:a16="http://schemas.microsoft.com/office/drawing/2014/main" id="{9FEAEA2A-1D9C-469F-A298-EC5C9220C30F}"/>
                    </a:ext>
                  </a:extLst>
                </p:cNvPr>
                <p:cNvSpPr>
                  <a:spLocks noEditPoints="1"/>
                </p:cNvSpPr>
                <p:nvPr/>
              </p:nvSpPr>
              <p:spPr bwMode="auto">
                <a:xfrm>
                  <a:off x="6060947" y="2953131"/>
                  <a:ext cx="737235" cy="752856"/>
                </a:xfrm>
                <a:custGeom>
                  <a:avLst/>
                  <a:gdLst>
                    <a:gd name="T0" fmla="*/ 1033 w 1033"/>
                    <a:gd name="T1" fmla="*/ 44 h 1054"/>
                    <a:gd name="T2" fmla="*/ 1033 w 1033"/>
                    <a:gd name="T3" fmla="*/ 725 h 1054"/>
                    <a:gd name="T4" fmla="*/ 989 w 1033"/>
                    <a:gd name="T5" fmla="*/ 769 h 1054"/>
                    <a:gd name="T6" fmla="*/ 734 w 1033"/>
                    <a:gd name="T7" fmla="*/ 769 h 1054"/>
                    <a:gd name="T8" fmla="*/ 734 w 1033"/>
                    <a:gd name="T9" fmla="*/ 1010 h 1054"/>
                    <a:gd name="T10" fmla="*/ 733 w 1033"/>
                    <a:gd name="T11" fmla="*/ 1017 h 1054"/>
                    <a:gd name="T12" fmla="*/ 696 w 1033"/>
                    <a:gd name="T13" fmla="*/ 1053 h 1054"/>
                    <a:gd name="T14" fmla="*/ 686 w 1033"/>
                    <a:gd name="T15" fmla="*/ 1054 h 1054"/>
                    <a:gd name="T16" fmla="*/ 632 w 1033"/>
                    <a:gd name="T17" fmla="*/ 1025 h 1054"/>
                    <a:gd name="T18" fmla="*/ 564 w 1033"/>
                    <a:gd name="T19" fmla="*/ 951 h 1054"/>
                    <a:gd name="T20" fmla="*/ 396 w 1033"/>
                    <a:gd name="T21" fmla="*/ 769 h 1054"/>
                    <a:gd name="T22" fmla="*/ 135 w 1033"/>
                    <a:gd name="T23" fmla="*/ 769 h 1054"/>
                    <a:gd name="T24" fmla="*/ 135 w 1033"/>
                    <a:gd name="T25" fmla="*/ 725 h 1054"/>
                    <a:gd name="T26" fmla="*/ 405 w 1033"/>
                    <a:gd name="T27" fmla="*/ 725 h 1054"/>
                    <a:gd name="T28" fmla="*/ 421 w 1033"/>
                    <a:gd name="T29" fmla="*/ 732 h 1054"/>
                    <a:gd name="T30" fmla="*/ 597 w 1033"/>
                    <a:gd name="T31" fmla="*/ 922 h 1054"/>
                    <a:gd name="T32" fmla="*/ 663 w 1033"/>
                    <a:gd name="T33" fmla="*/ 994 h 1054"/>
                    <a:gd name="T34" fmla="*/ 686 w 1033"/>
                    <a:gd name="T35" fmla="*/ 1010 h 1054"/>
                    <a:gd name="T36" fmla="*/ 690 w 1033"/>
                    <a:gd name="T37" fmla="*/ 1005 h 1054"/>
                    <a:gd name="T38" fmla="*/ 690 w 1033"/>
                    <a:gd name="T39" fmla="*/ 747 h 1054"/>
                    <a:gd name="T40" fmla="*/ 712 w 1033"/>
                    <a:gd name="T41" fmla="*/ 725 h 1054"/>
                    <a:gd name="T42" fmla="*/ 989 w 1033"/>
                    <a:gd name="T43" fmla="*/ 725 h 1054"/>
                    <a:gd name="T44" fmla="*/ 989 w 1033"/>
                    <a:gd name="T45" fmla="*/ 44 h 1054"/>
                    <a:gd name="T46" fmla="*/ 44 w 1033"/>
                    <a:gd name="T47" fmla="*/ 44 h 1054"/>
                    <a:gd name="T48" fmla="*/ 44 w 1033"/>
                    <a:gd name="T49" fmla="*/ 256 h 1054"/>
                    <a:gd name="T50" fmla="*/ 0 w 1033"/>
                    <a:gd name="T51" fmla="*/ 256 h 1054"/>
                    <a:gd name="T52" fmla="*/ 0 w 1033"/>
                    <a:gd name="T53" fmla="*/ 44 h 1054"/>
                    <a:gd name="T54" fmla="*/ 44 w 1033"/>
                    <a:gd name="T55" fmla="*/ 0 h 1054"/>
                    <a:gd name="T56" fmla="*/ 989 w 1033"/>
                    <a:gd name="T57" fmla="*/ 0 h 1054"/>
                    <a:gd name="T58" fmla="*/ 1033 w 1033"/>
                    <a:gd name="T59" fmla="*/ 44 h 1054"/>
                    <a:gd name="T60" fmla="*/ 835 w 1033"/>
                    <a:gd name="T61" fmla="*/ 247 h 1054"/>
                    <a:gd name="T62" fmla="*/ 813 w 1033"/>
                    <a:gd name="T63" fmla="*/ 225 h 1054"/>
                    <a:gd name="T64" fmla="*/ 220 w 1033"/>
                    <a:gd name="T65" fmla="*/ 225 h 1054"/>
                    <a:gd name="T66" fmla="*/ 198 w 1033"/>
                    <a:gd name="T67" fmla="*/ 247 h 1054"/>
                    <a:gd name="T68" fmla="*/ 220 w 1033"/>
                    <a:gd name="T69" fmla="*/ 269 h 1054"/>
                    <a:gd name="T70" fmla="*/ 813 w 1033"/>
                    <a:gd name="T71" fmla="*/ 269 h 1054"/>
                    <a:gd name="T72" fmla="*/ 835 w 1033"/>
                    <a:gd name="T73" fmla="*/ 247 h 1054"/>
                    <a:gd name="T74" fmla="*/ 835 w 1033"/>
                    <a:gd name="T75" fmla="*/ 383 h 1054"/>
                    <a:gd name="T76" fmla="*/ 813 w 1033"/>
                    <a:gd name="T77" fmla="*/ 361 h 1054"/>
                    <a:gd name="T78" fmla="*/ 220 w 1033"/>
                    <a:gd name="T79" fmla="*/ 361 h 1054"/>
                    <a:gd name="T80" fmla="*/ 198 w 1033"/>
                    <a:gd name="T81" fmla="*/ 383 h 1054"/>
                    <a:gd name="T82" fmla="*/ 220 w 1033"/>
                    <a:gd name="T83" fmla="*/ 405 h 1054"/>
                    <a:gd name="T84" fmla="*/ 813 w 1033"/>
                    <a:gd name="T85" fmla="*/ 405 h 1054"/>
                    <a:gd name="T86" fmla="*/ 835 w 1033"/>
                    <a:gd name="T87" fmla="*/ 383 h 1054"/>
                    <a:gd name="T88" fmla="*/ 835 w 1033"/>
                    <a:gd name="T89" fmla="*/ 521 h 1054"/>
                    <a:gd name="T90" fmla="*/ 813 w 1033"/>
                    <a:gd name="T91" fmla="*/ 499 h 1054"/>
                    <a:gd name="T92" fmla="*/ 220 w 1033"/>
                    <a:gd name="T93" fmla="*/ 499 h 1054"/>
                    <a:gd name="T94" fmla="*/ 198 w 1033"/>
                    <a:gd name="T95" fmla="*/ 521 h 1054"/>
                    <a:gd name="T96" fmla="*/ 220 w 1033"/>
                    <a:gd name="T97" fmla="*/ 543 h 1054"/>
                    <a:gd name="T98" fmla="*/ 813 w 1033"/>
                    <a:gd name="T99" fmla="*/ 543 h 1054"/>
                    <a:gd name="T100" fmla="*/ 835 w 1033"/>
                    <a:gd name="T101" fmla="*/ 521 h 10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033" h="1054">
                      <a:moveTo>
                        <a:pt x="1033" y="44"/>
                      </a:moveTo>
                      <a:cubicBezTo>
                        <a:pt x="1033" y="725"/>
                        <a:pt x="1033" y="725"/>
                        <a:pt x="1033" y="725"/>
                      </a:cubicBezTo>
                      <a:cubicBezTo>
                        <a:pt x="1033" y="750"/>
                        <a:pt x="1013" y="769"/>
                        <a:pt x="989" y="769"/>
                      </a:cubicBezTo>
                      <a:cubicBezTo>
                        <a:pt x="734" y="769"/>
                        <a:pt x="734" y="769"/>
                        <a:pt x="734" y="769"/>
                      </a:cubicBezTo>
                      <a:cubicBezTo>
                        <a:pt x="734" y="1010"/>
                        <a:pt x="734" y="1010"/>
                        <a:pt x="734" y="1010"/>
                      </a:cubicBezTo>
                      <a:cubicBezTo>
                        <a:pt x="734" y="1012"/>
                        <a:pt x="734" y="1015"/>
                        <a:pt x="733" y="1017"/>
                      </a:cubicBezTo>
                      <a:cubicBezTo>
                        <a:pt x="732" y="1020"/>
                        <a:pt x="722" y="1047"/>
                        <a:pt x="696" y="1053"/>
                      </a:cubicBezTo>
                      <a:cubicBezTo>
                        <a:pt x="693" y="1054"/>
                        <a:pt x="689" y="1054"/>
                        <a:pt x="686" y="1054"/>
                      </a:cubicBezTo>
                      <a:cubicBezTo>
                        <a:pt x="668" y="1054"/>
                        <a:pt x="650" y="1044"/>
                        <a:pt x="632" y="1025"/>
                      </a:cubicBezTo>
                      <a:cubicBezTo>
                        <a:pt x="619" y="1013"/>
                        <a:pt x="595" y="985"/>
                        <a:pt x="564" y="951"/>
                      </a:cubicBezTo>
                      <a:cubicBezTo>
                        <a:pt x="517" y="899"/>
                        <a:pt x="454" y="829"/>
                        <a:pt x="396" y="769"/>
                      </a:cubicBezTo>
                      <a:cubicBezTo>
                        <a:pt x="135" y="769"/>
                        <a:pt x="135" y="769"/>
                        <a:pt x="135" y="769"/>
                      </a:cubicBezTo>
                      <a:cubicBezTo>
                        <a:pt x="135" y="725"/>
                        <a:pt x="135" y="725"/>
                        <a:pt x="135" y="725"/>
                      </a:cubicBezTo>
                      <a:cubicBezTo>
                        <a:pt x="405" y="725"/>
                        <a:pt x="405" y="725"/>
                        <a:pt x="405" y="725"/>
                      </a:cubicBezTo>
                      <a:cubicBezTo>
                        <a:pt x="411" y="725"/>
                        <a:pt x="417" y="728"/>
                        <a:pt x="421" y="732"/>
                      </a:cubicBezTo>
                      <a:cubicBezTo>
                        <a:pt x="481" y="793"/>
                        <a:pt x="548" y="867"/>
                        <a:pt x="597" y="922"/>
                      </a:cubicBezTo>
                      <a:cubicBezTo>
                        <a:pt x="627" y="956"/>
                        <a:pt x="651" y="982"/>
                        <a:pt x="663" y="994"/>
                      </a:cubicBezTo>
                      <a:cubicBezTo>
                        <a:pt x="677" y="1008"/>
                        <a:pt x="684" y="1010"/>
                        <a:pt x="686" y="1010"/>
                      </a:cubicBezTo>
                      <a:cubicBezTo>
                        <a:pt x="687" y="1010"/>
                        <a:pt x="689" y="1008"/>
                        <a:pt x="690" y="1005"/>
                      </a:cubicBezTo>
                      <a:cubicBezTo>
                        <a:pt x="690" y="747"/>
                        <a:pt x="690" y="747"/>
                        <a:pt x="690" y="747"/>
                      </a:cubicBezTo>
                      <a:cubicBezTo>
                        <a:pt x="690" y="735"/>
                        <a:pt x="700" y="725"/>
                        <a:pt x="712" y="725"/>
                      </a:cubicBezTo>
                      <a:cubicBezTo>
                        <a:pt x="989" y="725"/>
                        <a:pt x="989" y="725"/>
                        <a:pt x="989" y="725"/>
                      </a:cubicBezTo>
                      <a:cubicBezTo>
                        <a:pt x="989" y="44"/>
                        <a:pt x="989" y="44"/>
                        <a:pt x="989" y="44"/>
                      </a:cubicBezTo>
                      <a:cubicBezTo>
                        <a:pt x="44" y="44"/>
                        <a:pt x="44" y="44"/>
                        <a:pt x="44" y="44"/>
                      </a:cubicBezTo>
                      <a:cubicBezTo>
                        <a:pt x="44" y="256"/>
                        <a:pt x="44" y="256"/>
                        <a:pt x="44" y="256"/>
                      </a:cubicBezTo>
                      <a:cubicBezTo>
                        <a:pt x="0" y="256"/>
                        <a:pt x="0" y="256"/>
                        <a:pt x="0" y="256"/>
                      </a:cubicBezTo>
                      <a:cubicBezTo>
                        <a:pt x="0" y="44"/>
                        <a:pt x="0" y="44"/>
                        <a:pt x="0" y="44"/>
                      </a:cubicBezTo>
                      <a:cubicBezTo>
                        <a:pt x="0" y="20"/>
                        <a:pt x="20" y="0"/>
                        <a:pt x="44" y="0"/>
                      </a:cubicBezTo>
                      <a:cubicBezTo>
                        <a:pt x="989" y="0"/>
                        <a:pt x="989" y="0"/>
                        <a:pt x="989" y="0"/>
                      </a:cubicBezTo>
                      <a:cubicBezTo>
                        <a:pt x="1013" y="0"/>
                        <a:pt x="1033" y="20"/>
                        <a:pt x="1033" y="44"/>
                      </a:cubicBezTo>
                      <a:close/>
                      <a:moveTo>
                        <a:pt x="835" y="247"/>
                      </a:moveTo>
                      <a:cubicBezTo>
                        <a:pt x="835" y="235"/>
                        <a:pt x="826" y="225"/>
                        <a:pt x="813" y="225"/>
                      </a:cubicBezTo>
                      <a:cubicBezTo>
                        <a:pt x="220" y="225"/>
                        <a:pt x="220" y="225"/>
                        <a:pt x="220" y="225"/>
                      </a:cubicBezTo>
                      <a:cubicBezTo>
                        <a:pt x="208" y="225"/>
                        <a:pt x="198" y="235"/>
                        <a:pt x="198" y="247"/>
                      </a:cubicBezTo>
                      <a:cubicBezTo>
                        <a:pt x="198" y="259"/>
                        <a:pt x="208" y="269"/>
                        <a:pt x="220" y="269"/>
                      </a:cubicBezTo>
                      <a:cubicBezTo>
                        <a:pt x="813" y="269"/>
                        <a:pt x="813" y="269"/>
                        <a:pt x="813" y="269"/>
                      </a:cubicBezTo>
                      <a:cubicBezTo>
                        <a:pt x="826" y="269"/>
                        <a:pt x="835" y="259"/>
                        <a:pt x="835" y="247"/>
                      </a:cubicBezTo>
                      <a:close/>
                      <a:moveTo>
                        <a:pt x="835" y="383"/>
                      </a:moveTo>
                      <a:cubicBezTo>
                        <a:pt x="835" y="371"/>
                        <a:pt x="826" y="361"/>
                        <a:pt x="813" y="361"/>
                      </a:cubicBezTo>
                      <a:cubicBezTo>
                        <a:pt x="220" y="361"/>
                        <a:pt x="220" y="361"/>
                        <a:pt x="220" y="361"/>
                      </a:cubicBezTo>
                      <a:cubicBezTo>
                        <a:pt x="208" y="361"/>
                        <a:pt x="198" y="371"/>
                        <a:pt x="198" y="383"/>
                      </a:cubicBezTo>
                      <a:cubicBezTo>
                        <a:pt x="198" y="395"/>
                        <a:pt x="208" y="405"/>
                        <a:pt x="220" y="405"/>
                      </a:cubicBezTo>
                      <a:cubicBezTo>
                        <a:pt x="813" y="405"/>
                        <a:pt x="813" y="405"/>
                        <a:pt x="813" y="405"/>
                      </a:cubicBezTo>
                      <a:cubicBezTo>
                        <a:pt x="826" y="405"/>
                        <a:pt x="835" y="395"/>
                        <a:pt x="835" y="383"/>
                      </a:cubicBezTo>
                      <a:close/>
                      <a:moveTo>
                        <a:pt x="835" y="521"/>
                      </a:moveTo>
                      <a:cubicBezTo>
                        <a:pt x="835" y="508"/>
                        <a:pt x="826" y="499"/>
                        <a:pt x="813" y="499"/>
                      </a:cubicBezTo>
                      <a:cubicBezTo>
                        <a:pt x="220" y="499"/>
                        <a:pt x="220" y="499"/>
                        <a:pt x="220" y="499"/>
                      </a:cubicBezTo>
                      <a:cubicBezTo>
                        <a:pt x="208" y="499"/>
                        <a:pt x="198" y="508"/>
                        <a:pt x="198" y="521"/>
                      </a:cubicBezTo>
                      <a:cubicBezTo>
                        <a:pt x="198" y="533"/>
                        <a:pt x="208" y="543"/>
                        <a:pt x="220" y="543"/>
                      </a:cubicBezTo>
                      <a:cubicBezTo>
                        <a:pt x="813" y="543"/>
                        <a:pt x="813" y="543"/>
                        <a:pt x="813" y="543"/>
                      </a:cubicBezTo>
                      <a:cubicBezTo>
                        <a:pt x="826" y="543"/>
                        <a:pt x="835" y="533"/>
                        <a:pt x="835" y="52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grpSp>
        </p:grpSp>
      </p:grpSp>
      <p:sp>
        <p:nvSpPr>
          <p:cNvPr id="63" name="TextBox 62"/>
          <p:cNvSpPr txBox="1"/>
          <p:nvPr/>
        </p:nvSpPr>
        <p:spPr>
          <a:xfrm>
            <a:off x="428624" y="1329928"/>
            <a:ext cx="6534769" cy="5078313"/>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554"/>
              </a:spcBef>
              <a:spcAft>
                <a:spcPts val="185"/>
              </a:spcAft>
              <a:buClr>
                <a:srgbClr val="5BC6E8"/>
              </a:buClr>
              <a:buSzPct val="100000"/>
              <a:buFontTx/>
              <a:buNone/>
              <a:tabLst/>
              <a:defRPr/>
            </a:pPr>
            <a:r>
              <a:rPr kumimoji="0" lang="en-AU" sz="1400" b="1" i="0" u="none" strike="noStrike" kern="1200" cap="none" spc="0" normalizeH="0" baseline="0" noProof="0">
                <a:ln>
                  <a:noFill/>
                </a:ln>
                <a:effectLst/>
                <a:uLnTx/>
                <a:uFillTx/>
                <a:latin typeface="Calibri" panose="020F0502020204030204" pitchFamily="34" charset="0"/>
                <a:cs typeface="Calibri" panose="020F0502020204030204" pitchFamily="34" charset="0"/>
              </a:rPr>
              <a:t>What is Backlog Refinement?</a:t>
            </a:r>
            <a:br>
              <a:rPr kumimoji="0" lang="en-AU" sz="1200" b="1" i="0" u="none" strike="noStrike" kern="1200" cap="none" spc="0" normalizeH="0" baseline="0" noProof="0">
                <a:ln>
                  <a:noFill/>
                </a:ln>
                <a:effectLst/>
                <a:uLnTx/>
                <a:uFillTx/>
                <a:latin typeface="Calibri" panose="020F0502020204030204" pitchFamily="34" charset="0"/>
                <a:cs typeface="Calibri" panose="020F0502020204030204" pitchFamily="34" charset="0"/>
              </a:rPr>
            </a:b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As needed, the Team holds a session to prioritize and refine the Product Backlog and understand outcomes/objectives and stories for the upcoming 2-3 sprints</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GB"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Refining an outcome, objective or story involves three actions:</a:t>
            </a:r>
          </a:p>
          <a:p>
            <a:pPr marL="648000" marR="0" lvl="2"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GB" sz="1200" b="0" i="0" u="none" strike="noStrike" kern="1200" cap="none" spc="0" normalizeH="0" baseline="0" noProof="0">
                <a:ln>
                  <a:noFill/>
                </a:ln>
                <a:effectLst/>
                <a:uLnTx/>
                <a:uFillTx/>
                <a:latin typeface="Calibri" panose="020F0502020204030204" pitchFamily="34" charset="0"/>
                <a:cs typeface="Calibri" panose="020F0502020204030204" pitchFamily="34" charset="0"/>
              </a:rPr>
              <a:t>Create a shared understanding</a:t>
            </a:r>
          </a:p>
          <a:p>
            <a:pPr marL="648000" marR="0" lvl="2"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GB" sz="1200" b="0" i="0" u="none" strike="noStrike" kern="1200" cap="none" spc="0" normalizeH="0" baseline="0" noProof="0">
                <a:ln>
                  <a:noFill/>
                </a:ln>
                <a:effectLst/>
                <a:uLnTx/>
                <a:uFillTx/>
                <a:latin typeface="Calibri" panose="020F0502020204030204" pitchFamily="34" charset="0"/>
                <a:cs typeface="Calibri" panose="020F0502020204030204" pitchFamily="34" charset="0"/>
              </a:rPr>
              <a:t>Making it small enough to complete in one sprint</a:t>
            </a:r>
          </a:p>
          <a:p>
            <a:pPr marL="648000" marR="0" lvl="2"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GB" sz="1200" b="0" i="0" u="none" strike="noStrike" kern="1200" cap="none" spc="0" normalizeH="0" baseline="0" noProof="0">
                <a:ln>
                  <a:noFill/>
                </a:ln>
                <a:effectLst/>
                <a:uLnTx/>
                <a:uFillTx/>
                <a:latin typeface="Calibri" panose="020F0502020204030204" pitchFamily="34" charset="0"/>
                <a:cs typeface="Calibri" panose="020F0502020204030204" pitchFamily="34" charset="0"/>
              </a:rPr>
              <a:t>Adding acceptance criteria which define when the story is complete</a:t>
            </a:r>
          </a:p>
          <a:p>
            <a:pPr marL="648000" marR="0" lvl="2"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endParaRPr kumimoji="0" lang="en-AU" sz="6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Refined stories serve as an input for the next Sprint Planning</a:t>
            </a:r>
          </a:p>
          <a:p>
            <a:pPr marL="0" marR="0" lvl="0" indent="0" algn="l" defTabSz="914400" rtl="0" eaLnBrk="1" fontAlgn="auto" latinLnBrk="0" hangingPunct="1">
              <a:lnSpc>
                <a:spcPct val="100000"/>
              </a:lnSpc>
              <a:spcBef>
                <a:spcPts val="554"/>
              </a:spcBef>
              <a:spcAft>
                <a:spcPts val="185"/>
              </a:spcAft>
              <a:buClr>
                <a:srgbClr val="5BC6E8"/>
              </a:buClr>
              <a:buSzPct val="100000"/>
              <a:buFontTx/>
              <a:buNone/>
              <a:tabLst/>
              <a:defRPr/>
            </a:pPr>
            <a:br>
              <a:rPr kumimoji="0" lang="en-AU" sz="1200" b="1" i="0" u="none" strike="noStrike" kern="1200" cap="none" spc="0" normalizeH="0" baseline="0" noProof="0">
                <a:ln>
                  <a:noFill/>
                </a:ln>
                <a:effectLst/>
                <a:uLnTx/>
                <a:uFillTx/>
                <a:latin typeface="Calibri" panose="020F0502020204030204" pitchFamily="34" charset="0"/>
                <a:cs typeface="Calibri" panose="020F0502020204030204" pitchFamily="34" charset="0"/>
              </a:rPr>
            </a:br>
            <a:r>
              <a:rPr kumimoji="0" lang="en-AU" sz="1400" b="1" i="0" u="none" strike="noStrike" kern="1200" cap="none" spc="0" normalizeH="0" baseline="0" noProof="0">
                <a:ln>
                  <a:noFill/>
                </a:ln>
                <a:effectLst/>
                <a:uLnTx/>
                <a:uFillTx/>
                <a:latin typeface="Calibri" panose="020F0502020204030204" pitchFamily="34" charset="0"/>
                <a:cs typeface="Calibri" panose="020F0502020204030204" pitchFamily="34" charset="0"/>
              </a:rPr>
              <a:t>Why do we do Backlog Refinement?</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We want to ensure a common understanding of the stories on the backlog so that stories are ready to be tackled in the subsequent sprint</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We want to develop a view on what needs to be delivered 2-3 sprints ahead so that</a:t>
            </a:r>
            <a:br>
              <a:rPr kumimoji="0" 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br>
            <a:r>
              <a:rPr kumimoji="0" 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we are confident we can deliver the work in a timely manner</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We want to capture and distill emerging requirements and customer feedback</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We want to ensure all backlog items are truly “Ready” so that they can be pulled by the team</a:t>
            </a:r>
          </a:p>
          <a:p>
            <a:pPr marL="0" marR="0" lvl="0" indent="0" algn="l" defTabSz="914400" rtl="0" eaLnBrk="1" fontAlgn="auto" latinLnBrk="0" hangingPunct="1">
              <a:lnSpc>
                <a:spcPct val="100000"/>
              </a:lnSpc>
              <a:spcBef>
                <a:spcPts val="0"/>
              </a:spcBef>
              <a:spcAft>
                <a:spcPts val="185"/>
              </a:spcAft>
              <a:buClr>
                <a:srgbClr val="5BC6E8"/>
              </a:buClr>
              <a:buSzPct val="100000"/>
              <a:buFontTx/>
              <a:buNone/>
              <a:tabLst/>
              <a:defRPr/>
            </a:pPr>
            <a:br>
              <a:rPr kumimoji="0" lang="en-AU" sz="1200" b="1" i="0" u="none" strike="noStrike" kern="1200" cap="none" spc="0" normalizeH="0" baseline="0" noProof="0">
                <a:ln>
                  <a:noFill/>
                </a:ln>
                <a:effectLst/>
                <a:uLnTx/>
                <a:uFillTx/>
                <a:latin typeface="Calibri" panose="020F0502020204030204" pitchFamily="34" charset="0"/>
                <a:cs typeface="Calibri" panose="020F0502020204030204" pitchFamily="34" charset="0"/>
              </a:rPr>
            </a:br>
            <a:r>
              <a:rPr kumimoji="0" lang="en-AU" sz="1400" b="1" i="0" u="none" strike="noStrike" kern="1200" cap="none" spc="0" normalizeH="0" baseline="0" noProof="0">
                <a:ln>
                  <a:noFill/>
                </a:ln>
                <a:effectLst/>
                <a:uLnTx/>
                <a:uFillTx/>
                <a:latin typeface="Calibri" panose="020F0502020204030204" pitchFamily="34" charset="0"/>
                <a:cs typeface="Calibri" panose="020F0502020204030204" pitchFamily="34" charset="0"/>
              </a:rPr>
              <a:t>Who participates in the Backlog Refinement?</a:t>
            </a:r>
            <a:endParaRPr kumimoji="0" lang="en-AU" sz="1200" b="1" i="0" u="none" strike="noStrike" kern="1200" cap="none" spc="0" normalizeH="0" baseline="0" noProof="0">
              <a:ln>
                <a:noFill/>
              </a:ln>
              <a:effectLst/>
              <a:uLnTx/>
              <a:uFillTx/>
              <a:latin typeface="Calibri" panose="020F0502020204030204" pitchFamily="34" charset="0"/>
              <a:cs typeface="Calibri" panose="020F0502020204030204" pitchFamily="34" charset="0"/>
            </a:endParaRP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Agile Product Owner and Team members clarify outcomes, objectives, and stories</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Relevant Subject Matter Experts may help answer questions and break down stories</a:t>
            </a:r>
          </a:p>
          <a:p>
            <a:pPr marL="648000" marR="0" lvl="2"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AU" sz="1200" b="0" i="0" u="none" strike="noStrike" kern="1200" cap="none" spc="0" normalizeH="0" baseline="0" noProof="0">
                <a:ln>
                  <a:noFill/>
                </a:ln>
                <a:effectLst/>
                <a:uLnTx/>
                <a:uFillTx/>
                <a:latin typeface="Calibri" panose="020F0502020204030204" pitchFamily="34" charset="0"/>
                <a:cs typeface="Calibri" panose="020F0502020204030204" pitchFamily="34" charset="0"/>
              </a:rPr>
              <a:t>E.g., invite legal specialist if story has relevant legal requirements</a:t>
            </a:r>
          </a:p>
          <a:p>
            <a:pPr marL="270106" marR="0" lvl="1" indent="-160376" algn="l" defTabSz="914400" rtl="0" eaLnBrk="1" fontAlgn="auto" latinLnBrk="0" hangingPunct="1">
              <a:lnSpc>
                <a:spcPct val="100000"/>
              </a:lnSpc>
              <a:spcBef>
                <a:spcPts val="0"/>
              </a:spcBef>
              <a:spcAft>
                <a:spcPts val="185"/>
              </a:spcAft>
              <a:buClr>
                <a:srgbClr val="5BC6E8"/>
              </a:buClr>
              <a:buSzPct val="100000"/>
              <a:buFont typeface="Arial" panose="020B0604020202020204" pitchFamily="34" charset="0"/>
              <a:buChar char="•"/>
              <a:tabLst/>
              <a:defRPr/>
            </a:pPr>
            <a:endParaRPr kumimoji="0" lang="en-AU" sz="12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p:txBody>
      </p:sp>
      <p:grpSp>
        <p:nvGrpSpPr>
          <p:cNvPr id="64" name="Group 63"/>
          <p:cNvGrpSpPr/>
          <p:nvPr/>
        </p:nvGrpSpPr>
        <p:grpSpPr>
          <a:xfrm rot="5194849">
            <a:off x="10445510" y="3277539"/>
            <a:ext cx="138996" cy="145552"/>
            <a:chOff x="7896709" y="213753"/>
            <a:chExt cx="138996" cy="145552"/>
          </a:xfrm>
        </p:grpSpPr>
        <p:sp>
          <p:nvSpPr>
            <p:cNvPr id="65" name="Freeform 64"/>
            <p:cNvSpPr/>
            <p:nvPr/>
          </p:nvSpPr>
          <p:spPr>
            <a:xfrm flipH="1">
              <a:off x="7896709" y="213753"/>
              <a:ext cx="58323" cy="145552"/>
            </a:xfrm>
            <a:custGeom>
              <a:avLst/>
              <a:gdLst>
                <a:gd name="connsiteX0" fmla="*/ 85917 w 98190"/>
                <a:gd name="connsiteY0" fmla="*/ 0 h 184107"/>
                <a:gd name="connsiteX1" fmla="*/ 0 w 98190"/>
                <a:gd name="connsiteY1" fmla="*/ 98191 h 184107"/>
                <a:gd name="connsiteX2" fmla="*/ 98190 w 98190"/>
                <a:gd name="connsiteY2" fmla="*/ 184107 h 184107"/>
              </a:gdLst>
              <a:ahLst/>
              <a:cxnLst>
                <a:cxn ang="0">
                  <a:pos x="connsiteX0" y="connsiteY0"/>
                </a:cxn>
                <a:cxn ang="0">
                  <a:pos x="connsiteX1" y="connsiteY1"/>
                </a:cxn>
                <a:cxn ang="0">
                  <a:pos x="connsiteX2" y="connsiteY2"/>
                </a:cxn>
              </a:cxnLst>
              <a:rect l="l" t="t" r="r" b="b"/>
              <a:pathLst>
                <a:path w="98190" h="184107">
                  <a:moveTo>
                    <a:pt x="85917" y="0"/>
                  </a:moveTo>
                  <a:lnTo>
                    <a:pt x="0" y="98191"/>
                  </a:lnTo>
                  <a:lnTo>
                    <a:pt x="98190" y="184107"/>
                  </a:lnTo>
                </a:path>
              </a:pathLst>
            </a:custGeom>
            <a:noFill/>
            <a:ln w="19050" cap="flat" cmpd="sng" algn="ctr">
              <a:solidFill>
                <a:srgbClr val="E51B24"/>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62"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66" name="Freeform 65"/>
            <p:cNvSpPr/>
            <p:nvPr/>
          </p:nvSpPr>
          <p:spPr>
            <a:xfrm flipH="1">
              <a:off x="7977382" y="213753"/>
              <a:ext cx="58323" cy="145552"/>
            </a:xfrm>
            <a:custGeom>
              <a:avLst/>
              <a:gdLst>
                <a:gd name="connsiteX0" fmla="*/ 85917 w 98190"/>
                <a:gd name="connsiteY0" fmla="*/ 0 h 184107"/>
                <a:gd name="connsiteX1" fmla="*/ 0 w 98190"/>
                <a:gd name="connsiteY1" fmla="*/ 98191 h 184107"/>
                <a:gd name="connsiteX2" fmla="*/ 98190 w 98190"/>
                <a:gd name="connsiteY2" fmla="*/ 184107 h 184107"/>
              </a:gdLst>
              <a:ahLst/>
              <a:cxnLst>
                <a:cxn ang="0">
                  <a:pos x="connsiteX0" y="connsiteY0"/>
                </a:cxn>
                <a:cxn ang="0">
                  <a:pos x="connsiteX1" y="connsiteY1"/>
                </a:cxn>
                <a:cxn ang="0">
                  <a:pos x="connsiteX2" y="connsiteY2"/>
                </a:cxn>
              </a:cxnLst>
              <a:rect l="l" t="t" r="r" b="b"/>
              <a:pathLst>
                <a:path w="98190" h="184107">
                  <a:moveTo>
                    <a:pt x="85917" y="0"/>
                  </a:moveTo>
                  <a:lnTo>
                    <a:pt x="0" y="98191"/>
                  </a:lnTo>
                  <a:lnTo>
                    <a:pt x="98190" y="184107"/>
                  </a:lnTo>
                </a:path>
              </a:pathLst>
            </a:custGeom>
            <a:noFill/>
            <a:ln w="19050" cap="flat" cmpd="sng" algn="ctr">
              <a:solidFill>
                <a:srgbClr val="E51B24"/>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62"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grpSp>
      <p:grpSp>
        <p:nvGrpSpPr>
          <p:cNvPr id="67" name="Group 66"/>
          <p:cNvGrpSpPr/>
          <p:nvPr/>
        </p:nvGrpSpPr>
        <p:grpSpPr>
          <a:xfrm rot="5194849">
            <a:off x="10445510" y="4649981"/>
            <a:ext cx="138996" cy="145552"/>
            <a:chOff x="7896709" y="213753"/>
            <a:chExt cx="138996" cy="145552"/>
          </a:xfrm>
        </p:grpSpPr>
        <p:sp>
          <p:nvSpPr>
            <p:cNvPr id="68" name="Freeform 67"/>
            <p:cNvSpPr/>
            <p:nvPr/>
          </p:nvSpPr>
          <p:spPr>
            <a:xfrm flipH="1">
              <a:off x="7896709" y="213753"/>
              <a:ext cx="58323" cy="145552"/>
            </a:xfrm>
            <a:custGeom>
              <a:avLst/>
              <a:gdLst>
                <a:gd name="connsiteX0" fmla="*/ 85917 w 98190"/>
                <a:gd name="connsiteY0" fmla="*/ 0 h 184107"/>
                <a:gd name="connsiteX1" fmla="*/ 0 w 98190"/>
                <a:gd name="connsiteY1" fmla="*/ 98191 h 184107"/>
                <a:gd name="connsiteX2" fmla="*/ 98190 w 98190"/>
                <a:gd name="connsiteY2" fmla="*/ 184107 h 184107"/>
              </a:gdLst>
              <a:ahLst/>
              <a:cxnLst>
                <a:cxn ang="0">
                  <a:pos x="connsiteX0" y="connsiteY0"/>
                </a:cxn>
                <a:cxn ang="0">
                  <a:pos x="connsiteX1" y="connsiteY1"/>
                </a:cxn>
                <a:cxn ang="0">
                  <a:pos x="connsiteX2" y="connsiteY2"/>
                </a:cxn>
              </a:cxnLst>
              <a:rect l="l" t="t" r="r" b="b"/>
              <a:pathLst>
                <a:path w="98190" h="184107">
                  <a:moveTo>
                    <a:pt x="85917" y="0"/>
                  </a:moveTo>
                  <a:lnTo>
                    <a:pt x="0" y="98191"/>
                  </a:lnTo>
                  <a:lnTo>
                    <a:pt x="98190" y="184107"/>
                  </a:lnTo>
                </a:path>
              </a:pathLst>
            </a:custGeom>
            <a:noFill/>
            <a:ln w="19050" cap="flat" cmpd="sng" algn="ctr">
              <a:solidFill>
                <a:srgbClr val="E51B24"/>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62"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70" name="Freeform 69"/>
            <p:cNvSpPr/>
            <p:nvPr/>
          </p:nvSpPr>
          <p:spPr>
            <a:xfrm flipH="1">
              <a:off x="7977382" y="213753"/>
              <a:ext cx="58323" cy="145552"/>
            </a:xfrm>
            <a:custGeom>
              <a:avLst/>
              <a:gdLst>
                <a:gd name="connsiteX0" fmla="*/ 85917 w 98190"/>
                <a:gd name="connsiteY0" fmla="*/ 0 h 184107"/>
                <a:gd name="connsiteX1" fmla="*/ 0 w 98190"/>
                <a:gd name="connsiteY1" fmla="*/ 98191 h 184107"/>
                <a:gd name="connsiteX2" fmla="*/ 98190 w 98190"/>
                <a:gd name="connsiteY2" fmla="*/ 184107 h 184107"/>
              </a:gdLst>
              <a:ahLst/>
              <a:cxnLst>
                <a:cxn ang="0">
                  <a:pos x="connsiteX0" y="connsiteY0"/>
                </a:cxn>
                <a:cxn ang="0">
                  <a:pos x="connsiteX1" y="connsiteY1"/>
                </a:cxn>
                <a:cxn ang="0">
                  <a:pos x="connsiteX2" y="connsiteY2"/>
                </a:cxn>
              </a:cxnLst>
              <a:rect l="l" t="t" r="r" b="b"/>
              <a:pathLst>
                <a:path w="98190" h="184107">
                  <a:moveTo>
                    <a:pt x="85917" y="0"/>
                  </a:moveTo>
                  <a:lnTo>
                    <a:pt x="0" y="98191"/>
                  </a:lnTo>
                  <a:lnTo>
                    <a:pt x="98190" y="184107"/>
                  </a:lnTo>
                </a:path>
              </a:pathLst>
            </a:custGeom>
            <a:noFill/>
            <a:ln w="19050" cap="flat" cmpd="sng" algn="ctr">
              <a:solidFill>
                <a:srgbClr val="E51B24"/>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62"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grpSp>
      <p:sp>
        <p:nvSpPr>
          <p:cNvPr id="71" name="TextBox 70"/>
          <p:cNvSpPr txBox="1"/>
          <p:nvPr/>
        </p:nvSpPr>
        <p:spPr>
          <a:xfrm>
            <a:off x="8022976" y="1828800"/>
            <a:ext cx="1166881" cy="152349"/>
          </a:xfrm>
          <a:prstGeom prst="rect">
            <a:avLst/>
          </a:prstGeom>
          <a:solidFill>
            <a:schemeClr val="bg1"/>
          </a:solidFill>
        </p:spPr>
        <p:txBody>
          <a:bodyPr wrap="square" lIns="0" tIns="0" rIns="0" bIns="0" rtlCol="0" anchor="ctr">
            <a:spAutoFit/>
          </a:bodyPr>
          <a:lstStyle>
            <a:defPPr>
              <a:defRPr lang="en-US"/>
            </a:defPPr>
            <a:lvl1pPr algn="ctr">
              <a:lnSpc>
                <a:spcPct val="90000"/>
              </a:lnSpc>
              <a:defRPr sz="2400">
                <a:solidFill>
                  <a:schemeClr val="tx2"/>
                </a:solidFill>
                <a:latin typeface="Italo Medium" panose="02000000000000000000" pitchFamily="2" charset="0"/>
                <a:cs typeface="Arial" pitchFamily="34" charset="0"/>
              </a:defRPr>
            </a:lvl1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AU" sz="11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t>Backlog</a:t>
            </a:r>
          </a:p>
        </p:txBody>
      </p:sp>
      <p:sp>
        <p:nvSpPr>
          <p:cNvPr id="72" name="TextBox 71"/>
          <p:cNvSpPr txBox="1"/>
          <p:nvPr/>
        </p:nvSpPr>
        <p:spPr>
          <a:xfrm>
            <a:off x="8022976" y="4800600"/>
            <a:ext cx="1166883" cy="152349"/>
          </a:xfrm>
          <a:prstGeom prst="rect">
            <a:avLst/>
          </a:prstGeom>
          <a:solidFill>
            <a:schemeClr val="bg1"/>
          </a:solidFill>
        </p:spPr>
        <p:txBody>
          <a:bodyPr wrap="square" lIns="0" tIns="0" rIns="0" bIns="0" rtlCol="0" anchor="ctr">
            <a:spAutoFit/>
          </a:bodyPr>
          <a:lstStyle>
            <a:defPPr>
              <a:defRPr lang="en-US"/>
            </a:defPPr>
            <a:lvl1pPr algn="ctr">
              <a:lnSpc>
                <a:spcPct val="90000"/>
              </a:lnSpc>
              <a:defRPr sz="2400">
                <a:solidFill>
                  <a:schemeClr val="tx2"/>
                </a:solidFill>
                <a:latin typeface="Italo Medium" panose="02000000000000000000" pitchFamily="2" charset="0"/>
                <a:cs typeface="Arial" pitchFamily="34" charset="0"/>
              </a:defRPr>
            </a:lvl1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AU" sz="11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t>Backlog</a:t>
            </a:r>
          </a:p>
        </p:txBody>
      </p:sp>
      <p:sp>
        <p:nvSpPr>
          <p:cNvPr id="7" name="NavigationIcon">
            <a:extLst>
              <a:ext uri="{FF2B5EF4-FFF2-40B4-BE49-F238E27FC236}">
                <a16:creationId xmlns:a16="http://schemas.microsoft.com/office/drawing/2014/main" id="{9E3CDC21-8391-626D-9949-5D55F9934F11}"/>
              </a:ext>
            </a:extLst>
          </p:cNvPr>
          <p:cNvSpPr>
            <a:spLocks noChangeAspect="1" noChangeArrowheads="1"/>
          </p:cNvSpPr>
          <p:nvPr>
            <p:custDataLst>
              <p:tags r:id="rId3"/>
            </p:custDataLst>
          </p:nvPr>
        </p:nvSpPr>
        <p:spPr bwMode="auto">
          <a:xfrm>
            <a:off x="428624" y="964168"/>
            <a:ext cx="365760" cy="365760"/>
          </a:xfrm>
          <a:prstGeom prst="ellipse">
            <a:avLst/>
          </a:prstGeom>
          <a:solidFill>
            <a:schemeClr val="tx1"/>
          </a:solidFill>
          <a:ln>
            <a:noFill/>
          </a:ln>
        </p:spPr>
        <p:txBody>
          <a:bodyPr vert="horz" wrap="square" lIns="123928" tIns="61964" rIns="123928" bIns="61964"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26" b="0" i="0" u="none" strike="noStrike" kern="1200" cap="none" spc="0" normalizeH="0" baseline="0" noProof="0">
                <a:ln>
                  <a:noFill/>
                </a:ln>
                <a:solidFill>
                  <a:schemeClr val="bg1"/>
                </a:solidFill>
                <a:effectLst/>
                <a:uLnTx/>
                <a:uFillTx/>
                <a:latin typeface="Calibri" panose="020F0502020204030204" pitchFamily="34" charset="0"/>
                <a:cs typeface="Calibri" panose="020F0502020204030204" pitchFamily="34" charset="0"/>
              </a:rPr>
              <a:t>C</a:t>
            </a:r>
            <a:endParaRPr kumimoji="0" lang="en-US" sz="1626" b="0" i="0" u="none" strike="noStrike" kern="1200" cap="none" spc="0" normalizeH="0" baseline="0" noProof="0">
              <a:ln>
                <a:noFill/>
              </a:ln>
              <a:solidFill>
                <a:schemeClr val="bg1"/>
              </a:solidFill>
              <a:effectLst/>
              <a:uLnTx/>
              <a:uFillTx/>
              <a:latin typeface="Calibri" panose="020F0502020204030204" pitchFamily="34" charset="0"/>
              <a:cs typeface="Calibri" panose="020F0502020204030204" pitchFamily="34" charset="0"/>
            </a:endParaRPr>
          </a:p>
        </p:txBody>
      </p:sp>
      <p:sp>
        <p:nvSpPr>
          <p:cNvPr id="8" name="Title 3">
            <a:extLst>
              <a:ext uri="{FF2B5EF4-FFF2-40B4-BE49-F238E27FC236}">
                <a16:creationId xmlns:a16="http://schemas.microsoft.com/office/drawing/2014/main" id="{ACE53723-3B35-CD0F-9ADE-368E3FF3A26B}"/>
              </a:ext>
            </a:extLst>
          </p:cNvPr>
          <p:cNvSpPr txBox="1">
            <a:spLocks/>
          </p:cNvSpPr>
          <p:nvPr/>
        </p:nvSpPr>
        <p:spPr>
          <a:xfrm>
            <a:off x="184150" y="284162"/>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r>
              <a:rPr lang="en-US" sz="2800" cap="none">
                <a:solidFill>
                  <a:schemeClr val="tx1"/>
                </a:solidFill>
              </a:rPr>
              <a:t>Backlog Refinement</a:t>
            </a:r>
          </a:p>
        </p:txBody>
      </p:sp>
      <p:sp>
        <p:nvSpPr>
          <p:cNvPr id="10" name="TextBox 9">
            <a:extLst>
              <a:ext uri="{FF2B5EF4-FFF2-40B4-BE49-F238E27FC236}">
                <a16:creationId xmlns:a16="http://schemas.microsoft.com/office/drawing/2014/main" id="{430E5943-B37A-DE9D-09A9-ABB149DBE3CD}"/>
              </a:ext>
            </a:extLst>
          </p:cNvPr>
          <p:cNvSpPr txBox="1"/>
          <p:nvPr/>
        </p:nvSpPr>
        <p:spPr>
          <a:xfrm>
            <a:off x="3434078" y="6381226"/>
            <a:ext cx="6140510" cy="369332"/>
          </a:xfrm>
          <a:prstGeom prst="rect">
            <a:avLst/>
          </a:prstGeom>
          <a:noFill/>
        </p:spPr>
        <p:txBody>
          <a:bodyPr wrap="square">
            <a:spAutoFit/>
          </a:bodyPr>
          <a:lstStyle/>
          <a:p>
            <a:r>
              <a:rPr lang="en-US" b="1">
                <a:solidFill>
                  <a:srgbClr val="D763C6"/>
                </a:solidFill>
                <a:latin typeface="Calibri" panose="020F0502020204030204" pitchFamily="34" charset="0"/>
                <a:cs typeface="Calibri" panose="020F0502020204030204" pitchFamily="34" charset="0"/>
              </a:rPr>
              <a:t>User for Epic &amp; Story Prioritization, Estimation &amp; Details </a:t>
            </a:r>
            <a:endParaRPr lang="en-US" b="1">
              <a:solidFill>
                <a:srgbClr val="D763C6"/>
              </a:solidFill>
            </a:endParaRPr>
          </a:p>
        </p:txBody>
      </p:sp>
    </p:spTree>
    <p:extLst>
      <p:ext uri="{BB962C8B-B14F-4D97-AF65-F5344CB8AC3E}">
        <p14:creationId xmlns:p14="http://schemas.microsoft.com/office/powerpoint/2010/main" val="13608242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 name="Object 46" hidden="1"/>
          <p:cNvGraphicFramePr>
            <a:graphicFrameLocks noChangeAspect="1"/>
          </p:cNvGraphicFramePr>
          <p:nvPr>
            <p:custDataLst>
              <p:tags r:id="rId1"/>
            </p:custDataLst>
          </p:nvPr>
        </p:nvGraphicFramePr>
        <p:xfrm>
          <a:off x="1525467" y="265237"/>
          <a:ext cx="1465" cy="1465"/>
        </p:xfrm>
        <a:graphic>
          <a:graphicData uri="http://schemas.openxmlformats.org/presentationml/2006/ole">
            <mc:AlternateContent xmlns:mc="http://schemas.openxmlformats.org/markup-compatibility/2006">
              <mc:Choice xmlns:v="urn:schemas-microsoft-com:vml" Requires="v">
                <p:oleObj name="think-cell Slide" r:id="rId7" imgW="360" imgH="360" progId="TCLayout.ActiveDocument.1">
                  <p:embed/>
                </p:oleObj>
              </mc:Choice>
              <mc:Fallback>
                <p:oleObj name="think-cell Slide" r:id="rId7" imgW="360" imgH="360" progId="TCLayout.ActiveDocument.1">
                  <p:embed/>
                  <p:pic>
                    <p:nvPicPr>
                      <p:cNvPr id="47" name="Object 46"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5467" y="265237"/>
                        <a:ext cx="1465" cy="14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a:solidFill>
            <a:srgbClr val="E51B24"/>
          </a:solidFill>
          <a:ln w="9525" cap="rnd" cmpd="sng" algn="ctr">
            <a:solidFill>
              <a:srgbClr val="E51B2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rebuchet MS" panose="020B0603020202020204" pitchFamily="34" charset="0"/>
              <a:ea typeface="+mn-ea"/>
              <a:cs typeface="+mn-cs"/>
              <a:sym typeface="Trebuchet MS" panose="020B0603020202020204" pitchFamily="34" charset="0"/>
            </a:endParaRPr>
          </a:p>
        </p:txBody>
      </p:sp>
      <p:sp>
        <p:nvSpPr>
          <p:cNvPr id="23" name="TextBox 22"/>
          <p:cNvSpPr txBox="1"/>
          <p:nvPr/>
        </p:nvSpPr>
        <p:spPr>
          <a:xfrm>
            <a:off x="609056" y="1319470"/>
            <a:ext cx="5875144" cy="3600986"/>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n-AU" sz="1400" b="1" i="0" u="none" strike="noStrike" kern="1200" cap="none" spc="0" normalizeH="0" baseline="0" noProof="0">
                <a:ln>
                  <a:noFill/>
                </a:ln>
                <a:effectLst/>
                <a:uLnTx/>
                <a:uFillTx/>
                <a:latin typeface="Calibri" panose="020F0502020204030204" pitchFamily="34" charset="0"/>
                <a:cs typeface="Calibri" panose="020F0502020204030204" pitchFamily="34" charset="0"/>
              </a:rPr>
              <a:t>What is the Sprint Review &amp; Demo?</a:t>
            </a:r>
            <a:b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br>
            <a:r>
              <a:rPr kumimoji="0" 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An event at the end of each sprint in which the Team provides an update on what was planned and completed during the Sprint and demonstrates the working outcomes to stakeholder and/or customers</a:t>
            </a:r>
            <a:b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br>
            <a:endPar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554"/>
              </a:spcBef>
              <a:spcAft>
                <a:spcPts val="277"/>
              </a:spcAft>
              <a:buClr>
                <a:srgbClr val="5BC6E8"/>
              </a:buClr>
              <a:buSzPct val="100000"/>
              <a:buFontTx/>
              <a:buNone/>
              <a:tabLst/>
              <a:defRPr/>
            </a:pPr>
            <a:r>
              <a:rPr kumimoji="0" lang="en-AU" sz="1400" b="1" i="0" u="none" strike="noStrike" kern="1200" cap="none" spc="0" normalizeH="0" baseline="0" noProof="0">
                <a:ln>
                  <a:noFill/>
                </a:ln>
                <a:effectLst/>
                <a:uLnTx/>
                <a:uFillTx/>
                <a:latin typeface="Calibri" panose="020F0502020204030204" pitchFamily="34" charset="0"/>
                <a:cs typeface="Calibri" panose="020F0502020204030204" pitchFamily="34" charset="0"/>
              </a:rPr>
              <a:t>Why do we do a Team Demo?</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We want to celebrate our successes: outcomes and value delivered</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We want to be transparent about what we achieved, what was not, and why</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We want to collect feedback from key stakeholders and/or customers to adapt and build better products that achieve better outcomes</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endParaRPr kumimoji="0" lang="en-AU" sz="1400" b="1" i="0" u="none" strike="noStrike" kern="1200" cap="none" spc="0" normalizeH="0" baseline="0" noProof="0">
              <a:ln>
                <a:noFill/>
              </a:ln>
              <a:effectLst/>
              <a:uLnTx/>
              <a:uFillTx/>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277"/>
              </a:spcAft>
              <a:buClr>
                <a:srgbClr val="5BC6E8"/>
              </a:buClr>
              <a:buSzPct val="100000"/>
              <a:buFontTx/>
              <a:buNone/>
              <a:tabLst/>
              <a:defRPr/>
            </a:pPr>
            <a:r>
              <a:rPr kumimoji="0" lang="en-AU" sz="1400" b="1" i="0" u="none" strike="noStrike" kern="1200" cap="none" spc="0" normalizeH="0" baseline="0" noProof="0">
                <a:ln>
                  <a:noFill/>
                </a:ln>
                <a:effectLst/>
                <a:uLnTx/>
                <a:uFillTx/>
                <a:latin typeface="Calibri" panose="020F0502020204030204" pitchFamily="34" charset="0"/>
                <a:cs typeface="Calibri" panose="020F0502020204030204" pitchFamily="34" charset="0"/>
              </a:rPr>
              <a:t>Who participates in the Team Demo?</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Agile Product Owner to introduce what has been completed this sprint and close with what will come next sprint</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Team members to demonstrate the outcomes</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All relevant stakeholders to ask questions and provide feedback</a:t>
            </a:r>
          </a:p>
        </p:txBody>
      </p:sp>
      <p:cxnSp>
        <p:nvCxnSpPr>
          <p:cNvPr id="43" name="Straight Connector 42"/>
          <p:cNvCxnSpPr/>
          <p:nvPr/>
        </p:nvCxnSpPr>
        <p:spPr>
          <a:xfrm>
            <a:off x="7097155" y="1484465"/>
            <a:ext cx="0" cy="4967135"/>
          </a:xfrm>
          <a:prstGeom prst="line">
            <a:avLst/>
          </a:prstGeom>
          <a:ln w="9525" cap="rnd">
            <a:solidFill>
              <a:schemeClr val="tx1">
                <a:lumMod val="60000"/>
                <a:lumOff val="40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8073016" y="1865913"/>
            <a:ext cx="3509928" cy="293460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t>User testing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Solicit rapid audience feedback via</a:t>
            </a:r>
            <a:br>
              <a:rPr kumimoji="0" lang="en-US" sz="16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br>
            <a:r>
              <a:rPr kumimoji="0" lang="en-US" sz="16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t>real-time demonstration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t>Presentations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t>Introduce information to an audience in a coherent story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t>Gallery walks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t>Exhibit material around a room to encourage active engagement and participation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38" name="Rectangle 37"/>
          <p:cNvSpPr/>
          <p:nvPr/>
        </p:nvSpPr>
        <p:spPr>
          <a:xfrm>
            <a:off x="7010400" y="1267702"/>
            <a:ext cx="3952223" cy="33855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185"/>
              </a:spcAft>
              <a:buClr>
                <a:srgbClr val="5BC6E8"/>
              </a:buClr>
              <a:buSzPct val="100000"/>
              <a:buFontTx/>
              <a:buNone/>
              <a:tabLst/>
              <a:defRPr/>
            </a:pPr>
            <a:r>
              <a:rPr kumimoji="0" lang="en-AU" sz="1600" b="1" i="0" u="none" strike="noStrike" kern="1200" cap="none" spc="0" normalizeH="0" baseline="0" noProof="0">
                <a:ln>
                  <a:noFill/>
                </a:ln>
                <a:effectLst/>
                <a:uLnTx/>
                <a:uFillTx/>
                <a:latin typeface="Calibri" panose="020F0502020204030204" pitchFamily="34" charset="0"/>
                <a:cs typeface="Calibri" panose="020F0502020204030204" pitchFamily="34" charset="0"/>
              </a:rPr>
              <a:t>Example Demo formats</a:t>
            </a:r>
          </a:p>
        </p:txBody>
      </p:sp>
      <p:grpSp>
        <p:nvGrpSpPr>
          <p:cNvPr id="46" name="Group 45"/>
          <p:cNvGrpSpPr>
            <a:grpSpLocks noChangeAspect="1"/>
          </p:cNvGrpSpPr>
          <p:nvPr/>
        </p:nvGrpSpPr>
        <p:grpSpPr>
          <a:xfrm>
            <a:off x="7257538" y="1989215"/>
            <a:ext cx="609682" cy="609682"/>
            <a:chOff x="5256341" y="2517774"/>
            <a:chExt cx="1646238" cy="1646238"/>
          </a:xfrm>
        </p:grpSpPr>
        <p:sp>
          <p:nvSpPr>
            <p:cNvPr id="54" name="AutoShape 107"/>
            <p:cNvSpPr>
              <a:spLocks noChangeAspect="1" noChangeArrowheads="1" noTextEdit="1"/>
            </p:cNvSpPr>
            <p:nvPr/>
          </p:nvSpPr>
          <p:spPr bwMode="auto">
            <a:xfrm>
              <a:off x="5256341" y="2517774"/>
              <a:ext cx="1646238" cy="164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grpSp>
          <p:nvGrpSpPr>
            <p:cNvPr id="55" name="Group 54"/>
            <p:cNvGrpSpPr/>
            <p:nvPr/>
          </p:nvGrpSpPr>
          <p:grpSpPr>
            <a:xfrm>
              <a:off x="5432682" y="2692400"/>
              <a:ext cx="1293556" cy="1296987"/>
              <a:chOff x="5432682" y="2692400"/>
              <a:chExt cx="1293556" cy="1296987"/>
            </a:xfrm>
          </p:grpSpPr>
          <p:sp>
            <p:nvSpPr>
              <p:cNvPr id="57" name="Freeform 56"/>
              <p:cNvSpPr>
                <a:spLocks/>
              </p:cNvSpPr>
              <p:nvPr/>
            </p:nvSpPr>
            <p:spPr bwMode="auto">
              <a:xfrm>
                <a:off x="5432682" y="2753317"/>
                <a:ext cx="1285289" cy="1236070"/>
              </a:xfrm>
              <a:custGeom>
                <a:avLst/>
                <a:gdLst>
                  <a:gd name="connsiteX0" fmla="*/ 233276 w 1285289"/>
                  <a:gd name="connsiteY0" fmla="*/ 991595 h 1236070"/>
                  <a:gd name="connsiteX1" fmla="*/ 630639 w 1285289"/>
                  <a:gd name="connsiteY1" fmla="*/ 1202571 h 1236070"/>
                  <a:gd name="connsiteX2" fmla="*/ 1078030 w 1285289"/>
                  <a:gd name="connsiteY2" fmla="*/ 1042201 h 1236070"/>
                  <a:gd name="connsiteX3" fmla="*/ 1008706 w 1285289"/>
                  <a:gd name="connsiteY3" fmla="*/ 1044339 h 1236070"/>
                  <a:gd name="connsiteX4" fmla="*/ 992268 w 1285289"/>
                  <a:gd name="connsiteY4" fmla="*/ 1029371 h 1236070"/>
                  <a:gd name="connsiteX5" fmla="*/ 1007991 w 1285289"/>
                  <a:gd name="connsiteY5" fmla="*/ 1012978 h 1236070"/>
                  <a:gd name="connsiteX6" fmla="*/ 1115908 w 1285289"/>
                  <a:gd name="connsiteY6" fmla="*/ 1010127 h 1236070"/>
                  <a:gd name="connsiteX7" fmla="*/ 1118052 w 1285289"/>
                  <a:gd name="connsiteY7" fmla="*/ 1010127 h 1236070"/>
                  <a:gd name="connsiteX8" fmla="*/ 1118767 w 1285289"/>
                  <a:gd name="connsiteY8" fmla="*/ 1010127 h 1236070"/>
                  <a:gd name="connsiteX9" fmla="*/ 1120911 w 1285289"/>
                  <a:gd name="connsiteY9" fmla="*/ 1010840 h 1236070"/>
                  <a:gd name="connsiteX10" fmla="*/ 1121626 w 1285289"/>
                  <a:gd name="connsiteY10" fmla="*/ 1010840 h 1236070"/>
                  <a:gd name="connsiteX11" fmla="*/ 1123770 w 1285289"/>
                  <a:gd name="connsiteY11" fmla="*/ 1012265 h 1236070"/>
                  <a:gd name="connsiteX12" fmla="*/ 1124484 w 1285289"/>
                  <a:gd name="connsiteY12" fmla="*/ 1012265 h 1236070"/>
                  <a:gd name="connsiteX13" fmla="*/ 1126628 w 1285289"/>
                  <a:gd name="connsiteY13" fmla="*/ 1013691 h 1236070"/>
                  <a:gd name="connsiteX14" fmla="*/ 1127343 w 1285289"/>
                  <a:gd name="connsiteY14" fmla="*/ 1014403 h 1236070"/>
                  <a:gd name="connsiteX15" fmla="*/ 1128772 w 1285289"/>
                  <a:gd name="connsiteY15" fmla="*/ 1015829 h 1236070"/>
                  <a:gd name="connsiteX16" fmla="*/ 1128772 w 1285289"/>
                  <a:gd name="connsiteY16" fmla="*/ 1016542 h 1236070"/>
                  <a:gd name="connsiteX17" fmla="*/ 1130202 w 1285289"/>
                  <a:gd name="connsiteY17" fmla="*/ 1018680 h 1236070"/>
                  <a:gd name="connsiteX18" fmla="*/ 1130202 w 1285289"/>
                  <a:gd name="connsiteY18" fmla="*/ 1019393 h 1236070"/>
                  <a:gd name="connsiteX19" fmla="*/ 1131631 w 1285289"/>
                  <a:gd name="connsiteY19" fmla="*/ 1021531 h 1236070"/>
                  <a:gd name="connsiteX20" fmla="*/ 1131631 w 1285289"/>
                  <a:gd name="connsiteY20" fmla="*/ 1022244 h 1236070"/>
                  <a:gd name="connsiteX21" fmla="*/ 1131631 w 1285289"/>
                  <a:gd name="connsiteY21" fmla="*/ 1024382 h 1236070"/>
                  <a:gd name="connsiteX22" fmla="*/ 1131631 w 1285289"/>
                  <a:gd name="connsiteY22" fmla="*/ 1025095 h 1236070"/>
                  <a:gd name="connsiteX23" fmla="*/ 1131631 w 1285289"/>
                  <a:gd name="connsiteY23" fmla="*/ 1026520 h 1236070"/>
                  <a:gd name="connsiteX24" fmla="*/ 1126628 w 1285289"/>
                  <a:gd name="connsiteY24" fmla="*/ 1132008 h 1236070"/>
                  <a:gd name="connsiteX25" fmla="*/ 1110905 w 1285289"/>
                  <a:gd name="connsiteY25" fmla="*/ 1147689 h 1236070"/>
                  <a:gd name="connsiteX26" fmla="*/ 1110191 w 1285289"/>
                  <a:gd name="connsiteY26" fmla="*/ 1147689 h 1236070"/>
                  <a:gd name="connsiteX27" fmla="*/ 1095182 w 1285289"/>
                  <a:gd name="connsiteY27" fmla="*/ 1130582 h 1236070"/>
                  <a:gd name="connsiteX28" fmla="*/ 1098041 w 1285289"/>
                  <a:gd name="connsiteY28" fmla="*/ 1066434 h 1236070"/>
                  <a:gd name="connsiteX29" fmla="*/ 905077 w 1285289"/>
                  <a:gd name="connsiteY29" fmla="*/ 1192592 h 1236070"/>
                  <a:gd name="connsiteX30" fmla="*/ 679952 w 1285289"/>
                  <a:gd name="connsiteY30" fmla="*/ 1236070 h 1236070"/>
                  <a:gd name="connsiteX31" fmla="*/ 627780 w 1285289"/>
                  <a:gd name="connsiteY31" fmla="*/ 1233932 h 1236070"/>
                  <a:gd name="connsiteX32" fmla="*/ 361918 w 1285289"/>
                  <a:gd name="connsiteY32" fmla="*/ 1146263 h 1236070"/>
                  <a:gd name="connsiteX33" fmla="*/ 206118 w 1285289"/>
                  <a:gd name="connsiteY33" fmla="*/ 1007988 h 1236070"/>
                  <a:gd name="connsiteX34" fmla="*/ 233276 w 1285289"/>
                  <a:gd name="connsiteY34" fmla="*/ 991595 h 1236070"/>
                  <a:gd name="connsiteX35" fmla="*/ 520755 w 1285289"/>
                  <a:gd name="connsiteY35" fmla="*/ 47032 h 1236070"/>
                  <a:gd name="connsiteX36" fmla="*/ 520755 w 1285289"/>
                  <a:gd name="connsiteY36" fmla="*/ 49891 h 1236070"/>
                  <a:gd name="connsiteX37" fmla="*/ 523619 w 1285289"/>
                  <a:gd name="connsiteY37" fmla="*/ 78479 h 1236070"/>
                  <a:gd name="connsiteX38" fmla="*/ 108403 w 1285289"/>
                  <a:gd name="connsiteY38" fmla="*/ 563049 h 1236070"/>
                  <a:gd name="connsiteX39" fmla="*/ 106255 w 1285289"/>
                  <a:gd name="connsiteY39" fmla="*/ 678831 h 1236070"/>
                  <a:gd name="connsiteX40" fmla="*/ 147061 w 1285289"/>
                  <a:gd name="connsiteY40" fmla="*/ 624513 h 1236070"/>
                  <a:gd name="connsiteX41" fmla="*/ 169253 w 1285289"/>
                  <a:gd name="connsiteY41" fmla="*/ 620940 h 1236070"/>
                  <a:gd name="connsiteX42" fmla="*/ 172833 w 1285289"/>
                  <a:gd name="connsiteY42" fmla="*/ 643096 h 1236070"/>
                  <a:gd name="connsiteX43" fmla="*/ 108403 w 1285289"/>
                  <a:gd name="connsiteY43" fmla="*/ 728860 h 1236070"/>
                  <a:gd name="connsiteX44" fmla="*/ 107687 w 1285289"/>
                  <a:gd name="connsiteY44" fmla="*/ 729575 h 1236070"/>
                  <a:gd name="connsiteX45" fmla="*/ 106255 w 1285289"/>
                  <a:gd name="connsiteY45" fmla="*/ 731719 h 1236070"/>
                  <a:gd name="connsiteX46" fmla="*/ 105539 w 1285289"/>
                  <a:gd name="connsiteY46" fmla="*/ 731719 h 1236070"/>
                  <a:gd name="connsiteX47" fmla="*/ 104107 w 1285289"/>
                  <a:gd name="connsiteY47" fmla="*/ 733148 h 1236070"/>
                  <a:gd name="connsiteX48" fmla="*/ 102676 w 1285289"/>
                  <a:gd name="connsiteY48" fmla="*/ 733863 h 1236070"/>
                  <a:gd name="connsiteX49" fmla="*/ 101244 w 1285289"/>
                  <a:gd name="connsiteY49" fmla="*/ 734578 h 1236070"/>
                  <a:gd name="connsiteX50" fmla="*/ 98380 w 1285289"/>
                  <a:gd name="connsiteY50" fmla="*/ 735292 h 1236070"/>
                  <a:gd name="connsiteX51" fmla="*/ 97664 w 1285289"/>
                  <a:gd name="connsiteY51" fmla="*/ 735292 h 1236070"/>
                  <a:gd name="connsiteX52" fmla="*/ 96949 w 1285289"/>
                  <a:gd name="connsiteY52" fmla="*/ 735292 h 1236070"/>
                  <a:gd name="connsiteX53" fmla="*/ 96949 w 1285289"/>
                  <a:gd name="connsiteY53" fmla="*/ 736007 h 1236070"/>
                  <a:gd name="connsiteX54" fmla="*/ 95517 w 1285289"/>
                  <a:gd name="connsiteY54" fmla="*/ 736007 h 1236070"/>
                  <a:gd name="connsiteX55" fmla="*/ 92653 w 1285289"/>
                  <a:gd name="connsiteY55" fmla="*/ 735292 h 1236070"/>
                  <a:gd name="connsiteX56" fmla="*/ 89790 w 1285289"/>
                  <a:gd name="connsiteY56" fmla="*/ 734578 h 1236070"/>
                  <a:gd name="connsiteX57" fmla="*/ 87642 w 1285289"/>
                  <a:gd name="connsiteY57" fmla="*/ 733863 h 1236070"/>
                  <a:gd name="connsiteX58" fmla="*/ 85494 w 1285289"/>
                  <a:gd name="connsiteY58" fmla="*/ 732434 h 1236070"/>
                  <a:gd name="connsiteX59" fmla="*/ 84778 w 1285289"/>
                  <a:gd name="connsiteY59" fmla="*/ 731719 h 1236070"/>
                  <a:gd name="connsiteX60" fmla="*/ 5315 w 1285289"/>
                  <a:gd name="connsiteY60" fmla="*/ 660963 h 1236070"/>
                  <a:gd name="connsiteX61" fmla="*/ 3883 w 1285289"/>
                  <a:gd name="connsiteY61" fmla="*/ 638807 h 1236070"/>
                  <a:gd name="connsiteX62" fmla="*/ 26075 w 1285289"/>
                  <a:gd name="connsiteY62" fmla="*/ 637378 h 1236070"/>
                  <a:gd name="connsiteX63" fmla="*/ 74756 w 1285289"/>
                  <a:gd name="connsiteY63" fmla="*/ 680975 h 1236070"/>
                  <a:gd name="connsiteX64" fmla="*/ 76904 w 1285289"/>
                  <a:gd name="connsiteY64" fmla="*/ 559475 h 1236070"/>
                  <a:gd name="connsiteX65" fmla="*/ 520755 w 1285289"/>
                  <a:gd name="connsiteY65" fmla="*/ 47032 h 1236070"/>
                  <a:gd name="connsiteX66" fmla="*/ 932443 w 1285289"/>
                  <a:gd name="connsiteY66" fmla="*/ 1029 h 1236070"/>
                  <a:gd name="connsiteX67" fmla="*/ 941187 w 1285289"/>
                  <a:gd name="connsiteY67" fmla="*/ 9230 h 1236070"/>
                  <a:gd name="connsiteX68" fmla="*/ 933335 w 1285289"/>
                  <a:gd name="connsiteY68" fmla="*/ 29910 h 1236070"/>
                  <a:gd name="connsiteX69" fmla="*/ 874090 w 1285289"/>
                  <a:gd name="connsiteY69" fmla="*/ 57009 h 1236070"/>
                  <a:gd name="connsiteX70" fmla="*/ 1283809 w 1285289"/>
                  <a:gd name="connsiteY70" fmla="*/ 671716 h 1236070"/>
                  <a:gd name="connsiteX71" fmla="*/ 1270960 w 1285289"/>
                  <a:gd name="connsiteY71" fmla="*/ 762995 h 1236070"/>
                  <a:gd name="connsiteX72" fmla="*/ 1242409 w 1285289"/>
                  <a:gd name="connsiteY72" fmla="*/ 745880 h 1236070"/>
                  <a:gd name="connsiteX73" fmla="*/ 1252402 w 1285289"/>
                  <a:gd name="connsiteY73" fmla="*/ 669577 h 1236070"/>
                  <a:gd name="connsiteX74" fmla="*/ 862669 w 1285289"/>
                  <a:gd name="connsiteY74" fmla="*/ 86247 h 1236070"/>
                  <a:gd name="connsiteX75" fmla="*/ 896932 w 1285289"/>
                  <a:gd name="connsiteY75" fmla="*/ 146149 h 1236070"/>
                  <a:gd name="connsiteX76" fmla="*/ 890507 w 1285289"/>
                  <a:gd name="connsiteY76" fmla="*/ 167542 h 1236070"/>
                  <a:gd name="connsiteX77" fmla="*/ 882656 w 1285289"/>
                  <a:gd name="connsiteY77" fmla="*/ 169681 h 1236070"/>
                  <a:gd name="connsiteX78" fmla="*/ 869094 w 1285289"/>
                  <a:gd name="connsiteY78" fmla="*/ 161837 h 1236070"/>
                  <a:gd name="connsiteX79" fmla="*/ 815559 w 1285289"/>
                  <a:gd name="connsiteY79" fmla="*/ 67706 h 1236070"/>
                  <a:gd name="connsiteX80" fmla="*/ 815559 w 1285289"/>
                  <a:gd name="connsiteY80" fmla="*/ 66993 h 1236070"/>
                  <a:gd name="connsiteX81" fmla="*/ 815559 w 1285289"/>
                  <a:gd name="connsiteY81" fmla="*/ 66279 h 1236070"/>
                  <a:gd name="connsiteX82" fmla="*/ 814845 w 1285289"/>
                  <a:gd name="connsiteY82" fmla="*/ 65566 h 1236070"/>
                  <a:gd name="connsiteX83" fmla="*/ 814845 w 1285289"/>
                  <a:gd name="connsiteY83" fmla="*/ 64853 h 1236070"/>
                  <a:gd name="connsiteX84" fmla="*/ 814845 w 1285289"/>
                  <a:gd name="connsiteY84" fmla="*/ 64140 h 1236070"/>
                  <a:gd name="connsiteX85" fmla="*/ 814131 w 1285289"/>
                  <a:gd name="connsiteY85" fmla="*/ 63427 h 1236070"/>
                  <a:gd name="connsiteX86" fmla="*/ 814131 w 1285289"/>
                  <a:gd name="connsiteY86" fmla="*/ 62714 h 1236070"/>
                  <a:gd name="connsiteX87" fmla="*/ 814131 w 1285289"/>
                  <a:gd name="connsiteY87" fmla="*/ 62001 h 1236070"/>
                  <a:gd name="connsiteX88" fmla="*/ 814131 w 1285289"/>
                  <a:gd name="connsiteY88" fmla="*/ 61288 h 1236070"/>
                  <a:gd name="connsiteX89" fmla="*/ 814131 w 1285289"/>
                  <a:gd name="connsiteY89" fmla="*/ 60574 h 1236070"/>
                  <a:gd name="connsiteX90" fmla="*/ 814131 w 1285289"/>
                  <a:gd name="connsiteY90" fmla="*/ 59861 h 1236070"/>
                  <a:gd name="connsiteX91" fmla="*/ 814131 w 1285289"/>
                  <a:gd name="connsiteY91" fmla="*/ 58435 h 1236070"/>
                  <a:gd name="connsiteX92" fmla="*/ 814131 w 1285289"/>
                  <a:gd name="connsiteY92" fmla="*/ 57722 h 1236070"/>
                  <a:gd name="connsiteX93" fmla="*/ 814131 w 1285289"/>
                  <a:gd name="connsiteY93" fmla="*/ 57009 h 1236070"/>
                  <a:gd name="connsiteX94" fmla="*/ 814131 w 1285289"/>
                  <a:gd name="connsiteY94" fmla="*/ 56296 h 1236070"/>
                  <a:gd name="connsiteX95" fmla="*/ 814845 w 1285289"/>
                  <a:gd name="connsiteY95" fmla="*/ 55583 h 1236070"/>
                  <a:gd name="connsiteX96" fmla="*/ 814845 w 1285289"/>
                  <a:gd name="connsiteY96" fmla="*/ 54870 h 1236070"/>
                  <a:gd name="connsiteX97" fmla="*/ 815559 w 1285289"/>
                  <a:gd name="connsiteY97" fmla="*/ 52017 h 1236070"/>
                  <a:gd name="connsiteX98" fmla="*/ 816273 w 1285289"/>
                  <a:gd name="connsiteY98" fmla="*/ 52017 h 1236070"/>
                  <a:gd name="connsiteX99" fmla="*/ 817700 w 1285289"/>
                  <a:gd name="connsiteY99" fmla="*/ 49878 h 1236070"/>
                  <a:gd name="connsiteX100" fmla="*/ 819842 w 1285289"/>
                  <a:gd name="connsiteY100" fmla="*/ 47738 h 1236070"/>
                  <a:gd name="connsiteX101" fmla="*/ 820555 w 1285289"/>
                  <a:gd name="connsiteY101" fmla="*/ 47738 h 1236070"/>
                  <a:gd name="connsiteX102" fmla="*/ 822697 w 1285289"/>
                  <a:gd name="connsiteY102" fmla="*/ 45599 h 1236070"/>
                  <a:gd name="connsiteX103" fmla="*/ 920487 w 1285289"/>
                  <a:gd name="connsiteY103" fmla="*/ 1386 h 1236070"/>
                  <a:gd name="connsiteX104" fmla="*/ 932443 w 1285289"/>
                  <a:gd name="connsiteY104" fmla="*/ 1029 h 1236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1285289" h="1236070">
                    <a:moveTo>
                      <a:pt x="233276" y="991595"/>
                    </a:moveTo>
                    <a:cubicBezTo>
                      <a:pt x="331187" y="1112763"/>
                      <a:pt x="472694" y="1189741"/>
                      <a:pt x="630639" y="1202571"/>
                    </a:cubicBezTo>
                    <a:cubicBezTo>
                      <a:pt x="797874" y="1216826"/>
                      <a:pt x="958678" y="1159093"/>
                      <a:pt x="1078030" y="1042201"/>
                    </a:cubicBezTo>
                    <a:cubicBezTo>
                      <a:pt x="1078030" y="1042201"/>
                      <a:pt x="1078030" y="1042201"/>
                      <a:pt x="1008706" y="1044339"/>
                    </a:cubicBezTo>
                    <a:cubicBezTo>
                      <a:pt x="1000130" y="1045052"/>
                      <a:pt x="992983" y="1037924"/>
                      <a:pt x="992268" y="1029371"/>
                    </a:cubicBezTo>
                    <a:cubicBezTo>
                      <a:pt x="992268" y="1020818"/>
                      <a:pt x="999415" y="1013691"/>
                      <a:pt x="1007991" y="1012978"/>
                    </a:cubicBezTo>
                    <a:cubicBezTo>
                      <a:pt x="1007991" y="1012978"/>
                      <a:pt x="1007991" y="1012978"/>
                      <a:pt x="1115908" y="1010127"/>
                    </a:cubicBezTo>
                    <a:cubicBezTo>
                      <a:pt x="1116623" y="1010127"/>
                      <a:pt x="1117338" y="1010127"/>
                      <a:pt x="1118052" y="1010127"/>
                    </a:cubicBezTo>
                    <a:cubicBezTo>
                      <a:pt x="1118052" y="1010127"/>
                      <a:pt x="1118052" y="1010127"/>
                      <a:pt x="1118767" y="1010127"/>
                    </a:cubicBezTo>
                    <a:cubicBezTo>
                      <a:pt x="1119482" y="1010127"/>
                      <a:pt x="1120196" y="1010127"/>
                      <a:pt x="1120911" y="1010840"/>
                    </a:cubicBezTo>
                    <a:cubicBezTo>
                      <a:pt x="1120911" y="1010840"/>
                      <a:pt x="1120911" y="1010840"/>
                      <a:pt x="1121626" y="1010840"/>
                    </a:cubicBezTo>
                    <a:cubicBezTo>
                      <a:pt x="1122340" y="1010840"/>
                      <a:pt x="1123055" y="1011552"/>
                      <a:pt x="1123770" y="1012265"/>
                    </a:cubicBezTo>
                    <a:cubicBezTo>
                      <a:pt x="1123770" y="1012265"/>
                      <a:pt x="1123770" y="1012265"/>
                      <a:pt x="1124484" y="1012265"/>
                    </a:cubicBezTo>
                    <a:cubicBezTo>
                      <a:pt x="1125199" y="1012265"/>
                      <a:pt x="1125914" y="1012978"/>
                      <a:pt x="1126628" y="1013691"/>
                    </a:cubicBezTo>
                    <a:cubicBezTo>
                      <a:pt x="1126628" y="1014403"/>
                      <a:pt x="1127343" y="1014403"/>
                      <a:pt x="1127343" y="1014403"/>
                    </a:cubicBezTo>
                    <a:cubicBezTo>
                      <a:pt x="1128058" y="1015116"/>
                      <a:pt x="1128058" y="1015829"/>
                      <a:pt x="1128772" y="1015829"/>
                    </a:cubicBezTo>
                    <a:cubicBezTo>
                      <a:pt x="1128772" y="1016542"/>
                      <a:pt x="1128772" y="1016542"/>
                      <a:pt x="1128772" y="1016542"/>
                    </a:cubicBezTo>
                    <a:cubicBezTo>
                      <a:pt x="1129487" y="1017254"/>
                      <a:pt x="1130202" y="1017967"/>
                      <a:pt x="1130202" y="1018680"/>
                    </a:cubicBezTo>
                    <a:cubicBezTo>
                      <a:pt x="1130202" y="1018680"/>
                      <a:pt x="1130202" y="1018680"/>
                      <a:pt x="1130202" y="1019393"/>
                    </a:cubicBezTo>
                    <a:cubicBezTo>
                      <a:pt x="1130917" y="1020105"/>
                      <a:pt x="1130917" y="1020818"/>
                      <a:pt x="1131631" y="1021531"/>
                    </a:cubicBezTo>
                    <a:cubicBezTo>
                      <a:pt x="1131631" y="1021531"/>
                      <a:pt x="1131631" y="1021531"/>
                      <a:pt x="1131631" y="1022244"/>
                    </a:cubicBezTo>
                    <a:cubicBezTo>
                      <a:pt x="1131631" y="1022956"/>
                      <a:pt x="1131631" y="1023669"/>
                      <a:pt x="1131631" y="1024382"/>
                    </a:cubicBezTo>
                    <a:cubicBezTo>
                      <a:pt x="1131631" y="1024382"/>
                      <a:pt x="1131631" y="1024382"/>
                      <a:pt x="1131631" y="1025095"/>
                    </a:cubicBezTo>
                    <a:cubicBezTo>
                      <a:pt x="1131631" y="1025095"/>
                      <a:pt x="1131631" y="1025807"/>
                      <a:pt x="1131631" y="1026520"/>
                    </a:cubicBezTo>
                    <a:cubicBezTo>
                      <a:pt x="1131631" y="1026520"/>
                      <a:pt x="1131631" y="1026520"/>
                      <a:pt x="1126628" y="1132008"/>
                    </a:cubicBezTo>
                    <a:cubicBezTo>
                      <a:pt x="1125914" y="1140561"/>
                      <a:pt x="1118767" y="1147689"/>
                      <a:pt x="1110905" y="1147689"/>
                    </a:cubicBezTo>
                    <a:cubicBezTo>
                      <a:pt x="1110191" y="1147689"/>
                      <a:pt x="1110191" y="1147689"/>
                      <a:pt x="1110191" y="1147689"/>
                    </a:cubicBezTo>
                    <a:cubicBezTo>
                      <a:pt x="1100900" y="1147689"/>
                      <a:pt x="1094468" y="1139135"/>
                      <a:pt x="1095182" y="1130582"/>
                    </a:cubicBezTo>
                    <a:cubicBezTo>
                      <a:pt x="1095182" y="1130582"/>
                      <a:pt x="1095182" y="1130582"/>
                      <a:pt x="1098041" y="1066434"/>
                    </a:cubicBezTo>
                    <a:cubicBezTo>
                      <a:pt x="1042296" y="1119891"/>
                      <a:pt x="976545" y="1163369"/>
                      <a:pt x="905077" y="1192592"/>
                    </a:cubicBezTo>
                    <a:cubicBezTo>
                      <a:pt x="833609" y="1221815"/>
                      <a:pt x="757852" y="1236070"/>
                      <a:pt x="679952" y="1236070"/>
                    </a:cubicBezTo>
                    <a:cubicBezTo>
                      <a:pt x="662799" y="1236070"/>
                      <a:pt x="645647" y="1235357"/>
                      <a:pt x="627780" y="1233932"/>
                    </a:cubicBezTo>
                    <a:cubicBezTo>
                      <a:pt x="532013" y="1226092"/>
                      <a:pt x="441963" y="1196156"/>
                      <a:pt x="361918" y="1146263"/>
                    </a:cubicBezTo>
                    <a:cubicBezTo>
                      <a:pt x="302600" y="1109200"/>
                      <a:pt x="249713" y="1062158"/>
                      <a:pt x="206118" y="1007988"/>
                    </a:cubicBezTo>
                    <a:cubicBezTo>
                      <a:pt x="216123" y="1003712"/>
                      <a:pt x="224699" y="998010"/>
                      <a:pt x="233276" y="991595"/>
                    </a:cubicBezTo>
                    <a:close/>
                    <a:moveTo>
                      <a:pt x="520755" y="47032"/>
                    </a:moveTo>
                    <a:cubicBezTo>
                      <a:pt x="520755" y="47747"/>
                      <a:pt x="520755" y="49176"/>
                      <a:pt x="520755" y="49891"/>
                    </a:cubicBezTo>
                    <a:cubicBezTo>
                      <a:pt x="520755" y="59897"/>
                      <a:pt x="521471" y="69188"/>
                      <a:pt x="523619" y="78479"/>
                    </a:cubicBezTo>
                    <a:cubicBezTo>
                      <a:pt x="303841" y="139944"/>
                      <a:pt x="136322" y="329340"/>
                      <a:pt x="108403" y="563049"/>
                    </a:cubicBezTo>
                    <a:cubicBezTo>
                      <a:pt x="104107" y="601643"/>
                      <a:pt x="103392" y="640237"/>
                      <a:pt x="106255" y="678831"/>
                    </a:cubicBezTo>
                    <a:cubicBezTo>
                      <a:pt x="106255" y="678831"/>
                      <a:pt x="106255" y="678831"/>
                      <a:pt x="147061" y="624513"/>
                    </a:cubicBezTo>
                    <a:cubicBezTo>
                      <a:pt x="152788" y="617366"/>
                      <a:pt x="162094" y="615937"/>
                      <a:pt x="169253" y="620940"/>
                    </a:cubicBezTo>
                    <a:cubicBezTo>
                      <a:pt x="176412" y="625943"/>
                      <a:pt x="177844" y="635949"/>
                      <a:pt x="172833" y="643096"/>
                    </a:cubicBezTo>
                    <a:cubicBezTo>
                      <a:pt x="172833" y="643096"/>
                      <a:pt x="172833" y="643096"/>
                      <a:pt x="108403" y="728860"/>
                    </a:cubicBezTo>
                    <a:cubicBezTo>
                      <a:pt x="108403" y="728860"/>
                      <a:pt x="108403" y="728860"/>
                      <a:pt x="107687" y="729575"/>
                    </a:cubicBezTo>
                    <a:cubicBezTo>
                      <a:pt x="106971" y="730290"/>
                      <a:pt x="106255" y="731004"/>
                      <a:pt x="106255" y="731719"/>
                    </a:cubicBezTo>
                    <a:cubicBezTo>
                      <a:pt x="105539" y="731719"/>
                      <a:pt x="105539" y="731719"/>
                      <a:pt x="105539" y="731719"/>
                    </a:cubicBezTo>
                    <a:cubicBezTo>
                      <a:pt x="104823" y="732434"/>
                      <a:pt x="104107" y="733148"/>
                      <a:pt x="104107" y="733148"/>
                    </a:cubicBezTo>
                    <a:cubicBezTo>
                      <a:pt x="103392" y="733148"/>
                      <a:pt x="103392" y="733863"/>
                      <a:pt x="102676" y="733863"/>
                    </a:cubicBezTo>
                    <a:cubicBezTo>
                      <a:pt x="101960" y="733863"/>
                      <a:pt x="101960" y="734578"/>
                      <a:pt x="101244" y="734578"/>
                    </a:cubicBezTo>
                    <a:cubicBezTo>
                      <a:pt x="100528" y="734578"/>
                      <a:pt x="99096" y="735292"/>
                      <a:pt x="98380" y="735292"/>
                    </a:cubicBezTo>
                    <a:cubicBezTo>
                      <a:pt x="98380" y="735292"/>
                      <a:pt x="98380" y="735292"/>
                      <a:pt x="97664" y="735292"/>
                    </a:cubicBezTo>
                    <a:cubicBezTo>
                      <a:pt x="97664" y="735292"/>
                      <a:pt x="97664" y="735292"/>
                      <a:pt x="96949" y="735292"/>
                    </a:cubicBezTo>
                    <a:cubicBezTo>
                      <a:pt x="96949" y="735292"/>
                      <a:pt x="96949" y="735292"/>
                      <a:pt x="96949" y="736007"/>
                    </a:cubicBezTo>
                    <a:cubicBezTo>
                      <a:pt x="96233" y="736007"/>
                      <a:pt x="96233" y="736007"/>
                      <a:pt x="95517" y="736007"/>
                    </a:cubicBezTo>
                    <a:cubicBezTo>
                      <a:pt x="94085" y="736007"/>
                      <a:pt x="93369" y="736007"/>
                      <a:pt x="92653" y="735292"/>
                    </a:cubicBezTo>
                    <a:cubicBezTo>
                      <a:pt x="91937" y="735292"/>
                      <a:pt x="90506" y="735292"/>
                      <a:pt x="89790" y="734578"/>
                    </a:cubicBezTo>
                    <a:cubicBezTo>
                      <a:pt x="89074" y="734578"/>
                      <a:pt x="88358" y="734578"/>
                      <a:pt x="87642" y="733863"/>
                    </a:cubicBezTo>
                    <a:cubicBezTo>
                      <a:pt x="86926" y="733148"/>
                      <a:pt x="86210" y="733148"/>
                      <a:pt x="85494" y="732434"/>
                    </a:cubicBezTo>
                    <a:cubicBezTo>
                      <a:pt x="85494" y="732434"/>
                      <a:pt x="84778" y="732434"/>
                      <a:pt x="84778" y="731719"/>
                    </a:cubicBezTo>
                    <a:cubicBezTo>
                      <a:pt x="84778" y="731719"/>
                      <a:pt x="84778" y="731719"/>
                      <a:pt x="5315" y="660963"/>
                    </a:cubicBezTo>
                    <a:cubicBezTo>
                      <a:pt x="-1128" y="655246"/>
                      <a:pt x="-1844" y="645954"/>
                      <a:pt x="3883" y="638807"/>
                    </a:cubicBezTo>
                    <a:cubicBezTo>
                      <a:pt x="9610" y="632375"/>
                      <a:pt x="19632" y="631660"/>
                      <a:pt x="26075" y="637378"/>
                    </a:cubicBezTo>
                    <a:cubicBezTo>
                      <a:pt x="26075" y="637378"/>
                      <a:pt x="26075" y="637378"/>
                      <a:pt x="74756" y="680975"/>
                    </a:cubicBezTo>
                    <a:cubicBezTo>
                      <a:pt x="71176" y="640237"/>
                      <a:pt x="72608" y="599499"/>
                      <a:pt x="76904" y="559475"/>
                    </a:cubicBezTo>
                    <a:cubicBezTo>
                      <a:pt x="106971" y="310758"/>
                      <a:pt x="286659" y="109926"/>
                      <a:pt x="520755" y="47032"/>
                    </a:cubicBezTo>
                    <a:close/>
                    <a:moveTo>
                      <a:pt x="932443" y="1029"/>
                    </a:moveTo>
                    <a:cubicBezTo>
                      <a:pt x="936190" y="2455"/>
                      <a:pt x="939402" y="5308"/>
                      <a:pt x="941187" y="9230"/>
                    </a:cubicBezTo>
                    <a:cubicBezTo>
                      <a:pt x="944756" y="17074"/>
                      <a:pt x="941187" y="26345"/>
                      <a:pt x="933335" y="29910"/>
                    </a:cubicBezTo>
                    <a:cubicBezTo>
                      <a:pt x="933335" y="29910"/>
                      <a:pt x="933335" y="29910"/>
                      <a:pt x="874090" y="57009"/>
                    </a:cubicBezTo>
                    <a:cubicBezTo>
                      <a:pt x="1132484" y="144009"/>
                      <a:pt x="1303081" y="395740"/>
                      <a:pt x="1283809" y="671716"/>
                    </a:cubicBezTo>
                    <a:cubicBezTo>
                      <a:pt x="1281667" y="702380"/>
                      <a:pt x="1277385" y="733044"/>
                      <a:pt x="1270960" y="762995"/>
                    </a:cubicBezTo>
                    <a:cubicBezTo>
                      <a:pt x="1261681" y="755864"/>
                      <a:pt x="1252402" y="750159"/>
                      <a:pt x="1242409" y="745880"/>
                    </a:cubicBezTo>
                    <a:cubicBezTo>
                      <a:pt x="1247405" y="720921"/>
                      <a:pt x="1250974" y="695249"/>
                      <a:pt x="1252402" y="669577"/>
                    </a:cubicBezTo>
                    <a:cubicBezTo>
                      <a:pt x="1270960" y="407150"/>
                      <a:pt x="1108215" y="168255"/>
                      <a:pt x="862669" y="86247"/>
                    </a:cubicBezTo>
                    <a:cubicBezTo>
                      <a:pt x="862669" y="86247"/>
                      <a:pt x="862669" y="86247"/>
                      <a:pt x="896932" y="146149"/>
                    </a:cubicBezTo>
                    <a:cubicBezTo>
                      <a:pt x="901214" y="153993"/>
                      <a:pt x="898359" y="163263"/>
                      <a:pt x="890507" y="167542"/>
                    </a:cubicBezTo>
                    <a:cubicBezTo>
                      <a:pt x="887652" y="168968"/>
                      <a:pt x="884797" y="169681"/>
                      <a:pt x="882656" y="169681"/>
                    </a:cubicBezTo>
                    <a:cubicBezTo>
                      <a:pt x="876945" y="169681"/>
                      <a:pt x="871949" y="166829"/>
                      <a:pt x="869094" y="161837"/>
                    </a:cubicBezTo>
                    <a:cubicBezTo>
                      <a:pt x="869094" y="161837"/>
                      <a:pt x="869094" y="161837"/>
                      <a:pt x="815559" y="67706"/>
                    </a:cubicBezTo>
                    <a:cubicBezTo>
                      <a:pt x="815559" y="67706"/>
                      <a:pt x="815559" y="67706"/>
                      <a:pt x="815559" y="66993"/>
                    </a:cubicBezTo>
                    <a:cubicBezTo>
                      <a:pt x="815559" y="66993"/>
                      <a:pt x="815559" y="66993"/>
                      <a:pt x="815559" y="66279"/>
                    </a:cubicBezTo>
                    <a:cubicBezTo>
                      <a:pt x="814845" y="66279"/>
                      <a:pt x="814845" y="66279"/>
                      <a:pt x="814845" y="65566"/>
                    </a:cubicBezTo>
                    <a:cubicBezTo>
                      <a:pt x="814845" y="65566"/>
                      <a:pt x="814845" y="65566"/>
                      <a:pt x="814845" y="64853"/>
                    </a:cubicBezTo>
                    <a:cubicBezTo>
                      <a:pt x="814845" y="64853"/>
                      <a:pt x="814845" y="64853"/>
                      <a:pt x="814845" y="64140"/>
                    </a:cubicBezTo>
                    <a:cubicBezTo>
                      <a:pt x="814131" y="64140"/>
                      <a:pt x="814131" y="63427"/>
                      <a:pt x="814131" y="63427"/>
                    </a:cubicBezTo>
                    <a:cubicBezTo>
                      <a:pt x="814131" y="63427"/>
                      <a:pt x="814131" y="63427"/>
                      <a:pt x="814131" y="62714"/>
                    </a:cubicBezTo>
                    <a:cubicBezTo>
                      <a:pt x="814131" y="62714"/>
                      <a:pt x="814131" y="62714"/>
                      <a:pt x="814131" y="62001"/>
                    </a:cubicBezTo>
                    <a:cubicBezTo>
                      <a:pt x="814131" y="62001"/>
                      <a:pt x="814131" y="62001"/>
                      <a:pt x="814131" y="61288"/>
                    </a:cubicBezTo>
                    <a:cubicBezTo>
                      <a:pt x="814131" y="61288"/>
                      <a:pt x="814131" y="61288"/>
                      <a:pt x="814131" y="60574"/>
                    </a:cubicBezTo>
                    <a:cubicBezTo>
                      <a:pt x="814131" y="59861"/>
                      <a:pt x="814131" y="59861"/>
                      <a:pt x="814131" y="59861"/>
                    </a:cubicBezTo>
                    <a:cubicBezTo>
                      <a:pt x="814131" y="59148"/>
                      <a:pt x="814131" y="59148"/>
                      <a:pt x="814131" y="58435"/>
                    </a:cubicBezTo>
                    <a:cubicBezTo>
                      <a:pt x="814131" y="58435"/>
                      <a:pt x="814131" y="58435"/>
                      <a:pt x="814131" y="57722"/>
                    </a:cubicBezTo>
                    <a:cubicBezTo>
                      <a:pt x="814131" y="57722"/>
                      <a:pt x="814131" y="57722"/>
                      <a:pt x="814131" y="57009"/>
                    </a:cubicBezTo>
                    <a:cubicBezTo>
                      <a:pt x="814131" y="57009"/>
                      <a:pt x="814131" y="57009"/>
                      <a:pt x="814131" y="56296"/>
                    </a:cubicBezTo>
                    <a:cubicBezTo>
                      <a:pt x="814131" y="55583"/>
                      <a:pt x="814845" y="55583"/>
                      <a:pt x="814845" y="55583"/>
                    </a:cubicBezTo>
                    <a:cubicBezTo>
                      <a:pt x="814845" y="55583"/>
                      <a:pt x="814845" y="55583"/>
                      <a:pt x="814845" y="54870"/>
                    </a:cubicBezTo>
                    <a:cubicBezTo>
                      <a:pt x="814845" y="54156"/>
                      <a:pt x="815559" y="53443"/>
                      <a:pt x="815559" y="52017"/>
                    </a:cubicBezTo>
                    <a:cubicBezTo>
                      <a:pt x="816273" y="52017"/>
                      <a:pt x="816273" y="52017"/>
                      <a:pt x="816273" y="52017"/>
                    </a:cubicBezTo>
                    <a:cubicBezTo>
                      <a:pt x="816273" y="51304"/>
                      <a:pt x="816986" y="50591"/>
                      <a:pt x="817700" y="49878"/>
                    </a:cubicBezTo>
                    <a:cubicBezTo>
                      <a:pt x="818414" y="49165"/>
                      <a:pt x="819128" y="48451"/>
                      <a:pt x="819842" y="47738"/>
                    </a:cubicBezTo>
                    <a:cubicBezTo>
                      <a:pt x="820555" y="47738"/>
                      <a:pt x="820555" y="47738"/>
                      <a:pt x="820555" y="47738"/>
                    </a:cubicBezTo>
                    <a:cubicBezTo>
                      <a:pt x="821269" y="47025"/>
                      <a:pt x="821983" y="46312"/>
                      <a:pt x="822697" y="45599"/>
                    </a:cubicBezTo>
                    <a:cubicBezTo>
                      <a:pt x="822697" y="45599"/>
                      <a:pt x="822697" y="45599"/>
                      <a:pt x="920487" y="1386"/>
                    </a:cubicBezTo>
                    <a:cubicBezTo>
                      <a:pt x="924413" y="-397"/>
                      <a:pt x="928696" y="-397"/>
                      <a:pt x="932443" y="1029"/>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58" name="Freeform 57"/>
              <p:cNvSpPr>
                <a:spLocks/>
              </p:cNvSpPr>
              <p:nvPr/>
            </p:nvSpPr>
            <p:spPr bwMode="auto">
              <a:xfrm>
                <a:off x="5468938" y="2692400"/>
                <a:ext cx="1257300" cy="1049338"/>
              </a:xfrm>
              <a:custGeom>
                <a:avLst/>
                <a:gdLst>
                  <a:gd name="connsiteX0" fmla="*/ 1202365 w 1257300"/>
                  <a:gd name="connsiteY0" fmla="*/ 890162 h 1049338"/>
                  <a:gd name="connsiteX1" fmla="*/ 1194553 w 1257300"/>
                  <a:gd name="connsiteY1" fmla="*/ 893290 h 1049338"/>
                  <a:gd name="connsiteX2" fmla="*/ 1188871 w 1257300"/>
                  <a:gd name="connsiteY2" fmla="*/ 899010 h 1049338"/>
                  <a:gd name="connsiteX3" fmla="*/ 1131345 w 1257300"/>
                  <a:gd name="connsiteY3" fmla="*/ 956209 h 1049338"/>
                  <a:gd name="connsiteX4" fmla="*/ 1099386 w 1257300"/>
                  <a:gd name="connsiteY4" fmla="*/ 929754 h 1049338"/>
                  <a:gd name="connsiteX5" fmla="*/ 1083761 w 1257300"/>
                  <a:gd name="connsiteY5" fmla="*/ 931184 h 1049338"/>
                  <a:gd name="connsiteX6" fmla="*/ 1085182 w 1257300"/>
                  <a:gd name="connsiteY6" fmla="*/ 947629 h 1049338"/>
                  <a:gd name="connsiteX7" fmla="*/ 1124953 w 1257300"/>
                  <a:gd name="connsiteY7" fmla="*/ 979803 h 1049338"/>
                  <a:gd name="connsiteX8" fmla="*/ 1132055 w 1257300"/>
                  <a:gd name="connsiteY8" fmla="*/ 982663 h 1049338"/>
                  <a:gd name="connsiteX9" fmla="*/ 1139157 w 1257300"/>
                  <a:gd name="connsiteY9" fmla="*/ 979088 h 1049338"/>
                  <a:gd name="connsiteX10" fmla="*/ 1210177 w 1257300"/>
                  <a:gd name="connsiteY10" fmla="*/ 909735 h 1049338"/>
                  <a:gd name="connsiteX11" fmla="*/ 1212308 w 1257300"/>
                  <a:gd name="connsiteY11" fmla="*/ 896150 h 1049338"/>
                  <a:gd name="connsiteX12" fmla="*/ 1210177 w 1257300"/>
                  <a:gd name="connsiteY12" fmla="*/ 894005 h 1049338"/>
                  <a:gd name="connsiteX13" fmla="*/ 1202365 w 1257300"/>
                  <a:gd name="connsiteY13" fmla="*/ 890162 h 1049338"/>
                  <a:gd name="connsiteX14" fmla="*/ 111919 w 1257300"/>
                  <a:gd name="connsiteY14" fmla="*/ 877406 h 1049338"/>
                  <a:gd name="connsiteX15" fmla="*/ 111210 w 1257300"/>
                  <a:gd name="connsiteY15" fmla="*/ 893816 h 1049338"/>
                  <a:gd name="connsiteX16" fmla="*/ 140963 w 1257300"/>
                  <a:gd name="connsiteY16" fmla="*/ 927350 h 1049338"/>
                  <a:gd name="connsiteX17" fmla="*/ 57372 w 1257300"/>
                  <a:gd name="connsiteY17" fmla="*/ 927350 h 1049338"/>
                  <a:gd name="connsiteX18" fmla="*/ 46037 w 1257300"/>
                  <a:gd name="connsiteY18" fmla="*/ 938766 h 1049338"/>
                  <a:gd name="connsiteX19" fmla="*/ 57372 w 1257300"/>
                  <a:gd name="connsiteY19" fmla="*/ 950181 h 1049338"/>
                  <a:gd name="connsiteX20" fmla="*/ 140255 w 1257300"/>
                  <a:gd name="connsiteY20" fmla="*/ 950181 h 1049338"/>
                  <a:gd name="connsiteX21" fmla="*/ 111210 w 1257300"/>
                  <a:gd name="connsiteY21" fmla="*/ 980861 h 1049338"/>
                  <a:gd name="connsiteX22" fmla="*/ 111919 w 1257300"/>
                  <a:gd name="connsiteY22" fmla="*/ 997271 h 1049338"/>
                  <a:gd name="connsiteX23" fmla="*/ 119711 w 1257300"/>
                  <a:gd name="connsiteY23" fmla="*/ 1000125 h 1049338"/>
                  <a:gd name="connsiteX24" fmla="*/ 128212 w 1257300"/>
                  <a:gd name="connsiteY24" fmla="*/ 996558 h 1049338"/>
                  <a:gd name="connsiteX25" fmla="*/ 174258 w 1257300"/>
                  <a:gd name="connsiteY25" fmla="*/ 946614 h 1049338"/>
                  <a:gd name="connsiteX26" fmla="*/ 174967 w 1257300"/>
                  <a:gd name="connsiteY26" fmla="*/ 946614 h 1049338"/>
                  <a:gd name="connsiteX27" fmla="*/ 175675 w 1257300"/>
                  <a:gd name="connsiteY27" fmla="*/ 945187 h 1049338"/>
                  <a:gd name="connsiteX28" fmla="*/ 176383 w 1257300"/>
                  <a:gd name="connsiteY28" fmla="*/ 944473 h 1049338"/>
                  <a:gd name="connsiteX29" fmla="*/ 176383 w 1257300"/>
                  <a:gd name="connsiteY29" fmla="*/ 943760 h 1049338"/>
                  <a:gd name="connsiteX30" fmla="*/ 177092 w 1257300"/>
                  <a:gd name="connsiteY30" fmla="*/ 943046 h 1049338"/>
                  <a:gd name="connsiteX31" fmla="*/ 177092 w 1257300"/>
                  <a:gd name="connsiteY31" fmla="*/ 942333 h 1049338"/>
                  <a:gd name="connsiteX32" fmla="*/ 177092 w 1257300"/>
                  <a:gd name="connsiteY32" fmla="*/ 940906 h 1049338"/>
                  <a:gd name="connsiteX33" fmla="*/ 177800 w 1257300"/>
                  <a:gd name="connsiteY33" fmla="*/ 940906 h 1049338"/>
                  <a:gd name="connsiteX34" fmla="*/ 177800 w 1257300"/>
                  <a:gd name="connsiteY34" fmla="*/ 938766 h 1049338"/>
                  <a:gd name="connsiteX35" fmla="*/ 177800 w 1257300"/>
                  <a:gd name="connsiteY35" fmla="*/ 938052 h 1049338"/>
                  <a:gd name="connsiteX36" fmla="*/ 177800 w 1257300"/>
                  <a:gd name="connsiteY36" fmla="*/ 936625 h 1049338"/>
                  <a:gd name="connsiteX37" fmla="*/ 177092 w 1257300"/>
                  <a:gd name="connsiteY37" fmla="*/ 935912 h 1049338"/>
                  <a:gd name="connsiteX38" fmla="*/ 177092 w 1257300"/>
                  <a:gd name="connsiteY38" fmla="*/ 934485 h 1049338"/>
                  <a:gd name="connsiteX39" fmla="*/ 176383 w 1257300"/>
                  <a:gd name="connsiteY39" fmla="*/ 934485 h 1049338"/>
                  <a:gd name="connsiteX40" fmla="*/ 175675 w 1257300"/>
                  <a:gd name="connsiteY40" fmla="*/ 932344 h 1049338"/>
                  <a:gd name="connsiteX41" fmla="*/ 174967 w 1257300"/>
                  <a:gd name="connsiteY41" fmla="*/ 930917 h 1049338"/>
                  <a:gd name="connsiteX42" fmla="*/ 128212 w 1257300"/>
                  <a:gd name="connsiteY42" fmla="*/ 878120 h 1049338"/>
                  <a:gd name="connsiteX43" fmla="*/ 111919 w 1257300"/>
                  <a:gd name="connsiteY43" fmla="*/ 877406 h 1049338"/>
                  <a:gd name="connsiteX44" fmla="*/ 1146614 w 1257300"/>
                  <a:gd name="connsiteY44" fmla="*/ 825500 h 1049338"/>
                  <a:gd name="connsiteX45" fmla="*/ 1197700 w 1257300"/>
                  <a:gd name="connsiteY45" fmla="*/ 838363 h 1049338"/>
                  <a:gd name="connsiteX46" fmla="*/ 1224662 w 1257300"/>
                  <a:gd name="connsiteY46" fmla="*/ 857658 h 1049338"/>
                  <a:gd name="connsiteX47" fmla="*/ 1257300 w 1257300"/>
                  <a:gd name="connsiteY47" fmla="*/ 936982 h 1049338"/>
                  <a:gd name="connsiteX48" fmla="*/ 1146614 w 1257300"/>
                  <a:gd name="connsiteY48" fmla="*/ 1047750 h 1049338"/>
                  <a:gd name="connsiteX49" fmla="*/ 1036637 w 1257300"/>
                  <a:gd name="connsiteY49" fmla="*/ 936268 h 1049338"/>
                  <a:gd name="connsiteX50" fmla="*/ 1146614 w 1257300"/>
                  <a:gd name="connsiteY50" fmla="*/ 825500 h 1049338"/>
                  <a:gd name="connsiteX51" fmla="*/ 111919 w 1257300"/>
                  <a:gd name="connsiteY51" fmla="*/ 825500 h 1049338"/>
                  <a:gd name="connsiteX52" fmla="*/ 223838 w 1257300"/>
                  <a:gd name="connsiteY52" fmla="*/ 937777 h 1049338"/>
                  <a:gd name="connsiteX53" fmla="*/ 179358 w 1257300"/>
                  <a:gd name="connsiteY53" fmla="*/ 1026454 h 1049338"/>
                  <a:gd name="connsiteX54" fmla="*/ 151378 w 1257300"/>
                  <a:gd name="connsiteY54" fmla="*/ 1042187 h 1049338"/>
                  <a:gd name="connsiteX55" fmla="*/ 111919 w 1257300"/>
                  <a:gd name="connsiteY55" fmla="*/ 1049338 h 1049338"/>
                  <a:gd name="connsiteX56" fmla="*/ 0 w 1257300"/>
                  <a:gd name="connsiteY56" fmla="*/ 937062 h 1049338"/>
                  <a:gd name="connsiteX57" fmla="*/ 111919 w 1257300"/>
                  <a:gd name="connsiteY57" fmla="*/ 825500 h 1049338"/>
                  <a:gd name="connsiteX58" fmla="*/ 582076 w 1257300"/>
                  <a:gd name="connsiteY58" fmla="*/ 64618 h 1049338"/>
                  <a:gd name="connsiteX59" fmla="*/ 582076 w 1257300"/>
                  <a:gd name="connsiteY59" fmla="*/ 81074 h 1049338"/>
                  <a:gd name="connsiteX60" fmla="*/ 590528 w 1257300"/>
                  <a:gd name="connsiteY60" fmla="*/ 89660 h 1049338"/>
                  <a:gd name="connsiteX61" fmla="*/ 611657 w 1257300"/>
                  <a:gd name="connsiteY61" fmla="*/ 111841 h 1049338"/>
                  <a:gd name="connsiteX62" fmla="*/ 603206 w 1257300"/>
                  <a:gd name="connsiteY62" fmla="*/ 120427 h 1049338"/>
                  <a:gd name="connsiteX63" fmla="*/ 582076 w 1257300"/>
                  <a:gd name="connsiteY63" fmla="*/ 142607 h 1049338"/>
                  <a:gd name="connsiteX64" fmla="*/ 582076 w 1257300"/>
                  <a:gd name="connsiteY64" fmla="*/ 159063 h 1049338"/>
                  <a:gd name="connsiteX65" fmla="*/ 589824 w 1257300"/>
                  <a:gd name="connsiteY65" fmla="*/ 161925 h 1049338"/>
                  <a:gd name="connsiteX66" fmla="*/ 598275 w 1257300"/>
                  <a:gd name="connsiteY66" fmla="*/ 159063 h 1049338"/>
                  <a:gd name="connsiteX67" fmla="*/ 627857 w 1257300"/>
                  <a:gd name="connsiteY67" fmla="*/ 128297 h 1049338"/>
                  <a:gd name="connsiteX68" fmla="*/ 657438 w 1257300"/>
                  <a:gd name="connsiteY68" fmla="*/ 159063 h 1049338"/>
                  <a:gd name="connsiteX69" fmla="*/ 665890 w 1257300"/>
                  <a:gd name="connsiteY69" fmla="*/ 161925 h 1049338"/>
                  <a:gd name="connsiteX70" fmla="*/ 673637 w 1257300"/>
                  <a:gd name="connsiteY70" fmla="*/ 159063 h 1049338"/>
                  <a:gd name="connsiteX71" fmla="*/ 673637 w 1257300"/>
                  <a:gd name="connsiteY71" fmla="*/ 142607 h 1049338"/>
                  <a:gd name="connsiteX72" fmla="*/ 644056 w 1257300"/>
                  <a:gd name="connsiteY72" fmla="*/ 111841 h 1049338"/>
                  <a:gd name="connsiteX73" fmla="*/ 673637 w 1257300"/>
                  <a:gd name="connsiteY73" fmla="*/ 81074 h 1049338"/>
                  <a:gd name="connsiteX74" fmla="*/ 673637 w 1257300"/>
                  <a:gd name="connsiteY74" fmla="*/ 64618 h 1049338"/>
                  <a:gd name="connsiteX75" fmla="*/ 657438 w 1257300"/>
                  <a:gd name="connsiteY75" fmla="*/ 64618 h 1049338"/>
                  <a:gd name="connsiteX76" fmla="*/ 627857 w 1257300"/>
                  <a:gd name="connsiteY76" fmla="*/ 95384 h 1049338"/>
                  <a:gd name="connsiteX77" fmla="*/ 598275 w 1257300"/>
                  <a:gd name="connsiteY77" fmla="*/ 64618 h 1049338"/>
                  <a:gd name="connsiteX78" fmla="*/ 582076 w 1257300"/>
                  <a:gd name="connsiteY78" fmla="*/ 64618 h 1049338"/>
                  <a:gd name="connsiteX79" fmla="*/ 627856 w 1257300"/>
                  <a:gd name="connsiteY79" fmla="*/ 0 h 1049338"/>
                  <a:gd name="connsiteX80" fmla="*/ 739775 w 1257300"/>
                  <a:gd name="connsiteY80" fmla="*/ 111562 h 1049338"/>
                  <a:gd name="connsiteX81" fmla="*/ 627856 w 1257300"/>
                  <a:gd name="connsiteY81" fmla="*/ 223838 h 1049338"/>
                  <a:gd name="connsiteX82" fmla="*/ 518076 w 1257300"/>
                  <a:gd name="connsiteY82" fmla="*/ 133016 h 1049338"/>
                  <a:gd name="connsiteX83" fmla="*/ 515937 w 1257300"/>
                  <a:gd name="connsiteY83" fmla="*/ 110846 h 1049338"/>
                  <a:gd name="connsiteX84" fmla="*/ 516650 w 1257300"/>
                  <a:gd name="connsiteY84" fmla="*/ 100119 h 1049338"/>
                  <a:gd name="connsiteX85" fmla="*/ 627856 w 1257300"/>
                  <a:gd name="connsiteY85" fmla="*/ 0 h 1049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1257300" h="1049338">
                    <a:moveTo>
                      <a:pt x="1202365" y="890162"/>
                    </a:moveTo>
                    <a:cubicBezTo>
                      <a:pt x="1199524" y="890073"/>
                      <a:pt x="1196684" y="891145"/>
                      <a:pt x="1194553" y="893290"/>
                    </a:cubicBezTo>
                    <a:cubicBezTo>
                      <a:pt x="1194553" y="893290"/>
                      <a:pt x="1194553" y="893290"/>
                      <a:pt x="1188871" y="899010"/>
                    </a:cubicBezTo>
                    <a:cubicBezTo>
                      <a:pt x="1188871" y="899010"/>
                      <a:pt x="1188871" y="899010"/>
                      <a:pt x="1131345" y="956209"/>
                    </a:cubicBezTo>
                    <a:cubicBezTo>
                      <a:pt x="1131345" y="956209"/>
                      <a:pt x="1131345" y="956209"/>
                      <a:pt x="1099386" y="929754"/>
                    </a:cubicBezTo>
                    <a:cubicBezTo>
                      <a:pt x="1094414" y="925464"/>
                      <a:pt x="1087312" y="926179"/>
                      <a:pt x="1083761" y="931184"/>
                    </a:cubicBezTo>
                    <a:cubicBezTo>
                      <a:pt x="1079500" y="936189"/>
                      <a:pt x="1080210" y="943339"/>
                      <a:pt x="1085182" y="947629"/>
                    </a:cubicBezTo>
                    <a:cubicBezTo>
                      <a:pt x="1085182" y="947629"/>
                      <a:pt x="1085182" y="947629"/>
                      <a:pt x="1124953" y="979803"/>
                    </a:cubicBezTo>
                    <a:cubicBezTo>
                      <a:pt x="1127084" y="981233"/>
                      <a:pt x="1129214" y="982663"/>
                      <a:pt x="1132055" y="982663"/>
                    </a:cubicBezTo>
                    <a:cubicBezTo>
                      <a:pt x="1134186" y="982663"/>
                      <a:pt x="1137026" y="981233"/>
                      <a:pt x="1139157" y="979088"/>
                    </a:cubicBezTo>
                    <a:cubicBezTo>
                      <a:pt x="1139157" y="979088"/>
                      <a:pt x="1139157" y="979088"/>
                      <a:pt x="1210177" y="909735"/>
                    </a:cubicBezTo>
                    <a:cubicBezTo>
                      <a:pt x="1213728" y="906160"/>
                      <a:pt x="1214438" y="900440"/>
                      <a:pt x="1212308" y="896150"/>
                    </a:cubicBezTo>
                    <a:cubicBezTo>
                      <a:pt x="1211597" y="895435"/>
                      <a:pt x="1210887" y="894720"/>
                      <a:pt x="1210177" y="894005"/>
                    </a:cubicBezTo>
                    <a:cubicBezTo>
                      <a:pt x="1208047" y="891503"/>
                      <a:pt x="1205206" y="890251"/>
                      <a:pt x="1202365" y="890162"/>
                    </a:cubicBezTo>
                    <a:close/>
                    <a:moveTo>
                      <a:pt x="111919" y="877406"/>
                    </a:moveTo>
                    <a:cubicBezTo>
                      <a:pt x="107668" y="881687"/>
                      <a:pt x="106960" y="888822"/>
                      <a:pt x="111210" y="893816"/>
                    </a:cubicBezTo>
                    <a:cubicBezTo>
                      <a:pt x="111210" y="893816"/>
                      <a:pt x="111210" y="893816"/>
                      <a:pt x="140963" y="927350"/>
                    </a:cubicBezTo>
                    <a:cubicBezTo>
                      <a:pt x="140963" y="927350"/>
                      <a:pt x="140963" y="927350"/>
                      <a:pt x="57372" y="927350"/>
                    </a:cubicBezTo>
                    <a:cubicBezTo>
                      <a:pt x="50996" y="927350"/>
                      <a:pt x="46037" y="932344"/>
                      <a:pt x="46037" y="938766"/>
                    </a:cubicBezTo>
                    <a:cubicBezTo>
                      <a:pt x="46037" y="945187"/>
                      <a:pt x="50996" y="950181"/>
                      <a:pt x="57372" y="950181"/>
                    </a:cubicBezTo>
                    <a:cubicBezTo>
                      <a:pt x="57372" y="950181"/>
                      <a:pt x="57372" y="950181"/>
                      <a:pt x="140255" y="950181"/>
                    </a:cubicBezTo>
                    <a:cubicBezTo>
                      <a:pt x="140255" y="950181"/>
                      <a:pt x="140255" y="950181"/>
                      <a:pt x="111210" y="980861"/>
                    </a:cubicBezTo>
                    <a:cubicBezTo>
                      <a:pt x="106960" y="985142"/>
                      <a:pt x="106960" y="992990"/>
                      <a:pt x="111919" y="997271"/>
                    </a:cubicBezTo>
                    <a:cubicBezTo>
                      <a:pt x="114044" y="999412"/>
                      <a:pt x="116878" y="1000125"/>
                      <a:pt x="119711" y="1000125"/>
                    </a:cubicBezTo>
                    <a:cubicBezTo>
                      <a:pt x="122545" y="1000125"/>
                      <a:pt x="125378" y="998698"/>
                      <a:pt x="128212" y="996558"/>
                    </a:cubicBezTo>
                    <a:cubicBezTo>
                      <a:pt x="128212" y="996558"/>
                      <a:pt x="128212" y="996558"/>
                      <a:pt x="174258" y="946614"/>
                    </a:cubicBezTo>
                    <a:cubicBezTo>
                      <a:pt x="174967" y="946614"/>
                      <a:pt x="174967" y="946614"/>
                      <a:pt x="174967" y="946614"/>
                    </a:cubicBezTo>
                    <a:cubicBezTo>
                      <a:pt x="174967" y="945900"/>
                      <a:pt x="175675" y="945900"/>
                      <a:pt x="175675" y="945187"/>
                    </a:cubicBezTo>
                    <a:cubicBezTo>
                      <a:pt x="175675" y="945187"/>
                      <a:pt x="175675" y="945187"/>
                      <a:pt x="176383" y="944473"/>
                    </a:cubicBezTo>
                    <a:cubicBezTo>
                      <a:pt x="176383" y="944473"/>
                      <a:pt x="176383" y="944473"/>
                      <a:pt x="176383" y="943760"/>
                    </a:cubicBezTo>
                    <a:cubicBezTo>
                      <a:pt x="177092" y="943760"/>
                      <a:pt x="177092" y="943046"/>
                      <a:pt x="177092" y="943046"/>
                    </a:cubicBezTo>
                    <a:cubicBezTo>
                      <a:pt x="177092" y="943046"/>
                      <a:pt x="177092" y="943046"/>
                      <a:pt x="177092" y="942333"/>
                    </a:cubicBezTo>
                    <a:cubicBezTo>
                      <a:pt x="177092" y="942333"/>
                      <a:pt x="177092" y="941620"/>
                      <a:pt x="177092" y="940906"/>
                    </a:cubicBezTo>
                    <a:cubicBezTo>
                      <a:pt x="177800" y="940906"/>
                      <a:pt x="177800" y="940906"/>
                      <a:pt x="177800" y="940906"/>
                    </a:cubicBezTo>
                    <a:cubicBezTo>
                      <a:pt x="177800" y="940193"/>
                      <a:pt x="177800" y="939479"/>
                      <a:pt x="177800" y="938766"/>
                    </a:cubicBezTo>
                    <a:cubicBezTo>
                      <a:pt x="177800" y="938766"/>
                      <a:pt x="177800" y="938766"/>
                      <a:pt x="177800" y="938052"/>
                    </a:cubicBezTo>
                    <a:cubicBezTo>
                      <a:pt x="177800" y="938052"/>
                      <a:pt x="177800" y="937339"/>
                      <a:pt x="177800" y="936625"/>
                    </a:cubicBezTo>
                    <a:cubicBezTo>
                      <a:pt x="177092" y="936625"/>
                      <a:pt x="177092" y="936625"/>
                      <a:pt x="177092" y="935912"/>
                    </a:cubicBezTo>
                    <a:cubicBezTo>
                      <a:pt x="177092" y="935912"/>
                      <a:pt x="177092" y="935198"/>
                      <a:pt x="177092" y="934485"/>
                    </a:cubicBezTo>
                    <a:cubicBezTo>
                      <a:pt x="177092" y="934485"/>
                      <a:pt x="177092" y="934485"/>
                      <a:pt x="176383" y="934485"/>
                    </a:cubicBezTo>
                    <a:cubicBezTo>
                      <a:pt x="176383" y="933771"/>
                      <a:pt x="176383" y="933058"/>
                      <a:pt x="175675" y="932344"/>
                    </a:cubicBezTo>
                    <a:cubicBezTo>
                      <a:pt x="174967" y="931631"/>
                      <a:pt x="174967" y="931631"/>
                      <a:pt x="174967" y="930917"/>
                    </a:cubicBezTo>
                    <a:cubicBezTo>
                      <a:pt x="174967" y="930917"/>
                      <a:pt x="174967" y="930917"/>
                      <a:pt x="128212" y="878120"/>
                    </a:cubicBezTo>
                    <a:cubicBezTo>
                      <a:pt x="123962" y="873839"/>
                      <a:pt x="116878" y="873125"/>
                      <a:pt x="111919" y="877406"/>
                    </a:cubicBezTo>
                    <a:close/>
                    <a:moveTo>
                      <a:pt x="1146614" y="825500"/>
                    </a:moveTo>
                    <a:cubicBezTo>
                      <a:pt x="1165062" y="825500"/>
                      <a:pt x="1182800" y="829788"/>
                      <a:pt x="1197700" y="838363"/>
                    </a:cubicBezTo>
                    <a:cubicBezTo>
                      <a:pt x="1207633" y="843366"/>
                      <a:pt x="1216857" y="849798"/>
                      <a:pt x="1224662" y="857658"/>
                    </a:cubicBezTo>
                    <a:cubicBezTo>
                      <a:pt x="1245238" y="878383"/>
                      <a:pt x="1257300" y="906253"/>
                      <a:pt x="1257300" y="936982"/>
                    </a:cubicBezTo>
                    <a:cubicBezTo>
                      <a:pt x="1257300" y="997726"/>
                      <a:pt x="1207633" y="1047750"/>
                      <a:pt x="1146614" y="1047750"/>
                    </a:cubicBezTo>
                    <a:cubicBezTo>
                      <a:pt x="1086304" y="1047750"/>
                      <a:pt x="1036637" y="997726"/>
                      <a:pt x="1036637" y="936268"/>
                    </a:cubicBezTo>
                    <a:cubicBezTo>
                      <a:pt x="1036637" y="874810"/>
                      <a:pt x="1086304" y="825500"/>
                      <a:pt x="1146614" y="825500"/>
                    </a:cubicBezTo>
                    <a:close/>
                    <a:moveTo>
                      <a:pt x="111919" y="825500"/>
                    </a:moveTo>
                    <a:cubicBezTo>
                      <a:pt x="173618" y="825500"/>
                      <a:pt x="223838" y="875560"/>
                      <a:pt x="223838" y="937777"/>
                    </a:cubicBezTo>
                    <a:cubicBezTo>
                      <a:pt x="223838" y="974249"/>
                      <a:pt x="205903" y="1006430"/>
                      <a:pt x="179358" y="1026454"/>
                    </a:cubicBezTo>
                    <a:cubicBezTo>
                      <a:pt x="170748" y="1032890"/>
                      <a:pt x="161422" y="1037896"/>
                      <a:pt x="151378" y="1042187"/>
                    </a:cubicBezTo>
                    <a:cubicBezTo>
                      <a:pt x="139182" y="1046478"/>
                      <a:pt x="125550" y="1049338"/>
                      <a:pt x="111919" y="1049338"/>
                    </a:cubicBezTo>
                    <a:cubicBezTo>
                      <a:pt x="50220" y="1049338"/>
                      <a:pt x="0" y="999279"/>
                      <a:pt x="0" y="937062"/>
                    </a:cubicBezTo>
                    <a:cubicBezTo>
                      <a:pt x="0" y="874845"/>
                      <a:pt x="50220" y="825500"/>
                      <a:pt x="111919" y="825500"/>
                    </a:cubicBezTo>
                    <a:close/>
                    <a:moveTo>
                      <a:pt x="582076" y="64618"/>
                    </a:moveTo>
                    <a:cubicBezTo>
                      <a:pt x="577850" y="69627"/>
                      <a:pt x="577850" y="76781"/>
                      <a:pt x="582076" y="81074"/>
                    </a:cubicBezTo>
                    <a:cubicBezTo>
                      <a:pt x="582076" y="81074"/>
                      <a:pt x="582076" y="81074"/>
                      <a:pt x="590528" y="89660"/>
                    </a:cubicBezTo>
                    <a:cubicBezTo>
                      <a:pt x="590528" y="89660"/>
                      <a:pt x="590528" y="89660"/>
                      <a:pt x="611657" y="111841"/>
                    </a:cubicBezTo>
                    <a:cubicBezTo>
                      <a:pt x="611657" y="111841"/>
                      <a:pt x="611657" y="111841"/>
                      <a:pt x="603206" y="120427"/>
                    </a:cubicBezTo>
                    <a:cubicBezTo>
                      <a:pt x="603206" y="120427"/>
                      <a:pt x="603206" y="120427"/>
                      <a:pt x="582076" y="142607"/>
                    </a:cubicBezTo>
                    <a:cubicBezTo>
                      <a:pt x="577850" y="146900"/>
                      <a:pt x="577850" y="154055"/>
                      <a:pt x="582076" y="159063"/>
                    </a:cubicBezTo>
                    <a:cubicBezTo>
                      <a:pt x="584189" y="161210"/>
                      <a:pt x="587006" y="161925"/>
                      <a:pt x="589824" y="161925"/>
                    </a:cubicBezTo>
                    <a:cubicBezTo>
                      <a:pt x="592641" y="161925"/>
                      <a:pt x="595458" y="161210"/>
                      <a:pt x="598275" y="159063"/>
                    </a:cubicBezTo>
                    <a:cubicBezTo>
                      <a:pt x="598275" y="159063"/>
                      <a:pt x="598275" y="159063"/>
                      <a:pt x="627857" y="128297"/>
                    </a:cubicBezTo>
                    <a:cubicBezTo>
                      <a:pt x="627857" y="128297"/>
                      <a:pt x="627857" y="128297"/>
                      <a:pt x="657438" y="159063"/>
                    </a:cubicBezTo>
                    <a:cubicBezTo>
                      <a:pt x="660255" y="161210"/>
                      <a:pt x="663073" y="161925"/>
                      <a:pt x="665890" y="161925"/>
                    </a:cubicBezTo>
                    <a:cubicBezTo>
                      <a:pt x="668707" y="161925"/>
                      <a:pt x="671524" y="161210"/>
                      <a:pt x="673637" y="159063"/>
                    </a:cubicBezTo>
                    <a:cubicBezTo>
                      <a:pt x="677863" y="154055"/>
                      <a:pt x="677863" y="146900"/>
                      <a:pt x="673637" y="142607"/>
                    </a:cubicBezTo>
                    <a:cubicBezTo>
                      <a:pt x="673637" y="142607"/>
                      <a:pt x="673637" y="142607"/>
                      <a:pt x="644056" y="111841"/>
                    </a:cubicBezTo>
                    <a:cubicBezTo>
                      <a:pt x="644056" y="111841"/>
                      <a:pt x="644056" y="111841"/>
                      <a:pt x="673637" y="81074"/>
                    </a:cubicBezTo>
                    <a:cubicBezTo>
                      <a:pt x="677863" y="76781"/>
                      <a:pt x="677863" y="69627"/>
                      <a:pt x="673637" y="64618"/>
                    </a:cubicBezTo>
                    <a:cubicBezTo>
                      <a:pt x="669411" y="60325"/>
                      <a:pt x="662368" y="60325"/>
                      <a:pt x="657438" y="64618"/>
                    </a:cubicBezTo>
                    <a:cubicBezTo>
                      <a:pt x="657438" y="64618"/>
                      <a:pt x="657438" y="64618"/>
                      <a:pt x="627857" y="95384"/>
                    </a:cubicBezTo>
                    <a:cubicBezTo>
                      <a:pt x="627857" y="95384"/>
                      <a:pt x="627857" y="95384"/>
                      <a:pt x="598275" y="64618"/>
                    </a:cubicBezTo>
                    <a:cubicBezTo>
                      <a:pt x="593345" y="60325"/>
                      <a:pt x="586302" y="60325"/>
                      <a:pt x="582076" y="64618"/>
                    </a:cubicBezTo>
                    <a:close/>
                    <a:moveTo>
                      <a:pt x="627856" y="0"/>
                    </a:moveTo>
                    <a:cubicBezTo>
                      <a:pt x="689875" y="0"/>
                      <a:pt x="739775" y="50060"/>
                      <a:pt x="739775" y="111562"/>
                    </a:cubicBezTo>
                    <a:cubicBezTo>
                      <a:pt x="739775" y="173779"/>
                      <a:pt x="689875" y="223838"/>
                      <a:pt x="627856" y="223838"/>
                    </a:cubicBezTo>
                    <a:cubicBezTo>
                      <a:pt x="573679" y="223123"/>
                      <a:pt x="527343" y="184506"/>
                      <a:pt x="518076" y="133016"/>
                    </a:cubicBezTo>
                    <a:cubicBezTo>
                      <a:pt x="516650" y="125149"/>
                      <a:pt x="515937" y="117998"/>
                      <a:pt x="515937" y="110846"/>
                    </a:cubicBezTo>
                    <a:cubicBezTo>
                      <a:pt x="515937" y="107271"/>
                      <a:pt x="515937" y="103695"/>
                      <a:pt x="516650" y="100119"/>
                    </a:cubicBezTo>
                    <a:cubicBezTo>
                      <a:pt x="521640" y="43624"/>
                      <a:pt x="570115" y="0"/>
                      <a:pt x="627856"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grpSp>
      </p:grpSp>
      <p:grpSp>
        <p:nvGrpSpPr>
          <p:cNvPr id="59" name="Group 58"/>
          <p:cNvGrpSpPr>
            <a:grpSpLocks noChangeAspect="1"/>
          </p:cNvGrpSpPr>
          <p:nvPr/>
        </p:nvGrpSpPr>
        <p:grpSpPr>
          <a:xfrm>
            <a:off x="7253972" y="3069748"/>
            <a:ext cx="610271" cy="609682"/>
            <a:chOff x="5272881" y="2606675"/>
            <a:chExt cx="1646238" cy="1644650"/>
          </a:xfrm>
        </p:grpSpPr>
        <p:sp>
          <p:nvSpPr>
            <p:cNvPr id="60" name="AutoShape 3"/>
            <p:cNvSpPr>
              <a:spLocks noChangeAspect="1" noChangeArrowheads="1" noTextEdit="1"/>
            </p:cNvSpPr>
            <p:nvPr/>
          </p:nvSpPr>
          <p:spPr bwMode="auto">
            <a:xfrm>
              <a:off x="5272881" y="2606675"/>
              <a:ext cx="1646238"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grpSp>
          <p:nvGrpSpPr>
            <p:cNvPr id="61" name="Group 60"/>
            <p:cNvGrpSpPr/>
            <p:nvPr/>
          </p:nvGrpSpPr>
          <p:grpSpPr>
            <a:xfrm>
              <a:off x="5444331" y="2962275"/>
              <a:ext cx="1304925" cy="933450"/>
              <a:chOff x="5444331" y="2962275"/>
              <a:chExt cx="1304925" cy="933450"/>
            </a:xfrm>
          </p:grpSpPr>
          <p:sp>
            <p:nvSpPr>
              <p:cNvPr id="62" name="Freeform 61"/>
              <p:cNvSpPr>
                <a:spLocks/>
              </p:cNvSpPr>
              <p:nvPr/>
            </p:nvSpPr>
            <p:spPr bwMode="auto">
              <a:xfrm>
                <a:off x="5444331" y="2962275"/>
                <a:ext cx="1304925" cy="933450"/>
              </a:xfrm>
              <a:custGeom>
                <a:avLst/>
                <a:gdLst>
                  <a:gd name="connsiteX0" fmla="*/ 759409 w 1304925"/>
                  <a:gd name="connsiteY0" fmla="*/ 665163 h 933450"/>
                  <a:gd name="connsiteX1" fmla="*/ 837407 w 1304925"/>
                  <a:gd name="connsiteY1" fmla="*/ 683707 h 933450"/>
                  <a:gd name="connsiteX2" fmla="*/ 916120 w 1304925"/>
                  <a:gd name="connsiteY2" fmla="*/ 665163 h 933450"/>
                  <a:gd name="connsiteX3" fmla="*/ 931863 w 1304925"/>
                  <a:gd name="connsiteY3" fmla="*/ 692266 h 933450"/>
                  <a:gd name="connsiteX4" fmla="*/ 837407 w 1304925"/>
                  <a:gd name="connsiteY4" fmla="*/ 714376 h 933450"/>
                  <a:gd name="connsiteX5" fmla="*/ 742950 w 1304925"/>
                  <a:gd name="connsiteY5" fmla="*/ 692266 h 933450"/>
                  <a:gd name="connsiteX6" fmla="*/ 759409 w 1304925"/>
                  <a:gd name="connsiteY6" fmla="*/ 665163 h 933450"/>
                  <a:gd name="connsiteX7" fmla="*/ 963463 w 1304925"/>
                  <a:gd name="connsiteY7" fmla="*/ 601663 h 933450"/>
                  <a:gd name="connsiteX8" fmla="*/ 1082827 w 1304925"/>
                  <a:gd name="connsiteY8" fmla="*/ 601663 h 933450"/>
                  <a:gd name="connsiteX9" fmla="*/ 1098551 w 1304925"/>
                  <a:gd name="connsiteY9" fmla="*/ 616745 h 933450"/>
                  <a:gd name="connsiteX10" fmla="*/ 1082827 w 1304925"/>
                  <a:gd name="connsiteY10" fmla="*/ 631826 h 933450"/>
                  <a:gd name="connsiteX11" fmla="*/ 963463 w 1304925"/>
                  <a:gd name="connsiteY11" fmla="*/ 631826 h 933450"/>
                  <a:gd name="connsiteX12" fmla="*/ 947738 w 1304925"/>
                  <a:gd name="connsiteY12" fmla="*/ 616745 h 933450"/>
                  <a:gd name="connsiteX13" fmla="*/ 963463 w 1304925"/>
                  <a:gd name="connsiteY13" fmla="*/ 601663 h 933450"/>
                  <a:gd name="connsiteX14" fmla="*/ 588813 w 1304925"/>
                  <a:gd name="connsiteY14" fmla="*/ 601663 h 933450"/>
                  <a:gd name="connsiteX15" fmla="*/ 708177 w 1304925"/>
                  <a:gd name="connsiteY15" fmla="*/ 601663 h 933450"/>
                  <a:gd name="connsiteX16" fmla="*/ 723901 w 1304925"/>
                  <a:gd name="connsiteY16" fmla="*/ 616745 h 933450"/>
                  <a:gd name="connsiteX17" fmla="*/ 708177 w 1304925"/>
                  <a:gd name="connsiteY17" fmla="*/ 631826 h 933450"/>
                  <a:gd name="connsiteX18" fmla="*/ 588813 w 1304925"/>
                  <a:gd name="connsiteY18" fmla="*/ 631826 h 933450"/>
                  <a:gd name="connsiteX19" fmla="*/ 573088 w 1304925"/>
                  <a:gd name="connsiteY19" fmla="*/ 616745 h 933450"/>
                  <a:gd name="connsiteX20" fmla="*/ 588813 w 1304925"/>
                  <a:gd name="connsiteY20" fmla="*/ 601663 h 933450"/>
                  <a:gd name="connsiteX21" fmla="*/ 954441 w 1304925"/>
                  <a:gd name="connsiteY21" fmla="*/ 328613 h 933450"/>
                  <a:gd name="connsiteX22" fmla="*/ 1046163 w 1304925"/>
                  <a:gd name="connsiteY22" fmla="*/ 499349 h 933450"/>
                  <a:gd name="connsiteX23" fmla="*/ 1046163 w 1304925"/>
                  <a:gd name="connsiteY23" fmla="*/ 500063 h 933450"/>
                  <a:gd name="connsiteX24" fmla="*/ 1023585 w 1304925"/>
                  <a:gd name="connsiteY24" fmla="*/ 497920 h 933450"/>
                  <a:gd name="connsiteX25" fmla="*/ 1015119 w 1304925"/>
                  <a:gd name="connsiteY25" fmla="*/ 497920 h 933450"/>
                  <a:gd name="connsiteX26" fmla="*/ 944563 w 1304925"/>
                  <a:gd name="connsiteY26" fmla="*/ 360046 h 933450"/>
                  <a:gd name="connsiteX27" fmla="*/ 954441 w 1304925"/>
                  <a:gd name="connsiteY27" fmla="*/ 328613 h 933450"/>
                  <a:gd name="connsiteX28" fmla="*/ 718547 w 1304925"/>
                  <a:gd name="connsiteY28" fmla="*/ 328613 h 933450"/>
                  <a:gd name="connsiteX29" fmla="*/ 728663 w 1304925"/>
                  <a:gd name="connsiteY29" fmla="*/ 360046 h 933450"/>
                  <a:gd name="connsiteX30" fmla="*/ 655682 w 1304925"/>
                  <a:gd name="connsiteY30" fmla="*/ 497920 h 933450"/>
                  <a:gd name="connsiteX31" fmla="*/ 647011 w 1304925"/>
                  <a:gd name="connsiteY31" fmla="*/ 497920 h 933450"/>
                  <a:gd name="connsiteX32" fmla="*/ 623888 w 1304925"/>
                  <a:gd name="connsiteY32" fmla="*/ 500063 h 933450"/>
                  <a:gd name="connsiteX33" fmla="*/ 623888 w 1304925"/>
                  <a:gd name="connsiteY33" fmla="*/ 499349 h 933450"/>
                  <a:gd name="connsiteX34" fmla="*/ 718547 w 1304925"/>
                  <a:gd name="connsiteY34" fmla="*/ 328613 h 933450"/>
                  <a:gd name="connsiteX35" fmla="*/ 776138 w 1304925"/>
                  <a:gd name="connsiteY35" fmla="*/ 292100 h 933450"/>
                  <a:gd name="connsiteX36" fmla="*/ 895502 w 1304925"/>
                  <a:gd name="connsiteY36" fmla="*/ 292100 h 933450"/>
                  <a:gd name="connsiteX37" fmla="*/ 911226 w 1304925"/>
                  <a:gd name="connsiteY37" fmla="*/ 307975 h 933450"/>
                  <a:gd name="connsiteX38" fmla="*/ 895502 w 1304925"/>
                  <a:gd name="connsiteY38" fmla="*/ 323850 h 933450"/>
                  <a:gd name="connsiteX39" fmla="*/ 776138 w 1304925"/>
                  <a:gd name="connsiteY39" fmla="*/ 323850 h 933450"/>
                  <a:gd name="connsiteX40" fmla="*/ 760413 w 1304925"/>
                  <a:gd name="connsiteY40" fmla="*/ 307975 h 933450"/>
                  <a:gd name="connsiteX41" fmla="*/ 776138 w 1304925"/>
                  <a:gd name="connsiteY41" fmla="*/ 292100 h 933450"/>
                  <a:gd name="connsiteX42" fmla="*/ 30163 w 1304925"/>
                  <a:gd name="connsiteY42" fmla="*/ 31750 h 933450"/>
                  <a:gd name="connsiteX43" fmla="*/ 30163 w 1304925"/>
                  <a:gd name="connsiteY43" fmla="*/ 901700 h 933450"/>
                  <a:gd name="connsiteX44" fmla="*/ 1274763 w 1304925"/>
                  <a:gd name="connsiteY44" fmla="*/ 901700 h 933450"/>
                  <a:gd name="connsiteX45" fmla="*/ 1274763 w 1304925"/>
                  <a:gd name="connsiteY45" fmla="*/ 31750 h 933450"/>
                  <a:gd name="connsiteX46" fmla="*/ 30163 w 1304925"/>
                  <a:gd name="connsiteY46" fmla="*/ 31750 h 933450"/>
                  <a:gd name="connsiteX47" fmla="*/ 15705 w 1304925"/>
                  <a:gd name="connsiteY47" fmla="*/ 0 h 933450"/>
                  <a:gd name="connsiteX48" fmla="*/ 1289220 w 1304925"/>
                  <a:gd name="connsiteY48" fmla="*/ 0 h 933450"/>
                  <a:gd name="connsiteX49" fmla="*/ 1304925 w 1304925"/>
                  <a:gd name="connsiteY49" fmla="*/ 15724 h 933450"/>
                  <a:gd name="connsiteX50" fmla="*/ 1304925 w 1304925"/>
                  <a:gd name="connsiteY50" fmla="*/ 917726 h 933450"/>
                  <a:gd name="connsiteX51" fmla="*/ 1289220 w 1304925"/>
                  <a:gd name="connsiteY51" fmla="*/ 933450 h 933450"/>
                  <a:gd name="connsiteX52" fmla="*/ 15705 w 1304925"/>
                  <a:gd name="connsiteY52" fmla="*/ 933450 h 933450"/>
                  <a:gd name="connsiteX53" fmla="*/ 0 w 1304925"/>
                  <a:gd name="connsiteY53" fmla="*/ 917726 h 933450"/>
                  <a:gd name="connsiteX54" fmla="*/ 0 w 1304925"/>
                  <a:gd name="connsiteY54" fmla="*/ 15724 h 933450"/>
                  <a:gd name="connsiteX55" fmla="*/ 15705 w 1304925"/>
                  <a:gd name="connsiteY55" fmla="*/ 0 h 933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304925" h="933450">
                    <a:moveTo>
                      <a:pt x="759409" y="665163"/>
                    </a:moveTo>
                    <a:cubicBezTo>
                      <a:pt x="782307" y="677288"/>
                      <a:pt x="808784" y="683707"/>
                      <a:pt x="837407" y="683707"/>
                    </a:cubicBezTo>
                    <a:cubicBezTo>
                      <a:pt x="865314" y="683707"/>
                      <a:pt x="891791" y="677288"/>
                      <a:pt x="916120" y="665163"/>
                    </a:cubicBezTo>
                    <a:cubicBezTo>
                      <a:pt x="919698" y="675148"/>
                      <a:pt x="925423" y="684420"/>
                      <a:pt x="931863" y="692266"/>
                    </a:cubicBezTo>
                    <a:cubicBezTo>
                      <a:pt x="903240" y="706531"/>
                      <a:pt x="871039" y="714376"/>
                      <a:pt x="837407" y="714376"/>
                    </a:cubicBezTo>
                    <a:cubicBezTo>
                      <a:pt x="803059" y="714376"/>
                      <a:pt x="770858" y="706531"/>
                      <a:pt x="742950" y="692266"/>
                    </a:cubicBezTo>
                    <a:cubicBezTo>
                      <a:pt x="749390" y="684420"/>
                      <a:pt x="755115" y="675148"/>
                      <a:pt x="759409" y="665163"/>
                    </a:cubicBezTo>
                    <a:close/>
                    <a:moveTo>
                      <a:pt x="963463" y="601663"/>
                    </a:moveTo>
                    <a:cubicBezTo>
                      <a:pt x="963463" y="601663"/>
                      <a:pt x="963463" y="601663"/>
                      <a:pt x="1082827" y="601663"/>
                    </a:cubicBezTo>
                    <a:cubicBezTo>
                      <a:pt x="1091404" y="601663"/>
                      <a:pt x="1098551" y="608127"/>
                      <a:pt x="1098551" y="616745"/>
                    </a:cubicBezTo>
                    <a:cubicBezTo>
                      <a:pt x="1098551" y="625363"/>
                      <a:pt x="1091404" y="631826"/>
                      <a:pt x="1082827" y="631826"/>
                    </a:cubicBezTo>
                    <a:cubicBezTo>
                      <a:pt x="1082827" y="631826"/>
                      <a:pt x="1082827" y="631826"/>
                      <a:pt x="963463" y="631826"/>
                    </a:cubicBezTo>
                    <a:cubicBezTo>
                      <a:pt x="954886" y="631826"/>
                      <a:pt x="947738" y="625363"/>
                      <a:pt x="947738" y="616745"/>
                    </a:cubicBezTo>
                    <a:cubicBezTo>
                      <a:pt x="947738" y="608127"/>
                      <a:pt x="954886" y="601663"/>
                      <a:pt x="963463" y="601663"/>
                    </a:cubicBezTo>
                    <a:close/>
                    <a:moveTo>
                      <a:pt x="588813" y="601663"/>
                    </a:moveTo>
                    <a:cubicBezTo>
                      <a:pt x="588813" y="601663"/>
                      <a:pt x="588813" y="601663"/>
                      <a:pt x="708177" y="601663"/>
                    </a:cubicBezTo>
                    <a:cubicBezTo>
                      <a:pt x="716754" y="601663"/>
                      <a:pt x="723901" y="608127"/>
                      <a:pt x="723901" y="616745"/>
                    </a:cubicBezTo>
                    <a:cubicBezTo>
                      <a:pt x="723901" y="625363"/>
                      <a:pt x="716754" y="631826"/>
                      <a:pt x="708177" y="631826"/>
                    </a:cubicBezTo>
                    <a:cubicBezTo>
                      <a:pt x="708177" y="631826"/>
                      <a:pt x="708177" y="631826"/>
                      <a:pt x="588813" y="631826"/>
                    </a:cubicBezTo>
                    <a:cubicBezTo>
                      <a:pt x="579521" y="631826"/>
                      <a:pt x="573088" y="625363"/>
                      <a:pt x="573088" y="616745"/>
                    </a:cubicBezTo>
                    <a:cubicBezTo>
                      <a:pt x="573088" y="608127"/>
                      <a:pt x="579521" y="601663"/>
                      <a:pt x="588813" y="601663"/>
                    </a:cubicBezTo>
                    <a:close/>
                    <a:moveTo>
                      <a:pt x="954441" y="328613"/>
                    </a:moveTo>
                    <a:cubicBezTo>
                      <a:pt x="1008769" y="365761"/>
                      <a:pt x="1044752" y="427911"/>
                      <a:pt x="1046163" y="499349"/>
                    </a:cubicBezTo>
                    <a:cubicBezTo>
                      <a:pt x="1046163" y="499349"/>
                      <a:pt x="1046163" y="499349"/>
                      <a:pt x="1046163" y="500063"/>
                    </a:cubicBezTo>
                    <a:cubicBezTo>
                      <a:pt x="1039108" y="498634"/>
                      <a:pt x="1031347" y="497920"/>
                      <a:pt x="1023585" y="497920"/>
                    </a:cubicBezTo>
                    <a:cubicBezTo>
                      <a:pt x="1020763" y="497920"/>
                      <a:pt x="1017941" y="497920"/>
                      <a:pt x="1015119" y="497920"/>
                    </a:cubicBezTo>
                    <a:cubicBezTo>
                      <a:pt x="1013708" y="441484"/>
                      <a:pt x="986191" y="392193"/>
                      <a:pt x="944563" y="360046"/>
                    </a:cubicBezTo>
                    <a:cubicBezTo>
                      <a:pt x="948797" y="350044"/>
                      <a:pt x="952324" y="340043"/>
                      <a:pt x="954441" y="328613"/>
                    </a:cubicBezTo>
                    <a:close/>
                    <a:moveTo>
                      <a:pt x="718547" y="328613"/>
                    </a:moveTo>
                    <a:cubicBezTo>
                      <a:pt x="720715" y="340043"/>
                      <a:pt x="724328" y="350044"/>
                      <a:pt x="728663" y="360046"/>
                    </a:cubicBezTo>
                    <a:cubicBezTo>
                      <a:pt x="685308" y="392193"/>
                      <a:pt x="657850" y="441484"/>
                      <a:pt x="655682" y="497920"/>
                    </a:cubicBezTo>
                    <a:cubicBezTo>
                      <a:pt x="652792" y="497920"/>
                      <a:pt x="649901" y="497920"/>
                      <a:pt x="647011" y="497920"/>
                    </a:cubicBezTo>
                    <a:cubicBezTo>
                      <a:pt x="639063" y="497920"/>
                      <a:pt x="631837" y="498634"/>
                      <a:pt x="623888" y="500063"/>
                    </a:cubicBezTo>
                    <a:cubicBezTo>
                      <a:pt x="623888" y="500063"/>
                      <a:pt x="623888" y="500063"/>
                      <a:pt x="623888" y="499349"/>
                    </a:cubicBezTo>
                    <a:cubicBezTo>
                      <a:pt x="625333" y="427911"/>
                      <a:pt x="662185" y="365761"/>
                      <a:pt x="718547" y="328613"/>
                    </a:cubicBezTo>
                    <a:close/>
                    <a:moveTo>
                      <a:pt x="776138" y="292100"/>
                    </a:moveTo>
                    <a:cubicBezTo>
                      <a:pt x="776138" y="292100"/>
                      <a:pt x="776138" y="292100"/>
                      <a:pt x="895502" y="292100"/>
                    </a:cubicBezTo>
                    <a:cubicBezTo>
                      <a:pt x="904079" y="292100"/>
                      <a:pt x="911226" y="298594"/>
                      <a:pt x="911226" y="307975"/>
                    </a:cubicBezTo>
                    <a:cubicBezTo>
                      <a:pt x="911226" y="316634"/>
                      <a:pt x="904079" y="323850"/>
                      <a:pt x="895502" y="323850"/>
                    </a:cubicBezTo>
                    <a:cubicBezTo>
                      <a:pt x="895502" y="323850"/>
                      <a:pt x="895502" y="323850"/>
                      <a:pt x="776138" y="323850"/>
                    </a:cubicBezTo>
                    <a:cubicBezTo>
                      <a:pt x="767561" y="323850"/>
                      <a:pt x="760413" y="316634"/>
                      <a:pt x="760413" y="307975"/>
                    </a:cubicBezTo>
                    <a:cubicBezTo>
                      <a:pt x="760413" y="298594"/>
                      <a:pt x="767561" y="292100"/>
                      <a:pt x="776138" y="292100"/>
                    </a:cubicBezTo>
                    <a:close/>
                    <a:moveTo>
                      <a:pt x="30163" y="31750"/>
                    </a:moveTo>
                    <a:cubicBezTo>
                      <a:pt x="30163" y="31750"/>
                      <a:pt x="30163" y="31750"/>
                      <a:pt x="30163" y="901700"/>
                    </a:cubicBezTo>
                    <a:cubicBezTo>
                      <a:pt x="30163" y="901700"/>
                      <a:pt x="30163" y="901700"/>
                      <a:pt x="1274763" y="901700"/>
                    </a:cubicBezTo>
                    <a:cubicBezTo>
                      <a:pt x="1274763" y="901700"/>
                      <a:pt x="1274763" y="901700"/>
                      <a:pt x="1274763" y="31750"/>
                    </a:cubicBezTo>
                    <a:cubicBezTo>
                      <a:pt x="1274763" y="31750"/>
                      <a:pt x="1274763" y="31750"/>
                      <a:pt x="30163" y="31750"/>
                    </a:cubicBezTo>
                    <a:close/>
                    <a:moveTo>
                      <a:pt x="15705" y="0"/>
                    </a:moveTo>
                    <a:cubicBezTo>
                      <a:pt x="15705" y="0"/>
                      <a:pt x="15705" y="0"/>
                      <a:pt x="1289220" y="0"/>
                    </a:cubicBezTo>
                    <a:cubicBezTo>
                      <a:pt x="1297787" y="0"/>
                      <a:pt x="1304925" y="6433"/>
                      <a:pt x="1304925" y="15724"/>
                    </a:cubicBezTo>
                    <a:cubicBezTo>
                      <a:pt x="1304925" y="15724"/>
                      <a:pt x="1304925" y="15724"/>
                      <a:pt x="1304925" y="917726"/>
                    </a:cubicBezTo>
                    <a:cubicBezTo>
                      <a:pt x="1304925" y="927017"/>
                      <a:pt x="1297787" y="933450"/>
                      <a:pt x="1289220" y="933450"/>
                    </a:cubicBezTo>
                    <a:cubicBezTo>
                      <a:pt x="1289220" y="933450"/>
                      <a:pt x="1289220" y="933450"/>
                      <a:pt x="15705" y="933450"/>
                    </a:cubicBezTo>
                    <a:cubicBezTo>
                      <a:pt x="7139" y="933450"/>
                      <a:pt x="0" y="927017"/>
                      <a:pt x="0" y="917726"/>
                    </a:cubicBezTo>
                    <a:cubicBezTo>
                      <a:pt x="0" y="917726"/>
                      <a:pt x="0" y="917726"/>
                      <a:pt x="0" y="15724"/>
                    </a:cubicBezTo>
                    <a:cubicBezTo>
                      <a:pt x="0" y="6433"/>
                      <a:pt x="7139" y="0"/>
                      <a:pt x="15705"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73" name="Freeform 72"/>
              <p:cNvSpPr>
                <a:spLocks noChangeArrowheads="1"/>
              </p:cNvSpPr>
              <p:nvPr/>
            </p:nvSpPr>
            <p:spPr bwMode="auto">
              <a:xfrm>
                <a:off x="5506244" y="3025775"/>
                <a:ext cx="1181100" cy="806450"/>
              </a:xfrm>
              <a:custGeom>
                <a:avLst/>
                <a:gdLst>
                  <a:gd name="connsiteX0" fmla="*/ 115868 w 1181100"/>
                  <a:gd name="connsiteY0" fmla="*/ 358775 h 806450"/>
                  <a:gd name="connsiteX1" fmla="*/ 102360 w 1181100"/>
                  <a:gd name="connsiteY1" fmla="*/ 383309 h 806450"/>
                  <a:gd name="connsiteX2" fmla="*/ 115157 w 1181100"/>
                  <a:gd name="connsiteY2" fmla="*/ 390525 h 806450"/>
                  <a:gd name="connsiteX3" fmla="*/ 354744 w 1181100"/>
                  <a:gd name="connsiteY3" fmla="*/ 390525 h 806450"/>
                  <a:gd name="connsiteX4" fmla="*/ 368252 w 1181100"/>
                  <a:gd name="connsiteY4" fmla="*/ 365991 h 806450"/>
                  <a:gd name="connsiteX5" fmla="*/ 354744 w 1181100"/>
                  <a:gd name="connsiteY5" fmla="*/ 358775 h 806450"/>
                  <a:gd name="connsiteX6" fmla="*/ 115868 w 1181100"/>
                  <a:gd name="connsiteY6" fmla="*/ 358775 h 806450"/>
                  <a:gd name="connsiteX7" fmla="*/ 683386 w 1181100"/>
                  <a:gd name="connsiteY7" fmla="*/ 322263 h 806450"/>
                  <a:gd name="connsiteX8" fmla="*/ 773470 w 1181100"/>
                  <a:gd name="connsiteY8" fmla="*/ 363734 h 806450"/>
                  <a:gd name="connsiteX9" fmla="*/ 863554 w 1181100"/>
                  <a:gd name="connsiteY9" fmla="*/ 322263 h 806450"/>
                  <a:gd name="connsiteX10" fmla="*/ 920750 w 1181100"/>
                  <a:gd name="connsiteY10" fmla="*/ 435235 h 806450"/>
                  <a:gd name="connsiteX11" fmla="*/ 920750 w 1181100"/>
                  <a:gd name="connsiteY11" fmla="*/ 440955 h 806450"/>
                  <a:gd name="connsiteX12" fmla="*/ 842106 w 1181100"/>
                  <a:gd name="connsiteY12" fmla="*/ 553212 h 806450"/>
                  <a:gd name="connsiteX13" fmla="*/ 843535 w 1181100"/>
                  <a:gd name="connsiteY13" fmla="*/ 571088 h 806450"/>
                  <a:gd name="connsiteX14" fmla="*/ 837816 w 1181100"/>
                  <a:gd name="connsiteY14" fmla="*/ 573948 h 806450"/>
                  <a:gd name="connsiteX15" fmla="*/ 773470 w 1181100"/>
                  <a:gd name="connsiteY15" fmla="*/ 588963 h 806450"/>
                  <a:gd name="connsiteX16" fmla="*/ 709840 w 1181100"/>
                  <a:gd name="connsiteY16" fmla="*/ 573948 h 806450"/>
                  <a:gd name="connsiteX17" fmla="*/ 704120 w 1181100"/>
                  <a:gd name="connsiteY17" fmla="*/ 571088 h 806450"/>
                  <a:gd name="connsiteX18" fmla="*/ 705550 w 1181100"/>
                  <a:gd name="connsiteY18" fmla="*/ 553212 h 806450"/>
                  <a:gd name="connsiteX19" fmla="*/ 625475 w 1181100"/>
                  <a:gd name="connsiteY19" fmla="*/ 440955 h 806450"/>
                  <a:gd name="connsiteX20" fmla="*/ 625475 w 1181100"/>
                  <a:gd name="connsiteY20" fmla="*/ 435950 h 806450"/>
                  <a:gd name="connsiteX21" fmla="*/ 683386 w 1181100"/>
                  <a:gd name="connsiteY21" fmla="*/ 322263 h 806450"/>
                  <a:gd name="connsiteX22" fmla="*/ 117181 w 1181100"/>
                  <a:gd name="connsiteY22" fmla="*/ 247650 h 806450"/>
                  <a:gd name="connsiteX23" fmla="*/ 101443 w 1181100"/>
                  <a:gd name="connsiteY23" fmla="*/ 260978 h 806450"/>
                  <a:gd name="connsiteX24" fmla="*/ 117181 w 1181100"/>
                  <a:gd name="connsiteY24" fmla="*/ 277813 h 806450"/>
                  <a:gd name="connsiteX25" fmla="*/ 431937 w 1181100"/>
                  <a:gd name="connsiteY25" fmla="*/ 277813 h 806450"/>
                  <a:gd name="connsiteX26" fmla="*/ 447675 w 1181100"/>
                  <a:gd name="connsiteY26" fmla="*/ 263082 h 806450"/>
                  <a:gd name="connsiteX27" fmla="*/ 431937 w 1181100"/>
                  <a:gd name="connsiteY27" fmla="*/ 247650 h 806450"/>
                  <a:gd name="connsiteX28" fmla="*/ 117181 w 1181100"/>
                  <a:gd name="connsiteY28" fmla="*/ 247650 h 806450"/>
                  <a:gd name="connsiteX29" fmla="*/ 115981 w 1181100"/>
                  <a:gd name="connsiteY29" fmla="*/ 134938 h 806450"/>
                  <a:gd name="connsiteX30" fmla="*/ 102399 w 1181100"/>
                  <a:gd name="connsiteY30" fmla="*/ 158751 h 806450"/>
                  <a:gd name="connsiteX31" fmla="*/ 115266 w 1181100"/>
                  <a:gd name="connsiteY31" fmla="*/ 166688 h 806450"/>
                  <a:gd name="connsiteX32" fmla="*/ 431948 w 1181100"/>
                  <a:gd name="connsiteY32" fmla="*/ 166688 h 806450"/>
                  <a:gd name="connsiteX33" fmla="*/ 447675 w 1181100"/>
                  <a:gd name="connsiteY33" fmla="*/ 151535 h 806450"/>
                  <a:gd name="connsiteX34" fmla="*/ 431948 w 1181100"/>
                  <a:gd name="connsiteY34" fmla="*/ 134938 h 806450"/>
                  <a:gd name="connsiteX35" fmla="*/ 115981 w 1181100"/>
                  <a:gd name="connsiteY35" fmla="*/ 134938 h 806450"/>
                  <a:gd name="connsiteX36" fmla="*/ 774700 w 1181100"/>
                  <a:gd name="connsiteY36" fmla="*/ 123825 h 806450"/>
                  <a:gd name="connsiteX37" fmla="*/ 656083 w 1181100"/>
                  <a:gd name="connsiteY37" fmla="*/ 227439 h 806450"/>
                  <a:gd name="connsiteX38" fmla="*/ 638219 w 1181100"/>
                  <a:gd name="connsiteY38" fmla="*/ 238872 h 806450"/>
                  <a:gd name="connsiteX39" fmla="*/ 532465 w 1181100"/>
                  <a:gd name="connsiteY39" fmla="*/ 435381 h 806450"/>
                  <a:gd name="connsiteX40" fmla="*/ 532465 w 1181100"/>
                  <a:gd name="connsiteY40" fmla="*/ 446100 h 806450"/>
                  <a:gd name="connsiteX41" fmla="*/ 466725 w 1181100"/>
                  <a:gd name="connsiteY41" fmla="*/ 552572 h 806450"/>
                  <a:gd name="connsiteX42" fmla="*/ 586057 w 1181100"/>
                  <a:gd name="connsiteY42" fmla="*/ 673336 h 806450"/>
                  <a:gd name="connsiteX43" fmla="*/ 654654 w 1181100"/>
                  <a:gd name="connsiteY43" fmla="*/ 651184 h 806450"/>
                  <a:gd name="connsiteX44" fmla="*/ 665373 w 1181100"/>
                  <a:gd name="connsiteY44" fmla="*/ 656900 h 806450"/>
                  <a:gd name="connsiteX45" fmla="*/ 774700 w 1181100"/>
                  <a:gd name="connsiteY45" fmla="*/ 682625 h 806450"/>
                  <a:gd name="connsiteX46" fmla="*/ 883313 w 1181100"/>
                  <a:gd name="connsiteY46" fmla="*/ 656900 h 806450"/>
                  <a:gd name="connsiteX47" fmla="*/ 894032 w 1181100"/>
                  <a:gd name="connsiteY47" fmla="*/ 651184 h 806450"/>
                  <a:gd name="connsiteX48" fmla="*/ 962629 w 1181100"/>
                  <a:gd name="connsiteY48" fmla="*/ 673336 h 806450"/>
                  <a:gd name="connsiteX49" fmla="*/ 1082675 w 1181100"/>
                  <a:gd name="connsiteY49" fmla="*/ 552572 h 806450"/>
                  <a:gd name="connsiteX50" fmla="*/ 1016936 w 1181100"/>
                  <a:gd name="connsiteY50" fmla="*/ 446100 h 806450"/>
                  <a:gd name="connsiteX51" fmla="*/ 1016936 w 1181100"/>
                  <a:gd name="connsiteY51" fmla="*/ 435381 h 806450"/>
                  <a:gd name="connsiteX52" fmla="*/ 910466 w 1181100"/>
                  <a:gd name="connsiteY52" fmla="*/ 238872 h 806450"/>
                  <a:gd name="connsiteX53" fmla="*/ 892602 w 1181100"/>
                  <a:gd name="connsiteY53" fmla="*/ 227439 h 806450"/>
                  <a:gd name="connsiteX54" fmla="*/ 774700 w 1181100"/>
                  <a:gd name="connsiteY54" fmla="*/ 123825 h 806450"/>
                  <a:gd name="connsiteX55" fmla="*/ 0 w 1181100"/>
                  <a:gd name="connsiteY55" fmla="*/ 0 h 806450"/>
                  <a:gd name="connsiteX56" fmla="*/ 1181100 w 1181100"/>
                  <a:gd name="connsiteY56" fmla="*/ 0 h 806450"/>
                  <a:gd name="connsiteX57" fmla="*/ 1181100 w 1181100"/>
                  <a:gd name="connsiteY57" fmla="*/ 806450 h 806450"/>
                  <a:gd name="connsiteX58" fmla="*/ 0 w 1181100"/>
                  <a:gd name="connsiteY58" fmla="*/ 806450 h 80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181100" h="806450">
                    <a:moveTo>
                      <a:pt x="115868" y="358775"/>
                    </a:moveTo>
                    <a:cubicBezTo>
                      <a:pt x="104492" y="358775"/>
                      <a:pt x="95250" y="371042"/>
                      <a:pt x="102360" y="383309"/>
                    </a:cubicBezTo>
                    <a:cubicBezTo>
                      <a:pt x="105203" y="387639"/>
                      <a:pt x="110180" y="390525"/>
                      <a:pt x="115157" y="390525"/>
                    </a:cubicBezTo>
                    <a:cubicBezTo>
                      <a:pt x="115157" y="390525"/>
                      <a:pt x="115157" y="390525"/>
                      <a:pt x="354744" y="390525"/>
                    </a:cubicBezTo>
                    <a:cubicBezTo>
                      <a:pt x="366119" y="390525"/>
                      <a:pt x="374650" y="378258"/>
                      <a:pt x="368252" y="365991"/>
                    </a:cubicBezTo>
                    <a:cubicBezTo>
                      <a:pt x="365408" y="361661"/>
                      <a:pt x="359720" y="358775"/>
                      <a:pt x="354744" y="358775"/>
                    </a:cubicBezTo>
                    <a:cubicBezTo>
                      <a:pt x="354744" y="358775"/>
                      <a:pt x="354744" y="358775"/>
                      <a:pt x="115868" y="358775"/>
                    </a:cubicBezTo>
                    <a:close/>
                    <a:moveTo>
                      <a:pt x="683386" y="322263"/>
                    </a:moveTo>
                    <a:cubicBezTo>
                      <a:pt x="705550" y="348004"/>
                      <a:pt x="737008" y="363734"/>
                      <a:pt x="773470" y="363734"/>
                    </a:cubicBezTo>
                    <a:cubicBezTo>
                      <a:pt x="809218" y="363734"/>
                      <a:pt x="841391" y="348004"/>
                      <a:pt x="863554" y="322263"/>
                    </a:cubicBezTo>
                    <a:cubicBezTo>
                      <a:pt x="898587" y="350149"/>
                      <a:pt x="919320" y="391619"/>
                      <a:pt x="920750" y="435235"/>
                    </a:cubicBezTo>
                    <a:cubicBezTo>
                      <a:pt x="920750" y="435235"/>
                      <a:pt x="920750" y="435235"/>
                      <a:pt x="920750" y="440955"/>
                    </a:cubicBezTo>
                    <a:cubicBezTo>
                      <a:pt x="874993" y="457401"/>
                      <a:pt x="842106" y="501731"/>
                      <a:pt x="842106" y="553212"/>
                    </a:cubicBezTo>
                    <a:cubicBezTo>
                      <a:pt x="842106" y="559648"/>
                      <a:pt x="842821" y="565368"/>
                      <a:pt x="843535" y="571088"/>
                    </a:cubicBezTo>
                    <a:cubicBezTo>
                      <a:pt x="843535" y="571088"/>
                      <a:pt x="843535" y="571088"/>
                      <a:pt x="837816" y="573948"/>
                    </a:cubicBezTo>
                    <a:cubicBezTo>
                      <a:pt x="817797" y="583958"/>
                      <a:pt x="795634" y="588963"/>
                      <a:pt x="773470" y="588963"/>
                    </a:cubicBezTo>
                    <a:cubicBezTo>
                      <a:pt x="749877" y="588963"/>
                      <a:pt x="728428" y="583958"/>
                      <a:pt x="709840" y="573948"/>
                    </a:cubicBezTo>
                    <a:cubicBezTo>
                      <a:pt x="709840" y="573948"/>
                      <a:pt x="709840" y="573948"/>
                      <a:pt x="704120" y="571088"/>
                    </a:cubicBezTo>
                    <a:cubicBezTo>
                      <a:pt x="704835" y="565368"/>
                      <a:pt x="705550" y="559648"/>
                      <a:pt x="705550" y="553212"/>
                    </a:cubicBezTo>
                    <a:cubicBezTo>
                      <a:pt x="705550" y="501731"/>
                      <a:pt x="671947" y="456686"/>
                      <a:pt x="625475" y="440955"/>
                    </a:cubicBezTo>
                    <a:cubicBezTo>
                      <a:pt x="625475" y="440955"/>
                      <a:pt x="625475" y="440955"/>
                      <a:pt x="625475" y="435950"/>
                    </a:cubicBezTo>
                    <a:cubicBezTo>
                      <a:pt x="626905" y="390904"/>
                      <a:pt x="648354" y="350149"/>
                      <a:pt x="683386" y="322263"/>
                    </a:cubicBezTo>
                    <a:close/>
                    <a:moveTo>
                      <a:pt x="117181" y="247650"/>
                    </a:moveTo>
                    <a:cubicBezTo>
                      <a:pt x="109312" y="247650"/>
                      <a:pt x="102158" y="253262"/>
                      <a:pt x="101443" y="260978"/>
                    </a:cubicBezTo>
                    <a:cubicBezTo>
                      <a:pt x="100012" y="270097"/>
                      <a:pt x="107881" y="277813"/>
                      <a:pt x="117181" y="277813"/>
                    </a:cubicBezTo>
                    <a:cubicBezTo>
                      <a:pt x="117181" y="277813"/>
                      <a:pt x="117181" y="277813"/>
                      <a:pt x="431937" y="277813"/>
                    </a:cubicBezTo>
                    <a:cubicBezTo>
                      <a:pt x="441237" y="277813"/>
                      <a:pt x="447675" y="271500"/>
                      <a:pt x="447675" y="263082"/>
                    </a:cubicBezTo>
                    <a:cubicBezTo>
                      <a:pt x="447675" y="254665"/>
                      <a:pt x="441237" y="247650"/>
                      <a:pt x="431937" y="247650"/>
                    </a:cubicBezTo>
                    <a:cubicBezTo>
                      <a:pt x="431937" y="247650"/>
                      <a:pt x="431937" y="247650"/>
                      <a:pt x="117181" y="247650"/>
                    </a:cubicBezTo>
                    <a:close/>
                    <a:moveTo>
                      <a:pt x="115981" y="134938"/>
                    </a:moveTo>
                    <a:cubicBezTo>
                      <a:pt x="104543" y="134938"/>
                      <a:pt x="95250" y="147927"/>
                      <a:pt x="102399" y="158751"/>
                    </a:cubicBezTo>
                    <a:cubicBezTo>
                      <a:pt x="105258" y="163802"/>
                      <a:pt x="110262" y="166688"/>
                      <a:pt x="115266" y="166688"/>
                    </a:cubicBezTo>
                    <a:cubicBezTo>
                      <a:pt x="115266" y="166688"/>
                      <a:pt x="115266" y="166688"/>
                      <a:pt x="431948" y="166688"/>
                    </a:cubicBezTo>
                    <a:cubicBezTo>
                      <a:pt x="441242" y="166688"/>
                      <a:pt x="447675" y="159472"/>
                      <a:pt x="447675" y="151535"/>
                    </a:cubicBezTo>
                    <a:cubicBezTo>
                      <a:pt x="447675" y="142154"/>
                      <a:pt x="441242" y="134938"/>
                      <a:pt x="431948" y="134938"/>
                    </a:cubicBezTo>
                    <a:cubicBezTo>
                      <a:pt x="431948" y="134938"/>
                      <a:pt x="431948" y="134938"/>
                      <a:pt x="115981" y="134938"/>
                    </a:cubicBezTo>
                    <a:close/>
                    <a:moveTo>
                      <a:pt x="774700" y="123825"/>
                    </a:moveTo>
                    <a:cubicBezTo>
                      <a:pt x="713963" y="123825"/>
                      <a:pt x="663944" y="168844"/>
                      <a:pt x="656083" y="227439"/>
                    </a:cubicBezTo>
                    <a:cubicBezTo>
                      <a:pt x="656083" y="227439"/>
                      <a:pt x="656083" y="227439"/>
                      <a:pt x="638219" y="238872"/>
                    </a:cubicBezTo>
                    <a:cubicBezTo>
                      <a:pt x="573909" y="283176"/>
                      <a:pt x="533894" y="356778"/>
                      <a:pt x="532465" y="435381"/>
                    </a:cubicBezTo>
                    <a:cubicBezTo>
                      <a:pt x="532465" y="435381"/>
                      <a:pt x="532465" y="435381"/>
                      <a:pt x="532465" y="446100"/>
                    </a:cubicBezTo>
                    <a:cubicBezTo>
                      <a:pt x="493164" y="466108"/>
                      <a:pt x="466725" y="506124"/>
                      <a:pt x="466725" y="552572"/>
                    </a:cubicBezTo>
                    <a:cubicBezTo>
                      <a:pt x="466725" y="619028"/>
                      <a:pt x="520317" y="673336"/>
                      <a:pt x="586057" y="673336"/>
                    </a:cubicBezTo>
                    <a:cubicBezTo>
                      <a:pt x="611781" y="673336"/>
                      <a:pt x="635361" y="664761"/>
                      <a:pt x="654654" y="651184"/>
                    </a:cubicBezTo>
                    <a:cubicBezTo>
                      <a:pt x="654654" y="651184"/>
                      <a:pt x="654654" y="651184"/>
                      <a:pt x="665373" y="656900"/>
                    </a:cubicBezTo>
                    <a:cubicBezTo>
                      <a:pt x="700386" y="674050"/>
                      <a:pt x="736829" y="682625"/>
                      <a:pt x="774700" y="682625"/>
                    </a:cubicBezTo>
                    <a:cubicBezTo>
                      <a:pt x="811143" y="682625"/>
                      <a:pt x="849014" y="674050"/>
                      <a:pt x="883313" y="656900"/>
                    </a:cubicBezTo>
                    <a:cubicBezTo>
                      <a:pt x="883313" y="656900"/>
                      <a:pt x="883313" y="656900"/>
                      <a:pt x="894032" y="651184"/>
                    </a:cubicBezTo>
                    <a:cubicBezTo>
                      <a:pt x="913325" y="664761"/>
                      <a:pt x="936905" y="673336"/>
                      <a:pt x="962629" y="673336"/>
                    </a:cubicBezTo>
                    <a:cubicBezTo>
                      <a:pt x="1029083" y="673336"/>
                      <a:pt x="1082675" y="619028"/>
                      <a:pt x="1082675" y="552572"/>
                    </a:cubicBezTo>
                    <a:cubicBezTo>
                      <a:pt x="1082675" y="506124"/>
                      <a:pt x="1056237" y="466108"/>
                      <a:pt x="1016936" y="446100"/>
                    </a:cubicBezTo>
                    <a:cubicBezTo>
                      <a:pt x="1016936" y="446100"/>
                      <a:pt x="1016936" y="446100"/>
                      <a:pt x="1016936" y="435381"/>
                    </a:cubicBezTo>
                    <a:cubicBezTo>
                      <a:pt x="1015507" y="356778"/>
                      <a:pt x="975491" y="283176"/>
                      <a:pt x="910466" y="238872"/>
                    </a:cubicBezTo>
                    <a:cubicBezTo>
                      <a:pt x="910466" y="238872"/>
                      <a:pt x="910466" y="238872"/>
                      <a:pt x="892602" y="227439"/>
                    </a:cubicBezTo>
                    <a:cubicBezTo>
                      <a:pt x="884742" y="168844"/>
                      <a:pt x="834723" y="123825"/>
                      <a:pt x="774700" y="123825"/>
                    </a:cubicBezTo>
                    <a:close/>
                    <a:moveTo>
                      <a:pt x="0" y="0"/>
                    </a:moveTo>
                    <a:lnTo>
                      <a:pt x="1181100" y="0"/>
                    </a:lnTo>
                    <a:lnTo>
                      <a:pt x="1181100" y="806450"/>
                    </a:lnTo>
                    <a:lnTo>
                      <a:pt x="0" y="806450"/>
                    </a:lnTo>
                    <a:close/>
                  </a:path>
                </a:pathLst>
              </a:custGeom>
              <a:solidFill>
                <a:schemeClr val="tx2"/>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grpSp>
      </p:grpSp>
      <p:graphicFrame>
        <p:nvGraphicFramePr>
          <p:cNvPr id="75" name="Object 74" hidden="1"/>
          <p:cNvGraphicFramePr>
            <a:graphicFrameLocks noChangeAspect="1"/>
          </p:cNvGraphicFramePr>
          <p:nvPr>
            <p:custDataLst>
              <p:tags r:id="rId3"/>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9" imgW="532" imgH="530" progId="TCLayout.ActiveDocument.1">
                  <p:embed/>
                </p:oleObj>
              </mc:Choice>
              <mc:Fallback>
                <p:oleObj name="think-cell Slide" r:id="rId9" imgW="532" imgH="530" progId="TCLayout.ActiveDocument.1">
                  <p:embed/>
                  <p:pic>
                    <p:nvPicPr>
                      <p:cNvPr id="75" name="Object 74" hidden="1"/>
                      <p:cNvPicPr/>
                      <p:nvPr/>
                    </p:nvPicPr>
                    <p:blipFill>
                      <a:blip r:embed="rId10"/>
                      <a:stretch>
                        <a:fillRect/>
                      </a:stretch>
                    </p:blipFill>
                    <p:spPr>
                      <a:xfrm>
                        <a:off x="1588" y="1588"/>
                        <a:ext cx="1587" cy="1587"/>
                      </a:xfrm>
                      <a:prstGeom prst="rect">
                        <a:avLst/>
                      </a:prstGeom>
                    </p:spPr>
                  </p:pic>
                </p:oleObj>
              </mc:Fallback>
            </mc:AlternateContent>
          </a:graphicData>
        </a:graphic>
      </p:graphicFrame>
      <p:grpSp>
        <p:nvGrpSpPr>
          <p:cNvPr id="76" name="Group 75"/>
          <p:cNvGrpSpPr>
            <a:grpSpLocks noChangeAspect="1"/>
          </p:cNvGrpSpPr>
          <p:nvPr/>
        </p:nvGrpSpPr>
        <p:grpSpPr>
          <a:xfrm>
            <a:off x="7293885" y="4365066"/>
            <a:ext cx="609094" cy="609682"/>
            <a:chOff x="5273675" y="2570163"/>
            <a:chExt cx="1644650" cy="1646237"/>
          </a:xfrm>
        </p:grpSpPr>
        <p:sp>
          <p:nvSpPr>
            <p:cNvPr id="79" name="AutoShape 36"/>
            <p:cNvSpPr>
              <a:spLocks noChangeAspect="1" noChangeArrowheads="1" noTextEdit="1"/>
            </p:cNvSpPr>
            <p:nvPr/>
          </p:nvSpPr>
          <p:spPr bwMode="auto">
            <a:xfrm>
              <a:off x="5273675" y="2570163"/>
              <a:ext cx="1644650" cy="164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grpSp>
          <p:nvGrpSpPr>
            <p:cNvPr id="80" name="Group 79"/>
            <p:cNvGrpSpPr/>
            <p:nvPr/>
          </p:nvGrpSpPr>
          <p:grpSpPr>
            <a:xfrm>
              <a:off x="5545138" y="2740025"/>
              <a:ext cx="1101725" cy="1304925"/>
              <a:chOff x="5545138" y="2740025"/>
              <a:chExt cx="1101725" cy="1304925"/>
            </a:xfrm>
          </p:grpSpPr>
          <p:sp>
            <p:nvSpPr>
              <p:cNvPr id="86" name="Freeform 85"/>
              <p:cNvSpPr>
                <a:spLocks/>
              </p:cNvSpPr>
              <p:nvPr/>
            </p:nvSpPr>
            <p:spPr bwMode="auto">
              <a:xfrm>
                <a:off x="5549899" y="2740025"/>
                <a:ext cx="1093788" cy="1304925"/>
              </a:xfrm>
              <a:custGeom>
                <a:avLst/>
                <a:gdLst>
                  <a:gd name="connsiteX0" fmla="*/ 1025208 w 1093788"/>
                  <a:gd name="connsiteY0" fmla="*/ 981075 h 1304925"/>
                  <a:gd name="connsiteX1" fmla="*/ 1043782 w 1093788"/>
                  <a:gd name="connsiteY1" fmla="*/ 983210 h 1304925"/>
                  <a:gd name="connsiteX2" fmla="*/ 1057355 w 1093788"/>
                  <a:gd name="connsiteY2" fmla="*/ 981787 h 1304925"/>
                  <a:gd name="connsiteX3" fmla="*/ 1057355 w 1093788"/>
                  <a:gd name="connsiteY3" fmla="*/ 1188909 h 1304925"/>
                  <a:gd name="connsiteX4" fmla="*/ 1093788 w 1093788"/>
                  <a:gd name="connsiteY4" fmla="*/ 1220938 h 1304925"/>
                  <a:gd name="connsiteX5" fmla="*/ 1093788 w 1093788"/>
                  <a:gd name="connsiteY5" fmla="*/ 1304925 h 1304925"/>
                  <a:gd name="connsiteX6" fmla="*/ 993775 w 1093788"/>
                  <a:gd name="connsiteY6" fmla="*/ 1304925 h 1304925"/>
                  <a:gd name="connsiteX7" fmla="*/ 993775 w 1093788"/>
                  <a:gd name="connsiteY7" fmla="*/ 1220938 h 1304925"/>
                  <a:gd name="connsiteX8" fmla="*/ 1025208 w 1093788"/>
                  <a:gd name="connsiteY8" fmla="*/ 1189620 h 1304925"/>
                  <a:gd name="connsiteX9" fmla="*/ 1025208 w 1093788"/>
                  <a:gd name="connsiteY9" fmla="*/ 981075 h 1304925"/>
                  <a:gd name="connsiteX10" fmla="*/ 529750 w 1093788"/>
                  <a:gd name="connsiteY10" fmla="*/ 981075 h 1304925"/>
                  <a:gd name="connsiteX11" fmla="*/ 546895 w 1093788"/>
                  <a:gd name="connsiteY11" fmla="*/ 983210 h 1304925"/>
                  <a:gd name="connsiteX12" fmla="*/ 561182 w 1093788"/>
                  <a:gd name="connsiteY12" fmla="*/ 981787 h 1304925"/>
                  <a:gd name="connsiteX13" fmla="*/ 561182 w 1093788"/>
                  <a:gd name="connsiteY13" fmla="*/ 1188909 h 1304925"/>
                  <a:gd name="connsiteX14" fmla="*/ 596901 w 1093788"/>
                  <a:gd name="connsiteY14" fmla="*/ 1220938 h 1304925"/>
                  <a:gd name="connsiteX15" fmla="*/ 596901 w 1093788"/>
                  <a:gd name="connsiteY15" fmla="*/ 1304925 h 1304925"/>
                  <a:gd name="connsiteX16" fmla="*/ 496888 w 1093788"/>
                  <a:gd name="connsiteY16" fmla="*/ 1304925 h 1304925"/>
                  <a:gd name="connsiteX17" fmla="*/ 496888 w 1093788"/>
                  <a:gd name="connsiteY17" fmla="*/ 1220938 h 1304925"/>
                  <a:gd name="connsiteX18" fmla="*/ 529750 w 1093788"/>
                  <a:gd name="connsiteY18" fmla="*/ 1189620 h 1304925"/>
                  <a:gd name="connsiteX19" fmla="*/ 529750 w 1093788"/>
                  <a:gd name="connsiteY19" fmla="*/ 981075 h 1304925"/>
                  <a:gd name="connsiteX20" fmla="*/ 32095 w 1093788"/>
                  <a:gd name="connsiteY20" fmla="*/ 981075 h 1304925"/>
                  <a:gd name="connsiteX21" fmla="*/ 49213 w 1093788"/>
                  <a:gd name="connsiteY21" fmla="*/ 983210 h 1304925"/>
                  <a:gd name="connsiteX22" fmla="*/ 63477 w 1093788"/>
                  <a:gd name="connsiteY22" fmla="*/ 981787 h 1304925"/>
                  <a:gd name="connsiteX23" fmla="*/ 63477 w 1093788"/>
                  <a:gd name="connsiteY23" fmla="*/ 1188909 h 1304925"/>
                  <a:gd name="connsiteX24" fmla="*/ 98425 w 1093788"/>
                  <a:gd name="connsiteY24" fmla="*/ 1220938 h 1304925"/>
                  <a:gd name="connsiteX25" fmla="*/ 98425 w 1093788"/>
                  <a:gd name="connsiteY25" fmla="*/ 1304925 h 1304925"/>
                  <a:gd name="connsiteX26" fmla="*/ 0 w 1093788"/>
                  <a:gd name="connsiteY26" fmla="*/ 1304925 h 1304925"/>
                  <a:gd name="connsiteX27" fmla="*/ 0 w 1093788"/>
                  <a:gd name="connsiteY27" fmla="*/ 1220938 h 1304925"/>
                  <a:gd name="connsiteX28" fmla="*/ 32095 w 1093788"/>
                  <a:gd name="connsiteY28" fmla="*/ 1189620 h 1304925"/>
                  <a:gd name="connsiteX29" fmla="*/ 32095 w 1093788"/>
                  <a:gd name="connsiteY29" fmla="*/ 981075 h 1304925"/>
                  <a:gd name="connsiteX30" fmla="*/ 979862 w 1093788"/>
                  <a:gd name="connsiteY30" fmla="*/ 954088 h 1304925"/>
                  <a:gd name="connsiteX31" fmla="*/ 1004888 w 1093788"/>
                  <a:gd name="connsiteY31" fmla="*/ 973311 h 1304925"/>
                  <a:gd name="connsiteX32" fmla="*/ 793951 w 1093788"/>
                  <a:gd name="connsiteY32" fmla="*/ 1071563 h 1304925"/>
                  <a:gd name="connsiteX33" fmla="*/ 782510 w 1093788"/>
                  <a:gd name="connsiteY33" fmla="*/ 1071563 h 1304925"/>
                  <a:gd name="connsiteX34" fmla="*/ 579438 w 1093788"/>
                  <a:gd name="connsiteY34" fmla="*/ 975447 h 1304925"/>
                  <a:gd name="connsiteX35" fmla="*/ 606610 w 1093788"/>
                  <a:gd name="connsiteY35" fmla="*/ 957648 h 1304925"/>
                  <a:gd name="connsiteX36" fmla="*/ 783940 w 1093788"/>
                  <a:gd name="connsiteY36" fmla="*/ 1040236 h 1304925"/>
                  <a:gd name="connsiteX37" fmla="*/ 979862 w 1093788"/>
                  <a:gd name="connsiteY37" fmla="*/ 954088 h 1304925"/>
                  <a:gd name="connsiteX38" fmla="*/ 482269 w 1093788"/>
                  <a:gd name="connsiteY38" fmla="*/ 954088 h 1304925"/>
                  <a:gd name="connsiteX39" fmla="*/ 508001 w 1093788"/>
                  <a:gd name="connsiteY39" fmla="*/ 974023 h 1304925"/>
                  <a:gd name="connsiteX40" fmla="*/ 297142 w 1093788"/>
                  <a:gd name="connsiteY40" fmla="*/ 1071563 h 1304925"/>
                  <a:gd name="connsiteX41" fmla="*/ 285705 w 1093788"/>
                  <a:gd name="connsiteY41" fmla="*/ 1071563 h 1304925"/>
                  <a:gd name="connsiteX42" fmla="*/ 84138 w 1093788"/>
                  <a:gd name="connsiteY42" fmla="*/ 975447 h 1304925"/>
                  <a:gd name="connsiteX43" fmla="*/ 109155 w 1093788"/>
                  <a:gd name="connsiteY43" fmla="*/ 957648 h 1304925"/>
                  <a:gd name="connsiteX44" fmla="*/ 287135 w 1093788"/>
                  <a:gd name="connsiteY44" fmla="*/ 1040236 h 1304925"/>
                  <a:gd name="connsiteX45" fmla="*/ 482269 w 1093788"/>
                  <a:gd name="connsiteY45" fmla="*/ 954088 h 1304925"/>
                  <a:gd name="connsiteX46" fmla="*/ 433658 w 1093788"/>
                  <a:gd name="connsiteY46" fmla="*/ 222250 h 1304925"/>
                  <a:gd name="connsiteX47" fmla="*/ 445806 w 1093788"/>
                  <a:gd name="connsiteY47" fmla="*/ 229416 h 1304925"/>
                  <a:gd name="connsiteX48" fmla="*/ 591582 w 1093788"/>
                  <a:gd name="connsiteY48" fmla="*/ 520347 h 1304925"/>
                  <a:gd name="connsiteX49" fmla="*/ 588010 w 1093788"/>
                  <a:gd name="connsiteY49" fmla="*/ 531096 h 1304925"/>
                  <a:gd name="connsiteX50" fmla="*/ 584437 w 1093788"/>
                  <a:gd name="connsiteY50" fmla="*/ 531812 h 1304925"/>
                  <a:gd name="connsiteX51" fmla="*/ 576576 w 1093788"/>
                  <a:gd name="connsiteY51" fmla="*/ 527513 h 1304925"/>
                  <a:gd name="connsiteX52" fmla="*/ 433658 w 1093788"/>
                  <a:gd name="connsiteY52" fmla="*/ 241598 h 1304925"/>
                  <a:gd name="connsiteX53" fmla="*/ 337188 w 1093788"/>
                  <a:gd name="connsiteY53" fmla="*/ 435074 h 1304925"/>
                  <a:gd name="connsiteX54" fmla="*/ 328613 w 1093788"/>
                  <a:gd name="connsiteY54" fmla="*/ 417160 h 1304925"/>
                  <a:gd name="connsiteX55" fmla="*/ 422225 w 1093788"/>
                  <a:gd name="connsiteY55" fmla="*/ 229416 h 1304925"/>
                  <a:gd name="connsiteX56" fmla="*/ 433658 w 1093788"/>
                  <a:gd name="connsiteY56" fmla="*/ 222250 h 1304925"/>
                  <a:gd name="connsiteX57" fmla="*/ 44450 w 1093788"/>
                  <a:gd name="connsiteY57" fmla="*/ 30163 h 1304925"/>
                  <a:gd name="connsiteX58" fmla="*/ 44450 w 1093788"/>
                  <a:gd name="connsiteY58" fmla="*/ 644525 h 1304925"/>
                  <a:gd name="connsiteX59" fmla="*/ 1050925 w 1093788"/>
                  <a:gd name="connsiteY59" fmla="*/ 644525 h 1304925"/>
                  <a:gd name="connsiteX60" fmla="*/ 1050925 w 1093788"/>
                  <a:gd name="connsiteY60" fmla="*/ 30163 h 1304925"/>
                  <a:gd name="connsiteX61" fmla="*/ 44450 w 1093788"/>
                  <a:gd name="connsiteY61" fmla="*/ 30163 h 1304925"/>
                  <a:gd name="connsiteX62" fmla="*/ 44842 w 1093788"/>
                  <a:gd name="connsiteY62" fmla="*/ 0 h 1304925"/>
                  <a:gd name="connsiteX63" fmla="*/ 1051247 w 1093788"/>
                  <a:gd name="connsiteY63" fmla="*/ 0 h 1304925"/>
                  <a:gd name="connsiteX64" fmla="*/ 1082675 w 1093788"/>
                  <a:gd name="connsiteY64" fmla="*/ 31381 h 1304925"/>
                  <a:gd name="connsiteX65" fmla="*/ 1082675 w 1093788"/>
                  <a:gd name="connsiteY65" fmla="*/ 643306 h 1304925"/>
                  <a:gd name="connsiteX66" fmla="*/ 1051247 w 1093788"/>
                  <a:gd name="connsiteY66" fmla="*/ 674687 h 1304925"/>
                  <a:gd name="connsiteX67" fmla="*/ 44842 w 1093788"/>
                  <a:gd name="connsiteY67" fmla="*/ 674687 h 1304925"/>
                  <a:gd name="connsiteX68" fmla="*/ 12700 w 1093788"/>
                  <a:gd name="connsiteY68" fmla="*/ 643306 h 1304925"/>
                  <a:gd name="connsiteX69" fmla="*/ 12700 w 1093788"/>
                  <a:gd name="connsiteY69" fmla="*/ 31381 h 1304925"/>
                  <a:gd name="connsiteX70" fmla="*/ 44842 w 1093788"/>
                  <a:gd name="connsiteY70" fmla="*/ 0 h 1304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093788" h="1304925">
                    <a:moveTo>
                      <a:pt x="1025208" y="981075"/>
                    </a:moveTo>
                    <a:cubicBezTo>
                      <a:pt x="1030923" y="982499"/>
                      <a:pt x="1037352" y="983210"/>
                      <a:pt x="1043782" y="983210"/>
                    </a:cubicBezTo>
                    <a:cubicBezTo>
                      <a:pt x="1048068" y="983210"/>
                      <a:pt x="1053069" y="982499"/>
                      <a:pt x="1057355" y="981787"/>
                    </a:cubicBezTo>
                    <a:cubicBezTo>
                      <a:pt x="1057355" y="981787"/>
                      <a:pt x="1057355" y="981787"/>
                      <a:pt x="1057355" y="1188909"/>
                    </a:cubicBezTo>
                    <a:cubicBezTo>
                      <a:pt x="1078786" y="1193179"/>
                      <a:pt x="1093788" y="1205991"/>
                      <a:pt x="1093788" y="1220938"/>
                    </a:cubicBezTo>
                    <a:cubicBezTo>
                      <a:pt x="1093788" y="1220938"/>
                      <a:pt x="1093788" y="1220938"/>
                      <a:pt x="1093788" y="1304925"/>
                    </a:cubicBezTo>
                    <a:cubicBezTo>
                      <a:pt x="1093788" y="1304925"/>
                      <a:pt x="1093788" y="1304925"/>
                      <a:pt x="993775" y="1304925"/>
                    </a:cubicBezTo>
                    <a:cubicBezTo>
                      <a:pt x="993775" y="1304925"/>
                      <a:pt x="993775" y="1304925"/>
                      <a:pt x="993775" y="1220938"/>
                    </a:cubicBezTo>
                    <a:cubicBezTo>
                      <a:pt x="993775" y="1206702"/>
                      <a:pt x="1006634" y="1194603"/>
                      <a:pt x="1025208" y="1189620"/>
                    </a:cubicBezTo>
                    <a:cubicBezTo>
                      <a:pt x="1025208" y="1189620"/>
                      <a:pt x="1025208" y="1189620"/>
                      <a:pt x="1025208" y="981075"/>
                    </a:cubicBezTo>
                    <a:close/>
                    <a:moveTo>
                      <a:pt x="529750" y="981075"/>
                    </a:moveTo>
                    <a:cubicBezTo>
                      <a:pt x="535465" y="982499"/>
                      <a:pt x="541180" y="983210"/>
                      <a:pt x="546895" y="983210"/>
                    </a:cubicBezTo>
                    <a:cubicBezTo>
                      <a:pt x="551895" y="983210"/>
                      <a:pt x="556182" y="982499"/>
                      <a:pt x="561182" y="981787"/>
                    </a:cubicBezTo>
                    <a:cubicBezTo>
                      <a:pt x="561182" y="981787"/>
                      <a:pt x="561182" y="981787"/>
                      <a:pt x="561182" y="1188909"/>
                    </a:cubicBezTo>
                    <a:cubicBezTo>
                      <a:pt x="581899" y="1193179"/>
                      <a:pt x="596901" y="1205991"/>
                      <a:pt x="596901" y="1220938"/>
                    </a:cubicBezTo>
                    <a:cubicBezTo>
                      <a:pt x="596901" y="1220938"/>
                      <a:pt x="596901" y="1220938"/>
                      <a:pt x="596901" y="1304925"/>
                    </a:cubicBezTo>
                    <a:cubicBezTo>
                      <a:pt x="596901" y="1304925"/>
                      <a:pt x="596901" y="1304925"/>
                      <a:pt x="496888" y="1304925"/>
                    </a:cubicBezTo>
                    <a:cubicBezTo>
                      <a:pt x="496888" y="1304925"/>
                      <a:pt x="496888" y="1304925"/>
                      <a:pt x="496888" y="1220938"/>
                    </a:cubicBezTo>
                    <a:cubicBezTo>
                      <a:pt x="496888" y="1206702"/>
                      <a:pt x="510461" y="1194603"/>
                      <a:pt x="529750" y="1189620"/>
                    </a:cubicBezTo>
                    <a:cubicBezTo>
                      <a:pt x="529750" y="1189620"/>
                      <a:pt x="529750" y="1189620"/>
                      <a:pt x="529750" y="981075"/>
                    </a:cubicBezTo>
                    <a:close/>
                    <a:moveTo>
                      <a:pt x="32095" y="981075"/>
                    </a:moveTo>
                    <a:cubicBezTo>
                      <a:pt x="37801" y="982499"/>
                      <a:pt x="43507" y="983210"/>
                      <a:pt x="49213" y="983210"/>
                    </a:cubicBezTo>
                    <a:cubicBezTo>
                      <a:pt x="54205" y="983210"/>
                      <a:pt x="59198" y="982499"/>
                      <a:pt x="63477" y="981787"/>
                    </a:cubicBezTo>
                    <a:cubicBezTo>
                      <a:pt x="63477" y="981787"/>
                      <a:pt x="63477" y="981787"/>
                      <a:pt x="63477" y="1188909"/>
                    </a:cubicBezTo>
                    <a:cubicBezTo>
                      <a:pt x="83448" y="1193179"/>
                      <a:pt x="98425" y="1205991"/>
                      <a:pt x="98425" y="1220938"/>
                    </a:cubicBezTo>
                    <a:cubicBezTo>
                      <a:pt x="98425" y="1220938"/>
                      <a:pt x="98425" y="1220938"/>
                      <a:pt x="98425" y="1304925"/>
                    </a:cubicBezTo>
                    <a:cubicBezTo>
                      <a:pt x="98425" y="1304925"/>
                      <a:pt x="98425" y="1304925"/>
                      <a:pt x="0" y="1304925"/>
                    </a:cubicBezTo>
                    <a:cubicBezTo>
                      <a:pt x="0" y="1304925"/>
                      <a:pt x="0" y="1304925"/>
                      <a:pt x="0" y="1220938"/>
                    </a:cubicBezTo>
                    <a:cubicBezTo>
                      <a:pt x="0" y="1206702"/>
                      <a:pt x="13552" y="1194603"/>
                      <a:pt x="32095" y="1189620"/>
                    </a:cubicBezTo>
                    <a:cubicBezTo>
                      <a:pt x="32095" y="1189620"/>
                      <a:pt x="32095" y="1189620"/>
                      <a:pt x="32095" y="981075"/>
                    </a:cubicBezTo>
                    <a:close/>
                    <a:moveTo>
                      <a:pt x="979862" y="954088"/>
                    </a:moveTo>
                    <a:cubicBezTo>
                      <a:pt x="987012" y="961920"/>
                      <a:pt x="995593" y="968328"/>
                      <a:pt x="1004888" y="973311"/>
                    </a:cubicBezTo>
                    <a:cubicBezTo>
                      <a:pt x="939104" y="1038813"/>
                      <a:pt x="867600" y="1071563"/>
                      <a:pt x="793951" y="1071563"/>
                    </a:cubicBezTo>
                    <a:cubicBezTo>
                      <a:pt x="789661" y="1071563"/>
                      <a:pt x="786085" y="1071563"/>
                      <a:pt x="782510" y="1071563"/>
                    </a:cubicBezTo>
                    <a:cubicBezTo>
                      <a:pt x="682404" y="1066579"/>
                      <a:pt x="608755" y="1004638"/>
                      <a:pt x="579438" y="975447"/>
                    </a:cubicBezTo>
                    <a:cubicBezTo>
                      <a:pt x="590164" y="971175"/>
                      <a:pt x="598744" y="965480"/>
                      <a:pt x="606610" y="957648"/>
                    </a:cubicBezTo>
                    <a:cubicBezTo>
                      <a:pt x="635927" y="986839"/>
                      <a:pt x="702425" y="1036677"/>
                      <a:pt x="783940" y="1040236"/>
                    </a:cubicBezTo>
                    <a:cubicBezTo>
                      <a:pt x="851869" y="1043084"/>
                      <a:pt x="916938" y="1013894"/>
                      <a:pt x="979862" y="954088"/>
                    </a:cubicBezTo>
                    <a:close/>
                    <a:moveTo>
                      <a:pt x="482269" y="954088"/>
                    </a:moveTo>
                    <a:cubicBezTo>
                      <a:pt x="489417" y="962632"/>
                      <a:pt x="498709" y="969039"/>
                      <a:pt x="508001" y="974023"/>
                    </a:cubicBezTo>
                    <a:cubicBezTo>
                      <a:pt x="441527" y="1038813"/>
                      <a:pt x="370049" y="1071563"/>
                      <a:pt x="297142" y="1071563"/>
                    </a:cubicBezTo>
                    <a:cubicBezTo>
                      <a:pt x="293568" y="1071563"/>
                      <a:pt x="289279" y="1071563"/>
                      <a:pt x="285705" y="1071563"/>
                    </a:cubicBezTo>
                    <a:cubicBezTo>
                      <a:pt x="185637" y="1066579"/>
                      <a:pt x="112015" y="1003926"/>
                      <a:pt x="84138" y="975447"/>
                    </a:cubicBezTo>
                    <a:cubicBezTo>
                      <a:pt x="93430" y="971175"/>
                      <a:pt x="102008" y="964768"/>
                      <a:pt x="109155" y="957648"/>
                    </a:cubicBezTo>
                    <a:cubicBezTo>
                      <a:pt x="138461" y="986127"/>
                      <a:pt x="204936" y="1035965"/>
                      <a:pt x="287135" y="1040236"/>
                    </a:cubicBezTo>
                    <a:cubicBezTo>
                      <a:pt x="354324" y="1043084"/>
                      <a:pt x="420084" y="1014606"/>
                      <a:pt x="482269" y="954088"/>
                    </a:cubicBezTo>
                    <a:close/>
                    <a:moveTo>
                      <a:pt x="433658" y="222250"/>
                    </a:moveTo>
                    <a:cubicBezTo>
                      <a:pt x="438660" y="222250"/>
                      <a:pt x="442948" y="225116"/>
                      <a:pt x="445806" y="229416"/>
                    </a:cubicBezTo>
                    <a:cubicBezTo>
                      <a:pt x="445806" y="229416"/>
                      <a:pt x="445806" y="229416"/>
                      <a:pt x="591582" y="520347"/>
                    </a:cubicBezTo>
                    <a:cubicBezTo>
                      <a:pt x="593726" y="524646"/>
                      <a:pt x="592297" y="528946"/>
                      <a:pt x="588010" y="531096"/>
                    </a:cubicBezTo>
                    <a:cubicBezTo>
                      <a:pt x="587295" y="531812"/>
                      <a:pt x="585866" y="531812"/>
                      <a:pt x="584437" y="531812"/>
                    </a:cubicBezTo>
                    <a:cubicBezTo>
                      <a:pt x="580864" y="531812"/>
                      <a:pt x="578005" y="530379"/>
                      <a:pt x="576576" y="527513"/>
                    </a:cubicBezTo>
                    <a:cubicBezTo>
                      <a:pt x="576576" y="527513"/>
                      <a:pt x="576576" y="527513"/>
                      <a:pt x="433658" y="241598"/>
                    </a:cubicBezTo>
                    <a:cubicBezTo>
                      <a:pt x="433658" y="241598"/>
                      <a:pt x="433658" y="241598"/>
                      <a:pt x="337188" y="435074"/>
                    </a:cubicBezTo>
                    <a:cubicBezTo>
                      <a:pt x="337188" y="435074"/>
                      <a:pt x="337188" y="435074"/>
                      <a:pt x="328613" y="417160"/>
                    </a:cubicBezTo>
                    <a:cubicBezTo>
                      <a:pt x="328613" y="417160"/>
                      <a:pt x="328613" y="417160"/>
                      <a:pt x="422225" y="229416"/>
                    </a:cubicBezTo>
                    <a:cubicBezTo>
                      <a:pt x="424368" y="225116"/>
                      <a:pt x="428656" y="222250"/>
                      <a:pt x="433658" y="222250"/>
                    </a:cubicBezTo>
                    <a:close/>
                    <a:moveTo>
                      <a:pt x="44450" y="30163"/>
                    </a:moveTo>
                    <a:cubicBezTo>
                      <a:pt x="44450" y="644525"/>
                      <a:pt x="44450" y="644525"/>
                      <a:pt x="44450" y="644525"/>
                    </a:cubicBezTo>
                    <a:cubicBezTo>
                      <a:pt x="1050925" y="644525"/>
                      <a:pt x="1050925" y="644525"/>
                      <a:pt x="1050925" y="644525"/>
                    </a:cubicBezTo>
                    <a:cubicBezTo>
                      <a:pt x="1050925" y="30163"/>
                      <a:pt x="1050925" y="30163"/>
                      <a:pt x="1050925" y="30163"/>
                    </a:cubicBezTo>
                    <a:cubicBezTo>
                      <a:pt x="1050925" y="30163"/>
                      <a:pt x="1050925" y="30163"/>
                      <a:pt x="44450" y="30163"/>
                    </a:cubicBezTo>
                    <a:close/>
                    <a:moveTo>
                      <a:pt x="44842" y="0"/>
                    </a:moveTo>
                    <a:cubicBezTo>
                      <a:pt x="1051247" y="0"/>
                      <a:pt x="1051247" y="0"/>
                      <a:pt x="1051247" y="0"/>
                    </a:cubicBezTo>
                    <a:cubicBezTo>
                      <a:pt x="1068390" y="0"/>
                      <a:pt x="1082675" y="14264"/>
                      <a:pt x="1082675" y="31381"/>
                    </a:cubicBezTo>
                    <a:cubicBezTo>
                      <a:pt x="1082675" y="643306"/>
                      <a:pt x="1082675" y="643306"/>
                      <a:pt x="1082675" y="643306"/>
                    </a:cubicBezTo>
                    <a:cubicBezTo>
                      <a:pt x="1082675" y="660423"/>
                      <a:pt x="1068390" y="674687"/>
                      <a:pt x="1051247" y="674687"/>
                    </a:cubicBezTo>
                    <a:cubicBezTo>
                      <a:pt x="44842" y="674687"/>
                      <a:pt x="44842" y="674687"/>
                      <a:pt x="44842" y="674687"/>
                    </a:cubicBezTo>
                    <a:cubicBezTo>
                      <a:pt x="26986" y="674687"/>
                      <a:pt x="12700" y="660423"/>
                      <a:pt x="12700" y="643306"/>
                    </a:cubicBezTo>
                    <a:cubicBezTo>
                      <a:pt x="12700" y="31381"/>
                      <a:pt x="12700" y="31381"/>
                      <a:pt x="12700" y="31381"/>
                    </a:cubicBezTo>
                    <a:cubicBezTo>
                      <a:pt x="12700" y="14264"/>
                      <a:pt x="26986" y="0"/>
                      <a:pt x="44842"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87" name="Freeform 86"/>
              <p:cNvSpPr>
                <a:spLocks noChangeArrowheads="1"/>
              </p:cNvSpPr>
              <p:nvPr/>
            </p:nvSpPr>
            <p:spPr bwMode="auto">
              <a:xfrm>
                <a:off x="5545138" y="2857500"/>
                <a:ext cx="1101725" cy="835025"/>
              </a:xfrm>
              <a:custGeom>
                <a:avLst/>
                <a:gdLst>
                  <a:gd name="connsiteX0" fmla="*/ 1048901 w 1101725"/>
                  <a:gd name="connsiteY0" fmla="*/ 725488 h 835025"/>
                  <a:gd name="connsiteX1" fmla="*/ 1078168 w 1101725"/>
                  <a:gd name="connsiteY1" fmla="*/ 734856 h 835025"/>
                  <a:gd name="connsiteX2" fmla="*/ 1097442 w 1101725"/>
                  <a:gd name="connsiteY2" fmla="*/ 758637 h 835025"/>
                  <a:gd name="connsiteX3" fmla="*/ 1101725 w 1101725"/>
                  <a:gd name="connsiteY3" fmla="*/ 779536 h 835025"/>
                  <a:gd name="connsiteX4" fmla="*/ 1097442 w 1101725"/>
                  <a:gd name="connsiteY4" fmla="*/ 801155 h 835025"/>
                  <a:gd name="connsiteX5" fmla="*/ 1086021 w 1101725"/>
                  <a:gd name="connsiteY5" fmla="*/ 818450 h 835025"/>
                  <a:gd name="connsiteX6" fmla="*/ 1078168 w 1101725"/>
                  <a:gd name="connsiteY6" fmla="*/ 824936 h 835025"/>
                  <a:gd name="connsiteX7" fmla="*/ 1062464 w 1101725"/>
                  <a:gd name="connsiteY7" fmla="*/ 832143 h 835025"/>
                  <a:gd name="connsiteX8" fmla="*/ 1048901 w 1101725"/>
                  <a:gd name="connsiteY8" fmla="*/ 835025 h 835025"/>
                  <a:gd name="connsiteX9" fmla="*/ 1031055 w 1101725"/>
                  <a:gd name="connsiteY9" fmla="*/ 831422 h 835025"/>
                  <a:gd name="connsiteX10" fmla="*/ 1029627 w 1101725"/>
                  <a:gd name="connsiteY10" fmla="*/ 830701 h 835025"/>
                  <a:gd name="connsiteX11" fmla="*/ 1018919 w 1101725"/>
                  <a:gd name="connsiteY11" fmla="*/ 824936 h 835025"/>
                  <a:gd name="connsiteX12" fmla="*/ 1011067 w 1101725"/>
                  <a:gd name="connsiteY12" fmla="*/ 818450 h 835025"/>
                  <a:gd name="connsiteX13" fmla="*/ 1007498 w 1101725"/>
                  <a:gd name="connsiteY13" fmla="*/ 814127 h 835025"/>
                  <a:gd name="connsiteX14" fmla="*/ 999645 w 1101725"/>
                  <a:gd name="connsiteY14" fmla="*/ 801155 h 835025"/>
                  <a:gd name="connsiteX15" fmla="*/ 995362 w 1101725"/>
                  <a:gd name="connsiteY15" fmla="*/ 779536 h 835025"/>
                  <a:gd name="connsiteX16" fmla="*/ 999645 w 1101725"/>
                  <a:gd name="connsiteY16" fmla="*/ 758637 h 835025"/>
                  <a:gd name="connsiteX17" fmla="*/ 1018919 w 1101725"/>
                  <a:gd name="connsiteY17" fmla="*/ 734856 h 835025"/>
                  <a:gd name="connsiteX18" fmla="*/ 1048901 w 1101725"/>
                  <a:gd name="connsiteY18" fmla="*/ 725488 h 835025"/>
                  <a:gd name="connsiteX19" fmla="*/ 550142 w 1101725"/>
                  <a:gd name="connsiteY19" fmla="*/ 725488 h 835025"/>
                  <a:gd name="connsiteX20" fmla="*/ 581088 w 1101725"/>
                  <a:gd name="connsiteY20" fmla="*/ 734856 h 835025"/>
                  <a:gd name="connsiteX21" fmla="*/ 600519 w 1101725"/>
                  <a:gd name="connsiteY21" fmla="*/ 758637 h 835025"/>
                  <a:gd name="connsiteX22" fmla="*/ 604837 w 1101725"/>
                  <a:gd name="connsiteY22" fmla="*/ 779536 h 835025"/>
                  <a:gd name="connsiteX23" fmla="*/ 600519 w 1101725"/>
                  <a:gd name="connsiteY23" fmla="*/ 801155 h 835025"/>
                  <a:gd name="connsiteX24" fmla="*/ 589004 w 1101725"/>
                  <a:gd name="connsiteY24" fmla="*/ 818450 h 835025"/>
                  <a:gd name="connsiteX25" fmla="*/ 588284 w 1101725"/>
                  <a:gd name="connsiteY25" fmla="*/ 818450 h 835025"/>
                  <a:gd name="connsiteX26" fmla="*/ 581088 w 1101725"/>
                  <a:gd name="connsiteY26" fmla="*/ 824936 h 835025"/>
                  <a:gd name="connsiteX27" fmla="*/ 568853 w 1101725"/>
                  <a:gd name="connsiteY27" fmla="*/ 830701 h 835025"/>
                  <a:gd name="connsiteX28" fmla="*/ 564535 w 1101725"/>
                  <a:gd name="connsiteY28" fmla="*/ 832143 h 835025"/>
                  <a:gd name="connsiteX29" fmla="*/ 550142 w 1101725"/>
                  <a:gd name="connsiteY29" fmla="*/ 835025 h 835025"/>
                  <a:gd name="connsiteX30" fmla="*/ 532870 w 1101725"/>
                  <a:gd name="connsiteY30" fmla="*/ 831422 h 835025"/>
                  <a:gd name="connsiteX31" fmla="*/ 531431 w 1101725"/>
                  <a:gd name="connsiteY31" fmla="*/ 830701 h 835025"/>
                  <a:gd name="connsiteX32" fmla="*/ 519916 w 1101725"/>
                  <a:gd name="connsiteY32" fmla="*/ 824936 h 835025"/>
                  <a:gd name="connsiteX33" fmla="*/ 512000 w 1101725"/>
                  <a:gd name="connsiteY33" fmla="*/ 818450 h 835025"/>
                  <a:gd name="connsiteX34" fmla="*/ 509121 w 1101725"/>
                  <a:gd name="connsiteY34" fmla="*/ 814847 h 835025"/>
                  <a:gd name="connsiteX35" fmla="*/ 500485 w 1101725"/>
                  <a:gd name="connsiteY35" fmla="*/ 801155 h 835025"/>
                  <a:gd name="connsiteX36" fmla="*/ 496887 w 1101725"/>
                  <a:gd name="connsiteY36" fmla="*/ 779536 h 835025"/>
                  <a:gd name="connsiteX37" fmla="*/ 500485 w 1101725"/>
                  <a:gd name="connsiteY37" fmla="*/ 758637 h 835025"/>
                  <a:gd name="connsiteX38" fmla="*/ 519916 w 1101725"/>
                  <a:gd name="connsiteY38" fmla="*/ 734856 h 835025"/>
                  <a:gd name="connsiteX39" fmla="*/ 550142 w 1101725"/>
                  <a:gd name="connsiteY39" fmla="*/ 725488 h 835025"/>
                  <a:gd name="connsiteX40" fmla="*/ 53975 w 1101725"/>
                  <a:gd name="connsiteY40" fmla="*/ 725488 h 835025"/>
                  <a:gd name="connsiteX41" fmla="*/ 83803 w 1101725"/>
                  <a:gd name="connsiteY41" fmla="*/ 734856 h 835025"/>
                  <a:gd name="connsiteX42" fmla="*/ 103689 w 1101725"/>
                  <a:gd name="connsiteY42" fmla="*/ 758637 h 835025"/>
                  <a:gd name="connsiteX43" fmla="*/ 107950 w 1101725"/>
                  <a:gd name="connsiteY43" fmla="*/ 779536 h 835025"/>
                  <a:gd name="connsiteX44" fmla="*/ 103689 w 1101725"/>
                  <a:gd name="connsiteY44" fmla="*/ 801155 h 835025"/>
                  <a:gd name="connsiteX45" fmla="*/ 92325 w 1101725"/>
                  <a:gd name="connsiteY45" fmla="*/ 818450 h 835025"/>
                  <a:gd name="connsiteX46" fmla="*/ 83803 w 1101725"/>
                  <a:gd name="connsiteY46" fmla="*/ 824936 h 835025"/>
                  <a:gd name="connsiteX47" fmla="*/ 73150 w 1101725"/>
                  <a:gd name="connsiteY47" fmla="*/ 830701 h 835025"/>
                  <a:gd name="connsiteX48" fmla="*/ 68179 w 1101725"/>
                  <a:gd name="connsiteY48" fmla="*/ 832143 h 835025"/>
                  <a:gd name="connsiteX49" fmla="*/ 53975 w 1101725"/>
                  <a:gd name="connsiteY49" fmla="*/ 835025 h 835025"/>
                  <a:gd name="connsiteX50" fmla="*/ 36220 w 1101725"/>
                  <a:gd name="connsiteY50" fmla="*/ 831422 h 835025"/>
                  <a:gd name="connsiteX51" fmla="*/ 24146 w 1101725"/>
                  <a:gd name="connsiteY51" fmla="*/ 824936 h 835025"/>
                  <a:gd name="connsiteX52" fmla="*/ 16334 w 1101725"/>
                  <a:gd name="connsiteY52" fmla="*/ 818450 h 835025"/>
                  <a:gd name="connsiteX53" fmla="*/ 4971 w 1101725"/>
                  <a:gd name="connsiteY53" fmla="*/ 801155 h 835025"/>
                  <a:gd name="connsiteX54" fmla="*/ 0 w 1101725"/>
                  <a:gd name="connsiteY54" fmla="*/ 779536 h 835025"/>
                  <a:gd name="connsiteX55" fmla="*/ 4971 w 1101725"/>
                  <a:gd name="connsiteY55" fmla="*/ 758637 h 835025"/>
                  <a:gd name="connsiteX56" fmla="*/ 24146 w 1101725"/>
                  <a:gd name="connsiteY56" fmla="*/ 734856 h 835025"/>
                  <a:gd name="connsiteX57" fmla="*/ 53975 w 1101725"/>
                  <a:gd name="connsiteY57" fmla="*/ 725488 h 835025"/>
                  <a:gd name="connsiteX58" fmla="*/ 584786 w 1101725"/>
                  <a:gd name="connsiteY58" fmla="*/ 195108 h 835025"/>
                  <a:gd name="connsiteX59" fmla="*/ 591950 w 1101725"/>
                  <a:gd name="connsiteY59" fmla="*/ 199406 h 835025"/>
                  <a:gd name="connsiteX60" fmla="*/ 682934 w 1101725"/>
                  <a:gd name="connsiteY60" fmla="*/ 380650 h 835025"/>
                  <a:gd name="connsiteX61" fmla="*/ 676486 w 1101725"/>
                  <a:gd name="connsiteY61" fmla="*/ 392112 h 835025"/>
                  <a:gd name="connsiteX62" fmla="*/ 609860 w 1101725"/>
                  <a:gd name="connsiteY62" fmla="*/ 392112 h 835025"/>
                  <a:gd name="connsiteX63" fmla="*/ 546100 w 1101725"/>
                  <a:gd name="connsiteY63" fmla="*/ 264597 h 835025"/>
                  <a:gd name="connsiteX64" fmla="*/ 577622 w 1101725"/>
                  <a:gd name="connsiteY64" fmla="*/ 199406 h 835025"/>
                  <a:gd name="connsiteX65" fmla="*/ 584786 w 1101725"/>
                  <a:gd name="connsiteY65" fmla="*/ 195108 h 835025"/>
                  <a:gd name="connsiteX66" fmla="*/ 252412 w 1101725"/>
                  <a:gd name="connsiteY66" fmla="*/ 188755 h 835025"/>
                  <a:gd name="connsiteX67" fmla="*/ 259568 w 1101725"/>
                  <a:gd name="connsiteY67" fmla="*/ 193043 h 835025"/>
                  <a:gd name="connsiteX68" fmla="*/ 387662 w 1101725"/>
                  <a:gd name="connsiteY68" fmla="*/ 448224 h 835025"/>
                  <a:gd name="connsiteX69" fmla="*/ 380506 w 1101725"/>
                  <a:gd name="connsiteY69" fmla="*/ 460375 h 835025"/>
                  <a:gd name="connsiteX70" fmla="*/ 124318 w 1101725"/>
                  <a:gd name="connsiteY70" fmla="*/ 460375 h 835025"/>
                  <a:gd name="connsiteX71" fmla="*/ 117162 w 1101725"/>
                  <a:gd name="connsiteY71" fmla="*/ 448224 h 835025"/>
                  <a:gd name="connsiteX72" fmla="*/ 245256 w 1101725"/>
                  <a:gd name="connsiteY72" fmla="*/ 193043 h 835025"/>
                  <a:gd name="connsiteX73" fmla="*/ 252412 w 1101725"/>
                  <a:gd name="connsiteY73" fmla="*/ 188755 h 835025"/>
                  <a:gd name="connsiteX74" fmla="*/ 885825 w 1101725"/>
                  <a:gd name="connsiteY74" fmla="*/ 0 h 835025"/>
                  <a:gd name="connsiteX75" fmla="*/ 969963 w 1101725"/>
                  <a:gd name="connsiteY75" fmla="*/ 84931 h 835025"/>
                  <a:gd name="connsiteX76" fmla="*/ 885825 w 1101725"/>
                  <a:gd name="connsiteY76" fmla="*/ 169862 h 835025"/>
                  <a:gd name="connsiteX77" fmla="*/ 801687 w 1101725"/>
                  <a:gd name="connsiteY77" fmla="*/ 84931 h 835025"/>
                  <a:gd name="connsiteX78" fmla="*/ 885825 w 1101725"/>
                  <a:gd name="connsiteY78" fmla="*/ 0 h 835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101725" h="835025">
                    <a:moveTo>
                      <a:pt x="1048901" y="725488"/>
                    </a:moveTo>
                    <a:cubicBezTo>
                      <a:pt x="1059608" y="725488"/>
                      <a:pt x="1070316" y="728371"/>
                      <a:pt x="1078168" y="734856"/>
                    </a:cubicBezTo>
                    <a:cubicBezTo>
                      <a:pt x="1086734" y="740622"/>
                      <a:pt x="1093873" y="749269"/>
                      <a:pt x="1097442" y="758637"/>
                    </a:cubicBezTo>
                    <a:cubicBezTo>
                      <a:pt x="1100298" y="765123"/>
                      <a:pt x="1101725" y="772330"/>
                      <a:pt x="1101725" y="779536"/>
                    </a:cubicBezTo>
                    <a:cubicBezTo>
                      <a:pt x="1101725" y="787463"/>
                      <a:pt x="1100298" y="794669"/>
                      <a:pt x="1097442" y="801155"/>
                    </a:cubicBezTo>
                    <a:cubicBezTo>
                      <a:pt x="1095301" y="807641"/>
                      <a:pt x="1091018" y="813406"/>
                      <a:pt x="1086021" y="818450"/>
                    </a:cubicBezTo>
                    <a:cubicBezTo>
                      <a:pt x="1083879" y="820612"/>
                      <a:pt x="1081024" y="822774"/>
                      <a:pt x="1078168" y="824936"/>
                    </a:cubicBezTo>
                    <a:cubicBezTo>
                      <a:pt x="1073885" y="828539"/>
                      <a:pt x="1068175" y="830701"/>
                      <a:pt x="1062464" y="832143"/>
                    </a:cubicBezTo>
                    <a:cubicBezTo>
                      <a:pt x="1058181" y="834304"/>
                      <a:pt x="1053898" y="835025"/>
                      <a:pt x="1048901" y="835025"/>
                    </a:cubicBezTo>
                    <a:cubicBezTo>
                      <a:pt x="1042476" y="835025"/>
                      <a:pt x="1036765" y="833584"/>
                      <a:pt x="1031055" y="831422"/>
                    </a:cubicBezTo>
                    <a:cubicBezTo>
                      <a:pt x="1031055" y="830701"/>
                      <a:pt x="1030341" y="830701"/>
                      <a:pt x="1029627" y="830701"/>
                    </a:cubicBezTo>
                    <a:cubicBezTo>
                      <a:pt x="1026058" y="829260"/>
                      <a:pt x="1022488" y="827098"/>
                      <a:pt x="1018919" y="824936"/>
                    </a:cubicBezTo>
                    <a:cubicBezTo>
                      <a:pt x="1016064" y="822774"/>
                      <a:pt x="1013208" y="820612"/>
                      <a:pt x="1011067" y="818450"/>
                    </a:cubicBezTo>
                    <a:cubicBezTo>
                      <a:pt x="1009639" y="817009"/>
                      <a:pt x="1008925" y="815568"/>
                      <a:pt x="1007498" y="814127"/>
                    </a:cubicBezTo>
                    <a:cubicBezTo>
                      <a:pt x="1004642" y="810523"/>
                      <a:pt x="1001787" y="806200"/>
                      <a:pt x="999645" y="801155"/>
                    </a:cubicBezTo>
                    <a:cubicBezTo>
                      <a:pt x="996790" y="794669"/>
                      <a:pt x="995362" y="787463"/>
                      <a:pt x="995362" y="779536"/>
                    </a:cubicBezTo>
                    <a:cubicBezTo>
                      <a:pt x="995362" y="772330"/>
                      <a:pt x="996790" y="765123"/>
                      <a:pt x="999645" y="758637"/>
                    </a:cubicBezTo>
                    <a:cubicBezTo>
                      <a:pt x="1003928" y="749269"/>
                      <a:pt x="1010353" y="740622"/>
                      <a:pt x="1018919" y="734856"/>
                    </a:cubicBezTo>
                    <a:cubicBezTo>
                      <a:pt x="1027485" y="728371"/>
                      <a:pt x="1037479" y="725488"/>
                      <a:pt x="1048901" y="725488"/>
                    </a:cubicBezTo>
                    <a:close/>
                    <a:moveTo>
                      <a:pt x="550142" y="725488"/>
                    </a:moveTo>
                    <a:cubicBezTo>
                      <a:pt x="560937" y="725488"/>
                      <a:pt x="571732" y="728371"/>
                      <a:pt x="581088" y="734856"/>
                    </a:cubicBezTo>
                    <a:cubicBezTo>
                      <a:pt x="589724" y="740622"/>
                      <a:pt x="596201" y="749269"/>
                      <a:pt x="600519" y="758637"/>
                    </a:cubicBezTo>
                    <a:cubicBezTo>
                      <a:pt x="602678" y="765123"/>
                      <a:pt x="604837" y="772330"/>
                      <a:pt x="604837" y="779536"/>
                    </a:cubicBezTo>
                    <a:cubicBezTo>
                      <a:pt x="604837" y="787463"/>
                      <a:pt x="602678" y="794669"/>
                      <a:pt x="600519" y="801155"/>
                    </a:cubicBezTo>
                    <a:cubicBezTo>
                      <a:pt x="597640" y="807641"/>
                      <a:pt x="593322" y="813406"/>
                      <a:pt x="589004" y="818450"/>
                    </a:cubicBezTo>
                    <a:cubicBezTo>
                      <a:pt x="589004" y="818450"/>
                      <a:pt x="589004" y="818450"/>
                      <a:pt x="588284" y="818450"/>
                    </a:cubicBezTo>
                    <a:cubicBezTo>
                      <a:pt x="586125" y="821333"/>
                      <a:pt x="583247" y="823495"/>
                      <a:pt x="581088" y="824936"/>
                    </a:cubicBezTo>
                    <a:cubicBezTo>
                      <a:pt x="577489" y="827098"/>
                      <a:pt x="572452" y="829260"/>
                      <a:pt x="568853" y="830701"/>
                    </a:cubicBezTo>
                    <a:cubicBezTo>
                      <a:pt x="567414" y="831422"/>
                      <a:pt x="565975" y="832143"/>
                      <a:pt x="564535" y="832143"/>
                    </a:cubicBezTo>
                    <a:cubicBezTo>
                      <a:pt x="559498" y="834304"/>
                      <a:pt x="555180" y="835025"/>
                      <a:pt x="550142" y="835025"/>
                    </a:cubicBezTo>
                    <a:cubicBezTo>
                      <a:pt x="543665" y="835025"/>
                      <a:pt x="537908" y="833584"/>
                      <a:pt x="532870" y="831422"/>
                    </a:cubicBezTo>
                    <a:cubicBezTo>
                      <a:pt x="532150" y="831422"/>
                      <a:pt x="532150" y="830701"/>
                      <a:pt x="531431" y="830701"/>
                    </a:cubicBezTo>
                    <a:cubicBezTo>
                      <a:pt x="527832" y="829260"/>
                      <a:pt x="523514" y="827098"/>
                      <a:pt x="519916" y="824936"/>
                    </a:cubicBezTo>
                    <a:cubicBezTo>
                      <a:pt x="517037" y="822774"/>
                      <a:pt x="514878" y="820612"/>
                      <a:pt x="512000" y="818450"/>
                    </a:cubicBezTo>
                    <a:cubicBezTo>
                      <a:pt x="511280" y="817009"/>
                      <a:pt x="509841" y="816289"/>
                      <a:pt x="509121" y="814847"/>
                    </a:cubicBezTo>
                    <a:cubicBezTo>
                      <a:pt x="505523" y="810523"/>
                      <a:pt x="502644" y="806200"/>
                      <a:pt x="500485" y="801155"/>
                    </a:cubicBezTo>
                    <a:cubicBezTo>
                      <a:pt x="498326" y="794669"/>
                      <a:pt x="496887" y="787463"/>
                      <a:pt x="496887" y="779536"/>
                    </a:cubicBezTo>
                    <a:cubicBezTo>
                      <a:pt x="496887" y="772330"/>
                      <a:pt x="498326" y="765123"/>
                      <a:pt x="500485" y="758637"/>
                    </a:cubicBezTo>
                    <a:cubicBezTo>
                      <a:pt x="504803" y="749269"/>
                      <a:pt x="511280" y="740622"/>
                      <a:pt x="519916" y="734856"/>
                    </a:cubicBezTo>
                    <a:cubicBezTo>
                      <a:pt x="528552" y="728371"/>
                      <a:pt x="539347" y="725488"/>
                      <a:pt x="550142" y="725488"/>
                    </a:cubicBezTo>
                    <a:close/>
                    <a:moveTo>
                      <a:pt x="53975" y="725488"/>
                    </a:moveTo>
                    <a:cubicBezTo>
                      <a:pt x="65338" y="725488"/>
                      <a:pt x="75281" y="728371"/>
                      <a:pt x="83803" y="734856"/>
                    </a:cubicBezTo>
                    <a:cubicBezTo>
                      <a:pt x="93036" y="740622"/>
                      <a:pt x="99427" y="749269"/>
                      <a:pt x="103689" y="758637"/>
                    </a:cubicBezTo>
                    <a:cubicBezTo>
                      <a:pt x="106529" y="765123"/>
                      <a:pt x="107950" y="772330"/>
                      <a:pt x="107950" y="779536"/>
                    </a:cubicBezTo>
                    <a:cubicBezTo>
                      <a:pt x="107950" y="787463"/>
                      <a:pt x="106529" y="794669"/>
                      <a:pt x="103689" y="801155"/>
                    </a:cubicBezTo>
                    <a:cubicBezTo>
                      <a:pt x="100848" y="807641"/>
                      <a:pt x="97297" y="813406"/>
                      <a:pt x="92325" y="818450"/>
                    </a:cubicBezTo>
                    <a:cubicBezTo>
                      <a:pt x="89485" y="820612"/>
                      <a:pt x="87354" y="822774"/>
                      <a:pt x="83803" y="824936"/>
                    </a:cubicBezTo>
                    <a:cubicBezTo>
                      <a:pt x="80252" y="827098"/>
                      <a:pt x="77411" y="829260"/>
                      <a:pt x="73150" y="830701"/>
                    </a:cubicBezTo>
                    <a:cubicBezTo>
                      <a:pt x="71730" y="831422"/>
                      <a:pt x="70309" y="831422"/>
                      <a:pt x="68179" y="832143"/>
                    </a:cubicBezTo>
                    <a:cubicBezTo>
                      <a:pt x="63918" y="834304"/>
                      <a:pt x="58946" y="835025"/>
                      <a:pt x="53975" y="835025"/>
                    </a:cubicBezTo>
                    <a:cubicBezTo>
                      <a:pt x="48293" y="835025"/>
                      <a:pt x="41901" y="833584"/>
                      <a:pt x="36220" y="831422"/>
                    </a:cubicBezTo>
                    <a:cubicBezTo>
                      <a:pt x="31959" y="829981"/>
                      <a:pt x="27697" y="827819"/>
                      <a:pt x="24146" y="824936"/>
                    </a:cubicBezTo>
                    <a:cubicBezTo>
                      <a:pt x="21306" y="822774"/>
                      <a:pt x="18465" y="820612"/>
                      <a:pt x="16334" y="818450"/>
                    </a:cubicBezTo>
                    <a:cubicBezTo>
                      <a:pt x="11363" y="813406"/>
                      <a:pt x="7102" y="807641"/>
                      <a:pt x="4971" y="801155"/>
                    </a:cubicBezTo>
                    <a:cubicBezTo>
                      <a:pt x="1420" y="794669"/>
                      <a:pt x="0" y="787463"/>
                      <a:pt x="0" y="779536"/>
                    </a:cubicBezTo>
                    <a:cubicBezTo>
                      <a:pt x="0" y="772330"/>
                      <a:pt x="1420" y="765123"/>
                      <a:pt x="4971" y="758637"/>
                    </a:cubicBezTo>
                    <a:cubicBezTo>
                      <a:pt x="8522" y="749269"/>
                      <a:pt x="15624" y="740622"/>
                      <a:pt x="24146" y="734856"/>
                    </a:cubicBezTo>
                    <a:cubicBezTo>
                      <a:pt x="31959" y="728371"/>
                      <a:pt x="42612" y="725488"/>
                      <a:pt x="53975" y="725488"/>
                    </a:cubicBezTo>
                    <a:close/>
                    <a:moveTo>
                      <a:pt x="584786" y="195108"/>
                    </a:moveTo>
                    <a:cubicBezTo>
                      <a:pt x="587652" y="195108"/>
                      <a:pt x="590517" y="196541"/>
                      <a:pt x="591950" y="199406"/>
                    </a:cubicBezTo>
                    <a:cubicBezTo>
                      <a:pt x="682934" y="380650"/>
                      <a:pt x="682934" y="380650"/>
                      <a:pt x="682934" y="380650"/>
                    </a:cubicBezTo>
                    <a:cubicBezTo>
                      <a:pt x="685800" y="385665"/>
                      <a:pt x="682218" y="392112"/>
                      <a:pt x="676486" y="392112"/>
                    </a:cubicBezTo>
                    <a:cubicBezTo>
                      <a:pt x="609860" y="392112"/>
                      <a:pt x="609860" y="392112"/>
                      <a:pt x="609860" y="392112"/>
                    </a:cubicBezTo>
                    <a:cubicBezTo>
                      <a:pt x="546100" y="264597"/>
                      <a:pt x="546100" y="264597"/>
                      <a:pt x="546100" y="264597"/>
                    </a:cubicBezTo>
                    <a:cubicBezTo>
                      <a:pt x="577622" y="199406"/>
                      <a:pt x="577622" y="199406"/>
                      <a:pt x="577622" y="199406"/>
                    </a:cubicBezTo>
                    <a:cubicBezTo>
                      <a:pt x="579055" y="196541"/>
                      <a:pt x="581920" y="195108"/>
                      <a:pt x="584786" y="195108"/>
                    </a:cubicBezTo>
                    <a:close/>
                    <a:moveTo>
                      <a:pt x="252412" y="188755"/>
                    </a:moveTo>
                    <a:cubicBezTo>
                      <a:pt x="255275" y="188755"/>
                      <a:pt x="258137" y="190184"/>
                      <a:pt x="259568" y="193043"/>
                    </a:cubicBezTo>
                    <a:cubicBezTo>
                      <a:pt x="259568" y="193043"/>
                      <a:pt x="259568" y="193043"/>
                      <a:pt x="387662" y="448224"/>
                    </a:cubicBezTo>
                    <a:cubicBezTo>
                      <a:pt x="390525" y="453942"/>
                      <a:pt x="386947" y="460375"/>
                      <a:pt x="380506" y="460375"/>
                    </a:cubicBezTo>
                    <a:cubicBezTo>
                      <a:pt x="380506" y="460375"/>
                      <a:pt x="380506" y="460375"/>
                      <a:pt x="124318" y="460375"/>
                    </a:cubicBezTo>
                    <a:cubicBezTo>
                      <a:pt x="117878" y="460375"/>
                      <a:pt x="114300" y="453942"/>
                      <a:pt x="117162" y="448224"/>
                    </a:cubicBezTo>
                    <a:cubicBezTo>
                      <a:pt x="117162" y="448224"/>
                      <a:pt x="117162" y="448224"/>
                      <a:pt x="245256" y="193043"/>
                    </a:cubicBezTo>
                    <a:cubicBezTo>
                      <a:pt x="246688" y="190184"/>
                      <a:pt x="249550" y="188755"/>
                      <a:pt x="252412" y="188755"/>
                    </a:cubicBezTo>
                    <a:close/>
                    <a:moveTo>
                      <a:pt x="885825" y="0"/>
                    </a:moveTo>
                    <a:cubicBezTo>
                      <a:pt x="932293" y="0"/>
                      <a:pt x="969963" y="38025"/>
                      <a:pt x="969963" y="84931"/>
                    </a:cubicBezTo>
                    <a:cubicBezTo>
                      <a:pt x="969963" y="131837"/>
                      <a:pt x="932293" y="169862"/>
                      <a:pt x="885825" y="169862"/>
                    </a:cubicBezTo>
                    <a:cubicBezTo>
                      <a:pt x="839357" y="169862"/>
                      <a:pt x="801687" y="131837"/>
                      <a:pt x="801687" y="84931"/>
                    </a:cubicBezTo>
                    <a:cubicBezTo>
                      <a:pt x="801687" y="38025"/>
                      <a:pt x="839357" y="0"/>
                      <a:pt x="885825" y="0"/>
                    </a:cubicBezTo>
                    <a:close/>
                  </a:path>
                </a:pathLst>
              </a:custGeom>
              <a:solidFill>
                <a:schemeClr val="tx2"/>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grpSp>
      </p:grpSp>
      <p:sp>
        <p:nvSpPr>
          <p:cNvPr id="6" name="Title 3">
            <a:extLst>
              <a:ext uri="{FF2B5EF4-FFF2-40B4-BE49-F238E27FC236}">
                <a16:creationId xmlns:a16="http://schemas.microsoft.com/office/drawing/2014/main" id="{43994803-7DA2-7246-7F88-2CA1709043E3}"/>
              </a:ext>
            </a:extLst>
          </p:cNvPr>
          <p:cNvSpPr txBox="1">
            <a:spLocks/>
          </p:cNvSpPr>
          <p:nvPr/>
        </p:nvSpPr>
        <p:spPr>
          <a:xfrm>
            <a:off x="184150" y="284162"/>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r>
              <a:rPr lang="en-US" sz="2800" cap="none">
                <a:solidFill>
                  <a:schemeClr val="tx1"/>
                </a:solidFill>
              </a:rPr>
              <a:t>Sprint Review &amp; Demo</a:t>
            </a:r>
          </a:p>
        </p:txBody>
      </p:sp>
      <p:sp>
        <p:nvSpPr>
          <p:cNvPr id="7" name="NavigationIcon">
            <a:extLst>
              <a:ext uri="{FF2B5EF4-FFF2-40B4-BE49-F238E27FC236}">
                <a16:creationId xmlns:a16="http://schemas.microsoft.com/office/drawing/2014/main" id="{F8B90649-BC47-88A3-BD0C-B5112CCA5D48}"/>
              </a:ext>
            </a:extLst>
          </p:cNvPr>
          <p:cNvSpPr>
            <a:spLocks noChangeAspect="1" noChangeArrowheads="1"/>
          </p:cNvSpPr>
          <p:nvPr>
            <p:custDataLst>
              <p:tags r:id="rId4"/>
            </p:custDataLst>
          </p:nvPr>
        </p:nvSpPr>
        <p:spPr bwMode="auto">
          <a:xfrm>
            <a:off x="609056" y="901942"/>
            <a:ext cx="365760" cy="365760"/>
          </a:xfrm>
          <a:prstGeom prst="ellipse">
            <a:avLst/>
          </a:prstGeom>
          <a:solidFill>
            <a:schemeClr val="tx1"/>
          </a:solidFill>
          <a:ln>
            <a:noFill/>
          </a:ln>
        </p:spPr>
        <p:txBody>
          <a:bodyPr vert="horz" wrap="square" lIns="123928" tIns="61964" rIns="123928" bIns="61964"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26">
                <a:solidFill>
                  <a:schemeClr val="bg1"/>
                </a:solidFill>
                <a:latin typeface="Calibri" panose="020F0502020204030204" pitchFamily="34" charset="0"/>
                <a:cs typeface="Calibri" panose="020F0502020204030204" pitchFamily="34" charset="0"/>
              </a:rPr>
              <a:t>D</a:t>
            </a:r>
            <a:endParaRPr kumimoji="0" lang="en-US" sz="1626" b="0" i="0" u="none" strike="noStrike" kern="1200" cap="none" spc="0" normalizeH="0" baseline="0" noProof="0">
              <a:ln>
                <a:noFill/>
              </a:ln>
              <a:solidFill>
                <a:schemeClr val="bg1"/>
              </a:solidFill>
              <a:effectLst/>
              <a:uLnTx/>
              <a:uFillTx/>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463C08AF-F955-2843-AB3B-F550907B89D5}"/>
              </a:ext>
            </a:extLst>
          </p:cNvPr>
          <p:cNvSpPr txBox="1"/>
          <p:nvPr/>
        </p:nvSpPr>
        <p:spPr>
          <a:xfrm>
            <a:off x="3434077" y="6381225"/>
            <a:ext cx="5457675" cy="369332"/>
          </a:xfrm>
          <a:prstGeom prst="rect">
            <a:avLst/>
          </a:prstGeom>
          <a:noFill/>
        </p:spPr>
        <p:txBody>
          <a:bodyPr wrap="square">
            <a:spAutoFit/>
          </a:bodyPr>
          <a:lstStyle/>
          <a:p>
            <a:r>
              <a:rPr lang="en-US" b="1">
                <a:solidFill>
                  <a:srgbClr val="D763C6"/>
                </a:solidFill>
                <a:latin typeface="Calibri" panose="020F0502020204030204" pitchFamily="34" charset="0"/>
                <a:cs typeface="Calibri" panose="020F0502020204030204" pitchFamily="34" charset="0"/>
              </a:rPr>
              <a:t>Collaborate with Stakeholders &amp; incorporate feedback</a:t>
            </a:r>
            <a:endParaRPr lang="en-US" b="1">
              <a:solidFill>
                <a:srgbClr val="D763C6"/>
              </a:solidFill>
            </a:endParaRPr>
          </a:p>
        </p:txBody>
      </p:sp>
    </p:spTree>
    <p:extLst>
      <p:ext uri="{BB962C8B-B14F-4D97-AF65-F5344CB8AC3E}">
        <p14:creationId xmlns:p14="http://schemas.microsoft.com/office/powerpoint/2010/main" val="26095415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 name="Object 46" hidden="1"/>
          <p:cNvGraphicFramePr>
            <a:graphicFrameLocks noChangeAspect="1"/>
          </p:cNvGraphicFramePr>
          <p:nvPr>
            <p:custDataLst>
              <p:tags r:id="rId1"/>
            </p:custDataLst>
          </p:nvPr>
        </p:nvGraphicFramePr>
        <p:xfrm>
          <a:off x="1525467" y="265237"/>
          <a:ext cx="1465" cy="1465"/>
        </p:xfrm>
        <a:graphic>
          <a:graphicData uri="http://schemas.openxmlformats.org/presentationml/2006/ole">
            <mc:AlternateContent xmlns:mc="http://schemas.openxmlformats.org/markup-compatibility/2006">
              <mc:Choice xmlns:v="urn:schemas-microsoft-com:vml" Requires="v">
                <p:oleObj name="think-cell Slide" r:id="rId5" imgW="360" imgH="360" progId="TCLayout.ActiveDocument.1">
                  <p:embed/>
                </p:oleObj>
              </mc:Choice>
              <mc:Fallback>
                <p:oleObj name="think-cell Slide" r:id="rId5" imgW="360" imgH="360" progId="TCLayout.ActiveDocument.1">
                  <p:embed/>
                  <p:pic>
                    <p:nvPicPr>
                      <p:cNvPr id="47" name="Object 46"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5467" y="265237"/>
                        <a:ext cx="1465" cy="14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2" hidden="1"/>
          <p:cNvSpPr/>
          <p:nvPr>
            <p:custDataLst>
              <p:tags r:id="rId2"/>
            </p:custDataLst>
          </p:nvPr>
        </p:nvSpPr>
        <p:spPr>
          <a:xfrm>
            <a:off x="0" y="0"/>
            <a:ext cx="158750" cy="158750"/>
          </a:xfrm>
          <a:prstGeom prst="rect">
            <a:avLst/>
          </a:prstGeom>
          <a:solidFill>
            <a:srgbClr val="E51B24"/>
          </a:solidFill>
          <a:ln w="9525" cap="rnd" cmpd="sng" algn="ctr">
            <a:solidFill>
              <a:srgbClr val="E51B2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rebuchet MS" panose="020B0603020202020204" pitchFamily="34" charset="0"/>
              <a:ea typeface="+mn-ea"/>
              <a:cs typeface="+mn-cs"/>
              <a:sym typeface="Trebuchet MS" panose="020B0603020202020204" pitchFamily="34" charset="0"/>
            </a:endParaRPr>
          </a:p>
        </p:txBody>
      </p:sp>
      <p:sp>
        <p:nvSpPr>
          <p:cNvPr id="23" name="TextBox 22"/>
          <p:cNvSpPr txBox="1"/>
          <p:nvPr/>
        </p:nvSpPr>
        <p:spPr>
          <a:xfrm>
            <a:off x="630827" y="1331503"/>
            <a:ext cx="5874421" cy="3600986"/>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n-AU" sz="1600" b="1" i="0" u="none" strike="noStrike" kern="1200" cap="none" spc="0" normalizeH="0" baseline="0" noProof="0">
                <a:ln>
                  <a:noFill/>
                </a:ln>
                <a:effectLst/>
                <a:uLnTx/>
                <a:uFillTx/>
                <a:latin typeface="Calibri" panose="020F0502020204030204" pitchFamily="34" charset="0"/>
                <a:cs typeface="Calibri" panose="020F0502020204030204" pitchFamily="34" charset="0"/>
              </a:rPr>
              <a:t>What is the Retrospective?</a:t>
            </a:r>
            <a:br>
              <a:rPr kumimoji="0" lang="en-AU" sz="1600" b="0" i="0" u="none" strike="noStrike" kern="1200" cap="none" spc="0" normalizeH="0" baseline="0" noProof="0">
                <a:ln>
                  <a:noFill/>
                </a:ln>
                <a:effectLst/>
                <a:uLnTx/>
                <a:uFillTx/>
                <a:latin typeface="Calibri" panose="020F0502020204030204" pitchFamily="34" charset="0"/>
                <a:cs typeface="Calibri" panose="020F0502020204030204" pitchFamily="34" charset="0"/>
              </a:rPr>
            </a:br>
            <a:r>
              <a:rPr kumimoji="0" lang="en-AU" sz="1600" b="0" i="0" u="none" strike="noStrike" kern="1200" cap="none" spc="0" normalizeH="0" baseline="0" noProof="0">
                <a:ln>
                  <a:noFill/>
                </a:ln>
                <a:effectLst/>
                <a:uLnTx/>
                <a:uFillTx/>
                <a:latin typeface="Calibri" panose="020F0502020204030204" pitchFamily="34" charset="0"/>
                <a:cs typeface="Calibri" panose="020F0502020204030204" pitchFamily="34" charset="0"/>
              </a:rPr>
              <a:t>At the end of the sprint, the Team holds an event to reflect on last sprint and identify actions for improvement</a:t>
            </a:r>
            <a:br>
              <a:rPr kumimoji="0" lang="en-AU" sz="1600" b="0" i="0" u="none" strike="noStrike" kern="1200" cap="none" spc="0" normalizeH="0" baseline="0" noProof="0">
                <a:ln>
                  <a:noFill/>
                </a:ln>
                <a:effectLst/>
                <a:uLnTx/>
                <a:uFillTx/>
                <a:latin typeface="Calibri" panose="020F0502020204030204" pitchFamily="34" charset="0"/>
                <a:cs typeface="Calibri" panose="020F0502020204030204" pitchFamily="34" charset="0"/>
              </a:rPr>
            </a:br>
            <a:endParaRPr kumimoji="0" lang="en-AU" sz="16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554"/>
              </a:spcBef>
              <a:spcAft>
                <a:spcPts val="277"/>
              </a:spcAft>
              <a:buClr>
                <a:srgbClr val="5BC6E8"/>
              </a:buClr>
              <a:buSzPct val="100000"/>
              <a:buFontTx/>
              <a:buNone/>
              <a:tabLst/>
              <a:defRPr/>
            </a:pPr>
            <a:r>
              <a:rPr kumimoji="0" lang="en-AU" sz="1600" b="1" i="0" u="none" strike="noStrike" kern="1200" cap="none" spc="0" normalizeH="0" baseline="0" noProof="0">
                <a:ln>
                  <a:noFill/>
                </a:ln>
                <a:effectLst/>
                <a:uLnTx/>
                <a:uFillTx/>
                <a:latin typeface="Calibri" panose="020F0502020204030204" pitchFamily="34" charset="0"/>
                <a:cs typeface="Calibri" panose="020F0502020204030204" pitchFamily="34" charset="0"/>
              </a:rPr>
              <a:t>Why do we do a Retrospective?</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AU" sz="1600" b="0" i="0" u="none" strike="noStrike" kern="1200" cap="none" spc="0" normalizeH="0" baseline="0" noProof="0">
                <a:ln>
                  <a:noFill/>
                </a:ln>
                <a:effectLst/>
                <a:uLnTx/>
                <a:uFillTx/>
                <a:latin typeface="Calibri" panose="020F0502020204030204" pitchFamily="34" charset="0"/>
                <a:cs typeface="Calibri" panose="020F0502020204030204" pitchFamily="34" charset="0"/>
              </a:rPr>
              <a:t>We want to celebrate what we achieved and did well</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AU" sz="1600" b="0" i="0" u="none" strike="noStrike" kern="1200" cap="none" spc="0" normalizeH="0" baseline="0" noProof="0">
                <a:ln>
                  <a:noFill/>
                </a:ln>
                <a:effectLst/>
                <a:uLnTx/>
                <a:uFillTx/>
                <a:latin typeface="Calibri" panose="020F0502020204030204" pitchFamily="34" charset="0"/>
                <a:cs typeface="Calibri" panose="020F0502020204030204" pitchFamily="34" charset="0"/>
              </a:rPr>
              <a:t>We want to discuss issues and improve our Team</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AU" sz="1600" b="0" i="0" u="none" strike="noStrike" kern="1200" cap="none" spc="0" normalizeH="0" baseline="0" noProof="0">
                <a:ln>
                  <a:noFill/>
                </a:ln>
                <a:effectLst/>
                <a:uLnTx/>
                <a:uFillTx/>
                <a:latin typeface="Calibri" panose="020F0502020204030204" pitchFamily="34" charset="0"/>
                <a:cs typeface="Calibri" panose="020F0502020204030204" pitchFamily="34" charset="0"/>
              </a:rPr>
              <a:t>We want to empower Team members to own any changes</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endParaRPr kumimoji="0" lang="en-AU" sz="1600" b="1" i="0" u="none" strike="noStrike" kern="1200" cap="none" spc="0" normalizeH="0" baseline="0" noProof="0">
              <a:ln>
                <a:noFill/>
              </a:ln>
              <a:effectLst/>
              <a:uLnTx/>
              <a:uFillTx/>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277"/>
              </a:spcAft>
              <a:buClr>
                <a:srgbClr val="5BC6E8"/>
              </a:buClr>
              <a:buSzPct val="100000"/>
              <a:buFontTx/>
              <a:buNone/>
              <a:tabLst/>
              <a:defRPr/>
            </a:pPr>
            <a:r>
              <a:rPr kumimoji="0" lang="en-AU" sz="1600" b="1" i="0" u="none" strike="noStrike" kern="1200" cap="none" spc="0" normalizeH="0" baseline="0" noProof="0">
                <a:ln>
                  <a:noFill/>
                </a:ln>
                <a:effectLst/>
                <a:uLnTx/>
                <a:uFillTx/>
                <a:latin typeface="Calibri" panose="020F0502020204030204" pitchFamily="34" charset="0"/>
                <a:cs typeface="Calibri" panose="020F0502020204030204" pitchFamily="34" charset="0"/>
              </a:rPr>
              <a:t>Who participates in the Retrospective?</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AU" sz="1600" b="0" i="0" u="none" strike="noStrike" kern="1200" cap="none" spc="0" normalizeH="0" baseline="0" noProof="0">
                <a:ln>
                  <a:noFill/>
                </a:ln>
                <a:effectLst/>
                <a:uLnTx/>
                <a:uFillTx/>
                <a:latin typeface="Calibri" panose="020F0502020204030204" pitchFamily="34" charset="0"/>
                <a:cs typeface="Calibri" panose="020F0502020204030204" pitchFamily="34" charset="0"/>
              </a:rPr>
              <a:t>Scrum Master facilitates this event</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AU" sz="1600" b="0" i="0" u="none" strike="noStrike" kern="1200" cap="none" spc="0" normalizeH="0" baseline="0" noProof="0">
                <a:ln>
                  <a:noFill/>
                </a:ln>
                <a:effectLst/>
                <a:uLnTx/>
                <a:uFillTx/>
                <a:latin typeface="Calibri" panose="020F0502020204030204" pitchFamily="34" charset="0"/>
                <a:cs typeface="Calibri" panose="020F0502020204030204" pitchFamily="34" charset="0"/>
              </a:rPr>
              <a:t>All Team members contribute to the discussion by recognizing accomplishments and </a:t>
            </a:r>
            <a:r>
              <a:rPr kumimoji="0" lang="en-GB" sz="1600" b="0" i="0" u="none" strike="noStrike" kern="1200" cap="none" spc="0" normalizeH="0" baseline="0" noProof="0">
                <a:ln>
                  <a:noFill/>
                </a:ln>
                <a:effectLst/>
                <a:uLnTx/>
                <a:uFillTx/>
                <a:latin typeface="Calibri" panose="020F0502020204030204" pitchFamily="34" charset="0"/>
                <a:cs typeface="Calibri" panose="020F0502020204030204" pitchFamily="34" charset="0"/>
              </a:rPr>
              <a:t>engaging in improvement discussions</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GB" sz="1600" b="0" i="0" u="none" strike="noStrike" kern="1200" cap="none" spc="0" normalizeH="0" baseline="0" noProof="0">
                <a:ln>
                  <a:noFill/>
                </a:ln>
                <a:effectLst/>
                <a:uLnTx/>
                <a:uFillTx/>
                <a:latin typeface="Calibri" panose="020F0502020204030204" pitchFamily="34" charset="0"/>
                <a:cs typeface="Calibri" panose="020F0502020204030204" pitchFamily="34" charset="0"/>
              </a:rPr>
              <a:t>Entire team</a:t>
            </a:r>
            <a:r>
              <a:rPr kumimoji="0" lang="en-AU" sz="1600" b="0" i="0" u="none" strike="noStrike" kern="1200" cap="none" spc="0" normalizeH="0" baseline="0" noProof="0">
                <a:ln>
                  <a:noFill/>
                </a:ln>
                <a:effectLst/>
                <a:uLnTx/>
                <a:uFillTx/>
                <a:latin typeface="Calibri" panose="020F0502020204030204" pitchFamily="34" charset="0"/>
                <a:cs typeface="Calibri" panose="020F0502020204030204" pitchFamily="34" charset="0"/>
              </a:rPr>
              <a:t> owns the resulting action items</a:t>
            </a:r>
          </a:p>
        </p:txBody>
      </p:sp>
      <p:cxnSp>
        <p:nvCxnSpPr>
          <p:cNvPr id="42" name="Straight Connector 41"/>
          <p:cNvCxnSpPr>
            <a:cxnSpLocks/>
          </p:cNvCxnSpPr>
          <p:nvPr/>
        </p:nvCxnSpPr>
        <p:spPr>
          <a:xfrm>
            <a:off x="6859185" y="1458976"/>
            <a:ext cx="54127" cy="4432859"/>
          </a:xfrm>
          <a:prstGeom prst="line">
            <a:avLst/>
          </a:prstGeom>
          <a:ln w="9525" cap="rnd">
            <a:solidFill>
              <a:schemeClr val="tx1">
                <a:lumMod val="60000"/>
                <a:lumOff val="40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8196520" y="1829229"/>
            <a:ext cx="3322210" cy="2704812"/>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Team provides input on:</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kumimoji="0" lang="en-US" sz="16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t>What went well?</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kumimoji="0" lang="en-US" sz="16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t>What could improve?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Team discusses key areas for improvement in the next sprint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Team aligns on action items against key areas of improvement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endParaRPr kumimoji="0" lang="en-US" sz="16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endParaRPr kumimoji="0" lang="en-US" sz="16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40" name="Rectangle 39"/>
          <p:cNvSpPr/>
          <p:nvPr/>
        </p:nvSpPr>
        <p:spPr>
          <a:xfrm>
            <a:off x="6963039" y="1289699"/>
            <a:ext cx="3952223" cy="33855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185"/>
              </a:spcAft>
              <a:buClr>
                <a:srgbClr val="5BC6E8"/>
              </a:buClr>
              <a:buSzPct val="100000"/>
              <a:buFontTx/>
              <a:buNone/>
              <a:tabLst/>
              <a:defRPr/>
            </a:pPr>
            <a:r>
              <a:rPr kumimoji="0" lang="en-AU" sz="1600" b="1" i="0" u="none" strike="noStrike" kern="1200" cap="none" spc="0" normalizeH="0" baseline="0" noProof="0">
                <a:ln>
                  <a:noFill/>
                </a:ln>
                <a:effectLst/>
                <a:uLnTx/>
                <a:uFillTx/>
                <a:latin typeface="Calibri" panose="020F0502020204030204" pitchFamily="34" charset="0"/>
                <a:cs typeface="Calibri" panose="020F0502020204030204" pitchFamily="34" charset="0"/>
              </a:rPr>
              <a:t>How to conduct a Retrospective</a:t>
            </a:r>
          </a:p>
        </p:txBody>
      </p:sp>
      <p:grpSp>
        <p:nvGrpSpPr>
          <p:cNvPr id="35" name="Group 34"/>
          <p:cNvGrpSpPr/>
          <p:nvPr/>
        </p:nvGrpSpPr>
        <p:grpSpPr>
          <a:xfrm rot="5194849">
            <a:off x="9182062" y="3761108"/>
            <a:ext cx="138996" cy="145552"/>
            <a:chOff x="7896709" y="213753"/>
            <a:chExt cx="138996" cy="145552"/>
          </a:xfrm>
        </p:grpSpPr>
        <p:sp>
          <p:nvSpPr>
            <p:cNvPr id="36" name="Freeform 35"/>
            <p:cNvSpPr/>
            <p:nvPr/>
          </p:nvSpPr>
          <p:spPr>
            <a:xfrm flipH="1">
              <a:off x="7896709" y="213753"/>
              <a:ext cx="58323" cy="145552"/>
            </a:xfrm>
            <a:custGeom>
              <a:avLst/>
              <a:gdLst>
                <a:gd name="connsiteX0" fmla="*/ 85917 w 98190"/>
                <a:gd name="connsiteY0" fmla="*/ 0 h 184107"/>
                <a:gd name="connsiteX1" fmla="*/ 0 w 98190"/>
                <a:gd name="connsiteY1" fmla="*/ 98191 h 184107"/>
                <a:gd name="connsiteX2" fmla="*/ 98190 w 98190"/>
                <a:gd name="connsiteY2" fmla="*/ 184107 h 184107"/>
              </a:gdLst>
              <a:ahLst/>
              <a:cxnLst>
                <a:cxn ang="0">
                  <a:pos x="connsiteX0" y="connsiteY0"/>
                </a:cxn>
                <a:cxn ang="0">
                  <a:pos x="connsiteX1" y="connsiteY1"/>
                </a:cxn>
                <a:cxn ang="0">
                  <a:pos x="connsiteX2" y="connsiteY2"/>
                </a:cxn>
              </a:cxnLst>
              <a:rect l="l" t="t" r="r" b="b"/>
              <a:pathLst>
                <a:path w="98190" h="184107">
                  <a:moveTo>
                    <a:pt x="85917" y="0"/>
                  </a:moveTo>
                  <a:lnTo>
                    <a:pt x="0" y="98191"/>
                  </a:lnTo>
                  <a:lnTo>
                    <a:pt x="98190" y="184107"/>
                  </a:lnTo>
                </a:path>
              </a:pathLst>
            </a:custGeom>
            <a:noFill/>
            <a:ln w="19050" cap="flat" cmpd="sng" algn="ctr">
              <a:solidFill>
                <a:srgbClr val="E51B24"/>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62" b="0" i="0" u="none" strike="noStrike" kern="1200" cap="none" spc="0" normalizeH="0" baseline="0" noProof="0">
                <a:ln>
                  <a:noFill/>
                </a:ln>
                <a:solidFill>
                  <a:srgbClr val="29BA74"/>
                </a:solidFill>
                <a:effectLst/>
                <a:uLnTx/>
                <a:uFillTx/>
                <a:latin typeface="Calibri" panose="020F0502020204030204" pitchFamily="34" charset="0"/>
                <a:cs typeface="Calibri" panose="020F0502020204030204" pitchFamily="34" charset="0"/>
              </a:endParaRPr>
            </a:p>
          </p:txBody>
        </p:sp>
        <p:sp>
          <p:nvSpPr>
            <p:cNvPr id="37" name="Freeform 36"/>
            <p:cNvSpPr/>
            <p:nvPr/>
          </p:nvSpPr>
          <p:spPr>
            <a:xfrm flipH="1">
              <a:off x="7977382" y="213753"/>
              <a:ext cx="58323" cy="145552"/>
            </a:xfrm>
            <a:custGeom>
              <a:avLst/>
              <a:gdLst>
                <a:gd name="connsiteX0" fmla="*/ 85917 w 98190"/>
                <a:gd name="connsiteY0" fmla="*/ 0 h 184107"/>
                <a:gd name="connsiteX1" fmla="*/ 0 w 98190"/>
                <a:gd name="connsiteY1" fmla="*/ 98191 h 184107"/>
                <a:gd name="connsiteX2" fmla="*/ 98190 w 98190"/>
                <a:gd name="connsiteY2" fmla="*/ 184107 h 184107"/>
              </a:gdLst>
              <a:ahLst/>
              <a:cxnLst>
                <a:cxn ang="0">
                  <a:pos x="connsiteX0" y="connsiteY0"/>
                </a:cxn>
                <a:cxn ang="0">
                  <a:pos x="connsiteX1" y="connsiteY1"/>
                </a:cxn>
                <a:cxn ang="0">
                  <a:pos x="connsiteX2" y="connsiteY2"/>
                </a:cxn>
              </a:cxnLst>
              <a:rect l="l" t="t" r="r" b="b"/>
              <a:pathLst>
                <a:path w="98190" h="184107">
                  <a:moveTo>
                    <a:pt x="85917" y="0"/>
                  </a:moveTo>
                  <a:lnTo>
                    <a:pt x="0" y="98191"/>
                  </a:lnTo>
                  <a:lnTo>
                    <a:pt x="98190" y="184107"/>
                  </a:lnTo>
                </a:path>
              </a:pathLst>
            </a:custGeom>
            <a:noFill/>
            <a:ln w="19050" cap="flat" cmpd="sng" algn="ctr">
              <a:solidFill>
                <a:srgbClr val="E51B24"/>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62" b="0" i="0" u="none" strike="noStrike" kern="1200" cap="none" spc="0" normalizeH="0" baseline="0" noProof="0">
                <a:ln>
                  <a:noFill/>
                </a:ln>
                <a:solidFill>
                  <a:srgbClr val="29BA74"/>
                </a:solidFill>
                <a:effectLst/>
                <a:uLnTx/>
                <a:uFillTx/>
                <a:latin typeface="Calibri" panose="020F0502020204030204" pitchFamily="34" charset="0"/>
                <a:cs typeface="Calibri" panose="020F0502020204030204" pitchFamily="34" charset="0"/>
              </a:endParaRPr>
            </a:p>
          </p:txBody>
        </p:sp>
      </p:grpSp>
      <p:grpSp>
        <p:nvGrpSpPr>
          <p:cNvPr id="38" name="Group 37"/>
          <p:cNvGrpSpPr/>
          <p:nvPr/>
        </p:nvGrpSpPr>
        <p:grpSpPr>
          <a:xfrm rot="5194849">
            <a:off x="9182062" y="2800507"/>
            <a:ext cx="138996" cy="145552"/>
            <a:chOff x="7896709" y="213753"/>
            <a:chExt cx="138996" cy="145552"/>
          </a:xfrm>
        </p:grpSpPr>
        <p:sp>
          <p:nvSpPr>
            <p:cNvPr id="41" name="Freeform 40"/>
            <p:cNvSpPr/>
            <p:nvPr/>
          </p:nvSpPr>
          <p:spPr>
            <a:xfrm flipH="1">
              <a:off x="7896709" y="213753"/>
              <a:ext cx="58323" cy="145552"/>
            </a:xfrm>
            <a:custGeom>
              <a:avLst/>
              <a:gdLst>
                <a:gd name="connsiteX0" fmla="*/ 85917 w 98190"/>
                <a:gd name="connsiteY0" fmla="*/ 0 h 184107"/>
                <a:gd name="connsiteX1" fmla="*/ 0 w 98190"/>
                <a:gd name="connsiteY1" fmla="*/ 98191 h 184107"/>
                <a:gd name="connsiteX2" fmla="*/ 98190 w 98190"/>
                <a:gd name="connsiteY2" fmla="*/ 184107 h 184107"/>
              </a:gdLst>
              <a:ahLst/>
              <a:cxnLst>
                <a:cxn ang="0">
                  <a:pos x="connsiteX0" y="connsiteY0"/>
                </a:cxn>
                <a:cxn ang="0">
                  <a:pos x="connsiteX1" y="connsiteY1"/>
                </a:cxn>
                <a:cxn ang="0">
                  <a:pos x="connsiteX2" y="connsiteY2"/>
                </a:cxn>
              </a:cxnLst>
              <a:rect l="l" t="t" r="r" b="b"/>
              <a:pathLst>
                <a:path w="98190" h="184107">
                  <a:moveTo>
                    <a:pt x="85917" y="0"/>
                  </a:moveTo>
                  <a:lnTo>
                    <a:pt x="0" y="98191"/>
                  </a:lnTo>
                  <a:lnTo>
                    <a:pt x="98190" y="184107"/>
                  </a:lnTo>
                </a:path>
              </a:pathLst>
            </a:custGeom>
            <a:noFill/>
            <a:ln w="19050" cap="flat" cmpd="sng" algn="ctr">
              <a:solidFill>
                <a:srgbClr val="E51B24"/>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62" b="0" i="0" u="none" strike="noStrike" kern="1200" cap="none" spc="0" normalizeH="0" baseline="0" noProof="0">
                <a:ln>
                  <a:noFill/>
                </a:ln>
                <a:solidFill>
                  <a:srgbClr val="29BA74"/>
                </a:solidFill>
                <a:effectLst/>
                <a:uLnTx/>
                <a:uFillTx/>
                <a:latin typeface="Calibri" panose="020F0502020204030204" pitchFamily="34" charset="0"/>
                <a:cs typeface="Calibri" panose="020F0502020204030204" pitchFamily="34" charset="0"/>
              </a:endParaRPr>
            </a:p>
          </p:txBody>
        </p:sp>
        <p:sp>
          <p:nvSpPr>
            <p:cNvPr id="43" name="Freeform 42"/>
            <p:cNvSpPr/>
            <p:nvPr/>
          </p:nvSpPr>
          <p:spPr>
            <a:xfrm flipH="1">
              <a:off x="7977382" y="213753"/>
              <a:ext cx="58323" cy="145552"/>
            </a:xfrm>
            <a:custGeom>
              <a:avLst/>
              <a:gdLst>
                <a:gd name="connsiteX0" fmla="*/ 85917 w 98190"/>
                <a:gd name="connsiteY0" fmla="*/ 0 h 184107"/>
                <a:gd name="connsiteX1" fmla="*/ 0 w 98190"/>
                <a:gd name="connsiteY1" fmla="*/ 98191 h 184107"/>
                <a:gd name="connsiteX2" fmla="*/ 98190 w 98190"/>
                <a:gd name="connsiteY2" fmla="*/ 184107 h 184107"/>
              </a:gdLst>
              <a:ahLst/>
              <a:cxnLst>
                <a:cxn ang="0">
                  <a:pos x="connsiteX0" y="connsiteY0"/>
                </a:cxn>
                <a:cxn ang="0">
                  <a:pos x="connsiteX1" y="connsiteY1"/>
                </a:cxn>
                <a:cxn ang="0">
                  <a:pos x="connsiteX2" y="connsiteY2"/>
                </a:cxn>
              </a:cxnLst>
              <a:rect l="l" t="t" r="r" b="b"/>
              <a:pathLst>
                <a:path w="98190" h="184107">
                  <a:moveTo>
                    <a:pt x="85917" y="0"/>
                  </a:moveTo>
                  <a:lnTo>
                    <a:pt x="0" y="98191"/>
                  </a:lnTo>
                  <a:lnTo>
                    <a:pt x="98190" y="184107"/>
                  </a:lnTo>
                </a:path>
              </a:pathLst>
            </a:custGeom>
            <a:noFill/>
            <a:ln w="19050" cap="flat" cmpd="sng" algn="ctr">
              <a:solidFill>
                <a:srgbClr val="E51B24"/>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62" b="0" i="0" u="none" strike="noStrike" kern="1200" cap="none" spc="0" normalizeH="0" baseline="0" noProof="0">
                <a:ln>
                  <a:noFill/>
                </a:ln>
                <a:solidFill>
                  <a:srgbClr val="29BA74"/>
                </a:solidFill>
                <a:effectLst/>
                <a:uLnTx/>
                <a:uFillTx/>
                <a:latin typeface="Calibri" panose="020F0502020204030204" pitchFamily="34" charset="0"/>
                <a:cs typeface="Calibri" panose="020F0502020204030204" pitchFamily="34" charset="0"/>
              </a:endParaRPr>
            </a:p>
          </p:txBody>
        </p:sp>
      </p:grpSp>
      <p:grpSp>
        <p:nvGrpSpPr>
          <p:cNvPr id="6" name="Group 5"/>
          <p:cNvGrpSpPr>
            <a:grpSpLocks/>
          </p:cNvGrpSpPr>
          <p:nvPr/>
        </p:nvGrpSpPr>
        <p:grpSpPr>
          <a:xfrm>
            <a:off x="7059842" y="2866468"/>
            <a:ext cx="890128" cy="890128"/>
            <a:chOff x="7455436" y="5721543"/>
            <a:chExt cx="1112660" cy="1112660"/>
          </a:xfrm>
        </p:grpSpPr>
        <p:sp>
          <p:nvSpPr>
            <p:cNvPr id="45" name="Oval 44"/>
            <p:cNvSpPr/>
            <p:nvPr/>
          </p:nvSpPr>
          <p:spPr>
            <a:xfrm>
              <a:off x="7455436" y="5721543"/>
              <a:ext cx="1112660" cy="1112660"/>
            </a:xfrm>
            <a:prstGeom prst="ellipse">
              <a:avLst/>
            </a:prstGeom>
            <a:solidFill>
              <a:srgbClr val="FFFFFF"/>
            </a:solidFill>
            <a:ln w="17780" cap="rnd" cmpd="sng" algn="ctr">
              <a:solidFill>
                <a:srgbClr val="DADADA"/>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grpSp>
          <p:nvGrpSpPr>
            <p:cNvPr id="46" name="Group 45"/>
            <p:cNvGrpSpPr>
              <a:grpSpLocks noChangeAspect="1"/>
            </p:cNvGrpSpPr>
            <p:nvPr/>
          </p:nvGrpSpPr>
          <p:grpSpPr>
            <a:xfrm>
              <a:off x="7597609" y="5863333"/>
              <a:ext cx="828313" cy="829080"/>
              <a:chOff x="5273801" y="2606040"/>
              <a:chExt cx="1644396" cy="1645920"/>
            </a:xfrm>
          </p:grpSpPr>
          <p:sp>
            <p:nvSpPr>
              <p:cNvPr id="48" name="AutoShape 18">
                <a:extLst>
                  <a:ext uri="{FF2B5EF4-FFF2-40B4-BE49-F238E27FC236}">
                    <a16:creationId xmlns:a16="http://schemas.microsoft.com/office/drawing/2014/main" id="{100AC5BD-F30F-4F9C-94F8-3ECEAAF56365}"/>
                  </a:ext>
                </a:extLst>
              </p:cNvPr>
              <p:cNvSpPr>
                <a:spLocks noChangeAspect="1" noChangeArrowheads="1" noTextEdit="1"/>
              </p:cNvSpPr>
              <p:nvPr/>
            </p:nvSpPr>
            <p:spPr bwMode="auto">
              <a:xfrm>
                <a:off x="5273801" y="2606040"/>
                <a:ext cx="1644396" cy="1645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3152" tIns="36576" rIns="73152" bIns="3657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grpSp>
            <p:nvGrpSpPr>
              <p:cNvPr id="49" name="Group 48"/>
              <p:cNvGrpSpPr/>
              <p:nvPr/>
            </p:nvGrpSpPr>
            <p:grpSpPr>
              <a:xfrm>
                <a:off x="5388863" y="2953131"/>
                <a:ext cx="1409319" cy="967359"/>
                <a:chOff x="5388863" y="2953131"/>
                <a:chExt cx="1409319" cy="967359"/>
              </a:xfrm>
            </p:grpSpPr>
            <p:sp>
              <p:nvSpPr>
                <p:cNvPr id="50" name="Freeform 20">
                  <a:extLst>
                    <a:ext uri="{FF2B5EF4-FFF2-40B4-BE49-F238E27FC236}">
                      <a16:creationId xmlns:a16="http://schemas.microsoft.com/office/drawing/2014/main" id="{D44F01FC-0979-4CF2-A046-0010F3FF82EE}"/>
                    </a:ext>
                  </a:extLst>
                </p:cNvPr>
                <p:cNvSpPr>
                  <a:spLocks noEditPoints="1"/>
                </p:cNvSpPr>
                <p:nvPr/>
              </p:nvSpPr>
              <p:spPr bwMode="auto">
                <a:xfrm>
                  <a:off x="5388863" y="3167634"/>
                  <a:ext cx="737235" cy="752856"/>
                </a:xfrm>
                <a:custGeom>
                  <a:avLst/>
                  <a:gdLst>
                    <a:gd name="T0" fmla="*/ 989 w 1033"/>
                    <a:gd name="T1" fmla="*/ 0 h 1054"/>
                    <a:gd name="T2" fmla="*/ 44 w 1033"/>
                    <a:gd name="T3" fmla="*/ 0 h 1054"/>
                    <a:gd name="T4" fmla="*/ 0 w 1033"/>
                    <a:gd name="T5" fmla="*/ 44 h 1054"/>
                    <a:gd name="T6" fmla="*/ 0 w 1033"/>
                    <a:gd name="T7" fmla="*/ 725 h 1054"/>
                    <a:gd name="T8" fmla="*/ 44 w 1033"/>
                    <a:gd name="T9" fmla="*/ 769 h 1054"/>
                    <a:gd name="T10" fmla="*/ 299 w 1033"/>
                    <a:gd name="T11" fmla="*/ 769 h 1054"/>
                    <a:gd name="T12" fmla="*/ 299 w 1033"/>
                    <a:gd name="T13" fmla="*/ 1010 h 1054"/>
                    <a:gd name="T14" fmla="*/ 300 w 1033"/>
                    <a:gd name="T15" fmla="*/ 1017 h 1054"/>
                    <a:gd name="T16" fmla="*/ 337 w 1033"/>
                    <a:gd name="T17" fmla="*/ 1053 h 1054"/>
                    <a:gd name="T18" fmla="*/ 347 w 1033"/>
                    <a:gd name="T19" fmla="*/ 1054 h 1054"/>
                    <a:gd name="T20" fmla="*/ 401 w 1033"/>
                    <a:gd name="T21" fmla="*/ 1026 h 1054"/>
                    <a:gd name="T22" fmla="*/ 469 w 1033"/>
                    <a:gd name="T23" fmla="*/ 951 h 1054"/>
                    <a:gd name="T24" fmla="*/ 637 w 1033"/>
                    <a:gd name="T25" fmla="*/ 769 h 1054"/>
                    <a:gd name="T26" fmla="*/ 989 w 1033"/>
                    <a:gd name="T27" fmla="*/ 769 h 1054"/>
                    <a:gd name="T28" fmla="*/ 1033 w 1033"/>
                    <a:gd name="T29" fmla="*/ 725 h 1054"/>
                    <a:gd name="T30" fmla="*/ 1033 w 1033"/>
                    <a:gd name="T31" fmla="*/ 44 h 1054"/>
                    <a:gd name="T32" fmla="*/ 989 w 1033"/>
                    <a:gd name="T33" fmla="*/ 0 h 1054"/>
                    <a:gd name="T34" fmla="*/ 832 w 1033"/>
                    <a:gd name="T35" fmla="*/ 552 h 1054"/>
                    <a:gd name="T36" fmla="*/ 201 w 1033"/>
                    <a:gd name="T37" fmla="*/ 552 h 1054"/>
                    <a:gd name="T38" fmla="*/ 179 w 1033"/>
                    <a:gd name="T39" fmla="*/ 530 h 1054"/>
                    <a:gd name="T40" fmla="*/ 201 w 1033"/>
                    <a:gd name="T41" fmla="*/ 508 h 1054"/>
                    <a:gd name="T42" fmla="*/ 832 w 1033"/>
                    <a:gd name="T43" fmla="*/ 508 h 1054"/>
                    <a:gd name="T44" fmla="*/ 854 w 1033"/>
                    <a:gd name="T45" fmla="*/ 530 h 1054"/>
                    <a:gd name="T46" fmla="*/ 832 w 1033"/>
                    <a:gd name="T47" fmla="*/ 552 h 1054"/>
                    <a:gd name="T48" fmla="*/ 832 w 1033"/>
                    <a:gd name="T49" fmla="*/ 415 h 1054"/>
                    <a:gd name="T50" fmla="*/ 201 w 1033"/>
                    <a:gd name="T51" fmla="*/ 415 h 1054"/>
                    <a:gd name="T52" fmla="*/ 179 w 1033"/>
                    <a:gd name="T53" fmla="*/ 393 h 1054"/>
                    <a:gd name="T54" fmla="*/ 201 w 1033"/>
                    <a:gd name="T55" fmla="*/ 371 h 1054"/>
                    <a:gd name="T56" fmla="*/ 832 w 1033"/>
                    <a:gd name="T57" fmla="*/ 371 h 1054"/>
                    <a:gd name="T58" fmla="*/ 854 w 1033"/>
                    <a:gd name="T59" fmla="*/ 393 h 1054"/>
                    <a:gd name="T60" fmla="*/ 832 w 1033"/>
                    <a:gd name="T61" fmla="*/ 415 h 1054"/>
                    <a:gd name="T62" fmla="*/ 832 w 1033"/>
                    <a:gd name="T63" fmla="*/ 279 h 1054"/>
                    <a:gd name="T64" fmla="*/ 201 w 1033"/>
                    <a:gd name="T65" fmla="*/ 279 h 1054"/>
                    <a:gd name="T66" fmla="*/ 179 w 1033"/>
                    <a:gd name="T67" fmla="*/ 257 h 1054"/>
                    <a:gd name="T68" fmla="*/ 201 w 1033"/>
                    <a:gd name="T69" fmla="*/ 235 h 1054"/>
                    <a:gd name="T70" fmla="*/ 832 w 1033"/>
                    <a:gd name="T71" fmla="*/ 235 h 1054"/>
                    <a:gd name="T72" fmla="*/ 854 w 1033"/>
                    <a:gd name="T73" fmla="*/ 257 h 1054"/>
                    <a:gd name="T74" fmla="*/ 832 w 1033"/>
                    <a:gd name="T75" fmla="*/ 279 h 10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33" h="1054">
                      <a:moveTo>
                        <a:pt x="989" y="0"/>
                      </a:moveTo>
                      <a:cubicBezTo>
                        <a:pt x="44" y="0"/>
                        <a:pt x="44" y="0"/>
                        <a:pt x="44" y="0"/>
                      </a:cubicBezTo>
                      <a:cubicBezTo>
                        <a:pt x="20" y="0"/>
                        <a:pt x="0" y="20"/>
                        <a:pt x="0" y="44"/>
                      </a:cubicBezTo>
                      <a:cubicBezTo>
                        <a:pt x="0" y="725"/>
                        <a:pt x="0" y="725"/>
                        <a:pt x="0" y="725"/>
                      </a:cubicBezTo>
                      <a:cubicBezTo>
                        <a:pt x="0" y="750"/>
                        <a:pt x="20" y="769"/>
                        <a:pt x="44" y="769"/>
                      </a:cubicBezTo>
                      <a:cubicBezTo>
                        <a:pt x="299" y="769"/>
                        <a:pt x="299" y="769"/>
                        <a:pt x="299" y="769"/>
                      </a:cubicBezTo>
                      <a:cubicBezTo>
                        <a:pt x="299" y="1010"/>
                        <a:pt x="299" y="1010"/>
                        <a:pt x="299" y="1010"/>
                      </a:cubicBezTo>
                      <a:cubicBezTo>
                        <a:pt x="299" y="1012"/>
                        <a:pt x="299" y="1015"/>
                        <a:pt x="300" y="1017"/>
                      </a:cubicBezTo>
                      <a:cubicBezTo>
                        <a:pt x="301" y="1020"/>
                        <a:pt x="311" y="1047"/>
                        <a:pt x="337" y="1053"/>
                      </a:cubicBezTo>
                      <a:cubicBezTo>
                        <a:pt x="341" y="1054"/>
                        <a:pt x="344" y="1054"/>
                        <a:pt x="347" y="1054"/>
                      </a:cubicBezTo>
                      <a:cubicBezTo>
                        <a:pt x="365" y="1054"/>
                        <a:pt x="383" y="1045"/>
                        <a:pt x="401" y="1026"/>
                      </a:cubicBezTo>
                      <a:cubicBezTo>
                        <a:pt x="414" y="1013"/>
                        <a:pt x="438" y="986"/>
                        <a:pt x="469" y="951"/>
                      </a:cubicBezTo>
                      <a:cubicBezTo>
                        <a:pt x="516" y="899"/>
                        <a:pt x="579" y="829"/>
                        <a:pt x="637" y="769"/>
                      </a:cubicBezTo>
                      <a:cubicBezTo>
                        <a:pt x="989" y="769"/>
                        <a:pt x="989" y="769"/>
                        <a:pt x="989" y="769"/>
                      </a:cubicBezTo>
                      <a:cubicBezTo>
                        <a:pt x="1013" y="769"/>
                        <a:pt x="1033" y="750"/>
                        <a:pt x="1033" y="725"/>
                      </a:cubicBezTo>
                      <a:cubicBezTo>
                        <a:pt x="1033" y="44"/>
                        <a:pt x="1033" y="44"/>
                        <a:pt x="1033" y="44"/>
                      </a:cubicBezTo>
                      <a:cubicBezTo>
                        <a:pt x="1033" y="20"/>
                        <a:pt x="1013" y="0"/>
                        <a:pt x="989" y="0"/>
                      </a:cubicBezTo>
                      <a:close/>
                      <a:moveTo>
                        <a:pt x="832" y="552"/>
                      </a:moveTo>
                      <a:cubicBezTo>
                        <a:pt x="201" y="552"/>
                        <a:pt x="201" y="552"/>
                        <a:pt x="201" y="552"/>
                      </a:cubicBezTo>
                      <a:cubicBezTo>
                        <a:pt x="189" y="552"/>
                        <a:pt x="179" y="543"/>
                        <a:pt x="179" y="530"/>
                      </a:cubicBezTo>
                      <a:cubicBezTo>
                        <a:pt x="179" y="518"/>
                        <a:pt x="189" y="508"/>
                        <a:pt x="201" y="508"/>
                      </a:cubicBezTo>
                      <a:cubicBezTo>
                        <a:pt x="832" y="508"/>
                        <a:pt x="832" y="508"/>
                        <a:pt x="832" y="508"/>
                      </a:cubicBezTo>
                      <a:cubicBezTo>
                        <a:pt x="844" y="508"/>
                        <a:pt x="854" y="518"/>
                        <a:pt x="854" y="530"/>
                      </a:cubicBezTo>
                      <a:cubicBezTo>
                        <a:pt x="854" y="543"/>
                        <a:pt x="844" y="552"/>
                        <a:pt x="832" y="552"/>
                      </a:cubicBezTo>
                      <a:close/>
                      <a:moveTo>
                        <a:pt x="832" y="415"/>
                      </a:moveTo>
                      <a:cubicBezTo>
                        <a:pt x="201" y="415"/>
                        <a:pt x="201" y="415"/>
                        <a:pt x="201" y="415"/>
                      </a:cubicBezTo>
                      <a:cubicBezTo>
                        <a:pt x="189" y="415"/>
                        <a:pt x="179" y="405"/>
                        <a:pt x="179" y="393"/>
                      </a:cubicBezTo>
                      <a:cubicBezTo>
                        <a:pt x="179" y="380"/>
                        <a:pt x="189" y="371"/>
                        <a:pt x="201" y="371"/>
                      </a:cubicBezTo>
                      <a:cubicBezTo>
                        <a:pt x="832" y="371"/>
                        <a:pt x="832" y="371"/>
                        <a:pt x="832" y="371"/>
                      </a:cubicBezTo>
                      <a:cubicBezTo>
                        <a:pt x="844" y="371"/>
                        <a:pt x="854" y="380"/>
                        <a:pt x="854" y="393"/>
                      </a:cubicBezTo>
                      <a:cubicBezTo>
                        <a:pt x="854" y="405"/>
                        <a:pt x="844" y="415"/>
                        <a:pt x="832" y="415"/>
                      </a:cubicBezTo>
                      <a:close/>
                      <a:moveTo>
                        <a:pt x="832" y="279"/>
                      </a:moveTo>
                      <a:cubicBezTo>
                        <a:pt x="201" y="279"/>
                        <a:pt x="201" y="279"/>
                        <a:pt x="201" y="279"/>
                      </a:cubicBezTo>
                      <a:cubicBezTo>
                        <a:pt x="189" y="279"/>
                        <a:pt x="179" y="269"/>
                        <a:pt x="179" y="257"/>
                      </a:cubicBezTo>
                      <a:cubicBezTo>
                        <a:pt x="179" y="245"/>
                        <a:pt x="189" y="235"/>
                        <a:pt x="201" y="235"/>
                      </a:cubicBezTo>
                      <a:cubicBezTo>
                        <a:pt x="832" y="235"/>
                        <a:pt x="832" y="235"/>
                        <a:pt x="832" y="235"/>
                      </a:cubicBezTo>
                      <a:cubicBezTo>
                        <a:pt x="844" y="235"/>
                        <a:pt x="854" y="245"/>
                        <a:pt x="854" y="257"/>
                      </a:cubicBezTo>
                      <a:cubicBezTo>
                        <a:pt x="854" y="269"/>
                        <a:pt x="844" y="279"/>
                        <a:pt x="832" y="27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3152" tIns="36576" rIns="73152" bIns="3657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51" name="Freeform 21">
                  <a:extLst>
                    <a:ext uri="{FF2B5EF4-FFF2-40B4-BE49-F238E27FC236}">
                      <a16:creationId xmlns:a16="http://schemas.microsoft.com/office/drawing/2014/main" id="{9FEAEA2A-1D9C-469F-A298-EC5C9220C30F}"/>
                    </a:ext>
                  </a:extLst>
                </p:cNvPr>
                <p:cNvSpPr>
                  <a:spLocks noEditPoints="1"/>
                </p:cNvSpPr>
                <p:nvPr/>
              </p:nvSpPr>
              <p:spPr bwMode="auto">
                <a:xfrm>
                  <a:off x="6060947" y="2953131"/>
                  <a:ext cx="737235" cy="752856"/>
                </a:xfrm>
                <a:custGeom>
                  <a:avLst/>
                  <a:gdLst>
                    <a:gd name="T0" fmla="*/ 1033 w 1033"/>
                    <a:gd name="T1" fmla="*/ 44 h 1054"/>
                    <a:gd name="T2" fmla="*/ 1033 w 1033"/>
                    <a:gd name="T3" fmla="*/ 725 h 1054"/>
                    <a:gd name="T4" fmla="*/ 989 w 1033"/>
                    <a:gd name="T5" fmla="*/ 769 h 1054"/>
                    <a:gd name="T6" fmla="*/ 734 w 1033"/>
                    <a:gd name="T7" fmla="*/ 769 h 1054"/>
                    <a:gd name="T8" fmla="*/ 734 w 1033"/>
                    <a:gd name="T9" fmla="*/ 1010 h 1054"/>
                    <a:gd name="T10" fmla="*/ 733 w 1033"/>
                    <a:gd name="T11" fmla="*/ 1017 h 1054"/>
                    <a:gd name="T12" fmla="*/ 696 w 1033"/>
                    <a:gd name="T13" fmla="*/ 1053 h 1054"/>
                    <a:gd name="T14" fmla="*/ 686 w 1033"/>
                    <a:gd name="T15" fmla="*/ 1054 h 1054"/>
                    <a:gd name="T16" fmla="*/ 632 w 1033"/>
                    <a:gd name="T17" fmla="*/ 1025 h 1054"/>
                    <a:gd name="T18" fmla="*/ 564 w 1033"/>
                    <a:gd name="T19" fmla="*/ 951 h 1054"/>
                    <a:gd name="T20" fmla="*/ 396 w 1033"/>
                    <a:gd name="T21" fmla="*/ 769 h 1054"/>
                    <a:gd name="T22" fmla="*/ 135 w 1033"/>
                    <a:gd name="T23" fmla="*/ 769 h 1054"/>
                    <a:gd name="T24" fmla="*/ 135 w 1033"/>
                    <a:gd name="T25" fmla="*/ 725 h 1054"/>
                    <a:gd name="T26" fmla="*/ 405 w 1033"/>
                    <a:gd name="T27" fmla="*/ 725 h 1054"/>
                    <a:gd name="T28" fmla="*/ 421 w 1033"/>
                    <a:gd name="T29" fmla="*/ 732 h 1054"/>
                    <a:gd name="T30" fmla="*/ 597 w 1033"/>
                    <a:gd name="T31" fmla="*/ 922 h 1054"/>
                    <a:gd name="T32" fmla="*/ 663 w 1033"/>
                    <a:gd name="T33" fmla="*/ 994 h 1054"/>
                    <a:gd name="T34" fmla="*/ 686 w 1033"/>
                    <a:gd name="T35" fmla="*/ 1010 h 1054"/>
                    <a:gd name="T36" fmla="*/ 690 w 1033"/>
                    <a:gd name="T37" fmla="*/ 1005 h 1054"/>
                    <a:gd name="T38" fmla="*/ 690 w 1033"/>
                    <a:gd name="T39" fmla="*/ 747 h 1054"/>
                    <a:gd name="T40" fmla="*/ 712 w 1033"/>
                    <a:gd name="T41" fmla="*/ 725 h 1054"/>
                    <a:gd name="T42" fmla="*/ 989 w 1033"/>
                    <a:gd name="T43" fmla="*/ 725 h 1054"/>
                    <a:gd name="T44" fmla="*/ 989 w 1033"/>
                    <a:gd name="T45" fmla="*/ 44 h 1054"/>
                    <a:gd name="T46" fmla="*/ 44 w 1033"/>
                    <a:gd name="T47" fmla="*/ 44 h 1054"/>
                    <a:gd name="T48" fmla="*/ 44 w 1033"/>
                    <a:gd name="T49" fmla="*/ 256 h 1054"/>
                    <a:gd name="T50" fmla="*/ 0 w 1033"/>
                    <a:gd name="T51" fmla="*/ 256 h 1054"/>
                    <a:gd name="T52" fmla="*/ 0 w 1033"/>
                    <a:gd name="T53" fmla="*/ 44 h 1054"/>
                    <a:gd name="T54" fmla="*/ 44 w 1033"/>
                    <a:gd name="T55" fmla="*/ 0 h 1054"/>
                    <a:gd name="T56" fmla="*/ 989 w 1033"/>
                    <a:gd name="T57" fmla="*/ 0 h 1054"/>
                    <a:gd name="T58" fmla="*/ 1033 w 1033"/>
                    <a:gd name="T59" fmla="*/ 44 h 1054"/>
                    <a:gd name="T60" fmla="*/ 835 w 1033"/>
                    <a:gd name="T61" fmla="*/ 247 h 1054"/>
                    <a:gd name="T62" fmla="*/ 813 w 1033"/>
                    <a:gd name="T63" fmla="*/ 225 h 1054"/>
                    <a:gd name="T64" fmla="*/ 220 w 1033"/>
                    <a:gd name="T65" fmla="*/ 225 h 1054"/>
                    <a:gd name="T66" fmla="*/ 198 w 1033"/>
                    <a:gd name="T67" fmla="*/ 247 h 1054"/>
                    <a:gd name="T68" fmla="*/ 220 w 1033"/>
                    <a:gd name="T69" fmla="*/ 269 h 1054"/>
                    <a:gd name="T70" fmla="*/ 813 w 1033"/>
                    <a:gd name="T71" fmla="*/ 269 h 1054"/>
                    <a:gd name="T72" fmla="*/ 835 w 1033"/>
                    <a:gd name="T73" fmla="*/ 247 h 1054"/>
                    <a:gd name="T74" fmla="*/ 835 w 1033"/>
                    <a:gd name="T75" fmla="*/ 383 h 1054"/>
                    <a:gd name="T76" fmla="*/ 813 w 1033"/>
                    <a:gd name="T77" fmla="*/ 361 h 1054"/>
                    <a:gd name="T78" fmla="*/ 220 w 1033"/>
                    <a:gd name="T79" fmla="*/ 361 h 1054"/>
                    <a:gd name="T80" fmla="*/ 198 w 1033"/>
                    <a:gd name="T81" fmla="*/ 383 h 1054"/>
                    <a:gd name="T82" fmla="*/ 220 w 1033"/>
                    <a:gd name="T83" fmla="*/ 405 h 1054"/>
                    <a:gd name="T84" fmla="*/ 813 w 1033"/>
                    <a:gd name="T85" fmla="*/ 405 h 1054"/>
                    <a:gd name="T86" fmla="*/ 835 w 1033"/>
                    <a:gd name="T87" fmla="*/ 383 h 1054"/>
                    <a:gd name="T88" fmla="*/ 835 w 1033"/>
                    <a:gd name="T89" fmla="*/ 521 h 1054"/>
                    <a:gd name="T90" fmla="*/ 813 w 1033"/>
                    <a:gd name="T91" fmla="*/ 499 h 1054"/>
                    <a:gd name="T92" fmla="*/ 220 w 1033"/>
                    <a:gd name="T93" fmla="*/ 499 h 1054"/>
                    <a:gd name="T94" fmla="*/ 198 w 1033"/>
                    <a:gd name="T95" fmla="*/ 521 h 1054"/>
                    <a:gd name="T96" fmla="*/ 220 w 1033"/>
                    <a:gd name="T97" fmla="*/ 543 h 1054"/>
                    <a:gd name="T98" fmla="*/ 813 w 1033"/>
                    <a:gd name="T99" fmla="*/ 543 h 1054"/>
                    <a:gd name="T100" fmla="*/ 835 w 1033"/>
                    <a:gd name="T101" fmla="*/ 521 h 10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033" h="1054">
                      <a:moveTo>
                        <a:pt x="1033" y="44"/>
                      </a:moveTo>
                      <a:cubicBezTo>
                        <a:pt x="1033" y="725"/>
                        <a:pt x="1033" y="725"/>
                        <a:pt x="1033" y="725"/>
                      </a:cubicBezTo>
                      <a:cubicBezTo>
                        <a:pt x="1033" y="750"/>
                        <a:pt x="1013" y="769"/>
                        <a:pt x="989" y="769"/>
                      </a:cubicBezTo>
                      <a:cubicBezTo>
                        <a:pt x="734" y="769"/>
                        <a:pt x="734" y="769"/>
                        <a:pt x="734" y="769"/>
                      </a:cubicBezTo>
                      <a:cubicBezTo>
                        <a:pt x="734" y="1010"/>
                        <a:pt x="734" y="1010"/>
                        <a:pt x="734" y="1010"/>
                      </a:cubicBezTo>
                      <a:cubicBezTo>
                        <a:pt x="734" y="1012"/>
                        <a:pt x="734" y="1015"/>
                        <a:pt x="733" y="1017"/>
                      </a:cubicBezTo>
                      <a:cubicBezTo>
                        <a:pt x="732" y="1020"/>
                        <a:pt x="722" y="1047"/>
                        <a:pt x="696" y="1053"/>
                      </a:cubicBezTo>
                      <a:cubicBezTo>
                        <a:pt x="693" y="1054"/>
                        <a:pt x="689" y="1054"/>
                        <a:pt x="686" y="1054"/>
                      </a:cubicBezTo>
                      <a:cubicBezTo>
                        <a:pt x="668" y="1054"/>
                        <a:pt x="650" y="1044"/>
                        <a:pt x="632" y="1025"/>
                      </a:cubicBezTo>
                      <a:cubicBezTo>
                        <a:pt x="619" y="1013"/>
                        <a:pt x="595" y="985"/>
                        <a:pt x="564" y="951"/>
                      </a:cubicBezTo>
                      <a:cubicBezTo>
                        <a:pt x="517" y="899"/>
                        <a:pt x="454" y="829"/>
                        <a:pt x="396" y="769"/>
                      </a:cubicBezTo>
                      <a:cubicBezTo>
                        <a:pt x="135" y="769"/>
                        <a:pt x="135" y="769"/>
                        <a:pt x="135" y="769"/>
                      </a:cubicBezTo>
                      <a:cubicBezTo>
                        <a:pt x="135" y="725"/>
                        <a:pt x="135" y="725"/>
                        <a:pt x="135" y="725"/>
                      </a:cubicBezTo>
                      <a:cubicBezTo>
                        <a:pt x="405" y="725"/>
                        <a:pt x="405" y="725"/>
                        <a:pt x="405" y="725"/>
                      </a:cubicBezTo>
                      <a:cubicBezTo>
                        <a:pt x="411" y="725"/>
                        <a:pt x="417" y="728"/>
                        <a:pt x="421" y="732"/>
                      </a:cubicBezTo>
                      <a:cubicBezTo>
                        <a:pt x="481" y="793"/>
                        <a:pt x="548" y="867"/>
                        <a:pt x="597" y="922"/>
                      </a:cubicBezTo>
                      <a:cubicBezTo>
                        <a:pt x="627" y="956"/>
                        <a:pt x="651" y="982"/>
                        <a:pt x="663" y="994"/>
                      </a:cubicBezTo>
                      <a:cubicBezTo>
                        <a:pt x="677" y="1008"/>
                        <a:pt x="684" y="1010"/>
                        <a:pt x="686" y="1010"/>
                      </a:cubicBezTo>
                      <a:cubicBezTo>
                        <a:pt x="687" y="1010"/>
                        <a:pt x="689" y="1008"/>
                        <a:pt x="690" y="1005"/>
                      </a:cubicBezTo>
                      <a:cubicBezTo>
                        <a:pt x="690" y="747"/>
                        <a:pt x="690" y="747"/>
                        <a:pt x="690" y="747"/>
                      </a:cubicBezTo>
                      <a:cubicBezTo>
                        <a:pt x="690" y="735"/>
                        <a:pt x="700" y="725"/>
                        <a:pt x="712" y="725"/>
                      </a:cubicBezTo>
                      <a:cubicBezTo>
                        <a:pt x="989" y="725"/>
                        <a:pt x="989" y="725"/>
                        <a:pt x="989" y="725"/>
                      </a:cubicBezTo>
                      <a:cubicBezTo>
                        <a:pt x="989" y="44"/>
                        <a:pt x="989" y="44"/>
                        <a:pt x="989" y="44"/>
                      </a:cubicBezTo>
                      <a:cubicBezTo>
                        <a:pt x="44" y="44"/>
                        <a:pt x="44" y="44"/>
                        <a:pt x="44" y="44"/>
                      </a:cubicBezTo>
                      <a:cubicBezTo>
                        <a:pt x="44" y="256"/>
                        <a:pt x="44" y="256"/>
                        <a:pt x="44" y="256"/>
                      </a:cubicBezTo>
                      <a:cubicBezTo>
                        <a:pt x="0" y="256"/>
                        <a:pt x="0" y="256"/>
                        <a:pt x="0" y="256"/>
                      </a:cubicBezTo>
                      <a:cubicBezTo>
                        <a:pt x="0" y="44"/>
                        <a:pt x="0" y="44"/>
                        <a:pt x="0" y="44"/>
                      </a:cubicBezTo>
                      <a:cubicBezTo>
                        <a:pt x="0" y="20"/>
                        <a:pt x="20" y="0"/>
                        <a:pt x="44" y="0"/>
                      </a:cubicBezTo>
                      <a:cubicBezTo>
                        <a:pt x="989" y="0"/>
                        <a:pt x="989" y="0"/>
                        <a:pt x="989" y="0"/>
                      </a:cubicBezTo>
                      <a:cubicBezTo>
                        <a:pt x="1013" y="0"/>
                        <a:pt x="1033" y="20"/>
                        <a:pt x="1033" y="44"/>
                      </a:cubicBezTo>
                      <a:close/>
                      <a:moveTo>
                        <a:pt x="835" y="247"/>
                      </a:moveTo>
                      <a:cubicBezTo>
                        <a:pt x="835" y="235"/>
                        <a:pt x="826" y="225"/>
                        <a:pt x="813" y="225"/>
                      </a:cubicBezTo>
                      <a:cubicBezTo>
                        <a:pt x="220" y="225"/>
                        <a:pt x="220" y="225"/>
                        <a:pt x="220" y="225"/>
                      </a:cubicBezTo>
                      <a:cubicBezTo>
                        <a:pt x="208" y="225"/>
                        <a:pt x="198" y="235"/>
                        <a:pt x="198" y="247"/>
                      </a:cubicBezTo>
                      <a:cubicBezTo>
                        <a:pt x="198" y="259"/>
                        <a:pt x="208" y="269"/>
                        <a:pt x="220" y="269"/>
                      </a:cubicBezTo>
                      <a:cubicBezTo>
                        <a:pt x="813" y="269"/>
                        <a:pt x="813" y="269"/>
                        <a:pt x="813" y="269"/>
                      </a:cubicBezTo>
                      <a:cubicBezTo>
                        <a:pt x="826" y="269"/>
                        <a:pt x="835" y="259"/>
                        <a:pt x="835" y="247"/>
                      </a:cubicBezTo>
                      <a:close/>
                      <a:moveTo>
                        <a:pt x="835" y="383"/>
                      </a:moveTo>
                      <a:cubicBezTo>
                        <a:pt x="835" y="371"/>
                        <a:pt x="826" y="361"/>
                        <a:pt x="813" y="361"/>
                      </a:cubicBezTo>
                      <a:cubicBezTo>
                        <a:pt x="220" y="361"/>
                        <a:pt x="220" y="361"/>
                        <a:pt x="220" y="361"/>
                      </a:cubicBezTo>
                      <a:cubicBezTo>
                        <a:pt x="208" y="361"/>
                        <a:pt x="198" y="371"/>
                        <a:pt x="198" y="383"/>
                      </a:cubicBezTo>
                      <a:cubicBezTo>
                        <a:pt x="198" y="395"/>
                        <a:pt x="208" y="405"/>
                        <a:pt x="220" y="405"/>
                      </a:cubicBezTo>
                      <a:cubicBezTo>
                        <a:pt x="813" y="405"/>
                        <a:pt x="813" y="405"/>
                        <a:pt x="813" y="405"/>
                      </a:cubicBezTo>
                      <a:cubicBezTo>
                        <a:pt x="826" y="405"/>
                        <a:pt x="835" y="395"/>
                        <a:pt x="835" y="383"/>
                      </a:cubicBezTo>
                      <a:close/>
                      <a:moveTo>
                        <a:pt x="835" y="521"/>
                      </a:moveTo>
                      <a:cubicBezTo>
                        <a:pt x="835" y="508"/>
                        <a:pt x="826" y="499"/>
                        <a:pt x="813" y="499"/>
                      </a:cubicBezTo>
                      <a:cubicBezTo>
                        <a:pt x="220" y="499"/>
                        <a:pt x="220" y="499"/>
                        <a:pt x="220" y="499"/>
                      </a:cubicBezTo>
                      <a:cubicBezTo>
                        <a:pt x="208" y="499"/>
                        <a:pt x="198" y="508"/>
                        <a:pt x="198" y="521"/>
                      </a:cubicBezTo>
                      <a:cubicBezTo>
                        <a:pt x="198" y="533"/>
                        <a:pt x="208" y="543"/>
                        <a:pt x="220" y="543"/>
                      </a:cubicBezTo>
                      <a:cubicBezTo>
                        <a:pt x="813" y="543"/>
                        <a:pt x="813" y="543"/>
                        <a:pt x="813" y="543"/>
                      </a:cubicBezTo>
                      <a:cubicBezTo>
                        <a:pt x="826" y="543"/>
                        <a:pt x="835" y="533"/>
                        <a:pt x="835" y="52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3152" tIns="36576" rIns="73152" bIns="3657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grpSp>
        </p:grpSp>
      </p:grpSp>
      <p:grpSp>
        <p:nvGrpSpPr>
          <p:cNvPr id="4" name="Group 3"/>
          <p:cNvGrpSpPr>
            <a:grpSpLocks/>
          </p:cNvGrpSpPr>
          <p:nvPr/>
        </p:nvGrpSpPr>
        <p:grpSpPr>
          <a:xfrm>
            <a:off x="7059842" y="1782986"/>
            <a:ext cx="890128" cy="890128"/>
            <a:chOff x="10033055" y="5671452"/>
            <a:chExt cx="1112660" cy="1112660"/>
          </a:xfrm>
        </p:grpSpPr>
        <p:sp>
          <p:nvSpPr>
            <p:cNvPr id="53" name="Oval 52"/>
            <p:cNvSpPr/>
            <p:nvPr/>
          </p:nvSpPr>
          <p:spPr>
            <a:xfrm>
              <a:off x="10033055" y="5671452"/>
              <a:ext cx="1112660" cy="1112660"/>
            </a:xfrm>
            <a:prstGeom prst="ellipse">
              <a:avLst/>
            </a:prstGeom>
            <a:solidFill>
              <a:srgbClr val="FFFFFF"/>
            </a:solidFill>
            <a:ln w="17780" cap="rnd" cmpd="sng" algn="ctr">
              <a:solidFill>
                <a:srgbClr val="DADADA"/>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grpSp>
          <p:nvGrpSpPr>
            <p:cNvPr id="14" name="bcgIcons_QuestionMark">
              <a:extLst>
                <a:ext uri="{FF2B5EF4-FFF2-40B4-BE49-F238E27FC236}">
                  <a16:creationId xmlns:a16="http://schemas.microsoft.com/office/drawing/2014/main" id="{0EF1C9E0-0ACD-47BD-AA0B-B78A8959BC76}"/>
                </a:ext>
              </a:extLst>
            </p:cNvPr>
            <p:cNvGrpSpPr>
              <a:grpSpLocks noChangeAspect="1"/>
            </p:cNvGrpSpPr>
            <p:nvPr/>
          </p:nvGrpSpPr>
          <p:grpSpPr bwMode="auto">
            <a:xfrm>
              <a:off x="10143020" y="5781004"/>
              <a:ext cx="892729" cy="893556"/>
              <a:chOff x="1682" y="0"/>
              <a:chExt cx="4316" cy="4320"/>
            </a:xfrm>
          </p:grpSpPr>
          <p:sp>
            <p:nvSpPr>
              <p:cNvPr id="15" name="AutoShape 13">
                <a:extLst>
                  <a:ext uri="{FF2B5EF4-FFF2-40B4-BE49-F238E27FC236}">
                    <a16:creationId xmlns:a16="http://schemas.microsoft.com/office/drawing/2014/main" id="{291A52DF-4C18-4290-8D69-642FF10F5795}"/>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3152" tIns="36576" rIns="73152" bIns="3657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6" name="Freeform 15">
                <a:extLst>
                  <a:ext uri="{FF2B5EF4-FFF2-40B4-BE49-F238E27FC236}">
                    <a16:creationId xmlns:a16="http://schemas.microsoft.com/office/drawing/2014/main" id="{5A4A6029-163C-47CC-8FB7-41D574FF9E75}"/>
                  </a:ext>
                </a:extLst>
              </p:cNvPr>
              <p:cNvSpPr>
                <a:spLocks noEditPoints="1"/>
              </p:cNvSpPr>
              <p:nvPr/>
            </p:nvSpPr>
            <p:spPr bwMode="auto">
              <a:xfrm>
                <a:off x="3023" y="480"/>
                <a:ext cx="1613" cy="3356"/>
              </a:xfrm>
              <a:custGeom>
                <a:avLst/>
                <a:gdLst>
                  <a:gd name="T0" fmla="*/ 700 w 861"/>
                  <a:gd name="T1" fmla="*/ 141 h 1790"/>
                  <a:gd name="T2" fmla="*/ 788 w 861"/>
                  <a:gd name="T3" fmla="*/ 563 h 1790"/>
                  <a:gd name="T4" fmla="*/ 551 w 861"/>
                  <a:gd name="T5" fmla="*/ 860 h 1790"/>
                  <a:gd name="T6" fmla="*/ 486 w 861"/>
                  <a:gd name="T7" fmla="*/ 1162 h 1790"/>
                  <a:gd name="T8" fmla="*/ 277 w 861"/>
                  <a:gd name="T9" fmla="*/ 1215 h 1790"/>
                  <a:gd name="T10" fmla="*/ 229 w 861"/>
                  <a:gd name="T11" fmla="*/ 1031 h 1790"/>
                  <a:gd name="T12" fmla="*/ 390 w 861"/>
                  <a:gd name="T13" fmla="*/ 669 h 1790"/>
                  <a:gd name="T14" fmla="*/ 539 w 861"/>
                  <a:gd name="T15" fmla="*/ 423 h 1790"/>
                  <a:gd name="T16" fmla="*/ 366 w 861"/>
                  <a:gd name="T17" fmla="*/ 288 h 1790"/>
                  <a:gd name="T18" fmla="*/ 172 w 861"/>
                  <a:gd name="T19" fmla="*/ 391 h 1790"/>
                  <a:gd name="T20" fmla="*/ 82 w 861"/>
                  <a:gd name="T21" fmla="*/ 138 h 1790"/>
                  <a:gd name="T22" fmla="*/ 400 w 861"/>
                  <a:gd name="T23" fmla="*/ 1351 h 1790"/>
                  <a:gd name="T24" fmla="*/ 597 w 861"/>
                  <a:gd name="T25" fmla="*/ 1548 h 1790"/>
                  <a:gd name="T26" fmla="*/ 400 w 861"/>
                  <a:gd name="T27" fmla="*/ 1746 h 1790"/>
                  <a:gd name="T28" fmla="*/ 203 w 861"/>
                  <a:gd name="T29" fmla="*/ 1548 h 1790"/>
                  <a:gd name="T30" fmla="*/ 400 w 861"/>
                  <a:gd name="T31" fmla="*/ 1351 h 1790"/>
                  <a:gd name="T32" fmla="*/ 54 w 861"/>
                  <a:gd name="T33" fmla="*/ 104 h 1790"/>
                  <a:gd name="T34" fmla="*/ 0 w 861"/>
                  <a:gd name="T35" fmla="*/ 149 h 1790"/>
                  <a:gd name="T36" fmla="*/ 133 w 861"/>
                  <a:gd name="T37" fmla="*/ 411 h 1790"/>
                  <a:gd name="T38" fmla="*/ 203 w 861"/>
                  <a:gd name="T39" fmla="*/ 423 h 1790"/>
                  <a:gd name="T40" fmla="*/ 366 w 861"/>
                  <a:gd name="T41" fmla="*/ 332 h 1790"/>
                  <a:gd name="T42" fmla="*/ 495 w 861"/>
                  <a:gd name="T43" fmla="*/ 423 h 1790"/>
                  <a:gd name="T44" fmla="*/ 357 w 861"/>
                  <a:gd name="T45" fmla="*/ 640 h 1790"/>
                  <a:gd name="T46" fmla="*/ 185 w 861"/>
                  <a:gd name="T47" fmla="*/ 1031 h 1790"/>
                  <a:gd name="T48" fmla="*/ 236 w 861"/>
                  <a:gd name="T49" fmla="*/ 1230 h 1790"/>
                  <a:gd name="T50" fmla="*/ 277 w 861"/>
                  <a:gd name="T51" fmla="*/ 1259 h 1790"/>
                  <a:gd name="T52" fmla="*/ 550 w 861"/>
                  <a:gd name="T53" fmla="*/ 1259 h 1790"/>
                  <a:gd name="T54" fmla="*/ 529 w 861"/>
                  <a:gd name="T55" fmla="*/ 1154 h 1790"/>
                  <a:gd name="T56" fmla="*/ 585 w 861"/>
                  <a:gd name="T57" fmla="*/ 889 h 1790"/>
                  <a:gd name="T58" fmla="*/ 829 w 861"/>
                  <a:gd name="T59" fmla="*/ 579 h 1790"/>
                  <a:gd name="T60" fmla="*/ 729 w 861"/>
                  <a:gd name="T61" fmla="*/ 108 h 1790"/>
                  <a:gd name="T62" fmla="*/ 400 w 861"/>
                  <a:gd name="T63" fmla="*/ 1307 h 1790"/>
                  <a:gd name="T64" fmla="*/ 159 w 861"/>
                  <a:gd name="T65" fmla="*/ 1548 h 1790"/>
                  <a:gd name="T66" fmla="*/ 400 w 861"/>
                  <a:gd name="T67" fmla="*/ 1790 h 1790"/>
                  <a:gd name="T68" fmla="*/ 641 w 861"/>
                  <a:gd name="T69" fmla="*/ 1548 h 1790"/>
                  <a:gd name="T70" fmla="*/ 400 w 861"/>
                  <a:gd name="T71" fmla="*/ 1307 h 1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61" h="1790">
                    <a:moveTo>
                      <a:pt x="417" y="44"/>
                    </a:moveTo>
                    <a:cubicBezTo>
                      <a:pt x="529" y="44"/>
                      <a:pt x="625" y="76"/>
                      <a:pt x="700" y="141"/>
                    </a:cubicBezTo>
                    <a:cubicBezTo>
                      <a:pt x="778" y="207"/>
                      <a:pt x="817" y="296"/>
                      <a:pt x="817" y="406"/>
                    </a:cubicBezTo>
                    <a:cubicBezTo>
                      <a:pt x="817" y="460"/>
                      <a:pt x="807" y="513"/>
                      <a:pt x="788" y="563"/>
                    </a:cubicBezTo>
                    <a:cubicBezTo>
                      <a:pt x="769" y="613"/>
                      <a:pt x="739" y="660"/>
                      <a:pt x="699" y="702"/>
                    </a:cubicBezTo>
                    <a:cubicBezTo>
                      <a:pt x="551" y="860"/>
                      <a:pt x="551" y="860"/>
                      <a:pt x="551" y="860"/>
                    </a:cubicBezTo>
                    <a:cubicBezTo>
                      <a:pt x="498" y="926"/>
                      <a:pt x="472" y="997"/>
                      <a:pt x="472" y="1078"/>
                    </a:cubicBezTo>
                    <a:cubicBezTo>
                      <a:pt x="472" y="1083"/>
                      <a:pt x="474" y="1102"/>
                      <a:pt x="486" y="1162"/>
                    </a:cubicBezTo>
                    <a:cubicBezTo>
                      <a:pt x="496" y="1215"/>
                      <a:pt x="496" y="1215"/>
                      <a:pt x="496" y="1215"/>
                    </a:cubicBezTo>
                    <a:cubicBezTo>
                      <a:pt x="277" y="1215"/>
                      <a:pt x="277" y="1215"/>
                      <a:pt x="277" y="1215"/>
                    </a:cubicBezTo>
                    <a:cubicBezTo>
                      <a:pt x="267" y="1186"/>
                      <a:pt x="267" y="1186"/>
                      <a:pt x="267" y="1186"/>
                    </a:cubicBezTo>
                    <a:cubicBezTo>
                      <a:pt x="242" y="1116"/>
                      <a:pt x="229" y="1065"/>
                      <a:pt x="229" y="1031"/>
                    </a:cubicBezTo>
                    <a:cubicBezTo>
                      <a:pt x="229" y="978"/>
                      <a:pt x="239" y="922"/>
                      <a:pt x="259" y="867"/>
                    </a:cubicBezTo>
                    <a:cubicBezTo>
                      <a:pt x="279" y="810"/>
                      <a:pt x="322" y="745"/>
                      <a:pt x="390" y="669"/>
                    </a:cubicBezTo>
                    <a:cubicBezTo>
                      <a:pt x="451" y="601"/>
                      <a:pt x="492" y="548"/>
                      <a:pt x="513" y="513"/>
                    </a:cubicBezTo>
                    <a:cubicBezTo>
                      <a:pt x="530" y="482"/>
                      <a:pt x="539" y="451"/>
                      <a:pt x="539" y="423"/>
                    </a:cubicBezTo>
                    <a:cubicBezTo>
                      <a:pt x="539" y="377"/>
                      <a:pt x="527" y="344"/>
                      <a:pt x="501" y="323"/>
                    </a:cubicBezTo>
                    <a:cubicBezTo>
                      <a:pt x="473" y="300"/>
                      <a:pt x="428" y="288"/>
                      <a:pt x="366" y="288"/>
                    </a:cubicBezTo>
                    <a:cubicBezTo>
                      <a:pt x="308" y="288"/>
                      <a:pt x="259" y="308"/>
                      <a:pt x="215" y="350"/>
                    </a:cubicBezTo>
                    <a:cubicBezTo>
                      <a:pt x="172" y="391"/>
                      <a:pt x="172" y="391"/>
                      <a:pt x="172" y="391"/>
                    </a:cubicBezTo>
                    <a:cubicBezTo>
                      <a:pt x="55" y="161"/>
                      <a:pt x="55" y="161"/>
                      <a:pt x="55" y="161"/>
                    </a:cubicBezTo>
                    <a:cubicBezTo>
                      <a:pt x="82" y="138"/>
                      <a:pt x="82" y="138"/>
                      <a:pt x="82" y="138"/>
                    </a:cubicBezTo>
                    <a:cubicBezTo>
                      <a:pt x="159" y="76"/>
                      <a:pt x="271" y="44"/>
                      <a:pt x="417" y="44"/>
                    </a:cubicBezTo>
                    <a:moveTo>
                      <a:pt x="400" y="1351"/>
                    </a:moveTo>
                    <a:cubicBezTo>
                      <a:pt x="454" y="1351"/>
                      <a:pt x="501" y="1371"/>
                      <a:pt x="539" y="1409"/>
                    </a:cubicBezTo>
                    <a:cubicBezTo>
                      <a:pt x="577" y="1447"/>
                      <a:pt x="597" y="1494"/>
                      <a:pt x="597" y="1548"/>
                    </a:cubicBezTo>
                    <a:cubicBezTo>
                      <a:pt x="597" y="1602"/>
                      <a:pt x="577" y="1649"/>
                      <a:pt x="539" y="1688"/>
                    </a:cubicBezTo>
                    <a:cubicBezTo>
                      <a:pt x="501" y="1727"/>
                      <a:pt x="454" y="1746"/>
                      <a:pt x="400" y="1746"/>
                    </a:cubicBezTo>
                    <a:cubicBezTo>
                      <a:pt x="346" y="1746"/>
                      <a:pt x="299" y="1727"/>
                      <a:pt x="260" y="1688"/>
                    </a:cubicBezTo>
                    <a:cubicBezTo>
                      <a:pt x="222" y="1649"/>
                      <a:pt x="203" y="1602"/>
                      <a:pt x="203" y="1548"/>
                    </a:cubicBezTo>
                    <a:cubicBezTo>
                      <a:pt x="203" y="1494"/>
                      <a:pt x="222" y="1447"/>
                      <a:pt x="261" y="1409"/>
                    </a:cubicBezTo>
                    <a:cubicBezTo>
                      <a:pt x="299" y="1371"/>
                      <a:pt x="346" y="1351"/>
                      <a:pt x="400" y="1351"/>
                    </a:cubicBezTo>
                    <a:moveTo>
                      <a:pt x="417" y="0"/>
                    </a:moveTo>
                    <a:cubicBezTo>
                      <a:pt x="261" y="0"/>
                      <a:pt x="139" y="35"/>
                      <a:pt x="54" y="104"/>
                    </a:cubicBezTo>
                    <a:cubicBezTo>
                      <a:pt x="27" y="127"/>
                      <a:pt x="27" y="127"/>
                      <a:pt x="27" y="127"/>
                    </a:cubicBezTo>
                    <a:cubicBezTo>
                      <a:pt x="0" y="149"/>
                      <a:pt x="0" y="149"/>
                      <a:pt x="0" y="149"/>
                    </a:cubicBezTo>
                    <a:cubicBezTo>
                      <a:pt x="16" y="181"/>
                      <a:pt x="16" y="181"/>
                      <a:pt x="16" y="181"/>
                    </a:cubicBezTo>
                    <a:cubicBezTo>
                      <a:pt x="133" y="411"/>
                      <a:pt x="133" y="411"/>
                      <a:pt x="133" y="411"/>
                    </a:cubicBezTo>
                    <a:cubicBezTo>
                      <a:pt x="160" y="464"/>
                      <a:pt x="160" y="464"/>
                      <a:pt x="160" y="464"/>
                    </a:cubicBezTo>
                    <a:cubicBezTo>
                      <a:pt x="203" y="423"/>
                      <a:pt x="203" y="423"/>
                      <a:pt x="203" y="423"/>
                    </a:cubicBezTo>
                    <a:cubicBezTo>
                      <a:pt x="246" y="382"/>
                      <a:pt x="246" y="382"/>
                      <a:pt x="246" y="382"/>
                    </a:cubicBezTo>
                    <a:cubicBezTo>
                      <a:pt x="281" y="348"/>
                      <a:pt x="319" y="332"/>
                      <a:pt x="366" y="332"/>
                    </a:cubicBezTo>
                    <a:cubicBezTo>
                      <a:pt x="430" y="332"/>
                      <a:pt x="459" y="345"/>
                      <a:pt x="473" y="357"/>
                    </a:cubicBezTo>
                    <a:cubicBezTo>
                      <a:pt x="483" y="364"/>
                      <a:pt x="495" y="380"/>
                      <a:pt x="495" y="423"/>
                    </a:cubicBezTo>
                    <a:cubicBezTo>
                      <a:pt x="495" y="444"/>
                      <a:pt x="488" y="466"/>
                      <a:pt x="474" y="491"/>
                    </a:cubicBezTo>
                    <a:cubicBezTo>
                      <a:pt x="462" y="513"/>
                      <a:pt x="431" y="557"/>
                      <a:pt x="357" y="640"/>
                    </a:cubicBezTo>
                    <a:cubicBezTo>
                      <a:pt x="285" y="720"/>
                      <a:pt x="239" y="790"/>
                      <a:pt x="217" y="852"/>
                    </a:cubicBezTo>
                    <a:cubicBezTo>
                      <a:pt x="196" y="912"/>
                      <a:pt x="185" y="973"/>
                      <a:pt x="185" y="1031"/>
                    </a:cubicBezTo>
                    <a:cubicBezTo>
                      <a:pt x="185" y="1071"/>
                      <a:pt x="198" y="1125"/>
                      <a:pt x="225" y="1201"/>
                    </a:cubicBezTo>
                    <a:cubicBezTo>
                      <a:pt x="236" y="1230"/>
                      <a:pt x="236" y="1230"/>
                      <a:pt x="236" y="1230"/>
                    </a:cubicBezTo>
                    <a:cubicBezTo>
                      <a:pt x="246" y="1259"/>
                      <a:pt x="246" y="1259"/>
                      <a:pt x="246" y="1259"/>
                    </a:cubicBezTo>
                    <a:cubicBezTo>
                      <a:pt x="277" y="1259"/>
                      <a:pt x="277" y="1259"/>
                      <a:pt x="277" y="1259"/>
                    </a:cubicBezTo>
                    <a:cubicBezTo>
                      <a:pt x="496" y="1259"/>
                      <a:pt x="496" y="1259"/>
                      <a:pt x="496" y="1259"/>
                    </a:cubicBezTo>
                    <a:cubicBezTo>
                      <a:pt x="550" y="1259"/>
                      <a:pt x="550" y="1259"/>
                      <a:pt x="550" y="1259"/>
                    </a:cubicBezTo>
                    <a:cubicBezTo>
                      <a:pt x="539" y="1206"/>
                      <a:pt x="539" y="1206"/>
                      <a:pt x="539" y="1206"/>
                    </a:cubicBezTo>
                    <a:cubicBezTo>
                      <a:pt x="529" y="1154"/>
                      <a:pt x="529" y="1154"/>
                      <a:pt x="529" y="1154"/>
                    </a:cubicBezTo>
                    <a:cubicBezTo>
                      <a:pt x="517" y="1093"/>
                      <a:pt x="516" y="1079"/>
                      <a:pt x="516" y="1078"/>
                    </a:cubicBezTo>
                    <a:cubicBezTo>
                      <a:pt x="516" y="1008"/>
                      <a:pt x="539" y="946"/>
                      <a:pt x="585" y="889"/>
                    </a:cubicBezTo>
                    <a:cubicBezTo>
                      <a:pt x="731" y="733"/>
                      <a:pt x="731" y="733"/>
                      <a:pt x="731" y="733"/>
                    </a:cubicBezTo>
                    <a:cubicBezTo>
                      <a:pt x="775" y="686"/>
                      <a:pt x="808" y="635"/>
                      <a:pt x="829" y="579"/>
                    </a:cubicBezTo>
                    <a:cubicBezTo>
                      <a:pt x="850" y="524"/>
                      <a:pt x="861" y="466"/>
                      <a:pt x="861" y="406"/>
                    </a:cubicBezTo>
                    <a:cubicBezTo>
                      <a:pt x="861" y="283"/>
                      <a:pt x="817" y="183"/>
                      <a:pt x="729" y="108"/>
                    </a:cubicBezTo>
                    <a:cubicBezTo>
                      <a:pt x="645" y="36"/>
                      <a:pt x="540" y="0"/>
                      <a:pt x="417" y="0"/>
                    </a:cubicBezTo>
                    <a:close/>
                    <a:moveTo>
                      <a:pt x="400" y="1307"/>
                    </a:moveTo>
                    <a:cubicBezTo>
                      <a:pt x="334" y="1307"/>
                      <a:pt x="276" y="1331"/>
                      <a:pt x="229" y="1378"/>
                    </a:cubicBezTo>
                    <a:cubicBezTo>
                      <a:pt x="183" y="1425"/>
                      <a:pt x="159" y="1482"/>
                      <a:pt x="159" y="1548"/>
                    </a:cubicBezTo>
                    <a:cubicBezTo>
                      <a:pt x="159" y="1614"/>
                      <a:pt x="182" y="1672"/>
                      <a:pt x="229" y="1719"/>
                    </a:cubicBezTo>
                    <a:cubicBezTo>
                      <a:pt x="276" y="1766"/>
                      <a:pt x="333" y="1790"/>
                      <a:pt x="400" y="1790"/>
                    </a:cubicBezTo>
                    <a:cubicBezTo>
                      <a:pt x="466" y="1790"/>
                      <a:pt x="524" y="1766"/>
                      <a:pt x="571" y="1719"/>
                    </a:cubicBezTo>
                    <a:cubicBezTo>
                      <a:pt x="617" y="1672"/>
                      <a:pt x="641" y="1614"/>
                      <a:pt x="641" y="1548"/>
                    </a:cubicBezTo>
                    <a:cubicBezTo>
                      <a:pt x="641" y="1482"/>
                      <a:pt x="617" y="1425"/>
                      <a:pt x="570" y="1378"/>
                    </a:cubicBezTo>
                    <a:cubicBezTo>
                      <a:pt x="523" y="1331"/>
                      <a:pt x="466" y="1307"/>
                      <a:pt x="400" y="130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3152" tIns="36576" rIns="73152" bIns="3657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17" name="Freeform 16">
                <a:extLst>
                  <a:ext uri="{FF2B5EF4-FFF2-40B4-BE49-F238E27FC236}">
                    <a16:creationId xmlns:a16="http://schemas.microsoft.com/office/drawing/2014/main" id="{DFC2EDA6-50A5-4CEA-9C3E-AC1A8C75AFB5}"/>
                  </a:ext>
                </a:extLst>
              </p:cNvPr>
              <p:cNvSpPr>
                <a:spLocks noEditPoints="1"/>
              </p:cNvSpPr>
              <p:nvPr/>
            </p:nvSpPr>
            <p:spPr bwMode="auto">
              <a:xfrm>
                <a:off x="3229" y="645"/>
                <a:ext cx="1242" cy="3026"/>
              </a:xfrm>
              <a:custGeom>
                <a:avLst/>
                <a:gdLst>
                  <a:gd name="T0" fmla="*/ 333 w 663"/>
                  <a:gd name="T1" fmla="*/ 1083 h 1614"/>
                  <a:gd name="T2" fmla="*/ 198 w 663"/>
                  <a:gd name="T3" fmla="*/ 1083 h 1614"/>
                  <a:gd name="T4" fmla="*/ 163 w 663"/>
                  <a:gd name="T5" fmla="*/ 943 h 1614"/>
                  <a:gd name="T6" fmla="*/ 190 w 663"/>
                  <a:gd name="T7" fmla="*/ 793 h 1614"/>
                  <a:gd name="T8" fmla="*/ 313 w 663"/>
                  <a:gd name="T9" fmla="*/ 610 h 1614"/>
                  <a:gd name="T10" fmla="*/ 441 w 663"/>
                  <a:gd name="T11" fmla="*/ 447 h 1614"/>
                  <a:gd name="T12" fmla="*/ 473 w 663"/>
                  <a:gd name="T13" fmla="*/ 335 h 1614"/>
                  <a:gd name="T14" fmla="*/ 256 w 663"/>
                  <a:gd name="T15" fmla="*/ 156 h 1614"/>
                  <a:gd name="T16" fmla="*/ 75 w 663"/>
                  <a:gd name="T17" fmla="*/ 230 h 1614"/>
                  <a:gd name="T18" fmla="*/ 0 w 663"/>
                  <a:gd name="T19" fmla="*/ 84 h 1614"/>
                  <a:gd name="T20" fmla="*/ 307 w 663"/>
                  <a:gd name="T21" fmla="*/ 0 h 1614"/>
                  <a:gd name="T22" fmla="*/ 562 w 663"/>
                  <a:gd name="T23" fmla="*/ 86 h 1614"/>
                  <a:gd name="T24" fmla="*/ 663 w 663"/>
                  <a:gd name="T25" fmla="*/ 318 h 1614"/>
                  <a:gd name="T26" fmla="*/ 637 w 663"/>
                  <a:gd name="T27" fmla="*/ 459 h 1614"/>
                  <a:gd name="T28" fmla="*/ 557 w 663"/>
                  <a:gd name="T29" fmla="*/ 584 h 1614"/>
                  <a:gd name="T30" fmla="*/ 408 w 663"/>
                  <a:gd name="T31" fmla="*/ 743 h 1614"/>
                  <a:gd name="T32" fmla="*/ 318 w 663"/>
                  <a:gd name="T33" fmla="*/ 990 h 1614"/>
                  <a:gd name="T34" fmla="*/ 333 w 663"/>
                  <a:gd name="T35" fmla="*/ 1083 h 1614"/>
                  <a:gd name="T36" fmla="*/ 290 w 663"/>
                  <a:gd name="T37" fmla="*/ 1307 h 1614"/>
                  <a:gd name="T38" fmla="*/ 398 w 663"/>
                  <a:gd name="T39" fmla="*/ 1352 h 1614"/>
                  <a:gd name="T40" fmla="*/ 443 w 663"/>
                  <a:gd name="T41" fmla="*/ 1460 h 1614"/>
                  <a:gd name="T42" fmla="*/ 398 w 663"/>
                  <a:gd name="T43" fmla="*/ 1569 h 1614"/>
                  <a:gd name="T44" fmla="*/ 290 w 663"/>
                  <a:gd name="T45" fmla="*/ 1614 h 1614"/>
                  <a:gd name="T46" fmla="*/ 182 w 663"/>
                  <a:gd name="T47" fmla="*/ 1569 h 1614"/>
                  <a:gd name="T48" fmla="*/ 137 w 663"/>
                  <a:gd name="T49" fmla="*/ 1460 h 1614"/>
                  <a:gd name="T50" fmla="*/ 182 w 663"/>
                  <a:gd name="T51" fmla="*/ 1352 h 1614"/>
                  <a:gd name="T52" fmla="*/ 290 w 663"/>
                  <a:gd name="T53" fmla="*/ 1307 h 1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63" h="1614">
                    <a:moveTo>
                      <a:pt x="333" y="1083"/>
                    </a:moveTo>
                    <a:cubicBezTo>
                      <a:pt x="198" y="1083"/>
                      <a:pt x="198" y="1083"/>
                      <a:pt x="198" y="1083"/>
                    </a:cubicBezTo>
                    <a:cubicBezTo>
                      <a:pt x="175" y="1018"/>
                      <a:pt x="163" y="972"/>
                      <a:pt x="163" y="943"/>
                    </a:cubicBezTo>
                    <a:cubicBezTo>
                      <a:pt x="163" y="894"/>
                      <a:pt x="172" y="844"/>
                      <a:pt x="190" y="793"/>
                    </a:cubicBezTo>
                    <a:cubicBezTo>
                      <a:pt x="208" y="742"/>
                      <a:pt x="249" y="681"/>
                      <a:pt x="313" y="610"/>
                    </a:cubicBezTo>
                    <a:cubicBezTo>
                      <a:pt x="376" y="539"/>
                      <a:pt x="419" y="485"/>
                      <a:pt x="441" y="447"/>
                    </a:cubicBezTo>
                    <a:cubicBezTo>
                      <a:pt x="463" y="408"/>
                      <a:pt x="473" y="371"/>
                      <a:pt x="473" y="335"/>
                    </a:cubicBezTo>
                    <a:cubicBezTo>
                      <a:pt x="473" y="216"/>
                      <a:pt x="401" y="156"/>
                      <a:pt x="256" y="156"/>
                    </a:cubicBezTo>
                    <a:cubicBezTo>
                      <a:pt x="187" y="156"/>
                      <a:pt x="126" y="181"/>
                      <a:pt x="75" y="230"/>
                    </a:cubicBezTo>
                    <a:cubicBezTo>
                      <a:pt x="0" y="84"/>
                      <a:pt x="0" y="84"/>
                      <a:pt x="0" y="84"/>
                    </a:cubicBezTo>
                    <a:cubicBezTo>
                      <a:pt x="69" y="28"/>
                      <a:pt x="171" y="0"/>
                      <a:pt x="307" y="0"/>
                    </a:cubicBezTo>
                    <a:cubicBezTo>
                      <a:pt x="409" y="0"/>
                      <a:pt x="494" y="29"/>
                      <a:pt x="562" y="86"/>
                    </a:cubicBezTo>
                    <a:cubicBezTo>
                      <a:pt x="629" y="144"/>
                      <a:pt x="663" y="221"/>
                      <a:pt x="663" y="318"/>
                    </a:cubicBezTo>
                    <a:cubicBezTo>
                      <a:pt x="663" y="367"/>
                      <a:pt x="655" y="414"/>
                      <a:pt x="637" y="459"/>
                    </a:cubicBezTo>
                    <a:cubicBezTo>
                      <a:pt x="620" y="505"/>
                      <a:pt x="593" y="546"/>
                      <a:pt x="557" y="584"/>
                    </a:cubicBezTo>
                    <a:cubicBezTo>
                      <a:pt x="408" y="743"/>
                      <a:pt x="408" y="743"/>
                      <a:pt x="408" y="743"/>
                    </a:cubicBezTo>
                    <a:cubicBezTo>
                      <a:pt x="348" y="817"/>
                      <a:pt x="318" y="899"/>
                      <a:pt x="318" y="990"/>
                    </a:cubicBezTo>
                    <a:cubicBezTo>
                      <a:pt x="318" y="1005"/>
                      <a:pt x="323" y="1035"/>
                      <a:pt x="333" y="1083"/>
                    </a:cubicBezTo>
                    <a:close/>
                    <a:moveTo>
                      <a:pt x="290" y="1307"/>
                    </a:moveTo>
                    <a:cubicBezTo>
                      <a:pt x="332" y="1307"/>
                      <a:pt x="368" y="1322"/>
                      <a:pt x="398" y="1352"/>
                    </a:cubicBezTo>
                    <a:cubicBezTo>
                      <a:pt x="428" y="1382"/>
                      <a:pt x="443" y="1418"/>
                      <a:pt x="443" y="1460"/>
                    </a:cubicBezTo>
                    <a:cubicBezTo>
                      <a:pt x="443" y="1502"/>
                      <a:pt x="428" y="1539"/>
                      <a:pt x="398" y="1569"/>
                    </a:cubicBezTo>
                    <a:cubicBezTo>
                      <a:pt x="368" y="1599"/>
                      <a:pt x="332" y="1614"/>
                      <a:pt x="290" y="1614"/>
                    </a:cubicBezTo>
                    <a:cubicBezTo>
                      <a:pt x="248" y="1614"/>
                      <a:pt x="212" y="1599"/>
                      <a:pt x="182" y="1569"/>
                    </a:cubicBezTo>
                    <a:cubicBezTo>
                      <a:pt x="152" y="1539"/>
                      <a:pt x="137" y="1502"/>
                      <a:pt x="137" y="1460"/>
                    </a:cubicBezTo>
                    <a:cubicBezTo>
                      <a:pt x="137" y="1418"/>
                      <a:pt x="152" y="1382"/>
                      <a:pt x="182" y="1352"/>
                    </a:cubicBezTo>
                    <a:cubicBezTo>
                      <a:pt x="212" y="1322"/>
                      <a:pt x="248" y="1307"/>
                      <a:pt x="290" y="1307"/>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3152" tIns="36576" rIns="73152" bIns="3657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grpSp>
      </p:grpSp>
      <p:grpSp>
        <p:nvGrpSpPr>
          <p:cNvPr id="5" name="Group 4"/>
          <p:cNvGrpSpPr>
            <a:grpSpLocks/>
          </p:cNvGrpSpPr>
          <p:nvPr/>
        </p:nvGrpSpPr>
        <p:grpSpPr>
          <a:xfrm>
            <a:off x="7049682" y="3917523"/>
            <a:ext cx="890128" cy="890128"/>
            <a:chOff x="8311347" y="5721543"/>
            <a:chExt cx="1112660" cy="1112660"/>
          </a:xfrm>
        </p:grpSpPr>
        <p:sp>
          <p:nvSpPr>
            <p:cNvPr id="52" name="Oval 51"/>
            <p:cNvSpPr/>
            <p:nvPr/>
          </p:nvSpPr>
          <p:spPr>
            <a:xfrm>
              <a:off x="8311347" y="5721543"/>
              <a:ext cx="1112660" cy="1112660"/>
            </a:xfrm>
            <a:prstGeom prst="ellipse">
              <a:avLst/>
            </a:prstGeom>
            <a:solidFill>
              <a:srgbClr val="FFFFFF"/>
            </a:solidFill>
            <a:ln w="17780" cap="rnd" cmpd="sng" algn="ctr">
              <a:solidFill>
                <a:srgbClr val="DADADA"/>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grpSp>
          <p:nvGrpSpPr>
            <p:cNvPr id="28" name="bcgIcons_OpportunityMapping">
              <a:extLst>
                <a:ext uri="{FF2B5EF4-FFF2-40B4-BE49-F238E27FC236}">
                  <a16:creationId xmlns:a16="http://schemas.microsoft.com/office/drawing/2014/main" id="{46B5D44F-F94F-4B85-B541-EC962994502E}"/>
                </a:ext>
              </a:extLst>
            </p:cNvPr>
            <p:cNvGrpSpPr>
              <a:grpSpLocks noChangeAspect="1"/>
            </p:cNvGrpSpPr>
            <p:nvPr/>
          </p:nvGrpSpPr>
          <p:grpSpPr bwMode="auto">
            <a:xfrm>
              <a:off x="8421312" y="5831095"/>
              <a:ext cx="892729" cy="893556"/>
              <a:chOff x="1682" y="0"/>
              <a:chExt cx="4316" cy="4320"/>
            </a:xfrm>
          </p:grpSpPr>
          <p:sp>
            <p:nvSpPr>
              <p:cNvPr id="29" name="AutoShape 13">
                <a:extLst>
                  <a:ext uri="{FF2B5EF4-FFF2-40B4-BE49-F238E27FC236}">
                    <a16:creationId xmlns:a16="http://schemas.microsoft.com/office/drawing/2014/main" id="{7765EE75-DEB8-47F5-BF32-7AC230F4B238}"/>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3152" tIns="36576" rIns="73152" bIns="3657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30" name="Freeform 15">
                <a:extLst>
                  <a:ext uri="{FF2B5EF4-FFF2-40B4-BE49-F238E27FC236}">
                    <a16:creationId xmlns:a16="http://schemas.microsoft.com/office/drawing/2014/main" id="{020B003A-B175-4CB8-A390-319627008B64}"/>
                  </a:ext>
                </a:extLst>
              </p:cNvPr>
              <p:cNvSpPr>
                <a:spLocks noEditPoints="1"/>
              </p:cNvSpPr>
              <p:nvPr/>
            </p:nvSpPr>
            <p:spPr bwMode="auto">
              <a:xfrm>
                <a:off x="2604" y="877"/>
                <a:ext cx="2493" cy="1855"/>
              </a:xfrm>
              <a:custGeom>
                <a:avLst/>
                <a:gdLst>
                  <a:gd name="T0" fmla="*/ 300 w 1331"/>
                  <a:gd name="T1" fmla="*/ 3 h 989"/>
                  <a:gd name="T2" fmla="*/ 0 w 1331"/>
                  <a:gd name="T3" fmla="*/ 310 h 989"/>
                  <a:gd name="T4" fmla="*/ 294 w 1331"/>
                  <a:gd name="T5" fmla="*/ 984 h 989"/>
                  <a:gd name="T6" fmla="*/ 306 w 1331"/>
                  <a:gd name="T7" fmla="*/ 984 h 989"/>
                  <a:gd name="T8" fmla="*/ 597 w 1331"/>
                  <a:gd name="T9" fmla="*/ 310 h 989"/>
                  <a:gd name="T10" fmla="*/ 300 w 1331"/>
                  <a:gd name="T11" fmla="*/ 3 h 989"/>
                  <a:gd name="T12" fmla="*/ 419 w 1331"/>
                  <a:gd name="T13" fmla="*/ 226 h 989"/>
                  <a:gd name="T14" fmla="*/ 364 w 1331"/>
                  <a:gd name="T15" fmla="*/ 279 h 989"/>
                  <a:gd name="T16" fmla="*/ 362 w 1331"/>
                  <a:gd name="T17" fmla="*/ 284 h 989"/>
                  <a:gd name="T18" fmla="*/ 374 w 1331"/>
                  <a:gd name="T19" fmla="*/ 359 h 989"/>
                  <a:gd name="T20" fmla="*/ 367 w 1331"/>
                  <a:gd name="T21" fmla="*/ 364 h 989"/>
                  <a:gd name="T22" fmla="*/ 300 w 1331"/>
                  <a:gd name="T23" fmla="*/ 328 h 989"/>
                  <a:gd name="T24" fmla="*/ 295 w 1331"/>
                  <a:gd name="T25" fmla="*/ 328 h 989"/>
                  <a:gd name="T26" fmla="*/ 228 w 1331"/>
                  <a:gd name="T27" fmla="*/ 363 h 989"/>
                  <a:gd name="T28" fmla="*/ 220 w 1331"/>
                  <a:gd name="T29" fmla="*/ 357 h 989"/>
                  <a:gd name="T30" fmla="*/ 234 w 1331"/>
                  <a:gd name="T31" fmla="*/ 282 h 989"/>
                  <a:gd name="T32" fmla="*/ 232 w 1331"/>
                  <a:gd name="T33" fmla="*/ 277 h 989"/>
                  <a:gd name="T34" fmla="*/ 179 w 1331"/>
                  <a:gd name="T35" fmla="*/ 224 h 989"/>
                  <a:gd name="T36" fmla="*/ 182 w 1331"/>
                  <a:gd name="T37" fmla="*/ 215 h 989"/>
                  <a:gd name="T38" fmla="*/ 256 w 1331"/>
                  <a:gd name="T39" fmla="*/ 204 h 989"/>
                  <a:gd name="T40" fmla="*/ 261 w 1331"/>
                  <a:gd name="T41" fmla="*/ 202 h 989"/>
                  <a:gd name="T42" fmla="*/ 295 w 1331"/>
                  <a:gd name="T43" fmla="*/ 134 h 989"/>
                  <a:gd name="T44" fmla="*/ 304 w 1331"/>
                  <a:gd name="T45" fmla="*/ 134 h 989"/>
                  <a:gd name="T46" fmla="*/ 337 w 1331"/>
                  <a:gd name="T47" fmla="*/ 202 h 989"/>
                  <a:gd name="T48" fmla="*/ 341 w 1331"/>
                  <a:gd name="T49" fmla="*/ 206 h 989"/>
                  <a:gd name="T50" fmla="*/ 416 w 1331"/>
                  <a:gd name="T51" fmla="*/ 217 h 989"/>
                  <a:gd name="T52" fmla="*/ 419 w 1331"/>
                  <a:gd name="T53" fmla="*/ 226 h 989"/>
                  <a:gd name="T54" fmla="*/ 1146 w 1331"/>
                  <a:gd name="T55" fmla="*/ 0 h 989"/>
                  <a:gd name="T56" fmla="*/ 958 w 1331"/>
                  <a:gd name="T57" fmla="*/ 192 h 989"/>
                  <a:gd name="T58" fmla="*/ 1142 w 1331"/>
                  <a:gd name="T59" fmla="*/ 613 h 989"/>
                  <a:gd name="T60" fmla="*/ 1149 w 1331"/>
                  <a:gd name="T61" fmla="*/ 613 h 989"/>
                  <a:gd name="T62" fmla="*/ 1331 w 1331"/>
                  <a:gd name="T63" fmla="*/ 192 h 989"/>
                  <a:gd name="T64" fmla="*/ 1146 w 1331"/>
                  <a:gd name="T65" fmla="*/ 0 h 989"/>
                  <a:gd name="T66" fmla="*/ 1220 w 1331"/>
                  <a:gd name="T67" fmla="*/ 155 h 989"/>
                  <a:gd name="T68" fmla="*/ 1186 w 1331"/>
                  <a:gd name="T69" fmla="*/ 188 h 989"/>
                  <a:gd name="T70" fmla="*/ 1185 w 1331"/>
                  <a:gd name="T71" fmla="*/ 191 h 989"/>
                  <a:gd name="T72" fmla="*/ 1192 w 1331"/>
                  <a:gd name="T73" fmla="*/ 238 h 989"/>
                  <a:gd name="T74" fmla="*/ 1187 w 1331"/>
                  <a:gd name="T75" fmla="*/ 241 h 989"/>
                  <a:gd name="T76" fmla="*/ 1146 w 1331"/>
                  <a:gd name="T77" fmla="*/ 219 h 989"/>
                  <a:gd name="T78" fmla="*/ 1143 w 1331"/>
                  <a:gd name="T79" fmla="*/ 218 h 989"/>
                  <a:gd name="T80" fmla="*/ 1101 w 1331"/>
                  <a:gd name="T81" fmla="*/ 240 h 989"/>
                  <a:gd name="T82" fmla="*/ 1096 w 1331"/>
                  <a:gd name="T83" fmla="*/ 237 h 989"/>
                  <a:gd name="T84" fmla="*/ 1104 w 1331"/>
                  <a:gd name="T85" fmla="*/ 190 h 989"/>
                  <a:gd name="T86" fmla="*/ 1103 w 1331"/>
                  <a:gd name="T87" fmla="*/ 187 h 989"/>
                  <a:gd name="T88" fmla="*/ 1070 w 1331"/>
                  <a:gd name="T89" fmla="*/ 153 h 989"/>
                  <a:gd name="T90" fmla="*/ 1072 w 1331"/>
                  <a:gd name="T91" fmla="*/ 148 h 989"/>
                  <a:gd name="T92" fmla="*/ 1118 w 1331"/>
                  <a:gd name="T93" fmla="*/ 141 h 989"/>
                  <a:gd name="T94" fmla="*/ 1121 w 1331"/>
                  <a:gd name="T95" fmla="*/ 139 h 989"/>
                  <a:gd name="T96" fmla="*/ 1142 w 1331"/>
                  <a:gd name="T97" fmla="*/ 97 h 989"/>
                  <a:gd name="T98" fmla="*/ 1149 w 1331"/>
                  <a:gd name="T99" fmla="*/ 97 h 989"/>
                  <a:gd name="T100" fmla="*/ 1169 w 1331"/>
                  <a:gd name="T101" fmla="*/ 140 h 989"/>
                  <a:gd name="T102" fmla="*/ 1171 w 1331"/>
                  <a:gd name="T103" fmla="*/ 142 h 989"/>
                  <a:gd name="T104" fmla="*/ 1218 w 1331"/>
                  <a:gd name="T105" fmla="*/ 149 h 989"/>
                  <a:gd name="T106" fmla="*/ 1220 w 1331"/>
                  <a:gd name="T107" fmla="*/ 155 h 9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31" h="989">
                    <a:moveTo>
                      <a:pt x="300" y="3"/>
                    </a:moveTo>
                    <a:cubicBezTo>
                      <a:pt x="134" y="3"/>
                      <a:pt x="0" y="142"/>
                      <a:pt x="0" y="310"/>
                    </a:cubicBezTo>
                    <a:cubicBezTo>
                      <a:pt x="0" y="465"/>
                      <a:pt x="251" y="910"/>
                      <a:pt x="294" y="984"/>
                    </a:cubicBezTo>
                    <a:cubicBezTo>
                      <a:pt x="296" y="989"/>
                      <a:pt x="303" y="989"/>
                      <a:pt x="306" y="984"/>
                    </a:cubicBezTo>
                    <a:cubicBezTo>
                      <a:pt x="348" y="910"/>
                      <a:pt x="597" y="465"/>
                      <a:pt x="597" y="310"/>
                    </a:cubicBezTo>
                    <a:cubicBezTo>
                      <a:pt x="597" y="142"/>
                      <a:pt x="466" y="3"/>
                      <a:pt x="300" y="3"/>
                    </a:cubicBezTo>
                    <a:close/>
                    <a:moveTo>
                      <a:pt x="419" y="226"/>
                    </a:moveTo>
                    <a:cubicBezTo>
                      <a:pt x="364" y="279"/>
                      <a:pt x="364" y="279"/>
                      <a:pt x="364" y="279"/>
                    </a:cubicBezTo>
                    <a:cubicBezTo>
                      <a:pt x="363" y="280"/>
                      <a:pt x="362" y="282"/>
                      <a:pt x="362" y="284"/>
                    </a:cubicBezTo>
                    <a:cubicBezTo>
                      <a:pt x="374" y="359"/>
                      <a:pt x="374" y="359"/>
                      <a:pt x="374" y="359"/>
                    </a:cubicBezTo>
                    <a:cubicBezTo>
                      <a:pt x="375" y="363"/>
                      <a:pt x="371" y="366"/>
                      <a:pt x="367" y="364"/>
                    </a:cubicBezTo>
                    <a:cubicBezTo>
                      <a:pt x="300" y="328"/>
                      <a:pt x="300" y="328"/>
                      <a:pt x="300" y="328"/>
                    </a:cubicBezTo>
                    <a:cubicBezTo>
                      <a:pt x="298" y="327"/>
                      <a:pt x="297" y="327"/>
                      <a:pt x="295" y="328"/>
                    </a:cubicBezTo>
                    <a:cubicBezTo>
                      <a:pt x="228" y="363"/>
                      <a:pt x="228" y="363"/>
                      <a:pt x="228" y="363"/>
                    </a:cubicBezTo>
                    <a:cubicBezTo>
                      <a:pt x="224" y="365"/>
                      <a:pt x="219" y="361"/>
                      <a:pt x="220" y="357"/>
                    </a:cubicBezTo>
                    <a:cubicBezTo>
                      <a:pt x="234" y="282"/>
                      <a:pt x="234" y="282"/>
                      <a:pt x="234" y="282"/>
                    </a:cubicBezTo>
                    <a:cubicBezTo>
                      <a:pt x="234" y="280"/>
                      <a:pt x="234" y="278"/>
                      <a:pt x="232" y="277"/>
                    </a:cubicBezTo>
                    <a:cubicBezTo>
                      <a:pt x="179" y="224"/>
                      <a:pt x="179" y="224"/>
                      <a:pt x="179" y="224"/>
                    </a:cubicBezTo>
                    <a:cubicBezTo>
                      <a:pt x="176" y="221"/>
                      <a:pt x="177" y="215"/>
                      <a:pt x="182" y="215"/>
                    </a:cubicBezTo>
                    <a:cubicBezTo>
                      <a:pt x="256" y="204"/>
                      <a:pt x="256" y="204"/>
                      <a:pt x="256" y="204"/>
                    </a:cubicBezTo>
                    <a:cubicBezTo>
                      <a:pt x="258" y="204"/>
                      <a:pt x="260" y="203"/>
                      <a:pt x="261" y="202"/>
                    </a:cubicBezTo>
                    <a:cubicBezTo>
                      <a:pt x="295" y="134"/>
                      <a:pt x="295" y="134"/>
                      <a:pt x="295" y="134"/>
                    </a:cubicBezTo>
                    <a:cubicBezTo>
                      <a:pt x="297" y="130"/>
                      <a:pt x="302" y="130"/>
                      <a:pt x="304" y="134"/>
                    </a:cubicBezTo>
                    <a:cubicBezTo>
                      <a:pt x="337" y="202"/>
                      <a:pt x="337" y="202"/>
                      <a:pt x="337" y="202"/>
                    </a:cubicBezTo>
                    <a:cubicBezTo>
                      <a:pt x="338" y="204"/>
                      <a:pt x="339" y="205"/>
                      <a:pt x="341" y="206"/>
                    </a:cubicBezTo>
                    <a:cubicBezTo>
                      <a:pt x="416" y="217"/>
                      <a:pt x="416" y="217"/>
                      <a:pt x="416" y="217"/>
                    </a:cubicBezTo>
                    <a:cubicBezTo>
                      <a:pt x="420" y="218"/>
                      <a:pt x="422" y="223"/>
                      <a:pt x="419" y="226"/>
                    </a:cubicBezTo>
                    <a:close/>
                    <a:moveTo>
                      <a:pt x="1146" y="0"/>
                    </a:moveTo>
                    <a:cubicBezTo>
                      <a:pt x="1042" y="0"/>
                      <a:pt x="958" y="87"/>
                      <a:pt x="958" y="192"/>
                    </a:cubicBezTo>
                    <a:cubicBezTo>
                      <a:pt x="958" y="289"/>
                      <a:pt x="1115" y="567"/>
                      <a:pt x="1142" y="613"/>
                    </a:cubicBezTo>
                    <a:cubicBezTo>
                      <a:pt x="1144" y="616"/>
                      <a:pt x="1148" y="616"/>
                      <a:pt x="1149" y="613"/>
                    </a:cubicBezTo>
                    <a:cubicBezTo>
                      <a:pt x="1176" y="567"/>
                      <a:pt x="1331" y="289"/>
                      <a:pt x="1331" y="192"/>
                    </a:cubicBezTo>
                    <a:cubicBezTo>
                      <a:pt x="1331" y="87"/>
                      <a:pt x="1249" y="0"/>
                      <a:pt x="1146" y="0"/>
                    </a:cubicBezTo>
                    <a:close/>
                    <a:moveTo>
                      <a:pt x="1220" y="155"/>
                    </a:moveTo>
                    <a:cubicBezTo>
                      <a:pt x="1186" y="188"/>
                      <a:pt x="1186" y="188"/>
                      <a:pt x="1186" y="188"/>
                    </a:cubicBezTo>
                    <a:cubicBezTo>
                      <a:pt x="1185" y="188"/>
                      <a:pt x="1185" y="190"/>
                      <a:pt x="1185" y="191"/>
                    </a:cubicBezTo>
                    <a:cubicBezTo>
                      <a:pt x="1192" y="238"/>
                      <a:pt x="1192" y="238"/>
                      <a:pt x="1192" y="238"/>
                    </a:cubicBezTo>
                    <a:cubicBezTo>
                      <a:pt x="1193" y="240"/>
                      <a:pt x="1190" y="242"/>
                      <a:pt x="1187" y="241"/>
                    </a:cubicBezTo>
                    <a:cubicBezTo>
                      <a:pt x="1146" y="219"/>
                      <a:pt x="1146" y="219"/>
                      <a:pt x="1146" y="219"/>
                    </a:cubicBezTo>
                    <a:cubicBezTo>
                      <a:pt x="1145" y="218"/>
                      <a:pt x="1144" y="218"/>
                      <a:pt x="1143" y="218"/>
                    </a:cubicBezTo>
                    <a:cubicBezTo>
                      <a:pt x="1101" y="240"/>
                      <a:pt x="1101" y="240"/>
                      <a:pt x="1101" y="240"/>
                    </a:cubicBezTo>
                    <a:cubicBezTo>
                      <a:pt x="1098" y="241"/>
                      <a:pt x="1095" y="239"/>
                      <a:pt x="1096" y="237"/>
                    </a:cubicBezTo>
                    <a:cubicBezTo>
                      <a:pt x="1104" y="190"/>
                      <a:pt x="1104" y="190"/>
                      <a:pt x="1104" y="190"/>
                    </a:cubicBezTo>
                    <a:cubicBezTo>
                      <a:pt x="1104" y="189"/>
                      <a:pt x="1104" y="188"/>
                      <a:pt x="1103" y="187"/>
                    </a:cubicBezTo>
                    <a:cubicBezTo>
                      <a:pt x="1070" y="153"/>
                      <a:pt x="1070" y="153"/>
                      <a:pt x="1070" y="153"/>
                    </a:cubicBezTo>
                    <a:cubicBezTo>
                      <a:pt x="1068" y="151"/>
                      <a:pt x="1069" y="148"/>
                      <a:pt x="1072" y="148"/>
                    </a:cubicBezTo>
                    <a:cubicBezTo>
                      <a:pt x="1118" y="141"/>
                      <a:pt x="1118" y="141"/>
                      <a:pt x="1118" y="141"/>
                    </a:cubicBezTo>
                    <a:cubicBezTo>
                      <a:pt x="1120" y="141"/>
                      <a:pt x="1121" y="141"/>
                      <a:pt x="1121" y="139"/>
                    </a:cubicBezTo>
                    <a:cubicBezTo>
                      <a:pt x="1142" y="97"/>
                      <a:pt x="1142" y="97"/>
                      <a:pt x="1142" y="97"/>
                    </a:cubicBezTo>
                    <a:cubicBezTo>
                      <a:pt x="1144" y="95"/>
                      <a:pt x="1147" y="95"/>
                      <a:pt x="1149" y="97"/>
                    </a:cubicBezTo>
                    <a:cubicBezTo>
                      <a:pt x="1169" y="140"/>
                      <a:pt x="1169" y="140"/>
                      <a:pt x="1169" y="140"/>
                    </a:cubicBezTo>
                    <a:cubicBezTo>
                      <a:pt x="1169" y="141"/>
                      <a:pt x="1170" y="142"/>
                      <a:pt x="1171" y="142"/>
                    </a:cubicBezTo>
                    <a:cubicBezTo>
                      <a:pt x="1218" y="149"/>
                      <a:pt x="1218" y="149"/>
                      <a:pt x="1218" y="149"/>
                    </a:cubicBezTo>
                    <a:cubicBezTo>
                      <a:pt x="1221" y="150"/>
                      <a:pt x="1222" y="153"/>
                      <a:pt x="1220" y="155"/>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3152" tIns="36576" rIns="73152" bIns="3657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31" name="Freeform 16">
                <a:extLst>
                  <a:ext uri="{FF2B5EF4-FFF2-40B4-BE49-F238E27FC236}">
                    <a16:creationId xmlns:a16="http://schemas.microsoft.com/office/drawing/2014/main" id="{0E02D212-17FD-448F-87B5-CCA177AA39B1}"/>
                  </a:ext>
                </a:extLst>
              </p:cNvPr>
              <p:cNvSpPr>
                <a:spLocks noEditPoints="1"/>
              </p:cNvSpPr>
              <p:nvPr/>
            </p:nvSpPr>
            <p:spPr bwMode="auto">
              <a:xfrm>
                <a:off x="1864" y="712"/>
                <a:ext cx="3956" cy="2665"/>
              </a:xfrm>
              <a:custGeom>
                <a:avLst/>
                <a:gdLst>
                  <a:gd name="T0" fmla="*/ 663 w 2112"/>
                  <a:gd name="T1" fmla="*/ 1199 h 1421"/>
                  <a:gd name="T2" fmla="*/ 469 w 2112"/>
                  <a:gd name="T3" fmla="*/ 844 h 1421"/>
                  <a:gd name="T4" fmla="*/ 695 w 2112"/>
                  <a:gd name="T5" fmla="*/ 0 h 1421"/>
                  <a:gd name="T6" fmla="*/ 920 w 2112"/>
                  <a:gd name="T7" fmla="*/ 844 h 1421"/>
                  <a:gd name="T8" fmla="*/ 727 w 2112"/>
                  <a:gd name="T9" fmla="*/ 1199 h 1421"/>
                  <a:gd name="T10" fmla="*/ 695 w 2112"/>
                  <a:gd name="T11" fmla="*/ 1218 h 1421"/>
                  <a:gd name="T12" fmla="*/ 352 w 2112"/>
                  <a:gd name="T13" fmla="*/ 395 h 1421"/>
                  <a:gd name="T14" fmla="*/ 662 w 2112"/>
                  <a:gd name="T15" fmla="*/ 1110 h 1421"/>
                  <a:gd name="T16" fmla="*/ 728 w 2112"/>
                  <a:gd name="T17" fmla="*/ 1110 h 1421"/>
                  <a:gd name="T18" fmla="*/ 1036 w 2112"/>
                  <a:gd name="T19" fmla="*/ 395 h 1421"/>
                  <a:gd name="T20" fmla="*/ 1344 w 2112"/>
                  <a:gd name="T21" fmla="*/ 593 h 1421"/>
                  <a:gd name="T22" fmla="*/ 1081 w 2112"/>
                  <a:gd name="T23" fmla="*/ 587 h 1421"/>
                  <a:gd name="T24" fmla="*/ 1364 w 2112"/>
                  <a:gd name="T25" fmla="*/ 631 h 1421"/>
                  <a:gd name="T26" fmla="*/ 2110 w 2112"/>
                  <a:gd name="T27" fmla="*/ 1377 h 1421"/>
                  <a:gd name="T28" fmla="*/ 1876 w 2112"/>
                  <a:gd name="T29" fmla="*/ 587 h 1421"/>
                  <a:gd name="T30" fmla="*/ 1736 w 2112"/>
                  <a:gd name="T31" fmla="*/ 592 h 1421"/>
                  <a:gd name="T32" fmla="*/ 1876 w 2112"/>
                  <a:gd name="T33" fmla="*/ 631 h 1421"/>
                  <a:gd name="T34" fmla="*/ 2064 w 2112"/>
                  <a:gd name="T35" fmla="*/ 1377 h 1421"/>
                  <a:gd name="T36" fmla="*/ 232 w 2112"/>
                  <a:gd name="T37" fmla="*/ 631 h 1421"/>
                  <a:gd name="T38" fmla="*/ 324 w 2112"/>
                  <a:gd name="T39" fmla="*/ 631 h 1421"/>
                  <a:gd name="T40" fmla="*/ 236 w 2112"/>
                  <a:gd name="T41" fmla="*/ 587 h 1421"/>
                  <a:gd name="T42" fmla="*/ 2 w 2112"/>
                  <a:gd name="T43" fmla="*/ 1377 h 1421"/>
                  <a:gd name="T44" fmla="*/ 45 w 2112"/>
                  <a:gd name="T45" fmla="*/ 1421 h 1421"/>
                  <a:gd name="T46" fmla="*/ 2104 w 2112"/>
                  <a:gd name="T47" fmla="*/ 1405 h 1421"/>
                  <a:gd name="T48" fmla="*/ 1541 w 2112"/>
                  <a:gd name="T49" fmla="*/ 826 h 1421"/>
                  <a:gd name="T50" fmla="*/ 1487 w 2112"/>
                  <a:gd name="T51" fmla="*/ 765 h 1421"/>
                  <a:gd name="T52" fmla="*/ 1276 w 2112"/>
                  <a:gd name="T53" fmla="*/ 270 h 1421"/>
                  <a:gd name="T54" fmla="*/ 1804 w 2112"/>
                  <a:gd name="T55" fmla="*/ 270 h 1421"/>
                  <a:gd name="T56" fmla="*/ 1594 w 2112"/>
                  <a:gd name="T57" fmla="*/ 765 h 1421"/>
                  <a:gd name="T58" fmla="*/ 1541 w 2112"/>
                  <a:gd name="T59" fmla="*/ 826 h 1421"/>
                  <a:gd name="T60" fmla="*/ 1541 w 2112"/>
                  <a:gd name="T61" fmla="*/ 44 h 1421"/>
                  <a:gd name="T62" fmla="*/ 1423 w 2112"/>
                  <a:gd name="T63" fmla="*/ 553 h 1421"/>
                  <a:gd name="T64" fmla="*/ 1541 w 2112"/>
                  <a:gd name="T65" fmla="*/ 770 h 1421"/>
                  <a:gd name="T66" fmla="*/ 1658 w 2112"/>
                  <a:gd name="T67" fmla="*/ 553 h 1421"/>
                  <a:gd name="T68" fmla="*/ 1541 w 2112"/>
                  <a:gd name="T69" fmla="*/ 44 h 1421"/>
                  <a:gd name="T70" fmla="*/ 1195 w 2112"/>
                  <a:gd name="T71" fmla="*/ 908 h 1421"/>
                  <a:gd name="T72" fmla="*/ 1195 w 2112"/>
                  <a:gd name="T73" fmla="*/ 826 h 1421"/>
                  <a:gd name="T74" fmla="*/ 1449 w 2112"/>
                  <a:gd name="T75" fmla="*/ 787 h 1421"/>
                  <a:gd name="T76" fmla="*/ 1195 w 2112"/>
                  <a:gd name="T77" fmla="*/ 782 h 1421"/>
                  <a:gd name="T78" fmla="*/ 1195 w 2112"/>
                  <a:gd name="T79" fmla="*/ 952 h 1421"/>
                  <a:gd name="T80" fmla="*/ 1659 w 2112"/>
                  <a:gd name="T81" fmla="*/ 1063 h 1421"/>
                  <a:gd name="T82" fmla="*/ 793 w 2112"/>
                  <a:gd name="T83" fmla="*/ 1174 h 1421"/>
                  <a:gd name="T84" fmla="*/ 1548 w 2112"/>
                  <a:gd name="T85" fmla="*/ 1218 h 1421"/>
                  <a:gd name="T86" fmla="*/ 1548 w 2112"/>
                  <a:gd name="T87" fmla="*/ 908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112" h="1421">
                    <a:moveTo>
                      <a:pt x="695" y="1218"/>
                    </a:moveTo>
                    <a:cubicBezTo>
                      <a:pt x="681" y="1218"/>
                      <a:pt x="669" y="1211"/>
                      <a:pt x="663" y="1199"/>
                    </a:cubicBezTo>
                    <a:cubicBezTo>
                      <a:pt x="624" y="1132"/>
                      <a:pt x="624" y="1132"/>
                      <a:pt x="624" y="1132"/>
                    </a:cubicBezTo>
                    <a:cubicBezTo>
                      <a:pt x="623" y="1131"/>
                      <a:pt x="545" y="997"/>
                      <a:pt x="469" y="844"/>
                    </a:cubicBezTo>
                    <a:cubicBezTo>
                      <a:pt x="360" y="627"/>
                      <a:pt x="308" y="480"/>
                      <a:pt x="308" y="395"/>
                    </a:cubicBezTo>
                    <a:cubicBezTo>
                      <a:pt x="308" y="177"/>
                      <a:pt x="481" y="0"/>
                      <a:pt x="695" y="0"/>
                    </a:cubicBezTo>
                    <a:cubicBezTo>
                      <a:pt x="907" y="0"/>
                      <a:pt x="1080" y="177"/>
                      <a:pt x="1080" y="395"/>
                    </a:cubicBezTo>
                    <a:cubicBezTo>
                      <a:pt x="1080" y="480"/>
                      <a:pt x="1027" y="627"/>
                      <a:pt x="920" y="844"/>
                    </a:cubicBezTo>
                    <a:cubicBezTo>
                      <a:pt x="844" y="997"/>
                      <a:pt x="767" y="1131"/>
                      <a:pt x="766" y="1132"/>
                    </a:cubicBezTo>
                    <a:cubicBezTo>
                      <a:pt x="727" y="1199"/>
                      <a:pt x="727" y="1199"/>
                      <a:pt x="727" y="1199"/>
                    </a:cubicBezTo>
                    <a:cubicBezTo>
                      <a:pt x="721" y="1211"/>
                      <a:pt x="709" y="1218"/>
                      <a:pt x="695" y="1218"/>
                    </a:cubicBezTo>
                    <a:cubicBezTo>
                      <a:pt x="695" y="1218"/>
                      <a:pt x="695" y="1218"/>
                      <a:pt x="695" y="1218"/>
                    </a:cubicBezTo>
                    <a:close/>
                    <a:moveTo>
                      <a:pt x="695" y="44"/>
                    </a:moveTo>
                    <a:cubicBezTo>
                      <a:pt x="506" y="44"/>
                      <a:pt x="352" y="202"/>
                      <a:pt x="352" y="395"/>
                    </a:cubicBezTo>
                    <a:cubicBezTo>
                      <a:pt x="352" y="473"/>
                      <a:pt x="403" y="614"/>
                      <a:pt x="508" y="825"/>
                    </a:cubicBezTo>
                    <a:cubicBezTo>
                      <a:pt x="584" y="976"/>
                      <a:pt x="661" y="1109"/>
                      <a:pt x="662" y="1110"/>
                    </a:cubicBezTo>
                    <a:cubicBezTo>
                      <a:pt x="695" y="1167"/>
                      <a:pt x="695" y="1167"/>
                      <a:pt x="695" y="1167"/>
                    </a:cubicBezTo>
                    <a:cubicBezTo>
                      <a:pt x="728" y="1110"/>
                      <a:pt x="728" y="1110"/>
                      <a:pt x="728" y="1110"/>
                    </a:cubicBezTo>
                    <a:cubicBezTo>
                      <a:pt x="729" y="1109"/>
                      <a:pt x="805" y="976"/>
                      <a:pt x="880" y="825"/>
                    </a:cubicBezTo>
                    <a:cubicBezTo>
                      <a:pt x="985" y="614"/>
                      <a:pt x="1036" y="473"/>
                      <a:pt x="1036" y="395"/>
                    </a:cubicBezTo>
                    <a:cubicBezTo>
                      <a:pt x="1036" y="202"/>
                      <a:pt x="883" y="44"/>
                      <a:pt x="695" y="44"/>
                    </a:cubicBezTo>
                    <a:close/>
                    <a:moveTo>
                      <a:pt x="1344" y="593"/>
                    </a:moveTo>
                    <a:cubicBezTo>
                      <a:pt x="1343" y="591"/>
                      <a:pt x="1343" y="589"/>
                      <a:pt x="1342" y="587"/>
                    </a:cubicBezTo>
                    <a:cubicBezTo>
                      <a:pt x="1081" y="587"/>
                      <a:pt x="1081" y="587"/>
                      <a:pt x="1081" y="587"/>
                    </a:cubicBezTo>
                    <a:cubicBezTo>
                      <a:pt x="1076" y="601"/>
                      <a:pt x="1070" y="616"/>
                      <a:pt x="1064" y="631"/>
                    </a:cubicBezTo>
                    <a:cubicBezTo>
                      <a:pt x="1364" y="631"/>
                      <a:pt x="1364" y="631"/>
                      <a:pt x="1364" y="631"/>
                    </a:cubicBezTo>
                    <a:cubicBezTo>
                      <a:pt x="1357" y="619"/>
                      <a:pt x="1351" y="606"/>
                      <a:pt x="1344" y="593"/>
                    </a:cubicBezTo>
                    <a:close/>
                    <a:moveTo>
                      <a:pt x="2110" y="1377"/>
                    </a:moveTo>
                    <a:cubicBezTo>
                      <a:pt x="1921" y="615"/>
                      <a:pt x="1921" y="615"/>
                      <a:pt x="1921" y="615"/>
                    </a:cubicBezTo>
                    <a:cubicBezTo>
                      <a:pt x="1916" y="596"/>
                      <a:pt x="1894" y="587"/>
                      <a:pt x="1876" y="587"/>
                    </a:cubicBezTo>
                    <a:cubicBezTo>
                      <a:pt x="1739" y="587"/>
                      <a:pt x="1739" y="587"/>
                      <a:pt x="1739" y="587"/>
                    </a:cubicBezTo>
                    <a:cubicBezTo>
                      <a:pt x="1738" y="589"/>
                      <a:pt x="1737" y="591"/>
                      <a:pt x="1736" y="592"/>
                    </a:cubicBezTo>
                    <a:cubicBezTo>
                      <a:pt x="1730" y="605"/>
                      <a:pt x="1723" y="618"/>
                      <a:pt x="1717" y="631"/>
                    </a:cubicBezTo>
                    <a:cubicBezTo>
                      <a:pt x="1876" y="631"/>
                      <a:pt x="1876" y="631"/>
                      <a:pt x="1876" y="631"/>
                    </a:cubicBezTo>
                    <a:cubicBezTo>
                      <a:pt x="1877" y="631"/>
                      <a:pt x="1879" y="631"/>
                      <a:pt x="1880" y="631"/>
                    </a:cubicBezTo>
                    <a:cubicBezTo>
                      <a:pt x="2064" y="1377"/>
                      <a:pt x="2064" y="1377"/>
                      <a:pt x="2064" y="1377"/>
                    </a:cubicBezTo>
                    <a:cubicBezTo>
                      <a:pt x="48" y="1377"/>
                      <a:pt x="48" y="1377"/>
                      <a:pt x="48" y="1377"/>
                    </a:cubicBezTo>
                    <a:cubicBezTo>
                      <a:pt x="232" y="631"/>
                      <a:pt x="232" y="631"/>
                      <a:pt x="232" y="631"/>
                    </a:cubicBezTo>
                    <a:cubicBezTo>
                      <a:pt x="233" y="631"/>
                      <a:pt x="235" y="631"/>
                      <a:pt x="236" y="631"/>
                    </a:cubicBezTo>
                    <a:cubicBezTo>
                      <a:pt x="324" y="631"/>
                      <a:pt x="324" y="631"/>
                      <a:pt x="324" y="631"/>
                    </a:cubicBezTo>
                    <a:cubicBezTo>
                      <a:pt x="318" y="616"/>
                      <a:pt x="312" y="601"/>
                      <a:pt x="307" y="587"/>
                    </a:cubicBezTo>
                    <a:cubicBezTo>
                      <a:pt x="236" y="587"/>
                      <a:pt x="236" y="587"/>
                      <a:pt x="236" y="587"/>
                    </a:cubicBezTo>
                    <a:cubicBezTo>
                      <a:pt x="218" y="587"/>
                      <a:pt x="196" y="596"/>
                      <a:pt x="191" y="615"/>
                    </a:cubicBezTo>
                    <a:cubicBezTo>
                      <a:pt x="2" y="1377"/>
                      <a:pt x="2" y="1377"/>
                      <a:pt x="2" y="1377"/>
                    </a:cubicBezTo>
                    <a:cubicBezTo>
                      <a:pt x="0" y="1387"/>
                      <a:pt x="2" y="1397"/>
                      <a:pt x="8" y="1405"/>
                    </a:cubicBezTo>
                    <a:cubicBezTo>
                      <a:pt x="16" y="1415"/>
                      <a:pt x="30" y="1421"/>
                      <a:pt x="45" y="1421"/>
                    </a:cubicBezTo>
                    <a:cubicBezTo>
                      <a:pt x="2067" y="1421"/>
                      <a:pt x="2067" y="1421"/>
                      <a:pt x="2067" y="1421"/>
                    </a:cubicBezTo>
                    <a:cubicBezTo>
                      <a:pt x="2082" y="1421"/>
                      <a:pt x="2096" y="1415"/>
                      <a:pt x="2104" y="1405"/>
                    </a:cubicBezTo>
                    <a:cubicBezTo>
                      <a:pt x="2110" y="1397"/>
                      <a:pt x="2112" y="1387"/>
                      <a:pt x="2110" y="1377"/>
                    </a:cubicBezTo>
                    <a:close/>
                    <a:moveTo>
                      <a:pt x="1541" y="826"/>
                    </a:moveTo>
                    <a:cubicBezTo>
                      <a:pt x="1529" y="826"/>
                      <a:pt x="1519" y="819"/>
                      <a:pt x="1513" y="810"/>
                    </a:cubicBezTo>
                    <a:cubicBezTo>
                      <a:pt x="1487" y="765"/>
                      <a:pt x="1487" y="765"/>
                      <a:pt x="1487" y="765"/>
                    </a:cubicBezTo>
                    <a:cubicBezTo>
                      <a:pt x="1487" y="764"/>
                      <a:pt x="1435" y="675"/>
                      <a:pt x="1384" y="573"/>
                    </a:cubicBezTo>
                    <a:cubicBezTo>
                      <a:pt x="1310" y="425"/>
                      <a:pt x="1276" y="329"/>
                      <a:pt x="1276" y="270"/>
                    </a:cubicBezTo>
                    <a:cubicBezTo>
                      <a:pt x="1276" y="122"/>
                      <a:pt x="1395" y="0"/>
                      <a:pt x="1541" y="0"/>
                    </a:cubicBezTo>
                    <a:cubicBezTo>
                      <a:pt x="1686" y="0"/>
                      <a:pt x="1804" y="122"/>
                      <a:pt x="1804" y="270"/>
                    </a:cubicBezTo>
                    <a:cubicBezTo>
                      <a:pt x="1804" y="329"/>
                      <a:pt x="1770" y="425"/>
                      <a:pt x="1697" y="573"/>
                    </a:cubicBezTo>
                    <a:cubicBezTo>
                      <a:pt x="1647" y="675"/>
                      <a:pt x="1595" y="764"/>
                      <a:pt x="1594" y="765"/>
                    </a:cubicBezTo>
                    <a:cubicBezTo>
                      <a:pt x="1569" y="809"/>
                      <a:pt x="1569" y="809"/>
                      <a:pt x="1569" y="809"/>
                    </a:cubicBezTo>
                    <a:cubicBezTo>
                      <a:pt x="1563" y="819"/>
                      <a:pt x="1552" y="826"/>
                      <a:pt x="1541" y="826"/>
                    </a:cubicBezTo>
                    <a:cubicBezTo>
                      <a:pt x="1541" y="826"/>
                      <a:pt x="1541" y="826"/>
                      <a:pt x="1541" y="826"/>
                    </a:cubicBezTo>
                    <a:close/>
                    <a:moveTo>
                      <a:pt x="1541" y="44"/>
                    </a:moveTo>
                    <a:cubicBezTo>
                      <a:pt x="1419" y="44"/>
                      <a:pt x="1320" y="146"/>
                      <a:pt x="1320" y="270"/>
                    </a:cubicBezTo>
                    <a:cubicBezTo>
                      <a:pt x="1320" y="321"/>
                      <a:pt x="1354" y="416"/>
                      <a:pt x="1423" y="553"/>
                    </a:cubicBezTo>
                    <a:cubicBezTo>
                      <a:pt x="1474" y="655"/>
                      <a:pt x="1525" y="742"/>
                      <a:pt x="1525" y="743"/>
                    </a:cubicBezTo>
                    <a:cubicBezTo>
                      <a:pt x="1541" y="770"/>
                      <a:pt x="1541" y="770"/>
                      <a:pt x="1541" y="770"/>
                    </a:cubicBezTo>
                    <a:cubicBezTo>
                      <a:pt x="1556" y="743"/>
                      <a:pt x="1556" y="743"/>
                      <a:pt x="1556" y="743"/>
                    </a:cubicBezTo>
                    <a:cubicBezTo>
                      <a:pt x="1557" y="742"/>
                      <a:pt x="1607" y="655"/>
                      <a:pt x="1658" y="553"/>
                    </a:cubicBezTo>
                    <a:cubicBezTo>
                      <a:pt x="1726" y="416"/>
                      <a:pt x="1760" y="321"/>
                      <a:pt x="1760" y="270"/>
                    </a:cubicBezTo>
                    <a:cubicBezTo>
                      <a:pt x="1760" y="146"/>
                      <a:pt x="1662" y="44"/>
                      <a:pt x="1541" y="44"/>
                    </a:cubicBezTo>
                    <a:close/>
                    <a:moveTo>
                      <a:pt x="1548" y="908"/>
                    </a:moveTo>
                    <a:cubicBezTo>
                      <a:pt x="1195" y="908"/>
                      <a:pt x="1195" y="908"/>
                      <a:pt x="1195" y="908"/>
                    </a:cubicBezTo>
                    <a:cubicBezTo>
                      <a:pt x="1172" y="908"/>
                      <a:pt x="1154" y="889"/>
                      <a:pt x="1154" y="867"/>
                    </a:cubicBezTo>
                    <a:cubicBezTo>
                      <a:pt x="1154" y="844"/>
                      <a:pt x="1172" y="826"/>
                      <a:pt x="1195" y="826"/>
                    </a:cubicBezTo>
                    <a:cubicBezTo>
                      <a:pt x="1471" y="826"/>
                      <a:pt x="1471" y="826"/>
                      <a:pt x="1471" y="826"/>
                    </a:cubicBezTo>
                    <a:cubicBezTo>
                      <a:pt x="1449" y="787"/>
                      <a:pt x="1449" y="787"/>
                      <a:pt x="1449" y="787"/>
                    </a:cubicBezTo>
                    <a:cubicBezTo>
                      <a:pt x="1449" y="787"/>
                      <a:pt x="1448" y="785"/>
                      <a:pt x="1446" y="782"/>
                    </a:cubicBezTo>
                    <a:cubicBezTo>
                      <a:pt x="1195" y="782"/>
                      <a:pt x="1195" y="782"/>
                      <a:pt x="1195" y="782"/>
                    </a:cubicBezTo>
                    <a:cubicBezTo>
                      <a:pt x="1148" y="782"/>
                      <a:pt x="1110" y="820"/>
                      <a:pt x="1110" y="867"/>
                    </a:cubicBezTo>
                    <a:cubicBezTo>
                      <a:pt x="1110" y="914"/>
                      <a:pt x="1148" y="952"/>
                      <a:pt x="1195" y="952"/>
                    </a:cubicBezTo>
                    <a:cubicBezTo>
                      <a:pt x="1548" y="952"/>
                      <a:pt x="1548" y="952"/>
                      <a:pt x="1548" y="952"/>
                    </a:cubicBezTo>
                    <a:cubicBezTo>
                      <a:pt x="1609" y="952"/>
                      <a:pt x="1659" y="1002"/>
                      <a:pt x="1659" y="1063"/>
                    </a:cubicBezTo>
                    <a:cubicBezTo>
                      <a:pt x="1659" y="1124"/>
                      <a:pt x="1609" y="1174"/>
                      <a:pt x="1548" y="1174"/>
                    </a:cubicBezTo>
                    <a:cubicBezTo>
                      <a:pt x="793" y="1174"/>
                      <a:pt x="793" y="1174"/>
                      <a:pt x="793" y="1174"/>
                    </a:cubicBezTo>
                    <a:cubicBezTo>
                      <a:pt x="767" y="1218"/>
                      <a:pt x="767" y="1218"/>
                      <a:pt x="767" y="1218"/>
                    </a:cubicBezTo>
                    <a:cubicBezTo>
                      <a:pt x="1548" y="1218"/>
                      <a:pt x="1548" y="1218"/>
                      <a:pt x="1548" y="1218"/>
                    </a:cubicBezTo>
                    <a:cubicBezTo>
                      <a:pt x="1633" y="1218"/>
                      <a:pt x="1703" y="1148"/>
                      <a:pt x="1703" y="1063"/>
                    </a:cubicBezTo>
                    <a:cubicBezTo>
                      <a:pt x="1703" y="977"/>
                      <a:pt x="1633" y="908"/>
                      <a:pt x="1548" y="90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3152" tIns="36576" rIns="73152" bIns="3657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grpSp>
      </p:grpSp>
      <p:sp>
        <p:nvSpPr>
          <p:cNvPr id="9" name="Title 3">
            <a:extLst>
              <a:ext uri="{FF2B5EF4-FFF2-40B4-BE49-F238E27FC236}">
                <a16:creationId xmlns:a16="http://schemas.microsoft.com/office/drawing/2014/main" id="{40EA9602-6461-B711-0B1A-7AF47EA07A46}"/>
              </a:ext>
            </a:extLst>
          </p:cNvPr>
          <p:cNvSpPr txBox="1">
            <a:spLocks/>
          </p:cNvSpPr>
          <p:nvPr/>
        </p:nvSpPr>
        <p:spPr>
          <a:xfrm>
            <a:off x="184150" y="284162"/>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r>
              <a:rPr lang="en-US" sz="2800" cap="none">
                <a:solidFill>
                  <a:schemeClr val="tx1"/>
                </a:solidFill>
              </a:rPr>
              <a:t>Retrospective</a:t>
            </a:r>
          </a:p>
        </p:txBody>
      </p:sp>
      <p:sp>
        <p:nvSpPr>
          <p:cNvPr id="10" name="NavigationIcon">
            <a:extLst>
              <a:ext uri="{FF2B5EF4-FFF2-40B4-BE49-F238E27FC236}">
                <a16:creationId xmlns:a16="http://schemas.microsoft.com/office/drawing/2014/main" id="{F0A359B5-E781-9BEF-539A-CA0205A1D12A}"/>
              </a:ext>
            </a:extLst>
          </p:cNvPr>
          <p:cNvSpPr>
            <a:spLocks noChangeAspect="1" noChangeArrowheads="1"/>
          </p:cNvSpPr>
          <p:nvPr>
            <p:custDataLst>
              <p:tags r:id="rId3"/>
            </p:custDataLst>
          </p:nvPr>
        </p:nvSpPr>
        <p:spPr bwMode="auto">
          <a:xfrm>
            <a:off x="609056" y="901942"/>
            <a:ext cx="365760" cy="365760"/>
          </a:xfrm>
          <a:prstGeom prst="ellipse">
            <a:avLst/>
          </a:prstGeom>
          <a:solidFill>
            <a:schemeClr val="tx1"/>
          </a:solidFill>
          <a:ln>
            <a:noFill/>
          </a:ln>
        </p:spPr>
        <p:txBody>
          <a:bodyPr vert="horz" wrap="square" lIns="123928" tIns="61964" rIns="123928" bIns="61964"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26">
                <a:solidFill>
                  <a:schemeClr val="bg1"/>
                </a:solidFill>
                <a:latin typeface="Calibri" panose="020F0502020204030204" pitchFamily="34" charset="0"/>
                <a:cs typeface="Calibri" panose="020F0502020204030204" pitchFamily="34" charset="0"/>
              </a:rPr>
              <a:t>E</a:t>
            </a:r>
            <a:endParaRPr kumimoji="0" lang="en-US" sz="1626" b="0" i="0" u="none" strike="noStrike" kern="1200" cap="none" spc="0" normalizeH="0" baseline="0" noProof="0">
              <a:ln>
                <a:noFill/>
              </a:ln>
              <a:solidFill>
                <a:schemeClr val="bg1"/>
              </a:solidFill>
              <a:effectLst/>
              <a:uLnTx/>
              <a:uFillTx/>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0852E015-19CC-D52B-E722-4F175DC22508}"/>
              </a:ext>
            </a:extLst>
          </p:cNvPr>
          <p:cNvSpPr txBox="1"/>
          <p:nvPr/>
        </p:nvSpPr>
        <p:spPr>
          <a:xfrm>
            <a:off x="4786462" y="6380366"/>
            <a:ext cx="4388306" cy="369332"/>
          </a:xfrm>
          <a:prstGeom prst="rect">
            <a:avLst/>
          </a:prstGeom>
          <a:noFill/>
        </p:spPr>
        <p:txBody>
          <a:bodyPr wrap="square">
            <a:spAutoFit/>
          </a:bodyPr>
          <a:lstStyle/>
          <a:p>
            <a:r>
              <a:rPr lang="en-US" b="1">
                <a:solidFill>
                  <a:srgbClr val="D763C6"/>
                </a:solidFill>
                <a:latin typeface="Calibri" panose="020F0502020204030204" pitchFamily="34" charset="0"/>
                <a:cs typeface="Calibri" panose="020F0502020204030204" pitchFamily="34" charset="0"/>
              </a:rPr>
              <a:t>Continuous Improvement of the Team</a:t>
            </a:r>
            <a:endParaRPr lang="en-US" b="1">
              <a:solidFill>
                <a:srgbClr val="D763C6"/>
              </a:solidFill>
            </a:endParaRPr>
          </a:p>
        </p:txBody>
      </p:sp>
    </p:spTree>
    <p:extLst>
      <p:ext uri="{BB962C8B-B14F-4D97-AF65-F5344CB8AC3E}">
        <p14:creationId xmlns:p14="http://schemas.microsoft.com/office/powerpoint/2010/main" val="6329219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 name="Object 46" hidden="1"/>
          <p:cNvGraphicFramePr>
            <a:graphicFrameLocks noChangeAspect="1"/>
          </p:cNvGraphicFramePr>
          <p:nvPr>
            <p:custDataLst>
              <p:tags r:id="rId1"/>
            </p:custDataLst>
          </p:nvPr>
        </p:nvGraphicFramePr>
        <p:xfrm>
          <a:off x="1525467" y="265237"/>
          <a:ext cx="1465" cy="1465"/>
        </p:xfrm>
        <a:graphic>
          <a:graphicData uri="http://schemas.openxmlformats.org/presentationml/2006/ole">
            <mc:AlternateContent xmlns:mc="http://schemas.openxmlformats.org/markup-compatibility/2006">
              <mc:Choice xmlns:v="urn:schemas-microsoft-com:vml" Requires="v">
                <p:oleObj name="think-cell Slide" r:id="rId5" imgW="360" imgH="360" progId="TCLayout.ActiveDocument.1">
                  <p:embed/>
                </p:oleObj>
              </mc:Choice>
              <mc:Fallback>
                <p:oleObj name="think-cell Slide" r:id="rId5" imgW="360" imgH="360" progId="TCLayout.ActiveDocument.1">
                  <p:embed/>
                  <p:pic>
                    <p:nvPicPr>
                      <p:cNvPr id="47" name="Object 46"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5467" y="265237"/>
                        <a:ext cx="1465" cy="14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2" hidden="1"/>
          <p:cNvSpPr/>
          <p:nvPr>
            <p:custDataLst>
              <p:tags r:id="rId2"/>
            </p:custDataLst>
          </p:nvPr>
        </p:nvSpPr>
        <p:spPr>
          <a:xfrm>
            <a:off x="0" y="0"/>
            <a:ext cx="158750" cy="158750"/>
          </a:xfrm>
          <a:prstGeom prst="rect">
            <a:avLst/>
          </a:prstGeom>
          <a:solidFill>
            <a:srgbClr val="E51B24"/>
          </a:solidFill>
          <a:ln w="9525" cap="rnd" cmpd="sng" algn="ctr">
            <a:solidFill>
              <a:srgbClr val="E51B2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rebuchet MS" panose="020B0603020202020204" pitchFamily="34" charset="0"/>
              <a:ea typeface="+mn-ea"/>
              <a:cs typeface="+mn-cs"/>
              <a:sym typeface="Trebuchet MS" panose="020B0603020202020204" pitchFamily="34" charset="0"/>
            </a:endParaRPr>
          </a:p>
        </p:txBody>
      </p:sp>
      <p:sp>
        <p:nvSpPr>
          <p:cNvPr id="23" name="TextBox 22"/>
          <p:cNvSpPr txBox="1"/>
          <p:nvPr/>
        </p:nvSpPr>
        <p:spPr>
          <a:xfrm>
            <a:off x="629323" y="1346792"/>
            <a:ext cx="6335853" cy="4026743"/>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n-AU" sz="1300" b="1" i="0" u="none" strike="noStrike" kern="1200" cap="none" spc="0" normalizeH="0" baseline="0" noProof="0">
                <a:ln>
                  <a:noFill/>
                </a:ln>
                <a:effectLst/>
                <a:uLnTx/>
                <a:uFillTx/>
                <a:latin typeface="Calibri" panose="020F0502020204030204" pitchFamily="34" charset="0"/>
                <a:cs typeface="Calibri" panose="020F0502020204030204" pitchFamily="34" charset="0"/>
              </a:rPr>
              <a:t>What is the Team Leadership Forum?</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n-AU" sz="1300" b="0" i="0" u="none" strike="noStrike" kern="1200" cap="none" spc="0" normalizeH="0" baseline="0" noProof="0">
                <a:ln>
                  <a:noFill/>
                </a:ln>
                <a:effectLst/>
                <a:uLnTx/>
                <a:uFillTx/>
                <a:latin typeface="Calibri" panose="020F0502020204030204" pitchFamily="34" charset="0"/>
                <a:cs typeface="Calibri" panose="020F0502020204030204" pitchFamily="34" charset="0"/>
              </a:rPr>
              <a:t>A half-hour discussion that occurs once every one to two sprints:</a:t>
            </a:r>
          </a:p>
          <a:p>
            <a:pPr marL="378000" marR="0" lvl="1" indent="-252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AU" sz="1300" b="0" i="0" u="none" strike="noStrike" kern="1200" cap="none" spc="0" normalizeH="0" baseline="0" noProof="0">
                <a:ln>
                  <a:noFill/>
                </a:ln>
                <a:effectLst/>
                <a:uLnTx/>
                <a:uFillTx/>
                <a:latin typeface="Calibri" panose="020F0502020204030204" pitchFamily="34" charset="0"/>
                <a:cs typeface="Calibri" panose="020F0502020204030204" pitchFamily="34" charset="0"/>
              </a:rPr>
              <a:t>Align on major strategic decisions impacting the team (i.e., backlog priorities, skill requirements)</a:t>
            </a:r>
          </a:p>
          <a:p>
            <a:pPr marL="378000" marR="0" lvl="1" indent="-252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AU" sz="1300" b="0" i="0" u="none" strike="noStrike" kern="1200" cap="none" spc="0" normalizeH="0" baseline="0" noProof="0">
                <a:ln>
                  <a:noFill/>
                </a:ln>
                <a:effectLst/>
                <a:uLnTx/>
                <a:uFillTx/>
                <a:latin typeface="Calibri" panose="020F0502020204030204" pitchFamily="34" charset="0"/>
                <a:cs typeface="Calibri" panose="020F0502020204030204" pitchFamily="34" charset="0"/>
              </a:rPr>
              <a:t>Discuss capacity for team members to develop their skillset versus delivering outcomes</a:t>
            </a:r>
          </a:p>
          <a:p>
            <a:pPr marL="378000" marR="0" lvl="1" indent="-252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300" b="0" i="0" u="none" strike="noStrike" kern="1200" cap="none" spc="0" normalizeH="0" baseline="0" noProof="0">
                <a:ln>
                  <a:noFill/>
                </a:ln>
                <a:effectLst/>
                <a:uLnTx/>
                <a:uFillTx/>
                <a:latin typeface="Calibri" panose="020F0502020204030204" pitchFamily="34" charset="0"/>
                <a:cs typeface="Calibri" panose="020F0502020204030204" pitchFamily="34" charset="0"/>
              </a:rPr>
              <a:t>Assess how the team is maturing on agile ways of working, across key elements of the operating model</a:t>
            </a:r>
          </a:p>
          <a:p>
            <a:pPr marL="126000" marR="0" lvl="1" indent="0" algn="l" defTabSz="914400" rtl="0" eaLnBrk="1" fontAlgn="auto" latinLnBrk="0" hangingPunct="1">
              <a:lnSpc>
                <a:spcPct val="100000"/>
              </a:lnSpc>
              <a:spcBef>
                <a:spcPts val="0"/>
              </a:spcBef>
              <a:spcAft>
                <a:spcPts val="0"/>
              </a:spcAft>
              <a:buClr>
                <a:srgbClr val="E51B24">
                  <a:lumMod val="100000"/>
                </a:srgbClr>
              </a:buClr>
              <a:buSzPct val="100000"/>
              <a:buFontTx/>
              <a:buNone/>
              <a:tabLst/>
              <a:defRPr/>
            </a:pPr>
            <a:endParaRPr kumimoji="0" lang="en-AU" sz="1300" b="1" i="0" u="none" strike="noStrike" kern="1200" cap="none" spc="0" normalizeH="0" baseline="0" noProof="0">
              <a:ln>
                <a:noFill/>
              </a:ln>
              <a:effectLst/>
              <a:uLnTx/>
              <a:uFillTx/>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n-AU" sz="1300" b="1" i="0" u="none" strike="noStrike" kern="1200" cap="none" spc="0" normalizeH="0" baseline="0" noProof="0">
                <a:ln>
                  <a:noFill/>
                </a:ln>
                <a:effectLst/>
                <a:uLnTx/>
                <a:uFillTx/>
                <a:latin typeface="Calibri" panose="020F0502020204030204" pitchFamily="34" charset="0"/>
                <a:cs typeface="Calibri" panose="020F0502020204030204" pitchFamily="34" charset="0"/>
              </a:rPr>
              <a:t>Why do we have a Team Leadership Forum?</a:t>
            </a:r>
          </a:p>
          <a:p>
            <a:pPr marL="351000" marR="0" lvl="1" indent="-234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300" b="0" i="0" u="none" strike="noStrike" kern="1200" cap="none" spc="0" normalizeH="0" baseline="0" noProof="0">
                <a:ln>
                  <a:noFill/>
                </a:ln>
                <a:effectLst/>
                <a:uLnTx/>
                <a:uFillTx/>
                <a:latin typeface="Calibri" panose="020F0502020204030204" pitchFamily="34" charset="0"/>
                <a:cs typeface="Calibri" panose="020F0502020204030204" pitchFamily="34" charset="0"/>
              </a:rPr>
              <a:t>We want to ensure continued partnership and between Agile Product Owner and Chapters to enable delivery on team-level outcomes</a:t>
            </a:r>
            <a:endParaRPr kumimoji="0" lang="en-US" sz="1300" b="0" i="0" u="none" strike="noStrike" kern="1200" cap="none" spc="0" normalizeH="0" baseline="0" noProof="0">
              <a:ln>
                <a:noFill/>
              </a:ln>
              <a:effectLst/>
              <a:uLnTx/>
              <a:uFillTx/>
              <a:latin typeface="Calibri" panose="020F0502020204030204" pitchFamily="34" charset="0"/>
              <a:cs typeface="Calibri" panose="020F0502020204030204" pitchFamily="34" charset="0"/>
              <a:sym typeface="Trebuchet MS" panose="020B0603020202020204" pitchFamily="34" charset="0"/>
            </a:endParaRPr>
          </a:p>
          <a:p>
            <a:pPr marL="351000" marR="0" lvl="1" indent="-234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AU" sz="1300" b="0" i="0" u="none" strike="noStrike" kern="1200" cap="none" spc="0" normalizeH="0" baseline="0" noProof="0">
                <a:ln>
                  <a:noFill/>
                </a:ln>
                <a:effectLst/>
                <a:uLnTx/>
                <a:uFillTx/>
                <a:latin typeface="Calibri" panose="020F0502020204030204" pitchFamily="34" charset="0"/>
                <a:cs typeface="Calibri" panose="020F0502020204030204" pitchFamily="34" charset="0"/>
              </a:rPr>
              <a:t>We </a:t>
            </a:r>
            <a:r>
              <a:rPr kumimoji="0" lang="en-US" sz="1300" b="0" i="0" u="none" strike="noStrike" kern="1200" cap="none" spc="0" normalizeH="0" baseline="0" noProof="0">
                <a:ln>
                  <a:noFill/>
                </a:ln>
                <a:effectLst/>
                <a:uLnTx/>
                <a:uFillTx/>
                <a:latin typeface="Calibri" panose="020F0502020204030204" pitchFamily="34" charset="0"/>
                <a:cs typeface="Calibri" panose="020F0502020204030204" pitchFamily="34" charset="0"/>
              </a:rPr>
              <a:t>we want leaders to ensure continuous learning of team members, assessing performance and identifying opportunities for L&amp;D</a:t>
            </a:r>
            <a:endParaRPr kumimoji="0" lang="en-US" sz="1300" b="0" i="0" u="none" strike="noStrike" kern="1200" cap="none" spc="0" normalizeH="0" baseline="0" noProof="0">
              <a:ln>
                <a:noFill/>
              </a:ln>
              <a:effectLst/>
              <a:uLnTx/>
              <a:uFillTx/>
              <a:latin typeface="Calibri" panose="020F0502020204030204" pitchFamily="34" charset="0"/>
              <a:cs typeface="Calibri" panose="020F0502020204030204" pitchFamily="34" charset="0"/>
              <a:sym typeface="Trebuchet MS" panose="020B0603020202020204" pitchFamily="34" charset="0"/>
            </a:endParaRPr>
          </a:p>
          <a:p>
            <a:pPr marL="0" marR="0" lvl="0" indent="0" algn="l" defTabSz="914400" rtl="0" eaLnBrk="1" fontAlgn="auto" latinLnBrk="0" hangingPunct="1">
              <a:lnSpc>
                <a:spcPct val="100000"/>
              </a:lnSpc>
              <a:spcBef>
                <a:spcPts val="0"/>
              </a:spcBef>
              <a:spcAft>
                <a:spcPts val="200"/>
              </a:spcAft>
              <a:buClr>
                <a:srgbClr val="5BC6E8"/>
              </a:buClr>
              <a:buSzPct val="100000"/>
              <a:buFontTx/>
              <a:buNone/>
              <a:tabLst/>
              <a:defRPr/>
            </a:pPr>
            <a:endParaRPr kumimoji="0" lang="en-AU" sz="1300" b="1" i="0" u="none" strike="noStrike" kern="1200" cap="none" spc="0" normalizeH="0" baseline="0" noProof="0">
              <a:ln>
                <a:noFill/>
              </a:ln>
              <a:effectLst/>
              <a:uLnTx/>
              <a:uFillTx/>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n-AU" sz="1300" b="1" i="0" u="none" strike="noStrike" kern="1200" cap="none" spc="0" normalizeH="0" baseline="0" noProof="0">
                <a:ln>
                  <a:noFill/>
                </a:ln>
                <a:effectLst/>
                <a:uLnTx/>
                <a:uFillTx/>
                <a:latin typeface="Calibri" panose="020F0502020204030204" pitchFamily="34" charset="0"/>
                <a:cs typeface="Calibri" panose="020F0502020204030204" pitchFamily="34" charset="0"/>
              </a:rPr>
              <a:t>Who participates in the Team Leadership Forum?</a:t>
            </a:r>
          </a:p>
          <a:p>
            <a:pPr marL="351000" marR="0" lvl="1" indent="-234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300" b="0" i="0" u="none" strike="noStrike" kern="1200" cap="none" spc="0" normalizeH="0" baseline="0" noProof="0">
                <a:ln>
                  <a:noFill/>
                </a:ln>
                <a:effectLst/>
                <a:uLnTx/>
                <a:uFillTx/>
                <a:latin typeface="Calibri" panose="020F0502020204030204" pitchFamily="34" charset="0"/>
                <a:cs typeface="Calibri" panose="020F0502020204030204" pitchFamily="34" charset="0"/>
              </a:rPr>
              <a:t>Agile Product Owner: provides insight into the demands on the team to deliver business outcomes</a:t>
            </a:r>
          </a:p>
          <a:p>
            <a:pPr marL="351000" marR="0" lvl="1" indent="-234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300" b="0" i="0" u="none" strike="noStrike" kern="1200" cap="none" spc="0" normalizeH="0" baseline="0" noProof="0">
                <a:ln>
                  <a:noFill/>
                </a:ln>
                <a:effectLst/>
                <a:uLnTx/>
                <a:uFillTx/>
                <a:latin typeface="Calibri" panose="020F0502020204030204" pitchFamily="34" charset="0"/>
                <a:cs typeface="Calibri" panose="020F0502020204030204" pitchFamily="34" charset="0"/>
              </a:rPr>
              <a:t>Scrum Master/Agile Coach: brings perspective on teams agile performance / maturity</a:t>
            </a:r>
          </a:p>
          <a:p>
            <a:pPr marL="351000" marR="0" lvl="1" indent="-234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300" b="0" i="0" u="none" strike="noStrike" kern="1200" cap="none" spc="0" normalizeH="0" baseline="0" noProof="0">
                <a:ln>
                  <a:noFill/>
                </a:ln>
                <a:effectLst/>
                <a:uLnTx/>
                <a:uFillTx/>
                <a:latin typeface="Calibri" panose="020F0502020204030204" pitchFamily="34" charset="0"/>
                <a:cs typeface="Calibri" panose="020F0502020204030204" pitchFamily="34" charset="0"/>
              </a:rPr>
              <a:t>Chapter Leads: ensures that teams have the skills required to deliver business outcomes, including the professional growth of individual members</a:t>
            </a:r>
          </a:p>
        </p:txBody>
      </p:sp>
      <p:cxnSp>
        <p:nvCxnSpPr>
          <p:cNvPr id="42" name="Straight Connector 41"/>
          <p:cNvCxnSpPr>
            <a:cxnSpLocks/>
          </p:cNvCxnSpPr>
          <p:nvPr/>
        </p:nvCxnSpPr>
        <p:spPr>
          <a:xfrm>
            <a:off x="6928880" y="1484465"/>
            <a:ext cx="36296" cy="4217744"/>
          </a:xfrm>
          <a:prstGeom prst="line">
            <a:avLst/>
          </a:prstGeom>
          <a:ln w="9525" cap="rnd">
            <a:solidFill>
              <a:schemeClr val="tx1">
                <a:lumMod val="60000"/>
                <a:lumOff val="40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59" name="AutoShape 18">
            <a:extLst>
              <a:ext uri="{FF2B5EF4-FFF2-40B4-BE49-F238E27FC236}">
                <a16:creationId xmlns:a16="http://schemas.microsoft.com/office/drawing/2014/main" id="{100AC5BD-F30F-4F9C-94F8-3ECEAAF56365}"/>
              </a:ext>
            </a:extLst>
          </p:cNvPr>
          <p:cNvSpPr>
            <a:spLocks noChangeAspect="1" noChangeArrowheads="1" noTextEdit="1"/>
          </p:cNvSpPr>
          <p:nvPr/>
        </p:nvSpPr>
        <p:spPr bwMode="auto">
          <a:xfrm>
            <a:off x="5273801" y="2606040"/>
            <a:ext cx="1644396" cy="1645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63" name="TextBox 62"/>
          <p:cNvSpPr txBox="1"/>
          <p:nvPr/>
        </p:nvSpPr>
        <p:spPr>
          <a:xfrm>
            <a:off x="8410140" y="1851769"/>
            <a:ext cx="3419910" cy="3998472"/>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t>APO, CL, SM/AC, discuss progress made and future progress on:</a:t>
            </a:r>
          </a:p>
          <a:p>
            <a:pPr marL="378000" marR="0" lvl="1" indent="-252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3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t>Business outcomes</a:t>
            </a:r>
          </a:p>
          <a:p>
            <a:pPr marL="378000" marR="0" lvl="1" indent="-252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3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t>Skill development</a:t>
            </a:r>
          </a:p>
          <a:p>
            <a:pPr marL="378000" marR="0" lvl="1" indent="-252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3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t>Agile maturity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a:p>
            <a:pPr marL="378000" marR="0" lvl="1" indent="-252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3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t>Align on business needs</a:t>
            </a:r>
          </a:p>
          <a:p>
            <a:pPr marL="378000" marR="0" lvl="1" indent="-252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3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t>Identify skill and agile maturity development opportunities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rPr>
              <a:t>Determine actions items to deliver business outcomes &amp; improve team performance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endParaRPr kumimoji="0" lang="en-US" sz="13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endParaRPr kumimoji="0" lang="en-US" sz="1300" b="0" i="0" u="none" strike="noStrike" kern="1200" cap="none" spc="0" normalizeH="0" baseline="0" noProof="0">
              <a:ln>
                <a:noFill/>
              </a:ln>
              <a:solidFill>
                <a:schemeClr val="tx1"/>
              </a:solidFill>
              <a:effectLst/>
              <a:uLnTx/>
              <a:uFillTx/>
              <a:latin typeface="Calibri" panose="020F0502020204030204" pitchFamily="34" charset="0"/>
              <a:cs typeface="Calibri" panose="020F0502020204030204" pitchFamily="34" charset="0"/>
            </a:endParaRPr>
          </a:p>
        </p:txBody>
      </p:sp>
      <p:sp>
        <p:nvSpPr>
          <p:cNvPr id="64" name="Rectangle 63"/>
          <p:cNvSpPr/>
          <p:nvPr/>
        </p:nvSpPr>
        <p:spPr>
          <a:xfrm>
            <a:off x="7213234" y="1301606"/>
            <a:ext cx="4520556" cy="29238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185"/>
              </a:spcAft>
              <a:buClr>
                <a:srgbClr val="5BC6E8"/>
              </a:buClr>
              <a:buSzPct val="100000"/>
              <a:buFontTx/>
              <a:buNone/>
              <a:tabLst/>
              <a:defRPr/>
            </a:pPr>
            <a:r>
              <a:rPr kumimoji="0" lang="en-AU" sz="1300" b="1" i="0" u="none" strike="noStrike" kern="1200" cap="none" spc="0" normalizeH="0" baseline="0" noProof="0">
                <a:ln>
                  <a:noFill/>
                </a:ln>
                <a:effectLst/>
                <a:uLnTx/>
                <a:uFillTx/>
                <a:latin typeface="Calibri" panose="020F0502020204030204" pitchFamily="34" charset="0"/>
                <a:cs typeface="Calibri" panose="020F0502020204030204" pitchFamily="34" charset="0"/>
              </a:rPr>
              <a:t>How to conduct a Team Leadership Meeting</a:t>
            </a:r>
          </a:p>
        </p:txBody>
      </p:sp>
      <p:grpSp>
        <p:nvGrpSpPr>
          <p:cNvPr id="65" name="Group 64"/>
          <p:cNvGrpSpPr/>
          <p:nvPr/>
        </p:nvGrpSpPr>
        <p:grpSpPr>
          <a:xfrm rot="5194849">
            <a:off x="9454910" y="4223945"/>
            <a:ext cx="138996" cy="145552"/>
            <a:chOff x="7896709" y="213753"/>
            <a:chExt cx="138996" cy="145552"/>
          </a:xfrm>
        </p:grpSpPr>
        <p:sp>
          <p:nvSpPr>
            <p:cNvPr id="66" name="Freeform 65"/>
            <p:cNvSpPr/>
            <p:nvPr/>
          </p:nvSpPr>
          <p:spPr>
            <a:xfrm flipH="1">
              <a:off x="7896709" y="213753"/>
              <a:ext cx="58323" cy="145552"/>
            </a:xfrm>
            <a:custGeom>
              <a:avLst/>
              <a:gdLst>
                <a:gd name="connsiteX0" fmla="*/ 85917 w 98190"/>
                <a:gd name="connsiteY0" fmla="*/ 0 h 184107"/>
                <a:gd name="connsiteX1" fmla="*/ 0 w 98190"/>
                <a:gd name="connsiteY1" fmla="*/ 98191 h 184107"/>
                <a:gd name="connsiteX2" fmla="*/ 98190 w 98190"/>
                <a:gd name="connsiteY2" fmla="*/ 184107 h 184107"/>
              </a:gdLst>
              <a:ahLst/>
              <a:cxnLst>
                <a:cxn ang="0">
                  <a:pos x="connsiteX0" y="connsiteY0"/>
                </a:cxn>
                <a:cxn ang="0">
                  <a:pos x="connsiteX1" y="connsiteY1"/>
                </a:cxn>
                <a:cxn ang="0">
                  <a:pos x="connsiteX2" y="connsiteY2"/>
                </a:cxn>
              </a:cxnLst>
              <a:rect l="l" t="t" r="r" b="b"/>
              <a:pathLst>
                <a:path w="98190" h="184107">
                  <a:moveTo>
                    <a:pt x="85917" y="0"/>
                  </a:moveTo>
                  <a:lnTo>
                    <a:pt x="0" y="98191"/>
                  </a:lnTo>
                  <a:lnTo>
                    <a:pt x="98190" y="184107"/>
                  </a:lnTo>
                </a:path>
              </a:pathLst>
            </a:custGeom>
            <a:noFill/>
            <a:ln w="19050" cap="flat" cmpd="sng" algn="ctr">
              <a:solidFill>
                <a:srgbClr val="E51B24"/>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62" b="0" i="0" u="none" strike="noStrike" kern="1200" cap="none" spc="0" normalizeH="0" baseline="0" noProof="0">
                <a:ln>
                  <a:noFill/>
                </a:ln>
                <a:solidFill>
                  <a:srgbClr val="29BA74"/>
                </a:solidFill>
                <a:effectLst/>
                <a:uLnTx/>
                <a:uFillTx/>
                <a:latin typeface="Calibri" panose="020F0502020204030204" pitchFamily="34" charset="0"/>
                <a:cs typeface="Calibri" panose="020F0502020204030204" pitchFamily="34" charset="0"/>
              </a:endParaRPr>
            </a:p>
          </p:txBody>
        </p:sp>
        <p:sp>
          <p:nvSpPr>
            <p:cNvPr id="67" name="Freeform 66"/>
            <p:cNvSpPr/>
            <p:nvPr/>
          </p:nvSpPr>
          <p:spPr>
            <a:xfrm flipH="1">
              <a:off x="7977382" y="213753"/>
              <a:ext cx="58323" cy="145552"/>
            </a:xfrm>
            <a:custGeom>
              <a:avLst/>
              <a:gdLst>
                <a:gd name="connsiteX0" fmla="*/ 85917 w 98190"/>
                <a:gd name="connsiteY0" fmla="*/ 0 h 184107"/>
                <a:gd name="connsiteX1" fmla="*/ 0 w 98190"/>
                <a:gd name="connsiteY1" fmla="*/ 98191 h 184107"/>
                <a:gd name="connsiteX2" fmla="*/ 98190 w 98190"/>
                <a:gd name="connsiteY2" fmla="*/ 184107 h 184107"/>
              </a:gdLst>
              <a:ahLst/>
              <a:cxnLst>
                <a:cxn ang="0">
                  <a:pos x="connsiteX0" y="connsiteY0"/>
                </a:cxn>
                <a:cxn ang="0">
                  <a:pos x="connsiteX1" y="connsiteY1"/>
                </a:cxn>
                <a:cxn ang="0">
                  <a:pos x="connsiteX2" y="connsiteY2"/>
                </a:cxn>
              </a:cxnLst>
              <a:rect l="l" t="t" r="r" b="b"/>
              <a:pathLst>
                <a:path w="98190" h="184107">
                  <a:moveTo>
                    <a:pt x="85917" y="0"/>
                  </a:moveTo>
                  <a:lnTo>
                    <a:pt x="0" y="98191"/>
                  </a:lnTo>
                  <a:lnTo>
                    <a:pt x="98190" y="184107"/>
                  </a:lnTo>
                </a:path>
              </a:pathLst>
            </a:custGeom>
            <a:noFill/>
            <a:ln w="19050" cap="flat" cmpd="sng" algn="ctr">
              <a:solidFill>
                <a:srgbClr val="E51B24"/>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62" b="0" i="0" u="none" strike="noStrike" kern="1200" cap="none" spc="0" normalizeH="0" baseline="0" noProof="0">
                <a:ln>
                  <a:noFill/>
                </a:ln>
                <a:solidFill>
                  <a:srgbClr val="29BA74"/>
                </a:solidFill>
                <a:effectLst/>
                <a:uLnTx/>
                <a:uFillTx/>
                <a:latin typeface="Calibri" panose="020F0502020204030204" pitchFamily="34" charset="0"/>
                <a:cs typeface="Calibri" panose="020F0502020204030204" pitchFamily="34" charset="0"/>
              </a:endParaRPr>
            </a:p>
          </p:txBody>
        </p:sp>
      </p:grpSp>
      <p:grpSp>
        <p:nvGrpSpPr>
          <p:cNvPr id="68" name="Group 67"/>
          <p:cNvGrpSpPr/>
          <p:nvPr/>
        </p:nvGrpSpPr>
        <p:grpSpPr>
          <a:xfrm rot="5194849">
            <a:off x="9379894" y="3132808"/>
            <a:ext cx="138996" cy="145552"/>
            <a:chOff x="7896709" y="213753"/>
            <a:chExt cx="138996" cy="145552"/>
          </a:xfrm>
        </p:grpSpPr>
        <p:sp>
          <p:nvSpPr>
            <p:cNvPr id="69" name="Freeform 68"/>
            <p:cNvSpPr/>
            <p:nvPr/>
          </p:nvSpPr>
          <p:spPr>
            <a:xfrm flipH="1">
              <a:off x="7896709" y="213753"/>
              <a:ext cx="58323" cy="145552"/>
            </a:xfrm>
            <a:custGeom>
              <a:avLst/>
              <a:gdLst>
                <a:gd name="connsiteX0" fmla="*/ 85917 w 98190"/>
                <a:gd name="connsiteY0" fmla="*/ 0 h 184107"/>
                <a:gd name="connsiteX1" fmla="*/ 0 w 98190"/>
                <a:gd name="connsiteY1" fmla="*/ 98191 h 184107"/>
                <a:gd name="connsiteX2" fmla="*/ 98190 w 98190"/>
                <a:gd name="connsiteY2" fmla="*/ 184107 h 184107"/>
              </a:gdLst>
              <a:ahLst/>
              <a:cxnLst>
                <a:cxn ang="0">
                  <a:pos x="connsiteX0" y="connsiteY0"/>
                </a:cxn>
                <a:cxn ang="0">
                  <a:pos x="connsiteX1" y="connsiteY1"/>
                </a:cxn>
                <a:cxn ang="0">
                  <a:pos x="connsiteX2" y="connsiteY2"/>
                </a:cxn>
              </a:cxnLst>
              <a:rect l="l" t="t" r="r" b="b"/>
              <a:pathLst>
                <a:path w="98190" h="184107">
                  <a:moveTo>
                    <a:pt x="85917" y="0"/>
                  </a:moveTo>
                  <a:lnTo>
                    <a:pt x="0" y="98191"/>
                  </a:lnTo>
                  <a:lnTo>
                    <a:pt x="98190" y="184107"/>
                  </a:lnTo>
                </a:path>
              </a:pathLst>
            </a:custGeom>
            <a:noFill/>
            <a:ln w="19050" cap="flat" cmpd="sng" algn="ctr">
              <a:solidFill>
                <a:srgbClr val="E51B24"/>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62" b="0" i="0" u="none" strike="noStrike" kern="1200" cap="none" spc="0" normalizeH="0" baseline="0" noProof="0">
                <a:ln>
                  <a:noFill/>
                </a:ln>
                <a:solidFill>
                  <a:srgbClr val="29BA74"/>
                </a:solidFill>
                <a:effectLst/>
                <a:uLnTx/>
                <a:uFillTx/>
                <a:latin typeface="Calibri" panose="020F0502020204030204" pitchFamily="34" charset="0"/>
                <a:cs typeface="Calibri" panose="020F0502020204030204" pitchFamily="34" charset="0"/>
              </a:endParaRPr>
            </a:p>
          </p:txBody>
        </p:sp>
        <p:sp>
          <p:nvSpPr>
            <p:cNvPr id="70" name="Freeform 69"/>
            <p:cNvSpPr/>
            <p:nvPr/>
          </p:nvSpPr>
          <p:spPr>
            <a:xfrm flipH="1">
              <a:off x="7977382" y="213753"/>
              <a:ext cx="58323" cy="145552"/>
            </a:xfrm>
            <a:custGeom>
              <a:avLst/>
              <a:gdLst>
                <a:gd name="connsiteX0" fmla="*/ 85917 w 98190"/>
                <a:gd name="connsiteY0" fmla="*/ 0 h 184107"/>
                <a:gd name="connsiteX1" fmla="*/ 0 w 98190"/>
                <a:gd name="connsiteY1" fmla="*/ 98191 h 184107"/>
                <a:gd name="connsiteX2" fmla="*/ 98190 w 98190"/>
                <a:gd name="connsiteY2" fmla="*/ 184107 h 184107"/>
              </a:gdLst>
              <a:ahLst/>
              <a:cxnLst>
                <a:cxn ang="0">
                  <a:pos x="connsiteX0" y="connsiteY0"/>
                </a:cxn>
                <a:cxn ang="0">
                  <a:pos x="connsiteX1" y="connsiteY1"/>
                </a:cxn>
                <a:cxn ang="0">
                  <a:pos x="connsiteX2" y="connsiteY2"/>
                </a:cxn>
              </a:cxnLst>
              <a:rect l="l" t="t" r="r" b="b"/>
              <a:pathLst>
                <a:path w="98190" h="184107">
                  <a:moveTo>
                    <a:pt x="85917" y="0"/>
                  </a:moveTo>
                  <a:lnTo>
                    <a:pt x="0" y="98191"/>
                  </a:lnTo>
                  <a:lnTo>
                    <a:pt x="98190" y="184107"/>
                  </a:lnTo>
                </a:path>
              </a:pathLst>
            </a:custGeom>
            <a:noFill/>
            <a:ln w="19050" cap="flat" cmpd="sng" algn="ctr">
              <a:solidFill>
                <a:srgbClr val="E51B24"/>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62" b="0" i="0" u="none" strike="noStrike" kern="1200" cap="none" spc="0" normalizeH="0" baseline="0" noProof="0">
                <a:ln>
                  <a:noFill/>
                </a:ln>
                <a:solidFill>
                  <a:srgbClr val="29BA74"/>
                </a:solidFill>
                <a:effectLst/>
                <a:uLnTx/>
                <a:uFillTx/>
                <a:latin typeface="Calibri" panose="020F0502020204030204" pitchFamily="34" charset="0"/>
                <a:cs typeface="Calibri" panose="020F0502020204030204" pitchFamily="34" charset="0"/>
              </a:endParaRPr>
            </a:p>
          </p:txBody>
        </p:sp>
      </p:grpSp>
      <p:grpSp>
        <p:nvGrpSpPr>
          <p:cNvPr id="71" name="Group 70"/>
          <p:cNvGrpSpPr/>
          <p:nvPr/>
        </p:nvGrpSpPr>
        <p:grpSpPr>
          <a:xfrm>
            <a:off x="7315200" y="3256678"/>
            <a:ext cx="890128" cy="890128"/>
            <a:chOff x="7316552" y="3733125"/>
            <a:chExt cx="890128" cy="890128"/>
          </a:xfrm>
        </p:grpSpPr>
        <p:sp>
          <p:nvSpPr>
            <p:cNvPr id="72" name="Oval 71"/>
            <p:cNvSpPr/>
            <p:nvPr/>
          </p:nvSpPr>
          <p:spPr>
            <a:xfrm>
              <a:off x="7316552" y="3733125"/>
              <a:ext cx="890128" cy="890128"/>
            </a:xfrm>
            <a:prstGeom prst="ellipse">
              <a:avLst/>
            </a:prstGeom>
            <a:solidFill>
              <a:srgbClr val="FFFFFF"/>
            </a:solidFill>
            <a:ln w="17780" cap="rnd" cmpd="sng" algn="ctr">
              <a:solidFill>
                <a:srgbClr val="DADADA"/>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grpSp>
          <p:nvGrpSpPr>
            <p:cNvPr id="73" name="bcgIcons_Target">
              <a:extLst>
                <a:ext uri="{FF2B5EF4-FFF2-40B4-BE49-F238E27FC236}">
                  <a16:creationId xmlns:a16="http://schemas.microsoft.com/office/drawing/2014/main" id="{02916922-81B1-4399-BF36-3FC0C6969C4A}"/>
                </a:ext>
              </a:extLst>
            </p:cNvPr>
            <p:cNvGrpSpPr>
              <a:grpSpLocks noChangeAspect="1"/>
            </p:cNvGrpSpPr>
            <p:nvPr/>
          </p:nvGrpSpPr>
          <p:grpSpPr bwMode="auto">
            <a:xfrm>
              <a:off x="7430290" y="3846557"/>
              <a:ext cx="662650" cy="663264"/>
              <a:chOff x="1682" y="0"/>
              <a:chExt cx="4316" cy="4320"/>
            </a:xfrm>
          </p:grpSpPr>
          <p:sp>
            <p:nvSpPr>
              <p:cNvPr id="74" name="AutoShape 23">
                <a:extLst>
                  <a:ext uri="{FF2B5EF4-FFF2-40B4-BE49-F238E27FC236}">
                    <a16:creationId xmlns:a16="http://schemas.microsoft.com/office/drawing/2014/main" id="{89F4D31F-87B6-4E69-917E-65E2F97982B6}"/>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75" name="Freeform 25">
                <a:extLst>
                  <a:ext uri="{FF2B5EF4-FFF2-40B4-BE49-F238E27FC236}">
                    <a16:creationId xmlns:a16="http://schemas.microsoft.com/office/drawing/2014/main" id="{FA0FD38E-7CA9-4ECE-9013-798D4E40C551}"/>
                  </a:ext>
                </a:extLst>
              </p:cNvPr>
              <p:cNvSpPr>
                <a:spLocks noEditPoints="1"/>
              </p:cNvSpPr>
              <p:nvPr/>
            </p:nvSpPr>
            <p:spPr bwMode="auto">
              <a:xfrm>
                <a:off x="3782" y="838"/>
                <a:ext cx="1832" cy="1367"/>
              </a:xfrm>
              <a:custGeom>
                <a:avLst/>
                <a:gdLst>
                  <a:gd name="T0" fmla="*/ 25 w 978"/>
                  <a:gd name="T1" fmla="*/ 729 h 729"/>
                  <a:gd name="T2" fmla="*/ 7 w 978"/>
                  <a:gd name="T3" fmla="*/ 719 h 729"/>
                  <a:gd name="T4" fmla="*/ 13 w 978"/>
                  <a:gd name="T5" fmla="*/ 689 h 729"/>
                  <a:gd name="T6" fmla="*/ 888 w 978"/>
                  <a:gd name="T7" fmla="*/ 86 h 729"/>
                  <a:gd name="T8" fmla="*/ 919 w 978"/>
                  <a:gd name="T9" fmla="*/ 91 h 729"/>
                  <a:gd name="T10" fmla="*/ 913 w 978"/>
                  <a:gd name="T11" fmla="*/ 122 h 729"/>
                  <a:gd name="T12" fmla="*/ 38 w 978"/>
                  <a:gd name="T13" fmla="*/ 725 h 729"/>
                  <a:gd name="T14" fmla="*/ 25 w 978"/>
                  <a:gd name="T15" fmla="*/ 729 h 729"/>
                  <a:gd name="T16" fmla="*/ 578 w 978"/>
                  <a:gd name="T17" fmla="*/ 254 h 729"/>
                  <a:gd name="T18" fmla="*/ 586 w 978"/>
                  <a:gd name="T19" fmla="*/ 258 h 729"/>
                  <a:gd name="T20" fmla="*/ 825 w 978"/>
                  <a:gd name="T21" fmla="*/ 93 h 729"/>
                  <a:gd name="T22" fmla="*/ 826 w 978"/>
                  <a:gd name="T23" fmla="*/ 91 h 729"/>
                  <a:gd name="T24" fmla="*/ 849 w 978"/>
                  <a:gd name="T25" fmla="*/ 8 h 729"/>
                  <a:gd name="T26" fmla="*/ 841 w 978"/>
                  <a:gd name="T27" fmla="*/ 3 h 729"/>
                  <a:gd name="T28" fmla="*/ 602 w 978"/>
                  <a:gd name="T29" fmla="*/ 166 h 729"/>
                  <a:gd name="T30" fmla="*/ 599 w 978"/>
                  <a:gd name="T31" fmla="*/ 171 h 729"/>
                  <a:gd name="T32" fmla="*/ 578 w 978"/>
                  <a:gd name="T33" fmla="*/ 254 h 729"/>
                  <a:gd name="T34" fmla="*/ 646 w 978"/>
                  <a:gd name="T35" fmla="*/ 352 h 729"/>
                  <a:gd name="T36" fmla="*/ 730 w 978"/>
                  <a:gd name="T37" fmla="*/ 362 h 729"/>
                  <a:gd name="T38" fmla="*/ 736 w 978"/>
                  <a:gd name="T39" fmla="*/ 361 h 729"/>
                  <a:gd name="T40" fmla="*/ 974 w 978"/>
                  <a:gd name="T41" fmla="*/ 196 h 729"/>
                  <a:gd name="T42" fmla="*/ 972 w 978"/>
                  <a:gd name="T43" fmla="*/ 187 h 729"/>
                  <a:gd name="T44" fmla="*/ 886 w 978"/>
                  <a:gd name="T45" fmla="*/ 179 h 729"/>
                  <a:gd name="T46" fmla="*/ 884 w 978"/>
                  <a:gd name="T47" fmla="*/ 179 h 729"/>
                  <a:gd name="T48" fmla="*/ 644 w 978"/>
                  <a:gd name="T49" fmla="*/ 343 h 729"/>
                  <a:gd name="T50" fmla="*/ 646 w 978"/>
                  <a:gd name="T51" fmla="*/ 352 h 7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78" h="729">
                    <a:moveTo>
                      <a:pt x="25" y="729"/>
                    </a:moveTo>
                    <a:cubicBezTo>
                      <a:pt x="18" y="729"/>
                      <a:pt x="11" y="726"/>
                      <a:pt x="7" y="719"/>
                    </a:cubicBezTo>
                    <a:cubicBezTo>
                      <a:pt x="0" y="709"/>
                      <a:pt x="3" y="696"/>
                      <a:pt x="13" y="689"/>
                    </a:cubicBezTo>
                    <a:cubicBezTo>
                      <a:pt x="888" y="86"/>
                      <a:pt x="888" y="86"/>
                      <a:pt x="888" y="86"/>
                    </a:cubicBezTo>
                    <a:cubicBezTo>
                      <a:pt x="898" y="79"/>
                      <a:pt x="912" y="81"/>
                      <a:pt x="919" y="91"/>
                    </a:cubicBezTo>
                    <a:cubicBezTo>
                      <a:pt x="926" y="101"/>
                      <a:pt x="923" y="115"/>
                      <a:pt x="913" y="122"/>
                    </a:cubicBezTo>
                    <a:cubicBezTo>
                      <a:pt x="38" y="725"/>
                      <a:pt x="38" y="725"/>
                      <a:pt x="38" y="725"/>
                    </a:cubicBezTo>
                    <a:cubicBezTo>
                      <a:pt x="34" y="728"/>
                      <a:pt x="30" y="729"/>
                      <a:pt x="25" y="729"/>
                    </a:cubicBezTo>
                    <a:close/>
                    <a:moveTo>
                      <a:pt x="578" y="254"/>
                    </a:moveTo>
                    <a:cubicBezTo>
                      <a:pt x="577" y="258"/>
                      <a:pt x="582" y="259"/>
                      <a:pt x="586" y="258"/>
                    </a:cubicBezTo>
                    <a:cubicBezTo>
                      <a:pt x="586" y="258"/>
                      <a:pt x="586" y="258"/>
                      <a:pt x="825" y="93"/>
                    </a:cubicBezTo>
                    <a:cubicBezTo>
                      <a:pt x="826" y="93"/>
                      <a:pt x="826" y="93"/>
                      <a:pt x="826" y="91"/>
                    </a:cubicBezTo>
                    <a:cubicBezTo>
                      <a:pt x="826" y="91"/>
                      <a:pt x="826" y="91"/>
                      <a:pt x="849" y="8"/>
                    </a:cubicBezTo>
                    <a:cubicBezTo>
                      <a:pt x="850" y="3"/>
                      <a:pt x="845" y="0"/>
                      <a:pt x="841" y="3"/>
                    </a:cubicBezTo>
                    <a:cubicBezTo>
                      <a:pt x="841" y="3"/>
                      <a:pt x="841" y="3"/>
                      <a:pt x="602" y="166"/>
                    </a:cubicBezTo>
                    <a:cubicBezTo>
                      <a:pt x="601" y="168"/>
                      <a:pt x="601" y="168"/>
                      <a:pt x="599" y="171"/>
                    </a:cubicBezTo>
                    <a:cubicBezTo>
                      <a:pt x="599" y="171"/>
                      <a:pt x="599" y="171"/>
                      <a:pt x="578" y="254"/>
                    </a:cubicBezTo>
                    <a:close/>
                    <a:moveTo>
                      <a:pt x="646" y="352"/>
                    </a:moveTo>
                    <a:cubicBezTo>
                      <a:pt x="730" y="362"/>
                      <a:pt x="730" y="362"/>
                      <a:pt x="730" y="362"/>
                    </a:cubicBezTo>
                    <a:cubicBezTo>
                      <a:pt x="734" y="361"/>
                      <a:pt x="734" y="361"/>
                      <a:pt x="736" y="361"/>
                    </a:cubicBezTo>
                    <a:cubicBezTo>
                      <a:pt x="974" y="196"/>
                      <a:pt x="974" y="196"/>
                      <a:pt x="974" y="196"/>
                    </a:cubicBezTo>
                    <a:cubicBezTo>
                      <a:pt x="978" y="194"/>
                      <a:pt x="978" y="187"/>
                      <a:pt x="972" y="187"/>
                    </a:cubicBezTo>
                    <a:cubicBezTo>
                      <a:pt x="886" y="179"/>
                      <a:pt x="886" y="179"/>
                      <a:pt x="886" y="179"/>
                    </a:cubicBezTo>
                    <a:cubicBezTo>
                      <a:pt x="884" y="177"/>
                      <a:pt x="884" y="177"/>
                      <a:pt x="884" y="179"/>
                    </a:cubicBezTo>
                    <a:cubicBezTo>
                      <a:pt x="644" y="343"/>
                      <a:pt x="644" y="343"/>
                      <a:pt x="644" y="343"/>
                    </a:cubicBezTo>
                    <a:cubicBezTo>
                      <a:pt x="642" y="347"/>
                      <a:pt x="642" y="351"/>
                      <a:pt x="646" y="352"/>
                    </a:cubicBezTo>
                    <a:close/>
                  </a:path>
                </a:pathLst>
              </a:custGeom>
              <a:solidFill>
                <a:srgbClr val="830F15">
                  <a:lumMod val="10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76" name="Freeform 26">
                <a:extLst>
                  <a:ext uri="{FF2B5EF4-FFF2-40B4-BE49-F238E27FC236}">
                    <a16:creationId xmlns:a16="http://schemas.microsoft.com/office/drawing/2014/main" id="{F562C458-32E3-43E7-BAF7-B4773D3C4A71}"/>
                  </a:ext>
                </a:extLst>
              </p:cNvPr>
              <p:cNvSpPr>
                <a:spLocks noEditPoints="1"/>
              </p:cNvSpPr>
              <p:nvPr/>
            </p:nvSpPr>
            <p:spPr bwMode="auto">
              <a:xfrm>
                <a:off x="2422" y="756"/>
                <a:ext cx="2814" cy="2816"/>
              </a:xfrm>
              <a:custGeom>
                <a:avLst/>
                <a:gdLst>
                  <a:gd name="T0" fmla="*/ 1016 w 1502"/>
                  <a:gd name="T1" fmla="*/ 662 h 1502"/>
                  <a:gd name="T2" fmla="*/ 1030 w 1502"/>
                  <a:gd name="T3" fmla="*/ 751 h 1502"/>
                  <a:gd name="T4" fmla="*/ 751 w 1502"/>
                  <a:gd name="T5" fmla="*/ 1030 h 1502"/>
                  <a:gd name="T6" fmla="*/ 472 w 1502"/>
                  <a:gd name="T7" fmla="*/ 751 h 1502"/>
                  <a:gd name="T8" fmla="*/ 751 w 1502"/>
                  <a:gd name="T9" fmla="*/ 472 h 1502"/>
                  <a:gd name="T10" fmla="*/ 929 w 1502"/>
                  <a:gd name="T11" fmla="*/ 536 h 1502"/>
                  <a:gd name="T12" fmla="*/ 819 w 1502"/>
                  <a:gd name="T13" fmla="*/ 611 h 1502"/>
                  <a:gd name="T14" fmla="*/ 751 w 1502"/>
                  <a:gd name="T15" fmla="*/ 596 h 1502"/>
                  <a:gd name="T16" fmla="*/ 596 w 1502"/>
                  <a:gd name="T17" fmla="*/ 751 h 1502"/>
                  <a:gd name="T18" fmla="*/ 751 w 1502"/>
                  <a:gd name="T19" fmla="*/ 906 h 1502"/>
                  <a:gd name="T20" fmla="*/ 906 w 1502"/>
                  <a:gd name="T21" fmla="*/ 751 h 1502"/>
                  <a:gd name="T22" fmla="*/ 906 w 1502"/>
                  <a:gd name="T23" fmla="*/ 738 h 1502"/>
                  <a:gd name="T24" fmla="*/ 1016 w 1502"/>
                  <a:gd name="T25" fmla="*/ 662 h 1502"/>
                  <a:gd name="T26" fmla="*/ 1107 w 1502"/>
                  <a:gd name="T27" fmla="*/ 599 h 1502"/>
                  <a:gd name="T28" fmla="*/ 1138 w 1502"/>
                  <a:gd name="T29" fmla="*/ 751 h 1502"/>
                  <a:gd name="T30" fmla="*/ 751 w 1502"/>
                  <a:gd name="T31" fmla="*/ 1138 h 1502"/>
                  <a:gd name="T32" fmla="*/ 364 w 1502"/>
                  <a:gd name="T33" fmla="*/ 751 h 1502"/>
                  <a:gd name="T34" fmla="*/ 751 w 1502"/>
                  <a:gd name="T35" fmla="*/ 364 h 1502"/>
                  <a:gd name="T36" fmla="*/ 1020 w 1502"/>
                  <a:gd name="T37" fmla="*/ 473 h 1502"/>
                  <a:gd name="T38" fmla="*/ 1124 w 1502"/>
                  <a:gd name="T39" fmla="*/ 401 h 1502"/>
                  <a:gd name="T40" fmla="*/ 751 w 1502"/>
                  <a:gd name="T41" fmla="*/ 240 h 1502"/>
                  <a:gd name="T42" fmla="*/ 240 w 1502"/>
                  <a:gd name="T43" fmla="*/ 751 h 1502"/>
                  <a:gd name="T44" fmla="*/ 751 w 1502"/>
                  <a:gd name="T45" fmla="*/ 1262 h 1502"/>
                  <a:gd name="T46" fmla="*/ 1262 w 1502"/>
                  <a:gd name="T47" fmla="*/ 751 h 1502"/>
                  <a:gd name="T48" fmla="*/ 1211 w 1502"/>
                  <a:gd name="T49" fmla="*/ 528 h 1502"/>
                  <a:gd name="T50" fmla="*/ 1107 w 1502"/>
                  <a:gd name="T51" fmla="*/ 599 h 1502"/>
                  <a:gd name="T52" fmla="*/ 1333 w 1502"/>
                  <a:gd name="T53" fmla="*/ 443 h 1502"/>
                  <a:gd name="T54" fmla="*/ 1307 w 1502"/>
                  <a:gd name="T55" fmla="*/ 461 h 1502"/>
                  <a:gd name="T56" fmla="*/ 1378 w 1502"/>
                  <a:gd name="T57" fmla="*/ 751 h 1502"/>
                  <a:gd name="T58" fmla="*/ 751 w 1502"/>
                  <a:gd name="T59" fmla="*/ 1378 h 1502"/>
                  <a:gd name="T60" fmla="*/ 124 w 1502"/>
                  <a:gd name="T61" fmla="*/ 751 h 1502"/>
                  <a:gd name="T62" fmla="*/ 751 w 1502"/>
                  <a:gd name="T63" fmla="*/ 124 h 1502"/>
                  <a:gd name="T64" fmla="*/ 1220 w 1502"/>
                  <a:gd name="T65" fmla="*/ 335 h 1502"/>
                  <a:gd name="T66" fmla="*/ 1246 w 1502"/>
                  <a:gd name="T67" fmla="*/ 317 h 1502"/>
                  <a:gd name="T68" fmla="*/ 1273 w 1502"/>
                  <a:gd name="T69" fmla="*/ 211 h 1502"/>
                  <a:gd name="T70" fmla="*/ 751 w 1502"/>
                  <a:gd name="T71" fmla="*/ 0 h 1502"/>
                  <a:gd name="T72" fmla="*/ 0 w 1502"/>
                  <a:gd name="T73" fmla="*/ 751 h 1502"/>
                  <a:gd name="T74" fmla="*/ 751 w 1502"/>
                  <a:gd name="T75" fmla="*/ 1502 h 1502"/>
                  <a:gd name="T76" fmla="*/ 1502 w 1502"/>
                  <a:gd name="T77" fmla="*/ 751 h 1502"/>
                  <a:gd name="T78" fmla="*/ 1442 w 1502"/>
                  <a:gd name="T79" fmla="*/ 456 h 1502"/>
                  <a:gd name="T80" fmla="*/ 1333 w 1502"/>
                  <a:gd name="T81" fmla="*/ 443 h 1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502" h="1502">
                    <a:moveTo>
                      <a:pt x="1016" y="662"/>
                    </a:moveTo>
                    <a:cubicBezTo>
                      <a:pt x="1025" y="690"/>
                      <a:pt x="1030" y="720"/>
                      <a:pt x="1030" y="751"/>
                    </a:cubicBezTo>
                    <a:cubicBezTo>
                      <a:pt x="1030" y="905"/>
                      <a:pt x="905" y="1030"/>
                      <a:pt x="751" y="1030"/>
                    </a:cubicBezTo>
                    <a:cubicBezTo>
                      <a:pt x="597" y="1030"/>
                      <a:pt x="472" y="905"/>
                      <a:pt x="472" y="751"/>
                    </a:cubicBezTo>
                    <a:cubicBezTo>
                      <a:pt x="472" y="597"/>
                      <a:pt x="597" y="472"/>
                      <a:pt x="751" y="472"/>
                    </a:cubicBezTo>
                    <a:cubicBezTo>
                      <a:pt x="818" y="472"/>
                      <a:pt x="880" y="496"/>
                      <a:pt x="929" y="536"/>
                    </a:cubicBezTo>
                    <a:cubicBezTo>
                      <a:pt x="819" y="611"/>
                      <a:pt x="819" y="611"/>
                      <a:pt x="819" y="611"/>
                    </a:cubicBezTo>
                    <a:cubicBezTo>
                      <a:pt x="798" y="601"/>
                      <a:pt x="775" y="596"/>
                      <a:pt x="751" y="596"/>
                    </a:cubicBezTo>
                    <a:cubicBezTo>
                      <a:pt x="665" y="596"/>
                      <a:pt x="596" y="665"/>
                      <a:pt x="596" y="751"/>
                    </a:cubicBezTo>
                    <a:cubicBezTo>
                      <a:pt x="596" y="836"/>
                      <a:pt x="665" y="906"/>
                      <a:pt x="751" y="906"/>
                    </a:cubicBezTo>
                    <a:cubicBezTo>
                      <a:pt x="837" y="906"/>
                      <a:pt x="906" y="836"/>
                      <a:pt x="906" y="751"/>
                    </a:cubicBezTo>
                    <a:cubicBezTo>
                      <a:pt x="906" y="746"/>
                      <a:pt x="906" y="742"/>
                      <a:pt x="906" y="738"/>
                    </a:cubicBezTo>
                    <a:lnTo>
                      <a:pt x="1016" y="662"/>
                    </a:lnTo>
                    <a:close/>
                    <a:moveTo>
                      <a:pt x="1107" y="599"/>
                    </a:moveTo>
                    <a:cubicBezTo>
                      <a:pt x="1127" y="646"/>
                      <a:pt x="1138" y="697"/>
                      <a:pt x="1138" y="751"/>
                    </a:cubicBezTo>
                    <a:cubicBezTo>
                      <a:pt x="1138" y="964"/>
                      <a:pt x="964" y="1138"/>
                      <a:pt x="751" y="1138"/>
                    </a:cubicBezTo>
                    <a:cubicBezTo>
                      <a:pt x="537" y="1138"/>
                      <a:pt x="364" y="964"/>
                      <a:pt x="364" y="751"/>
                    </a:cubicBezTo>
                    <a:cubicBezTo>
                      <a:pt x="364" y="537"/>
                      <a:pt x="537" y="364"/>
                      <a:pt x="751" y="364"/>
                    </a:cubicBezTo>
                    <a:cubicBezTo>
                      <a:pt x="855" y="364"/>
                      <a:pt x="950" y="405"/>
                      <a:pt x="1020" y="473"/>
                    </a:cubicBezTo>
                    <a:cubicBezTo>
                      <a:pt x="1124" y="401"/>
                      <a:pt x="1124" y="401"/>
                      <a:pt x="1124" y="401"/>
                    </a:cubicBezTo>
                    <a:cubicBezTo>
                      <a:pt x="1030" y="302"/>
                      <a:pt x="898" y="240"/>
                      <a:pt x="751" y="240"/>
                    </a:cubicBezTo>
                    <a:cubicBezTo>
                      <a:pt x="469" y="240"/>
                      <a:pt x="240" y="469"/>
                      <a:pt x="240" y="751"/>
                    </a:cubicBezTo>
                    <a:cubicBezTo>
                      <a:pt x="240" y="1033"/>
                      <a:pt x="469" y="1262"/>
                      <a:pt x="751" y="1262"/>
                    </a:cubicBezTo>
                    <a:cubicBezTo>
                      <a:pt x="1033" y="1262"/>
                      <a:pt x="1262" y="1033"/>
                      <a:pt x="1262" y="751"/>
                    </a:cubicBezTo>
                    <a:cubicBezTo>
                      <a:pt x="1262" y="671"/>
                      <a:pt x="1244" y="595"/>
                      <a:pt x="1211" y="528"/>
                    </a:cubicBezTo>
                    <a:lnTo>
                      <a:pt x="1107" y="599"/>
                    </a:lnTo>
                    <a:close/>
                    <a:moveTo>
                      <a:pt x="1333" y="443"/>
                    </a:moveTo>
                    <a:cubicBezTo>
                      <a:pt x="1307" y="461"/>
                      <a:pt x="1307" y="461"/>
                      <a:pt x="1307" y="461"/>
                    </a:cubicBezTo>
                    <a:cubicBezTo>
                      <a:pt x="1352" y="548"/>
                      <a:pt x="1378" y="646"/>
                      <a:pt x="1378" y="751"/>
                    </a:cubicBezTo>
                    <a:cubicBezTo>
                      <a:pt x="1378" y="1097"/>
                      <a:pt x="1097" y="1378"/>
                      <a:pt x="751" y="1378"/>
                    </a:cubicBezTo>
                    <a:cubicBezTo>
                      <a:pt x="405" y="1378"/>
                      <a:pt x="124" y="1097"/>
                      <a:pt x="124" y="751"/>
                    </a:cubicBezTo>
                    <a:cubicBezTo>
                      <a:pt x="124" y="405"/>
                      <a:pt x="405" y="124"/>
                      <a:pt x="751" y="124"/>
                    </a:cubicBezTo>
                    <a:cubicBezTo>
                      <a:pt x="937" y="124"/>
                      <a:pt x="1105" y="205"/>
                      <a:pt x="1220" y="335"/>
                    </a:cubicBezTo>
                    <a:cubicBezTo>
                      <a:pt x="1246" y="317"/>
                      <a:pt x="1246" y="317"/>
                      <a:pt x="1246" y="317"/>
                    </a:cubicBezTo>
                    <a:cubicBezTo>
                      <a:pt x="1273" y="211"/>
                      <a:pt x="1273" y="211"/>
                      <a:pt x="1273" y="211"/>
                    </a:cubicBezTo>
                    <a:cubicBezTo>
                      <a:pt x="1138" y="80"/>
                      <a:pt x="954" y="0"/>
                      <a:pt x="751" y="0"/>
                    </a:cubicBezTo>
                    <a:cubicBezTo>
                      <a:pt x="337" y="0"/>
                      <a:pt x="0" y="337"/>
                      <a:pt x="0" y="751"/>
                    </a:cubicBezTo>
                    <a:cubicBezTo>
                      <a:pt x="0" y="1165"/>
                      <a:pt x="337" y="1502"/>
                      <a:pt x="751" y="1502"/>
                    </a:cubicBezTo>
                    <a:cubicBezTo>
                      <a:pt x="1165" y="1502"/>
                      <a:pt x="1502" y="1165"/>
                      <a:pt x="1502" y="751"/>
                    </a:cubicBezTo>
                    <a:cubicBezTo>
                      <a:pt x="1502" y="646"/>
                      <a:pt x="1480" y="547"/>
                      <a:pt x="1442" y="456"/>
                    </a:cubicBezTo>
                    <a:lnTo>
                      <a:pt x="1333" y="443"/>
                    </a:lnTo>
                    <a:close/>
                  </a:path>
                </a:pathLst>
              </a:custGeom>
              <a:solidFill>
                <a:srgbClr val="E51B24">
                  <a:lumMod val="10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grpSp>
      </p:grpSp>
      <p:sp>
        <p:nvSpPr>
          <p:cNvPr id="79" name="Oval 78"/>
          <p:cNvSpPr/>
          <p:nvPr/>
        </p:nvSpPr>
        <p:spPr>
          <a:xfrm>
            <a:off x="7316552" y="1954147"/>
            <a:ext cx="890128" cy="890128"/>
          </a:xfrm>
          <a:prstGeom prst="ellipse">
            <a:avLst/>
          </a:prstGeom>
          <a:solidFill>
            <a:srgbClr val="FFFFFF"/>
          </a:solidFill>
          <a:ln w="17780" cap="rnd" cmpd="sng" algn="ctr">
            <a:solidFill>
              <a:srgbClr val="DADADA"/>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grpSp>
        <p:nvGrpSpPr>
          <p:cNvPr id="80" name="Group 79"/>
          <p:cNvGrpSpPr>
            <a:grpSpLocks noChangeAspect="1"/>
          </p:cNvGrpSpPr>
          <p:nvPr/>
        </p:nvGrpSpPr>
        <p:grpSpPr>
          <a:xfrm>
            <a:off x="7404525" y="2041790"/>
            <a:ext cx="714845" cy="714845"/>
            <a:chOff x="2667000" y="0"/>
            <a:chExt cx="6858000" cy="6858000"/>
          </a:xfrm>
        </p:grpSpPr>
        <p:sp>
          <p:nvSpPr>
            <p:cNvPr id="81" name="AutoShape 22"/>
            <p:cNvSpPr>
              <a:spLocks noChangeAspect="1" noChangeArrowheads="1" noTextEdit="1"/>
            </p:cNvSpPr>
            <p:nvPr/>
          </p:nvSpPr>
          <p:spPr bwMode="auto">
            <a:xfrm>
              <a:off x="2667000" y="0"/>
              <a:ext cx="6858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grpSp>
          <p:nvGrpSpPr>
            <p:cNvPr id="82" name="Group 81"/>
            <p:cNvGrpSpPr/>
            <p:nvPr/>
          </p:nvGrpSpPr>
          <p:grpSpPr>
            <a:xfrm>
              <a:off x="3806825" y="1143000"/>
              <a:ext cx="4578350" cy="4565650"/>
              <a:chOff x="3806825" y="1143000"/>
              <a:chExt cx="4578351" cy="4565650"/>
            </a:xfrm>
          </p:grpSpPr>
          <p:sp>
            <p:nvSpPr>
              <p:cNvPr id="83" name="Freeform 82"/>
              <p:cNvSpPr>
                <a:spLocks/>
              </p:cNvSpPr>
              <p:nvPr/>
            </p:nvSpPr>
            <p:spPr bwMode="auto">
              <a:xfrm>
                <a:off x="3806825" y="1143000"/>
                <a:ext cx="4578351" cy="4565650"/>
              </a:xfrm>
              <a:custGeom>
                <a:avLst/>
                <a:gdLst>
                  <a:gd name="connsiteX0" fmla="*/ 4152900 w 4578351"/>
                  <a:gd name="connsiteY0" fmla="*/ 3848100 h 4565650"/>
                  <a:gd name="connsiteX1" fmla="*/ 3860800 w 4578351"/>
                  <a:gd name="connsiteY1" fmla="*/ 4143375 h 4565650"/>
                  <a:gd name="connsiteX2" fmla="*/ 4152900 w 4578351"/>
                  <a:gd name="connsiteY2" fmla="*/ 4438650 h 4565650"/>
                  <a:gd name="connsiteX3" fmla="*/ 4445000 w 4578351"/>
                  <a:gd name="connsiteY3" fmla="*/ 4143375 h 4565650"/>
                  <a:gd name="connsiteX4" fmla="*/ 4152900 w 4578351"/>
                  <a:gd name="connsiteY4" fmla="*/ 3848100 h 4565650"/>
                  <a:gd name="connsiteX5" fmla="*/ 413545 w 4578351"/>
                  <a:gd name="connsiteY5" fmla="*/ 3848100 h 4565650"/>
                  <a:gd name="connsiteX6" fmla="*/ 115888 w 4578351"/>
                  <a:gd name="connsiteY6" fmla="*/ 4143375 h 4565650"/>
                  <a:gd name="connsiteX7" fmla="*/ 413545 w 4578351"/>
                  <a:gd name="connsiteY7" fmla="*/ 4438650 h 4565650"/>
                  <a:gd name="connsiteX8" fmla="*/ 711202 w 4578351"/>
                  <a:gd name="connsiteY8" fmla="*/ 4143375 h 4565650"/>
                  <a:gd name="connsiteX9" fmla="*/ 413545 w 4578351"/>
                  <a:gd name="connsiteY9" fmla="*/ 3848100 h 4565650"/>
                  <a:gd name="connsiteX10" fmla="*/ 3239087 w 4578351"/>
                  <a:gd name="connsiteY10" fmla="*/ 3092450 h 4565650"/>
                  <a:gd name="connsiteX11" fmla="*/ 3253968 w 4578351"/>
                  <a:gd name="connsiteY11" fmla="*/ 3092450 h 4565650"/>
                  <a:gd name="connsiteX12" fmla="*/ 3262896 w 4578351"/>
                  <a:gd name="connsiteY12" fmla="*/ 3092450 h 4565650"/>
                  <a:gd name="connsiteX13" fmla="*/ 3646819 w 4578351"/>
                  <a:gd name="connsiteY13" fmla="*/ 3148997 h 4565650"/>
                  <a:gd name="connsiteX14" fmla="*/ 3703365 w 4578351"/>
                  <a:gd name="connsiteY14" fmla="*/ 3220425 h 4565650"/>
                  <a:gd name="connsiteX15" fmla="*/ 3628962 w 4578351"/>
                  <a:gd name="connsiteY15" fmla="*/ 3276972 h 4565650"/>
                  <a:gd name="connsiteX16" fmla="*/ 3408727 w 4578351"/>
                  <a:gd name="connsiteY16" fmla="*/ 3247211 h 4565650"/>
                  <a:gd name="connsiteX17" fmla="*/ 3911695 w 4578351"/>
                  <a:gd name="connsiteY17" fmla="*/ 3803753 h 4565650"/>
                  <a:gd name="connsiteX18" fmla="*/ 4158715 w 4578351"/>
                  <a:gd name="connsiteY18" fmla="*/ 3726373 h 4565650"/>
                  <a:gd name="connsiteX19" fmla="*/ 4578351 w 4578351"/>
                  <a:gd name="connsiteY19" fmla="*/ 4146011 h 4565650"/>
                  <a:gd name="connsiteX20" fmla="*/ 4158715 w 4578351"/>
                  <a:gd name="connsiteY20" fmla="*/ 4565650 h 4565650"/>
                  <a:gd name="connsiteX21" fmla="*/ 3739079 w 4578351"/>
                  <a:gd name="connsiteY21" fmla="*/ 4146011 h 4565650"/>
                  <a:gd name="connsiteX22" fmla="*/ 3819435 w 4578351"/>
                  <a:gd name="connsiteY22" fmla="*/ 3898990 h 4565650"/>
                  <a:gd name="connsiteX23" fmla="*/ 3316467 w 4578351"/>
                  <a:gd name="connsiteY23" fmla="*/ 3339472 h 4565650"/>
                  <a:gd name="connsiteX24" fmla="*/ 3325395 w 4578351"/>
                  <a:gd name="connsiteY24" fmla="*/ 3544827 h 4565650"/>
                  <a:gd name="connsiteX25" fmla="*/ 3262896 w 4578351"/>
                  <a:gd name="connsiteY25" fmla="*/ 3613279 h 4565650"/>
                  <a:gd name="connsiteX26" fmla="*/ 3194445 w 4578351"/>
                  <a:gd name="connsiteY26" fmla="*/ 3550779 h 4565650"/>
                  <a:gd name="connsiteX27" fmla="*/ 3176588 w 4578351"/>
                  <a:gd name="connsiteY27" fmla="*/ 3160902 h 4565650"/>
                  <a:gd name="connsiteX28" fmla="*/ 3176588 w 4578351"/>
                  <a:gd name="connsiteY28" fmla="*/ 3157926 h 4565650"/>
                  <a:gd name="connsiteX29" fmla="*/ 3176588 w 4578351"/>
                  <a:gd name="connsiteY29" fmla="*/ 3151973 h 4565650"/>
                  <a:gd name="connsiteX30" fmla="*/ 3176588 w 4578351"/>
                  <a:gd name="connsiteY30" fmla="*/ 3148997 h 4565650"/>
                  <a:gd name="connsiteX31" fmla="*/ 3179564 w 4578351"/>
                  <a:gd name="connsiteY31" fmla="*/ 3143045 h 4565650"/>
                  <a:gd name="connsiteX32" fmla="*/ 3179564 w 4578351"/>
                  <a:gd name="connsiteY32" fmla="*/ 3140069 h 4565650"/>
                  <a:gd name="connsiteX33" fmla="*/ 3182541 w 4578351"/>
                  <a:gd name="connsiteY33" fmla="*/ 3134117 h 4565650"/>
                  <a:gd name="connsiteX34" fmla="*/ 3185517 w 4578351"/>
                  <a:gd name="connsiteY34" fmla="*/ 3128164 h 4565650"/>
                  <a:gd name="connsiteX35" fmla="*/ 3188493 w 4578351"/>
                  <a:gd name="connsiteY35" fmla="*/ 3122212 h 4565650"/>
                  <a:gd name="connsiteX36" fmla="*/ 3188493 w 4578351"/>
                  <a:gd name="connsiteY36" fmla="*/ 3119236 h 4565650"/>
                  <a:gd name="connsiteX37" fmla="*/ 3191469 w 4578351"/>
                  <a:gd name="connsiteY37" fmla="*/ 3116260 h 4565650"/>
                  <a:gd name="connsiteX38" fmla="*/ 3203374 w 4578351"/>
                  <a:gd name="connsiteY38" fmla="*/ 3107331 h 4565650"/>
                  <a:gd name="connsiteX39" fmla="*/ 3206350 w 4578351"/>
                  <a:gd name="connsiteY39" fmla="*/ 3104355 h 4565650"/>
                  <a:gd name="connsiteX40" fmla="*/ 3209326 w 4578351"/>
                  <a:gd name="connsiteY40" fmla="*/ 3101379 h 4565650"/>
                  <a:gd name="connsiteX41" fmla="*/ 3221230 w 4578351"/>
                  <a:gd name="connsiteY41" fmla="*/ 3098403 h 4565650"/>
                  <a:gd name="connsiteX42" fmla="*/ 3227183 w 4578351"/>
                  <a:gd name="connsiteY42" fmla="*/ 3095426 h 4565650"/>
                  <a:gd name="connsiteX43" fmla="*/ 3230159 w 4578351"/>
                  <a:gd name="connsiteY43" fmla="*/ 3095426 h 4565650"/>
                  <a:gd name="connsiteX44" fmla="*/ 3233135 w 4578351"/>
                  <a:gd name="connsiteY44" fmla="*/ 3095426 h 4565650"/>
                  <a:gd name="connsiteX45" fmla="*/ 3239087 w 4578351"/>
                  <a:gd name="connsiteY45" fmla="*/ 3092450 h 4565650"/>
                  <a:gd name="connsiteX46" fmla="*/ 1315455 w 4578351"/>
                  <a:gd name="connsiteY46" fmla="*/ 3092450 h 4565650"/>
                  <a:gd name="connsiteX47" fmla="*/ 1324383 w 4578351"/>
                  <a:gd name="connsiteY47" fmla="*/ 3092450 h 4565650"/>
                  <a:gd name="connsiteX48" fmla="*/ 1339264 w 4578351"/>
                  <a:gd name="connsiteY48" fmla="*/ 3092450 h 4565650"/>
                  <a:gd name="connsiteX49" fmla="*/ 1345216 w 4578351"/>
                  <a:gd name="connsiteY49" fmla="*/ 3095426 h 4565650"/>
                  <a:gd name="connsiteX50" fmla="*/ 1348193 w 4578351"/>
                  <a:gd name="connsiteY50" fmla="*/ 3095426 h 4565650"/>
                  <a:gd name="connsiteX51" fmla="*/ 1351169 w 4578351"/>
                  <a:gd name="connsiteY51" fmla="*/ 3095426 h 4565650"/>
                  <a:gd name="connsiteX52" fmla="*/ 1357121 w 4578351"/>
                  <a:gd name="connsiteY52" fmla="*/ 3098403 h 4565650"/>
                  <a:gd name="connsiteX53" fmla="*/ 1369026 w 4578351"/>
                  <a:gd name="connsiteY53" fmla="*/ 3101379 h 4565650"/>
                  <a:gd name="connsiteX54" fmla="*/ 1372002 w 4578351"/>
                  <a:gd name="connsiteY54" fmla="*/ 3104355 h 4565650"/>
                  <a:gd name="connsiteX55" fmla="*/ 1374978 w 4578351"/>
                  <a:gd name="connsiteY55" fmla="*/ 3107331 h 4565650"/>
                  <a:gd name="connsiteX56" fmla="*/ 1386882 w 4578351"/>
                  <a:gd name="connsiteY56" fmla="*/ 3116260 h 4565650"/>
                  <a:gd name="connsiteX57" fmla="*/ 1389859 w 4578351"/>
                  <a:gd name="connsiteY57" fmla="*/ 3119236 h 4565650"/>
                  <a:gd name="connsiteX58" fmla="*/ 1389859 w 4578351"/>
                  <a:gd name="connsiteY58" fmla="*/ 3122212 h 4565650"/>
                  <a:gd name="connsiteX59" fmla="*/ 1392835 w 4578351"/>
                  <a:gd name="connsiteY59" fmla="*/ 3128164 h 4565650"/>
                  <a:gd name="connsiteX60" fmla="*/ 1395811 w 4578351"/>
                  <a:gd name="connsiteY60" fmla="*/ 3134117 h 4565650"/>
                  <a:gd name="connsiteX61" fmla="*/ 1398787 w 4578351"/>
                  <a:gd name="connsiteY61" fmla="*/ 3140069 h 4565650"/>
                  <a:gd name="connsiteX62" fmla="*/ 1398787 w 4578351"/>
                  <a:gd name="connsiteY62" fmla="*/ 3143045 h 4565650"/>
                  <a:gd name="connsiteX63" fmla="*/ 1401763 w 4578351"/>
                  <a:gd name="connsiteY63" fmla="*/ 3148997 h 4565650"/>
                  <a:gd name="connsiteX64" fmla="*/ 1401763 w 4578351"/>
                  <a:gd name="connsiteY64" fmla="*/ 3151973 h 4565650"/>
                  <a:gd name="connsiteX65" fmla="*/ 1401763 w 4578351"/>
                  <a:gd name="connsiteY65" fmla="*/ 3157926 h 4565650"/>
                  <a:gd name="connsiteX66" fmla="*/ 1401763 w 4578351"/>
                  <a:gd name="connsiteY66" fmla="*/ 3160902 h 4565650"/>
                  <a:gd name="connsiteX67" fmla="*/ 1383906 w 4578351"/>
                  <a:gd name="connsiteY67" fmla="*/ 3550779 h 4565650"/>
                  <a:gd name="connsiteX68" fmla="*/ 1315455 w 4578351"/>
                  <a:gd name="connsiteY68" fmla="*/ 3613279 h 4565650"/>
                  <a:gd name="connsiteX69" fmla="*/ 1252956 w 4578351"/>
                  <a:gd name="connsiteY69" fmla="*/ 3544827 h 4565650"/>
                  <a:gd name="connsiteX70" fmla="*/ 1261885 w 4578351"/>
                  <a:gd name="connsiteY70" fmla="*/ 3339472 h 4565650"/>
                  <a:gd name="connsiteX71" fmla="*/ 758916 w 4578351"/>
                  <a:gd name="connsiteY71" fmla="*/ 3898990 h 4565650"/>
                  <a:gd name="connsiteX72" fmla="*/ 839272 w 4578351"/>
                  <a:gd name="connsiteY72" fmla="*/ 4146011 h 4565650"/>
                  <a:gd name="connsiteX73" fmla="*/ 419636 w 4578351"/>
                  <a:gd name="connsiteY73" fmla="*/ 4565650 h 4565650"/>
                  <a:gd name="connsiteX74" fmla="*/ 0 w 4578351"/>
                  <a:gd name="connsiteY74" fmla="*/ 4146011 h 4565650"/>
                  <a:gd name="connsiteX75" fmla="*/ 419636 w 4578351"/>
                  <a:gd name="connsiteY75" fmla="*/ 3726373 h 4565650"/>
                  <a:gd name="connsiteX76" fmla="*/ 666656 w 4578351"/>
                  <a:gd name="connsiteY76" fmla="*/ 3803753 h 4565650"/>
                  <a:gd name="connsiteX77" fmla="*/ 1169624 w 4578351"/>
                  <a:gd name="connsiteY77" fmla="*/ 3247211 h 4565650"/>
                  <a:gd name="connsiteX78" fmla="*/ 949390 w 4578351"/>
                  <a:gd name="connsiteY78" fmla="*/ 3276972 h 4565650"/>
                  <a:gd name="connsiteX79" fmla="*/ 874986 w 4578351"/>
                  <a:gd name="connsiteY79" fmla="*/ 3220425 h 4565650"/>
                  <a:gd name="connsiteX80" fmla="*/ 931533 w 4578351"/>
                  <a:gd name="connsiteY80" fmla="*/ 3148997 h 4565650"/>
                  <a:gd name="connsiteX81" fmla="*/ 1315455 w 4578351"/>
                  <a:gd name="connsiteY81" fmla="*/ 3092450 h 4565650"/>
                  <a:gd name="connsiteX82" fmla="*/ 2304257 w 4578351"/>
                  <a:gd name="connsiteY82" fmla="*/ 1339849 h 4565650"/>
                  <a:gd name="connsiteX83" fmla="*/ 1346200 w 4578351"/>
                  <a:gd name="connsiteY83" fmla="*/ 2294731 h 4565650"/>
                  <a:gd name="connsiteX84" fmla="*/ 2304257 w 4578351"/>
                  <a:gd name="connsiteY84" fmla="*/ 3249613 h 4565650"/>
                  <a:gd name="connsiteX85" fmla="*/ 3262314 w 4578351"/>
                  <a:gd name="connsiteY85" fmla="*/ 2294731 h 4565650"/>
                  <a:gd name="connsiteX86" fmla="*/ 2304257 w 4578351"/>
                  <a:gd name="connsiteY86" fmla="*/ 1339849 h 4565650"/>
                  <a:gd name="connsiteX87" fmla="*/ 2305050 w 4578351"/>
                  <a:gd name="connsiteY87" fmla="*/ 1220787 h 4565650"/>
                  <a:gd name="connsiteX88" fmla="*/ 3378200 w 4578351"/>
                  <a:gd name="connsiteY88" fmla="*/ 2296319 h 4565650"/>
                  <a:gd name="connsiteX89" fmla="*/ 2305050 w 4578351"/>
                  <a:gd name="connsiteY89" fmla="*/ 3371851 h 4565650"/>
                  <a:gd name="connsiteX90" fmla="*/ 1231900 w 4578351"/>
                  <a:gd name="connsiteY90" fmla="*/ 2296319 h 4565650"/>
                  <a:gd name="connsiteX91" fmla="*/ 2305050 w 4578351"/>
                  <a:gd name="connsiteY91" fmla="*/ 1220787 h 4565650"/>
                  <a:gd name="connsiteX92" fmla="*/ 4152900 w 4578351"/>
                  <a:gd name="connsiteY92" fmla="*/ 128588 h 4565650"/>
                  <a:gd name="connsiteX93" fmla="*/ 3860800 w 4578351"/>
                  <a:gd name="connsiteY93" fmla="*/ 419895 h 4565650"/>
                  <a:gd name="connsiteX94" fmla="*/ 4152900 w 4578351"/>
                  <a:gd name="connsiteY94" fmla="*/ 711202 h 4565650"/>
                  <a:gd name="connsiteX95" fmla="*/ 4445000 w 4578351"/>
                  <a:gd name="connsiteY95" fmla="*/ 419895 h 4565650"/>
                  <a:gd name="connsiteX96" fmla="*/ 4152900 w 4578351"/>
                  <a:gd name="connsiteY96" fmla="*/ 128588 h 4565650"/>
                  <a:gd name="connsiteX97" fmla="*/ 413545 w 4578351"/>
                  <a:gd name="connsiteY97" fmla="*/ 128588 h 4565650"/>
                  <a:gd name="connsiteX98" fmla="*/ 115888 w 4578351"/>
                  <a:gd name="connsiteY98" fmla="*/ 419895 h 4565650"/>
                  <a:gd name="connsiteX99" fmla="*/ 413545 w 4578351"/>
                  <a:gd name="connsiteY99" fmla="*/ 711202 h 4565650"/>
                  <a:gd name="connsiteX100" fmla="*/ 711202 w 4578351"/>
                  <a:gd name="connsiteY100" fmla="*/ 419895 h 4565650"/>
                  <a:gd name="connsiteX101" fmla="*/ 413545 w 4578351"/>
                  <a:gd name="connsiteY101" fmla="*/ 128588 h 4565650"/>
                  <a:gd name="connsiteX102" fmla="*/ 4158715 w 4578351"/>
                  <a:gd name="connsiteY102" fmla="*/ 0 h 4565650"/>
                  <a:gd name="connsiteX103" fmla="*/ 4578351 w 4578351"/>
                  <a:gd name="connsiteY103" fmla="*/ 419639 h 4565650"/>
                  <a:gd name="connsiteX104" fmla="*/ 4158715 w 4578351"/>
                  <a:gd name="connsiteY104" fmla="*/ 839278 h 4565650"/>
                  <a:gd name="connsiteX105" fmla="*/ 3911695 w 4578351"/>
                  <a:gd name="connsiteY105" fmla="*/ 758921 h 4565650"/>
                  <a:gd name="connsiteX106" fmla="*/ 3408727 w 4578351"/>
                  <a:gd name="connsiteY106" fmla="*/ 1318440 h 4565650"/>
                  <a:gd name="connsiteX107" fmla="*/ 3628962 w 4578351"/>
                  <a:gd name="connsiteY107" fmla="*/ 1285702 h 4565650"/>
                  <a:gd name="connsiteX108" fmla="*/ 3703365 w 4578351"/>
                  <a:gd name="connsiteY108" fmla="*/ 1342249 h 4565650"/>
                  <a:gd name="connsiteX109" fmla="*/ 3646819 w 4578351"/>
                  <a:gd name="connsiteY109" fmla="*/ 1416653 h 4565650"/>
                  <a:gd name="connsiteX110" fmla="*/ 3262896 w 4578351"/>
                  <a:gd name="connsiteY110" fmla="*/ 1470224 h 4565650"/>
                  <a:gd name="connsiteX111" fmla="*/ 3253968 w 4578351"/>
                  <a:gd name="connsiteY111" fmla="*/ 1473200 h 4565650"/>
                  <a:gd name="connsiteX112" fmla="*/ 3239087 w 4578351"/>
                  <a:gd name="connsiteY112" fmla="*/ 1470224 h 4565650"/>
                  <a:gd name="connsiteX113" fmla="*/ 3233135 w 4578351"/>
                  <a:gd name="connsiteY113" fmla="*/ 1470224 h 4565650"/>
                  <a:gd name="connsiteX114" fmla="*/ 3230159 w 4578351"/>
                  <a:gd name="connsiteY114" fmla="*/ 1470224 h 4565650"/>
                  <a:gd name="connsiteX115" fmla="*/ 3227183 w 4578351"/>
                  <a:gd name="connsiteY115" fmla="*/ 1467248 h 4565650"/>
                  <a:gd name="connsiteX116" fmla="*/ 3221230 w 4578351"/>
                  <a:gd name="connsiteY116" fmla="*/ 1467248 h 4565650"/>
                  <a:gd name="connsiteX117" fmla="*/ 3219232 w 4578351"/>
                  <a:gd name="connsiteY117" fmla="*/ 1466249 h 4565650"/>
                  <a:gd name="connsiteX118" fmla="*/ 3209326 w 4578351"/>
                  <a:gd name="connsiteY118" fmla="*/ 1461296 h 4565650"/>
                  <a:gd name="connsiteX119" fmla="*/ 3206350 w 4578351"/>
                  <a:gd name="connsiteY119" fmla="*/ 1461296 h 4565650"/>
                  <a:gd name="connsiteX120" fmla="*/ 3203374 w 4578351"/>
                  <a:gd name="connsiteY120" fmla="*/ 1458319 h 4565650"/>
                  <a:gd name="connsiteX121" fmla="*/ 3191469 w 4578351"/>
                  <a:gd name="connsiteY121" fmla="*/ 1446415 h 4565650"/>
                  <a:gd name="connsiteX122" fmla="*/ 3188493 w 4578351"/>
                  <a:gd name="connsiteY122" fmla="*/ 1443439 h 4565650"/>
                  <a:gd name="connsiteX123" fmla="*/ 3185517 w 4578351"/>
                  <a:gd name="connsiteY123" fmla="*/ 1437486 h 4565650"/>
                  <a:gd name="connsiteX124" fmla="*/ 3182541 w 4578351"/>
                  <a:gd name="connsiteY124" fmla="*/ 1431534 h 4565650"/>
                  <a:gd name="connsiteX125" fmla="*/ 3179564 w 4578351"/>
                  <a:gd name="connsiteY125" fmla="*/ 1422605 h 4565650"/>
                  <a:gd name="connsiteX126" fmla="*/ 3176588 w 4578351"/>
                  <a:gd name="connsiteY126" fmla="*/ 1413677 h 4565650"/>
                  <a:gd name="connsiteX127" fmla="*/ 3176588 w 4578351"/>
                  <a:gd name="connsiteY127" fmla="*/ 1404748 h 4565650"/>
                  <a:gd name="connsiteX128" fmla="*/ 3176588 w 4578351"/>
                  <a:gd name="connsiteY128" fmla="*/ 1401772 h 4565650"/>
                  <a:gd name="connsiteX129" fmla="*/ 3194445 w 4578351"/>
                  <a:gd name="connsiteY129" fmla="*/ 1014871 h 4565650"/>
                  <a:gd name="connsiteX130" fmla="*/ 3262896 w 4578351"/>
                  <a:gd name="connsiteY130" fmla="*/ 952372 h 4565650"/>
                  <a:gd name="connsiteX131" fmla="*/ 3325395 w 4578351"/>
                  <a:gd name="connsiteY131" fmla="*/ 1020824 h 4565650"/>
                  <a:gd name="connsiteX132" fmla="*/ 3316467 w 4578351"/>
                  <a:gd name="connsiteY132" fmla="*/ 1226179 h 4565650"/>
                  <a:gd name="connsiteX133" fmla="*/ 3819435 w 4578351"/>
                  <a:gd name="connsiteY133" fmla="*/ 666660 h 4565650"/>
                  <a:gd name="connsiteX134" fmla="*/ 3739079 w 4578351"/>
                  <a:gd name="connsiteY134" fmla="*/ 419639 h 4565650"/>
                  <a:gd name="connsiteX135" fmla="*/ 4158715 w 4578351"/>
                  <a:gd name="connsiteY135" fmla="*/ 0 h 4565650"/>
                  <a:gd name="connsiteX136" fmla="*/ 419636 w 4578351"/>
                  <a:gd name="connsiteY136" fmla="*/ 0 h 4565650"/>
                  <a:gd name="connsiteX137" fmla="*/ 839272 w 4578351"/>
                  <a:gd name="connsiteY137" fmla="*/ 419639 h 4565650"/>
                  <a:gd name="connsiteX138" fmla="*/ 758916 w 4578351"/>
                  <a:gd name="connsiteY138" fmla="*/ 666660 h 4565650"/>
                  <a:gd name="connsiteX139" fmla="*/ 1261885 w 4578351"/>
                  <a:gd name="connsiteY139" fmla="*/ 1226179 h 4565650"/>
                  <a:gd name="connsiteX140" fmla="*/ 1252956 w 4578351"/>
                  <a:gd name="connsiteY140" fmla="*/ 1020824 h 4565650"/>
                  <a:gd name="connsiteX141" fmla="*/ 1315455 w 4578351"/>
                  <a:gd name="connsiteY141" fmla="*/ 952372 h 4565650"/>
                  <a:gd name="connsiteX142" fmla="*/ 1383906 w 4578351"/>
                  <a:gd name="connsiteY142" fmla="*/ 1014871 h 4565650"/>
                  <a:gd name="connsiteX143" fmla="*/ 1401763 w 4578351"/>
                  <a:gd name="connsiteY143" fmla="*/ 1401772 h 4565650"/>
                  <a:gd name="connsiteX144" fmla="*/ 1401763 w 4578351"/>
                  <a:gd name="connsiteY144" fmla="*/ 1404748 h 4565650"/>
                  <a:gd name="connsiteX145" fmla="*/ 1401763 w 4578351"/>
                  <a:gd name="connsiteY145" fmla="*/ 1413677 h 4565650"/>
                  <a:gd name="connsiteX146" fmla="*/ 1398787 w 4578351"/>
                  <a:gd name="connsiteY146" fmla="*/ 1422605 h 4565650"/>
                  <a:gd name="connsiteX147" fmla="*/ 1395811 w 4578351"/>
                  <a:gd name="connsiteY147" fmla="*/ 1431534 h 4565650"/>
                  <a:gd name="connsiteX148" fmla="*/ 1392835 w 4578351"/>
                  <a:gd name="connsiteY148" fmla="*/ 1437486 h 4565650"/>
                  <a:gd name="connsiteX149" fmla="*/ 1389859 w 4578351"/>
                  <a:gd name="connsiteY149" fmla="*/ 1443439 h 4565650"/>
                  <a:gd name="connsiteX150" fmla="*/ 1386882 w 4578351"/>
                  <a:gd name="connsiteY150" fmla="*/ 1446415 h 4565650"/>
                  <a:gd name="connsiteX151" fmla="*/ 1374978 w 4578351"/>
                  <a:gd name="connsiteY151" fmla="*/ 1458319 h 4565650"/>
                  <a:gd name="connsiteX152" fmla="*/ 1372002 w 4578351"/>
                  <a:gd name="connsiteY152" fmla="*/ 1461296 h 4565650"/>
                  <a:gd name="connsiteX153" fmla="*/ 1369026 w 4578351"/>
                  <a:gd name="connsiteY153" fmla="*/ 1461296 h 4565650"/>
                  <a:gd name="connsiteX154" fmla="*/ 1357121 w 4578351"/>
                  <a:gd name="connsiteY154" fmla="*/ 1467248 h 4565650"/>
                  <a:gd name="connsiteX155" fmla="*/ 1351169 w 4578351"/>
                  <a:gd name="connsiteY155" fmla="*/ 1467248 h 4565650"/>
                  <a:gd name="connsiteX156" fmla="*/ 1348193 w 4578351"/>
                  <a:gd name="connsiteY156" fmla="*/ 1470224 h 4565650"/>
                  <a:gd name="connsiteX157" fmla="*/ 1345216 w 4578351"/>
                  <a:gd name="connsiteY157" fmla="*/ 1470224 h 4565650"/>
                  <a:gd name="connsiteX158" fmla="*/ 1339264 w 4578351"/>
                  <a:gd name="connsiteY158" fmla="*/ 1470224 h 4565650"/>
                  <a:gd name="connsiteX159" fmla="*/ 1324383 w 4578351"/>
                  <a:gd name="connsiteY159" fmla="*/ 1473200 h 4565650"/>
                  <a:gd name="connsiteX160" fmla="*/ 1315455 w 4578351"/>
                  <a:gd name="connsiteY160" fmla="*/ 1470224 h 4565650"/>
                  <a:gd name="connsiteX161" fmla="*/ 931533 w 4578351"/>
                  <a:gd name="connsiteY161" fmla="*/ 1416653 h 4565650"/>
                  <a:gd name="connsiteX162" fmla="*/ 874986 w 4578351"/>
                  <a:gd name="connsiteY162" fmla="*/ 1342249 h 4565650"/>
                  <a:gd name="connsiteX163" fmla="*/ 949390 w 4578351"/>
                  <a:gd name="connsiteY163" fmla="*/ 1285702 h 4565650"/>
                  <a:gd name="connsiteX164" fmla="*/ 1169624 w 4578351"/>
                  <a:gd name="connsiteY164" fmla="*/ 1318440 h 4565650"/>
                  <a:gd name="connsiteX165" fmla="*/ 666656 w 4578351"/>
                  <a:gd name="connsiteY165" fmla="*/ 758921 h 4565650"/>
                  <a:gd name="connsiteX166" fmla="*/ 419636 w 4578351"/>
                  <a:gd name="connsiteY166" fmla="*/ 839278 h 4565650"/>
                  <a:gd name="connsiteX167" fmla="*/ 0 w 4578351"/>
                  <a:gd name="connsiteY167" fmla="*/ 419639 h 4565650"/>
                  <a:gd name="connsiteX168" fmla="*/ 419636 w 4578351"/>
                  <a:gd name="connsiteY168" fmla="*/ 0 h 4565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4578351" h="4565650">
                    <a:moveTo>
                      <a:pt x="4152900" y="3848100"/>
                    </a:moveTo>
                    <a:cubicBezTo>
                      <a:pt x="3991578" y="3848100"/>
                      <a:pt x="3860800" y="3980299"/>
                      <a:pt x="3860800" y="4143375"/>
                    </a:cubicBezTo>
                    <a:cubicBezTo>
                      <a:pt x="3860800" y="4306451"/>
                      <a:pt x="3991578" y="4438650"/>
                      <a:pt x="4152900" y="4438650"/>
                    </a:cubicBezTo>
                    <a:cubicBezTo>
                      <a:pt x="4314222" y="4438650"/>
                      <a:pt x="4445000" y="4306451"/>
                      <a:pt x="4445000" y="4143375"/>
                    </a:cubicBezTo>
                    <a:cubicBezTo>
                      <a:pt x="4445000" y="3980299"/>
                      <a:pt x="4314222" y="3848100"/>
                      <a:pt x="4152900" y="3848100"/>
                    </a:cubicBezTo>
                    <a:close/>
                    <a:moveTo>
                      <a:pt x="413545" y="3848100"/>
                    </a:moveTo>
                    <a:cubicBezTo>
                      <a:pt x="249154" y="3848100"/>
                      <a:pt x="115888" y="3980299"/>
                      <a:pt x="115888" y="4143375"/>
                    </a:cubicBezTo>
                    <a:cubicBezTo>
                      <a:pt x="115888" y="4306451"/>
                      <a:pt x="249154" y="4438650"/>
                      <a:pt x="413545" y="4438650"/>
                    </a:cubicBezTo>
                    <a:cubicBezTo>
                      <a:pt x="577936" y="4438650"/>
                      <a:pt x="711202" y="4306451"/>
                      <a:pt x="711202" y="4143375"/>
                    </a:cubicBezTo>
                    <a:cubicBezTo>
                      <a:pt x="711202" y="3980299"/>
                      <a:pt x="577936" y="3848100"/>
                      <a:pt x="413545" y="3848100"/>
                    </a:cubicBezTo>
                    <a:close/>
                    <a:moveTo>
                      <a:pt x="3239087" y="3092450"/>
                    </a:moveTo>
                    <a:cubicBezTo>
                      <a:pt x="3242063" y="3092450"/>
                      <a:pt x="3248016" y="3092450"/>
                      <a:pt x="3253968" y="3092450"/>
                    </a:cubicBezTo>
                    <a:cubicBezTo>
                      <a:pt x="3256944" y="3092450"/>
                      <a:pt x="3259920" y="3092450"/>
                      <a:pt x="3262896" y="3092450"/>
                    </a:cubicBezTo>
                    <a:cubicBezTo>
                      <a:pt x="3262896" y="3092450"/>
                      <a:pt x="3262896" y="3092450"/>
                      <a:pt x="3646819" y="3148997"/>
                    </a:cubicBezTo>
                    <a:cubicBezTo>
                      <a:pt x="3682532" y="3151973"/>
                      <a:pt x="3706342" y="3184711"/>
                      <a:pt x="3703365" y="3220425"/>
                    </a:cubicBezTo>
                    <a:cubicBezTo>
                      <a:pt x="3697413" y="3256139"/>
                      <a:pt x="3664676" y="3282925"/>
                      <a:pt x="3628962" y="3276972"/>
                    </a:cubicBezTo>
                    <a:cubicBezTo>
                      <a:pt x="3628962" y="3276972"/>
                      <a:pt x="3628962" y="3276972"/>
                      <a:pt x="3408727" y="3247211"/>
                    </a:cubicBezTo>
                    <a:cubicBezTo>
                      <a:pt x="3408727" y="3247211"/>
                      <a:pt x="3408727" y="3247211"/>
                      <a:pt x="3911695" y="3803753"/>
                    </a:cubicBezTo>
                    <a:cubicBezTo>
                      <a:pt x="3980147" y="3756134"/>
                      <a:pt x="4066455" y="3726373"/>
                      <a:pt x="4158715" y="3726373"/>
                    </a:cubicBezTo>
                    <a:cubicBezTo>
                      <a:pt x="4387878" y="3726373"/>
                      <a:pt x="4578351" y="3913871"/>
                      <a:pt x="4578351" y="4146011"/>
                    </a:cubicBezTo>
                    <a:cubicBezTo>
                      <a:pt x="4578351" y="4375176"/>
                      <a:pt x="4387878" y="4565650"/>
                      <a:pt x="4158715" y="4565650"/>
                    </a:cubicBezTo>
                    <a:cubicBezTo>
                      <a:pt x="3926576" y="4565650"/>
                      <a:pt x="3739079" y="4375176"/>
                      <a:pt x="3739079" y="4146011"/>
                    </a:cubicBezTo>
                    <a:cubicBezTo>
                      <a:pt x="3739079" y="4053750"/>
                      <a:pt x="3768841" y="3967442"/>
                      <a:pt x="3819435" y="3898990"/>
                    </a:cubicBezTo>
                    <a:cubicBezTo>
                      <a:pt x="3819435" y="3898990"/>
                      <a:pt x="3819435" y="3898990"/>
                      <a:pt x="3316467" y="3339472"/>
                    </a:cubicBezTo>
                    <a:cubicBezTo>
                      <a:pt x="3316467" y="3339472"/>
                      <a:pt x="3316467" y="3339472"/>
                      <a:pt x="3325395" y="3544827"/>
                    </a:cubicBezTo>
                    <a:cubicBezTo>
                      <a:pt x="3328371" y="3580541"/>
                      <a:pt x="3298610" y="3610302"/>
                      <a:pt x="3262896" y="3613279"/>
                    </a:cubicBezTo>
                    <a:cubicBezTo>
                      <a:pt x="3227183" y="3613279"/>
                      <a:pt x="3197421" y="3586493"/>
                      <a:pt x="3194445" y="3550779"/>
                    </a:cubicBezTo>
                    <a:cubicBezTo>
                      <a:pt x="3194445" y="3550779"/>
                      <a:pt x="3194445" y="3550779"/>
                      <a:pt x="3176588" y="3160902"/>
                    </a:cubicBezTo>
                    <a:cubicBezTo>
                      <a:pt x="3176588" y="3160902"/>
                      <a:pt x="3176588" y="3160902"/>
                      <a:pt x="3176588" y="3157926"/>
                    </a:cubicBezTo>
                    <a:cubicBezTo>
                      <a:pt x="3176588" y="3157926"/>
                      <a:pt x="3176588" y="3154950"/>
                      <a:pt x="3176588" y="3151973"/>
                    </a:cubicBezTo>
                    <a:cubicBezTo>
                      <a:pt x="3176588" y="3151973"/>
                      <a:pt x="3176588" y="3151973"/>
                      <a:pt x="3176588" y="3148997"/>
                    </a:cubicBezTo>
                    <a:cubicBezTo>
                      <a:pt x="3176588" y="3148997"/>
                      <a:pt x="3176588" y="3146021"/>
                      <a:pt x="3179564" y="3143045"/>
                    </a:cubicBezTo>
                    <a:cubicBezTo>
                      <a:pt x="3179564" y="3143045"/>
                      <a:pt x="3179564" y="3143045"/>
                      <a:pt x="3179564" y="3140069"/>
                    </a:cubicBezTo>
                    <a:cubicBezTo>
                      <a:pt x="3179564" y="3137093"/>
                      <a:pt x="3179564" y="3137093"/>
                      <a:pt x="3182541" y="3134117"/>
                    </a:cubicBezTo>
                    <a:cubicBezTo>
                      <a:pt x="3182541" y="3131140"/>
                      <a:pt x="3182541" y="3128164"/>
                      <a:pt x="3185517" y="3128164"/>
                    </a:cubicBezTo>
                    <a:cubicBezTo>
                      <a:pt x="3185517" y="3125188"/>
                      <a:pt x="3185517" y="3125188"/>
                      <a:pt x="3188493" y="3122212"/>
                    </a:cubicBezTo>
                    <a:cubicBezTo>
                      <a:pt x="3188493" y="3122212"/>
                      <a:pt x="3188493" y="3122212"/>
                      <a:pt x="3188493" y="3119236"/>
                    </a:cubicBezTo>
                    <a:cubicBezTo>
                      <a:pt x="3191469" y="3119236"/>
                      <a:pt x="3191469" y="3119236"/>
                      <a:pt x="3191469" y="3116260"/>
                    </a:cubicBezTo>
                    <a:cubicBezTo>
                      <a:pt x="3194445" y="3113283"/>
                      <a:pt x="3197421" y="3110307"/>
                      <a:pt x="3203374" y="3107331"/>
                    </a:cubicBezTo>
                    <a:cubicBezTo>
                      <a:pt x="3203374" y="3104355"/>
                      <a:pt x="3206350" y="3104355"/>
                      <a:pt x="3206350" y="3104355"/>
                    </a:cubicBezTo>
                    <a:cubicBezTo>
                      <a:pt x="3206350" y="3104355"/>
                      <a:pt x="3209326" y="3104355"/>
                      <a:pt x="3209326" y="3101379"/>
                    </a:cubicBezTo>
                    <a:cubicBezTo>
                      <a:pt x="3212302" y="3101379"/>
                      <a:pt x="3215278" y="3098403"/>
                      <a:pt x="3221230" y="3098403"/>
                    </a:cubicBezTo>
                    <a:cubicBezTo>
                      <a:pt x="3221230" y="3095426"/>
                      <a:pt x="3224207" y="3095426"/>
                      <a:pt x="3227183" y="3095426"/>
                    </a:cubicBezTo>
                    <a:cubicBezTo>
                      <a:pt x="3227183" y="3095426"/>
                      <a:pt x="3227183" y="3095426"/>
                      <a:pt x="3230159" y="3095426"/>
                    </a:cubicBezTo>
                    <a:cubicBezTo>
                      <a:pt x="3233135" y="3095426"/>
                      <a:pt x="3233135" y="3095426"/>
                      <a:pt x="3233135" y="3095426"/>
                    </a:cubicBezTo>
                    <a:cubicBezTo>
                      <a:pt x="3236111" y="3095426"/>
                      <a:pt x="3236111" y="3095426"/>
                      <a:pt x="3239087" y="3092450"/>
                    </a:cubicBezTo>
                    <a:close/>
                    <a:moveTo>
                      <a:pt x="1315455" y="3092450"/>
                    </a:moveTo>
                    <a:cubicBezTo>
                      <a:pt x="1318431" y="3092450"/>
                      <a:pt x="1321407" y="3092450"/>
                      <a:pt x="1324383" y="3092450"/>
                    </a:cubicBezTo>
                    <a:cubicBezTo>
                      <a:pt x="1330336" y="3092450"/>
                      <a:pt x="1336288" y="3092450"/>
                      <a:pt x="1339264" y="3092450"/>
                    </a:cubicBezTo>
                    <a:cubicBezTo>
                      <a:pt x="1342240" y="3095426"/>
                      <a:pt x="1342240" y="3095426"/>
                      <a:pt x="1345216" y="3095426"/>
                    </a:cubicBezTo>
                    <a:cubicBezTo>
                      <a:pt x="1345216" y="3095426"/>
                      <a:pt x="1345216" y="3095426"/>
                      <a:pt x="1348193" y="3095426"/>
                    </a:cubicBezTo>
                    <a:cubicBezTo>
                      <a:pt x="1348193" y="3095426"/>
                      <a:pt x="1348193" y="3095426"/>
                      <a:pt x="1351169" y="3095426"/>
                    </a:cubicBezTo>
                    <a:cubicBezTo>
                      <a:pt x="1354145" y="3095426"/>
                      <a:pt x="1357121" y="3095426"/>
                      <a:pt x="1357121" y="3098403"/>
                    </a:cubicBezTo>
                    <a:cubicBezTo>
                      <a:pt x="1363073" y="3098403"/>
                      <a:pt x="1366049" y="3101379"/>
                      <a:pt x="1369026" y="3101379"/>
                    </a:cubicBezTo>
                    <a:cubicBezTo>
                      <a:pt x="1372002" y="3104355"/>
                      <a:pt x="1372002" y="3104355"/>
                      <a:pt x="1372002" y="3104355"/>
                    </a:cubicBezTo>
                    <a:cubicBezTo>
                      <a:pt x="1372002" y="3104355"/>
                      <a:pt x="1374978" y="3104355"/>
                      <a:pt x="1374978" y="3107331"/>
                    </a:cubicBezTo>
                    <a:cubicBezTo>
                      <a:pt x="1380930" y="3110307"/>
                      <a:pt x="1383906" y="3113283"/>
                      <a:pt x="1386882" y="3116260"/>
                    </a:cubicBezTo>
                    <a:cubicBezTo>
                      <a:pt x="1386882" y="3119236"/>
                      <a:pt x="1389859" y="3119236"/>
                      <a:pt x="1389859" y="3119236"/>
                    </a:cubicBezTo>
                    <a:cubicBezTo>
                      <a:pt x="1389859" y="3122212"/>
                      <a:pt x="1389859" y="3122212"/>
                      <a:pt x="1389859" y="3122212"/>
                    </a:cubicBezTo>
                    <a:cubicBezTo>
                      <a:pt x="1392835" y="3125188"/>
                      <a:pt x="1392835" y="3125188"/>
                      <a:pt x="1392835" y="3128164"/>
                    </a:cubicBezTo>
                    <a:cubicBezTo>
                      <a:pt x="1395811" y="3128164"/>
                      <a:pt x="1395811" y="3131140"/>
                      <a:pt x="1395811" y="3134117"/>
                    </a:cubicBezTo>
                    <a:cubicBezTo>
                      <a:pt x="1398787" y="3137093"/>
                      <a:pt x="1398787" y="3137093"/>
                      <a:pt x="1398787" y="3140069"/>
                    </a:cubicBezTo>
                    <a:cubicBezTo>
                      <a:pt x="1398787" y="3143045"/>
                      <a:pt x="1398787" y="3143045"/>
                      <a:pt x="1398787" y="3143045"/>
                    </a:cubicBezTo>
                    <a:cubicBezTo>
                      <a:pt x="1401763" y="3146021"/>
                      <a:pt x="1401763" y="3148997"/>
                      <a:pt x="1401763" y="3148997"/>
                    </a:cubicBezTo>
                    <a:cubicBezTo>
                      <a:pt x="1401763" y="3151973"/>
                      <a:pt x="1401763" y="3151973"/>
                      <a:pt x="1401763" y="3151973"/>
                    </a:cubicBezTo>
                    <a:cubicBezTo>
                      <a:pt x="1401763" y="3154950"/>
                      <a:pt x="1401763" y="3157926"/>
                      <a:pt x="1401763" y="3157926"/>
                    </a:cubicBezTo>
                    <a:cubicBezTo>
                      <a:pt x="1401763" y="3157926"/>
                      <a:pt x="1401763" y="3157926"/>
                      <a:pt x="1401763" y="3160902"/>
                    </a:cubicBezTo>
                    <a:cubicBezTo>
                      <a:pt x="1401763" y="3160902"/>
                      <a:pt x="1401763" y="3160902"/>
                      <a:pt x="1383906" y="3550779"/>
                    </a:cubicBezTo>
                    <a:cubicBezTo>
                      <a:pt x="1380930" y="3586493"/>
                      <a:pt x="1351169" y="3613279"/>
                      <a:pt x="1315455" y="3613279"/>
                    </a:cubicBezTo>
                    <a:cubicBezTo>
                      <a:pt x="1279741" y="3610302"/>
                      <a:pt x="1249980" y="3580541"/>
                      <a:pt x="1252956" y="3544827"/>
                    </a:cubicBezTo>
                    <a:cubicBezTo>
                      <a:pt x="1252956" y="3544827"/>
                      <a:pt x="1252956" y="3544827"/>
                      <a:pt x="1261885" y="3339472"/>
                    </a:cubicBezTo>
                    <a:cubicBezTo>
                      <a:pt x="1261885" y="3339472"/>
                      <a:pt x="1261885" y="3339472"/>
                      <a:pt x="758916" y="3898990"/>
                    </a:cubicBezTo>
                    <a:cubicBezTo>
                      <a:pt x="809511" y="3967442"/>
                      <a:pt x="839272" y="4053750"/>
                      <a:pt x="839272" y="4146011"/>
                    </a:cubicBezTo>
                    <a:cubicBezTo>
                      <a:pt x="839272" y="4375176"/>
                      <a:pt x="651775" y="4565650"/>
                      <a:pt x="419636" y="4565650"/>
                    </a:cubicBezTo>
                    <a:cubicBezTo>
                      <a:pt x="190473" y="4565650"/>
                      <a:pt x="0" y="4375176"/>
                      <a:pt x="0" y="4146011"/>
                    </a:cubicBezTo>
                    <a:cubicBezTo>
                      <a:pt x="0" y="3913871"/>
                      <a:pt x="190473" y="3726373"/>
                      <a:pt x="419636" y="3726373"/>
                    </a:cubicBezTo>
                    <a:cubicBezTo>
                      <a:pt x="511897" y="3726373"/>
                      <a:pt x="598205" y="3756134"/>
                      <a:pt x="666656" y="3803753"/>
                    </a:cubicBezTo>
                    <a:cubicBezTo>
                      <a:pt x="666656" y="3803753"/>
                      <a:pt x="666656" y="3803753"/>
                      <a:pt x="1169624" y="3247211"/>
                    </a:cubicBezTo>
                    <a:cubicBezTo>
                      <a:pt x="1169624" y="3247211"/>
                      <a:pt x="1169624" y="3247211"/>
                      <a:pt x="949390" y="3276972"/>
                    </a:cubicBezTo>
                    <a:cubicBezTo>
                      <a:pt x="913676" y="3282925"/>
                      <a:pt x="880938" y="3256139"/>
                      <a:pt x="874986" y="3220425"/>
                    </a:cubicBezTo>
                    <a:cubicBezTo>
                      <a:pt x="872010" y="3184711"/>
                      <a:pt x="895819" y="3151973"/>
                      <a:pt x="931533" y="3148997"/>
                    </a:cubicBezTo>
                    <a:cubicBezTo>
                      <a:pt x="931533" y="3148997"/>
                      <a:pt x="931533" y="3148997"/>
                      <a:pt x="1315455" y="3092450"/>
                    </a:cubicBezTo>
                    <a:close/>
                    <a:moveTo>
                      <a:pt x="2304257" y="1339849"/>
                    </a:moveTo>
                    <a:cubicBezTo>
                      <a:pt x="1775137" y="1339849"/>
                      <a:pt x="1346200" y="1767364"/>
                      <a:pt x="1346200" y="2294731"/>
                    </a:cubicBezTo>
                    <a:cubicBezTo>
                      <a:pt x="1346200" y="2822098"/>
                      <a:pt x="1775137" y="3249613"/>
                      <a:pt x="2304257" y="3249613"/>
                    </a:cubicBezTo>
                    <a:cubicBezTo>
                      <a:pt x="2833377" y="3249613"/>
                      <a:pt x="3262314" y="2822098"/>
                      <a:pt x="3262314" y="2294731"/>
                    </a:cubicBezTo>
                    <a:cubicBezTo>
                      <a:pt x="3262314" y="1767364"/>
                      <a:pt x="2833377" y="1339849"/>
                      <a:pt x="2304257" y="1339849"/>
                    </a:cubicBezTo>
                    <a:close/>
                    <a:moveTo>
                      <a:pt x="2305050" y="1220787"/>
                    </a:moveTo>
                    <a:cubicBezTo>
                      <a:pt x="2897734" y="1220787"/>
                      <a:pt x="3378200" y="1702319"/>
                      <a:pt x="3378200" y="2296319"/>
                    </a:cubicBezTo>
                    <a:cubicBezTo>
                      <a:pt x="3378200" y="2890319"/>
                      <a:pt x="2897734" y="3371851"/>
                      <a:pt x="2305050" y="3371851"/>
                    </a:cubicBezTo>
                    <a:cubicBezTo>
                      <a:pt x="1712366" y="3371851"/>
                      <a:pt x="1231900" y="2890319"/>
                      <a:pt x="1231900" y="2296319"/>
                    </a:cubicBezTo>
                    <a:cubicBezTo>
                      <a:pt x="1231900" y="1702319"/>
                      <a:pt x="1712366" y="1220787"/>
                      <a:pt x="2305050" y="1220787"/>
                    </a:cubicBezTo>
                    <a:close/>
                    <a:moveTo>
                      <a:pt x="4152900" y="128588"/>
                    </a:moveTo>
                    <a:cubicBezTo>
                      <a:pt x="3991578" y="128588"/>
                      <a:pt x="3860800" y="259011"/>
                      <a:pt x="3860800" y="419895"/>
                    </a:cubicBezTo>
                    <a:cubicBezTo>
                      <a:pt x="3860800" y="580779"/>
                      <a:pt x="3991578" y="711202"/>
                      <a:pt x="4152900" y="711202"/>
                    </a:cubicBezTo>
                    <a:cubicBezTo>
                      <a:pt x="4314222" y="711202"/>
                      <a:pt x="4445000" y="580779"/>
                      <a:pt x="4445000" y="419895"/>
                    </a:cubicBezTo>
                    <a:cubicBezTo>
                      <a:pt x="4445000" y="259011"/>
                      <a:pt x="4314222" y="128588"/>
                      <a:pt x="4152900" y="128588"/>
                    </a:cubicBezTo>
                    <a:close/>
                    <a:moveTo>
                      <a:pt x="413545" y="128588"/>
                    </a:moveTo>
                    <a:cubicBezTo>
                      <a:pt x="249154" y="128588"/>
                      <a:pt x="115888" y="259011"/>
                      <a:pt x="115888" y="419895"/>
                    </a:cubicBezTo>
                    <a:cubicBezTo>
                      <a:pt x="115888" y="580779"/>
                      <a:pt x="249154" y="711202"/>
                      <a:pt x="413545" y="711202"/>
                    </a:cubicBezTo>
                    <a:cubicBezTo>
                      <a:pt x="577936" y="711202"/>
                      <a:pt x="711202" y="580779"/>
                      <a:pt x="711202" y="419895"/>
                    </a:cubicBezTo>
                    <a:cubicBezTo>
                      <a:pt x="711202" y="259011"/>
                      <a:pt x="577936" y="128588"/>
                      <a:pt x="413545" y="128588"/>
                    </a:cubicBezTo>
                    <a:close/>
                    <a:moveTo>
                      <a:pt x="4158715" y="0"/>
                    </a:moveTo>
                    <a:cubicBezTo>
                      <a:pt x="4387878" y="0"/>
                      <a:pt x="4578351" y="187498"/>
                      <a:pt x="4578351" y="419639"/>
                    </a:cubicBezTo>
                    <a:cubicBezTo>
                      <a:pt x="4578351" y="651779"/>
                      <a:pt x="4387878" y="839278"/>
                      <a:pt x="4158715" y="839278"/>
                    </a:cubicBezTo>
                    <a:cubicBezTo>
                      <a:pt x="4066455" y="839278"/>
                      <a:pt x="3980147" y="809516"/>
                      <a:pt x="3911695" y="758921"/>
                    </a:cubicBezTo>
                    <a:cubicBezTo>
                      <a:pt x="3911695" y="758921"/>
                      <a:pt x="3911695" y="758921"/>
                      <a:pt x="3408727" y="1318440"/>
                    </a:cubicBezTo>
                    <a:cubicBezTo>
                      <a:pt x="3408727" y="1318440"/>
                      <a:pt x="3408727" y="1318440"/>
                      <a:pt x="3628962" y="1285702"/>
                    </a:cubicBezTo>
                    <a:cubicBezTo>
                      <a:pt x="3664676" y="1282726"/>
                      <a:pt x="3697413" y="1306535"/>
                      <a:pt x="3703365" y="1342249"/>
                    </a:cubicBezTo>
                    <a:cubicBezTo>
                      <a:pt x="3706342" y="1377963"/>
                      <a:pt x="3682532" y="1410701"/>
                      <a:pt x="3646819" y="1416653"/>
                    </a:cubicBezTo>
                    <a:cubicBezTo>
                      <a:pt x="3646819" y="1416653"/>
                      <a:pt x="3646819" y="1416653"/>
                      <a:pt x="3262896" y="1470224"/>
                    </a:cubicBezTo>
                    <a:cubicBezTo>
                      <a:pt x="3259920" y="1473200"/>
                      <a:pt x="3256944" y="1473200"/>
                      <a:pt x="3253968" y="1473200"/>
                    </a:cubicBezTo>
                    <a:cubicBezTo>
                      <a:pt x="3248016" y="1473200"/>
                      <a:pt x="3242063" y="1470224"/>
                      <a:pt x="3239087" y="1470224"/>
                    </a:cubicBezTo>
                    <a:cubicBezTo>
                      <a:pt x="3236111" y="1470224"/>
                      <a:pt x="3236111" y="1470224"/>
                      <a:pt x="3233135" y="1470224"/>
                    </a:cubicBezTo>
                    <a:cubicBezTo>
                      <a:pt x="3233135" y="1470224"/>
                      <a:pt x="3233135" y="1470224"/>
                      <a:pt x="3230159" y="1470224"/>
                    </a:cubicBezTo>
                    <a:cubicBezTo>
                      <a:pt x="3230159" y="1470224"/>
                      <a:pt x="3227183" y="1470224"/>
                      <a:pt x="3227183" y="1467248"/>
                    </a:cubicBezTo>
                    <a:cubicBezTo>
                      <a:pt x="3224207" y="1467248"/>
                      <a:pt x="3221230" y="1467248"/>
                      <a:pt x="3221230" y="1467248"/>
                    </a:cubicBezTo>
                    <a:lnTo>
                      <a:pt x="3219232" y="1466249"/>
                    </a:lnTo>
                    <a:lnTo>
                      <a:pt x="3209326" y="1461296"/>
                    </a:lnTo>
                    <a:cubicBezTo>
                      <a:pt x="3209326" y="1461296"/>
                      <a:pt x="3209326" y="1461296"/>
                      <a:pt x="3206350" y="1461296"/>
                    </a:cubicBezTo>
                    <a:cubicBezTo>
                      <a:pt x="3206350" y="1458319"/>
                      <a:pt x="3203374" y="1458319"/>
                      <a:pt x="3203374" y="1458319"/>
                    </a:cubicBezTo>
                    <a:cubicBezTo>
                      <a:pt x="3197421" y="1455343"/>
                      <a:pt x="3194445" y="1452367"/>
                      <a:pt x="3191469" y="1446415"/>
                    </a:cubicBezTo>
                    <a:cubicBezTo>
                      <a:pt x="3191469" y="1446415"/>
                      <a:pt x="3191469" y="1446415"/>
                      <a:pt x="3188493" y="1443439"/>
                    </a:cubicBezTo>
                    <a:cubicBezTo>
                      <a:pt x="3185517" y="1440462"/>
                      <a:pt x="3185517" y="1440462"/>
                      <a:pt x="3185517" y="1437486"/>
                    </a:cubicBezTo>
                    <a:cubicBezTo>
                      <a:pt x="3182541" y="1434510"/>
                      <a:pt x="3182541" y="1434510"/>
                      <a:pt x="3182541" y="1431534"/>
                    </a:cubicBezTo>
                    <a:cubicBezTo>
                      <a:pt x="3179564" y="1428558"/>
                      <a:pt x="3179564" y="1425582"/>
                      <a:pt x="3179564" y="1422605"/>
                    </a:cubicBezTo>
                    <a:cubicBezTo>
                      <a:pt x="3176588" y="1419629"/>
                      <a:pt x="3176588" y="1416653"/>
                      <a:pt x="3176588" y="1413677"/>
                    </a:cubicBezTo>
                    <a:cubicBezTo>
                      <a:pt x="3176588" y="1410701"/>
                      <a:pt x="3176588" y="1407725"/>
                      <a:pt x="3176588" y="1404748"/>
                    </a:cubicBezTo>
                    <a:cubicBezTo>
                      <a:pt x="3176588" y="1404748"/>
                      <a:pt x="3176588" y="1404748"/>
                      <a:pt x="3176588" y="1401772"/>
                    </a:cubicBezTo>
                    <a:cubicBezTo>
                      <a:pt x="3176588" y="1401772"/>
                      <a:pt x="3176588" y="1401772"/>
                      <a:pt x="3194445" y="1014871"/>
                    </a:cubicBezTo>
                    <a:cubicBezTo>
                      <a:pt x="3197421" y="979157"/>
                      <a:pt x="3227183" y="949396"/>
                      <a:pt x="3262896" y="952372"/>
                    </a:cubicBezTo>
                    <a:cubicBezTo>
                      <a:pt x="3298610" y="955348"/>
                      <a:pt x="3328371" y="985110"/>
                      <a:pt x="3325395" y="1020824"/>
                    </a:cubicBezTo>
                    <a:cubicBezTo>
                      <a:pt x="3325395" y="1020824"/>
                      <a:pt x="3325395" y="1020824"/>
                      <a:pt x="3316467" y="1226179"/>
                    </a:cubicBezTo>
                    <a:cubicBezTo>
                      <a:pt x="3316467" y="1226179"/>
                      <a:pt x="3316467" y="1226179"/>
                      <a:pt x="3819435" y="666660"/>
                    </a:cubicBezTo>
                    <a:cubicBezTo>
                      <a:pt x="3768841" y="598209"/>
                      <a:pt x="3739079" y="511900"/>
                      <a:pt x="3739079" y="419639"/>
                    </a:cubicBezTo>
                    <a:cubicBezTo>
                      <a:pt x="3739079" y="187498"/>
                      <a:pt x="3926576" y="0"/>
                      <a:pt x="4158715" y="0"/>
                    </a:cubicBezTo>
                    <a:close/>
                    <a:moveTo>
                      <a:pt x="419636" y="0"/>
                    </a:moveTo>
                    <a:cubicBezTo>
                      <a:pt x="651775" y="0"/>
                      <a:pt x="839272" y="187498"/>
                      <a:pt x="839272" y="419639"/>
                    </a:cubicBezTo>
                    <a:cubicBezTo>
                      <a:pt x="839272" y="511900"/>
                      <a:pt x="809511" y="598209"/>
                      <a:pt x="758916" y="666660"/>
                    </a:cubicBezTo>
                    <a:cubicBezTo>
                      <a:pt x="758916" y="666660"/>
                      <a:pt x="758916" y="666660"/>
                      <a:pt x="1261885" y="1226179"/>
                    </a:cubicBezTo>
                    <a:cubicBezTo>
                      <a:pt x="1261885" y="1226179"/>
                      <a:pt x="1261885" y="1226179"/>
                      <a:pt x="1252956" y="1020824"/>
                    </a:cubicBezTo>
                    <a:cubicBezTo>
                      <a:pt x="1249980" y="985110"/>
                      <a:pt x="1279741" y="955348"/>
                      <a:pt x="1315455" y="952372"/>
                    </a:cubicBezTo>
                    <a:cubicBezTo>
                      <a:pt x="1351169" y="949396"/>
                      <a:pt x="1380930" y="979157"/>
                      <a:pt x="1383906" y="1014871"/>
                    </a:cubicBezTo>
                    <a:cubicBezTo>
                      <a:pt x="1383906" y="1014871"/>
                      <a:pt x="1383906" y="1014871"/>
                      <a:pt x="1401763" y="1401772"/>
                    </a:cubicBezTo>
                    <a:cubicBezTo>
                      <a:pt x="1401763" y="1401772"/>
                      <a:pt x="1401763" y="1401772"/>
                      <a:pt x="1401763" y="1404748"/>
                    </a:cubicBezTo>
                    <a:cubicBezTo>
                      <a:pt x="1401763" y="1407725"/>
                      <a:pt x="1401763" y="1410701"/>
                      <a:pt x="1401763" y="1413677"/>
                    </a:cubicBezTo>
                    <a:cubicBezTo>
                      <a:pt x="1401763" y="1416653"/>
                      <a:pt x="1401763" y="1419629"/>
                      <a:pt x="1398787" y="1422605"/>
                    </a:cubicBezTo>
                    <a:cubicBezTo>
                      <a:pt x="1398787" y="1425582"/>
                      <a:pt x="1398787" y="1428558"/>
                      <a:pt x="1395811" y="1431534"/>
                    </a:cubicBezTo>
                    <a:cubicBezTo>
                      <a:pt x="1395811" y="1434510"/>
                      <a:pt x="1395811" y="1434510"/>
                      <a:pt x="1392835" y="1437486"/>
                    </a:cubicBezTo>
                    <a:cubicBezTo>
                      <a:pt x="1392835" y="1440462"/>
                      <a:pt x="1392835" y="1440462"/>
                      <a:pt x="1389859" y="1443439"/>
                    </a:cubicBezTo>
                    <a:cubicBezTo>
                      <a:pt x="1389859" y="1446415"/>
                      <a:pt x="1386882" y="1446415"/>
                      <a:pt x="1386882" y="1446415"/>
                    </a:cubicBezTo>
                    <a:cubicBezTo>
                      <a:pt x="1383906" y="1452367"/>
                      <a:pt x="1380930" y="1455343"/>
                      <a:pt x="1374978" y="1458319"/>
                    </a:cubicBezTo>
                    <a:cubicBezTo>
                      <a:pt x="1374978" y="1458319"/>
                      <a:pt x="1372002" y="1458319"/>
                      <a:pt x="1372002" y="1461296"/>
                    </a:cubicBezTo>
                    <a:cubicBezTo>
                      <a:pt x="1372002" y="1461296"/>
                      <a:pt x="1372002" y="1461296"/>
                      <a:pt x="1369026" y="1461296"/>
                    </a:cubicBezTo>
                    <a:cubicBezTo>
                      <a:pt x="1366049" y="1464272"/>
                      <a:pt x="1363073" y="1464272"/>
                      <a:pt x="1357121" y="1467248"/>
                    </a:cubicBezTo>
                    <a:cubicBezTo>
                      <a:pt x="1357121" y="1467248"/>
                      <a:pt x="1354145" y="1467248"/>
                      <a:pt x="1351169" y="1467248"/>
                    </a:cubicBezTo>
                    <a:cubicBezTo>
                      <a:pt x="1351169" y="1470224"/>
                      <a:pt x="1348193" y="1470224"/>
                      <a:pt x="1348193" y="1470224"/>
                    </a:cubicBezTo>
                    <a:cubicBezTo>
                      <a:pt x="1345216" y="1470224"/>
                      <a:pt x="1345216" y="1470224"/>
                      <a:pt x="1345216" y="1470224"/>
                    </a:cubicBezTo>
                    <a:cubicBezTo>
                      <a:pt x="1342240" y="1470224"/>
                      <a:pt x="1342240" y="1470224"/>
                      <a:pt x="1339264" y="1470224"/>
                    </a:cubicBezTo>
                    <a:cubicBezTo>
                      <a:pt x="1336288" y="1470224"/>
                      <a:pt x="1330336" y="1473200"/>
                      <a:pt x="1324383" y="1473200"/>
                    </a:cubicBezTo>
                    <a:cubicBezTo>
                      <a:pt x="1321407" y="1473200"/>
                      <a:pt x="1318431" y="1473200"/>
                      <a:pt x="1315455" y="1470224"/>
                    </a:cubicBezTo>
                    <a:cubicBezTo>
                      <a:pt x="1315455" y="1470224"/>
                      <a:pt x="1315455" y="1470224"/>
                      <a:pt x="931533" y="1416653"/>
                    </a:cubicBezTo>
                    <a:cubicBezTo>
                      <a:pt x="895819" y="1410701"/>
                      <a:pt x="872010" y="1377963"/>
                      <a:pt x="874986" y="1342249"/>
                    </a:cubicBezTo>
                    <a:cubicBezTo>
                      <a:pt x="880938" y="1306535"/>
                      <a:pt x="913676" y="1282726"/>
                      <a:pt x="949390" y="1285702"/>
                    </a:cubicBezTo>
                    <a:cubicBezTo>
                      <a:pt x="949390" y="1285702"/>
                      <a:pt x="949390" y="1285702"/>
                      <a:pt x="1169624" y="1318440"/>
                    </a:cubicBezTo>
                    <a:cubicBezTo>
                      <a:pt x="1169624" y="1318440"/>
                      <a:pt x="1169624" y="1318440"/>
                      <a:pt x="666656" y="758921"/>
                    </a:cubicBezTo>
                    <a:cubicBezTo>
                      <a:pt x="598205" y="809516"/>
                      <a:pt x="511897" y="839278"/>
                      <a:pt x="419636" y="839278"/>
                    </a:cubicBezTo>
                    <a:cubicBezTo>
                      <a:pt x="190473" y="839278"/>
                      <a:pt x="0" y="651779"/>
                      <a:pt x="0" y="419639"/>
                    </a:cubicBezTo>
                    <a:cubicBezTo>
                      <a:pt x="0" y="187498"/>
                      <a:pt x="190473" y="0"/>
                      <a:pt x="419636" y="0"/>
                    </a:cubicBezTo>
                    <a:close/>
                  </a:path>
                </a:pathLst>
              </a:custGeom>
              <a:solidFill>
                <a:srgbClr val="830F15">
                  <a:lumMod val="100000"/>
                </a:srgbClr>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p:txBody>
          </p:sp>
          <p:sp>
            <p:nvSpPr>
              <p:cNvPr id="84" name="Freeform 83"/>
              <p:cNvSpPr>
                <a:spLocks noChangeArrowheads="1"/>
              </p:cNvSpPr>
              <p:nvPr/>
            </p:nvSpPr>
            <p:spPr bwMode="auto">
              <a:xfrm>
                <a:off x="4030663" y="1377950"/>
                <a:ext cx="4113213" cy="4095750"/>
              </a:xfrm>
              <a:custGeom>
                <a:avLst/>
                <a:gdLst>
                  <a:gd name="connsiteX0" fmla="*/ 3929062 w 4113212"/>
                  <a:gd name="connsiteY0" fmla="*/ 3721100 h 4095750"/>
                  <a:gd name="connsiteX1" fmla="*/ 4113212 w 4113212"/>
                  <a:gd name="connsiteY1" fmla="*/ 3908425 h 4095750"/>
                  <a:gd name="connsiteX2" fmla="*/ 3929062 w 4113212"/>
                  <a:gd name="connsiteY2" fmla="*/ 4095750 h 4095750"/>
                  <a:gd name="connsiteX3" fmla="*/ 3744912 w 4113212"/>
                  <a:gd name="connsiteY3" fmla="*/ 3908425 h 4095750"/>
                  <a:gd name="connsiteX4" fmla="*/ 3929062 w 4113212"/>
                  <a:gd name="connsiteY4" fmla="*/ 3721100 h 4095750"/>
                  <a:gd name="connsiteX5" fmla="*/ 190500 w 4113212"/>
                  <a:gd name="connsiteY5" fmla="*/ 3721100 h 4095750"/>
                  <a:gd name="connsiteX6" fmla="*/ 381000 w 4113212"/>
                  <a:gd name="connsiteY6" fmla="*/ 3908425 h 4095750"/>
                  <a:gd name="connsiteX7" fmla="*/ 190500 w 4113212"/>
                  <a:gd name="connsiteY7" fmla="*/ 4095750 h 4095750"/>
                  <a:gd name="connsiteX8" fmla="*/ 0 w 4113212"/>
                  <a:gd name="connsiteY8" fmla="*/ 3908425 h 4095750"/>
                  <a:gd name="connsiteX9" fmla="*/ 190500 w 4113212"/>
                  <a:gd name="connsiteY9" fmla="*/ 3721100 h 4095750"/>
                  <a:gd name="connsiteX10" fmla="*/ 2080419 w 4113212"/>
                  <a:gd name="connsiteY10" fmla="*/ 1211263 h 4095750"/>
                  <a:gd name="connsiteX11" fmla="*/ 2932113 w 4113212"/>
                  <a:gd name="connsiteY11" fmla="*/ 2059782 h 4095750"/>
                  <a:gd name="connsiteX12" fmla="*/ 2080419 w 4113212"/>
                  <a:gd name="connsiteY12" fmla="*/ 2908301 h 4095750"/>
                  <a:gd name="connsiteX13" fmla="*/ 1228725 w 4113212"/>
                  <a:gd name="connsiteY13" fmla="*/ 2059782 h 4095750"/>
                  <a:gd name="connsiteX14" fmla="*/ 2080419 w 4113212"/>
                  <a:gd name="connsiteY14" fmla="*/ 1211263 h 4095750"/>
                  <a:gd name="connsiteX15" fmla="*/ 3929062 w 4113212"/>
                  <a:gd name="connsiteY15" fmla="*/ 0 h 4095750"/>
                  <a:gd name="connsiteX16" fmla="*/ 4113212 w 4113212"/>
                  <a:gd name="connsiteY16" fmla="*/ 184944 h 4095750"/>
                  <a:gd name="connsiteX17" fmla="*/ 3929062 w 4113212"/>
                  <a:gd name="connsiteY17" fmla="*/ 369888 h 4095750"/>
                  <a:gd name="connsiteX18" fmla="*/ 3744912 w 4113212"/>
                  <a:gd name="connsiteY18" fmla="*/ 184944 h 4095750"/>
                  <a:gd name="connsiteX19" fmla="*/ 3929062 w 4113212"/>
                  <a:gd name="connsiteY19" fmla="*/ 0 h 4095750"/>
                  <a:gd name="connsiteX20" fmla="*/ 190500 w 4113212"/>
                  <a:gd name="connsiteY20" fmla="*/ 0 h 4095750"/>
                  <a:gd name="connsiteX21" fmla="*/ 381000 w 4113212"/>
                  <a:gd name="connsiteY21" fmla="*/ 184944 h 4095750"/>
                  <a:gd name="connsiteX22" fmla="*/ 190500 w 4113212"/>
                  <a:gd name="connsiteY22" fmla="*/ 369888 h 4095750"/>
                  <a:gd name="connsiteX23" fmla="*/ 0 w 4113212"/>
                  <a:gd name="connsiteY23" fmla="*/ 184944 h 4095750"/>
                  <a:gd name="connsiteX24" fmla="*/ 190500 w 4113212"/>
                  <a:gd name="connsiteY24" fmla="*/ 0 h 4095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13212" h="4095750">
                    <a:moveTo>
                      <a:pt x="3929062" y="3721100"/>
                    </a:moveTo>
                    <a:cubicBezTo>
                      <a:pt x="4030765" y="3721100"/>
                      <a:pt x="4113212" y="3804968"/>
                      <a:pt x="4113212" y="3908425"/>
                    </a:cubicBezTo>
                    <a:cubicBezTo>
                      <a:pt x="4113212" y="4011882"/>
                      <a:pt x="4030765" y="4095750"/>
                      <a:pt x="3929062" y="4095750"/>
                    </a:cubicBezTo>
                    <a:cubicBezTo>
                      <a:pt x="3827359" y="4095750"/>
                      <a:pt x="3744912" y="4011882"/>
                      <a:pt x="3744912" y="3908425"/>
                    </a:cubicBezTo>
                    <a:cubicBezTo>
                      <a:pt x="3744912" y="3804968"/>
                      <a:pt x="3827359" y="3721100"/>
                      <a:pt x="3929062" y="3721100"/>
                    </a:cubicBezTo>
                    <a:close/>
                    <a:moveTo>
                      <a:pt x="190500" y="3721100"/>
                    </a:moveTo>
                    <a:cubicBezTo>
                      <a:pt x="295710" y="3721100"/>
                      <a:pt x="381000" y="3804968"/>
                      <a:pt x="381000" y="3908425"/>
                    </a:cubicBezTo>
                    <a:cubicBezTo>
                      <a:pt x="381000" y="4011882"/>
                      <a:pt x="295710" y="4095750"/>
                      <a:pt x="190500" y="4095750"/>
                    </a:cubicBezTo>
                    <a:cubicBezTo>
                      <a:pt x="85290" y="4095750"/>
                      <a:pt x="0" y="4011882"/>
                      <a:pt x="0" y="3908425"/>
                    </a:cubicBezTo>
                    <a:cubicBezTo>
                      <a:pt x="0" y="3804968"/>
                      <a:pt x="85290" y="3721100"/>
                      <a:pt x="190500" y="3721100"/>
                    </a:cubicBezTo>
                    <a:close/>
                    <a:moveTo>
                      <a:pt x="2080419" y="1211263"/>
                    </a:moveTo>
                    <a:cubicBezTo>
                      <a:pt x="2550797" y="1211263"/>
                      <a:pt x="2932113" y="1591158"/>
                      <a:pt x="2932113" y="2059782"/>
                    </a:cubicBezTo>
                    <a:cubicBezTo>
                      <a:pt x="2932113" y="2528406"/>
                      <a:pt x="2550797" y="2908301"/>
                      <a:pt x="2080419" y="2908301"/>
                    </a:cubicBezTo>
                    <a:cubicBezTo>
                      <a:pt x="1610041" y="2908301"/>
                      <a:pt x="1228725" y="2528406"/>
                      <a:pt x="1228725" y="2059782"/>
                    </a:cubicBezTo>
                    <a:cubicBezTo>
                      <a:pt x="1228725" y="1591158"/>
                      <a:pt x="1610041" y="1211263"/>
                      <a:pt x="2080419" y="1211263"/>
                    </a:cubicBezTo>
                    <a:close/>
                    <a:moveTo>
                      <a:pt x="3929062" y="0"/>
                    </a:moveTo>
                    <a:cubicBezTo>
                      <a:pt x="4030765" y="0"/>
                      <a:pt x="4113212" y="82802"/>
                      <a:pt x="4113212" y="184944"/>
                    </a:cubicBezTo>
                    <a:cubicBezTo>
                      <a:pt x="4113212" y="287086"/>
                      <a:pt x="4030765" y="369888"/>
                      <a:pt x="3929062" y="369888"/>
                    </a:cubicBezTo>
                    <a:cubicBezTo>
                      <a:pt x="3827359" y="369888"/>
                      <a:pt x="3744912" y="287086"/>
                      <a:pt x="3744912" y="184944"/>
                    </a:cubicBezTo>
                    <a:cubicBezTo>
                      <a:pt x="3744912" y="82802"/>
                      <a:pt x="3827359" y="0"/>
                      <a:pt x="3929062" y="0"/>
                    </a:cubicBezTo>
                    <a:close/>
                    <a:moveTo>
                      <a:pt x="190500" y="0"/>
                    </a:moveTo>
                    <a:cubicBezTo>
                      <a:pt x="295710" y="0"/>
                      <a:pt x="381000" y="82802"/>
                      <a:pt x="381000" y="184944"/>
                    </a:cubicBezTo>
                    <a:cubicBezTo>
                      <a:pt x="381000" y="287086"/>
                      <a:pt x="295710" y="369888"/>
                      <a:pt x="190500" y="369888"/>
                    </a:cubicBezTo>
                    <a:cubicBezTo>
                      <a:pt x="85290" y="369888"/>
                      <a:pt x="0" y="287086"/>
                      <a:pt x="0" y="184944"/>
                    </a:cubicBezTo>
                    <a:cubicBezTo>
                      <a:pt x="0" y="82802"/>
                      <a:pt x="85290" y="0"/>
                      <a:pt x="190500" y="0"/>
                    </a:cubicBezTo>
                    <a:close/>
                  </a:path>
                </a:pathLst>
              </a:custGeom>
              <a:solidFill>
                <a:srgbClr val="E51B24">
                  <a:lumMod val="100000"/>
                </a:srgbClr>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p:txBody>
          </p:sp>
        </p:grpSp>
      </p:grpSp>
      <p:grpSp>
        <p:nvGrpSpPr>
          <p:cNvPr id="85" name="Group 84"/>
          <p:cNvGrpSpPr>
            <a:grpSpLocks/>
          </p:cNvGrpSpPr>
          <p:nvPr/>
        </p:nvGrpSpPr>
        <p:grpSpPr>
          <a:xfrm>
            <a:off x="7316552" y="4399678"/>
            <a:ext cx="890128" cy="890128"/>
            <a:chOff x="8311347" y="5721543"/>
            <a:chExt cx="1112660" cy="1112660"/>
          </a:xfrm>
        </p:grpSpPr>
        <p:sp>
          <p:nvSpPr>
            <p:cNvPr id="86" name="Oval 85"/>
            <p:cNvSpPr/>
            <p:nvPr/>
          </p:nvSpPr>
          <p:spPr>
            <a:xfrm>
              <a:off x="8311347" y="5721543"/>
              <a:ext cx="1112660" cy="1112660"/>
            </a:xfrm>
            <a:prstGeom prst="ellipse">
              <a:avLst/>
            </a:prstGeom>
            <a:solidFill>
              <a:srgbClr val="FFFFFF"/>
            </a:solidFill>
            <a:ln w="17780" cap="rnd" cmpd="sng" algn="ctr">
              <a:solidFill>
                <a:srgbClr val="DADADA"/>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grpSp>
          <p:nvGrpSpPr>
            <p:cNvPr id="87" name="bcgIcons_OpportunityMapping">
              <a:extLst>
                <a:ext uri="{FF2B5EF4-FFF2-40B4-BE49-F238E27FC236}">
                  <a16:creationId xmlns:a16="http://schemas.microsoft.com/office/drawing/2014/main" id="{46B5D44F-F94F-4B85-B541-EC962994502E}"/>
                </a:ext>
              </a:extLst>
            </p:cNvPr>
            <p:cNvGrpSpPr>
              <a:grpSpLocks noChangeAspect="1"/>
            </p:cNvGrpSpPr>
            <p:nvPr/>
          </p:nvGrpSpPr>
          <p:grpSpPr bwMode="auto">
            <a:xfrm>
              <a:off x="8421312" y="5831095"/>
              <a:ext cx="892729" cy="893556"/>
              <a:chOff x="1682" y="0"/>
              <a:chExt cx="4316" cy="4320"/>
            </a:xfrm>
          </p:grpSpPr>
          <p:sp>
            <p:nvSpPr>
              <p:cNvPr id="88" name="AutoShape 13">
                <a:extLst>
                  <a:ext uri="{FF2B5EF4-FFF2-40B4-BE49-F238E27FC236}">
                    <a16:creationId xmlns:a16="http://schemas.microsoft.com/office/drawing/2014/main" id="{7765EE75-DEB8-47F5-BF32-7AC230F4B238}"/>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3152" tIns="36576" rIns="73152" bIns="3657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89" name="Freeform 15">
                <a:extLst>
                  <a:ext uri="{FF2B5EF4-FFF2-40B4-BE49-F238E27FC236}">
                    <a16:creationId xmlns:a16="http://schemas.microsoft.com/office/drawing/2014/main" id="{020B003A-B175-4CB8-A390-319627008B64}"/>
                  </a:ext>
                </a:extLst>
              </p:cNvPr>
              <p:cNvSpPr>
                <a:spLocks noEditPoints="1"/>
              </p:cNvSpPr>
              <p:nvPr/>
            </p:nvSpPr>
            <p:spPr bwMode="auto">
              <a:xfrm>
                <a:off x="2604" y="877"/>
                <a:ext cx="2493" cy="1855"/>
              </a:xfrm>
              <a:custGeom>
                <a:avLst/>
                <a:gdLst>
                  <a:gd name="T0" fmla="*/ 300 w 1331"/>
                  <a:gd name="T1" fmla="*/ 3 h 989"/>
                  <a:gd name="T2" fmla="*/ 0 w 1331"/>
                  <a:gd name="T3" fmla="*/ 310 h 989"/>
                  <a:gd name="T4" fmla="*/ 294 w 1331"/>
                  <a:gd name="T5" fmla="*/ 984 h 989"/>
                  <a:gd name="T6" fmla="*/ 306 w 1331"/>
                  <a:gd name="T7" fmla="*/ 984 h 989"/>
                  <a:gd name="T8" fmla="*/ 597 w 1331"/>
                  <a:gd name="T9" fmla="*/ 310 h 989"/>
                  <a:gd name="T10" fmla="*/ 300 w 1331"/>
                  <a:gd name="T11" fmla="*/ 3 h 989"/>
                  <a:gd name="T12" fmla="*/ 419 w 1331"/>
                  <a:gd name="T13" fmla="*/ 226 h 989"/>
                  <a:gd name="T14" fmla="*/ 364 w 1331"/>
                  <a:gd name="T15" fmla="*/ 279 h 989"/>
                  <a:gd name="T16" fmla="*/ 362 w 1331"/>
                  <a:gd name="T17" fmla="*/ 284 h 989"/>
                  <a:gd name="T18" fmla="*/ 374 w 1331"/>
                  <a:gd name="T19" fmla="*/ 359 h 989"/>
                  <a:gd name="T20" fmla="*/ 367 w 1331"/>
                  <a:gd name="T21" fmla="*/ 364 h 989"/>
                  <a:gd name="T22" fmla="*/ 300 w 1331"/>
                  <a:gd name="T23" fmla="*/ 328 h 989"/>
                  <a:gd name="T24" fmla="*/ 295 w 1331"/>
                  <a:gd name="T25" fmla="*/ 328 h 989"/>
                  <a:gd name="T26" fmla="*/ 228 w 1331"/>
                  <a:gd name="T27" fmla="*/ 363 h 989"/>
                  <a:gd name="T28" fmla="*/ 220 w 1331"/>
                  <a:gd name="T29" fmla="*/ 357 h 989"/>
                  <a:gd name="T30" fmla="*/ 234 w 1331"/>
                  <a:gd name="T31" fmla="*/ 282 h 989"/>
                  <a:gd name="T32" fmla="*/ 232 w 1331"/>
                  <a:gd name="T33" fmla="*/ 277 h 989"/>
                  <a:gd name="T34" fmla="*/ 179 w 1331"/>
                  <a:gd name="T35" fmla="*/ 224 h 989"/>
                  <a:gd name="T36" fmla="*/ 182 w 1331"/>
                  <a:gd name="T37" fmla="*/ 215 h 989"/>
                  <a:gd name="T38" fmla="*/ 256 w 1331"/>
                  <a:gd name="T39" fmla="*/ 204 h 989"/>
                  <a:gd name="T40" fmla="*/ 261 w 1331"/>
                  <a:gd name="T41" fmla="*/ 202 h 989"/>
                  <a:gd name="T42" fmla="*/ 295 w 1331"/>
                  <a:gd name="T43" fmla="*/ 134 h 989"/>
                  <a:gd name="T44" fmla="*/ 304 w 1331"/>
                  <a:gd name="T45" fmla="*/ 134 h 989"/>
                  <a:gd name="T46" fmla="*/ 337 w 1331"/>
                  <a:gd name="T47" fmla="*/ 202 h 989"/>
                  <a:gd name="T48" fmla="*/ 341 w 1331"/>
                  <a:gd name="T49" fmla="*/ 206 h 989"/>
                  <a:gd name="T50" fmla="*/ 416 w 1331"/>
                  <a:gd name="T51" fmla="*/ 217 h 989"/>
                  <a:gd name="T52" fmla="*/ 419 w 1331"/>
                  <a:gd name="T53" fmla="*/ 226 h 989"/>
                  <a:gd name="T54" fmla="*/ 1146 w 1331"/>
                  <a:gd name="T55" fmla="*/ 0 h 989"/>
                  <a:gd name="T56" fmla="*/ 958 w 1331"/>
                  <a:gd name="T57" fmla="*/ 192 h 989"/>
                  <a:gd name="T58" fmla="*/ 1142 w 1331"/>
                  <a:gd name="T59" fmla="*/ 613 h 989"/>
                  <a:gd name="T60" fmla="*/ 1149 w 1331"/>
                  <a:gd name="T61" fmla="*/ 613 h 989"/>
                  <a:gd name="T62" fmla="*/ 1331 w 1331"/>
                  <a:gd name="T63" fmla="*/ 192 h 989"/>
                  <a:gd name="T64" fmla="*/ 1146 w 1331"/>
                  <a:gd name="T65" fmla="*/ 0 h 989"/>
                  <a:gd name="T66" fmla="*/ 1220 w 1331"/>
                  <a:gd name="T67" fmla="*/ 155 h 989"/>
                  <a:gd name="T68" fmla="*/ 1186 w 1331"/>
                  <a:gd name="T69" fmla="*/ 188 h 989"/>
                  <a:gd name="T70" fmla="*/ 1185 w 1331"/>
                  <a:gd name="T71" fmla="*/ 191 h 989"/>
                  <a:gd name="T72" fmla="*/ 1192 w 1331"/>
                  <a:gd name="T73" fmla="*/ 238 h 989"/>
                  <a:gd name="T74" fmla="*/ 1187 w 1331"/>
                  <a:gd name="T75" fmla="*/ 241 h 989"/>
                  <a:gd name="T76" fmla="*/ 1146 w 1331"/>
                  <a:gd name="T77" fmla="*/ 219 h 989"/>
                  <a:gd name="T78" fmla="*/ 1143 w 1331"/>
                  <a:gd name="T79" fmla="*/ 218 h 989"/>
                  <a:gd name="T80" fmla="*/ 1101 w 1331"/>
                  <a:gd name="T81" fmla="*/ 240 h 989"/>
                  <a:gd name="T82" fmla="*/ 1096 w 1331"/>
                  <a:gd name="T83" fmla="*/ 237 h 989"/>
                  <a:gd name="T84" fmla="*/ 1104 w 1331"/>
                  <a:gd name="T85" fmla="*/ 190 h 989"/>
                  <a:gd name="T86" fmla="*/ 1103 w 1331"/>
                  <a:gd name="T87" fmla="*/ 187 h 989"/>
                  <a:gd name="T88" fmla="*/ 1070 w 1331"/>
                  <a:gd name="T89" fmla="*/ 153 h 989"/>
                  <a:gd name="T90" fmla="*/ 1072 w 1331"/>
                  <a:gd name="T91" fmla="*/ 148 h 989"/>
                  <a:gd name="T92" fmla="*/ 1118 w 1331"/>
                  <a:gd name="T93" fmla="*/ 141 h 989"/>
                  <a:gd name="T94" fmla="*/ 1121 w 1331"/>
                  <a:gd name="T95" fmla="*/ 139 h 989"/>
                  <a:gd name="T96" fmla="*/ 1142 w 1331"/>
                  <a:gd name="T97" fmla="*/ 97 h 989"/>
                  <a:gd name="T98" fmla="*/ 1149 w 1331"/>
                  <a:gd name="T99" fmla="*/ 97 h 989"/>
                  <a:gd name="T100" fmla="*/ 1169 w 1331"/>
                  <a:gd name="T101" fmla="*/ 140 h 989"/>
                  <a:gd name="T102" fmla="*/ 1171 w 1331"/>
                  <a:gd name="T103" fmla="*/ 142 h 989"/>
                  <a:gd name="T104" fmla="*/ 1218 w 1331"/>
                  <a:gd name="T105" fmla="*/ 149 h 989"/>
                  <a:gd name="T106" fmla="*/ 1220 w 1331"/>
                  <a:gd name="T107" fmla="*/ 155 h 9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31" h="989">
                    <a:moveTo>
                      <a:pt x="300" y="3"/>
                    </a:moveTo>
                    <a:cubicBezTo>
                      <a:pt x="134" y="3"/>
                      <a:pt x="0" y="142"/>
                      <a:pt x="0" y="310"/>
                    </a:cubicBezTo>
                    <a:cubicBezTo>
                      <a:pt x="0" y="465"/>
                      <a:pt x="251" y="910"/>
                      <a:pt x="294" y="984"/>
                    </a:cubicBezTo>
                    <a:cubicBezTo>
                      <a:pt x="296" y="989"/>
                      <a:pt x="303" y="989"/>
                      <a:pt x="306" y="984"/>
                    </a:cubicBezTo>
                    <a:cubicBezTo>
                      <a:pt x="348" y="910"/>
                      <a:pt x="597" y="465"/>
                      <a:pt x="597" y="310"/>
                    </a:cubicBezTo>
                    <a:cubicBezTo>
                      <a:pt x="597" y="142"/>
                      <a:pt x="466" y="3"/>
                      <a:pt x="300" y="3"/>
                    </a:cubicBezTo>
                    <a:close/>
                    <a:moveTo>
                      <a:pt x="419" y="226"/>
                    </a:moveTo>
                    <a:cubicBezTo>
                      <a:pt x="364" y="279"/>
                      <a:pt x="364" y="279"/>
                      <a:pt x="364" y="279"/>
                    </a:cubicBezTo>
                    <a:cubicBezTo>
                      <a:pt x="363" y="280"/>
                      <a:pt x="362" y="282"/>
                      <a:pt x="362" y="284"/>
                    </a:cubicBezTo>
                    <a:cubicBezTo>
                      <a:pt x="374" y="359"/>
                      <a:pt x="374" y="359"/>
                      <a:pt x="374" y="359"/>
                    </a:cubicBezTo>
                    <a:cubicBezTo>
                      <a:pt x="375" y="363"/>
                      <a:pt x="371" y="366"/>
                      <a:pt x="367" y="364"/>
                    </a:cubicBezTo>
                    <a:cubicBezTo>
                      <a:pt x="300" y="328"/>
                      <a:pt x="300" y="328"/>
                      <a:pt x="300" y="328"/>
                    </a:cubicBezTo>
                    <a:cubicBezTo>
                      <a:pt x="298" y="327"/>
                      <a:pt x="297" y="327"/>
                      <a:pt x="295" y="328"/>
                    </a:cubicBezTo>
                    <a:cubicBezTo>
                      <a:pt x="228" y="363"/>
                      <a:pt x="228" y="363"/>
                      <a:pt x="228" y="363"/>
                    </a:cubicBezTo>
                    <a:cubicBezTo>
                      <a:pt x="224" y="365"/>
                      <a:pt x="219" y="361"/>
                      <a:pt x="220" y="357"/>
                    </a:cubicBezTo>
                    <a:cubicBezTo>
                      <a:pt x="234" y="282"/>
                      <a:pt x="234" y="282"/>
                      <a:pt x="234" y="282"/>
                    </a:cubicBezTo>
                    <a:cubicBezTo>
                      <a:pt x="234" y="280"/>
                      <a:pt x="234" y="278"/>
                      <a:pt x="232" y="277"/>
                    </a:cubicBezTo>
                    <a:cubicBezTo>
                      <a:pt x="179" y="224"/>
                      <a:pt x="179" y="224"/>
                      <a:pt x="179" y="224"/>
                    </a:cubicBezTo>
                    <a:cubicBezTo>
                      <a:pt x="176" y="221"/>
                      <a:pt x="177" y="215"/>
                      <a:pt x="182" y="215"/>
                    </a:cubicBezTo>
                    <a:cubicBezTo>
                      <a:pt x="256" y="204"/>
                      <a:pt x="256" y="204"/>
                      <a:pt x="256" y="204"/>
                    </a:cubicBezTo>
                    <a:cubicBezTo>
                      <a:pt x="258" y="204"/>
                      <a:pt x="260" y="203"/>
                      <a:pt x="261" y="202"/>
                    </a:cubicBezTo>
                    <a:cubicBezTo>
                      <a:pt x="295" y="134"/>
                      <a:pt x="295" y="134"/>
                      <a:pt x="295" y="134"/>
                    </a:cubicBezTo>
                    <a:cubicBezTo>
                      <a:pt x="297" y="130"/>
                      <a:pt x="302" y="130"/>
                      <a:pt x="304" y="134"/>
                    </a:cubicBezTo>
                    <a:cubicBezTo>
                      <a:pt x="337" y="202"/>
                      <a:pt x="337" y="202"/>
                      <a:pt x="337" y="202"/>
                    </a:cubicBezTo>
                    <a:cubicBezTo>
                      <a:pt x="338" y="204"/>
                      <a:pt x="339" y="205"/>
                      <a:pt x="341" y="206"/>
                    </a:cubicBezTo>
                    <a:cubicBezTo>
                      <a:pt x="416" y="217"/>
                      <a:pt x="416" y="217"/>
                      <a:pt x="416" y="217"/>
                    </a:cubicBezTo>
                    <a:cubicBezTo>
                      <a:pt x="420" y="218"/>
                      <a:pt x="422" y="223"/>
                      <a:pt x="419" y="226"/>
                    </a:cubicBezTo>
                    <a:close/>
                    <a:moveTo>
                      <a:pt x="1146" y="0"/>
                    </a:moveTo>
                    <a:cubicBezTo>
                      <a:pt x="1042" y="0"/>
                      <a:pt x="958" y="87"/>
                      <a:pt x="958" y="192"/>
                    </a:cubicBezTo>
                    <a:cubicBezTo>
                      <a:pt x="958" y="289"/>
                      <a:pt x="1115" y="567"/>
                      <a:pt x="1142" y="613"/>
                    </a:cubicBezTo>
                    <a:cubicBezTo>
                      <a:pt x="1144" y="616"/>
                      <a:pt x="1148" y="616"/>
                      <a:pt x="1149" y="613"/>
                    </a:cubicBezTo>
                    <a:cubicBezTo>
                      <a:pt x="1176" y="567"/>
                      <a:pt x="1331" y="289"/>
                      <a:pt x="1331" y="192"/>
                    </a:cubicBezTo>
                    <a:cubicBezTo>
                      <a:pt x="1331" y="87"/>
                      <a:pt x="1249" y="0"/>
                      <a:pt x="1146" y="0"/>
                    </a:cubicBezTo>
                    <a:close/>
                    <a:moveTo>
                      <a:pt x="1220" y="155"/>
                    </a:moveTo>
                    <a:cubicBezTo>
                      <a:pt x="1186" y="188"/>
                      <a:pt x="1186" y="188"/>
                      <a:pt x="1186" y="188"/>
                    </a:cubicBezTo>
                    <a:cubicBezTo>
                      <a:pt x="1185" y="188"/>
                      <a:pt x="1185" y="190"/>
                      <a:pt x="1185" y="191"/>
                    </a:cubicBezTo>
                    <a:cubicBezTo>
                      <a:pt x="1192" y="238"/>
                      <a:pt x="1192" y="238"/>
                      <a:pt x="1192" y="238"/>
                    </a:cubicBezTo>
                    <a:cubicBezTo>
                      <a:pt x="1193" y="240"/>
                      <a:pt x="1190" y="242"/>
                      <a:pt x="1187" y="241"/>
                    </a:cubicBezTo>
                    <a:cubicBezTo>
                      <a:pt x="1146" y="219"/>
                      <a:pt x="1146" y="219"/>
                      <a:pt x="1146" y="219"/>
                    </a:cubicBezTo>
                    <a:cubicBezTo>
                      <a:pt x="1145" y="218"/>
                      <a:pt x="1144" y="218"/>
                      <a:pt x="1143" y="218"/>
                    </a:cubicBezTo>
                    <a:cubicBezTo>
                      <a:pt x="1101" y="240"/>
                      <a:pt x="1101" y="240"/>
                      <a:pt x="1101" y="240"/>
                    </a:cubicBezTo>
                    <a:cubicBezTo>
                      <a:pt x="1098" y="241"/>
                      <a:pt x="1095" y="239"/>
                      <a:pt x="1096" y="237"/>
                    </a:cubicBezTo>
                    <a:cubicBezTo>
                      <a:pt x="1104" y="190"/>
                      <a:pt x="1104" y="190"/>
                      <a:pt x="1104" y="190"/>
                    </a:cubicBezTo>
                    <a:cubicBezTo>
                      <a:pt x="1104" y="189"/>
                      <a:pt x="1104" y="188"/>
                      <a:pt x="1103" y="187"/>
                    </a:cubicBezTo>
                    <a:cubicBezTo>
                      <a:pt x="1070" y="153"/>
                      <a:pt x="1070" y="153"/>
                      <a:pt x="1070" y="153"/>
                    </a:cubicBezTo>
                    <a:cubicBezTo>
                      <a:pt x="1068" y="151"/>
                      <a:pt x="1069" y="148"/>
                      <a:pt x="1072" y="148"/>
                    </a:cubicBezTo>
                    <a:cubicBezTo>
                      <a:pt x="1118" y="141"/>
                      <a:pt x="1118" y="141"/>
                      <a:pt x="1118" y="141"/>
                    </a:cubicBezTo>
                    <a:cubicBezTo>
                      <a:pt x="1120" y="141"/>
                      <a:pt x="1121" y="141"/>
                      <a:pt x="1121" y="139"/>
                    </a:cubicBezTo>
                    <a:cubicBezTo>
                      <a:pt x="1142" y="97"/>
                      <a:pt x="1142" y="97"/>
                      <a:pt x="1142" y="97"/>
                    </a:cubicBezTo>
                    <a:cubicBezTo>
                      <a:pt x="1144" y="95"/>
                      <a:pt x="1147" y="95"/>
                      <a:pt x="1149" y="97"/>
                    </a:cubicBezTo>
                    <a:cubicBezTo>
                      <a:pt x="1169" y="140"/>
                      <a:pt x="1169" y="140"/>
                      <a:pt x="1169" y="140"/>
                    </a:cubicBezTo>
                    <a:cubicBezTo>
                      <a:pt x="1169" y="141"/>
                      <a:pt x="1170" y="142"/>
                      <a:pt x="1171" y="142"/>
                    </a:cubicBezTo>
                    <a:cubicBezTo>
                      <a:pt x="1218" y="149"/>
                      <a:pt x="1218" y="149"/>
                      <a:pt x="1218" y="149"/>
                    </a:cubicBezTo>
                    <a:cubicBezTo>
                      <a:pt x="1221" y="150"/>
                      <a:pt x="1222" y="153"/>
                      <a:pt x="1220" y="155"/>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3152" tIns="36576" rIns="73152" bIns="3657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90" name="Freeform 16">
                <a:extLst>
                  <a:ext uri="{FF2B5EF4-FFF2-40B4-BE49-F238E27FC236}">
                    <a16:creationId xmlns:a16="http://schemas.microsoft.com/office/drawing/2014/main" id="{0E02D212-17FD-448F-87B5-CCA177AA39B1}"/>
                  </a:ext>
                </a:extLst>
              </p:cNvPr>
              <p:cNvSpPr>
                <a:spLocks noEditPoints="1"/>
              </p:cNvSpPr>
              <p:nvPr/>
            </p:nvSpPr>
            <p:spPr bwMode="auto">
              <a:xfrm>
                <a:off x="1864" y="712"/>
                <a:ext cx="3956" cy="2665"/>
              </a:xfrm>
              <a:custGeom>
                <a:avLst/>
                <a:gdLst>
                  <a:gd name="T0" fmla="*/ 663 w 2112"/>
                  <a:gd name="T1" fmla="*/ 1199 h 1421"/>
                  <a:gd name="T2" fmla="*/ 469 w 2112"/>
                  <a:gd name="T3" fmla="*/ 844 h 1421"/>
                  <a:gd name="T4" fmla="*/ 695 w 2112"/>
                  <a:gd name="T5" fmla="*/ 0 h 1421"/>
                  <a:gd name="T6" fmla="*/ 920 w 2112"/>
                  <a:gd name="T7" fmla="*/ 844 h 1421"/>
                  <a:gd name="T8" fmla="*/ 727 w 2112"/>
                  <a:gd name="T9" fmla="*/ 1199 h 1421"/>
                  <a:gd name="T10" fmla="*/ 695 w 2112"/>
                  <a:gd name="T11" fmla="*/ 1218 h 1421"/>
                  <a:gd name="T12" fmla="*/ 352 w 2112"/>
                  <a:gd name="T13" fmla="*/ 395 h 1421"/>
                  <a:gd name="T14" fmla="*/ 662 w 2112"/>
                  <a:gd name="T15" fmla="*/ 1110 h 1421"/>
                  <a:gd name="T16" fmla="*/ 728 w 2112"/>
                  <a:gd name="T17" fmla="*/ 1110 h 1421"/>
                  <a:gd name="T18" fmla="*/ 1036 w 2112"/>
                  <a:gd name="T19" fmla="*/ 395 h 1421"/>
                  <a:gd name="T20" fmla="*/ 1344 w 2112"/>
                  <a:gd name="T21" fmla="*/ 593 h 1421"/>
                  <a:gd name="T22" fmla="*/ 1081 w 2112"/>
                  <a:gd name="T23" fmla="*/ 587 h 1421"/>
                  <a:gd name="T24" fmla="*/ 1364 w 2112"/>
                  <a:gd name="T25" fmla="*/ 631 h 1421"/>
                  <a:gd name="T26" fmla="*/ 2110 w 2112"/>
                  <a:gd name="T27" fmla="*/ 1377 h 1421"/>
                  <a:gd name="T28" fmla="*/ 1876 w 2112"/>
                  <a:gd name="T29" fmla="*/ 587 h 1421"/>
                  <a:gd name="T30" fmla="*/ 1736 w 2112"/>
                  <a:gd name="T31" fmla="*/ 592 h 1421"/>
                  <a:gd name="T32" fmla="*/ 1876 w 2112"/>
                  <a:gd name="T33" fmla="*/ 631 h 1421"/>
                  <a:gd name="T34" fmla="*/ 2064 w 2112"/>
                  <a:gd name="T35" fmla="*/ 1377 h 1421"/>
                  <a:gd name="T36" fmla="*/ 232 w 2112"/>
                  <a:gd name="T37" fmla="*/ 631 h 1421"/>
                  <a:gd name="T38" fmla="*/ 324 w 2112"/>
                  <a:gd name="T39" fmla="*/ 631 h 1421"/>
                  <a:gd name="T40" fmla="*/ 236 w 2112"/>
                  <a:gd name="T41" fmla="*/ 587 h 1421"/>
                  <a:gd name="T42" fmla="*/ 2 w 2112"/>
                  <a:gd name="T43" fmla="*/ 1377 h 1421"/>
                  <a:gd name="T44" fmla="*/ 45 w 2112"/>
                  <a:gd name="T45" fmla="*/ 1421 h 1421"/>
                  <a:gd name="T46" fmla="*/ 2104 w 2112"/>
                  <a:gd name="T47" fmla="*/ 1405 h 1421"/>
                  <a:gd name="T48" fmla="*/ 1541 w 2112"/>
                  <a:gd name="T49" fmla="*/ 826 h 1421"/>
                  <a:gd name="T50" fmla="*/ 1487 w 2112"/>
                  <a:gd name="T51" fmla="*/ 765 h 1421"/>
                  <a:gd name="T52" fmla="*/ 1276 w 2112"/>
                  <a:gd name="T53" fmla="*/ 270 h 1421"/>
                  <a:gd name="T54" fmla="*/ 1804 w 2112"/>
                  <a:gd name="T55" fmla="*/ 270 h 1421"/>
                  <a:gd name="T56" fmla="*/ 1594 w 2112"/>
                  <a:gd name="T57" fmla="*/ 765 h 1421"/>
                  <a:gd name="T58" fmla="*/ 1541 w 2112"/>
                  <a:gd name="T59" fmla="*/ 826 h 1421"/>
                  <a:gd name="T60" fmla="*/ 1541 w 2112"/>
                  <a:gd name="T61" fmla="*/ 44 h 1421"/>
                  <a:gd name="T62" fmla="*/ 1423 w 2112"/>
                  <a:gd name="T63" fmla="*/ 553 h 1421"/>
                  <a:gd name="T64" fmla="*/ 1541 w 2112"/>
                  <a:gd name="T65" fmla="*/ 770 h 1421"/>
                  <a:gd name="T66" fmla="*/ 1658 w 2112"/>
                  <a:gd name="T67" fmla="*/ 553 h 1421"/>
                  <a:gd name="T68" fmla="*/ 1541 w 2112"/>
                  <a:gd name="T69" fmla="*/ 44 h 1421"/>
                  <a:gd name="T70" fmla="*/ 1195 w 2112"/>
                  <a:gd name="T71" fmla="*/ 908 h 1421"/>
                  <a:gd name="T72" fmla="*/ 1195 w 2112"/>
                  <a:gd name="T73" fmla="*/ 826 h 1421"/>
                  <a:gd name="T74" fmla="*/ 1449 w 2112"/>
                  <a:gd name="T75" fmla="*/ 787 h 1421"/>
                  <a:gd name="T76" fmla="*/ 1195 w 2112"/>
                  <a:gd name="T77" fmla="*/ 782 h 1421"/>
                  <a:gd name="T78" fmla="*/ 1195 w 2112"/>
                  <a:gd name="T79" fmla="*/ 952 h 1421"/>
                  <a:gd name="T80" fmla="*/ 1659 w 2112"/>
                  <a:gd name="T81" fmla="*/ 1063 h 1421"/>
                  <a:gd name="T82" fmla="*/ 793 w 2112"/>
                  <a:gd name="T83" fmla="*/ 1174 h 1421"/>
                  <a:gd name="T84" fmla="*/ 1548 w 2112"/>
                  <a:gd name="T85" fmla="*/ 1218 h 1421"/>
                  <a:gd name="T86" fmla="*/ 1548 w 2112"/>
                  <a:gd name="T87" fmla="*/ 908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112" h="1421">
                    <a:moveTo>
                      <a:pt x="695" y="1218"/>
                    </a:moveTo>
                    <a:cubicBezTo>
                      <a:pt x="681" y="1218"/>
                      <a:pt x="669" y="1211"/>
                      <a:pt x="663" y="1199"/>
                    </a:cubicBezTo>
                    <a:cubicBezTo>
                      <a:pt x="624" y="1132"/>
                      <a:pt x="624" y="1132"/>
                      <a:pt x="624" y="1132"/>
                    </a:cubicBezTo>
                    <a:cubicBezTo>
                      <a:pt x="623" y="1131"/>
                      <a:pt x="545" y="997"/>
                      <a:pt x="469" y="844"/>
                    </a:cubicBezTo>
                    <a:cubicBezTo>
                      <a:pt x="360" y="627"/>
                      <a:pt x="308" y="480"/>
                      <a:pt x="308" y="395"/>
                    </a:cubicBezTo>
                    <a:cubicBezTo>
                      <a:pt x="308" y="177"/>
                      <a:pt x="481" y="0"/>
                      <a:pt x="695" y="0"/>
                    </a:cubicBezTo>
                    <a:cubicBezTo>
                      <a:pt x="907" y="0"/>
                      <a:pt x="1080" y="177"/>
                      <a:pt x="1080" y="395"/>
                    </a:cubicBezTo>
                    <a:cubicBezTo>
                      <a:pt x="1080" y="480"/>
                      <a:pt x="1027" y="627"/>
                      <a:pt x="920" y="844"/>
                    </a:cubicBezTo>
                    <a:cubicBezTo>
                      <a:pt x="844" y="997"/>
                      <a:pt x="767" y="1131"/>
                      <a:pt x="766" y="1132"/>
                    </a:cubicBezTo>
                    <a:cubicBezTo>
                      <a:pt x="727" y="1199"/>
                      <a:pt x="727" y="1199"/>
                      <a:pt x="727" y="1199"/>
                    </a:cubicBezTo>
                    <a:cubicBezTo>
                      <a:pt x="721" y="1211"/>
                      <a:pt x="709" y="1218"/>
                      <a:pt x="695" y="1218"/>
                    </a:cubicBezTo>
                    <a:cubicBezTo>
                      <a:pt x="695" y="1218"/>
                      <a:pt x="695" y="1218"/>
                      <a:pt x="695" y="1218"/>
                    </a:cubicBezTo>
                    <a:close/>
                    <a:moveTo>
                      <a:pt x="695" y="44"/>
                    </a:moveTo>
                    <a:cubicBezTo>
                      <a:pt x="506" y="44"/>
                      <a:pt x="352" y="202"/>
                      <a:pt x="352" y="395"/>
                    </a:cubicBezTo>
                    <a:cubicBezTo>
                      <a:pt x="352" y="473"/>
                      <a:pt x="403" y="614"/>
                      <a:pt x="508" y="825"/>
                    </a:cubicBezTo>
                    <a:cubicBezTo>
                      <a:pt x="584" y="976"/>
                      <a:pt x="661" y="1109"/>
                      <a:pt x="662" y="1110"/>
                    </a:cubicBezTo>
                    <a:cubicBezTo>
                      <a:pt x="695" y="1167"/>
                      <a:pt x="695" y="1167"/>
                      <a:pt x="695" y="1167"/>
                    </a:cubicBezTo>
                    <a:cubicBezTo>
                      <a:pt x="728" y="1110"/>
                      <a:pt x="728" y="1110"/>
                      <a:pt x="728" y="1110"/>
                    </a:cubicBezTo>
                    <a:cubicBezTo>
                      <a:pt x="729" y="1109"/>
                      <a:pt x="805" y="976"/>
                      <a:pt x="880" y="825"/>
                    </a:cubicBezTo>
                    <a:cubicBezTo>
                      <a:pt x="985" y="614"/>
                      <a:pt x="1036" y="473"/>
                      <a:pt x="1036" y="395"/>
                    </a:cubicBezTo>
                    <a:cubicBezTo>
                      <a:pt x="1036" y="202"/>
                      <a:pt x="883" y="44"/>
                      <a:pt x="695" y="44"/>
                    </a:cubicBezTo>
                    <a:close/>
                    <a:moveTo>
                      <a:pt x="1344" y="593"/>
                    </a:moveTo>
                    <a:cubicBezTo>
                      <a:pt x="1343" y="591"/>
                      <a:pt x="1343" y="589"/>
                      <a:pt x="1342" y="587"/>
                    </a:cubicBezTo>
                    <a:cubicBezTo>
                      <a:pt x="1081" y="587"/>
                      <a:pt x="1081" y="587"/>
                      <a:pt x="1081" y="587"/>
                    </a:cubicBezTo>
                    <a:cubicBezTo>
                      <a:pt x="1076" y="601"/>
                      <a:pt x="1070" y="616"/>
                      <a:pt x="1064" y="631"/>
                    </a:cubicBezTo>
                    <a:cubicBezTo>
                      <a:pt x="1364" y="631"/>
                      <a:pt x="1364" y="631"/>
                      <a:pt x="1364" y="631"/>
                    </a:cubicBezTo>
                    <a:cubicBezTo>
                      <a:pt x="1357" y="619"/>
                      <a:pt x="1351" y="606"/>
                      <a:pt x="1344" y="593"/>
                    </a:cubicBezTo>
                    <a:close/>
                    <a:moveTo>
                      <a:pt x="2110" y="1377"/>
                    </a:moveTo>
                    <a:cubicBezTo>
                      <a:pt x="1921" y="615"/>
                      <a:pt x="1921" y="615"/>
                      <a:pt x="1921" y="615"/>
                    </a:cubicBezTo>
                    <a:cubicBezTo>
                      <a:pt x="1916" y="596"/>
                      <a:pt x="1894" y="587"/>
                      <a:pt x="1876" y="587"/>
                    </a:cubicBezTo>
                    <a:cubicBezTo>
                      <a:pt x="1739" y="587"/>
                      <a:pt x="1739" y="587"/>
                      <a:pt x="1739" y="587"/>
                    </a:cubicBezTo>
                    <a:cubicBezTo>
                      <a:pt x="1738" y="589"/>
                      <a:pt x="1737" y="591"/>
                      <a:pt x="1736" y="592"/>
                    </a:cubicBezTo>
                    <a:cubicBezTo>
                      <a:pt x="1730" y="605"/>
                      <a:pt x="1723" y="618"/>
                      <a:pt x="1717" y="631"/>
                    </a:cubicBezTo>
                    <a:cubicBezTo>
                      <a:pt x="1876" y="631"/>
                      <a:pt x="1876" y="631"/>
                      <a:pt x="1876" y="631"/>
                    </a:cubicBezTo>
                    <a:cubicBezTo>
                      <a:pt x="1877" y="631"/>
                      <a:pt x="1879" y="631"/>
                      <a:pt x="1880" y="631"/>
                    </a:cubicBezTo>
                    <a:cubicBezTo>
                      <a:pt x="2064" y="1377"/>
                      <a:pt x="2064" y="1377"/>
                      <a:pt x="2064" y="1377"/>
                    </a:cubicBezTo>
                    <a:cubicBezTo>
                      <a:pt x="48" y="1377"/>
                      <a:pt x="48" y="1377"/>
                      <a:pt x="48" y="1377"/>
                    </a:cubicBezTo>
                    <a:cubicBezTo>
                      <a:pt x="232" y="631"/>
                      <a:pt x="232" y="631"/>
                      <a:pt x="232" y="631"/>
                    </a:cubicBezTo>
                    <a:cubicBezTo>
                      <a:pt x="233" y="631"/>
                      <a:pt x="235" y="631"/>
                      <a:pt x="236" y="631"/>
                    </a:cubicBezTo>
                    <a:cubicBezTo>
                      <a:pt x="324" y="631"/>
                      <a:pt x="324" y="631"/>
                      <a:pt x="324" y="631"/>
                    </a:cubicBezTo>
                    <a:cubicBezTo>
                      <a:pt x="318" y="616"/>
                      <a:pt x="312" y="601"/>
                      <a:pt x="307" y="587"/>
                    </a:cubicBezTo>
                    <a:cubicBezTo>
                      <a:pt x="236" y="587"/>
                      <a:pt x="236" y="587"/>
                      <a:pt x="236" y="587"/>
                    </a:cubicBezTo>
                    <a:cubicBezTo>
                      <a:pt x="218" y="587"/>
                      <a:pt x="196" y="596"/>
                      <a:pt x="191" y="615"/>
                    </a:cubicBezTo>
                    <a:cubicBezTo>
                      <a:pt x="2" y="1377"/>
                      <a:pt x="2" y="1377"/>
                      <a:pt x="2" y="1377"/>
                    </a:cubicBezTo>
                    <a:cubicBezTo>
                      <a:pt x="0" y="1387"/>
                      <a:pt x="2" y="1397"/>
                      <a:pt x="8" y="1405"/>
                    </a:cubicBezTo>
                    <a:cubicBezTo>
                      <a:pt x="16" y="1415"/>
                      <a:pt x="30" y="1421"/>
                      <a:pt x="45" y="1421"/>
                    </a:cubicBezTo>
                    <a:cubicBezTo>
                      <a:pt x="2067" y="1421"/>
                      <a:pt x="2067" y="1421"/>
                      <a:pt x="2067" y="1421"/>
                    </a:cubicBezTo>
                    <a:cubicBezTo>
                      <a:pt x="2082" y="1421"/>
                      <a:pt x="2096" y="1415"/>
                      <a:pt x="2104" y="1405"/>
                    </a:cubicBezTo>
                    <a:cubicBezTo>
                      <a:pt x="2110" y="1397"/>
                      <a:pt x="2112" y="1387"/>
                      <a:pt x="2110" y="1377"/>
                    </a:cubicBezTo>
                    <a:close/>
                    <a:moveTo>
                      <a:pt x="1541" y="826"/>
                    </a:moveTo>
                    <a:cubicBezTo>
                      <a:pt x="1529" y="826"/>
                      <a:pt x="1519" y="819"/>
                      <a:pt x="1513" y="810"/>
                    </a:cubicBezTo>
                    <a:cubicBezTo>
                      <a:pt x="1487" y="765"/>
                      <a:pt x="1487" y="765"/>
                      <a:pt x="1487" y="765"/>
                    </a:cubicBezTo>
                    <a:cubicBezTo>
                      <a:pt x="1487" y="764"/>
                      <a:pt x="1435" y="675"/>
                      <a:pt x="1384" y="573"/>
                    </a:cubicBezTo>
                    <a:cubicBezTo>
                      <a:pt x="1310" y="425"/>
                      <a:pt x="1276" y="329"/>
                      <a:pt x="1276" y="270"/>
                    </a:cubicBezTo>
                    <a:cubicBezTo>
                      <a:pt x="1276" y="122"/>
                      <a:pt x="1395" y="0"/>
                      <a:pt x="1541" y="0"/>
                    </a:cubicBezTo>
                    <a:cubicBezTo>
                      <a:pt x="1686" y="0"/>
                      <a:pt x="1804" y="122"/>
                      <a:pt x="1804" y="270"/>
                    </a:cubicBezTo>
                    <a:cubicBezTo>
                      <a:pt x="1804" y="329"/>
                      <a:pt x="1770" y="425"/>
                      <a:pt x="1697" y="573"/>
                    </a:cubicBezTo>
                    <a:cubicBezTo>
                      <a:pt x="1647" y="675"/>
                      <a:pt x="1595" y="764"/>
                      <a:pt x="1594" y="765"/>
                    </a:cubicBezTo>
                    <a:cubicBezTo>
                      <a:pt x="1569" y="809"/>
                      <a:pt x="1569" y="809"/>
                      <a:pt x="1569" y="809"/>
                    </a:cubicBezTo>
                    <a:cubicBezTo>
                      <a:pt x="1563" y="819"/>
                      <a:pt x="1552" y="826"/>
                      <a:pt x="1541" y="826"/>
                    </a:cubicBezTo>
                    <a:cubicBezTo>
                      <a:pt x="1541" y="826"/>
                      <a:pt x="1541" y="826"/>
                      <a:pt x="1541" y="826"/>
                    </a:cubicBezTo>
                    <a:close/>
                    <a:moveTo>
                      <a:pt x="1541" y="44"/>
                    </a:moveTo>
                    <a:cubicBezTo>
                      <a:pt x="1419" y="44"/>
                      <a:pt x="1320" y="146"/>
                      <a:pt x="1320" y="270"/>
                    </a:cubicBezTo>
                    <a:cubicBezTo>
                      <a:pt x="1320" y="321"/>
                      <a:pt x="1354" y="416"/>
                      <a:pt x="1423" y="553"/>
                    </a:cubicBezTo>
                    <a:cubicBezTo>
                      <a:pt x="1474" y="655"/>
                      <a:pt x="1525" y="742"/>
                      <a:pt x="1525" y="743"/>
                    </a:cubicBezTo>
                    <a:cubicBezTo>
                      <a:pt x="1541" y="770"/>
                      <a:pt x="1541" y="770"/>
                      <a:pt x="1541" y="770"/>
                    </a:cubicBezTo>
                    <a:cubicBezTo>
                      <a:pt x="1556" y="743"/>
                      <a:pt x="1556" y="743"/>
                      <a:pt x="1556" y="743"/>
                    </a:cubicBezTo>
                    <a:cubicBezTo>
                      <a:pt x="1557" y="742"/>
                      <a:pt x="1607" y="655"/>
                      <a:pt x="1658" y="553"/>
                    </a:cubicBezTo>
                    <a:cubicBezTo>
                      <a:pt x="1726" y="416"/>
                      <a:pt x="1760" y="321"/>
                      <a:pt x="1760" y="270"/>
                    </a:cubicBezTo>
                    <a:cubicBezTo>
                      <a:pt x="1760" y="146"/>
                      <a:pt x="1662" y="44"/>
                      <a:pt x="1541" y="44"/>
                    </a:cubicBezTo>
                    <a:close/>
                    <a:moveTo>
                      <a:pt x="1548" y="908"/>
                    </a:moveTo>
                    <a:cubicBezTo>
                      <a:pt x="1195" y="908"/>
                      <a:pt x="1195" y="908"/>
                      <a:pt x="1195" y="908"/>
                    </a:cubicBezTo>
                    <a:cubicBezTo>
                      <a:pt x="1172" y="908"/>
                      <a:pt x="1154" y="889"/>
                      <a:pt x="1154" y="867"/>
                    </a:cubicBezTo>
                    <a:cubicBezTo>
                      <a:pt x="1154" y="844"/>
                      <a:pt x="1172" y="826"/>
                      <a:pt x="1195" y="826"/>
                    </a:cubicBezTo>
                    <a:cubicBezTo>
                      <a:pt x="1471" y="826"/>
                      <a:pt x="1471" y="826"/>
                      <a:pt x="1471" y="826"/>
                    </a:cubicBezTo>
                    <a:cubicBezTo>
                      <a:pt x="1449" y="787"/>
                      <a:pt x="1449" y="787"/>
                      <a:pt x="1449" y="787"/>
                    </a:cubicBezTo>
                    <a:cubicBezTo>
                      <a:pt x="1449" y="787"/>
                      <a:pt x="1448" y="785"/>
                      <a:pt x="1446" y="782"/>
                    </a:cubicBezTo>
                    <a:cubicBezTo>
                      <a:pt x="1195" y="782"/>
                      <a:pt x="1195" y="782"/>
                      <a:pt x="1195" y="782"/>
                    </a:cubicBezTo>
                    <a:cubicBezTo>
                      <a:pt x="1148" y="782"/>
                      <a:pt x="1110" y="820"/>
                      <a:pt x="1110" y="867"/>
                    </a:cubicBezTo>
                    <a:cubicBezTo>
                      <a:pt x="1110" y="914"/>
                      <a:pt x="1148" y="952"/>
                      <a:pt x="1195" y="952"/>
                    </a:cubicBezTo>
                    <a:cubicBezTo>
                      <a:pt x="1548" y="952"/>
                      <a:pt x="1548" y="952"/>
                      <a:pt x="1548" y="952"/>
                    </a:cubicBezTo>
                    <a:cubicBezTo>
                      <a:pt x="1609" y="952"/>
                      <a:pt x="1659" y="1002"/>
                      <a:pt x="1659" y="1063"/>
                    </a:cubicBezTo>
                    <a:cubicBezTo>
                      <a:pt x="1659" y="1124"/>
                      <a:pt x="1609" y="1174"/>
                      <a:pt x="1548" y="1174"/>
                    </a:cubicBezTo>
                    <a:cubicBezTo>
                      <a:pt x="793" y="1174"/>
                      <a:pt x="793" y="1174"/>
                      <a:pt x="793" y="1174"/>
                    </a:cubicBezTo>
                    <a:cubicBezTo>
                      <a:pt x="767" y="1218"/>
                      <a:pt x="767" y="1218"/>
                      <a:pt x="767" y="1218"/>
                    </a:cubicBezTo>
                    <a:cubicBezTo>
                      <a:pt x="1548" y="1218"/>
                      <a:pt x="1548" y="1218"/>
                      <a:pt x="1548" y="1218"/>
                    </a:cubicBezTo>
                    <a:cubicBezTo>
                      <a:pt x="1633" y="1218"/>
                      <a:pt x="1703" y="1148"/>
                      <a:pt x="1703" y="1063"/>
                    </a:cubicBezTo>
                    <a:cubicBezTo>
                      <a:pt x="1703" y="977"/>
                      <a:pt x="1633" y="908"/>
                      <a:pt x="1548" y="90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3152" tIns="36576" rIns="73152" bIns="36576"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grpSp>
      </p:grpSp>
      <p:sp>
        <p:nvSpPr>
          <p:cNvPr id="5" name="TextBox 4">
            <a:extLst>
              <a:ext uri="{FF2B5EF4-FFF2-40B4-BE49-F238E27FC236}">
                <a16:creationId xmlns:a16="http://schemas.microsoft.com/office/drawing/2014/main" id="{0B4ACF98-5235-1DF5-A21B-C7119C441121}"/>
              </a:ext>
            </a:extLst>
          </p:cNvPr>
          <p:cNvSpPr txBox="1"/>
          <p:nvPr/>
        </p:nvSpPr>
        <p:spPr>
          <a:xfrm>
            <a:off x="1239572" y="5877696"/>
            <a:ext cx="9712856" cy="369332"/>
          </a:xfrm>
          <a:prstGeom prst="rect">
            <a:avLst/>
          </a:prstGeom>
          <a:noFill/>
        </p:spPr>
        <p:txBody>
          <a:bodyPr wrap="square">
            <a:spAutoFit/>
          </a:bodyPr>
          <a:lstStyle/>
          <a:p>
            <a:r>
              <a:rPr lang="en-US" b="1">
                <a:solidFill>
                  <a:srgbClr val="D763C6"/>
                </a:solidFill>
                <a:latin typeface="Calibri" panose="020F0502020204030204" pitchFamily="34" charset="0"/>
                <a:cs typeface="Calibri" panose="020F0502020204030204" pitchFamily="34" charset="0"/>
              </a:rPr>
              <a:t>To ensure the team in balancing progress against business outcomes, autonomy, and skill mastery</a:t>
            </a:r>
            <a:endParaRPr lang="en-US" b="1">
              <a:solidFill>
                <a:srgbClr val="D763C6"/>
              </a:solidFill>
            </a:endParaRPr>
          </a:p>
        </p:txBody>
      </p:sp>
      <p:sp>
        <p:nvSpPr>
          <p:cNvPr id="9" name="Title 3">
            <a:extLst>
              <a:ext uri="{FF2B5EF4-FFF2-40B4-BE49-F238E27FC236}">
                <a16:creationId xmlns:a16="http://schemas.microsoft.com/office/drawing/2014/main" id="{7DB796C2-0858-F2E1-6301-663A9880F7D6}"/>
              </a:ext>
            </a:extLst>
          </p:cNvPr>
          <p:cNvSpPr txBox="1">
            <a:spLocks/>
          </p:cNvSpPr>
          <p:nvPr/>
        </p:nvSpPr>
        <p:spPr>
          <a:xfrm>
            <a:off x="184150" y="284162"/>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r>
              <a:rPr lang="en-US" sz="2800" cap="none">
                <a:solidFill>
                  <a:schemeClr val="tx1"/>
                </a:solidFill>
              </a:rPr>
              <a:t>Team Leadership Meetings</a:t>
            </a:r>
          </a:p>
        </p:txBody>
      </p:sp>
      <p:sp>
        <p:nvSpPr>
          <p:cNvPr id="10" name="NavigationIcon">
            <a:extLst>
              <a:ext uri="{FF2B5EF4-FFF2-40B4-BE49-F238E27FC236}">
                <a16:creationId xmlns:a16="http://schemas.microsoft.com/office/drawing/2014/main" id="{EA2D4C55-8191-EE8E-C99E-6441F0F0F774}"/>
              </a:ext>
            </a:extLst>
          </p:cNvPr>
          <p:cNvSpPr>
            <a:spLocks noChangeAspect="1" noChangeArrowheads="1"/>
          </p:cNvSpPr>
          <p:nvPr>
            <p:custDataLst>
              <p:tags r:id="rId3"/>
            </p:custDataLst>
          </p:nvPr>
        </p:nvSpPr>
        <p:spPr bwMode="auto">
          <a:xfrm>
            <a:off x="609056" y="901942"/>
            <a:ext cx="365760" cy="365760"/>
          </a:xfrm>
          <a:prstGeom prst="ellipse">
            <a:avLst/>
          </a:prstGeom>
          <a:solidFill>
            <a:schemeClr val="tx1"/>
          </a:solidFill>
          <a:ln>
            <a:noFill/>
          </a:ln>
        </p:spPr>
        <p:txBody>
          <a:bodyPr vert="horz" wrap="square" lIns="123928" tIns="61964" rIns="123928" bIns="61964"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26" b="0" i="0" u="none" strike="noStrike" kern="1200" cap="none" spc="0" normalizeH="0" baseline="0" noProof="0">
                <a:ln>
                  <a:noFill/>
                </a:ln>
                <a:solidFill>
                  <a:schemeClr val="bg1"/>
                </a:solidFill>
                <a:effectLst/>
                <a:uLnTx/>
                <a:uFillTx/>
                <a:latin typeface="Calibri" panose="020F0502020204030204" pitchFamily="34" charset="0"/>
                <a:cs typeface="Calibri" panose="020F0502020204030204" pitchFamily="34" charset="0"/>
              </a:rPr>
              <a:t>F</a:t>
            </a:r>
            <a:endParaRPr kumimoji="0" lang="en-US" sz="1626" b="0" i="0" u="none" strike="noStrike" kern="1200" cap="none" spc="0" normalizeH="0" baseline="0" noProof="0">
              <a:ln>
                <a:noFill/>
              </a:ln>
              <a:solidFill>
                <a:schemeClr val="bg1"/>
              </a:solidFill>
              <a:effectLst/>
              <a:uLnTx/>
              <a:uFillTx/>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74357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 name="Object 46" hidden="1"/>
          <p:cNvGraphicFramePr>
            <a:graphicFrameLocks noChangeAspect="1"/>
          </p:cNvGraphicFramePr>
          <p:nvPr>
            <p:custDataLst>
              <p:tags r:id="rId1"/>
            </p:custDataLst>
          </p:nvPr>
        </p:nvGraphicFramePr>
        <p:xfrm>
          <a:off x="1525467" y="265237"/>
          <a:ext cx="1465" cy="1465"/>
        </p:xfrm>
        <a:graphic>
          <a:graphicData uri="http://schemas.openxmlformats.org/presentationml/2006/ole">
            <mc:AlternateContent xmlns:mc="http://schemas.openxmlformats.org/markup-compatibility/2006">
              <mc:Choice xmlns:v="urn:schemas-microsoft-com:vml" Requires="v">
                <p:oleObj name="think-cell Slide" r:id="rId5" imgW="360" imgH="360" progId="TCLayout.ActiveDocument.1">
                  <p:embed/>
                </p:oleObj>
              </mc:Choice>
              <mc:Fallback>
                <p:oleObj name="think-cell Slide" r:id="rId5" imgW="360" imgH="360" progId="TCLayout.ActiveDocument.1">
                  <p:embed/>
                  <p:pic>
                    <p:nvPicPr>
                      <p:cNvPr id="47" name="Object 46"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5467" y="265237"/>
                        <a:ext cx="1465" cy="14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2" hidden="1"/>
          <p:cNvSpPr/>
          <p:nvPr>
            <p:custDataLst>
              <p:tags r:id="rId2"/>
            </p:custDataLst>
          </p:nvPr>
        </p:nvSpPr>
        <p:spPr>
          <a:xfrm>
            <a:off x="0" y="0"/>
            <a:ext cx="158750" cy="158750"/>
          </a:xfrm>
          <a:prstGeom prst="rect">
            <a:avLst/>
          </a:prstGeom>
          <a:solidFill>
            <a:srgbClr val="E51B24"/>
          </a:solidFill>
          <a:ln w="9525" cap="rnd" cmpd="sng" algn="ctr">
            <a:solidFill>
              <a:srgbClr val="E51B2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Trebuchet MS" panose="020B0603020202020204" pitchFamily="34" charset="0"/>
              <a:ea typeface="+mn-ea"/>
              <a:cs typeface="+mn-cs"/>
              <a:sym typeface="Trebuchet MS" panose="020B0603020202020204" pitchFamily="34" charset="0"/>
            </a:endParaRPr>
          </a:p>
        </p:txBody>
      </p:sp>
      <p:sp>
        <p:nvSpPr>
          <p:cNvPr id="101" name="Rectangle 100">
            <a:extLst>
              <a:ext uri="{FF2B5EF4-FFF2-40B4-BE49-F238E27FC236}">
                <a16:creationId xmlns:a16="http://schemas.microsoft.com/office/drawing/2014/main" id="{EC3D35D7-2D14-48DE-876D-E8BA58AB821D}"/>
              </a:ext>
            </a:extLst>
          </p:cNvPr>
          <p:cNvSpPr/>
          <p:nvPr/>
        </p:nvSpPr>
        <p:spPr>
          <a:xfrm>
            <a:off x="6785446" y="2020702"/>
            <a:ext cx="1583755" cy="998191"/>
          </a:xfrm>
          <a:prstGeom prst="rect">
            <a:avLst/>
          </a:prstGeom>
          <a:noFill/>
          <a:ln w="19050">
            <a:solidFill>
              <a:schemeClr val="bg2">
                <a:lumMod val="9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00" name="Rectangle 99">
            <a:extLst>
              <a:ext uri="{FF2B5EF4-FFF2-40B4-BE49-F238E27FC236}">
                <a16:creationId xmlns:a16="http://schemas.microsoft.com/office/drawing/2014/main" id="{EC3D35D7-2D14-48DE-876D-E8BA58AB821D}"/>
              </a:ext>
            </a:extLst>
          </p:cNvPr>
          <p:cNvSpPr/>
          <p:nvPr/>
        </p:nvSpPr>
        <p:spPr>
          <a:xfrm>
            <a:off x="6710800" y="2096665"/>
            <a:ext cx="1583755" cy="998191"/>
          </a:xfrm>
          <a:prstGeom prst="rect">
            <a:avLst/>
          </a:prstGeom>
          <a:solidFill>
            <a:srgbClr val="FFFFFF"/>
          </a:solidFill>
          <a:ln w="19050">
            <a:solidFill>
              <a:schemeClr val="bg2">
                <a:lumMod val="9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3" name="TextBox 22"/>
          <p:cNvSpPr txBox="1"/>
          <p:nvPr/>
        </p:nvSpPr>
        <p:spPr>
          <a:xfrm>
            <a:off x="511224" y="1292256"/>
            <a:ext cx="5686847" cy="3693319"/>
          </a:xfrm>
          <a:prstGeom prst="rect">
            <a:avLst/>
          </a:prstGeom>
          <a:noFill/>
        </p:spPr>
        <p:txBody>
          <a:bodyPr wrap="square" lIns="0" tIns="0" rIns="0" bIns="0" rtlCol="0" anchor="t">
            <a:spAutoFit/>
          </a:bodyPr>
          <a:lstStyle/>
          <a:p>
            <a:pPr marL="126000" marR="0" lvl="1" indent="0" algn="l"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AU" sz="1600" b="1" i="0" u="none" strike="noStrike" kern="1200" cap="none" spc="0" normalizeH="0" baseline="0" noProof="0">
                <a:ln>
                  <a:noFill/>
                </a:ln>
                <a:solidFill>
                  <a:srgbClr val="E51B24"/>
                </a:solidFill>
                <a:effectLst/>
                <a:uLnTx/>
                <a:uFillTx/>
                <a:latin typeface="Calibri" panose="020F0502020204030204" pitchFamily="34" charset="0"/>
                <a:cs typeface="Calibri" panose="020F0502020204030204" pitchFamily="34" charset="0"/>
              </a:rPr>
              <a:t>What is the Scrum of Scrums?</a:t>
            </a:r>
          </a:p>
          <a:p>
            <a:pPr marL="126000" marR="0" lvl="1" indent="0" algn="l"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AU" sz="1600" b="0" i="0" u="none" strike="noStrike" kern="1200" cap="none" spc="0" normalizeH="0" baseline="0" noProof="0">
                <a:ln>
                  <a:noFill/>
                </a:ln>
                <a:solidFill>
                  <a:srgbClr val="5B6770">
                    <a:lumMod val="100000"/>
                  </a:srgbClr>
                </a:solidFill>
                <a:effectLst/>
                <a:uLnTx/>
                <a:uFillTx/>
                <a:latin typeface="Calibri" panose="020F0502020204030204" pitchFamily="34" charset="0"/>
                <a:cs typeface="Calibri" panose="020F0502020204030204" pitchFamily="34" charset="0"/>
              </a:rPr>
              <a:t>A coordination meeting between representatives of multiple Teams (often Agile Product Owners and Scrum Masters) that have many dependencies to gain operational alignment </a:t>
            </a:r>
          </a:p>
          <a:p>
            <a:pPr marL="126000" marR="0" lvl="1" indent="0" algn="l" defTabSz="914400" rtl="0" eaLnBrk="1" fontAlgn="auto" latinLnBrk="0" hangingPunct="1">
              <a:lnSpc>
                <a:spcPct val="100000"/>
              </a:lnSpc>
              <a:spcBef>
                <a:spcPts val="0"/>
              </a:spcBef>
              <a:spcAft>
                <a:spcPts val="0"/>
              </a:spcAft>
              <a:buClr>
                <a:srgbClr val="E51B24">
                  <a:lumMod val="100000"/>
                </a:srgbClr>
              </a:buClr>
              <a:buSzPct val="100000"/>
              <a:buFontTx/>
              <a:buNone/>
              <a:tabLst/>
              <a:defRPr/>
            </a:pPr>
            <a:endParaRPr kumimoji="0" lang="en-AU" sz="1600" b="0" i="0" u="none" strike="noStrike" kern="1200" cap="none" spc="0" normalizeH="0" baseline="0" noProof="0">
              <a:ln>
                <a:noFill/>
              </a:ln>
              <a:solidFill>
                <a:srgbClr val="5B6770">
                  <a:lumMod val="100000"/>
                </a:srgbClr>
              </a:solidFill>
              <a:effectLst/>
              <a:uLnTx/>
              <a:uFillTx/>
              <a:latin typeface="Calibri" panose="020F0502020204030204" pitchFamily="34" charset="0"/>
              <a:cs typeface="Calibri" panose="020F0502020204030204" pitchFamily="34" charset="0"/>
            </a:endParaRPr>
          </a:p>
          <a:p>
            <a:pPr marL="126000" marR="0" lvl="1" indent="0" algn="l"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AU" sz="1600" b="1" i="0" u="none" strike="noStrike" kern="1200" cap="none" spc="0" normalizeH="0" baseline="0" noProof="0">
                <a:ln>
                  <a:noFill/>
                </a:ln>
                <a:solidFill>
                  <a:srgbClr val="E51B24"/>
                </a:solidFill>
                <a:effectLst/>
                <a:uLnTx/>
                <a:uFillTx/>
                <a:latin typeface="Calibri" panose="020F0502020204030204" pitchFamily="34" charset="0"/>
                <a:cs typeface="Calibri" panose="020F0502020204030204" pitchFamily="34" charset="0"/>
              </a:rPr>
              <a:t>Why do we have a Scrum of Scrums?</a:t>
            </a:r>
          </a:p>
          <a:p>
            <a:pPr marL="378000" marR="0" lvl="1" indent="-252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600" b="0" i="0" u="none" strike="noStrike" kern="1200" cap="none" spc="0" normalizeH="0" baseline="0" noProof="0">
                <a:ln>
                  <a:noFill/>
                </a:ln>
                <a:solidFill>
                  <a:srgbClr val="5B6770">
                    <a:lumMod val="100000"/>
                  </a:srgbClr>
                </a:solidFill>
                <a:effectLst/>
                <a:uLnTx/>
                <a:uFillTx/>
                <a:latin typeface="Calibri" panose="020F0502020204030204" pitchFamily="34" charset="0"/>
                <a:cs typeface="Calibri" panose="020F0502020204030204" pitchFamily="34" charset="0"/>
              </a:rPr>
              <a:t>We need to create a common understanding of shared outcomes for current and upcoming sprints</a:t>
            </a:r>
          </a:p>
          <a:p>
            <a:pPr marL="378000" marR="0" lvl="1" indent="-252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600" b="0" i="0" u="none" strike="noStrike" kern="1200" cap="none" spc="0" normalizeH="0" baseline="0" noProof="0">
                <a:ln>
                  <a:noFill/>
                </a:ln>
                <a:solidFill>
                  <a:srgbClr val="5B6770">
                    <a:lumMod val="100000"/>
                  </a:srgbClr>
                </a:solidFill>
                <a:effectLst/>
                <a:uLnTx/>
                <a:uFillTx/>
                <a:latin typeface="Calibri" panose="020F0502020204030204" pitchFamily="34" charset="0"/>
                <a:cs typeface="Calibri" panose="020F0502020204030204" pitchFamily="34" charset="0"/>
              </a:rPr>
              <a:t>We need to align and adjust work (e.g., features and stories) to coordinate between teams that have dependencies</a:t>
            </a:r>
          </a:p>
          <a:p>
            <a:pPr marL="126000" marR="0" lvl="1" indent="0" algn="l" defTabSz="914400" rtl="0" eaLnBrk="1" fontAlgn="auto" latinLnBrk="0" hangingPunct="1">
              <a:lnSpc>
                <a:spcPct val="100000"/>
              </a:lnSpc>
              <a:spcBef>
                <a:spcPts val="0"/>
              </a:spcBef>
              <a:spcAft>
                <a:spcPts val="0"/>
              </a:spcAft>
              <a:buClr>
                <a:srgbClr val="E51B24">
                  <a:lumMod val="100000"/>
                </a:srgbClr>
              </a:buClr>
              <a:buSzPct val="100000"/>
              <a:buFontTx/>
              <a:buNone/>
              <a:tabLst/>
              <a:defRPr/>
            </a:pPr>
            <a:endParaRPr kumimoji="0" lang="en-US" sz="1600" b="0" i="0" u="none" strike="noStrike" kern="1200" cap="none" spc="0" normalizeH="0" baseline="0" noProof="0">
              <a:ln>
                <a:noFill/>
              </a:ln>
              <a:solidFill>
                <a:srgbClr val="5B6770">
                  <a:lumMod val="100000"/>
                </a:srgbClr>
              </a:solidFill>
              <a:effectLst/>
              <a:uLnTx/>
              <a:uFillTx/>
              <a:latin typeface="Calibri" panose="020F0502020204030204" pitchFamily="34" charset="0"/>
              <a:cs typeface="Calibri" panose="020F0502020204030204" pitchFamily="34" charset="0"/>
            </a:endParaRPr>
          </a:p>
          <a:p>
            <a:pPr marL="126000" marR="0" lvl="1" indent="0" algn="l"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AU" sz="1600" b="1" i="0" u="none" strike="noStrike" kern="1200" cap="none" spc="0" normalizeH="0" baseline="0" noProof="0">
                <a:ln>
                  <a:noFill/>
                </a:ln>
                <a:solidFill>
                  <a:srgbClr val="E51B24"/>
                </a:solidFill>
                <a:effectLst/>
                <a:uLnTx/>
                <a:uFillTx/>
                <a:latin typeface="Calibri" panose="020F0502020204030204" pitchFamily="34" charset="0"/>
                <a:cs typeface="Calibri" panose="020F0502020204030204" pitchFamily="34" charset="0"/>
              </a:rPr>
              <a:t>Who participates in the Scrum of Scrums?</a:t>
            </a:r>
          </a:p>
          <a:p>
            <a:pPr marL="432000" marR="0" lvl="1" indent="-288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AU" sz="1600" b="0" i="0" u="none" strike="noStrike" kern="1200" cap="none" spc="0" normalizeH="0" baseline="0" noProof="0">
                <a:ln>
                  <a:noFill/>
                </a:ln>
                <a:solidFill>
                  <a:srgbClr val="5B6770">
                    <a:lumMod val="100000"/>
                  </a:srgbClr>
                </a:solidFill>
                <a:effectLst/>
                <a:uLnTx/>
                <a:uFillTx/>
                <a:latin typeface="Calibri" panose="020F0502020204030204" pitchFamily="34" charset="0"/>
                <a:cs typeface="Calibri" panose="020F0502020204030204" pitchFamily="34" charset="0"/>
              </a:rPr>
              <a:t>One or more representatives from each team who can most effectively discuss the Team’s work.  This is often Agile Product Owners and/or Scrum Masters</a:t>
            </a:r>
          </a:p>
        </p:txBody>
      </p:sp>
      <p:cxnSp>
        <p:nvCxnSpPr>
          <p:cNvPr id="42" name="Straight Connector 41"/>
          <p:cNvCxnSpPr>
            <a:cxnSpLocks/>
          </p:cNvCxnSpPr>
          <p:nvPr/>
        </p:nvCxnSpPr>
        <p:spPr>
          <a:xfrm>
            <a:off x="6369916" y="1484465"/>
            <a:ext cx="93946" cy="4517896"/>
          </a:xfrm>
          <a:prstGeom prst="line">
            <a:avLst/>
          </a:prstGeom>
          <a:ln w="9525" cap="rnd">
            <a:solidFill>
              <a:schemeClr val="tx1">
                <a:lumMod val="60000"/>
                <a:lumOff val="40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6541762" y="1315188"/>
            <a:ext cx="3952223" cy="33855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185"/>
              </a:spcAft>
              <a:buClr>
                <a:srgbClr val="5BC6E8"/>
              </a:buClr>
              <a:buSzPct val="100000"/>
              <a:buFontTx/>
              <a:buNone/>
              <a:tabLst/>
              <a:defRPr/>
            </a:pPr>
            <a:r>
              <a:rPr kumimoji="0" lang="en-AU" sz="1600" b="1" i="0" u="none" strike="noStrike" kern="1200" cap="none" spc="0" normalizeH="0" baseline="0" noProof="0">
                <a:ln>
                  <a:noFill/>
                </a:ln>
                <a:solidFill>
                  <a:srgbClr val="E51B24"/>
                </a:solidFill>
                <a:effectLst/>
                <a:uLnTx/>
                <a:uFillTx/>
                <a:latin typeface="Calibri" panose="020F0502020204030204" pitchFamily="34" charset="0"/>
                <a:cs typeface="Calibri" panose="020F0502020204030204" pitchFamily="34" charset="0"/>
              </a:rPr>
              <a:t>Key topics for Scrum of Scrums</a:t>
            </a:r>
          </a:p>
        </p:txBody>
      </p:sp>
      <p:sp>
        <p:nvSpPr>
          <p:cNvPr id="64" name="TextBox 63"/>
          <p:cNvSpPr txBox="1"/>
          <p:nvPr/>
        </p:nvSpPr>
        <p:spPr>
          <a:xfrm>
            <a:off x="8369201" y="1903262"/>
            <a:ext cx="3593695" cy="160043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62000" marR="0" lvl="1" indent="0" algn="l"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1400" b="0" i="0" u="none" strike="noStrike" kern="1200" cap="none" spc="0" normalizeH="0" baseline="0" noProof="0">
                <a:ln>
                  <a:noFill/>
                </a:ln>
                <a:solidFill>
                  <a:srgbClr val="5B6770">
                    <a:lumMod val="100000"/>
                  </a:srgbClr>
                </a:solidFill>
                <a:effectLst/>
                <a:uLnTx/>
                <a:uFillTx/>
                <a:latin typeface="Calibri" panose="020F0502020204030204" pitchFamily="34" charset="0"/>
                <a:cs typeface="Calibri" panose="020F0502020204030204" pitchFamily="34" charset="0"/>
              </a:rPr>
              <a:t>Team representative discusses progress:</a:t>
            </a:r>
          </a:p>
          <a:p>
            <a:pPr marL="486000" marR="0" lvl="1" indent="-324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400" b="0" i="0" u="none" strike="noStrike" kern="1200" cap="none" spc="0" normalizeH="0" baseline="0" noProof="0">
                <a:ln>
                  <a:noFill/>
                </a:ln>
                <a:solidFill>
                  <a:srgbClr val="5B6770">
                    <a:lumMod val="100000"/>
                  </a:srgbClr>
                </a:solidFill>
                <a:effectLst/>
                <a:uLnTx/>
                <a:uFillTx/>
                <a:latin typeface="Calibri" panose="020F0502020204030204" pitchFamily="34" charset="0"/>
                <a:cs typeface="Calibri" panose="020F0502020204030204" pitchFamily="34" charset="0"/>
              </a:rPr>
              <a:t>Are we aligned to deliver our outcomes this sprint?</a:t>
            </a:r>
          </a:p>
          <a:p>
            <a:pPr marL="486000" marR="0" lvl="1" indent="-324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400" b="0" i="0" u="none" strike="noStrike" kern="1200" cap="none" spc="0" normalizeH="0" baseline="0" noProof="0">
                <a:ln>
                  <a:noFill/>
                </a:ln>
                <a:solidFill>
                  <a:srgbClr val="5B6770">
                    <a:lumMod val="100000"/>
                  </a:srgbClr>
                </a:solidFill>
                <a:effectLst/>
                <a:uLnTx/>
                <a:uFillTx/>
                <a:latin typeface="Calibri" panose="020F0502020204030204" pitchFamily="34" charset="0"/>
                <a:cs typeface="Calibri" panose="020F0502020204030204" pitchFamily="34" charset="0"/>
              </a:rPr>
              <a:t>Is work being delivered by our dependent teams?</a:t>
            </a:r>
          </a:p>
          <a:p>
            <a:pPr marL="486000" marR="0" lvl="1" indent="-324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400" b="0" i="0" u="none" strike="noStrike" kern="1200" cap="none" spc="0" normalizeH="0" baseline="0" noProof="0">
                <a:ln>
                  <a:noFill/>
                </a:ln>
                <a:solidFill>
                  <a:srgbClr val="5B6770">
                    <a:lumMod val="100000"/>
                  </a:srgbClr>
                </a:solidFill>
                <a:effectLst/>
                <a:uLnTx/>
                <a:uFillTx/>
                <a:latin typeface="Calibri" panose="020F0502020204030204" pitchFamily="34" charset="0"/>
                <a:cs typeface="Calibri" panose="020F0502020204030204" pitchFamily="34" charset="0"/>
              </a:rPr>
              <a:t>Is anything slowing you down or preventing progress?</a:t>
            </a:r>
          </a:p>
        </p:txBody>
      </p:sp>
      <p:grpSp>
        <p:nvGrpSpPr>
          <p:cNvPr id="80" name="Group 79"/>
          <p:cNvGrpSpPr/>
          <p:nvPr/>
        </p:nvGrpSpPr>
        <p:grpSpPr>
          <a:xfrm rot="5194849">
            <a:off x="9890411" y="3775099"/>
            <a:ext cx="138996" cy="145552"/>
            <a:chOff x="7896709" y="213753"/>
            <a:chExt cx="138996" cy="145552"/>
          </a:xfrm>
        </p:grpSpPr>
        <p:sp>
          <p:nvSpPr>
            <p:cNvPr id="81" name="Freeform 80"/>
            <p:cNvSpPr/>
            <p:nvPr/>
          </p:nvSpPr>
          <p:spPr>
            <a:xfrm flipH="1">
              <a:off x="7896709" y="213753"/>
              <a:ext cx="58323" cy="145552"/>
            </a:xfrm>
            <a:custGeom>
              <a:avLst/>
              <a:gdLst>
                <a:gd name="connsiteX0" fmla="*/ 85917 w 98190"/>
                <a:gd name="connsiteY0" fmla="*/ 0 h 184107"/>
                <a:gd name="connsiteX1" fmla="*/ 0 w 98190"/>
                <a:gd name="connsiteY1" fmla="*/ 98191 h 184107"/>
                <a:gd name="connsiteX2" fmla="*/ 98190 w 98190"/>
                <a:gd name="connsiteY2" fmla="*/ 184107 h 184107"/>
              </a:gdLst>
              <a:ahLst/>
              <a:cxnLst>
                <a:cxn ang="0">
                  <a:pos x="connsiteX0" y="connsiteY0"/>
                </a:cxn>
                <a:cxn ang="0">
                  <a:pos x="connsiteX1" y="connsiteY1"/>
                </a:cxn>
                <a:cxn ang="0">
                  <a:pos x="connsiteX2" y="connsiteY2"/>
                </a:cxn>
              </a:cxnLst>
              <a:rect l="l" t="t" r="r" b="b"/>
              <a:pathLst>
                <a:path w="98190" h="184107">
                  <a:moveTo>
                    <a:pt x="85917" y="0"/>
                  </a:moveTo>
                  <a:lnTo>
                    <a:pt x="0" y="98191"/>
                  </a:lnTo>
                  <a:lnTo>
                    <a:pt x="98190" y="184107"/>
                  </a:lnTo>
                </a:path>
              </a:pathLst>
            </a:custGeom>
            <a:noFill/>
            <a:ln w="19050" cap="flat" cmpd="sng" algn="ctr">
              <a:solidFill>
                <a:srgbClr val="E51B24"/>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62" b="0" i="0" u="none" strike="noStrike" kern="1200" cap="none" spc="0" normalizeH="0" baseline="0" noProof="0">
                <a:ln>
                  <a:noFill/>
                </a:ln>
                <a:solidFill>
                  <a:srgbClr val="29BA74"/>
                </a:solidFill>
                <a:effectLst/>
                <a:uLnTx/>
                <a:uFillTx/>
                <a:latin typeface="Calibri" panose="020F0502020204030204" pitchFamily="34" charset="0"/>
                <a:cs typeface="Calibri" panose="020F0502020204030204" pitchFamily="34" charset="0"/>
              </a:endParaRPr>
            </a:p>
          </p:txBody>
        </p:sp>
        <p:sp>
          <p:nvSpPr>
            <p:cNvPr id="82" name="Freeform 81"/>
            <p:cNvSpPr/>
            <p:nvPr/>
          </p:nvSpPr>
          <p:spPr>
            <a:xfrm flipH="1">
              <a:off x="7977382" y="213753"/>
              <a:ext cx="58323" cy="145552"/>
            </a:xfrm>
            <a:custGeom>
              <a:avLst/>
              <a:gdLst>
                <a:gd name="connsiteX0" fmla="*/ 85917 w 98190"/>
                <a:gd name="connsiteY0" fmla="*/ 0 h 184107"/>
                <a:gd name="connsiteX1" fmla="*/ 0 w 98190"/>
                <a:gd name="connsiteY1" fmla="*/ 98191 h 184107"/>
                <a:gd name="connsiteX2" fmla="*/ 98190 w 98190"/>
                <a:gd name="connsiteY2" fmla="*/ 184107 h 184107"/>
              </a:gdLst>
              <a:ahLst/>
              <a:cxnLst>
                <a:cxn ang="0">
                  <a:pos x="connsiteX0" y="connsiteY0"/>
                </a:cxn>
                <a:cxn ang="0">
                  <a:pos x="connsiteX1" y="connsiteY1"/>
                </a:cxn>
                <a:cxn ang="0">
                  <a:pos x="connsiteX2" y="connsiteY2"/>
                </a:cxn>
              </a:cxnLst>
              <a:rect l="l" t="t" r="r" b="b"/>
              <a:pathLst>
                <a:path w="98190" h="184107">
                  <a:moveTo>
                    <a:pt x="85917" y="0"/>
                  </a:moveTo>
                  <a:lnTo>
                    <a:pt x="0" y="98191"/>
                  </a:lnTo>
                  <a:lnTo>
                    <a:pt x="98190" y="184107"/>
                  </a:lnTo>
                </a:path>
              </a:pathLst>
            </a:custGeom>
            <a:noFill/>
            <a:ln w="19050" cap="flat" cmpd="sng" algn="ctr">
              <a:solidFill>
                <a:srgbClr val="E51B24"/>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62" b="0" i="0" u="none" strike="noStrike" kern="1200" cap="none" spc="0" normalizeH="0" baseline="0" noProof="0">
                <a:ln>
                  <a:noFill/>
                </a:ln>
                <a:solidFill>
                  <a:srgbClr val="29BA74"/>
                </a:solidFill>
                <a:effectLst/>
                <a:uLnTx/>
                <a:uFillTx/>
                <a:latin typeface="Calibri" panose="020F0502020204030204" pitchFamily="34" charset="0"/>
                <a:cs typeface="Calibri" panose="020F0502020204030204" pitchFamily="34" charset="0"/>
              </a:endParaRPr>
            </a:p>
          </p:txBody>
        </p:sp>
      </p:grpSp>
      <p:sp>
        <p:nvSpPr>
          <p:cNvPr id="94" name="Rectangle 93">
            <a:extLst>
              <a:ext uri="{FF2B5EF4-FFF2-40B4-BE49-F238E27FC236}">
                <a16:creationId xmlns:a16="http://schemas.microsoft.com/office/drawing/2014/main" id="{EC3D35D7-2D14-48DE-876D-E8BA58AB821D}"/>
              </a:ext>
            </a:extLst>
          </p:cNvPr>
          <p:cNvSpPr/>
          <p:nvPr/>
        </p:nvSpPr>
        <p:spPr>
          <a:xfrm>
            <a:off x="6622112" y="2166050"/>
            <a:ext cx="1583755" cy="998191"/>
          </a:xfrm>
          <a:prstGeom prst="rect">
            <a:avLst/>
          </a:prstGeom>
          <a:solidFill>
            <a:srgbClr val="FFFFFF"/>
          </a:solidFill>
          <a:ln w="19050">
            <a:solidFill>
              <a:schemeClr val="bg2">
                <a:lumMod val="9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95" name="TextBox 94"/>
          <p:cNvSpPr txBox="1"/>
          <p:nvPr/>
        </p:nvSpPr>
        <p:spPr>
          <a:xfrm>
            <a:off x="7055769" y="1830036"/>
            <a:ext cx="978486" cy="152349"/>
          </a:xfrm>
          <a:prstGeom prst="rect">
            <a:avLst/>
          </a:prstGeom>
          <a:solidFill>
            <a:schemeClr val="bg1"/>
          </a:solidFill>
        </p:spPr>
        <p:txBody>
          <a:bodyPr wrap="square" lIns="0" tIns="0" rIns="0" bIns="0" rtlCol="0" anchor="ctr">
            <a:spAutoFit/>
          </a:bodyPr>
          <a:lstStyle>
            <a:defPPr>
              <a:defRPr lang="en-US"/>
            </a:defPPr>
            <a:lvl1pPr algn="ctr">
              <a:lnSpc>
                <a:spcPct val="90000"/>
              </a:lnSpc>
              <a:defRPr sz="2400">
                <a:solidFill>
                  <a:schemeClr val="tx2"/>
                </a:solidFill>
                <a:latin typeface="Italo Medium" panose="02000000000000000000" pitchFamily="2" charset="0"/>
                <a:cs typeface="Arial" pitchFamily="34" charset="0"/>
              </a:defRPr>
            </a:lvl1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AU" sz="1100" b="0" i="0" u="none" strike="noStrike" kern="1200" cap="none" spc="0" normalizeH="0" baseline="0" noProof="0">
                <a:ln>
                  <a:noFill/>
                </a:ln>
                <a:solidFill>
                  <a:srgbClr val="575757"/>
                </a:solidFill>
                <a:effectLst/>
                <a:uLnTx/>
                <a:uFillTx/>
                <a:latin typeface="Calibri" panose="020F0502020204030204" pitchFamily="34" charset="0"/>
                <a:cs typeface="Calibri" panose="020F0502020204030204" pitchFamily="34" charset="0"/>
              </a:rPr>
              <a:t>Sprint Boards</a:t>
            </a:r>
          </a:p>
        </p:txBody>
      </p:sp>
      <p:sp>
        <p:nvSpPr>
          <p:cNvPr id="85" name="Freeform: Shape 76">
            <a:extLst>
              <a:ext uri="{FF2B5EF4-FFF2-40B4-BE49-F238E27FC236}">
                <a16:creationId xmlns:a16="http://schemas.microsoft.com/office/drawing/2014/main" id="{3C9E493A-DEF5-4C5D-B348-651236B5B25F}"/>
              </a:ext>
            </a:extLst>
          </p:cNvPr>
          <p:cNvSpPr/>
          <p:nvPr/>
        </p:nvSpPr>
        <p:spPr>
          <a:xfrm>
            <a:off x="7292470" y="2387829"/>
            <a:ext cx="182880" cy="182880"/>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chemeClr val="bg2">
              <a:lumMod val="9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86" name="Freeform: Shape 76">
            <a:extLst>
              <a:ext uri="{FF2B5EF4-FFF2-40B4-BE49-F238E27FC236}">
                <a16:creationId xmlns:a16="http://schemas.microsoft.com/office/drawing/2014/main" id="{3C9E493A-DEF5-4C5D-B348-651236B5B25F}"/>
              </a:ext>
            </a:extLst>
          </p:cNvPr>
          <p:cNvSpPr/>
          <p:nvPr/>
        </p:nvSpPr>
        <p:spPr>
          <a:xfrm>
            <a:off x="6765900" y="2387829"/>
            <a:ext cx="182880" cy="182880"/>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chemeClr val="bg2">
              <a:lumMod val="9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87" name="Freeform: Shape 76">
            <a:extLst>
              <a:ext uri="{FF2B5EF4-FFF2-40B4-BE49-F238E27FC236}">
                <a16:creationId xmlns:a16="http://schemas.microsoft.com/office/drawing/2014/main" id="{3C9E493A-DEF5-4C5D-B348-651236B5B25F}"/>
              </a:ext>
            </a:extLst>
          </p:cNvPr>
          <p:cNvSpPr/>
          <p:nvPr/>
        </p:nvSpPr>
        <p:spPr>
          <a:xfrm>
            <a:off x="7839140" y="2387829"/>
            <a:ext cx="182880" cy="182880"/>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BB151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88" name="Freeform: Shape 76">
            <a:extLst>
              <a:ext uri="{FF2B5EF4-FFF2-40B4-BE49-F238E27FC236}">
                <a16:creationId xmlns:a16="http://schemas.microsoft.com/office/drawing/2014/main" id="{3C9E493A-DEF5-4C5D-B348-651236B5B25F}"/>
              </a:ext>
            </a:extLst>
          </p:cNvPr>
          <p:cNvSpPr/>
          <p:nvPr/>
        </p:nvSpPr>
        <p:spPr>
          <a:xfrm>
            <a:off x="7292470" y="2626496"/>
            <a:ext cx="182880" cy="182880"/>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chemeClr val="bg2">
              <a:lumMod val="9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89" name="Freeform: Shape 76">
            <a:extLst>
              <a:ext uri="{FF2B5EF4-FFF2-40B4-BE49-F238E27FC236}">
                <a16:creationId xmlns:a16="http://schemas.microsoft.com/office/drawing/2014/main" id="{3C9E493A-DEF5-4C5D-B348-651236B5B25F}"/>
              </a:ext>
            </a:extLst>
          </p:cNvPr>
          <p:cNvSpPr/>
          <p:nvPr/>
        </p:nvSpPr>
        <p:spPr>
          <a:xfrm>
            <a:off x="6765900" y="2626496"/>
            <a:ext cx="182880" cy="182880"/>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BB151D"/>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90" name="Freeform: Shape 76">
            <a:extLst>
              <a:ext uri="{FF2B5EF4-FFF2-40B4-BE49-F238E27FC236}">
                <a16:creationId xmlns:a16="http://schemas.microsoft.com/office/drawing/2014/main" id="{3C9E493A-DEF5-4C5D-B348-651236B5B25F}"/>
              </a:ext>
            </a:extLst>
          </p:cNvPr>
          <p:cNvSpPr/>
          <p:nvPr/>
        </p:nvSpPr>
        <p:spPr>
          <a:xfrm>
            <a:off x="6765900" y="2873620"/>
            <a:ext cx="182880" cy="182880"/>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chemeClr val="bg2">
              <a:lumMod val="9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endParaRPr>
          </a:p>
        </p:txBody>
      </p:sp>
      <p:sp>
        <p:nvSpPr>
          <p:cNvPr id="91" name="Rectangle 90"/>
          <p:cNvSpPr/>
          <p:nvPr/>
        </p:nvSpPr>
        <p:spPr>
          <a:xfrm>
            <a:off x="6713069" y="2216114"/>
            <a:ext cx="288541" cy="153888"/>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000" b="0" i="1"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rPr>
              <a:t>To do</a:t>
            </a:r>
          </a:p>
        </p:txBody>
      </p:sp>
      <p:sp>
        <p:nvSpPr>
          <p:cNvPr id="92" name="Rectangle 91"/>
          <p:cNvSpPr/>
          <p:nvPr/>
        </p:nvSpPr>
        <p:spPr>
          <a:xfrm>
            <a:off x="7231624" y="2216114"/>
            <a:ext cx="304571" cy="153888"/>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000" b="0" i="1"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rPr>
              <a:t>Doing</a:t>
            </a:r>
          </a:p>
        </p:txBody>
      </p:sp>
      <p:sp>
        <p:nvSpPr>
          <p:cNvPr id="93" name="Rectangle 92"/>
          <p:cNvSpPr/>
          <p:nvPr/>
        </p:nvSpPr>
        <p:spPr>
          <a:xfrm>
            <a:off x="7795125" y="2216114"/>
            <a:ext cx="270908" cy="153888"/>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000" b="0" i="1" u="none" strike="noStrike" kern="1200" cap="none" spc="0" normalizeH="0" baseline="0" noProof="0">
                <a:ln>
                  <a:noFill/>
                </a:ln>
                <a:solidFill>
                  <a:srgbClr val="5B6770"/>
                </a:solidFill>
                <a:effectLst/>
                <a:uLnTx/>
                <a:uFillTx/>
                <a:latin typeface="Calibri" panose="020F0502020204030204" pitchFamily="34" charset="0"/>
                <a:cs typeface="Calibri" panose="020F0502020204030204" pitchFamily="34" charset="0"/>
              </a:rPr>
              <a:t>Done</a:t>
            </a:r>
          </a:p>
        </p:txBody>
      </p:sp>
      <p:sp>
        <p:nvSpPr>
          <p:cNvPr id="97" name="Folded Corner 96"/>
          <p:cNvSpPr/>
          <p:nvPr/>
        </p:nvSpPr>
        <p:spPr>
          <a:xfrm>
            <a:off x="6853080" y="2465962"/>
            <a:ext cx="294749" cy="93770"/>
          </a:xfrm>
          <a:prstGeom prst="foldedCorner">
            <a:avLst/>
          </a:prstGeom>
          <a:solidFill>
            <a:schemeClr val="accent3">
              <a:lumMod val="20000"/>
              <a:lumOff val="80000"/>
            </a:schemeClr>
          </a:solidFill>
          <a:ln w="9525" cap="rnd" cmpd="sng" algn="ctr">
            <a:solidFill>
              <a:schemeClr val="accent3">
                <a:lumMod val="50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18288" rIns="9144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830F15"/>
                </a:solidFill>
                <a:effectLst/>
                <a:uLnTx/>
                <a:uFillTx/>
                <a:latin typeface="Calibri" panose="020F0502020204030204" pitchFamily="34" charset="0"/>
                <a:cs typeface="Calibri" panose="020F0502020204030204" pitchFamily="34" charset="0"/>
              </a:rPr>
              <a:t>Sanjeev</a:t>
            </a:r>
          </a:p>
        </p:txBody>
      </p:sp>
      <p:sp>
        <p:nvSpPr>
          <p:cNvPr id="99" name="Folded Corner 98"/>
          <p:cNvSpPr/>
          <p:nvPr/>
        </p:nvSpPr>
        <p:spPr>
          <a:xfrm>
            <a:off x="6891741" y="2938505"/>
            <a:ext cx="217426" cy="93770"/>
          </a:xfrm>
          <a:prstGeom prst="foldedCorner">
            <a:avLst/>
          </a:prstGeom>
          <a:solidFill>
            <a:schemeClr val="accent3">
              <a:lumMod val="20000"/>
              <a:lumOff val="80000"/>
            </a:schemeClr>
          </a:solidFill>
          <a:ln w="9525" cap="rnd" cmpd="sng" algn="ctr">
            <a:solidFill>
              <a:schemeClr val="accent3">
                <a:lumMod val="50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18288" rIns="9144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830F15"/>
                </a:solidFill>
                <a:effectLst/>
                <a:uLnTx/>
                <a:uFillTx/>
                <a:latin typeface="Calibri" panose="020F0502020204030204" pitchFamily="34" charset="0"/>
                <a:cs typeface="Calibri" panose="020F0502020204030204" pitchFamily="34" charset="0"/>
              </a:rPr>
              <a:t>John</a:t>
            </a:r>
          </a:p>
        </p:txBody>
      </p:sp>
      <p:sp>
        <p:nvSpPr>
          <p:cNvPr id="98" name="Folded Corner 97"/>
          <p:cNvSpPr/>
          <p:nvPr/>
        </p:nvSpPr>
        <p:spPr>
          <a:xfrm>
            <a:off x="6882734" y="2707722"/>
            <a:ext cx="235441" cy="93770"/>
          </a:xfrm>
          <a:prstGeom prst="foldedCorner">
            <a:avLst/>
          </a:prstGeom>
          <a:solidFill>
            <a:schemeClr val="accent3">
              <a:lumMod val="20000"/>
              <a:lumOff val="80000"/>
            </a:schemeClr>
          </a:solidFill>
          <a:ln w="9525" cap="rnd" cmpd="sng" algn="ctr">
            <a:solidFill>
              <a:schemeClr val="accent3">
                <a:lumMod val="50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18288" rIns="9144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830F15"/>
                </a:solidFill>
                <a:effectLst/>
                <a:uLnTx/>
                <a:uFillTx/>
                <a:latin typeface="Calibri" panose="020F0502020204030204" pitchFamily="34" charset="0"/>
                <a:cs typeface="Calibri" panose="020F0502020204030204" pitchFamily="34" charset="0"/>
              </a:rPr>
              <a:t>Ilyse</a:t>
            </a:r>
          </a:p>
        </p:txBody>
      </p:sp>
      <p:grpSp>
        <p:nvGrpSpPr>
          <p:cNvPr id="10" name="Group 9"/>
          <p:cNvGrpSpPr/>
          <p:nvPr/>
        </p:nvGrpSpPr>
        <p:grpSpPr>
          <a:xfrm>
            <a:off x="6622112" y="3969889"/>
            <a:ext cx="1751973" cy="1369824"/>
            <a:chOff x="6797360" y="4589008"/>
            <a:chExt cx="1751973" cy="1369824"/>
          </a:xfrm>
        </p:grpSpPr>
        <p:sp>
          <p:nvSpPr>
            <p:cNvPr id="117" name="Rectangle 116">
              <a:extLst>
                <a:ext uri="{FF2B5EF4-FFF2-40B4-BE49-F238E27FC236}">
                  <a16:creationId xmlns:a16="http://schemas.microsoft.com/office/drawing/2014/main" id="{EC3D35D7-2D14-48DE-876D-E8BA58AB821D}"/>
                </a:ext>
              </a:extLst>
            </p:cNvPr>
            <p:cNvSpPr/>
            <p:nvPr/>
          </p:nvSpPr>
          <p:spPr>
            <a:xfrm>
              <a:off x="6965578" y="4807118"/>
              <a:ext cx="1583755" cy="1004284"/>
            </a:xfrm>
            <a:prstGeom prst="rect">
              <a:avLst/>
            </a:prstGeom>
            <a:solidFill>
              <a:srgbClr val="FFFFFF"/>
            </a:solidFill>
            <a:ln w="19050">
              <a:solidFill>
                <a:schemeClr val="bg2">
                  <a:lumMod val="9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16" name="Rectangle 115">
              <a:extLst>
                <a:ext uri="{FF2B5EF4-FFF2-40B4-BE49-F238E27FC236}">
                  <a16:creationId xmlns:a16="http://schemas.microsoft.com/office/drawing/2014/main" id="{EC3D35D7-2D14-48DE-876D-E8BA58AB821D}"/>
                </a:ext>
              </a:extLst>
            </p:cNvPr>
            <p:cNvSpPr/>
            <p:nvPr/>
          </p:nvSpPr>
          <p:spPr>
            <a:xfrm>
              <a:off x="6881646" y="4886123"/>
              <a:ext cx="1583755" cy="1004284"/>
            </a:xfrm>
            <a:prstGeom prst="rect">
              <a:avLst/>
            </a:prstGeom>
            <a:solidFill>
              <a:srgbClr val="FFFFFF"/>
            </a:solidFill>
            <a:ln w="19050">
              <a:solidFill>
                <a:schemeClr val="bg2">
                  <a:lumMod val="9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02" name="Rectangle 101">
              <a:extLst>
                <a:ext uri="{FF2B5EF4-FFF2-40B4-BE49-F238E27FC236}">
                  <a16:creationId xmlns:a16="http://schemas.microsoft.com/office/drawing/2014/main" id="{EC3D35D7-2D14-48DE-876D-E8BA58AB821D}"/>
                </a:ext>
              </a:extLst>
            </p:cNvPr>
            <p:cNvSpPr/>
            <p:nvPr/>
          </p:nvSpPr>
          <p:spPr>
            <a:xfrm>
              <a:off x="6797360" y="4954548"/>
              <a:ext cx="1583755" cy="1004284"/>
            </a:xfrm>
            <a:prstGeom prst="rect">
              <a:avLst/>
            </a:prstGeom>
            <a:solidFill>
              <a:srgbClr val="FFFFFF"/>
            </a:solidFill>
            <a:ln w="19050">
              <a:solidFill>
                <a:schemeClr val="bg2">
                  <a:lumMod val="9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15" name="TextBox 114"/>
            <p:cNvSpPr txBox="1"/>
            <p:nvPr/>
          </p:nvSpPr>
          <p:spPr>
            <a:xfrm>
              <a:off x="7250472" y="4589008"/>
              <a:ext cx="978486" cy="152349"/>
            </a:xfrm>
            <a:prstGeom prst="rect">
              <a:avLst/>
            </a:prstGeom>
            <a:solidFill>
              <a:schemeClr val="bg1"/>
            </a:solidFill>
          </p:spPr>
          <p:txBody>
            <a:bodyPr wrap="square" lIns="0" tIns="0" rIns="0" bIns="0" rtlCol="0" anchor="ctr">
              <a:spAutoFit/>
            </a:bodyPr>
            <a:lstStyle>
              <a:defPPr>
                <a:defRPr lang="en-US"/>
              </a:defPPr>
              <a:lvl1pPr algn="ctr">
                <a:lnSpc>
                  <a:spcPct val="90000"/>
                </a:lnSpc>
                <a:defRPr sz="2400">
                  <a:solidFill>
                    <a:schemeClr val="tx2"/>
                  </a:solidFill>
                  <a:latin typeface="Italo Medium" panose="02000000000000000000" pitchFamily="2" charset="0"/>
                  <a:cs typeface="Arial" pitchFamily="34" charset="0"/>
                </a:defRPr>
              </a:lvl1p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AU" sz="1100" b="0" i="0" u="none" strike="noStrike" kern="1200" cap="none" spc="0" normalizeH="0" baseline="0" noProof="0">
                  <a:ln>
                    <a:noFill/>
                  </a:ln>
                  <a:solidFill>
                    <a:srgbClr val="575757"/>
                  </a:solidFill>
                  <a:effectLst/>
                  <a:uLnTx/>
                  <a:uFillTx/>
                  <a:latin typeface="Calibri" panose="020F0502020204030204" pitchFamily="34" charset="0"/>
                  <a:cs typeface="Calibri" panose="020F0502020204030204" pitchFamily="34" charset="0"/>
                </a:rPr>
                <a:t>Backlogs</a:t>
              </a:r>
            </a:p>
          </p:txBody>
        </p:sp>
        <p:sp>
          <p:nvSpPr>
            <p:cNvPr id="103" name="Freeform: Shape 76">
              <a:extLst>
                <a:ext uri="{FF2B5EF4-FFF2-40B4-BE49-F238E27FC236}">
                  <a16:creationId xmlns:a16="http://schemas.microsoft.com/office/drawing/2014/main" id="{3C9E493A-DEF5-4C5D-B348-651236B5B25F}"/>
                </a:ext>
              </a:extLst>
            </p:cNvPr>
            <p:cNvSpPr/>
            <p:nvPr/>
          </p:nvSpPr>
          <p:spPr>
            <a:xfrm>
              <a:off x="7261368" y="5340253"/>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04" name="Freeform: Shape 76">
              <a:extLst>
                <a:ext uri="{FF2B5EF4-FFF2-40B4-BE49-F238E27FC236}">
                  <a16:creationId xmlns:a16="http://schemas.microsoft.com/office/drawing/2014/main" id="{3C9E493A-DEF5-4C5D-B348-651236B5B25F}"/>
                </a:ext>
              </a:extLst>
            </p:cNvPr>
            <p:cNvSpPr/>
            <p:nvPr/>
          </p:nvSpPr>
          <p:spPr>
            <a:xfrm>
              <a:off x="6876442" y="5340253"/>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C41300"/>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05" name="Freeform: Shape 76">
              <a:extLst>
                <a:ext uri="{FF2B5EF4-FFF2-40B4-BE49-F238E27FC236}">
                  <a16:creationId xmlns:a16="http://schemas.microsoft.com/office/drawing/2014/main" id="{3C9E493A-DEF5-4C5D-B348-651236B5B25F}"/>
                </a:ext>
              </a:extLst>
            </p:cNvPr>
            <p:cNvSpPr/>
            <p:nvPr/>
          </p:nvSpPr>
          <p:spPr>
            <a:xfrm>
              <a:off x="7261368" y="5640017"/>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06" name="Freeform: Shape 76">
              <a:extLst>
                <a:ext uri="{FF2B5EF4-FFF2-40B4-BE49-F238E27FC236}">
                  <a16:creationId xmlns:a16="http://schemas.microsoft.com/office/drawing/2014/main" id="{3C9E493A-DEF5-4C5D-B348-651236B5B25F}"/>
                </a:ext>
              </a:extLst>
            </p:cNvPr>
            <p:cNvSpPr/>
            <p:nvPr/>
          </p:nvSpPr>
          <p:spPr>
            <a:xfrm>
              <a:off x="6876442" y="5640017"/>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07" name="Freeform: Shape 76">
              <a:extLst>
                <a:ext uri="{FF2B5EF4-FFF2-40B4-BE49-F238E27FC236}">
                  <a16:creationId xmlns:a16="http://schemas.microsoft.com/office/drawing/2014/main" id="{3C9E493A-DEF5-4C5D-B348-651236B5B25F}"/>
                </a:ext>
              </a:extLst>
            </p:cNvPr>
            <p:cNvSpPr/>
            <p:nvPr/>
          </p:nvSpPr>
          <p:spPr>
            <a:xfrm>
              <a:off x="8020568" y="5040488"/>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C41300"/>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08" name="Freeform: Shape 76">
              <a:extLst>
                <a:ext uri="{FF2B5EF4-FFF2-40B4-BE49-F238E27FC236}">
                  <a16:creationId xmlns:a16="http://schemas.microsoft.com/office/drawing/2014/main" id="{3C9E493A-DEF5-4C5D-B348-651236B5B25F}"/>
                </a:ext>
              </a:extLst>
            </p:cNvPr>
            <p:cNvSpPr/>
            <p:nvPr/>
          </p:nvSpPr>
          <p:spPr>
            <a:xfrm>
              <a:off x="7635642" y="5040488"/>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C41300"/>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09" name="Freeform: Shape 76">
              <a:extLst>
                <a:ext uri="{FF2B5EF4-FFF2-40B4-BE49-F238E27FC236}">
                  <a16:creationId xmlns:a16="http://schemas.microsoft.com/office/drawing/2014/main" id="{3C9E493A-DEF5-4C5D-B348-651236B5B25F}"/>
                </a:ext>
              </a:extLst>
            </p:cNvPr>
            <p:cNvSpPr/>
            <p:nvPr/>
          </p:nvSpPr>
          <p:spPr>
            <a:xfrm>
              <a:off x="8020568" y="5340252"/>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10" name="Freeform: Shape 76">
              <a:extLst>
                <a:ext uri="{FF2B5EF4-FFF2-40B4-BE49-F238E27FC236}">
                  <a16:creationId xmlns:a16="http://schemas.microsoft.com/office/drawing/2014/main" id="{3C9E493A-DEF5-4C5D-B348-651236B5B25F}"/>
                </a:ext>
              </a:extLst>
            </p:cNvPr>
            <p:cNvSpPr/>
            <p:nvPr/>
          </p:nvSpPr>
          <p:spPr>
            <a:xfrm>
              <a:off x="7635642" y="5340252"/>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11" name="Freeform: Shape 76">
              <a:extLst>
                <a:ext uri="{FF2B5EF4-FFF2-40B4-BE49-F238E27FC236}">
                  <a16:creationId xmlns:a16="http://schemas.microsoft.com/office/drawing/2014/main" id="{3C9E493A-DEF5-4C5D-B348-651236B5B25F}"/>
                </a:ext>
              </a:extLst>
            </p:cNvPr>
            <p:cNvSpPr/>
            <p:nvPr/>
          </p:nvSpPr>
          <p:spPr>
            <a:xfrm>
              <a:off x="8020568" y="5640016"/>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12" name="Freeform: Shape 76">
              <a:extLst>
                <a:ext uri="{FF2B5EF4-FFF2-40B4-BE49-F238E27FC236}">
                  <a16:creationId xmlns:a16="http://schemas.microsoft.com/office/drawing/2014/main" id="{3C9E493A-DEF5-4C5D-B348-651236B5B25F}"/>
                </a:ext>
              </a:extLst>
            </p:cNvPr>
            <p:cNvSpPr/>
            <p:nvPr/>
          </p:nvSpPr>
          <p:spPr>
            <a:xfrm>
              <a:off x="7635642" y="5640016"/>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EC565D"/>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13" name="Freeform: Shape 76">
              <a:extLst>
                <a:ext uri="{FF2B5EF4-FFF2-40B4-BE49-F238E27FC236}">
                  <a16:creationId xmlns:a16="http://schemas.microsoft.com/office/drawing/2014/main" id="{3C9E493A-DEF5-4C5D-B348-651236B5B25F}"/>
                </a:ext>
              </a:extLst>
            </p:cNvPr>
            <p:cNvSpPr/>
            <p:nvPr/>
          </p:nvSpPr>
          <p:spPr>
            <a:xfrm>
              <a:off x="7261368" y="5040488"/>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C41300"/>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14" name="Freeform: Shape 76">
              <a:extLst>
                <a:ext uri="{FF2B5EF4-FFF2-40B4-BE49-F238E27FC236}">
                  <a16:creationId xmlns:a16="http://schemas.microsoft.com/office/drawing/2014/main" id="{3C9E493A-DEF5-4C5D-B348-651236B5B25F}"/>
                </a:ext>
              </a:extLst>
            </p:cNvPr>
            <p:cNvSpPr/>
            <p:nvPr/>
          </p:nvSpPr>
          <p:spPr>
            <a:xfrm>
              <a:off x="6876442" y="5040488"/>
              <a:ext cx="251164" cy="250391"/>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rgbClr val="C41300"/>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AU" sz="12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grpSp>
      <p:sp>
        <p:nvSpPr>
          <p:cNvPr id="9" name="Rectangle 8"/>
          <p:cNvSpPr/>
          <p:nvPr/>
        </p:nvSpPr>
        <p:spPr>
          <a:xfrm>
            <a:off x="8369201" y="4217563"/>
            <a:ext cx="3410825" cy="1169551"/>
          </a:xfrm>
          <a:prstGeom prst="rect">
            <a:avLst/>
          </a:prstGeom>
        </p:spPr>
        <p:txBody>
          <a:bodyPr wrap="square">
            <a:spAutoFit/>
          </a:bodyPr>
          <a:lstStyle/>
          <a:p>
            <a:pPr marL="108000" marR="0" lvl="1" indent="0" algn="l"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1400" b="0" i="0" u="none" strike="noStrike" kern="1200" cap="none" spc="0" normalizeH="0" baseline="0" noProof="0">
                <a:ln>
                  <a:noFill/>
                </a:ln>
                <a:solidFill>
                  <a:srgbClr val="5B6770">
                    <a:lumMod val="100000"/>
                  </a:srgbClr>
                </a:solidFill>
                <a:effectLst/>
                <a:uLnTx/>
                <a:uFillTx/>
                <a:latin typeface="Calibri" panose="020F0502020204030204" pitchFamily="34" charset="0"/>
                <a:cs typeface="Calibri" panose="020F0502020204030204" pitchFamily="34" charset="0"/>
              </a:rPr>
              <a:t>Teams align on path forward:</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400" b="0" i="0" u="none" strike="noStrike" kern="1200" cap="none" spc="0" normalizeH="0" baseline="0" noProof="0">
                <a:ln>
                  <a:noFill/>
                </a:ln>
                <a:solidFill>
                  <a:srgbClr val="5B6770">
                    <a:lumMod val="100000"/>
                  </a:srgbClr>
                </a:solidFill>
                <a:effectLst/>
                <a:uLnTx/>
                <a:uFillTx/>
                <a:latin typeface="Calibri" panose="020F0502020204030204" pitchFamily="34" charset="0"/>
                <a:cs typeface="Calibri" panose="020F0502020204030204" pitchFamily="34" charset="0"/>
              </a:rPr>
              <a:t>What is our upcoming work and associated dependencies?</a:t>
            </a:r>
          </a:p>
          <a:p>
            <a:pPr marL="324000" marR="0" lvl="1" indent="-216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US" sz="1400" b="0" i="0" u="none" strike="noStrike" kern="1200" cap="none" spc="0" normalizeH="0" baseline="0" noProof="0">
                <a:ln>
                  <a:noFill/>
                </a:ln>
                <a:solidFill>
                  <a:srgbClr val="5B6770">
                    <a:lumMod val="100000"/>
                  </a:srgbClr>
                </a:solidFill>
                <a:effectLst/>
                <a:uLnTx/>
                <a:uFillTx/>
                <a:latin typeface="Calibri" panose="020F0502020204030204" pitchFamily="34" charset="0"/>
                <a:cs typeface="Calibri" panose="020F0502020204030204" pitchFamily="34" charset="0"/>
              </a:rPr>
              <a:t>How can we optimize our requests for support from other teams?</a:t>
            </a:r>
          </a:p>
        </p:txBody>
      </p:sp>
      <p:sp>
        <p:nvSpPr>
          <p:cNvPr id="8" name="Title 3">
            <a:extLst>
              <a:ext uri="{FF2B5EF4-FFF2-40B4-BE49-F238E27FC236}">
                <a16:creationId xmlns:a16="http://schemas.microsoft.com/office/drawing/2014/main" id="{3FBC8C63-902E-34C5-53C2-BD53F38BA4CA}"/>
              </a:ext>
            </a:extLst>
          </p:cNvPr>
          <p:cNvSpPr txBox="1">
            <a:spLocks/>
          </p:cNvSpPr>
          <p:nvPr/>
        </p:nvSpPr>
        <p:spPr>
          <a:xfrm>
            <a:off x="184150" y="284162"/>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r>
              <a:rPr lang="en-US" sz="2800" cap="none">
                <a:solidFill>
                  <a:schemeClr val="tx1"/>
                </a:solidFill>
              </a:rPr>
              <a:t>Scrum of Scrums</a:t>
            </a:r>
          </a:p>
        </p:txBody>
      </p:sp>
      <p:sp>
        <p:nvSpPr>
          <p:cNvPr id="11" name="TextBox 10">
            <a:extLst>
              <a:ext uri="{FF2B5EF4-FFF2-40B4-BE49-F238E27FC236}">
                <a16:creationId xmlns:a16="http://schemas.microsoft.com/office/drawing/2014/main" id="{D2251E0E-69C7-DED2-C1A3-1B760B88FCC3}"/>
              </a:ext>
            </a:extLst>
          </p:cNvPr>
          <p:cNvSpPr txBox="1"/>
          <p:nvPr/>
        </p:nvSpPr>
        <p:spPr>
          <a:xfrm>
            <a:off x="2434984" y="6144908"/>
            <a:ext cx="7322032" cy="369332"/>
          </a:xfrm>
          <a:prstGeom prst="rect">
            <a:avLst/>
          </a:prstGeom>
          <a:noFill/>
        </p:spPr>
        <p:txBody>
          <a:bodyPr wrap="square">
            <a:spAutoFit/>
          </a:bodyPr>
          <a:lstStyle/>
          <a:p>
            <a:r>
              <a:rPr lang="en-US" b="1">
                <a:solidFill>
                  <a:srgbClr val="D763C6"/>
                </a:solidFill>
                <a:latin typeface="Calibri" panose="020F0502020204030204" pitchFamily="34" charset="0"/>
                <a:cs typeface="Calibri" panose="020F0502020204030204" pitchFamily="34" charset="0"/>
              </a:rPr>
              <a:t>To </a:t>
            </a:r>
            <a:r>
              <a:rPr lang="en-GB" b="1">
                <a:solidFill>
                  <a:srgbClr val="D763C6"/>
                </a:solidFill>
                <a:latin typeface="Calibri" panose="020F0502020204030204" pitchFamily="34" charset="0"/>
                <a:cs typeface="Calibri" panose="020F0502020204030204" pitchFamily="34" charset="0"/>
              </a:rPr>
              <a:t>ensure alignment on shared outcomes / dependencies between teams</a:t>
            </a:r>
            <a:endParaRPr lang="en-US" b="1">
              <a:solidFill>
                <a:srgbClr val="D763C6"/>
              </a:solidFill>
              <a:latin typeface="Calibri" panose="020F0502020204030204" pitchFamily="34" charset="0"/>
              <a:cs typeface="Calibri" panose="020F0502020204030204" pitchFamily="34" charset="0"/>
            </a:endParaRPr>
          </a:p>
        </p:txBody>
      </p:sp>
      <p:sp>
        <p:nvSpPr>
          <p:cNvPr id="13" name="NavigationIcon">
            <a:extLst>
              <a:ext uri="{FF2B5EF4-FFF2-40B4-BE49-F238E27FC236}">
                <a16:creationId xmlns:a16="http://schemas.microsoft.com/office/drawing/2014/main" id="{08314E4B-DB58-1CE4-7C18-2413FE97535B}"/>
              </a:ext>
            </a:extLst>
          </p:cNvPr>
          <p:cNvSpPr>
            <a:spLocks noChangeAspect="1" noChangeArrowheads="1"/>
          </p:cNvSpPr>
          <p:nvPr>
            <p:custDataLst>
              <p:tags r:id="rId3"/>
            </p:custDataLst>
          </p:nvPr>
        </p:nvSpPr>
        <p:spPr bwMode="auto">
          <a:xfrm>
            <a:off x="609056" y="901942"/>
            <a:ext cx="365760" cy="365760"/>
          </a:xfrm>
          <a:prstGeom prst="ellipse">
            <a:avLst/>
          </a:prstGeom>
          <a:solidFill>
            <a:schemeClr val="tx1"/>
          </a:solidFill>
          <a:ln>
            <a:noFill/>
          </a:ln>
        </p:spPr>
        <p:txBody>
          <a:bodyPr vert="horz" wrap="square" lIns="123928" tIns="61964" rIns="123928" bIns="61964"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26">
                <a:solidFill>
                  <a:schemeClr val="bg1"/>
                </a:solidFill>
                <a:latin typeface="Calibri" panose="020F0502020204030204" pitchFamily="34" charset="0"/>
                <a:cs typeface="Calibri" panose="020F0502020204030204" pitchFamily="34" charset="0"/>
              </a:rPr>
              <a:t>G</a:t>
            </a:r>
            <a:endParaRPr kumimoji="0" lang="en-US" sz="1626" b="0" i="0" u="none" strike="noStrike" kern="1200" cap="none" spc="0" normalizeH="0" baseline="0" noProof="0">
              <a:ln>
                <a:noFill/>
              </a:ln>
              <a:solidFill>
                <a:schemeClr val="bg1"/>
              </a:solidFill>
              <a:effectLst/>
              <a:uLnTx/>
              <a:uFillTx/>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306591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Rectangle: Rounded Corners 72">
            <a:extLst>
              <a:ext uri="{FF2B5EF4-FFF2-40B4-BE49-F238E27FC236}">
                <a16:creationId xmlns:a16="http://schemas.microsoft.com/office/drawing/2014/main" id="{427333FF-033E-2EE9-A392-89894E77E1BF}"/>
              </a:ext>
            </a:extLst>
          </p:cNvPr>
          <p:cNvSpPr/>
          <p:nvPr/>
        </p:nvSpPr>
        <p:spPr>
          <a:xfrm>
            <a:off x="2348398" y="3008950"/>
            <a:ext cx="3020396" cy="1263749"/>
          </a:xfrm>
          <a:prstGeom prst="roundRect">
            <a:avLst/>
          </a:prstGeom>
          <a:solidFill>
            <a:schemeClr val="bg1">
              <a:lumMod val="95000"/>
            </a:schemeClr>
          </a:solidFill>
          <a:ln>
            <a:solidFill>
              <a:schemeClr val="tx1">
                <a:lumMod val="50000"/>
                <a:lumOff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A696AB91-0C2D-112A-4CA1-75017A8162E5}"/>
              </a:ext>
            </a:extLst>
          </p:cNvPr>
          <p:cNvSpPr txBox="1"/>
          <p:nvPr/>
        </p:nvSpPr>
        <p:spPr>
          <a:xfrm>
            <a:off x="336331" y="1218308"/>
            <a:ext cx="11529847" cy="1281633"/>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ea typeface="+mn-ea"/>
                <a:cs typeface="+mn-cs"/>
              </a:rPr>
              <a:t>Agile sprints are a pivotal component of modern software development and project management. They represent a time-boxed, focused effort where cross-functional teams work collaboratively to deliver valuable features or enhancements as well as well as live the value of “responding to change over following a plan.”</a:t>
            </a:r>
          </a:p>
        </p:txBody>
      </p:sp>
      <p:pic>
        <p:nvPicPr>
          <p:cNvPr id="72" name="Picture 71">
            <a:extLst>
              <a:ext uri="{FF2B5EF4-FFF2-40B4-BE49-F238E27FC236}">
                <a16:creationId xmlns:a16="http://schemas.microsoft.com/office/drawing/2014/main" id="{9D7858C8-54D7-4256-1B55-0147EC146E23}"/>
              </a:ext>
            </a:extLst>
          </p:cNvPr>
          <p:cNvPicPr>
            <a:picLocks noChangeAspect="1"/>
          </p:cNvPicPr>
          <p:nvPr/>
        </p:nvPicPr>
        <p:blipFill>
          <a:blip r:embed="rId2"/>
          <a:stretch>
            <a:fillRect/>
          </a:stretch>
        </p:blipFill>
        <p:spPr>
          <a:xfrm>
            <a:off x="2514599" y="3109237"/>
            <a:ext cx="2687993" cy="1063174"/>
          </a:xfrm>
          <a:prstGeom prst="rect">
            <a:avLst/>
          </a:prstGeom>
        </p:spPr>
      </p:pic>
      <p:sp>
        <p:nvSpPr>
          <p:cNvPr id="74" name="Rectangle: Rounded Corners 73">
            <a:extLst>
              <a:ext uri="{FF2B5EF4-FFF2-40B4-BE49-F238E27FC236}">
                <a16:creationId xmlns:a16="http://schemas.microsoft.com/office/drawing/2014/main" id="{B19D5218-999A-8DF3-C1B1-5CC8B2B5BCC7}"/>
              </a:ext>
            </a:extLst>
          </p:cNvPr>
          <p:cNvSpPr/>
          <p:nvPr/>
        </p:nvSpPr>
        <p:spPr>
          <a:xfrm>
            <a:off x="6289808" y="3008950"/>
            <a:ext cx="3020396" cy="1263749"/>
          </a:xfrm>
          <a:prstGeom prst="roundRect">
            <a:avLst/>
          </a:prstGeom>
          <a:solidFill>
            <a:srgbClr val="FBEBD1"/>
          </a:solidFill>
          <a:ln>
            <a:solidFill>
              <a:srgbClr val="FFC000"/>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5" name="Picture 74">
            <a:extLst>
              <a:ext uri="{FF2B5EF4-FFF2-40B4-BE49-F238E27FC236}">
                <a16:creationId xmlns:a16="http://schemas.microsoft.com/office/drawing/2014/main" id="{F87ACF57-3FC1-5669-9E6F-BB72BFEC9355}"/>
              </a:ext>
            </a:extLst>
          </p:cNvPr>
          <p:cNvPicPr>
            <a:picLocks noChangeAspect="1"/>
          </p:cNvPicPr>
          <p:nvPr/>
        </p:nvPicPr>
        <p:blipFill>
          <a:blip r:embed="rId2"/>
          <a:stretch>
            <a:fillRect/>
          </a:stretch>
        </p:blipFill>
        <p:spPr>
          <a:xfrm>
            <a:off x="6456009" y="3109237"/>
            <a:ext cx="2687993" cy="1063174"/>
          </a:xfrm>
          <a:prstGeom prst="rect">
            <a:avLst/>
          </a:prstGeom>
        </p:spPr>
      </p:pic>
      <p:sp>
        <p:nvSpPr>
          <p:cNvPr id="76" name="Arrow: Chevron 75">
            <a:extLst>
              <a:ext uri="{FF2B5EF4-FFF2-40B4-BE49-F238E27FC236}">
                <a16:creationId xmlns:a16="http://schemas.microsoft.com/office/drawing/2014/main" id="{532D03D1-FD63-C0ED-7B40-DC18DCB41341}"/>
              </a:ext>
            </a:extLst>
          </p:cNvPr>
          <p:cNvSpPr/>
          <p:nvPr/>
        </p:nvSpPr>
        <p:spPr>
          <a:xfrm>
            <a:off x="5574980" y="3466150"/>
            <a:ext cx="338141" cy="426033"/>
          </a:xfrm>
          <a:prstGeom prst="chevron">
            <a:avLst/>
          </a:prstGeom>
          <a:solidFill>
            <a:schemeClr val="bg1">
              <a:lumMod val="5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Arrow: Chevron 79">
            <a:extLst>
              <a:ext uri="{FF2B5EF4-FFF2-40B4-BE49-F238E27FC236}">
                <a16:creationId xmlns:a16="http://schemas.microsoft.com/office/drawing/2014/main" id="{BD0C30AC-344B-CC48-FBE6-17B247AC8F3B}"/>
              </a:ext>
            </a:extLst>
          </p:cNvPr>
          <p:cNvSpPr/>
          <p:nvPr/>
        </p:nvSpPr>
        <p:spPr>
          <a:xfrm>
            <a:off x="5803581" y="3466150"/>
            <a:ext cx="338141" cy="426033"/>
          </a:xfrm>
          <a:prstGeom prst="chevron">
            <a:avLst/>
          </a:prstGeom>
          <a:solidFill>
            <a:schemeClr val="bg1">
              <a:lumMod val="5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 name="TextBox 87">
            <a:extLst>
              <a:ext uri="{FF2B5EF4-FFF2-40B4-BE49-F238E27FC236}">
                <a16:creationId xmlns:a16="http://schemas.microsoft.com/office/drawing/2014/main" id="{F25B4DE6-7EC9-BFE9-211D-3C6C921761D6}"/>
              </a:ext>
            </a:extLst>
          </p:cNvPr>
          <p:cNvSpPr txBox="1"/>
          <p:nvPr/>
        </p:nvSpPr>
        <p:spPr>
          <a:xfrm>
            <a:off x="2348398" y="4341911"/>
            <a:ext cx="302039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4 Weeks Elaboration &amp; Design</a:t>
            </a:r>
          </a:p>
        </p:txBody>
      </p:sp>
      <p:sp>
        <p:nvSpPr>
          <p:cNvPr id="89" name="TextBox 88">
            <a:extLst>
              <a:ext uri="{FF2B5EF4-FFF2-40B4-BE49-F238E27FC236}">
                <a16:creationId xmlns:a16="http://schemas.microsoft.com/office/drawing/2014/main" id="{280A4D0B-7C15-6989-F679-2E67DFD4B1B9}"/>
              </a:ext>
            </a:extLst>
          </p:cNvPr>
          <p:cNvSpPr txBox="1"/>
          <p:nvPr/>
        </p:nvSpPr>
        <p:spPr>
          <a:xfrm>
            <a:off x="6289809" y="4341910"/>
            <a:ext cx="302039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4 Weeks Build &amp; Test</a:t>
            </a:r>
          </a:p>
        </p:txBody>
      </p:sp>
      <p:sp>
        <p:nvSpPr>
          <p:cNvPr id="93" name="Subtitle 2">
            <a:extLst>
              <a:ext uri="{FF2B5EF4-FFF2-40B4-BE49-F238E27FC236}">
                <a16:creationId xmlns:a16="http://schemas.microsoft.com/office/drawing/2014/main" id="{3D515A6F-3CD9-C227-E2E6-48733066ADE8}"/>
              </a:ext>
            </a:extLst>
          </p:cNvPr>
          <p:cNvSpPr>
            <a:spLocks noGrp="1"/>
          </p:cNvSpPr>
          <p:nvPr>
            <p:ph type="subTitle" idx="1"/>
          </p:nvPr>
        </p:nvSpPr>
        <p:spPr>
          <a:xfrm>
            <a:off x="166204" y="736853"/>
            <a:ext cx="2061989" cy="365128"/>
          </a:xfrm>
        </p:spPr>
        <p:txBody>
          <a:bodyPr>
            <a:normAutofit/>
          </a:bodyPr>
          <a:lstStyle/>
          <a:p>
            <a:r>
              <a:rPr lang="en-GB" sz="1600" i="1">
                <a:solidFill>
                  <a:schemeClr val="tx1"/>
                </a:solidFill>
              </a:rPr>
              <a:t>Sprint Structure </a:t>
            </a:r>
          </a:p>
        </p:txBody>
      </p:sp>
      <p:sp>
        <p:nvSpPr>
          <p:cNvPr id="3" name="Title 3">
            <a:extLst>
              <a:ext uri="{FF2B5EF4-FFF2-40B4-BE49-F238E27FC236}">
                <a16:creationId xmlns:a16="http://schemas.microsoft.com/office/drawing/2014/main" id="{B8B37883-2D75-C820-92B8-FA34DBA7DA33}"/>
              </a:ext>
            </a:extLst>
          </p:cNvPr>
          <p:cNvSpPr txBox="1">
            <a:spLocks/>
          </p:cNvSpPr>
          <p:nvPr/>
        </p:nvSpPr>
        <p:spPr>
          <a:xfrm>
            <a:off x="184150" y="284162"/>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r>
              <a:rPr lang="en-US" sz="2800" cap="none">
                <a:solidFill>
                  <a:schemeClr val="tx1"/>
                </a:solidFill>
              </a:rPr>
              <a:t>What is an Agile Sprint for Beazley</a:t>
            </a:r>
          </a:p>
        </p:txBody>
      </p:sp>
    </p:spTree>
    <p:extLst>
      <p:ext uri="{BB962C8B-B14F-4D97-AF65-F5344CB8AC3E}">
        <p14:creationId xmlns:p14="http://schemas.microsoft.com/office/powerpoint/2010/main" val="38440070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TextBox 63">
            <a:extLst>
              <a:ext uri="{FF2B5EF4-FFF2-40B4-BE49-F238E27FC236}">
                <a16:creationId xmlns:a16="http://schemas.microsoft.com/office/drawing/2014/main" id="{A4DB5566-842F-9DBB-0D8C-1CB71DB69D75}"/>
              </a:ext>
            </a:extLst>
          </p:cNvPr>
          <p:cNvSpPr txBox="1"/>
          <p:nvPr/>
        </p:nvSpPr>
        <p:spPr>
          <a:xfrm>
            <a:off x="7239001" y="2779802"/>
            <a:ext cx="2895596" cy="3680639"/>
          </a:xfrm>
          <a:prstGeom prst="roundRect">
            <a:avLst/>
          </a:prstGeom>
          <a:noFill/>
          <a:ln w="38100">
            <a:solidFill>
              <a:srgbClr val="F50002"/>
            </a:solidFill>
            <a:prstDash val="dash"/>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FBBAAED9-E4E5-113E-F965-0C7C84CC5F0F}"/>
              </a:ext>
            </a:extLst>
          </p:cNvPr>
          <p:cNvPicPr>
            <a:picLocks noChangeAspect="1"/>
          </p:cNvPicPr>
          <p:nvPr/>
        </p:nvPicPr>
        <p:blipFill>
          <a:blip r:embed="rId2"/>
          <a:stretch>
            <a:fillRect/>
          </a:stretch>
        </p:blipFill>
        <p:spPr>
          <a:xfrm>
            <a:off x="911041" y="1295400"/>
            <a:ext cx="5794559" cy="1157926"/>
          </a:xfrm>
          <a:prstGeom prst="rect">
            <a:avLst/>
          </a:prstGeom>
        </p:spPr>
      </p:pic>
      <p:pic>
        <p:nvPicPr>
          <p:cNvPr id="11" name="Picture 10">
            <a:extLst>
              <a:ext uri="{FF2B5EF4-FFF2-40B4-BE49-F238E27FC236}">
                <a16:creationId xmlns:a16="http://schemas.microsoft.com/office/drawing/2014/main" id="{92561444-E0BD-C2E2-42F3-A4646996061E}"/>
              </a:ext>
            </a:extLst>
          </p:cNvPr>
          <p:cNvPicPr>
            <a:picLocks noChangeAspect="1"/>
          </p:cNvPicPr>
          <p:nvPr/>
        </p:nvPicPr>
        <p:blipFill>
          <a:blip r:embed="rId2"/>
          <a:stretch>
            <a:fillRect/>
          </a:stretch>
        </p:blipFill>
        <p:spPr>
          <a:xfrm>
            <a:off x="4191000" y="2957233"/>
            <a:ext cx="5794559" cy="1157926"/>
          </a:xfrm>
          <a:prstGeom prst="rect">
            <a:avLst/>
          </a:prstGeom>
        </p:spPr>
      </p:pic>
      <p:pic>
        <p:nvPicPr>
          <p:cNvPr id="13" name="Picture 12">
            <a:extLst>
              <a:ext uri="{FF2B5EF4-FFF2-40B4-BE49-F238E27FC236}">
                <a16:creationId xmlns:a16="http://schemas.microsoft.com/office/drawing/2014/main" id="{F888A07E-C327-6F38-B3E9-B597F69D8CA7}"/>
              </a:ext>
            </a:extLst>
          </p:cNvPr>
          <p:cNvPicPr>
            <a:picLocks noChangeAspect="1"/>
          </p:cNvPicPr>
          <p:nvPr/>
        </p:nvPicPr>
        <p:blipFill>
          <a:blip r:embed="rId3"/>
          <a:stretch>
            <a:fillRect/>
          </a:stretch>
        </p:blipFill>
        <p:spPr>
          <a:xfrm>
            <a:off x="7317377" y="4547251"/>
            <a:ext cx="2756806" cy="1327809"/>
          </a:xfrm>
          <a:prstGeom prst="rect">
            <a:avLst/>
          </a:prstGeom>
        </p:spPr>
      </p:pic>
      <p:sp>
        <p:nvSpPr>
          <p:cNvPr id="17" name="TextBox 16">
            <a:extLst>
              <a:ext uri="{FF2B5EF4-FFF2-40B4-BE49-F238E27FC236}">
                <a16:creationId xmlns:a16="http://schemas.microsoft.com/office/drawing/2014/main" id="{5D51DCDB-28A7-CA6C-2CD9-8F7AF66D8AEB}"/>
              </a:ext>
            </a:extLst>
          </p:cNvPr>
          <p:cNvSpPr txBox="1"/>
          <p:nvPr/>
        </p:nvSpPr>
        <p:spPr>
          <a:xfrm>
            <a:off x="913067" y="2404373"/>
            <a:ext cx="2531808" cy="3749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1"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For </a:t>
            </a:r>
            <a:r>
              <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Sprint 1</a:t>
            </a:r>
          </a:p>
        </p:txBody>
      </p:sp>
      <p:sp>
        <p:nvSpPr>
          <p:cNvPr id="18" name="TextBox 17">
            <a:extLst>
              <a:ext uri="{FF2B5EF4-FFF2-40B4-BE49-F238E27FC236}">
                <a16:creationId xmlns:a16="http://schemas.microsoft.com/office/drawing/2014/main" id="{0AF17B4F-1505-8663-5D5D-8C565D17D8CA}"/>
              </a:ext>
            </a:extLst>
          </p:cNvPr>
          <p:cNvSpPr txBox="1"/>
          <p:nvPr/>
        </p:nvSpPr>
        <p:spPr>
          <a:xfrm>
            <a:off x="4191000" y="2400226"/>
            <a:ext cx="2438400" cy="3749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1"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For </a:t>
            </a:r>
            <a:r>
              <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Sprint 1</a:t>
            </a:r>
          </a:p>
        </p:txBody>
      </p:sp>
      <p:sp>
        <p:nvSpPr>
          <p:cNvPr id="19" name="TextBox 18">
            <a:extLst>
              <a:ext uri="{FF2B5EF4-FFF2-40B4-BE49-F238E27FC236}">
                <a16:creationId xmlns:a16="http://schemas.microsoft.com/office/drawing/2014/main" id="{58D19AEF-E773-9DF4-A618-E12411B60263}"/>
              </a:ext>
            </a:extLst>
          </p:cNvPr>
          <p:cNvSpPr txBox="1"/>
          <p:nvPr/>
        </p:nvSpPr>
        <p:spPr>
          <a:xfrm>
            <a:off x="4267200" y="4085587"/>
            <a:ext cx="2438400" cy="3749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1"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For </a:t>
            </a:r>
            <a:r>
              <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Sprint 2</a:t>
            </a:r>
          </a:p>
        </p:txBody>
      </p:sp>
      <p:cxnSp>
        <p:nvCxnSpPr>
          <p:cNvPr id="21" name="Straight Connector 20">
            <a:extLst>
              <a:ext uri="{FF2B5EF4-FFF2-40B4-BE49-F238E27FC236}">
                <a16:creationId xmlns:a16="http://schemas.microsoft.com/office/drawing/2014/main" id="{3E3E4A51-1563-BCC6-6061-5BD8CE9A986C}"/>
              </a:ext>
            </a:extLst>
          </p:cNvPr>
          <p:cNvCxnSpPr>
            <a:cxnSpLocks/>
          </p:cNvCxnSpPr>
          <p:nvPr/>
        </p:nvCxnSpPr>
        <p:spPr>
          <a:xfrm>
            <a:off x="1039743" y="2718451"/>
            <a:ext cx="239959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A31159DF-D554-D585-4DE5-E1B7927C8660}"/>
              </a:ext>
            </a:extLst>
          </p:cNvPr>
          <p:cNvSpPr txBox="1"/>
          <p:nvPr/>
        </p:nvSpPr>
        <p:spPr>
          <a:xfrm>
            <a:off x="4572006" y="4619093"/>
            <a:ext cx="2133594" cy="33855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prstClr val="black"/>
                </a:solidFill>
                <a:effectLst/>
                <a:uLnTx/>
                <a:uFillTx/>
                <a:latin typeface="Calibri" panose="020F0502020204030204"/>
                <a:ea typeface="+mn-ea"/>
                <a:cs typeface="+mn-cs"/>
              </a:rPr>
              <a:t>Last week has PREP meetings for SPRINT 3 ELABORATION</a:t>
            </a:r>
          </a:p>
        </p:txBody>
      </p:sp>
      <p:sp>
        <p:nvSpPr>
          <p:cNvPr id="25" name="TextBox 24">
            <a:extLst>
              <a:ext uri="{FF2B5EF4-FFF2-40B4-BE49-F238E27FC236}">
                <a16:creationId xmlns:a16="http://schemas.microsoft.com/office/drawing/2014/main" id="{D5790AD6-2232-F756-183F-EEA4D1FA3A3A}"/>
              </a:ext>
            </a:extLst>
          </p:cNvPr>
          <p:cNvSpPr txBox="1"/>
          <p:nvPr/>
        </p:nvSpPr>
        <p:spPr>
          <a:xfrm>
            <a:off x="9601200" y="1643442"/>
            <a:ext cx="243840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A sprint is 4 weeks in duration</a:t>
            </a:r>
          </a:p>
        </p:txBody>
      </p:sp>
      <p:sp>
        <p:nvSpPr>
          <p:cNvPr id="26" name="Subtitle 2">
            <a:extLst>
              <a:ext uri="{FF2B5EF4-FFF2-40B4-BE49-F238E27FC236}">
                <a16:creationId xmlns:a16="http://schemas.microsoft.com/office/drawing/2014/main" id="{3852D9C9-7A64-4BFD-AE25-C610D119C158}"/>
              </a:ext>
            </a:extLst>
          </p:cNvPr>
          <p:cNvSpPr>
            <a:spLocks noGrp="1"/>
          </p:cNvSpPr>
          <p:nvPr>
            <p:ph type="subTitle" idx="1"/>
          </p:nvPr>
        </p:nvSpPr>
        <p:spPr>
          <a:xfrm>
            <a:off x="184150" y="733342"/>
            <a:ext cx="9144000" cy="365125"/>
          </a:xfrm>
        </p:spPr>
        <p:txBody>
          <a:bodyPr>
            <a:normAutofit/>
          </a:bodyPr>
          <a:lstStyle/>
          <a:p>
            <a:r>
              <a:rPr lang="en-GB" sz="1600" i="1">
                <a:solidFill>
                  <a:schemeClr val="tx1"/>
                </a:solidFill>
              </a:rPr>
              <a:t>Focusing on </a:t>
            </a:r>
            <a:r>
              <a:rPr lang="en-US" sz="1600" i="1">
                <a:solidFill>
                  <a:schemeClr val="tx1"/>
                </a:solidFill>
              </a:rPr>
              <a:t>execution of current sprint while doing elaboration for next sprint</a:t>
            </a:r>
            <a:endParaRPr lang="en-GB" sz="1600" i="1">
              <a:solidFill>
                <a:schemeClr val="tx1"/>
              </a:solidFill>
            </a:endParaRPr>
          </a:p>
        </p:txBody>
      </p:sp>
      <p:cxnSp>
        <p:nvCxnSpPr>
          <p:cNvPr id="29" name="Straight Connector 28">
            <a:extLst>
              <a:ext uri="{FF2B5EF4-FFF2-40B4-BE49-F238E27FC236}">
                <a16:creationId xmlns:a16="http://schemas.microsoft.com/office/drawing/2014/main" id="{8A6EEE9F-FC87-04F3-E8E1-DE279758D9D3}"/>
              </a:ext>
            </a:extLst>
          </p:cNvPr>
          <p:cNvCxnSpPr>
            <a:cxnSpLocks/>
          </p:cNvCxnSpPr>
          <p:nvPr/>
        </p:nvCxnSpPr>
        <p:spPr>
          <a:xfrm>
            <a:off x="4306004" y="4547251"/>
            <a:ext cx="239959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D8E99D4D-EC9D-E4C8-A172-EE9A56EA06E5}"/>
              </a:ext>
            </a:extLst>
          </p:cNvPr>
          <p:cNvSpPr txBox="1"/>
          <p:nvPr/>
        </p:nvSpPr>
        <p:spPr>
          <a:xfrm>
            <a:off x="7317377" y="4091845"/>
            <a:ext cx="2438400" cy="3749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1"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For </a:t>
            </a:r>
            <a:r>
              <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Sprint 2</a:t>
            </a:r>
          </a:p>
        </p:txBody>
      </p:sp>
      <p:sp>
        <p:nvSpPr>
          <p:cNvPr id="31" name="TextBox 30">
            <a:extLst>
              <a:ext uri="{FF2B5EF4-FFF2-40B4-BE49-F238E27FC236}">
                <a16:creationId xmlns:a16="http://schemas.microsoft.com/office/drawing/2014/main" id="{BFF40B0C-21D1-DCF2-289C-46C47CA8409D}"/>
              </a:ext>
            </a:extLst>
          </p:cNvPr>
          <p:cNvSpPr txBox="1"/>
          <p:nvPr/>
        </p:nvSpPr>
        <p:spPr>
          <a:xfrm>
            <a:off x="7470369" y="5695869"/>
            <a:ext cx="2438400" cy="3749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1"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For </a:t>
            </a:r>
            <a:r>
              <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Sprint 3</a:t>
            </a:r>
          </a:p>
        </p:txBody>
      </p:sp>
      <p:cxnSp>
        <p:nvCxnSpPr>
          <p:cNvPr id="65" name="Straight Connector 64">
            <a:extLst>
              <a:ext uri="{FF2B5EF4-FFF2-40B4-BE49-F238E27FC236}">
                <a16:creationId xmlns:a16="http://schemas.microsoft.com/office/drawing/2014/main" id="{231F8BF2-2A95-BEE6-20CE-0B01D4B4A54E}"/>
              </a:ext>
            </a:extLst>
          </p:cNvPr>
          <p:cNvCxnSpPr>
            <a:cxnSpLocks/>
          </p:cNvCxnSpPr>
          <p:nvPr/>
        </p:nvCxnSpPr>
        <p:spPr>
          <a:xfrm>
            <a:off x="7489771" y="6051101"/>
            <a:ext cx="239959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E9AE8371-C24A-262F-5BDD-C03530B51BB1}"/>
              </a:ext>
            </a:extLst>
          </p:cNvPr>
          <p:cNvSpPr txBox="1"/>
          <p:nvPr/>
        </p:nvSpPr>
        <p:spPr>
          <a:xfrm>
            <a:off x="1311281" y="2779802"/>
            <a:ext cx="2133594" cy="33855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prstClr val="black"/>
                </a:solidFill>
                <a:effectLst/>
                <a:uLnTx/>
                <a:uFillTx/>
                <a:latin typeface="Calibri" panose="020F0502020204030204"/>
                <a:ea typeface="+mn-ea"/>
                <a:cs typeface="+mn-cs"/>
              </a:rPr>
              <a:t>Last week has PREP meetings for SPRINT 3 ELABORATION</a:t>
            </a:r>
          </a:p>
        </p:txBody>
      </p:sp>
      <p:sp>
        <p:nvSpPr>
          <p:cNvPr id="67" name="TextBox 66">
            <a:extLst>
              <a:ext uri="{FF2B5EF4-FFF2-40B4-BE49-F238E27FC236}">
                <a16:creationId xmlns:a16="http://schemas.microsoft.com/office/drawing/2014/main" id="{88A17927-A960-CF0B-FDED-E50FE19E9648}"/>
              </a:ext>
            </a:extLst>
          </p:cNvPr>
          <p:cNvSpPr txBox="1"/>
          <p:nvPr/>
        </p:nvSpPr>
        <p:spPr>
          <a:xfrm>
            <a:off x="9636350" y="1903104"/>
            <a:ext cx="2368100" cy="6001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Each </a:t>
            </a:r>
            <a:r>
              <a:rPr kumimoji="0" lang="en-IN" sz="11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4 weeks </a:t>
            </a:r>
            <a:r>
              <a:rPr kumimoji="0" lang="en-IN" sz="11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duration does execution of current sprint while doing elaboration for next sprint</a:t>
            </a:r>
          </a:p>
        </p:txBody>
      </p:sp>
      <p:sp>
        <p:nvSpPr>
          <p:cNvPr id="68" name="TextBox 67">
            <a:extLst>
              <a:ext uri="{FF2B5EF4-FFF2-40B4-BE49-F238E27FC236}">
                <a16:creationId xmlns:a16="http://schemas.microsoft.com/office/drawing/2014/main" id="{54BF44E8-6CE1-A3A8-F373-713436E84714}"/>
              </a:ext>
            </a:extLst>
          </p:cNvPr>
          <p:cNvSpPr txBox="1"/>
          <p:nvPr/>
        </p:nvSpPr>
        <p:spPr>
          <a:xfrm>
            <a:off x="7775175" y="6096373"/>
            <a:ext cx="2133594" cy="33855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prstClr val="black"/>
                </a:solidFill>
                <a:effectLst/>
                <a:uLnTx/>
                <a:uFillTx/>
                <a:latin typeface="Calibri" panose="020F0502020204030204"/>
                <a:ea typeface="+mn-ea"/>
                <a:cs typeface="+mn-cs"/>
              </a:rPr>
              <a:t>Last week has PREP meetings for SPRINT 3 ELABORATION</a:t>
            </a:r>
          </a:p>
        </p:txBody>
      </p:sp>
      <p:cxnSp>
        <p:nvCxnSpPr>
          <p:cNvPr id="78" name="Straight Arrow Connector 77">
            <a:extLst>
              <a:ext uri="{FF2B5EF4-FFF2-40B4-BE49-F238E27FC236}">
                <a16:creationId xmlns:a16="http://schemas.microsoft.com/office/drawing/2014/main" id="{AEE3CE8C-6F96-137C-6329-502EDB39F02E}"/>
              </a:ext>
            </a:extLst>
          </p:cNvPr>
          <p:cNvCxnSpPr>
            <a:stCxn id="67" idx="2"/>
          </p:cNvCxnSpPr>
          <p:nvPr/>
        </p:nvCxnSpPr>
        <p:spPr>
          <a:xfrm flipH="1">
            <a:off x="10287000" y="2503268"/>
            <a:ext cx="533400" cy="615088"/>
          </a:xfrm>
          <a:prstGeom prst="straightConnector1">
            <a:avLst/>
          </a:prstGeom>
          <a:ln w="38100">
            <a:solidFill>
              <a:srgbClr val="F50002"/>
            </a:solidFill>
            <a:tailEnd type="triangle"/>
          </a:ln>
        </p:spPr>
        <p:style>
          <a:lnRef idx="1">
            <a:schemeClr val="accent1"/>
          </a:lnRef>
          <a:fillRef idx="0">
            <a:schemeClr val="accent1"/>
          </a:fillRef>
          <a:effectRef idx="0">
            <a:schemeClr val="accent1"/>
          </a:effectRef>
          <a:fontRef idx="minor">
            <a:schemeClr val="tx1"/>
          </a:fontRef>
        </p:style>
      </p:cxnSp>
      <p:sp>
        <p:nvSpPr>
          <p:cNvPr id="3" name="Title 3">
            <a:extLst>
              <a:ext uri="{FF2B5EF4-FFF2-40B4-BE49-F238E27FC236}">
                <a16:creationId xmlns:a16="http://schemas.microsoft.com/office/drawing/2014/main" id="{1D906281-ACD5-8301-8C59-F0BD4E2FAFF8}"/>
              </a:ext>
            </a:extLst>
          </p:cNvPr>
          <p:cNvSpPr txBox="1">
            <a:spLocks/>
          </p:cNvSpPr>
          <p:nvPr/>
        </p:nvSpPr>
        <p:spPr>
          <a:xfrm>
            <a:off x="184150" y="284162"/>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r>
              <a:rPr lang="en-US" sz="2800" cap="none">
                <a:solidFill>
                  <a:schemeClr val="tx1"/>
                </a:solidFill>
              </a:rPr>
              <a:t>Sprint Structure for Release 1</a:t>
            </a:r>
          </a:p>
        </p:txBody>
      </p:sp>
    </p:spTree>
    <p:extLst>
      <p:ext uri="{BB962C8B-B14F-4D97-AF65-F5344CB8AC3E}">
        <p14:creationId xmlns:p14="http://schemas.microsoft.com/office/powerpoint/2010/main" val="16359024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Subtitle 2">
            <a:extLst>
              <a:ext uri="{FF2B5EF4-FFF2-40B4-BE49-F238E27FC236}">
                <a16:creationId xmlns:a16="http://schemas.microsoft.com/office/drawing/2014/main" id="{3852D9C9-7A64-4BFD-AE25-C610D119C158}"/>
              </a:ext>
            </a:extLst>
          </p:cNvPr>
          <p:cNvSpPr>
            <a:spLocks noGrp="1"/>
          </p:cNvSpPr>
          <p:nvPr>
            <p:ph type="subTitle" idx="1"/>
          </p:nvPr>
        </p:nvSpPr>
        <p:spPr>
          <a:xfrm>
            <a:off x="192489" y="704808"/>
            <a:ext cx="9144000" cy="255383"/>
          </a:xfrm>
        </p:spPr>
        <p:txBody>
          <a:bodyPr>
            <a:normAutofit/>
          </a:bodyPr>
          <a:lstStyle/>
          <a:p>
            <a:r>
              <a:rPr lang="en-US" sz="1600" i="1">
                <a:solidFill>
                  <a:schemeClr val="tx1"/>
                </a:solidFill>
              </a:rPr>
              <a:t>Program Increment Cadence*</a:t>
            </a:r>
            <a:endParaRPr lang="en-GB" sz="1600" i="1">
              <a:solidFill>
                <a:schemeClr val="tx1"/>
              </a:solidFill>
            </a:endParaRPr>
          </a:p>
        </p:txBody>
      </p:sp>
      <p:graphicFrame>
        <p:nvGraphicFramePr>
          <p:cNvPr id="24" name="Table 4">
            <a:extLst>
              <a:ext uri="{FF2B5EF4-FFF2-40B4-BE49-F238E27FC236}">
                <a16:creationId xmlns:a16="http://schemas.microsoft.com/office/drawing/2014/main" id="{F56C9134-0E48-89C1-8C8D-269393E169D9}"/>
              </a:ext>
            </a:extLst>
          </p:cNvPr>
          <p:cNvGraphicFramePr>
            <a:graphicFrameLocks noGrp="1"/>
          </p:cNvGraphicFramePr>
          <p:nvPr>
            <p:extLst>
              <p:ext uri="{D42A27DB-BD31-4B8C-83A1-F6EECF244321}">
                <p14:modId xmlns:p14="http://schemas.microsoft.com/office/powerpoint/2010/main" val="1092110782"/>
              </p:ext>
            </p:extLst>
          </p:nvPr>
        </p:nvGraphicFramePr>
        <p:xfrm>
          <a:off x="590624" y="1816662"/>
          <a:ext cx="11201392" cy="865865"/>
        </p:xfrm>
        <a:graphic>
          <a:graphicData uri="http://schemas.openxmlformats.org/drawingml/2006/table">
            <a:tbl>
              <a:tblPr firstRow="1" bandRow="1"/>
              <a:tblGrid>
                <a:gridCol w="448056">
                  <a:extLst>
                    <a:ext uri="{9D8B030D-6E8A-4147-A177-3AD203B41FA5}">
                      <a16:colId xmlns:a16="http://schemas.microsoft.com/office/drawing/2014/main" val="1563922731"/>
                    </a:ext>
                  </a:extLst>
                </a:gridCol>
                <a:gridCol w="448056">
                  <a:extLst>
                    <a:ext uri="{9D8B030D-6E8A-4147-A177-3AD203B41FA5}">
                      <a16:colId xmlns:a16="http://schemas.microsoft.com/office/drawing/2014/main" val="4076529403"/>
                    </a:ext>
                  </a:extLst>
                </a:gridCol>
                <a:gridCol w="448056">
                  <a:extLst>
                    <a:ext uri="{9D8B030D-6E8A-4147-A177-3AD203B41FA5}">
                      <a16:colId xmlns:a16="http://schemas.microsoft.com/office/drawing/2014/main" val="1923284900"/>
                    </a:ext>
                  </a:extLst>
                </a:gridCol>
                <a:gridCol w="448056">
                  <a:extLst>
                    <a:ext uri="{9D8B030D-6E8A-4147-A177-3AD203B41FA5}">
                      <a16:colId xmlns:a16="http://schemas.microsoft.com/office/drawing/2014/main" val="2193092991"/>
                    </a:ext>
                  </a:extLst>
                </a:gridCol>
                <a:gridCol w="448056">
                  <a:extLst>
                    <a:ext uri="{9D8B030D-6E8A-4147-A177-3AD203B41FA5}">
                      <a16:colId xmlns:a16="http://schemas.microsoft.com/office/drawing/2014/main" val="1884254297"/>
                    </a:ext>
                  </a:extLst>
                </a:gridCol>
                <a:gridCol w="448056">
                  <a:extLst>
                    <a:ext uri="{9D8B030D-6E8A-4147-A177-3AD203B41FA5}">
                      <a16:colId xmlns:a16="http://schemas.microsoft.com/office/drawing/2014/main" val="1501315682"/>
                    </a:ext>
                  </a:extLst>
                </a:gridCol>
                <a:gridCol w="448055">
                  <a:extLst>
                    <a:ext uri="{9D8B030D-6E8A-4147-A177-3AD203B41FA5}">
                      <a16:colId xmlns:a16="http://schemas.microsoft.com/office/drawing/2014/main" val="2825470920"/>
                    </a:ext>
                  </a:extLst>
                </a:gridCol>
                <a:gridCol w="448056">
                  <a:extLst>
                    <a:ext uri="{9D8B030D-6E8A-4147-A177-3AD203B41FA5}">
                      <a16:colId xmlns:a16="http://schemas.microsoft.com/office/drawing/2014/main" val="2652091836"/>
                    </a:ext>
                  </a:extLst>
                </a:gridCol>
                <a:gridCol w="448055">
                  <a:extLst>
                    <a:ext uri="{9D8B030D-6E8A-4147-A177-3AD203B41FA5}">
                      <a16:colId xmlns:a16="http://schemas.microsoft.com/office/drawing/2014/main" val="2775558986"/>
                    </a:ext>
                  </a:extLst>
                </a:gridCol>
                <a:gridCol w="448056">
                  <a:extLst>
                    <a:ext uri="{9D8B030D-6E8A-4147-A177-3AD203B41FA5}">
                      <a16:colId xmlns:a16="http://schemas.microsoft.com/office/drawing/2014/main" val="2318077013"/>
                    </a:ext>
                  </a:extLst>
                </a:gridCol>
                <a:gridCol w="448056">
                  <a:extLst>
                    <a:ext uri="{9D8B030D-6E8A-4147-A177-3AD203B41FA5}">
                      <a16:colId xmlns:a16="http://schemas.microsoft.com/office/drawing/2014/main" val="3182741775"/>
                    </a:ext>
                  </a:extLst>
                </a:gridCol>
                <a:gridCol w="448055">
                  <a:extLst>
                    <a:ext uri="{9D8B030D-6E8A-4147-A177-3AD203B41FA5}">
                      <a16:colId xmlns:a16="http://schemas.microsoft.com/office/drawing/2014/main" val="1722560678"/>
                    </a:ext>
                  </a:extLst>
                </a:gridCol>
                <a:gridCol w="448056">
                  <a:extLst>
                    <a:ext uri="{9D8B030D-6E8A-4147-A177-3AD203B41FA5}">
                      <a16:colId xmlns:a16="http://schemas.microsoft.com/office/drawing/2014/main" val="2887719345"/>
                    </a:ext>
                  </a:extLst>
                </a:gridCol>
                <a:gridCol w="448055">
                  <a:extLst>
                    <a:ext uri="{9D8B030D-6E8A-4147-A177-3AD203B41FA5}">
                      <a16:colId xmlns:a16="http://schemas.microsoft.com/office/drawing/2014/main" val="588875010"/>
                    </a:ext>
                  </a:extLst>
                </a:gridCol>
                <a:gridCol w="448056">
                  <a:extLst>
                    <a:ext uri="{9D8B030D-6E8A-4147-A177-3AD203B41FA5}">
                      <a16:colId xmlns:a16="http://schemas.microsoft.com/office/drawing/2014/main" val="1356267931"/>
                    </a:ext>
                  </a:extLst>
                </a:gridCol>
                <a:gridCol w="448056">
                  <a:extLst>
                    <a:ext uri="{9D8B030D-6E8A-4147-A177-3AD203B41FA5}">
                      <a16:colId xmlns:a16="http://schemas.microsoft.com/office/drawing/2014/main" val="743860919"/>
                    </a:ext>
                  </a:extLst>
                </a:gridCol>
                <a:gridCol w="448055">
                  <a:extLst>
                    <a:ext uri="{9D8B030D-6E8A-4147-A177-3AD203B41FA5}">
                      <a16:colId xmlns:a16="http://schemas.microsoft.com/office/drawing/2014/main" val="3685307173"/>
                    </a:ext>
                  </a:extLst>
                </a:gridCol>
                <a:gridCol w="448056">
                  <a:extLst>
                    <a:ext uri="{9D8B030D-6E8A-4147-A177-3AD203B41FA5}">
                      <a16:colId xmlns:a16="http://schemas.microsoft.com/office/drawing/2014/main" val="3248111494"/>
                    </a:ext>
                  </a:extLst>
                </a:gridCol>
                <a:gridCol w="448055">
                  <a:extLst>
                    <a:ext uri="{9D8B030D-6E8A-4147-A177-3AD203B41FA5}">
                      <a16:colId xmlns:a16="http://schemas.microsoft.com/office/drawing/2014/main" val="766000711"/>
                    </a:ext>
                  </a:extLst>
                </a:gridCol>
                <a:gridCol w="448056">
                  <a:extLst>
                    <a:ext uri="{9D8B030D-6E8A-4147-A177-3AD203B41FA5}">
                      <a16:colId xmlns:a16="http://schemas.microsoft.com/office/drawing/2014/main" val="2419156433"/>
                    </a:ext>
                  </a:extLst>
                </a:gridCol>
                <a:gridCol w="448056">
                  <a:extLst>
                    <a:ext uri="{9D8B030D-6E8A-4147-A177-3AD203B41FA5}">
                      <a16:colId xmlns:a16="http://schemas.microsoft.com/office/drawing/2014/main" val="2361867494"/>
                    </a:ext>
                  </a:extLst>
                </a:gridCol>
                <a:gridCol w="448055">
                  <a:extLst>
                    <a:ext uri="{9D8B030D-6E8A-4147-A177-3AD203B41FA5}">
                      <a16:colId xmlns:a16="http://schemas.microsoft.com/office/drawing/2014/main" val="832535601"/>
                    </a:ext>
                  </a:extLst>
                </a:gridCol>
                <a:gridCol w="448056">
                  <a:extLst>
                    <a:ext uri="{9D8B030D-6E8A-4147-A177-3AD203B41FA5}">
                      <a16:colId xmlns:a16="http://schemas.microsoft.com/office/drawing/2014/main" val="647445238"/>
                    </a:ext>
                  </a:extLst>
                </a:gridCol>
                <a:gridCol w="448055">
                  <a:extLst>
                    <a:ext uri="{9D8B030D-6E8A-4147-A177-3AD203B41FA5}">
                      <a16:colId xmlns:a16="http://schemas.microsoft.com/office/drawing/2014/main" val="883778301"/>
                    </a:ext>
                  </a:extLst>
                </a:gridCol>
                <a:gridCol w="448056">
                  <a:extLst>
                    <a:ext uri="{9D8B030D-6E8A-4147-A177-3AD203B41FA5}">
                      <a16:colId xmlns:a16="http://schemas.microsoft.com/office/drawing/2014/main" val="740986838"/>
                    </a:ext>
                  </a:extLst>
                </a:gridCol>
              </a:tblGrid>
              <a:tr h="266561">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Week-4</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Week-1</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Week-2</a:t>
                      </a:r>
                    </a:p>
                  </a:txBody>
                  <a:tcPr anchor="ct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Week-3</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Week-4</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874884714"/>
                  </a:ext>
                </a:extLst>
              </a:tr>
              <a:tr h="5915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extLst>
                  <a:ext uri="{0D108BD9-81ED-4DB2-BD59-A6C34878D82A}">
                    <a16:rowId xmlns:a16="http://schemas.microsoft.com/office/drawing/2014/main" val="1699140307"/>
                  </a:ext>
                </a:extLst>
              </a:tr>
            </a:tbl>
          </a:graphicData>
        </a:graphic>
      </p:graphicFrame>
      <p:sp>
        <p:nvSpPr>
          <p:cNvPr id="25" name="TextBox 24">
            <a:extLst>
              <a:ext uri="{FF2B5EF4-FFF2-40B4-BE49-F238E27FC236}">
                <a16:creationId xmlns:a16="http://schemas.microsoft.com/office/drawing/2014/main" id="{E90844FC-C4EE-60E5-3226-A5A95338D4F2}"/>
              </a:ext>
            </a:extLst>
          </p:cNvPr>
          <p:cNvSpPr txBox="1"/>
          <p:nvPr/>
        </p:nvSpPr>
        <p:spPr>
          <a:xfrm>
            <a:off x="961554" y="2824150"/>
            <a:ext cx="1265251" cy="553998"/>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 preparation meeting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4 hours</a:t>
            </a:r>
          </a:p>
        </p:txBody>
      </p:sp>
      <p:sp>
        <p:nvSpPr>
          <p:cNvPr id="27" name="TextBox 26">
            <a:extLst>
              <a:ext uri="{FF2B5EF4-FFF2-40B4-BE49-F238E27FC236}">
                <a16:creationId xmlns:a16="http://schemas.microsoft.com/office/drawing/2014/main" id="{7F9454E1-CD28-5885-FE14-03DE94844F26}"/>
              </a:ext>
            </a:extLst>
          </p:cNvPr>
          <p:cNvSpPr txBox="1"/>
          <p:nvPr/>
        </p:nvSpPr>
        <p:spPr>
          <a:xfrm>
            <a:off x="2427082" y="2824150"/>
            <a:ext cx="1465528"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 planning session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4 hours</a:t>
            </a:r>
          </a:p>
        </p:txBody>
      </p:sp>
      <p:sp>
        <p:nvSpPr>
          <p:cNvPr id="28" name="TextBox 27">
            <a:extLst>
              <a:ext uri="{FF2B5EF4-FFF2-40B4-BE49-F238E27FC236}">
                <a16:creationId xmlns:a16="http://schemas.microsoft.com/office/drawing/2014/main" id="{6C9BA348-7EF5-90FF-511C-7C561A2D7405}"/>
              </a:ext>
            </a:extLst>
          </p:cNvPr>
          <p:cNvSpPr txBox="1"/>
          <p:nvPr/>
        </p:nvSpPr>
        <p:spPr>
          <a:xfrm>
            <a:off x="10575198" y="2824150"/>
            <a:ext cx="1465514"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Validate DoR for Build start</a:t>
            </a:r>
          </a:p>
        </p:txBody>
      </p:sp>
      <p:cxnSp>
        <p:nvCxnSpPr>
          <p:cNvPr id="29" name="Straight Arrow Connector 28">
            <a:extLst>
              <a:ext uri="{FF2B5EF4-FFF2-40B4-BE49-F238E27FC236}">
                <a16:creationId xmlns:a16="http://schemas.microsoft.com/office/drawing/2014/main" id="{2C1E7249-38A2-D92A-C368-2820F9682E52}"/>
              </a:ext>
            </a:extLst>
          </p:cNvPr>
          <p:cNvCxnSpPr>
            <a:cxnSpLocks/>
          </p:cNvCxnSpPr>
          <p:nvPr/>
        </p:nvCxnSpPr>
        <p:spPr>
          <a:xfrm>
            <a:off x="3059707" y="2530693"/>
            <a:ext cx="0" cy="305986"/>
          </a:xfrm>
          <a:prstGeom prst="straightConnector1">
            <a:avLst/>
          </a:prstGeom>
          <a:noFill/>
          <a:ln w="19050" cap="sq" cmpd="sng" algn="ctr">
            <a:solidFill>
              <a:srgbClr val="F50002"/>
            </a:solidFill>
            <a:prstDash val="solid"/>
            <a:tailEnd type="triangle"/>
          </a:ln>
          <a:effectLst/>
        </p:spPr>
      </p:cxnSp>
      <p:cxnSp>
        <p:nvCxnSpPr>
          <p:cNvPr id="30" name="Connector: Elbow 29">
            <a:extLst>
              <a:ext uri="{FF2B5EF4-FFF2-40B4-BE49-F238E27FC236}">
                <a16:creationId xmlns:a16="http://schemas.microsoft.com/office/drawing/2014/main" id="{855C72A7-6BCE-7E0A-8F92-13A7C5E858CF}"/>
              </a:ext>
            </a:extLst>
          </p:cNvPr>
          <p:cNvCxnSpPr>
            <a:cxnSpLocks/>
          </p:cNvCxnSpPr>
          <p:nvPr/>
        </p:nvCxnSpPr>
        <p:spPr>
          <a:xfrm rot="10800000" flipV="1">
            <a:off x="1594180" y="2532720"/>
            <a:ext cx="967052" cy="237219"/>
          </a:xfrm>
          <a:prstGeom prst="bentConnector2">
            <a:avLst/>
          </a:prstGeom>
          <a:noFill/>
          <a:ln w="19050" cap="sq" cmpd="sng" algn="ctr">
            <a:solidFill>
              <a:srgbClr val="F50002"/>
            </a:solidFill>
            <a:prstDash val="solid"/>
            <a:tailEnd type="triangle"/>
          </a:ln>
          <a:effectLst/>
        </p:spPr>
      </p:cxnSp>
      <p:cxnSp>
        <p:nvCxnSpPr>
          <p:cNvPr id="31" name="Straight Arrow Connector 30">
            <a:extLst>
              <a:ext uri="{FF2B5EF4-FFF2-40B4-BE49-F238E27FC236}">
                <a16:creationId xmlns:a16="http://schemas.microsoft.com/office/drawing/2014/main" id="{AC49F9C8-6D4D-9B20-513F-131ACD9E47B2}"/>
              </a:ext>
            </a:extLst>
          </p:cNvPr>
          <p:cNvCxnSpPr>
            <a:cxnSpLocks/>
          </p:cNvCxnSpPr>
          <p:nvPr/>
        </p:nvCxnSpPr>
        <p:spPr>
          <a:xfrm>
            <a:off x="11560241" y="2528824"/>
            <a:ext cx="0" cy="305986"/>
          </a:xfrm>
          <a:prstGeom prst="straightConnector1">
            <a:avLst/>
          </a:prstGeom>
          <a:noFill/>
          <a:ln w="19050" cap="sq" cmpd="sng" algn="ctr">
            <a:solidFill>
              <a:srgbClr val="F50002"/>
            </a:solidFill>
            <a:prstDash val="solid"/>
            <a:tailEnd type="triangle"/>
          </a:ln>
          <a:effectLst/>
        </p:spPr>
      </p:cxnSp>
      <p:sp>
        <p:nvSpPr>
          <p:cNvPr id="32" name="TextBox 31">
            <a:extLst>
              <a:ext uri="{FF2B5EF4-FFF2-40B4-BE49-F238E27FC236}">
                <a16:creationId xmlns:a16="http://schemas.microsoft.com/office/drawing/2014/main" id="{9A5281AF-BEB4-78AB-4064-117307E1FB86}"/>
              </a:ext>
            </a:extLst>
          </p:cNvPr>
          <p:cNvSpPr txBox="1"/>
          <p:nvPr/>
        </p:nvSpPr>
        <p:spPr>
          <a:xfrm>
            <a:off x="2859006" y="1473999"/>
            <a:ext cx="2852923" cy="307777"/>
          </a:xfrm>
          <a:prstGeom prst="homePlate">
            <a:avLst/>
          </a:prstGeom>
          <a:solidFill>
            <a:srgbClr val="FBEBD1"/>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Sp1 - 4 weeks Build begins</a:t>
            </a:r>
          </a:p>
        </p:txBody>
      </p:sp>
      <p:graphicFrame>
        <p:nvGraphicFramePr>
          <p:cNvPr id="33" name="Table 4">
            <a:extLst>
              <a:ext uri="{FF2B5EF4-FFF2-40B4-BE49-F238E27FC236}">
                <a16:creationId xmlns:a16="http://schemas.microsoft.com/office/drawing/2014/main" id="{D8AAF1C1-04F1-EF0E-C6CF-7A9192E28CD2}"/>
              </a:ext>
            </a:extLst>
          </p:cNvPr>
          <p:cNvGraphicFramePr>
            <a:graphicFrameLocks noGrp="1"/>
          </p:cNvGraphicFramePr>
          <p:nvPr>
            <p:extLst>
              <p:ext uri="{D42A27DB-BD31-4B8C-83A1-F6EECF244321}">
                <p14:modId xmlns:p14="http://schemas.microsoft.com/office/powerpoint/2010/main" val="698532892"/>
              </p:ext>
            </p:extLst>
          </p:nvPr>
        </p:nvGraphicFramePr>
        <p:xfrm>
          <a:off x="620255" y="4272208"/>
          <a:ext cx="11201392" cy="865865"/>
        </p:xfrm>
        <a:graphic>
          <a:graphicData uri="http://schemas.openxmlformats.org/drawingml/2006/table">
            <a:tbl>
              <a:tblPr firstRow="1" bandRow="1"/>
              <a:tblGrid>
                <a:gridCol w="448056">
                  <a:extLst>
                    <a:ext uri="{9D8B030D-6E8A-4147-A177-3AD203B41FA5}">
                      <a16:colId xmlns:a16="http://schemas.microsoft.com/office/drawing/2014/main" val="1563922731"/>
                    </a:ext>
                  </a:extLst>
                </a:gridCol>
                <a:gridCol w="448056">
                  <a:extLst>
                    <a:ext uri="{9D8B030D-6E8A-4147-A177-3AD203B41FA5}">
                      <a16:colId xmlns:a16="http://schemas.microsoft.com/office/drawing/2014/main" val="4076529403"/>
                    </a:ext>
                  </a:extLst>
                </a:gridCol>
                <a:gridCol w="448056">
                  <a:extLst>
                    <a:ext uri="{9D8B030D-6E8A-4147-A177-3AD203B41FA5}">
                      <a16:colId xmlns:a16="http://schemas.microsoft.com/office/drawing/2014/main" val="1923284900"/>
                    </a:ext>
                  </a:extLst>
                </a:gridCol>
                <a:gridCol w="448056">
                  <a:extLst>
                    <a:ext uri="{9D8B030D-6E8A-4147-A177-3AD203B41FA5}">
                      <a16:colId xmlns:a16="http://schemas.microsoft.com/office/drawing/2014/main" val="2193092991"/>
                    </a:ext>
                  </a:extLst>
                </a:gridCol>
                <a:gridCol w="448056">
                  <a:extLst>
                    <a:ext uri="{9D8B030D-6E8A-4147-A177-3AD203B41FA5}">
                      <a16:colId xmlns:a16="http://schemas.microsoft.com/office/drawing/2014/main" val="1884254297"/>
                    </a:ext>
                  </a:extLst>
                </a:gridCol>
                <a:gridCol w="448056">
                  <a:extLst>
                    <a:ext uri="{9D8B030D-6E8A-4147-A177-3AD203B41FA5}">
                      <a16:colId xmlns:a16="http://schemas.microsoft.com/office/drawing/2014/main" val="1501315682"/>
                    </a:ext>
                  </a:extLst>
                </a:gridCol>
                <a:gridCol w="448055">
                  <a:extLst>
                    <a:ext uri="{9D8B030D-6E8A-4147-A177-3AD203B41FA5}">
                      <a16:colId xmlns:a16="http://schemas.microsoft.com/office/drawing/2014/main" val="2825470920"/>
                    </a:ext>
                  </a:extLst>
                </a:gridCol>
                <a:gridCol w="448056">
                  <a:extLst>
                    <a:ext uri="{9D8B030D-6E8A-4147-A177-3AD203B41FA5}">
                      <a16:colId xmlns:a16="http://schemas.microsoft.com/office/drawing/2014/main" val="2652091836"/>
                    </a:ext>
                  </a:extLst>
                </a:gridCol>
                <a:gridCol w="448055">
                  <a:extLst>
                    <a:ext uri="{9D8B030D-6E8A-4147-A177-3AD203B41FA5}">
                      <a16:colId xmlns:a16="http://schemas.microsoft.com/office/drawing/2014/main" val="2775558986"/>
                    </a:ext>
                  </a:extLst>
                </a:gridCol>
                <a:gridCol w="448056">
                  <a:extLst>
                    <a:ext uri="{9D8B030D-6E8A-4147-A177-3AD203B41FA5}">
                      <a16:colId xmlns:a16="http://schemas.microsoft.com/office/drawing/2014/main" val="2318077013"/>
                    </a:ext>
                  </a:extLst>
                </a:gridCol>
                <a:gridCol w="448056">
                  <a:extLst>
                    <a:ext uri="{9D8B030D-6E8A-4147-A177-3AD203B41FA5}">
                      <a16:colId xmlns:a16="http://schemas.microsoft.com/office/drawing/2014/main" val="3182741775"/>
                    </a:ext>
                  </a:extLst>
                </a:gridCol>
                <a:gridCol w="448055">
                  <a:extLst>
                    <a:ext uri="{9D8B030D-6E8A-4147-A177-3AD203B41FA5}">
                      <a16:colId xmlns:a16="http://schemas.microsoft.com/office/drawing/2014/main" val="1722560678"/>
                    </a:ext>
                  </a:extLst>
                </a:gridCol>
                <a:gridCol w="448056">
                  <a:extLst>
                    <a:ext uri="{9D8B030D-6E8A-4147-A177-3AD203B41FA5}">
                      <a16:colId xmlns:a16="http://schemas.microsoft.com/office/drawing/2014/main" val="2887719345"/>
                    </a:ext>
                  </a:extLst>
                </a:gridCol>
                <a:gridCol w="448055">
                  <a:extLst>
                    <a:ext uri="{9D8B030D-6E8A-4147-A177-3AD203B41FA5}">
                      <a16:colId xmlns:a16="http://schemas.microsoft.com/office/drawing/2014/main" val="588875010"/>
                    </a:ext>
                  </a:extLst>
                </a:gridCol>
                <a:gridCol w="448056">
                  <a:extLst>
                    <a:ext uri="{9D8B030D-6E8A-4147-A177-3AD203B41FA5}">
                      <a16:colId xmlns:a16="http://schemas.microsoft.com/office/drawing/2014/main" val="1356267931"/>
                    </a:ext>
                  </a:extLst>
                </a:gridCol>
                <a:gridCol w="448056">
                  <a:extLst>
                    <a:ext uri="{9D8B030D-6E8A-4147-A177-3AD203B41FA5}">
                      <a16:colId xmlns:a16="http://schemas.microsoft.com/office/drawing/2014/main" val="743860919"/>
                    </a:ext>
                  </a:extLst>
                </a:gridCol>
                <a:gridCol w="448055">
                  <a:extLst>
                    <a:ext uri="{9D8B030D-6E8A-4147-A177-3AD203B41FA5}">
                      <a16:colId xmlns:a16="http://schemas.microsoft.com/office/drawing/2014/main" val="3685307173"/>
                    </a:ext>
                  </a:extLst>
                </a:gridCol>
                <a:gridCol w="448056">
                  <a:extLst>
                    <a:ext uri="{9D8B030D-6E8A-4147-A177-3AD203B41FA5}">
                      <a16:colId xmlns:a16="http://schemas.microsoft.com/office/drawing/2014/main" val="3248111494"/>
                    </a:ext>
                  </a:extLst>
                </a:gridCol>
                <a:gridCol w="448055">
                  <a:extLst>
                    <a:ext uri="{9D8B030D-6E8A-4147-A177-3AD203B41FA5}">
                      <a16:colId xmlns:a16="http://schemas.microsoft.com/office/drawing/2014/main" val="766000711"/>
                    </a:ext>
                  </a:extLst>
                </a:gridCol>
                <a:gridCol w="448056">
                  <a:extLst>
                    <a:ext uri="{9D8B030D-6E8A-4147-A177-3AD203B41FA5}">
                      <a16:colId xmlns:a16="http://schemas.microsoft.com/office/drawing/2014/main" val="2419156433"/>
                    </a:ext>
                  </a:extLst>
                </a:gridCol>
                <a:gridCol w="448056">
                  <a:extLst>
                    <a:ext uri="{9D8B030D-6E8A-4147-A177-3AD203B41FA5}">
                      <a16:colId xmlns:a16="http://schemas.microsoft.com/office/drawing/2014/main" val="2361867494"/>
                    </a:ext>
                  </a:extLst>
                </a:gridCol>
                <a:gridCol w="448055">
                  <a:extLst>
                    <a:ext uri="{9D8B030D-6E8A-4147-A177-3AD203B41FA5}">
                      <a16:colId xmlns:a16="http://schemas.microsoft.com/office/drawing/2014/main" val="832535601"/>
                    </a:ext>
                  </a:extLst>
                </a:gridCol>
                <a:gridCol w="448056">
                  <a:extLst>
                    <a:ext uri="{9D8B030D-6E8A-4147-A177-3AD203B41FA5}">
                      <a16:colId xmlns:a16="http://schemas.microsoft.com/office/drawing/2014/main" val="647445238"/>
                    </a:ext>
                  </a:extLst>
                </a:gridCol>
                <a:gridCol w="448055">
                  <a:extLst>
                    <a:ext uri="{9D8B030D-6E8A-4147-A177-3AD203B41FA5}">
                      <a16:colId xmlns:a16="http://schemas.microsoft.com/office/drawing/2014/main" val="883778301"/>
                    </a:ext>
                  </a:extLst>
                </a:gridCol>
                <a:gridCol w="448056">
                  <a:extLst>
                    <a:ext uri="{9D8B030D-6E8A-4147-A177-3AD203B41FA5}">
                      <a16:colId xmlns:a16="http://schemas.microsoft.com/office/drawing/2014/main" val="740986838"/>
                    </a:ext>
                  </a:extLst>
                </a:gridCol>
              </a:tblGrid>
              <a:tr h="266561">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Week-1</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Week-2</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Week-3</a:t>
                      </a:r>
                    </a:p>
                  </a:txBody>
                  <a:tcPr anchor="ct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Week-4</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Week-1</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874884714"/>
                  </a:ext>
                </a:extLst>
              </a:tr>
              <a:tr h="5915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Day-2</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Day-3</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Day-4</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Day-5</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Day-2</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Day-3</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Day-4</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Day-5</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Day-1</a:t>
                      </a:r>
                    </a:p>
                  </a:txBody>
                  <a:tcPr anchor="ctr">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Day-2</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Day-3</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Day-4</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Day-5</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Day-2</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Day-3</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Day-4</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Day-5</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extLst>
                  <a:ext uri="{0D108BD9-81ED-4DB2-BD59-A6C34878D82A}">
                    <a16:rowId xmlns:a16="http://schemas.microsoft.com/office/drawing/2014/main" val="1699140307"/>
                  </a:ext>
                </a:extLst>
              </a:tr>
            </a:tbl>
          </a:graphicData>
        </a:graphic>
      </p:graphicFrame>
      <p:cxnSp>
        <p:nvCxnSpPr>
          <p:cNvPr id="34" name="Straight Arrow Connector 33">
            <a:extLst>
              <a:ext uri="{FF2B5EF4-FFF2-40B4-BE49-F238E27FC236}">
                <a16:creationId xmlns:a16="http://schemas.microsoft.com/office/drawing/2014/main" id="{DDEEF90B-976B-8368-1F41-91CE9BB845CA}"/>
              </a:ext>
            </a:extLst>
          </p:cNvPr>
          <p:cNvCxnSpPr>
            <a:cxnSpLocks/>
          </p:cNvCxnSpPr>
          <p:nvPr/>
        </p:nvCxnSpPr>
        <p:spPr>
          <a:xfrm>
            <a:off x="830770" y="5015127"/>
            <a:ext cx="0" cy="370243"/>
          </a:xfrm>
          <a:prstGeom prst="straightConnector1">
            <a:avLst/>
          </a:prstGeom>
          <a:noFill/>
          <a:ln w="19050" cap="sq" cmpd="sng" algn="ctr">
            <a:solidFill>
              <a:srgbClr val="F50002"/>
            </a:solidFill>
            <a:prstDash val="solid"/>
            <a:tailEnd type="triangle"/>
          </a:ln>
          <a:effectLst/>
        </p:spPr>
      </p:cxnSp>
      <p:sp>
        <p:nvSpPr>
          <p:cNvPr id="35" name="TextBox 34">
            <a:extLst>
              <a:ext uri="{FF2B5EF4-FFF2-40B4-BE49-F238E27FC236}">
                <a16:creationId xmlns:a16="http://schemas.microsoft.com/office/drawing/2014/main" id="{4CDA1F3B-8474-C9C6-88DB-5F13A79B7AD2}"/>
              </a:ext>
            </a:extLst>
          </p:cNvPr>
          <p:cNvSpPr txBox="1"/>
          <p:nvPr/>
        </p:nvSpPr>
        <p:spPr>
          <a:xfrm>
            <a:off x="651243" y="3920239"/>
            <a:ext cx="2852923" cy="307777"/>
          </a:xfrm>
          <a:prstGeom prst="homePlate">
            <a:avLst/>
          </a:prstGeom>
          <a:solidFill>
            <a:srgbClr val="FBEBD1"/>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Sp2 - 4 weeks Build starts</a:t>
            </a:r>
          </a:p>
        </p:txBody>
      </p:sp>
      <p:sp>
        <p:nvSpPr>
          <p:cNvPr id="36" name="TextBox 35">
            <a:extLst>
              <a:ext uri="{FF2B5EF4-FFF2-40B4-BE49-F238E27FC236}">
                <a16:creationId xmlns:a16="http://schemas.microsoft.com/office/drawing/2014/main" id="{62776071-44E7-120F-2F01-0692E23F386D}"/>
              </a:ext>
            </a:extLst>
          </p:cNvPr>
          <p:cNvSpPr txBox="1"/>
          <p:nvPr/>
        </p:nvSpPr>
        <p:spPr>
          <a:xfrm>
            <a:off x="495304" y="5387215"/>
            <a:ext cx="1211180" cy="246221"/>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Start Sprint in Jira </a:t>
            </a:r>
          </a:p>
        </p:txBody>
      </p:sp>
      <p:cxnSp>
        <p:nvCxnSpPr>
          <p:cNvPr id="37" name="Straight Arrow Connector 36">
            <a:extLst>
              <a:ext uri="{FF2B5EF4-FFF2-40B4-BE49-F238E27FC236}">
                <a16:creationId xmlns:a16="http://schemas.microsoft.com/office/drawing/2014/main" id="{C648178A-56DC-7EFB-9FD9-EA9C23ABAEAF}"/>
              </a:ext>
            </a:extLst>
          </p:cNvPr>
          <p:cNvCxnSpPr>
            <a:cxnSpLocks/>
          </p:cNvCxnSpPr>
          <p:nvPr/>
        </p:nvCxnSpPr>
        <p:spPr>
          <a:xfrm>
            <a:off x="9383969" y="4971586"/>
            <a:ext cx="0" cy="370243"/>
          </a:xfrm>
          <a:prstGeom prst="straightConnector1">
            <a:avLst/>
          </a:prstGeom>
          <a:noFill/>
          <a:ln w="19050" cap="sq" cmpd="sng" algn="ctr">
            <a:solidFill>
              <a:srgbClr val="F50002"/>
            </a:solidFill>
            <a:prstDash val="solid"/>
            <a:tailEnd type="triangle"/>
          </a:ln>
          <a:effectLst/>
        </p:spPr>
      </p:cxnSp>
      <p:sp>
        <p:nvSpPr>
          <p:cNvPr id="38" name="TextBox 37">
            <a:extLst>
              <a:ext uri="{FF2B5EF4-FFF2-40B4-BE49-F238E27FC236}">
                <a16:creationId xmlns:a16="http://schemas.microsoft.com/office/drawing/2014/main" id="{50C0C3D7-7A07-4BBA-E3E0-416066FF5988}"/>
              </a:ext>
            </a:extLst>
          </p:cNvPr>
          <p:cNvSpPr txBox="1"/>
          <p:nvPr/>
        </p:nvSpPr>
        <p:spPr>
          <a:xfrm>
            <a:off x="7987959" y="5387215"/>
            <a:ext cx="1465528"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Validate sprint DoD through Jira</a:t>
            </a:r>
          </a:p>
        </p:txBody>
      </p:sp>
      <p:sp>
        <p:nvSpPr>
          <p:cNvPr id="40" name="TextBox 39">
            <a:extLst>
              <a:ext uri="{FF2B5EF4-FFF2-40B4-BE49-F238E27FC236}">
                <a16:creationId xmlns:a16="http://schemas.microsoft.com/office/drawing/2014/main" id="{A3734991-2280-8472-FE69-A2EDF152E502}"/>
              </a:ext>
            </a:extLst>
          </p:cNvPr>
          <p:cNvSpPr txBox="1"/>
          <p:nvPr/>
        </p:nvSpPr>
        <p:spPr>
          <a:xfrm>
            <a:off x="9649986" y="5917344"/>
            <a:ext cx="1603210"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 Retrospective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(1 hour)</a:t>
            </a:r>
            <a:endParaRPr kumimoji="0" lang="en-IN" sz="105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endParaRPr>
          </a:p>
        </p:txBody>
      </p:sp>
      <p:sp>
        <p:nvSpPr>
          <p:cNvPr id="43" name="TextBox 42">
            <a:extLst>
              <a:ext uri="{FF2B5EF4-FFF2-40B4-BE49-F238E27FC236}">
                <a16:creationId xmlns:a16="http://schemas.microsoft.com/office/drawing/2014/main" id="{DCFA2BE9-02E9-ED68-002E-5A342D5A0589}"/>
              </a:ext>
            </a:extLst>
          </p:cNvPr>
          <p:cNvSpPr txBox="1"/>
          <p:nvPr/>
        </p:nvSpPr>
        <p:spPr>
          <a:xfrm>
            <a:off x="9649986" y="5387215"/>
            <a:ext cx="1578394"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 Jira reports &amp; closure</a:t>
            </a:r>
            <a:endParaRPr kumimoji="0" lang="en-IN" sz="105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endParaRPr>
          </a:p>
        </p:txBody>
      </p:sp>
      <p:sp>
        <p:nvSpPr>
          <p:cNvPr id="44" name="TextBox 43">
            <a:extLst>
              <a:ext uri="{FF2B5EF4-FFF2-40B4-BE49-F238E27FC236}">
                <a16:creationId xmlns:a16="http://schemas.microsoft.com/office/drawing/2014/main" id="{F09F858F-5469-CDC6-86B3-321A0A8DFDD3}"/>
              </a:ext>
            </a:extLst>
          </p:cNvPr>
          <p:cNvSpPr txBox="1"/>
          <p:nvPr/>
        </p:nvSpPr>
        <p:spPr>
          <a:xfrm>
            <a:off x="9569022" y="3529397"/>
            <a:ext cx="2158655" cy="307777"/>
          </a:xfrm>
          <a:prstGeom prst="homePlate">
            <a:avLst/>
          </a:prstGeom>
          <a:solidFill>
            <a:schemeClr val="accent2">
              <a:lumMod val="20000"/>
              <a:lumOff val="80000"/>
            </a:schemeClr>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Sp4 - Elaboration start</a:t>
            </a:r>
          </a:p>
        </p:txBody>
      </p:sp>
      <p:sp>
        <p:nvSpPr>
          <p:cNvPr id="45" name="TextBox 44">
            <a:extLst>
              <a:ext uri="{FF2B5EF4-FFF2-40B4-BE49-F238E27FC236}">
                <a16:creationId xmlns:a16="http://schemas.microsoft.com/office/drawing/2014/main" id="{F8A5AFA3-0A5A-5F88-7F8F-EE973027226F}"/>
              </a:ext>
            </a:extLst>
          </p:cNvPr>
          <p:cNvSpPr txBox="1"/>
          <p:nvPr/>
        </p:nvSpPr>
        <p:spPr>
          <a:xfrm>
            <a:off x="370353" y="5959241"/>
            <a:ext cx="8215872" cy="830997"/>
          </a:xfrm>
          <a:prstGeom prst="rect">
            <a:avLst/>
          </a:prstGeom>
          <a:noFill/>
        </p:spPr>
        <p:txBody>
          <a:bodyPr wrap="square" numCol="2"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Optimisation levers: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IN" sz="1200" b="0" i="0" u="none" strike="noStrike" kern="120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User story pushed to dev pipeline when ready</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IN" sz="1200" b="0" i="0" u="none" strike="noStrike" kern="120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Show and tell as soon as the user story is ready</a:t>
            </a:r>
            <a:endParaRPr lang="en-IN" sz="1200">
              <a:solidFill>
                <a:srgbClr val="3C3F41"/>
              </a:solidFill>
              <a:latin typeface="Calibri" panose="020F0502020204030204" pitchFamily="34" charset="0"/>
              <a:cs typeface="Calibri" panose="020F0502020204030204" pitchFamily="34" charset="0"/>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kumimoji="0" lang="en-IN" sz="1200" b="0" i="0" u="none" strike="noStrike" kern="120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kumimoji="0" lang="en-IN" sz="1200" b="0" i="0" u="none" strike="noStrike" kern="120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IN" sz="1200" b="0" i="0" u="none" strike="noStrike" kern="120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Early visibility into sprint closure through Jira dashboards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IN" sz="1200" b="0" i="0" u="none" strike="noStrike" kern="120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Strong focus on using Jira as single source of truth</a:t>
            </a:r>
          </a:p>
        </p:txBody>
      </p:sp>
      <p:sp>
        <p:nvSpPr>
          <p:cNvPr id="3" name="TextBox 2">
            <a:extLst>
              <a:ext uri="{FF2B5EF4-FFF2-40B4-BE49-F238E27FC236}">
                <a16:creationId xmlns:a16="http://schemas.microsoft.com/office/drawing/2014/main" id="{23275E9A-CE8A-EC0B-90B5-37D7C194F9D2}"/>
              </a:ext>
            </a:extLst>
          </p:cNvPr>
          <p:cNvSpPr txBox="1"/>
          <p:nvPr/>
        </p:nvSpPr>
        <p:spPr>
          <a:xfrm>
            <a:off x="2863358" y="1085695"/>
            <a:ext cx="2852923" cy="307777"/>
          </a:xfrm>
          <a:prstGeom prst="homePlate">
            <a:avLst/>
          </a:prstGeom>
          <a:solidFill>
            <a:schemeClr val="accent2">
              <a:lumMod val="20000"/>
              <a:lumOff val="80000"/>
            </a:schemeClr>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Sp2 - 4 weeks Elaboration begins</a:t>
            </a:r>
          </a:p>
        </p:txBody>
      </p:sp>
      <p:sp>
        <p:nvSpPr>
          <p:cNvPr id="4" name="TextBox 3">
            <a:extLst>
              <a:ext uri="{FF2B5EF4-FFF2-40B4-BE49-F238E27FC236}">
                <a16:creationId xmlns:a16="http://schemas.microsoft.com/office/drawing/2014/main" id="{C3209A12-BCEA-ABD4-70A4-F8319A709275}"/>
              </a:ext>
            </a:extLst>
          </p:cNvPr>
          <p:cNvSpPr txBox="1"/>
          <p:nvPr/>
        </p:nvSpPr>
        <p:spPr>
          <a:xfrm flipH="1">
            <a:off x="640696" y="1085695"/>
            <a:ext cx="2158655" cy="307777"/>
          </a:xfrm>
          <a:prstGeom prst="homePlate">
            <a:avLst/>
          </a:prstGeom>
          <a:solidFill>
            <a:schemeClr val="accent2">
              <a:lumMod val="20000"/>
              <a:lumOff val="80000"/>
            </a:schemeClr>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Sp1 </a:t>
            </a:r>
            <a:r>
              <a:rPr kumimoji="0" lang="en-IN" sz="1400" b="1" i="0" u="none" strike="noStrike" kern="0" cap="none" spc="0" normalizeH="0" baseline="0" noProof="0" err="1">
                <a:ln>
                  <a:noFill/>
                </a:ln>
                <a:solidFill>
                  <a:srgbClr val="3C3F41"/>
                </a:solidFill>
                <a:effectLst/>
                <a:uLnTx/>
                <a:uFillTx/>
                <a:latin typeface="Calibri" panose="020F0502020204030204" pitchFamily="34" charset="0"/>
                <a:ea typeface="+mn-ea"/>
                <a:cs typeface="Calibri" panose="020F0502020204030204" pitchFamily="34" charset="0"/>
              </a:rPr>
              <a:t>Elab</a:t>
            </a: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completes</a:t>
            </a:r>
          </a:p>
        </p:txBody>
      </p:sp>
      <p:sp>
        <p:nvSpPr>
          <p:cNvPr id="5" name="TextBox 4">
            <a:extLst>
              <a:ext uri="{FF2B5EF4-FFF2-40B4-BE49-F238E27FC236}">
                <a16:creationId xmlns:a16="http://schemas.microsoft.com/office/drawing/2014/main" id="{8F9A22B1-C737-C109-A7DB-059FA7F8F738}"/>
              </a:ext>
            </a:extLst>
          </p:cNvPr>
          <p:cNvSpPr txBox="1"/>
          <p:nvPr/>
        </p:nvSpPr>
        <p:spPr>
          <a:xfrm>
            <a:off x="640987" y="3564141"/>
            <a:ext cx="2852923" cy="307777"/>
          </a:xfrm>
          <a:prstGeom prst="homePlate">
            <a:avLst/>
          </a:prstGeom>
          <a:solidFill>
            <a:schemeClr val="accent3">
              <a:lumMod val="20000"/>
              <a:lumOff val="80000"/>
            </a:schemeClr>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Sp3 - 4 weeks Elaboration begins</a:t>
            </a:r>
          </a:p>
        </p:txBody>
      </p:sp>
      <p:sp>
        <p:nvSpPr>
          <p:cNvPr id="6" name="TextBox 5">
            <a:extLst>
              <a:ext uri="{FF2B5EF4-FFF2-40B4-BE49-F238E27FC236}">
                <a16:creationId xmlns:a16="http://schemas.microsoft.com/office/drawing/2014/main" id="{56B9CC8E-A752-B9C9-062E-A1E912A1D60D}"/>
              </a:ext>
            </a:extLst>
          </p:cNvPr>
          <p:cNvSpPr txBox="1"/>
          <p:nvPr/>
        </p:nvSpPr>
        <p:spPr>
          <a:xfrm>
            <a:off x="9570893" y="3924592"/>
            <a:ext cx="2143443" cy="307777"/>
          </a:xfrm>
          <a:prstGeom prst="homePlate">
            <a:avLst/>
          </a:prstGeom>
          <a:solidFill>
            <a:srgbClr val="FBEBD1"/>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Sp3 - Build starts</a:t>
            </a:r>
          </a:p>
        </p:txBody>
      </p:sp>
      <p:cxnSp>
        <p:nvCxnSpPr>
          <p:cNvPr id="7" name="Connector: Elbow 6">
            <a:extLst>
              <a:ext uri="{FF2B5EF4-FFF2-40B4-BE49-F238E27FC236}">
                <a16:creationId xmlns:a16="http://schemas.microsoft.com/office/drawing/2014/main" id="{46C58010-6DC2-8642-BFA0-BCB23F326B00}"/>
              </a:ext>
            </a:extLst>
          </p:cNvPr>
          <p:cNvCxnSpPr>
            <a:cxnSpLocks/>
          </p:cNvCxnSpPr>
          <p:nvPr/>
        </p:nvCxnSpPr>
        <p:spPr>
          <a:xfrm rot="10800000" flipH="1" flipV="1">
            <a:off x="9762586" y="5051010"/>
            <a:ext cx="967052" cy="237219"/>
          </a:xfrm>
          <a:prstGeom prst="bentConnector2">
            <a:avLst/>
          </a:prstGeom>
          <a:noFill/>
          <a:ln w="19050" cap="sq" cmpd="sng" algn="ctr">
            <a:solidFill>
              <a:srgbClr val="F50002"/>
            </a:solidFill>
            <a:prstDash val="solid"/>
            <a:tailEnd type="triangle"/>
          </a:ln>
          <a:effectLst/>
        </p:spPr>
      </p:cxnSp>
      <p:sp>
        <p:nvSpPr>
          <p:cNvPr id="8" name="Title 3">
            <a:extLst>
              <a:ext uri="{FF2B5EF4-FFF2-40B4-BE49-F238E27FC236}">
                <a16:creationId xmlns:a16="http://schemas.microsoft.com/office/drawing/2014/main" id="{CC400892-942D-10BD-42F8-D43114A7A136}"/>
              </a:ext>
            </a:extLst>
          </p:cNvPr>
          <p:cNvSpPr txBox="1">
            <a:spLocks/>
          </p:cNvSpPr>
          <p:nvPr/>
        </p:nvSpPr>
        <p:spPr>
          <a:xfrm>
            <a:off x="184150" y="284162"/>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r>
              <a:rPr lang="en-US" sz="2800" cap="none">
                <a:solidFill>
                  <a:schemeClr val="tx1"/>
                </a:solidFill>
              </a:rPr>
              <a:t>Key Events on a Timeline</a:t>
            </a:r>
          </a:p>
        </p:txBody>
      </p:sp>
    </p:spTree>
    <p:extLst>
      <p:ext uri="{BB962C8B-B14F-4D97-AF65-F5344CB8AC3E}">
        <p14:creationId xmlns:p14="http://schemas.microsoft.com/office/powerpoint/2010/main" val="7523739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 name="Group 55"/>
          <p:cNvGrpSpPr>
            <a:grpSpLocks noChangeAspect="1"/>
          </p:cNvGrpSpPr>
          <p:nvPr>
            <p:custDataLst>
              <p:tags r:id="rId1"/>
            </p:custDataLst>
          </p:nvPr>
        </p:nvGrpSpPr>
        <p:grpSpPr>
          <a:xfrm>
            <a:off x="4190998" y="1685888"/>
            <a:ext cx="3810000" cy="3810000"/>
            <a:chOff x="4191000" y="1524000"/>
            <a:chExt cx="3810000" cy="3810000"/>
          </a:xfrm>
          <a:solidFill>
            <a:schemeClr val="accent1"/>
          </a:solidFill>
        </p:grpSpPr>
        <p:sp>
          <p:nvSpPr>
            <p:cNvPr id="5" name="Block Arc 4"/>
            <p:cNvSpPr/>
            <p:nvPr>
              <p:custDataLst>
                <p:tags r:id="rId27"/>
              </p:custDataLst>
            </p:nvPr>
          </p:nvSpPr>
          <p:spPr>
            <a:xfrm>
              <a:off x="4191000" y="1524000"/>
              <a:ext cx="3810000" cy="3810000"/>
            </a:xfrm>
            <a:prstGeom prst="blockArc">
              <a:avLst>
                <a:gd name="adj1" fmla="val 0"/>
                <a:gd name="adj2" fmla="val 3600000"/>
                <a:gd name="adj3" fmla="val 25000"/>
              </a:avLst>
            </a:prstGeom>
            <a:solidFill>
              <a:schemeClr val="accent4"/>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endParaRPr lang="en-US" sz="1200">
                <a:solidFill>
                  <a:srgbClr val="FFFFFF"/>
                </a:solidFill>
                <a:effectLst>
                  <a:glow>
                    <a:scrgbClr r="0" g="0" b="0"/>
                  </a:glow>
                </a:effectLst>
              </a:endParaRPr>
            </a:p>
          </p:txBody>
        </p:sp>
        <p:sp>
          <p:nvSpPr>
            <p:cNvPr id="6" name="Block Arc 5"/>
            <p:cNvSpPr/>
            <p:nvPr>
              <p:custDataLst>
                <p:tags r:id="rId28"/>
              </p:custDataLst>
            </p:nvPr>
          </p:nvSpPr>
          <p:spPr>
            <a:xfrm>
              <a:off x="4191000" y="1524000"/>
              <a:ext cx="3810000" cy="3810000"/>
            </a:xfrm>
            <a:prstGeom prst="blockArc">
              <a:avLst>
                <a:gd name="adj1" fmla="val 3600000"/>
                <a:gd name="adj2" fmla="val 7200000"/>
                <a:gd name="adj3" fmla="val 25000"/>
              </a:avLst>
            </a:prstGeom>
            <a:solidFill>
              <a:schemeClr val="accent5"/>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endParaRPr lang="en-US" sz="1200">
                <a:solidFill>
                  <a:srgbClr val="FFFFFF"/>
                </a:solidFill>
                <a:effectLst>
                  <a:glow>
                    <a:scrgbClr r="0" g="0" b="0"/>
                  </a:glow>
                </a:effectLst>
              </a:endParaRPr>
            </a:p>
          </p:txBody>
        </p:sp>
        <p:sp>
          <p:nvSpPr>
            <p:cNvPr id="7" name="Block Arc 6"/>
            <p:cNvSpPr/>
            <p:nvPr>
              <p:custDataLst>
                <p:tags r:id="rId29"/>
              </p:custDataLst>
            </p:nvPr>
          </p:nvSpPr>
          <p:spPr>
            <a:xfrm>
              <a:off x="4191000" y="1524000"/>
              <a:ext cx="3810000" cy="3810000"/>
            </a:xfrm>
            <a:prstGeom prst="blockArc">
              <a:avLst>
                <a:gd name="adj1" fmla="val 7200000"/>
                <a:gd name="adj2" fmla="val 10800000"/>
                <a:gd name="adj3" fmla="val 25000"/>
              </a:avLst>
            </a:prstGeom>
            <a:solidFill>
              <a:schemeClr val="accent6"/>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endParaRPr lang="en-US" sz="1200">
                <a:solidFill>
                  <a:srgbClr val="FFFFFF"/>
                </a:solidFill>
                <a:effectLst>
                  <a:glow>
                    <a:scrgbClr r="0" g="0" b="0"/>
                  </a:glow>
                </a:effectLst>
              </a:endParaRPr>
            </a:p>
          </p:txBody>
        </p:sp>
        <p:sp>
          <p:nvSpPr>
            <p:cNvPr id="8" name="Block Arc 7"/>
            <p:cNvSpPr/>
            <p:nvPr>
              <p:custDataLst>
                <p:tags r:id="rId30"/>
              </p:custDataLst>
            </p:nvPr>
          </p:nvSpPr>
          <p:spPr>
            <a:xfrm>
              <a:off x="4191000" y="1524000"/>
              <a:ext cx="3810000" cy="3810000"/>
            </a:xfrm>
            <a:prstGeom prst="blockArc">
              <a:avLst>
                <a:gd name="adj1" fmla="val 10800000"/>
                <a:gd name="adj2" fmla="val 144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endParaRPr lang="en-US" sz="1200">
                <a:solidFill>
                  <a:srgbClr val="FFFFFF"/>
                </a:solidFill>
                <a:effectLst>
                  <a:glow>
                    <a:scrgbClr r="0" g="0" b="0"/>
                  </a:glow>
                </a:effectLst>
              </a:endParaRPr>
            </a:p>
          </p:txBody>
        </p:sp>
        <p:sp>
          <p:nvSpPr>
            <p:cNvPr id="9" name="Block Arc 8"/>
            <p:cNvSpPr/>
            <p:nvPr>
              <p:custDataLst>
                <p:tags r:id="rId31"/>
              </p:custDataLst>
            </p:nvPr>
          </p:nvSpPr>
          <p:spPr>
            <a:xfrm>
              <a:off x="4191000" y="1524000"/>
              <a:ext cx="3810000" cy="3810000"/>
            </a:xfrm>
            <a:prstGeom prst="blockArc">
              <a:avLst>
                <a:gd name="adj1" fmla="val 14400000"/>
                <a:gd name="adj2" fmla="val 18000000"/>
                <a:gd name="adj3" fmla="val 25000"/>
              </a:avLst>
            </a:prstGeom>
            <a:solidFill>
              <a:schemeClr val="accent2"/>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endParaRPr lang="en-US" sz="1200">
                <a:solidFill>
                  <a:srgbClr val="FFFFFF"/>
                </a:solidFill>
                <a:effectLst>
                  <a:glow>
                    <a:scrgbClr r="0" g="0" b="0"/>
                  </a:glow>
                </a:effectLst>
              </a:endParaRPr>
            </a:p>
          </p:txBody>
        </p:sp>
        <p:sp>
          <p:nvSpPr>
            <p:cNvPr id="10" name="Block Arc 9"/>
            <p:cNvSpPr/>
            <p:nvPr>
              <p:custDataLst>
                <p:tags r:id="rId32"/>
              </p:custDataLst>
            </p:nvPr>
          </p:nvSpPr>
          <p:spPr>
            <a:xfrm>
              <a:off x="4191000" y="1524000"/>
              <a:ext cx="3810000" cy="3810000"/>
            </a:xfrm>
            <a:prstGeom prst="blockArc">
              <a:avLst>
                <a:gd name="adj1" fmla="val 18000000"/>
                <a:gd name="adj2" fmla="val 0"/>
                <a:gd name="adj3" fmla="val 25000"/>
              </a:avLst>
            </a:prstGeom>
            <a:solidFill>
              <a:schemeClr val="accent3"/>
            </a:solid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endParaRPr lang="en-US" sz="1200">
                <a:solidFill>
                  <a:srgbClr val="FFFFFF"/>
                </a:solidFill>
                <a:effectLst>
                  <a:glow>
                    <a:scrgbClr r="0" g="0" b="0"/>
                  </a:glow>
                </a:effectLst>
              </a:endParaRPr>
            </a:p>
          </p:txBody>
        </p:sp>
        <p:sp>
          <p:nvSpPr>
            <p:cNvPr id="11" name="Block Arc 10" hidden="1"/>
            <p:cNvSpPr/>
            <p:nvPr>
              <p:custDataLst>
                <p:tags r:id="rId33"/>
              </p:custDataLst>
            </p:nvPr>
          </p:nvSpPr>
          <p:spPr>
            <a:xfrm>
              <a:off x="4191000" y="1524000"/>
              <a:ext cx="3810000" cy="3810000"/>
            </a:xfrm>
            <a:prstGeom prst="blockArc">
              <a:avLst>
                <a:gd name="adj1" fmla="val 0"/>
                <a:gd name="adj2" fmla="val 36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12" name="Block Arc 11" hidden="1"/>
            <p:cNvSpPr/>
            <p:nvPr>
              <p:custDataLst>
                <p:tags r:id="rId34"/>
              </p:custDataLst>
            </p:nvPr>
          </p:nvSpPr>
          <p:spPr>
            <a:xfrm>
              <a:off x="4191000" y="1524000"/>
              <a:ext cx="3810000" cy="3810000"/>
            </a:xfrm>
            <a:prstGeom prst="blockArc">
              <a:avLst>
                <a:gd name="adj1" fmla="val 3600000"/>
                <a:gd name="adj2" fmla="val 72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13" name="Block Arc 12" hidden="1"/>
            <p:cNvSpPr/>
            <p:nvPr>
              <p:custDataLst>
                <p:tags r:id="rId35"/>
              </p:custDataLst>
            </p:nvPr>
          </p:nvSpPr>
          <p:spPr>
            <a:xfrm>
              <a:off x="4191000" y="1524000"/>
              <a:ext cx="3810000" cy="3810000"/>
            </a:xfrm>
            <a:prstGeom prst="blockArc">
              <a:avLst>
                <a:gd name="adj1" fmla="val 7200000"/>
                <a:gd name="adj2" fmla="val 108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14" name="Block Arc 13" hidden="1"/>
            <p:cNvSpPr/>
            <p:nvPr>
              <p:custDataLst>
                <p:tags r:id="rId36"/>
              </p:custDataLst>
            </p:nvPr>
          </p:nvSpPr>
          <p:spPr>
            <a:xfrm>
              <a:off x="4191000" y="1524000"/>
              <a:ext cx="3810000" cy="3810000"/>
            </a:xfrm>
            <a:prstGeom prst="blockArc">
              <a:avLst>
                <a:gd name="adj1" fmla="val 10800000"/>
                <a:gd name="adj2" fmla="val 144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15" name="Block Arc 14" hidden="1"/>
            <p:cNvSpPr/>
            <p:nvPr>
              <p:custDataLst>
                <p:tags r:id="rId37"/>
              </p:custDataLst>
            </p:nvPr>
          </p:nvSpPr>
          <p:spPr>
            <a:xfrm>
              <a:off x="4191000" y="1524000"/>
              <a:ext cx="3810000" cy="3810000"/>
            </a:xfrm>
            <a:prstGeom prst="blockArc">
              <a:avLst>
                <a:gd name="adj1" fmla="val 14400000"/>
                <a:gd name="adj2" fmla="val 180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16" name="Block Arc 15" hidden="1"/>
            <p:cNvSpPr/>
            <p:nvPr>
              <p:custDataLst>
                <p:tags r:id="rId38"/>
              </p:custDataLst>
            </p:nvPr>
          </p:nvSpPr>
          <p:spPr>
            <a:xfrm>
              <a:off x="4191000" y="1524000"/>
              <a:ext cx="3810000" cy="3810000"/>
            </a:xfrm>
            <a:prstGeom prst="blockArc">
              <a:avLst>
                <a:gd name="adj1" fmla="val 18000000"/>
                <a:gd name="adj2" fmla="val 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17" name="Block Arc 16" hidden="1"/>
            <p:cNvSpPr/>
            <p:nvPr>
              <p:custDataLst>
                <p:tags r:id="rId39"/>
              </p:custDataLst>
            </p:nvPr>
          </p:nvSpPr>
          <p:spPr>
            <a:xfrm>
              <a:off x="4191000" y="1524000"/>
              <a:ext cx="3810000" cy="3810000"/>
            </a:xfrm>
            <a:prstGeom prst="blockArc">
              <a:avLst>
                <a:gd name="adj1" fmla="val 0"/>
                <a:gd name="adj2" fmla="val 36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18" name="Block Arc 17" hidden="1"/>
            <p:cNvSpPr/>
            <p:nvPr>
              <p:custDataLst>
                <p:tags r:id="rId40"/>
              </p:custDataLst>
            </p:nvPr>
          </p:nvSpPr>
          <p:spPr>
            <a:xfrm>
              <a:off x="4191000" y="1524000"/>
              <a:ext cx="3810000" cy="3810000"/>
            </a:xfrm>
            <a:prstGeom prst="blockArc">
              <a:avLst>
                <a:gd name="adj1" fmla="val 3600000"/>
                <a:gd name="adj2" fmla="val 72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19" name="Block Arc 18" hidden="1"/>
            <p:cNvSpPr/>
            <p:nvPr>
              <p:custDataLst>
                <p:tags r:id="rId41"/>
              </p:custDataLst>
            </p:nvPr>
          </p:nvSpPr>
          <p:spPr>
            <a:xfrm>
              <a:off x="4191000" y="1524000"/>
              <a:ext cx="3810000" cy="3810000"/>
            </a:xfrm>
            <a:prstGeom prst="blockArc">
              <a:avLst>
                <a:gd name="adj1" fmla="val 7200000"/>
                <a:gd name="adj2" fmla="val 108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20" name="Block Arc 19" hidden="1"/>
            <p:cNvSpPr/>
            <p:nvPr>
              <p:custDataLst>
                <p:tags r:id="rId42"/>
              </p:custDataLst>
            </p:nvPr>
          </p:nvSpPr>
          <p:spPr>
            <a:xfrm>
              <a:off x="4191000" y="1524000"/>
              <a:ext cx="3810000" cy="3810000"/>
            </a:xfrm>
            <a:prstGeom prst="blockArc">
              <a:avLst>
                <a:gd name="adj1" fmla="val 10800000"/>
                <a:gd name="adj2" fmla="val 144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21" name="Block Arc 20" hidden="1"/>
            <p:cNvSpPr/>
            <p:nvPr>
              <p:custDataLst>
                <p:tags r:id="rId43"/>
              </p:custDataLst>
            </p:nvPr>
          </p:nvSpPr>
          <p:spPr>
            <a:xfrm>
              <a:off x="4191000" y="1524000"/>
              <a:ext cx="3810000" cy="3810000"/>
            </a:xfrm>
            <a:prstGeom prst="blockArc">
              <a:avLst>
                <a:gd name="adj1" fmla="val 14400000"/>
                <a:gd name="adj2" fmla="val 180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22" name="Block Arc 21" hidden="1"/>
            <p:cNvSpPr/>
            <p:nvPr>
              <p:custDataLst>
                <p:tags r:id="rId44"/>
              </p:custDataLst>
            </p:nvPr>
          </p:nvSpPr>
          <p:spPr>
            <a:xfrm>
              <a:off x="4191000" y="1524000"/>
              <a:ext cx="3810000" cy="3810000"/>
            </a:xfrm>
            <a:prstGeom prst="blockArc">
              <a:avLst>
                <a:gd name="adj1" fmla="val 18000000"/>
                <a:gd name="adj2" fmla="val 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23" name="Block Arc 22" hidden="1"/>
            <p:cNvSpPr/>
            <p:nvPr>
              <p:custDataLst>
                <p:tags r:id="rId45"/>
              </p:custDataLst>
            </p:nvPr>
          </p:nvSpPr>
          <p:spPr>
            <a:xfrm>
              <a:off x="4191000" y="1524000"/>
              <a:ext cx="3810000" cy="3810000"/>
            </a:xfrm>
            <a:prstGeom prst="blockArc">
              <a:avLst>
                <a:gd name="adj1" fmla="val 0"/>
                <a:gd name="adj2" fmla="val 36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24" name="Block Arc 23" hidden="1"/>
            <p:cNvSpPr/>
            <p:nvPr>
              <p:custDataLst>
                <p:tags r:id="rId46"/>
              </p:custDataLst>
            </p:nvPr>
          </p:nvSpPr>
          <p:spPr>
            <a:xfrm>
              <a:off x="4191000" y="1524000"/>
              <a:ext cx="3810000" cy="3810000"/>
            </a:xfrm>
            <a:prstGeom prst="blockArc">
              <a:avLst>
                <a:gd name="adj1" fmla="val 3600000"/>
                <a:gd name="adj2" fmla="val 72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25" name="Block Arc 24" hidden="1"/>
            <p:cNvSpPr/>
            <p:nvPr>
              <p:custDataLst>
                <p:tags r:id="rId47"/>
              </p:custDataLst>
            </p:nvPr>
          </p:nvSpPr>
          <p:spPr>
            <a:xfrm>
              <a:off x="4191000" y="1524000"/>
              <a:ext cx="3810000" cy="3810000"/>
            </a:xfrm>
            <a:prstGeom prst="blockArc">
              <a:avLst>
                <a:gd name="adj1" fmla="val 7200000"/>
                <a:gd name="adj2" fmla="val 108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26" name="Block Arc 25" hidden="1"/>
            <p:cNvSpPr/>
            <p:nvPr>
              <p:custDataLst>
                <p:tags r:id="rId48"/>
              </p:custDataLst>
            </p:nvPr>
          </p:nvSpPr>
          <p:spPr>
            <a:xfrm>
              <a:off x="4191000" y="1524000"/>
              <a:ext cx="3810000" cy="3810000"/>
            </a:xfrm>
            <a:prstGeom prst="blockArc">
              <a:avLst>
                <a:gd name="adj1" fmla="val 10800000"/>
                <a:gd name="adj2" fmla="val 144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27" name="Block Arc 26" hidden="1"/>
            <p:cNvSpPr/>
            <p:nvPr>
              <p:custDataLst>
                <p:tags r:id="rId49"/>
              </p:custDataLst>
            </p:nvPr>
          </p:nvSpPr>
          <p:spPr>
            <a:xfrm>
              <a:off x="4191000" y="1524000"/>
              <a:ext cx="3810000" cy="3810000"/>
            </a:xfrm>
            <a:prstGeom prst="blockArc">
              <a:avLst>
                <a:gd name="adj1" fmla="val 14400000"/>
                <a:gd name="adj2" fmla="val 180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28" name="Block Arc 27" hidden="1"/>
            <p:cNvSpPr/>
            <p:nvPr>
              <p:custDataLst>
                <p:tags r:id="rId50"/>
              </p:custDataLst>
            </p:nvPr>
          </p:nvSpPr>
          <p:spPr>
            <a:xfrm>
              <a:off x="4191000" y="1524000"/>
              <a:ext cx="3810000" cy="3810000"/>
            </a:xfrm>
            <a:prstGeom prst="blockArc">
              <a:avLst>
                <a:gd name="adj1" fmla="val 18000000"/>
                <a:gd name="adj2" fmla="val 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29" name="Block Arc 28" hidden="1"/>
            <p:cNvSpPr/>
            <p:nvPr>
              <p:custDataLst>
                <p:tags r:id="rId51"/>
              </p:custDataLst>
            </p:nvPr>
          </p:nvSpPr>
          <p:spPr>
            <a:xfrm>
              <a:off x="4191000" y="1524000"/>
              <a:ext cx="3810000" cy="3810000"/>
            </a:xfrm>
            <a:prstGeom prst="blockArc">
              <a:avLst>
                <a:gd name="adj1" fmla="val 0"/>
                <a:gd name="adj2" fmla="val 36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30" name="Block Arc 29" hidden="1"/>
            <p:cNvSpPr/>
            <p:nvPr>
              <p:custDataLst>
                <p:tags r:id="rId52"/>
              </p:custDataLst>
            </p:nvPr>
          </p:nvSpPr>
          <p:spPr>
            <a:xfrm>
              <a:off x="4191000" y="1524000"/>
              <a:ext cx="3810000" cy="3810000"/>
            </a:xfrm>
            <a:prstGeom prst="blockArc">
              <a:avLst>
                <a:gd name="adj1" fmla="val 3600000"/>
                <a:gd name="adj2" fmla="val 72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31" name="Block Arc 30" hidden="1"/>
            <p:cNvSpPr/>
            <p:nvPr>
              <p:custDataLst>
                <p:tags r:id="rId53"/>
              </p:custDataLst>
            </p:nvPr>
          </p:nvSpPr>
          <p:spPr>
            <a:xfrm>
              <a:off x="4191000" y="1524000"/>
              <a:ext cx="3810000" cy="3810000"/>
            </a:xfrm>
            <a:prstGeom prst="blockArc">
              <a:avLst>
                <a:gd name="adj1" fmla="val 7200000"/>
                <a:gd name="adj2" fmla="val 108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32" name="Block Arc 31" hidden="1"/>
            <p:cNvSpPr/>
            <p:nvPr>
              <p:custDataLst>
                <p:tags r:id="rId54"/>
              </p:custDataLst>
            </p:nvPr>
          </p:nvSpPr>
          <p:spPr>
            <a:xfrm>
              <a:off x="4191000" y="1524000"/>
              <a:ext cx="3810000" cy="3810000"/>
            </a:xfrm>
            <a:prstGeom prst="blockArc">
              <a:avLst>
                <a:gd name="adj1" fmla="val 10800000"/>
                <a:gd name="adj2" fmla="val 144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33" name="Block Arc 32" hidden="1"/>
            <p:cNvSpPr/>
            <p:nvPr>
              <p:custDataLst>
                <p:tags r:id="rId55"/>
              </p:custDataLst>
            </p:nvPr>
          </p:nvSpPr>
          <p:spPr>
            <a:xfrm>
              <a:off x="4191000" y="1524000"/>
              <a:ext cx="3810000" cy="3810000"/>
            </a:xfrm>
            <a:prstGeom prst="blockArc">
              <a:avLst>
                <a:gd name="adj1" fmla="val 14400000"/>
                <a:gd name="adj2" fmla="val 180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34" name="Block Arc 33" hidden="1"/>
            <p:cNvSpPr/>
            <p:nvPr>
              <p:custDataLst>
                <p:tags r:id="rId56"/>
              </p:custDataLst>
            </p:nvPr>
          </p:nvSpPr>
          <p:spPr>
            <a:xfrm>
              <a:off x="4191000" y="1524000"/>
              <a:ext cx="3810000" cy="3810000"/>
            </a:xfrm>
            <a:prstGeom prst="blockArc">
              <a:avLst>
                <a:gd name="adj1" fmla="val 18000000"/>
                <a:gd name="adj2" fmla="val 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35" name="Block Arc 34" hidden="1"/>
            <p:cNvSpPr/>
            <p:nvPr>
              <p:custDataLst>
                <p:tags r:id="rId57"/>
              </p:custDataLst>
            </p:nvPr>
          </p:nvSpPr>
          <p:spPr>
            <a:xfrm>
              <a:off x="4191000" y="1524000"/>
              <a:ext cx="3810000" cy="3810000"/>
            </a:xfrm>
            <a:prstGeom prst="blockArc">
              <a:avLst>
                <a:gd name="adj1" fmla="val 0"/>
                <a:gd name="adj2" fmla="val 36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36" name="Block Arc 35" hidden="1"/>
            <p:cNvSpPr/>
            <p:nvPr>
              <p:custDataLst>
                <p:tags r:id="rId58"/>
              </p:custDataLst>
            </p:nvPr>
          </p:nvSpPr>
          <p:spPr>
            <a:xfrm>
              <a:off x="4191000" y="1524000"/>
              <a:ext cx="3810000" cy="3810000"/>
            </a:xfrm>
            <a:prstGeom prst="blockArc">
              <a:avLst>
                <a:gd name="adj1" fmla="val 3600000"/>
                <a:gd name="adj2" fmla="val 72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37" name="Block Arc 36" hidden="1"/>
            <p:cNvSpPr/>
            <p:nvPr>
              <p:custDataLst>
                <p:tags r:id="rId59"/>
              </p:custDataLst>
            </p:nvPr>
          </p:nvSpPr>
          <p:spPr>
            <a:xfrm>
              <a:off x="4191000" y="1524000"/>
              <a:ext cx="3810000" cy="3810000"/>
            </a:xfrm>
            <a:prstGeom prst="blockArc">
              <a:avLst>
                <a:gd name="adj1" fmla="val 7200000"/>
                <a:gd name="adj2" fmla="val 108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38" name="Block Arc 37" hidden="1"/>
            <p:cNvSpPr/>
            <p:nvPr>
              <p:custDataLst>
                <p:tags r:id="rId60"/>
              </p:custDataLst>
            </p:nvPr>
          </p:nvSpPr>
          <p:spPr>
            <a:xfrm>
              <a:off x="4191000" y="1524000"/>
              <a:ext cx="3810000" cy="3810000"/>
            </a:xfrm>
            <a:prstGeom prst="blockArc">
              <a:avLst>
                <a:gd name="adj1" fmla="val 10800000"/>
                <a:gd name="adj2" fmla="val 144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39" name="Block Arc 38" hidden="1"/>
            <p:cNvSpPr/>
            <p:nvPr>
              <p:custDataLst>
                <p:tags r:id="rId61"/>
              </p:custDataLst>
            </p:nvPr>
          </p:nvSpPr>
          <p:spPr>
            <a:xfrm>
              <a:off x="4191000" y="1524000"/>
              <a:ext cx="3810000" cy="3810000"/>
            </a:xfrm>
            <a:prstGeom prst="blockArc">
              <a:avLst>
                <a:gd name="adj1" fmla="val 14400000"/>
                <a:gd name="adj2" fmla="val 180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0" name="Block Arc 39" hidden="1"/>
            <p:cNvSpPr/>
            <p:nvPr>
              <p:custDataLst>
                <p:tags r:id="rId62"/>
              </p:custDataLst>
            </p:nvPr>
          </p:nvSpPr>
          <p:spPr>
            <a:xfrm>
              <a:off x="4191000" y="1524000"/>
              <a:ext cx="3810000" cy="3810000"/>
            </a:xfrm>
            <a:prstGeom prst="blockArc">
              <a:avLst>
                <a:gd name="adj1" fmla="val 18000000"/>
                <a:gd name="adj2" fmla="val 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1" name="Block Arc 40" hidden="1"/>
            <p:cNvSpPr/>
            <p:nvPr>
              <p:custDataLst>
                <p:tags r:id="rId63"/>
              </p:custDataLst>
            </p:nvPr>
          </p:nvSpPr>
          <p:spPr>
            <a:xfrm>
              <a:off x="4191000" y="1524000"/>
              <a:ext cx="3810000" cy="3810000"/>
            </a:xfrm>
            <a:prstGeom prst="blockArc">
              <a:avLst>
                <a:gd name="adj1" fmla="val 0"/>
                <a:gd name="adj2" fmla="val 36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2" name="Block Arc 41" hidden="1"/>
            <p:cNvSpPr/>
            <p:nvPr>
              <p:custDataLst>
                <p:tags r:id="rId64"/>
              </p:custDataLst>
            </p:nvPr>
          </p:nvSpPr>
          <p:spPr>
            <a:xfrm>
              <a:off x="4191000" y="1524000"/>
              <a:ext cx="3810000" cy="3810000"/>
            </a:xfrm>
            <a:prstGeom prst="blockArc">
              <a:avLst>
                <a:gd name="adj1" fmla="val 3600000"/>
                <a:gd name="adj2" fmla="val 72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3" name="Block Arc 42" hidden="1"/>
            <p:cNvSpPr/>
            <p:nvPr>
              <p:custDataLst>
                <p:tags r:id="rId65"/>
              </p:custDataLst>
            </p:nvPr>
          </p:nvSpPr>
          <p:spPr>
            <a:xfrm>
              <a:off x="4191000" y="1524000"/>
              <a:ext cx="3810000" cy="3810000"/>
            </a:xfrm>
            <a:prstGeom prst="blockArc">
              <a:avLst>
                <a:gd name="adj1" fmla="val 7200000"/>
                <a:gd name="adj2" fmla="val 108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4" name="Block Arc 43" hidden="1"/>
            <p:cNvSpPr/>
            <p:nvPr>
              <p:custDataLst>
                <p:tags r:id="rId66"/>
              </p:custDataLst>
            </p:nvPr>
          </p:nvSpPr>
          <p:spPr>
            <a:xfrm>
              <a:off x="4191000" y="1524000"/>
              <a:ext cx="3810000" cy="3810000"/>
            </a:xfrm>
            <a:prstGeom prst="blockArc">
              <a:avLst>
                <a:gd name="adj1" fmla="val 10800000"/>
                <a:gd name="adj2" fmla="val 144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5" name="Block Arc 44" hidden="1"/>
            <p:cNvSpPr/>
            <p:nvPr>
              <p:custDataLst>
                <p:tags r:id="rId67"/>
              </p:custDataLst>
            </p:nvPr>
          </p:nvSpPr>
          <p:spPr>
            <a:xfrm>
              <a:off x="4191000" y="1524000"/>
              <a:ext cx="3810000" cy="3810000"/>
            </a:xfrm>
            <a:prstGeom prst="blockArc">
              <a:avLst>
                <a:gd name="adj1" fmla="val 14400000"/>
                <a:gd name="adj2" fmla="val 180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6" name="Block Arc 45" hidden="1"/>
            <p:cNvSpPr/>
            <p:nvPr>
              <p:custDataLst>
                <p:tags r:id="rId68"/>
              </p:custDataLst>
            </p:nvPr>
          </p:nvSpPr>
          <p:spPr>
            <a:xfrm>
              <a:off x="4191000" y="1524000"/>
              <a:ext cx="3810000" cy="3810000"/>
            </a:xfrm>
            <a:prstGeom prst="blockArc">
              <a:avLst>
                <a:gd name="adj1" fmla="val 18000000"/>
                <a:gd name="adj2" fmla="val 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7" name="Block Arc 46" hidden="1"/>
            <p:cNvSpPr/>
            <p:nvPr>
              <p:custDataLst>
                <p:tags r:id="rId69"/>
              </p:custDataLst>
            </p:nvPr>
          </p:nvSpPr>
          <p:spPr>
            <a:xfrm>
              <a:off x="4191000" y="1524000"/>
              <a:ext cx="3810000" cy="3810000"/>
            </a:xfrm>
            <a:prstGeom prst="blockArc">
              <a:avLst>
                <a:gd name="adj1" fmla="val 0"/>
                <a:gd name="adj2" fmla="val 36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8" name="Block Arc 47" hidden="1"/>
            <p:cNvSpPr/>
            <p:nvPr>
              <p:custDataLst>
                <p:tags r:id="rId70"/>
              </p:custDataLst>
            </p:nvPr>
          </p:nvSpPr>
          <p:spPr>
            <a:xfrm>
              <a:off x="4191000" y="1524000"/>
              <a:ext cx="3810000" cy="3810000"/>
            </a:xfrm>
            <a:prstGeom prst="blockArc">
              <a:avLst>
                <a:gd name="adj1" fmla="val 3600000"/>
                <a:gd name="adj2" fmla="val 72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49" name="Block Arc 48" hidden="1"/>
            <p:cNvSpPr/>
            <p:nvPr>
              <p:custDataLst>
                <p:tags r:id="rId71"/>
              </p:custDataLst>
            </p:nvPr>
          </p:nvSpPr>
          <p:spPr>
            <a:xfrm>
              <a:off x="4191000" y="1524000"/>
              <a:ext cx="3810000" cy="3810000"/>
            </a:xfrm>
            <a:prstGeom prst="blockArc">
              <a:avLst>
                <a:gd name="adj1" fmla="val 7200000"/>
                <a:gd name="adj2" fmla="val 108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50" name="Block Arc 49" hidden="1"/>
            <p:cNvSpPr/>
            <p:nvPr>
              <p:custDataLst>
                <p:tags r:id="rId72"/>
              </p:custDataLst>
            </p:nvPr>
          </p:nvSpPr>
          <p:spPr>
            <a:xfrm>
              <a:off x="4191000" y="1524000"/>
              <a:ext cx="3810000" cy="3810000"/>
            </a:xfrm>
            <a:prstGeom prst="blockArc">
              <a:avLst>
                <a:gd name="adj1" fmla="val 10800000"/>
                <a:gd name="adj2" fmla="val 144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51" name="Block Arc 50" hidden="1"/>
            <p:cNvSpPr/>
            <p:nvPr>
              <p:custDataLst>
                <p:tags r:id="rId73"/>
              </p:custDataLst>
            </p:nvPr>
          </p:nvSpPr>
          <p:spPr>
            <a:xfrm>
              <a:off x="4191000" y="1524000"/>
              <a:ext cx="3810000" cy="3810000"/>
            </a:xfrm>
            <a:prstGeom prst="blockArc">
              <a:avLst>
                <a:gd name="adj1" fmla="val 14400000"/>
                <a:gd name="adj2" fmla="val 180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52" name="Block Arc 51" hidden="1"/>
            <p:cNvSpPr/>
            <p:nvPr>
              <p:custDataLst>
                <p:tags r:id="rId74"/>
              </p:custDataLst>
            </p:nvPr>
          </p:nvSpPr>
          <p:spPr>
            <a:xfrm>
              <a:off x="4191000" y="1524000"/>
              <a:ext cx="3810000" cy="3810000"/>
            </a:xfrm>
            <a:prstGeom prst="blockArc">
              <a:avLst>
                <a:gd name="adj1" fmla="val 18000000"/>
                <a:gd name="adj2" fmla="val 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53" name="Block Arc 52" hidden="1"/>
            <p:cNvSpPr/>
            <p:nvPr>
              <p:custDataLst>
                <p:tags r:id="rId75"/>
              </p:custDataLst>
            </p:nvPr>
          </p:nvSpPr>
          <p:spPr>
            <a:xfrm>
              <a:off x="4191000" y="1524000"/>
              <a:ext cx="3810000" cy="3810000"/>
            </a:xfrm>
            <a:prstGeom prst="blockArc">
              <a:avLst>
                <a:gd name="adj1" fmla="val 0"/>
                <a:gd name="adj2" fmla="val 36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sp>
          <p:nvSpPr>
            <p:cNvPr id="54" name="Block Arc 53" hidden="1"/>
            <p:cNvSpPr/>
            <p:nvPr>
              <p:custDataLst>
                <p:tags r:id="rId76"/>
              </p:custDataLst>
            </p:nvPr>
          </p:nvSpPr>
          <p:spPr>
            <a:xfrm>
              <a:off x="4191000" y="1524000"/>
              <a:ext cx="3810000" cy="3810000"/>
            </a:xfrm>
            <a:prstGeom prst="blockArc">
              <a:avLst>
                <a:gd name="adj1" fmla="val 3600000"/>
                <a:gd name="adj2" fmla="val 7200000"/>
                <a:gd name="adj3" fmla="val 25000"/>
              </a:avLst>
            </a:prstGeom>
            <a:grpFill/>
            <a:ln w="25400">
              <a:solidFill>
                <a:schemeClr val="lt1"/>
              </a:solidFill>
              <a:prstDash val="solid"/>
            </a:ln>
            <a:extLst>
              <a:ext uri="{31F19639-BCED-4A60-ADC4-E9642A236FB7}">
                <a14:hiddenScene3d xmlns:a14="http://schemas.microsoft.com/office/drawing/2010/main">
                  <a:camera prst="orthographicFront"/>
                  <a:lightRig rig="threePt" dir="t"/>
                </a14:hiddenScene3d>
              </a:ext>
              <a:ext uri="{E45631CC-5BF2-4C18-A39C-3461C7D3F71A}">
                <a14:hiddenSp3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sp3d/>
            </a:bodyPr>
            <a:lstStyle/>
            <a:p>
              <a:pPr algn="ctr"/>
              <a:r>
                <a:rPr lang="en-US" sz="1200">
                  <a:effectLst>
                    <a:glow>
                      <a:scrgbClr r="0" g="0" b="0"/>
                    </a:glow>
                  </a:effectLst>
                </a:rPr>
                <a:t>Text</a:t>
              </a:r>
            </a:p>
          </p:txBody>
        </p:sp>
      </p:grpSp>
      <p:sp>
        <p:nvSpPr>
          <p:cNvPr id="68" name="POWER_USER_ID_ICONS_Box2" descr="{&quot;Key&quot;:&quot;POWER_USER_SHAPE_ICON&quot;,&quot;Value&quot;:&quot;POWER_USER_SHAPE_ICON_STYLE_1&quot;}"/>
          <p:cNvSpPr>
            <a:spLocks noChangeAspect="1" noEditPoints="1"/>
          </p:cNvSpPr>
          <p:nvPr>
            <p:custDataLst>
              <p:tags r:id="rId2"/>
            </p:custDataLst>
          </p:nvPr>
        </p:nvSpPr>
        <p:spPr bwMode="auto">
          <a:xfrm>
            <a:off x="5853212" y="4728675"/>
            <a:ext cx="678295" cy="598921"/>
          </a:xfrm>
          <a:custGeom>
            <a:avLst/>
            <a:gdLst>
              <a:gd name="T0" fmla="*/ 1061 w 1250"/>
              <a:gd name="T1" fmla="*/ 367 h 1104"/>
              <a:gd name="T2" fmla="*/ 1250 w 1250"/>
              <a:gd name="T3" fmla="*/ 250 h 1104"/>
              <a:gd name="T4" fmla="*/ 833 w 1250"/>
              <a:gd name="T5" fmla="*/ 2 h 1104"/>
              <a:gd name="T6" fmla="*/ 625 w 1250"/>
              <a:gd name="T7" fmla="*/ 115 h 1104"/>
              <a:gd name="T8" fmla="*/ 417 w 1250"/>
              <a:gd name="T9" fmla="*/ 2 h 1104"/>
              <a:gd name="T10" fmla="*/ 0 w 1250"/>
              <a:gd name="T11" fmla="*/ 250 h 1104"/>
              <a:gd name="T12" fmla="*/ 189 w 1250"/>
              <a:gd name="T13" fmla="*/ 367 h 1104"/>
              <a:gd name="T14" fmla="*/ 0 w 1250"/>
              <a:gd name="T15" fmla="*/ 485 h 1104"/>
              <a:gd name="T16" fmla="*/ 202 w 1250"/>
              <a:gd name="T17" fmla="*/ 609 h 1104"/>
              <a:gd name="T18" fmla="*/ 208 w 1250"/>
              <a:gd name="T19" fmla="*/ 865 h 1104"/>
              <a:gd name="T20" fmla="*/ 619 w 1250"/>
              <a:gd name="T21" fmla="*/ 1102 h 1104"/>
              <a:gd name="T22" fmla="*/ 625 w 1250"/>
              <a:gd name="T23" fmla="*/ 1104 h 1104"/>
              <a:gd name="T24" fmla="*/ 631 w 1250"/>
              <a:gd name="T25" fmla="*/ 1102 h 1104"/>
              <a:gd name="T26" fmla="*/ 1042 w 1250"/>
              <a:gd name="T27" fmla="*/ 865 h 1104"/>
              <a:gd name="T28" fmla="*/ 1048 w 1250"/>
              <a:gd name="T29" fmla="*/ 609 h 1104"/>
              <a:gd name="T30" fmla="*/ 1250 w 1250"/>
              <a:gd name="T31" fmla="*/ 485 h 1104"/>
              <a:gd name="T32" fmla="*/ 827 w 1250"/>
              <a:gd name="T33" fmla="*/ 29 h 1104"/>
              <a:gd name="T34" fmla="*/ 1035 w 1250"/>
              <a:gd name="T35" fmla="*/ 352 h 1104"/>
              <a:gd name="T36" fmla="*/ 827 w 1250"/>
              <a:gd name="T37" fmla="*/ 29 h 1104"/>
              <a:gd name="T38" fmla="*/ 423 w 1250"/>
              <a:gd name="T39" fmla="*/ 29 h 1104"/>
              <a:gd name="T40" fmla="*/ 215 w 1250"/>
              <a:gd name="T41" fmla="*/ 352 h 1104"/>
              <a:gd name="T42" fmla="*/ 40 w 1250"/>
              <a:gd name="T43" fmla="*/ 485 h 1104"/>
              <a:gd name="T44" fmla="*/ 599 w 1250"/>
              <a:gd name="T45" fmla="*/ 604 h 1104"/>
              <a:gd name="T46" fmla="*/ 40 w 1250"/>
              <a:gd name="T47" fmla="*/ 485 h 1104"/>
              <a:gd name="T48" fmla="*/ 228 w 1250"/>
              <a:gd name="T49" fmla="*/ 846 h 1104"/>
              <a:gd name="T50" fmla="*/ 417 w 1250"/>
              <a:gd name="T51" fmla="*/ 733 h 1104"/>
              <a:gd name="T52" fmla="*/ 430 w 1250"/>
              <a:gd name="T53" fmla="*/ 733 h 1104"/>
              <a:gd name="T54" fmla="*/ 612 w 1250"/>
              <a:gd name="T55" fmla="*/ 1067 h 1104"/>
              <a:gd name="T56" fmla="*/ 625 w 1250"/>
              <a:gd name="T57" fmla="*/ 591 h 1104"/>
              <a:gd name="T58" fmla="*/ 612 w 1250"/>
              <a:gd name="T59" fmla="*/ 157 h 1104"/>
              <a:gd name="T60" fmla="*/ 638 w 1250"/>
              <a:gd name="T61" fmla="*/ 157 h 1104"/>
              <a:gd name="T62" fmla="*/ 1022 w 1250"/>
              <a:gd name="T63" fmla="*/ 846 h 1104"/>
              <a:gd name="T64" fmla="*/ 638 w 1250"/>
              <a:gd name="T65" fmla="*/ 627 h 1104"/>
              <a:gd name="T66" fmla="*/ 833 w 1250"/>
              <a:gd name="T67" fmla="*/ 733 h 1104"/>
              <a:gd name="T68" fmla="*/ 1022 w 1250"/>
              <a:gd name="T69" fmla="*/ 846 h 1104"/>
              <a:gd name="T70" fmla="*/ 651 w 1250"/>
              <a:gd name="T71" fmla="*/ 604 h 1104"/>
              <a:gd name="T72" fmla="*/ 1210 w 1250"/>
              <a:gd name="T73" fmla="*/ 484 h 1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50" h="1104">
                <a:moveTo>
                  <a:pt x="1243" y="473"/>
                </a:moveTo>
                <a:lnTo>
                  <a:pt x="1061" y="367"/>
                </a:lnTo>
                <a:lnTo>
                  <a:pt x="1243" y="262"/>
                </a:lnTo>
                <a:cubicBezTo>
                  <a:pt x="1247" y="259"/>
                  <a:pt x="1250" y="255"/>
                  <a:pt x="1250" y="250"/>
                </a:cubicBezTo>
                <a:cubicBezTo>
                  <a:pt x="1250" y="246"/>
                  <a:pt x="1247" y="241"/>
                  <a:pt x="1243" y="239"/>
                </a:cubicBezTo>
                <a:lnTo>
                  <a:pt x="833" y="2"/>
                </a:lnTo>
                <a:cubicBezTo>
                  <a:pt x="829" y="0"/>
                  <a:pt x="824" y="0"/>
                  <a:pt x="820" y="2"/>
                </a:cubicBezTo>
                <a:lnTo>
                  <a:pt x="625" y="115"/>
                </a:lnTo>
                <a:lnTo>
                  <a:pt x="430" y="2"/>
                </a:lnTo>
                <a:cubicBezTo>
                  <a:pt x="426" y="0"/>
                  <a:pt x="421" y="0"/>
                  <a:pt x="417" y="2"/>
                </a:cubicBezTo>
                <a:lnTo>
                  <a:pt x="7" y="239"/>
                </a:lnTo>
                <a:cubicBezTo>
                  <a:pt x="3" y="241"/>
                  <a:pt x="0" y="246"/>
                  <a:pt x="0" y="250"/>
                </a:cubicBezTo>
                <a:cubicBezTo>
                  <a:pt x="0" y="255"/>
                  <a:pt x="3" y="259"/>
                  <a:pt x="7" y="262"/>
                </a:cubicBezTo>
                <a:lnTo>
                  <a:pt x="189" y="367"/>
                </a:lnTo>
                <a:lnTo>
                  <a:pt x="7" y="473"/>
                </a:lnTo>
                <a:cubicBezTo>
                  <a:pt x="3" y="475"/>
                  <a:pt x="0" y="480"/>
                  <a:pt x="0" y="485"/>
                </a:cubicBezTo>
                <a:cubicBezTo>
                  <a:pt x="0" y="489"/>
                  <a:pt x="3" y="494"/>
                  <a:pt x="7" y="496"/>
                </a:cubicBezTo>
                <a:lnTo>
                  <a:pt x="202" y="609"/>
                </a:lnTo>
                <a:lnTo>
                  <a:pt x="202" y="854"/>
                </a:lnTo>
                <a:cubicBezTo>
                  <a:pt x="202" y="858"/>
                  <a:pt x="204" y="863"/>
                  <a:pt x="208" y="865"/>
                </a:cubicBezTo>
                <a:lnTo>
                  <a:pt x="618" y="1102"/>
                </a:lnTo>
                <a:cubicBezTo>
                  <a:pt x="619" y="1102"/>
                  <a:pt x="619" y="1102"/>
                  <a:pt x="619" y="1102"/>
                </a:cubicBezTo>
                <a:cubicBezTo>
                  <a:pt x="620" y="1102"/>
                  <a:pt x="620" y="1103"/>
                  <a:pt x="620" y="1103"/>
                </a:cubicBezTo>
                <a:cubicBezTo>
                  <a:pt x="622" y="1103"/>
                  <a:pt x="623" y="1104"/>
                  <a:pt x="625" y="1104"/>
                </a:cubicBezTo>
                <a:cubicBezTo>
                  <a:pt x="626" y="1104"/>
                  <a:pt x="628" y="1103"/>
                  <a:pt x="629" y="1103"/>
                </a:cubicBezTo>
                <a:cubicBezTo>
                  <a:pt x="630" y="1103"/>
                  <a:pt x="630" y="1102"/>
                  <a:pt x="631" y="1102"/>
                </a:cubicBezTo>
                <a:cubicBezTo>
                  <a:pt x="631" y="1102"/>
                  <a:pt x="631" y="1102"/>
                  <a:pt x="632" y="1102"/>
                </a:cubicBezTo>
                <a:lnTo>
                  <a:pt x="1042" y="865"/>
                </a:lnTo>
                <a:cubicBezTo>
                  <a:pt x="1046" y="863"/>
                  <a:pt x="1048" y="858"/>
                  <a:pt x="1048" y="854"/>
                </a:cubicBezTo>
                <a:lnTo>
                  <a:pt x="1048" y="609"/>
                </a:lnTo>
                <a:lnTo>
                  <a:pt x="1243" y="496"/>
                </a:lnTo>
                <a:cubicBezTo>
                  <a:pt x="1247" y="494"/>
                  <a:pt x="1250" y="489"/>
                  <a:pt x="1250" y="485"/>
                </a:cubicBezTo>
                <a:cubicBezTo>
                  <a:pt x="1250" y="480"/>
                  <a:pt x="1247" y="475"/>
                  <a:pt x="1243" y="473"/>
                </a:cubicBezTo>
                <a:close/>
                <a:moveTo>
                  <a:pt x="827" y="29"/>
                </a:moveTo>
                <a:lnTo>
                  <a:pt x="1210" y="250"/>
                </a:lnTo>
                <a:lnTo>
                  <a:pt x="1035" y="352"/>
                </a:lnTo>
                <a:lnTo>
                  <a:pt x="651" y="131"/>
                </a:lnTo>
                <a:lnTo>
                  <a:pt x="827" y="29"/>
                </a:lnTo>
                <a:close/>
                <a:moveTo>
                  <a:pt x="40" y="250"/>
                </a:moveTo>
                <a:lnTo>
                  <a:pt x="423" y="29"/>
                </a:lnTo>
                <a:lnTo>
                  <a:pt x="599" y="131"/>
                </a:lnTo>
                <a:lnTo>
                  <a:pt x="215" y="352"/>
                </a:lnTo>
                <a:lnTo>
                  <a:pt x="40" y="250"/>
                </a:lnTo>
                <a:close/>
                <a:moveTo>
                  <a:pt x="40" y="485"/>
                </a:moveTo>
                <a:lnTo>
                  <a:pt x="215" y="383"/>
                </a:lnTo>
                <a:lnTo>
                  <a:pt x="599" y="604"/>
                </a:lnTo>
                <a:lnTo>
                  <a:pt x="423" y="706"/>
                </a:lnTo>
                <a:lnTo>
                  <a:pt x="40" y="485"/>
                </a:lnTo>
                <a:close/>
                <a:moveTo>
                  <a:pt x="612" y="1067"/>
                </a:moveTo>
                <a:lnTo>
                  <a:pt x="228" y="846"/>
                </a:lnTo>
                <a:lnTo>
                  <a:pt x="228" y="624"/>
                </a:lnTo>
                <a:lnTo>
                  <a:pt x="417" y="733"/>
                </a:lnTo>
                <a:cubicBezTo>
                  <a:pt x="419" y="734"/>
                  <a:pt x="421" y="734"/>
                  <a:pt x="423" y="734"/>
                </a:cubicBezTo>
                <a:cubicBezTo>
                  <a:pt x="426" y="734"/>
                  <a:pt x="428" y="734"/>
                  <a:pt x="430" y="733"/>
                </a:cubicBezTo>
                <a:lnTo>
                  <a:pt x="612" y="627"/>
                </a:lnTo>
                <a:lnTo>
                  <a:pt x="612" y="1067"/>
                </a:lnTo>
                <a:close/>
                <a:moveTo>
                  <a:pt x="638" y="578"/>
                </a:moveTo>
                <a:cubicBezTo>
                  <a:pt x="638" y="585"/>
                  <a:pt x="632" y="591"/>
                  <a:pt x="625" y="591"/>
                </a:cubicBezTo>
                <a:cubicBezTo>
                  <a:pt x="618" y="591"/>
                  <a:pt x="612" y="585"/>
                  <a:pt x="612" y="578"/>
                </a:cubicBezTo>
                <a:lnTo>
                  <a:pt x="612" y="157"/>
                </a:lnTo>
                <a:cubicBezTo>
                  <a:pt x="612" y="150"/>
                  <a:pt x="618" y="144"/>
                  <a:pt x="625" y="144"/>
                </a:cubicBezTo>
                <a:cubicBezTo>
                  <a:pt x="632" y="144"/>
                  <a:pt x="638" y="150"/>
                  <a:pt x="638" y="157"/>
                </a:cubicBezTo>
                <a:lnTo>
                  <a:pt x="638" y="578"/>
                </a:lnTo>
                <a:close/>
                <a:moveTo>
                  <a:pt x="1022" y="846"/>
                </a:moveTo>
                <a:lnTo>
                  <a:pt x="638" y="1067"/>
                </a:lnTo>
                <a:lnTo>
                  <a:pt x="638" y="627"/>
                </a:lnTo>
                <a:lnTo>
                  <a:pt x="820" y="733"/>
                </a:lnTo>
                <a:cubicBezTo>
                  <a:pt x="824" y="735"/>
                  <a:pt x="829" y="735"/>
                  <a:pt x="833" y="733"/>
                </a:cubicBezTo>
                <a:lnTo>
                  <a:pt x="1022" y="624"/>
                </a:lnTo>
                <a:lnTo>
                  <a:pt x="1022" y="846"/>
                </a:lnTo>
                <a:close/>
                <a:moveTo>
                  <a:pt x="827" y="706"/>
                </a:moveTo>
                <a:lnTo>
                  <a:pt x="651" y="604"/>
                </a:lnTo>
                <a:lnTo>
                  <a:pt x="1035" y="383"/>
                </a:lnTo>
                <a:lnTo>
                  <a:pt x="1210" y="484"/>
                </a:lnTo>
                <a:lnTo>
                  <a:pt x="827" y="706"/>
                </a:lnTo>
                <a:close/>
              </a:path>
            </a:pathLst>
          </a:custGeom>
          <a:solidFill>
            <a:schemeClr val="lt1"/>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9" name="POWER_USER_ID_ICONS_Key" descr="{&quot;Key&quot;:&quot;POWER_USER_SHAPE_ICON&quot;,&quot;Value&quot;:&quot;POWER_USER_SHAPE_ICON_STYLE_1&quot;}"/>
          <p:cNvSpPr>
            <a:spLocks noChangeAspect="1" noEditPoints="1"/>
          </p:cNvSpPr>
          <p:nvPr>
            <p:custDataLst>
              <p:tags r:id="rId3"/>
            </p:custDataLst>
          </p:nvPr>
        </p:nvSpPr>
        <p:spPr bwMode="auto">
          <a:xfrm>
            <a:off x="5853212" y="1896606"/>
            <a:ext cx="485575" cy="561768"/>
          </a:xfrm>
          <a:custGeom>
            <a:avLst/>
            <a:gdLst>
              <a:gd name="T0" fmla="*/ 968 w 1002"/>
              <a:gd name="T1" fmla="*/ 25 h 1155"/>
              <a:gd name="T2" fmla="*/ 840 w 1002"/>
              <a:gd name="T3" fmla="*/ 39 h 1155"/>
              <a:gd name="T4" fmla="*/ 435 w 1002"/>
              <a:gd name="T5" fmla="*/ 549 h 1155"/>
              <a:gd name="T6" fmla="*/ 431 w 1002"/>
              <a:gd name="T7" fmla="*/ 555 h 1155"/>
              <a:gd name="T8" fmla="*/ 100 w 1002"/>
              <a:gd name="T9" fmla="*/ 646 h 1155"/>
              <a:gd name="T10" fmla="*/ 147 w 1002"/>
              <a:gd name="T11" fmla="*/ 1055 h 1155"/>
              <a:gd name="T12" fmla="*/ 556 w 1002"/>
              <a:gd name="T13" fmla="*/ 1009 h 1155"/>
              <a:gd name="T14" fmla="*/ 571 w 1002"/>
              <a:gd name="T15" fmla="*/ 668 h 1155"/>
              <a:gd name="T16" fmla="*/ 577 w 1002"/>
              <a:gd name="T17" fmla="*/ 662 h 1155"/>
              <a:gd name="T18" fmla="*/ 769 w 1002"/>
              <a:gd name="T19" fmla="*/ 421 h 1155"/>
              <a:gd name="T20" fmla="*/ 769 w 1002"/>
              <a:gd name="T21" fmla="*/ 421 h 1155"/>
              <a:gd name="T22" fmla="*/ 846 w 1002"/>
              <a:gd name="T23" fmla="*/ 385 h 1155"/>
              <a:gd name="T24" fmla="*/ 860 w 1002"/>
              <a:gd name="T25" fmla="*/ 316 h 1155"/>
              <a:gd name="T26" fmla="*/ 923 w 1002"/>
              <a:gd name="T27" fmla="*/ 287 h 1155"/>
              <a:gd name="T28" fmla="*/ 939 w 1002"/>
              <a:gd name="T29" fmla="*/ 209 h 1155"/>
              <a:gd name="T30" fmla="*/ 1000 w 1002"/>
              <a:gd name="T31" fmla="*/ 172 h 1155"/>
              <a:gd name="T32" fmla="*/ 968 w 1002"/>
              <a:gd name="T33" fmla="*/ 25 h 1155"/>
              <a:gd name="T34" fmla="*/ 399 w 1002"/>
              <a:gd name="T35" fmla="*/ 882 h 1155"/>
              <a:gd name="T36" fmla="*/ 277 w 1002"/>
              <a:gd name="T37" fmla="*/ 896 h 1155"/>
              <a:gd name="T38" fmla="*/ 263 w 1002"/>
              <a:gd name="T39" fmla="*/ 773 h 1155"/>
              <a:gd name="T40" fmla="*/ 385 w 1002"/>
              <a:gd name="T41" fmla="*/ 759 h 1155"/>
              <a:gd name="T42" fmla="*/ 399 w 1002"/>
              <a:gd name="T43" fmla="*/ 882 h 1155"/>
              <a:gd name="T44" fmla="*/ 514 w 1002"/>
              <a:gd name="T45" fmla="*/ 598 h 1155"/>
              <a:gd name="T46" fmla="*/ 490 w 1002"/>
              <a:gd name="T47" fmla="*/ 601 h 1155"/>
              <a:gd name="T48" fmla="*/ 487 w 1002"/>
              <a:gd name="T49" fmla="*/ 577 h 1155"/>
              <a:gd name="T50" fmla="*/ 886 w 1002"/>
              <a:gd name="T51" fmla="*/ 76 h 1155"/>
              <a:gd name="T52" fmla="*/ 910 w 1002"/>
              <a:gd name="T53" fmla="*/ 73 h 1155"/>
              <a:gd name="T54" fmla="*/ 916 w 1002"/>
              <a:gd name="T55" fmla="*/ 90 h 1155"/>
              <a:gd name="T56" fmla="*/ 910 w 1002"/>
              <a:gd name="T57" fmla="*/ 101 h 1155"/>
              <a:gd name="T58" fmla="*/ 514 w 1002"/>
              <a:gd name="T59" fmla="*/ 598 h 1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02" h="1155">
                <a:moveTo>
                  <a:pt x="968" y="25"/>
                </a:moveTo>
                <a:cubicBezTo>
                  <a:pt x="968" y="25"/>
                  <a:pt x="872" y="0"/>
                  <a:pt x="840" y="39"/>
                </a:cubicBezTo>
                <a:lnTo>
                  <a:pt x="435" y="549"/>
                </a:lnTo>
                <a:cubicBezTo>
                  <a:pt x="433" y="551"/>
                  <a:pt x="432" y="553"/>
                  <a:pt x="431" y="555"/>
                </a:cubicBezTo>
                <a:cubicBezTo>
                  <a:pt x="316" y="512"/>
                  <a:pt x="181" y="545"/>
                  <a:pt x="100" y="646"/>
                </a:cubicBezTo>
                <a:cubicBezTo>
                  <a:pt x="0" y="772"/>
                  <a:pt x="21" y="955"/>
                  <a:pt x="147" y="1055"/>
                </a:cubicBezTo>
                <a:cubicBezTo>
                  <a:pt x="272" y="1155"/>
                  <a:pt x="455" y="1134"/>
                  <a:pt x="556" y="1009"/>
                </a:cubicBezTo>
                <a:cubicBezTo>
                  <a:pt x="636" y="908"/>
                  <a:pt x="638" y="770"/>
                  <a:pt x="571" y="668"/>
                </a:cubicBezTo>
                <a:cubicBezTo>
                  <a:pt x="573" y="666"/>
                  <a:pt x="575" y="665"/>
                  <a:pt x="577" y="662"/>
                </a:cubicBezTo>
                <a:lnTo>
                  <a:pt x="769" y="421"/>
                </a:lnTo>
                <a:lnTo>
                  <a:pt x="769" y="421"/>
                </a:lnTo>
                <a:lnTo>
                  <a:pt x="846" y="385"/>
                </a:lnTo>
                <a:lnTo>
                  <a:pt x="860" y="316"/>
                </a:lnTo>
                <a:lnTo>
                  <a:pt x="923" y="287"/>
                </a:lnTo>
                <a:lnTo>
                  <a:pt x="939" y="209"/>
                </a:lnTo>
                <a:lnTo>
                  <a:pt x="1000" y="172"/>
                </a:lnTo>
                <a:cubicBezTo>
                  <a:pt x="1000" y="172"/>
                  <a:pt x="1002" y="38"/>
                  <a:pt x="968" y="25"/>
                </a:cubicBezTo>
                <a:close/>
                <a:moveTo>
                  <a:pt x="399" y="882"/>
                </a:moveTo>
                <a:cubicBezTo>
                  <a:pt x="369" y="919"/>
                  <a:pt x="314" y="926"/>
                  <a:pt x="277" y="896"/>
                </a:cubicBezTo>
                <a:cubicBezTo>
                  <a:pt x="239" y="866"/>
                  <a:pt x="233" y="811"/>
                  <a:pt x="263" y="773"/>
                </a:cubicBezTo>
                <a:cubicBezTo>
                  <a:pt x="293" y="736"/>
                  <a:pt x="347" y="729"/>
                  <a:pt x="385" y="759"/>
                </a:cubicBezTo>
                <a:cubicBezTo>
                  <a:pt x="423" y="789"/>
                  <a:pt x="429" y="844"/>
                  <a:pt x="399" y="882"/>
                </a:cubicBezTo>
                <a:close/>
                <a:moveTo>
                  <a:pt x="514" y="598"/>
                </a:moveTo>
                <a:cubicBezTo>
                  <a:pt x="508" y="606"/>
                  <a:pt x="497" y="607"/>
                  <a:pt x="490" y="601"/>
                </a:cubicBezTo>
                <a:cubicBezTo>
                  <a:pt x="482" y="595"/>
                  <a:pt x="481" y="584"/>
                  <a:pt x="487" y="577"/>
                </a:cubicBezTo>
                <a:lnTo>
                  <a:pt x="886" y="76"/>
                </a:lnTo>
                <a:cubicBezTo>
                  <a:pt x="892" y="68"/>
                  <a:pt x="903" y="67"/>
                  <a:pt x="910" y="73"/>
                </a:cubicBezTo>
                <a:cubicBezTo>
                  <a:pt x="915" y="77"/>
                  <a:pt x="917" y="84"/>
                  <a:pt x="916" y="90"/>
                </a:cubicBezTo>
                <a:cubicBezTo>
                  <a:pt x="914" y="93"/>
                  <a:pt x="912" y="97"/>
                  <a:pt x="910" y="101"/>
                </a:cubicBezTo>
                <a:lnTo>
                  <a:pt x="514" y="598"/>
                </a:lnTo>
                <a:close/>
              </a:path>
            </a:pathLst>
          </a:custGeom>
          <a:solidFill>
            <a:schemeClr val="lt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93" name="TextBox 92"/>
          <p:cNvSpPr txBox="1"/>
          <p:nvPr/>
        </p:nvSpPr>
        <p:spPr>
          <a:xfrm>
            <a:off x="8381112" y="1691755"/>
            <a:ext cx="3339362" cy="954107"/>
          </a:xfrm>
          <a:prstGeom prst="rect">
            <a:avLst/>
          </a:prstGeom>
          <a:noFill/>
        </p:spPr>
        <p:txBody>
          <a:bodyPr wrap="square" rtlCol="0">
            <a:spAutoFit/>
          </a:bodyPr>
          <a:lstStyle/>
          <a:p>
            <a:pPr algn="r">
              <a:defRPr/>
            </a:pPr>
            <a:r>
              <a:rPr lang="en-US" sz="1600" b="1" kern="0">
                <a:solidFill>
                  <a:schemeClr val="accent2"/>
                </a:solidFill>
              </a:rPr>
              <a:t>2. Sprint Velocity by Story Points</a:t>
            </a:r>
          </a:p>
          <a:p>
            <a:pPr lvl="0"/>
            <a:r>
              <a:rPr lang="en-IN" sz="800">
                <a:ea typeface="+mn-ea"/>
                <a:cs typeface="Calibri" panose="020F0502020204030204" pitchFamily="34" charset="0"/>
              </a:rPr>
              <a:t>Story points burn down tracking. Planned vs Actual on a daily basis</a:t>
            </a:r>
          </a:p>
          <a:p>
            <a:pPr lvl="0"/>
            <a:r>
              <a:rPr lang="en-IN" sz="800">
                <a:ea typeface="+mn-ea"/>
                <a:cs typeface="Calibri" panose="020F0502020204030204" pitchFamily="34" charset="0"/>
              </a:rPr>
              <a:t>Team to take up corrective action for any lag in the burn down</a:t>
            </a:r>
          </a:p>
          <a:p>
            <a:pPr lvl="0"/>
            <a:r>
              <a:rPr lang="en-IN" sz="800">
                <a:ea typeface="+mn-ea"/>
                <a:cs typeface="Calibri" panose="020F0502020204030204" pitchFamily="34" charset="0"/>
              </a:rPr>
              <a:t>Burndown charts by work streams, sprint to be configured</a:t>
            </a:r>
          </a:p>
        </p:txBody>
      </p:sp>
      <p:sp>
        <p:nvSpPr>
          <p:cNvPr id="94" name="TextBox 93"/>
          <p:cNvSpPr txBox="1"/>
          <p:nvPr/>
        </p:nvSpPr>
        <p:spPr>
          <a:xfrm>
            <a:off x="8292662" y="4416427"/>
            <a:ext cx="3520966" cy="584775"/>
          </a:xfrm>
          <a:prstGeom prst="rect">
            <a:avLst/>
          </a:prstGeom>
          <a:noFill/>
        </p:spPr>
        <p:txBody>
          <a:bodyPr wrap="square" rtlCol="0">
            <a:spAutoFit/>
          </a:bodyPr>
          <a:lstStyle/>
          <a:p>
            <a:pPr algn="r">
              <a:defRPr/>
            </a:pPr>
            <a:r>
              <a:rPr lang="en-US" sz="1600" b="1" kern="0">
                <a:solidFill>
                  <a:schemeClr val="accent4"/>
                </a:solidFill>
              </a:rPr>
              <a:t>4. Release Velocity</a:t>
            </a:r>
          </a:p>
          <a:p>
            <a:pPr lvl="0"/>
            <a:r>
              <a:rPr lang="en-IN" sz="800" b="0">
                <a:ea typeface="+mn-ea"/>
                <a:cs typeface="Calibri" panose="020F0502020204030204" pitchFamily="34" charset="0"/>
              </a:rPr>
              <a:t>User story or story points burndown. Planned Vs Actual for full release</a:t>
            </a:r>
          </a:p>
          <a:p>
            <a:pPr lvl="0"/>
            <a:r>
              <a:rPr lang="en-IN" sz="800" b="0">
                <a:ea typeface="+mn-ea"/>
                <a:cs typeface="Calibri" panose="020F0502020204030204" pitchFamily="34" charset="0"/>
              </a:rPr>
              <a:t>Reports made available via JIRA dashboards</a:t>
            </a:r>
          </a:p>
        </p:txBody>
      </p:sp>
      <p:sp>
        <p:nvSpPr>
          <p:cNvPr id="95" name="TextBox 94"/>
          <p:cNvSpPr txBox="1"/>
          <p:nvPr/>
        </p:nvSpPr>
        <p:spPr>
          <a:xfrm>
            <a:off x="8381112" y="3054091"/>
            <a:ext cx="3339362" cy="584775"/>
          </a:xfrm>
          <a:prstGeom prst="rect">
            <a:avLst/>
          </a:prstGeom>
          <a:noFill/>
        </p:spPr>
        <p:txBody>
          <a:bodyPr wrap="square" rtlCol="0">
            <a:spAutoFit/>
          </a:bodyPr>
          <a:lstStyle/>
          <a:p>
            <a:pPr algn="r">
              <a:defRPr/>
            </a:pPr>
            <a:r>
              <a:rPr lang="en-US" sz="1600" b="1" kern="0">
                <a:solidFill>
                  <a:schemeClr val="accent3"/>
                </a:solidFill>
              </a:rPr>
              <a:t>3. Sprint Progress</a:t>
            </a:r>
          </a:p>
          <a:p>
            <a:pPr lvl="0"/>
            <a:r>
              <a:rPr lang="en-IN" sz="800">
                <a:ea typeface="+mn-ea"/>
                <a:cs typeface="Calibri" panose="020F0502020204030204" pitchFamily="34" charset="0"/>
              </a:rPr>
              <a:t>User stories progress by work stream through life cycle (dev vs test)</a:t>
            </a:r>
          </a:p>
          <a:p>
            <a:pPr lvl="0"/>
            <a:r>
              <a:rPr lang="en-IN" sz="800" b="0">
                <a:ea typeface="+mn-ea"/>
                <a:cs typeface="Calibri" panose="020F0502020204030204" pitchFamily="34" charset="0"/>
              </a:rPr>
              <a:t>Reports made available via JIRA dashboards</a:t>
            </a:r>
            <a:endParaRPr lang="en-IN" sz="800">
              <a:ea typeface="+mn-ea"/>
              <a:cs typeface="Calibri" panose="020F0502020204030204" pitchFamily="34" charset="0"/>
            </a:endParaRPr>
          </a:p>
        </p:txBody>
      </p:sp>
      <p:sp>
        <p:nvSpPr>
          <p:cNvPr id="96" name="TextBox 95"/>
          <p:cNvSpPr txBox="1"/>
          <p:nvPr/>
        </p:nvSpPr>
        <p:spPr>
          <a:xfrm>
            <a:off x="851636" y="4416427"/>
            <a:ext cx="3339362" cy="461665"/>
          </a:xfrm>
          <a:prstGeom prst="rect">
            <a:avLst/>
          </a:prstGeom>
          <a:noFill/>
        </p:spPr>
        <p:txBody>
          <a:bodyPr wrap="square" rtlCol="0">
            <a:spAutoFit/>
          </a:bodyPr>
          <a:lstStyle/>
          <a:p>
            <a:pPr>
              <a:defRPr/>
            </a:pPr>
            <a:r>
              <a:rPr lang="en-US" sz="1600" b="1" kern="0">
                <a:solidFill>
                  <a:schemeClr val="accent5"/>
                </a:solidFill>
              </a:rPr>
              <a:t>5. Dependencies Tracking</a:t>
            </a:r>
          </a:p>
          <a:p>
            <a:pPr>
              <a:defRPr/>
            </a:pPr>
            <a:r>
              <a:rPr lang="en-IN" sz="800" b="0">
                <a:latin typeface="Calibri" panose="020F0502020204030204" pitchFamily="34" charset="0"/>
                <a:ea typeface="+mn-ea"/>
                <a:cs typeface="Calibri" panose="020F0502020204030204" pitchFamily="34" charset="0"/>
              </a:rPr>
              <a:t>A mechanism to be developed to track external dependencies and delays</a:t>
            </a:r>
            <a:endParaRPr kumimoji="0" lang="en-US" sz="800" b="0" i="0" u="none" strike="noStrike" kern="0" cap="none" spc="0" normalizeH="0" baseline="0" noProof="0">
              <a:ln>
                <a:noFill/>
              </a:ln>
              <a:effectLst/>
              <a:uLnTx/>
              <a:uFillTx/>
            </a:endParaRPr>
          </a:p>
        </p:txBody>
      </p:sp>
      <p:sp>
        <p:nvSpPr>
          <p:cNvPr id="97" name="TextBox 96"/>
          <p:cNvSpPr txBox="1"/>
          <p:nvPr/>
        </p:nvSpPr>
        <p:spPr>
          <a:xfrm>
            <a:off x="851636" y="3054091"/>
            <a:ext cx="3339362" cy="954107"/>
          </a:xfrm>
          <a:prstGeom prst="rect">
            <a:avLst/>
          </a:prstGeom>
          <a:noFill/>
        </p:spPr>
        <p:txBody>
          <a:bodyPr wrap="square" rtlCol="0">
            <a:spAutoFit/>
          </a:bodyPr>
          <a:lstStyle/>
          <a:p>
            <a:pPr>
              <a:defRPr/>
            </a:pPr>
            <a:r>
              <a:rPr lang="en-US" sz="1600" b="1" kern="0">
                <a:solidFill>
                  <a:schemeClr val="accent6"/>
                </a:solidFill>
              </a:rPr>
              <a:t>6. Test Metrics</a:t>
            </a:r>
          </a:p>
          <a:p>
            <a:pPr lvl="0"/>
            <a:r>
              <a:rPr lang="en-IN" sz="800" b="0" i="0">
                <a:ea typeface="+mn-ea"/>
                <a:cs typeface="Calibri" panose="020F0502020204030204" pitchFamily="34" charset="0"/>
              </a:rPr>
              <a:t>Coverage metrics – Requirements, User story, Business process during stabilisation</a:t>
            </a:r>
            <a:endParaRPr lang="en-IN" sz="800" b="1">
              <a:ea typeface="+mn-ea"/>
              <a:cs typeface="Calibri" panose="020F0502020204030204" pitchFamily="34" charset="0"/>
            </a:endParaRPr>
          </a:p>
          <a:p>
            <a:pPr lvl="0"/>
            <a:r>
              <a:rPr lang="en-IN" sz="800" b="0" i="0">
                <a:ea typeface="+mn-ea"/>
                <a:cs typeface="Calibri" panose="020F0502020204030204" pitchFamily="34" charset="0"/>
              </a:rPr>
              <a:t>Test metrics – Test execution burndown</a:t>
            </a:r>
            <a:endParaRPr lang="en-IN" sz="800" b="1">
              <a:ea typeface="+mn-ea"/>
              <a:cs typeface="Calibri" panose="020F0502020204030204" pitchFamily="34" charset="0"/>
            </a:endParaRPr>
          </a:p>
          <a:p>
            <a:pPr lvl="0"/>
            <a:r>
              <a:rPr lang="en-IN" sz="800" b="0" i="0">
                <a:ea typeface="+mn-ea"/>
                <a:cs typeface="Calibri" panose="020F0502020204030204" pitchFamily="34" charset="0"/>
              </a:rPr>
              <a:t>Defect metrics – Defects by severity/priority, by work stream, over time, rejection</a:t>
            </a:r>
            <a:endParaRPr lang="en-IN" sz="800" b="1">
              <a:ea typeface="+mn-ea"/>
              <a:cs typeface="Calibri" panose="020F0502020204030204" pitchFamily="34" charset="0"/>
            </a:endParaRPr>
          </a:p>
        </p:txBody>
      </p:sp>
      <p:sp>
        <p:nvSpPr>
          <p:cNvPr id="98" name="TextBox 97"/>
          <p:cNvSpPr txBox="1"/>
          <p:nvPr/>
        </p:nvSpPr>
        <p:spPr>
          <a:xfrm>
            <a:off x="851636" y="1691755"/>
            <a:ext cx="3339362" cy="707886"/>
          </a:xfrm>
          <a:prstGeom prst="rect">
            <a:avLst/>
          </a:prstGeom>
          <a:noFill/>
        </p:spPr>
        <p:txBody>
          <a:bodyPr wrap="square" rtlCol="0">
            <a:spAutoFit/>
          </a:bodyPr>
          <a:lstStyle/>
          <a:p>
            <a:pPr lvl="0">
              <a:defRPr/>
            </a:pPr>
            <a:r>
              <a:rPr lang="en-US" sz="1600" b="1" kern="0">
                <a:solidFill>
                  <a:schemeClr val="accent1"/>
                </a:solidFill>
              </a:rPr>
              <a:t>1. Sprint Velocity by Stories</a:t>
            </a:r>
          </a:p>
          <a:p>
            <a:r>
              <a:rPr lang="en-IN" sz="800">
                <a:ea typeface="+mn-ea"/>
                <a:cs typeface="Calibri" panose="020F0502020204030204" pitchFamily="34" charset="0"/>
              </a:rPr>
              <a:t>User story burn down tracking. Planned vs Actual on a daily basis</a:t>
            </a:r>
          </a:p>
          <a:p>
            <a:r>
              <a:rPr lang="en-IN" sz="800">
                <a:ea typeface="+mn-ea"/>
                <a:cs typeface="Calibri" panose="020F0502020204030204" pitchFamily="34" charset="0"/>
              </a:rPr>
              <a:t>Team to take up corrective action for any lag in the burn down</a:t>
            </a:r>
          </a:p>
          <a:p>
            <a:r>
              <a:rPr lang="en-IN" sz="800">
                <a:ea typeface="+mn-ea"/>
                <a:cs typeface="Calibri" panose="020F0502020204030204" pitchFamily="34" charset="0"/>
              </a:rPr>
              <a:t>Burndown charts by work streams, sprint to be configured</a:t>
            </a:r>
          </a:p>
        </p:txBody>
      </p:sp>
      <p:grpSp>
        <p:nvGrpSpPr>
          <p:cNvPr id="91" name="Algorythm" descr="{&quot;Key&quot;:&quot;POWER_USER_SHAPE_ICON&quot;,&quot;Value&quot;:&quot;POWER_USER_SHAPE_ICON_STYLE_1&quot;}"/>
          <p:cNvGrpSpPr>
            <a:grpSpLocks noChangeAspect="1"/>
          </p:cNvGrpSpPr>
          <p:nvPr>
            <p:custDataLst>
              <p:tags r:id="rId4"/>
            </p:custDataLst>
          </p:nvPr>
        </p:nvGrpSpPr>
        <p:grpSpPr bwMode="auto">
          <a:xfrm>
            <a:off x="4716629" y="2519661"/>
            <a:ext cx="357310" cy="542925"/>
            <a:chOff x="89" y="9"/>
            <a:chExt cx="308" cy="468"/>
          </a:xfrm>
          <a:solidFill>
            <a:schemeClr val="lt1"/>
          </a:solidFill>
        </p:grpSpPr>
        <p:sp>
          <p:nvSpPr>
            <p:cNvPr id="92" name="Algorythm"/>
            <p:cNvSpPr>
              <a:spLocks noEditPoints="1"/>
            </p:cNvSpPr>
            <p:nvPr>
              <p:custDataLst>
                <p:tags r:id="rId18"/>
              </p:custDataLst>
            </p:nvPr>
          </p:nvSpPr>
          <p:spPr bwMode="auto">
            <a:xfrm>
              <a:off x="254" y="135"/>
              <a:ext cx="36" cy="49"/>
            </a:xfrm>
            <a:custGeom>
              <a:avLst/>
              <a:gdLst>
                <a:gd name="T0" fmla="*/ 68 w 94"/>
                <a:gd name="T1" fmla="*/ 126 h 130"/>
                <a:gd name="T2" fmla="*/ 47 w 94"/>
                <a:gd name="T3" fmla="*/ 130 h 130"/>
                <a:gd name="T4" fmla="*/ 28 w 94"/>
                <a:gd name="T5" fmla="*/ 126 h 130"/>
                <a:gd name="T6" fmla="*/ 0 w 94"/>
                <a:gd name="T7" fmla="*/ 82 h 130"/>
                <a:gd name="T8" fmla="*/ 0 w 94"/>
                <a:gd name="T9" fmla="*/ 47 h 130"/>
                <a:gd name="T10" fmla="*/ 28 w 94"/>
                <a:gd name="T11" fmla="*/ 4 h 130"/>
                <a:gd name="T12" fmla="*/ 47 w 94"/>
                <a:gd name="T13" fmla="*/ 0 h 130"/>
                <a:gd name="T14" fmla="*/ 66 w 94"/>
                <a:gd name="T15" fmla="*/ 4 h 130"/>
                <a:gd name="T16" fmla="*/ 94 w 94"/>
                <a:gd name="T17" fmla="*/ 47 h 130"/>
                <a:gd name="T18" fmla="*/ 94 w 94"/>
                <a:gd name="T19" fmla="*/ 82 h 130"/>
                <a:gd name="T20" fmla="*/ 68 w 94"/>
                <a:gd name="T21" fmla="*/ 126 h 130"/>
                <a:gd name="T22" fmla="*/ 61 w 94"/>
                <a:gd name="T23" fmla="*/ 47 h 130"/>
                <a:gd name="T24" fmla="*/ 47 w 94"/>
                <a:gd name="T25" fmla="*/ 28 h 130"/>
                <a:gd name="T26" fmla="*/ 32 w 94"/>
                <a:gd name="T27" fmla="*/ 47 h 130"/>
                <a:gd name="T28" fmla="*/ 32 w 94"/>
                <a:gd name="T29" fmla="*/ 83 h 130"/>
                <a:gd name="T30" fmla="*/ 47 w 94"/>
                <a:gd name="T31" fmla="*/ 102 h 130"/>
                <a:gd name="T32" fmla="*/ 61 w 94"/>
                <a:gd name="T33" fmla="*/ 83 h 130"/>
                <a:gd name="T34" fmla="*/ 61 w 94"/>
                <a:gd name="T35" fmla="*/ 47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4" h="130">
                  <a:moveTo>
                    <a:pt x="68" y="126"/>
                  </a:moveTo>
                  <a:cubicBezTo>
                    <a:pt x="61" y="129"/>
                    <a:pt x="54" y="130"/>
                    <a:pt x="47" y="130"/>
                  </a:cubicBezTo>
                  <a:cubicBezTo>
                    <a:pt x="41" y="130"/>
                    <a:pt x="34" y="129"/>
                    <a:pt x="28" y="126"/>
                  </a:cubicBezTo>
                  <a:cubicBezTo>
                    <a:pt x="9" y="118"/>
                    <a:pt x="0" y="102"/>
                    <a:pt x="0" y="82"/>
                  </a:cubicBezTo>
                  <a:lnTo>
                    <a:pt x="0" y="47"/>
                  </a:lnTo>
                  <a:cubicBezTo>
                    <a:pt x="0" y="27"/>
                    <a:pt x="9" y="11"/>
                    <a:pt x="28" y="4"/>
                  </a:cubicBezTo>
                  <a:cubicBezTo>
                    <a:pt x="34" y="1"/>
                    <a:pt x="41" y="0"/>
                    <a:pt x="47" y="0"/>
                  </a:cubicBezTo>
                  <a:cubicBezTo>
                    <a:pt x="54" y="0"/>
                    <a:pt x="60" y="1"/>
                    <a:pt x="66" y="4"/>
                  </a:cubicBezTo>
                  <a:cubicBezTo>
                    <a:pt x="85" y="12"/>
                    <a:pt x="94" y="28"/>
                    <a:pt x="94" y="47"/>
                  </a:cubicBezTo>
                  <a:lnTo>
                    <a:pt x="94" y="82"/>
                  </a:lnTo>
                  <a:cubicBezTo>
                    <a:pt x="94" y="101"/>
                    <a:pt x="86" y="117"/>
                    <a:pt x="68" y="126"/>
                  </a:cubicBezTo>
                  <a:close/>
                  <a:moveTo>
                    <a:pt x="61" y="47"/>
                  </a:moveTo>
                  <a:cubicBezTo>
                    <a:pt x="61" y="37"/>
                    <a:pt x="58" y="28"/>
                    <a:pt x="47" y="28"/>
                  </a:cubicBezTo>
                  <a:cubicBezTo>
                    <a:pt x="36" y="28"/>
                    <a:pt x="32" y="37"/>
                    <a:pt x="32" y="47"/>
                  </a:cubicBezTo>
                  <a:lnTo>
                    <a:pt x="32" y="83"/>
                  </a:lnTo>
                  <a:cubicBezTo>
                    <a:pt x="32" y="93"/>
                    <a:pt x="36" y="102"/>
                    <a:pt x="47" y="102"/>
                  </a:cubicBezTo>
                  <a:cubicBezTo>
                    <a:pt x="58" y="102"/>
                    <a:pt x="61" y="93"/>
                    <a:pt x="61" y="83"/>
                  </a:cubicBezTo>
                  <a:lnTo>
                    <a:pt x="61" y="4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 name="Algorythm"/>
            <p:cNvSpPr>
              <a:spLocks noEditPoints="1"/>
            </p:cNvSpPr>
            <p:nvPr>
              <p:custDataLst>
                <p:tags r:id="rId19"/>
              </p:custDataLst>
            </p:nvPr>
          </p:nvSpPr>
          <p:spPr bwMode="auto">
            <a:xfrm>
              <a:off x="222" y="54"/>
              <a:ext cx="41" cy="49"/>
            </a:xfrm>
            <a:custGeom>
              <a:avLst/>
              <a:gdLst>
                <a:gd name="T0" fmla="*/ 61 w 110"/>
                <a:gd name="T1" fmla="*/ 129 h 131"/>
                <a:gd name="T2" fmla="*/ 39 w 110"/>
                <a:gd name="T3" fmla="*/ 129 h 131"/>
                <a:gd name="T4" fmla="*/ 22 w 110"/>
                <a:gd name="T5" fmla="*/ 120 h 131"/>
                <a:gd name="T6" fmla="*/ 5 w 110"/>
                <a:gd name="T7" fmla="*/ 71 h 131"/>
                <a:gd name="T8" fmla="*/ 14 w 110"/>
                <a:gd name="T9" fmla="*/ 37 h 131"/>
                <a:gd name="T10" fmla="*/ 52 w 110"/>
                <a:gd name="T11" fmla="*/ 1 h 131"/>
                <a:gd name="T12" fmla="*/ 72 w 110"/>
                <a:gd name="T13" fmla="*/ 2 h 131"/>
                <a:gd name="T14" fmla="*/ 89 w 110"/>
                <a:gd name="T15" fmla="*/ 11 h 131"/>
                <a:gd name="T16" fmla="*/ 105 w 110"/>
                <a:gd name="T17" fmla="*/ 60 h 131"/>
                <a:gd name="T18" fmla="*/ 96 w 110"/>
                <a:gd name="T19" fmla="*/ 94 h 131"/>
                <a:gd name="T20" fmla="*/ 61 w 110"/>
                <a:gd name="T21" fmla="*/ 129 h 131"/>
                <a:gd name="T22" fmla="*/ 74 w 110"/>
                <a:gd name="T23" fmla="*/ 51 h 131"/>
                <a:gd name="T24" fmla="*/ 64 w 110"/>
                <a:gd name="T25" fmla="*/ 30 h 131"/>
                <a:gd name="T26" fmla="*/ 45 w 110"/>
                <a:gd name="T27" fmla="*/ 44 h 131"/>
                <a:gd name="T28" fmla="*/ 36 w 110"/>
                <a:gd name="T29" fmla="*/ 79 h 131"/>
                <a:gd name="T30" fmla="*/ 46 w 110"/>
                <a:gd name="T31" fmla="*/ 101 h 131"/>
                <a:gd name="T32" fmla="*/ 65 w 110"/>
                <a:gd name="T33" fmla="*/ 87 h 131"/>
                <a:gd name="T34" fmla="*/ 74 w 110"/>
                <a:gd name="T35" fmla="*/ 51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0" h="131">
                  <a:moveTo>
                    <a:pt x="61" y="129"/>
                  </a:moveTo>
                  <a:cubicBezTo>
                    <a:pt x="54" y="131"/>
                    <a:pt x="46" y="130"/>
                    <a:pt x="39" y="129"/>
                  </a:cubicBezTo>
                  <a:cubicBezTo>
                    <a:pt x="33" y="127"/>
                    <a:pt x="27" y="124"/>
                    <a:pt x="22" y="120"/>
                  </a:cubicBezTo>
                  <a:cubicBezTo>
                    <a:pt x="6" y="108"/>
                    <a:pt x="0" y="90"/>
                    <a:pt x="5" y="71"/>
                  </a:cubicBezTo>
                  <a:lnTo>
                    <a:pt x="14" y="37"/>
                  </a:lnTo>
                  <a:cubicBezTo>
                    <a:pt x="19" y="17"/>
                    <a:pt x="32" y="4"/>
                    <a:pt x="52" y="1"/>
                  </a:cubicBezTo>
                  <a:cubicBezTo>
                    <a:pt x="59" y="0"/>
                    <a:pt x="65" y="1"/>
                    <a:pt x="72" y="2"/>
                  </a:cubicBezTo>
                  <a:cubicBezTo>
                    <a:pt x="78" y="4"/>
                    <a:pt x="84" y="7"/>
                    <a:pt x="89" y="11"/>
                  </a:cubicBezTo>
                  <a:cubicBezTo>
                    <a:pt x="105" y="23"/>
                    <a:pt x="110" y="41"/>
                    <a:pt x="105" y="60"/>
                  </a:cubicBezTo>
                  <a:lnTo>
                    <a:pt x="96" y="94"/>
                  </a:lnTo>
                  <a:cubicBezTo>
                    <a:pt x="91" y="112"/>
                    <a:pt x="80" y="126"/>
                    <a:pt x="61" y="129"/>
                  </a:cubicBezTo>
                  <a:close/>
                  <a:moveTo>
                    <a:pt x="74" y="51"/>
                  </a:moveTo>
                  <a:cubicBezTo>
                    <a:pt x="76" y="42"/>
                    <a:pt x="75" y="32"/>
                    <a:pt x="64" y="30"/>
                  </a:cubicBezTo>
                  <a:cubicBezTo>
                    <a:pt x="54" y="27"/>
                    <a:pt x="48" y="35"/>
                    <a:pt x="45" y="44"/>
                  </a:cubicBezTo>
                  <a:lnTo>
                    <a:pt x="36" y="79"/>
                  </a:lnTo>
                  <a:cubicBezTo>
                    <a:pt x="34" y="89"/>
                    <a:pt x="35" y="98"/>
                    <a:pt x="46" y="101"/>
                  </a:cubicBezTo>
                  <a:cubicBezTo>
                    <a:pt x="57" y="104"/>
                    <a:pt x="62" y="96"/>
                    <a:pt x="65" y="87"/>
                  </a:cubicBezTo>
                  <a:lnTo>
                    <a:pt x="74" y="5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 name="Algorythm"/>
            <p:cNvSpPr>
              <a:spLocks/>
            </p:cNvSpPr>
            <p:nvPr>
              <p:custDataLst>
                <p:tags r:id="rId20"/>
              </p:custDataLst>
            </p:nvPr>
          </p:nvSpPr>
          <p:spPr bwMode="auto">
            <a:xfrm>
              <a:off x="164" y="9"/>
              <a:ext cx="23" cy="48"/>
            </a:xfrm>
            <a:custGeom>
              <a:avLst/>
              <a:gdLst>
                <a:gd name="T0" fmla="*/ 29 w 61"/>
                <a:gd name="T1" fmla="*/ 127 h 127"/>
                <a:gd name="T2" fmla="*/ 22 w 61"/>
                <a:gd name="T3" fmla="*/ 29 h 127"/>
                <a:gd name="T4" fmla="*/ 2 w 61"/>
                <a:gd name="T5" fmla="*/ 30 h 127"/>
                <a:gd name="T6" fmla="*/ 0 w 61"/>
                <a:gd name="T7" fmla="*/ 3 h 127"/>
                <a:gd name="T8" fmla="*/ 52 w 61"/>
                <a:gd name="T9" fmla="*/ 0 h 127"/>
                <a:gd name="T10" fmla="*/ 61 w 61"/>
                <a:gd name="T11" fmla="*/ 125 h 127"/>
                <a:gd name="T12" fmla="*/ 29 w 61"/>
                <a:gd name="T13" fmla="*/ 127 h 127"/>
              </a:gdLst>
              <a:ahLst/>
              <a:cxnLst>
                <a:cxn ang="0">
                  <a:pos x="T0" y="T1"/>
                </a:cxn>
                <a:cxn ang="0">
                  <a:pos x="T2" y="T3"/>
                </a:cxn>
                <a:cxn ang="0">
                  <a:pos x="T4" y="T5"/>
                </a:cxn>
                <a:cxn ang="0">
                  <a:pos x="T6" y="T7"/>
                </a:cxn>
                <a:cxn ang="0">
                  <a:pos x="T8" y="T9"/>
                </a:cxn>
                <a:cxn ang="0">
                  <a:pos x="T10" y="T11"/>
                </a:cxn>
                <a:cxn ang="0">
                  <a:pos x="T12" y="T13"/>
                </a:cxn>
              </a:cxnLst>
              <a:rect l="0" t="0" r="r" b="b"/>
              <a:pathLst>
                <a:path w="61" h="127">
                  <a:moveTo>
                    <a:pt x="29" y="127"/>
                  </a:moveTo>
                  <a:lnTo>
                    <a:pt x="22" y="29"/>
                  </a:lnTo>
                  <a:lnTo>
                    <a:pt x="2" y="30"/>
                  </a:lnTo>
                  <a:lnTo>
                    <a:pt x="0" y="3"/>
                  </a:lnTo>
                  <a:lnTo>
                    <a:pt x="52" y="0"/>
                  </a:lnTo>
                  <a:lnTo>
                    <a:pt x="61" y="125"/>
                  </a:lnTo>
                  <a:lnTo>
                    <a:pt x="29" y="12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Algorythm"/>
            <p:cNvSpPr>
              <a:spLocks/>
            </p:cNvSpPr>
            <p:nvPr>
              <p:custDataLst>
                <p:tags r:id="rId21"/>
              </p:custDataLst>
            </p:nvPr>
          </p:nvSpPr>
          <p:spPr bwMode="auto">
            <a:xfrm>
              <a:off x="198" y="133"/>
              <a:ext cx="23" cy="48"/>
            </a:xfrm>
            <a:custGeom>
              <a:avLst/>
              <a:gdLst>
                <a:gd name="T0" fmla="*/ 29 w 61"/>
                <a:gd name="T1" fmla="*/ 127 h 127"/>
                <a:gd name="T2" fmla="*/ 22 w 61"/>
                <a:gd name="T3" fmla="*/ 29 h 127"/>
                <a:gd name="T4" fmla="*/ 2 w 61"/>
                <a:gd name="T5" fmla="*/ 30 h 127"/>
                <a:gd name="T6" fmla="*/ 0 w 61"/>
                <a:gd name="T7" fmla="*/ 3 h 127"/>
                <a:gd name="T8" fmla="*/ 53 w 61"/>
                <a:gd name="T9" fmla="*/ 0 h 127"/>
                <a:gd name="T10" fmla="*/ 61 w 61"/>
                <a:gd name="T11" fmla="*/ 125 h 127"/>
                <a:gd name="T12" fmla="*/ 29 w 61"/>
                <a:gd name="T13" fmla="*/ 127 h 127"/>
              </a:gdLst>
              <a:ahLst/>
              <a:cxnLst>
                <a:cxn ang="0">
                  <a:pos x="T0" y="T1"/>
                </a:cxn>
                <a:cxn ang="0">
                  <a:pos x="T2" y="T3"/>
                </a:cxn>
                <a:cxn ang="0">
                  <a:pos x="T4" y="T5"/>
                </a:cxn>
                <a:cxn ang="0">
                  <a:pos x="T6" y="T7"/>
                </a:cxn>
                <a:cxn ang="0">
                  <a:pos x="T8" y="T9"/>
                </a:cxn>
                <a:cxn ang="0">
                  <a:pos x="T10" y="T11"/>
                </a:cxn>
                <a:cxn ang="0">
                  <a:pos x="T12" y="T13"/>
                </a:cxn>
              </a:cxnLst>
              <a:rect l="0" t="0" r="r" b="b"/>
              <a:pathLst>
                <a:path w="61" h="127">
                  <a:moveTo>
                    <a:pt x="29" y="127"/>
                  </a:moveTo>
                  <a:lnTo>
                    <a:pt x="22" y="29"/>
                  </a:lnTo>
                  <a:lnTo>
                    <a:pt x="2" y="30"/>
                  </a:lnTo>
                  <a:lnTo>
                    <a:pt x="0" y="3"/>
                  </a:lnTo>
                  <a:lnTo>
                    <a:pt x="53" y="0"/>
                  </a:lnTo>
                  <a:lnTo>
                    <a:pt x="61" y="125"/>
                  </a:lnTo>
                  <a:lnTo>
                    <a:pt x="29" y="12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 name="Algorythm"/>
            <p:cNvSpPr>
              <a:spLocks/>
            </p:cNvSpPr>
            <p:nvPr>
              <p:custDataLst>
                <p:tags r:id="rId22"/>
              </p:custDataLst>
            </p:nvPr>
          </p:nvSpPr>
          <p:spPr bwMode="auto">
            <a:xfrm>
              <a:off x="303" y="90"/>
              <a:ext cx="26" cy="51"/>
            </a:xfrm>
            <a:custGeom>
              <a:avLst/>
              <a:gdLst>
                <a:gd name="T0" fmla="*/ 0 w 71"/>
                <a:gd name="T1" fmla="*/ 126 h 136"/>
                <a:gd name="T2" fmla="*/ 32 w 71"/>
                <a:gd name="T3" fmla="*/ 32 h 136"/>
                <a:gd name="T4" fmla="*/ 12 w 71"/>
                <a:gd name="T5" fmla="*/ 26 h 136"/>
                <a:gd name="T6" fmla="*/ 21 w 71"/>
                <a:gd name="T7" fmla="*/ 0 h 136"/>
                <a:gd name="T8" fmla="*/ 71 w 71"/>
                <a:gd name="T9" fmla="*/ 17 h 136"/>
                <a:gd name="T10" fmla="*/ 30 w 71"/>
                <a:gd name="T11" fmla="*/ 136 h 136"/>
                <a:gd name="T12" fmla="*/ 0 w 71"/>
                <a:gd name="T13" fmla="*/ 126 h 136"/>
              </a:gdLst>
              <a:ahLst/>
              <a:cxnLst>
                <a:cxn ang="0">
                  <a:pos x="T0" y="T1"/>
                </a:cxn>
                <a:cxn ang="0">
                  <a:pos x="T2" y="T3"/>
                </a:cxn>
                <a:cxn ang="0">
                  <a:pos x="T4" y="T5"/>
                </a:cxn>
                <a:cxn ang="0">
                  <a:pos x="T6" y="T7"/>
                </a:cxn>
                <a:cxn ang="0">
                  <a:pos x="T8" y="T9"/>
                </a:cxn>
                <a:cxn ang="0">
                  <a:pos x="T10" y="T11"/>
                </a:cxn>
                <a:cxn ang="0">
                  <a:pos x="T12" y="T13"/>
                </a:cxn>
              </a:cxnLst>
              <a:rect l="0" t="0" r="r" b="b"/>
              <a:pathLst>
                <a:path w="71" h="136">
                  <a:moveTo>
                    <a:pt x="0" y="126"/>
                  </a:moveTo>
                  <a:lnTo>
                    <a:pt x="32" y="32"/>
                  </a:lnTo>
                  <a:lnTo>
                    <a:pt x="12" y="26"/>
                  </a:lnTo>
                  <a:lnTo>
                    <a:pt x="21" y="0"/>
                  </a:lnTo>
                  <a:lnTo>
                    <a:pt x="71" y="17"/>
                  </a:lnTo>
                  <a:lnTo>
                    <a:pt x="30" y="136"/>
                  </a:lnTo>
                  <a:lnTo>
                    <a:pt x="0" y="12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 name="Algorythm"/>
            <p:cNvSpPr>
              <a:spLocks/>
            </p:cNvSpPr>
            <p:nvPr>
              <p:custDataLst>
                <p:tags r:id="rId23"/>
              </p:custDataLst>
            </p:nvPr>
          </p:nvSpPr>
          <p:spPr bwMode="auto">
            <a:xfrm>
              <a:off x="136" y="100"/>
              <a:ext cx="23" cy="48"/>
            </a:xfrm>
            <a:custGeom>
              <a:avLst/>
              <a:gdLst>
                <a:gd name="T0" fmla="*/ 29 w 61"/>
                <a:gd name="T1" fmla="*/ 128 h 128"/>
                <a:gd name="T2" fmla="*/ 22 w 61"/>
                <a:gd name="T3" fmla="*/ 29 h 128"/>
                <a:gd name="T4" fmla="*/ 2 w 61"/>
                <a:gd name="T5" fmla="*/ 31 h 128"/>
                <a:gd name="T6" fmla="*/ 0 w 61"/>
                <a:gd name="T7" fmla="*/ 4 h 128"/>
                <a:gd name="T8" fmla="*/ 53 w 61"/>
                <a:gd name="T9" fmla="*/ 0 h 128"/>
                <a:gd name="T10" fmla="*/ 61 w 61"/>
                <a:gd name="T11" fmla="*/ 125 h 128"/>
                <a:gd name="T12" fmla="*/ 29 w 6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61" h="128">
                  <a:moveTo>
                    <a:pt x="29" y="128"/>
                  </a:moveTo>
                  <a:lnTo>
                    <a:pt x="22" y="29"/>
                  </a:lnTo>
                  <a:lnTo>
                    <a:pt x="2" y="31"/>
                  </a:lnTo>
                  <a:lnTo>
                    <a:pt x="0" y="4"/>
                  </a:lnTo>
                  <a:lnTo>
                    <a:pt x="53" y="0"/>
                  </a:lnTo>
                  <a:lnTo>
                    <a:pt x="61" y="125"/>
                  </a:lnTo>
                  <a:lnTo>
                    <a:pt x="29" y="128"/>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 name="Algorythm"/>
            <p:cNvSpPr>
              <a:spLocks/>
            </p:cNvSpPr>
            <p:nvPr>
              <p:custDataLst>
                <p:tags r:id="rId24"/>
              </p:custDataLst>
            </p:nvPr>
          </p:nvSpPr>
          <p:spPr bwMode="auto">
            <a:xfrm>
              <a:off x="282" y="25"/>
              <a:ext cx="21" cy="50"/>
            </a:xfrm>
            <a:custGeom>
              <a:avLst/>
              <a:gdLst>
                <a:gd name="T0" fmla="*/ 6 w 56"/>
                <a:gd name="T1" fmla="*/ 127 h 132"/>
                <a:gd name="T2" fmla="*/ 20 w 56"/>
                <a:gd name="T3" fmla="*/ 29 h 132"/>
                <a:gd name="T4" fmla="*/ 0 w 56"/>
                <a:gd name="T5" fmla="*/ 26 h 132"/>
                <a:gd name="T6" fmla="*/ 4 w 56"/>
                <a:gd name="T7" fmla="*/ 0 h 132"/>
                <a:gd name="T8" fmla="*/ 56 w 56"/>
                <a:gd name="T9" fmla="*/ 7 h 132"/>
                <a:gd name="T10" fmla="*/ 37 w 56"/>
                <a:gd name="T11" fmla="*/ 132 h 132"/>
                <a:gd name="T12" fmla="*/ 6 w 56"/>
                <a:gd name="T13" fmla="*/ 127 h 132"/>
              </a:gdLst>
              <a:ahLst/>
              <a:cxnLst>
                <a:cxn ang="0">
                  <a:pos x="T0" y="T1"/>
                </a:cxn>
                <a:cxn ang="0">
                  <a:pos x="T2" y="T3"/>
                </a:cxn>
                <a:cxn ang="0">
                  <a:pos x="T4" y="T5"/>
                </a:cxn>
                <a:cxn ang="0">
                  <a:pos x="T6" y="T7"/>
                </a:cxn>
                <a:cxn ang="0">
                  <a:pos x="T8" y="T9"/>
                </a:cxn>
                <a:cxn ang="0">
                  <a:pos x="T10" y="T11"/>
                </a:cxn>
                <a:cxn ang="0">
                  <a:pos x="T12" y="T13"/>
                </a:cxn>
              </a:cxnLst>
              <a:rect l="0" t="0" r="r" b="b"/>
              <a:pathLst>
                <a:path w="56" h="132">
                  <a:moveTo>
                    <a:pt x="6" y="127"/>
                  </a:moveTo>
                  <a:lnTo>
                    <a:pt x="20" y="29"/>
                  </a:lnTo>
                  <a:lnTo>
                    <a:pt x="0" y="26"/>
                  </a:lnTo>
                  <a:lnTo>
                    <a:pt x="4" y="0"/>
                  </a:lnTo>
                  <a:lnTo>
                    <a:pt x="56" y="7"/>
                  </a:lnTo>
                  <a:lnTo>
                    <a:pt x="37" y="132"/>
                  </a:lnTo>
                  <a:lnTo>
                    <a:pt x="6" y="12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 name="Algorythm"/>
            <p:cNvSpPr>
              <a:spLocks noChangeArrowheads="1"/>
            </p:cNvSpPr>
            <p:nvPr>
              <p:custDataLst>
                <p:tags r:id="rId25"/>
              </p:custDataLst>
            </p:nvPr>
          </p:nvSpPr>
          <p:spPr bwMode="auto">
            <a:xfrm>
              <a:off x="215" y="422"/>
              <a:ext cx="55" cy="55"/>
            </a:xfrm>
            <a:prstGeom prst="ellipse">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 name="Algorythm"/>
            <p:cNvSpPr>
              <a:spLocks noEditPoints="1"/>
            </p:cNvSpPr>
            <p:nvPr>
              <p:custDataLst>
                <p:tags r:id="rId26"/>
              </p:custDataLst>
            </p:nvPr>
          </p:nvSpPr>
          <p:spPr bwMode="auto">
            <a:xfrm>
              <a:off x="89" y="108"/>
              <a:ext cx="308" cy="300"/>
            </a:xfrm>
            <a:custGeom>
              <a:avLst/>
              <a:gdLst>
                <a:gd name="T0" fmla="*/ 410 w 820"/>
                <a:gd name="T1" fmla="*/ 0 h 797"/>
                <a:gd name="T2" fmla="*/ 1 w 820"/>
                <a:gd name="T3" fmla="*/ 80 h 797"/>
                <a:gd name="T4" fmla="*/ 0 w 820"/>
                <a:gd name="T5" fmla="*/ 80 h 797"/>
                <a:gd name="T6" fmla="*/ 0 w 820"/>
                <a:gd name="T7" fmla="*/ 81 h 797"/>
                <a:gd name="T8" fmla="*/ 0 w 820"/>
                <a:gd name="T9" fmla="*/ 82 h 797"/>
                <a:gd name="T10" fmla="*/ 29 w 820"/>
                <a:gd name="T11" fmla="*/ 112 h 797"/>
                <a:gd name="T12" fmla="*/ 343 w 820"/>
                <a:gd name="T13" fmla="*/ 463 h 797"/>
                <a:gd name="T14" fmla="*/ 343 w 820"/>
                <a:gd name="T15" fmla="*/ 789 h 797"/>
                <a:gd name="T16" fmla="*/ 351 w 820"/>
                <a:gd name="T17" fmla="*/ 797 h 797"/>
                <a:gd name="T18" fmla="*/ 475 w 820"/>
                <a:gd name="T19" fmla="*/ 753 h 797"/>
                <a:gd name="T20" fmla="*/ 476 w 820"/>
                <a:gd name="T21" fmla="*/ 748 h 797"/>
                <a:gd name="T22" fmla="*/ 476 w 820"/>
                <a:gd name="T23" fmla="*/ 463 h 797"/>
                <a:gd name="T24" fmla="*/ 789 w 820"/>
                <a:gd name="T25" fmla="*/ 113 h 797"/>
                <a:gd name="T26" fmla="*/ 820 w 820"/>
                <a:gd name="T27" fmla="*/ 82 h 797"/>
                <a:gd name="T28" fmla="*/ 410 w 820"/>
                <a:gd name="T29" fmla="*/ 0 h 797"/>
                <a:gd name="T30" fmla="*/ 662 w 820"/>
                <a:gd name="T31" fmla="*/ 99 h 797"/>
                <a:gd name="T32" fmla="*/ 410 w 820"/>
                <a:gd name="T33" fmla="*/ 117 h 797"/>
                <a:gd name="T34" fmla="*/ 158 w 820"/>
                <a:gd name="T35" fmla="*/ 99 h 797"/>
                <a:gd name="T36" fmla="*/ 81 w 820"/>
                <a:gd name="T37" fmla="*/ 82 h 797"/>
                <a:gd name="T38" fmla="*/ 158 w 820"/>
                <a:gd name="T39" fmla="*/ 65 h 797"/>
                <a:gd name="T40" fmla="*/ 410 w 820"/>
                <a:gd name="T41" fmla="*/ 47 h 797"/>
                <a:gd name="T42" fmla="*/ 662 w 820"/>
                <a:gd name="T43" fmla="*/ 65 h 797"/>
                <a:gd name="T44" fmla="*/ 739 w 820"/>
                <a:gd name="T45" fmla="*/ 82 h 797"/>
                <a:gd name="T46" fmla="*/ 662 w 820"/>
                <a:gd name="T47" fmla="*/ 99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20" h="797">
                  <a:moveTo>
                    <a:pt x="410" y="0"/>
                  </a:moveTo>
                  <a:cubicBezTo>
                    <a:pt x="187" y="0"/>
                    <a:pt x="6" y="36"/>
                    <a:pt x="1" y="80"/>
                  </a:cubicBezTo>
                  <a:cubicBezTo>
                    <a:pt x="0" y="80"/>
                    <a:pt x="0" y="80"/>
                    <a:pt x="0" y="80"/>
                  </a:cubicBezTo>
                  <a:lnTo>
                    <a:pt x="0" y="81"/>
                  </a:lnTo>
                  <a:cubicBezTo>
                    <a:pt x="0" y="81"/>
                    <a:pt x="0" y="82"/>
                    <a:pt x="0" y="82"/>
                  </a:cubicBezTo>
                  <a:cubicBezTo>
                    <a:pt x="0" y="93"/>
                    <a:pt x="10" y="103"/>
                    <a:pt x="29" y="112"/>
                  </a:cubicBezTo>
                  <a:lnTo>
                    <a:pt x="343" y="463"/>
                  </a:lnTo>
                  <a:lnTo>
                    <a:pt x="343" y="789"/>
                  </a:lnTo>
                  <a:cubicBezTo>
                    <a:pt x="343" y="794"/>
                    <a:pt x="346" y="797"/>
                    <a:pt x="351" y="797"/>
                  </a:cubicBezTo>
                  <a:cubicBezTo>
                    <a:pt x="439" y="797"/>
                    <a:pt x="473" y="755"/>
                    <a:pt x="475" y="753"/>
                  </a:cubicBezTo>
                  <a:cubicBezTo>
                    <a:pt x="476" y="752"/>
                    <a:pt x="476" y="750"/>
                    <a:pt x="476" y="748"/>
                  </a:cubicBezTo>
                  <a:lnTo>
                    <a:pt x="476" y="463"/>
                  </a:lnTo>
                  <a:lnTo>
                    <a:pt x="789" y="113"/>
                  </a:lnTo>
                  <a:cubicBezTo>
                    <a:pt x="809" y="104"/>
                    <a:pt x="820" y="93"/>
                    <a:pt x="820" y="82"/>
                  </a:cubicBezTo>
                  <a:cubicBezTo>
                    <a:pt x="820" y="37"/>
                    <a:pt x="636" y="0"/>
                    <a:pt x="410" y="0"/>
                  </a:cubicBezTo>
                  <a:close/>
                  <a:moveTo>
                    <a:pt x="662" y="99"/>
                  </a:moveTo>
                  <a:cubicBezTo>
                    <a:pt x="592" y="111"/>
                    <a:pt x="502" y="117"/>
                    <a:pt x="410" y="117"/>
                  </a:cubicBezTo>
                  <a:cubicBezTo>
                    <a:pt x="318" y="117"/>
                    <a:pt x="229" y="111"/>
                    <a:pt x="158" y="99"/>
                  </a:cubicBezTo>
                  <a:cubicBezTo>
                    <a:pt x="124" y="93"/>
                    <a:pt x="99" y="88"/>
                    <a:pt x="81" y="82"/>
                  </a:cubicBezTo>
                  <a:cubicBezTo>
                    <a:pt x="99" y="77"/>
                    <a:pt x="124" y="71"/>
                    <a:pt x="158" y="65"/>
                  </a:cubicBezTo>
                  <a:cubicBezTo>
                    <a:pt x="229" y="54"/>
                    <a:pt x="318" y="47"/>
                    <a:pt x="410" y="47"/>
                  </a:cubicBezTo>
                  <a:cubicBezTo>
                    <a:pt x="502" y="47"/>
                    <a:pt x="592" y="54"/>
                    <a:pt x="662" y="65"/>
                  </a:cubicBezTo>
                  <a:cubicBezTo>
                    <a:pt x="696" y="71"/>
                    <a:pt x="721" y="77"/>
                    <a:pt x="739" y="82"/>
                  </a:cubicBezTo>
                  <a:cubicBezTo>
                    <a:pt x="721" y="88"/>
                    <a:pt x="696" y="93"/>
                    <a:pt x="662" y="9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07" name="Sweep" descr="{&quot;Key&quot;:&quot;POWER_USER_SHAPE_ICON&quot;,&quot;Value&quot;:&quot;POWER_USER_SHAPE_ICON_STYLE_1&quot;}"/>
          <p:cNvGrpSpPr>
            <a:grpSpLocks noChangeAspect="1"/>
          </p:cNvGrpSpPr>
          <p:nvPr>
            <p:custDataLst>
              <p:tags r:id="rId5"/>
            </p:custDataLst>
          </p:nvPr>
        </p:nvGrpSpPr>
        <p:grpSpPr bwMode="auto">
          <a:xfrm>
            <a:off x="7013329" y="4119614"/>
            <a:ext cx="617718" cy="542925"/>
            <a:chOff x="3564" y="2935"/>
            <a:chExt cx="1148" cy="1009"/>
          </a:xfrm>
          <a:solidFill>
            <a:schemeClr val="lt1"/>
          </a:solidFill>
        </p:grpSpPr>
        <p:sp>
          <p:nvSpPr>
            <p:cNvPr id="108" name="Freeform 857"/>
            <p:cNvSpPr>
              <a:spLocks/>
            </p:cNvSpPr>
            <p:nvPr/>
          </p:nvSpPr>
          <p:spPr bwMode="auto">
            <a:xfrm>
              <a:off x="3602" y="3069"/>
              <a:ext cx="822" cy="812"/>
            </a:xfrm>
            <a:custGeom>
              <a:avLst/>
              <a:gdLst>
                <a:gd name="T0" fmla="*/ 1759 w 3492"/>
                <a:gd name="T1" fmla="*/ 305 h 3449"/>
                <a:gd name="T2" fmla="*/ 3144 w 3492"/>
                <a:gd name="T3" fmla="*/ 2067 h 3449"/>
                <a:gd name="T4" fmla="*/ 3121 w 3492"/>
                <a:gd name="T5" fmla="*/ 2611 h 3449"/>
                <a:gd name="T6" fmla="*/ 2725 w 3492"/>
                <a:gd name="T7" fmla="*/ 3095 h 3449"/>
                <a:gd name="T8" fmla="*/ 2087 w 3492"/>
                <a:gd name="T9" fmla="*/ 2892 h 3449"/>
                <a:gd name="T10" fmla="*/ 221 w 3492"/>
                <a:gd name="T11" fmla="*/ 922 h 3449"/>
                <a:gd name="T12" fmla="*/ 205 w 3492"/>
                <a:gd name="T13" fmla="*/ 610 h 3449"/>
                <a:gd name="T14" fmla="*/ 1245 w 3492"/>
                <a:gd name="T15" fmla="*/ 255 h 3449"/>
                <a:gd name="T16" fmla="*/ 1759 w 3492"/>
                <a:gd name="T17" fmla="*/ 305 h 3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92" h="3449">
                  <a:moveTo>
                    <a:pt x="1759" y="305"/>
                  </a:moveTo>
                  <a:lnTo>
                    <a:pt x="3144" y="2067"/>
                  </a:lnTo>
                  <a:cubicBezTo>
                    <a:pt x="3492" y="2509"/>
                    <a:pt x="3377" y="2299"/>
                    <a:pt x="3121" y="2611"/>
                  </a:cubicBezTo>
                  <a:lnTo>
                    <a:pt x="2725" y="3095"/>
                  </a:lnTo>
                  <a:cubicBezTo>
                    <a:pt x="2436" y="3449"/>
                    <a:pt x="2567" y="3400"/>
                    <a:pt x="2087" y="2892"/>
                  </a:cubicBezTo>
                  <a:lnTo>
                    <a:pt x="221" y="922"/>
                  </a:lnTo>
                  <a:cubicBezTo>
                    <a:pt x="73" y="765"/>
                    <a:pt x="0" y="680"/>
                    <a:pt x="205" y="610"/>
                  </a:cubicBezTo>
                  <a:lnTo>
                    <a:pt x="1245" y="255"/>
                  </a:lnTo>
                  <a:cubicBezTo>
                    <a:pt x="1667" y="111"/>
                    <a:pt x="1519" y="0"/>
                    <a:pt x="1759" y="30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 name="Freeform 858"/>
            <p:cNvSpPr>
              <a:spLocks/>
            </p:cNvSpPr>
            <p:nvPr/>
          </p:nvSpPr>
          <p:spPr bwMode="auto">
            <a:xfrm>
              <a:off x="3996" y="3009"/>
              <a:ext cx="524" cy="605"/>
            </a:xfrm>
            <a:custGeom>
              <a:avLst/>
              <a:gdLst>
                <a:gd name="T0" fmla="*/ 806 w 2227"/>
                <a:gd name="T1" fmla="*/ 186 h 2566"/>
                <a:gd name="T2" fmla="*/ 129 w 2227"/>
                <a:gd name="T3" fmla="*/ 180 h 2566"/>
                <a:gd name="T4" fmla="*/ 0 w 2227"/>
                <a:gd name="T5" fmla="*/ 281 h 2566"/>
                <a:gd name="T6" fmla="*/ 1797 w 2227"/>
                <a:gd name="T7" fmla="*/ 2566 h 2566"/>
                <a:gd name="T8" fmla="*/ 1926 w 2227"/>
                <a:gd name="T9" fmla="*/ 2465 h 2566"/>
                <a:gd name="T10" fmla="*/ 2083 w 2227"/>
                <a:gd name="T11" fmla="*/ 1809 h 2566"/>
                <a:gd name="T12" fmla="*/ 806 w 2227"/>
                <a:gd name="T13" fmla="*/ 186 h 2566"/>
              </a:gdLst>
              <a:ahLst/>
              <a:cxnLst>
                <a:cxn ang="0">
                  <a:pos x="T0" y="T1"/>
                </a:cxn>
                <a:cxn ang="0">
                  <a:pos x="T2" y="T3"/>
                </a:cxn>
                <a:cxn ang="0">
                  <a:pos x="T4" y="T5"/>
                </a:cxn>
                <a:cxn ang="0">
                  <a:pos x="T6" y="T7"/>
                </a:cxn>
                <a:cxn ang="0">
                  <a:pos x="T8" y="T9"/>
                </a:cxn>
                <a:cxn ang="0">
                  <a:pos x="T10" y="T11"/>
                </a:cxn>
                <a:cxn ang="0">
                  <a:pos x="T12" y="T13"/>
                </a:cxn>
              </a:cxnLst>
              <a:rect l="0" t="0" r="r" b="b"/>
              <a:pathLst>
                <a:path w="2227" h="2566">
                  <a:moveTo>
                    <a:pt x="806" y="186"/>
                  </a:moveTo>
                  <a:cubicBezTo>
                    <a:pt x="662" y="2"/>
                    <a:pt x="360" y="0"/>
                    <a:pt x="129" y="180"/>
                  </a:cubicBezTo>
                  <a:lnTo>
                    <a:pt x="0" y="281"/>
                  </a:lnTo>
                  <a:lnTo>
                    <a:pt x="1797" y="2566"/>
                  </a:lnTo>
                  <a:lnTo>
                    <a:pt x="1926" y="2465"/>
                  </a:lnTo>
                  <a:cubicBezTo>
                    <a:pt x="2157" y="2285"/>
                    <a:pt x="2227" y="1992"/>
                    <a:pt x="2083" y="1809"/>
                  </a:cubicBezTo>
                  <a:lnTo>
                    <a:pt x="806" y="18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 name="Freeform 859"/>
            <p:cNvSpPr>
              <a:spLocks/>
            </p:cNvSpPr>
            <p:nvPr/>
          </p:nvSpPr>
          <p:spPr bwMode="auto">
            <a:xfrm>
              <a:off x="4223" y="2935"/>
              <a:ext cx="489" cy="413"/>
            </a:xfrm>
            <a:custGeom>
              <a:avLst/>
              <a:gdLst>
                <a:gd name="T0" fmla="*/ 1989 w 2079"/>
                <a:gd name="T1" fmla="*/ 134 h 1751"/>
                <a:gd name="T2" fmla="*/ 1944 w 2079"/>
                <a:gd name="T3" fmla="*/ 502 h 1751"/>
                <a:gd name="T4" fmla="*/ 459 w 2079"/>
                <a:gd name="T5" fmla="*/ 1661 h 1751"/>
                <a:gd name="T6" fmla="*/ 90 w 2079"/>
                <a:gd name="T7" fmla="*/ 1616 h 1751"/>
                <a:gd name="T8" fmla="*/ 135 w 2079"/>
                <a:gd name="T9" fmla="*/ 1248 h 1751"/>
                <a:gd name="T10" fmla="*/ 1619 w 2079"/>
                <a:gd name="T11" fmla="*/ 89 h 1751"/>
                <a:gd name="T12" fmla="*/ 1989 w 2079"/>
                <a:gd name="T13" fmla="*/ 134 h 1751"/>
              </a:gdLst>
              <a:ahLst/>
              <a:cxnLst>
                <a:cxn ang="0">
                  <a:pos x="T0" y="T1"/>
                </a:cxn>
                <a:cxn ang="0">
                  <a:pos x="T2" y="T3"/>
                </a:cxn>
                <a:cxn ang="0">
                  <a:pos x="T4" y="T5"/>
                </a:cxn>
                <a:cxn ang="0">
                  <a:pos x="T6" y="T7"/>
                </a:cxn>
                <a:cxn ang="0">
                  <a:pos x="T8" y="T9"/>
                </a:cxn>
                <a:cxn ang="0">
                  <a:pos x="T10" y="T11"/>
                </a:cxn>
                <a:cxn ang="0">
                  <a:pos x="T12" y="T13"/>
                </a:cxn>
              </a:cxnLst>
              <a:rect l="0" t="0" r="r" b="b"/>
              <a:pathLst>
                <a:path w="2079" h="1751">
                  <a:moveTo>
                    <a:pt x="1989" y="134"/>
                  </a:moveTo>
                  <a:cubicBezTo>
                    <a:pt x="2079" y="248"/>
                    <a:pt x="2059" y="413"/>
                    <a:pt x="1944" y="502"/>
                  </a:cubicBezTo>
                  <a:lnTo>
                    <a:pt x="459" y="1661"/>
                  </a:lnTo>
                  <a:cubicBezTo>
                    <a:pt x="344" y="1751"/>
                    <a:pt x="180" y="1731"/>
                    <a:pt x="90" y="1616"/>
                  </a:cubicBezTo>
                  <a:cubicBezTo>
                    <a:pt x="0" y="1502"/>
                    <a:pt x="20" y="1338"/>
                    <a:pt x="135" y="1248"/>
                  </a:cubicBezTo>
                  <a:lnTo>
                    <a:pt x="1619" y="89"/>
                  </a:lnTo>
                  <a:cubicBezTo>
                    <a:pt x="1734" y="0"/>
                    <a:pt x="1899" y="20"/>
                    <a:pt x="1989" y="13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 name="Freeform 860"/>
            <p:cNvSpPr>
              <a:spLocks/>
            </p:cNvSpPr>
            <p:nvPr/>
          </p:nvSpPr>
          <p:spPr bwMode="auto">
            <a:xfrm>
              <a:off x="3564" y="3738"/>
              <a:ext cx="183" cy="206"/>
            </a:xfrm>
            <a:custGeom>
              <a:avLst/>
              <a:gdLst>
                <a:gd name="T0" fmla="*/ 659 w 777"/>
                <a:gd name="T1" fmla="*/ 781 h 872"/>
                <a:gd name="T2" fmla="*/ 176 w 777"/>
                <a:gd name="T3" fmla="*/ 602 h 872"/>
                <a:gd name="T4" fmla="*/ 117 w 777"/>
                <a:gd name="T5" fmla="*/ 91 h 872"/>
                <a:gd name="T6" fmla="*/ 600 w 777"/>
                <a:gd name="T7" fmla="*/ 270 h 872"/>
                <a:gd name="T8" fmla="*/ 659 w 777"/>
                <a:gd name="T9" fmla="*/ 781 h 872"/>
              </a:gdLst>
              <a:ahLst/>
              <a:cxnLst>
                <a:cxn ang="0">
                  <a:pos x="T0" y="T1"/>
                </a:cxn>
                <a:cxn ang="0">
                  <a:pos x="T2" y="T3"/>
                </a:cxn>
                <a:cxn ang="0">
                  <a:pos x="T4" y="T5"/>
                </a:cxn>
                <a:cxn ang="0">
                  <a:pos x="T6" y="T7"/>
                </a:cxn>
                <a:cxn ang="0">
                  <a:pos x="T8" y="T9"/>
                </a:cxn>
              </a:cxnLst>
              <a:rect l="0" t="0" r="r" b="b"/>
              <a:pathLst>
                <a:path w="777" h="872">
                  <a:moveTo>
                    <a:pt x="659" y="781"/>
                  </a:moveTo>
                  <a:cubicBezTo>
                    <a:pt x="542" y="872"/>
                    <a:pt x="326" y="792"/>
                    <a:pt x="176" y="602"/>
                  </a:cubicBezTo>
                  <a:cubicBezTo>
                    <a:pt x="26" y="411"/>
                    <a:pt x="0" y="183"/>
                    <a:pt x="117" y="91"/>
                  </a:cubicBezTo>
                  <a:cubicBezTo>
                    <a:pt x="234" y="0"/>
                    <a:pt x="451" y="80"/>
                    <a:pt x="600" y="270"/>
                  </a:cubicBezTo>
                  <a:cubicBezTo>
                    <a:pt x="750" y="461"/>
                    <a:pt x="777" y="689"/>
                    <a:pt x="659" y="78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 name="Freeform 861"/>
            <p:cNvSpPr>
              <a:spLocks/>
            </p:cNvSpPr>
            <p:nvPr/>
          </p:nvSpPr>
          <p:spPr bwMode="auto">
            <a:xfrm>
              <a:off x="3644" y="3715"/>
              <a:ext cx="220" cy="212"/>
            </a:xfrm>
            <a:custGeom>
              <a:avLst/>
              <a:gdLst>
                <a:gd name="T0" fmla="*/ 708 w 936"/>
                <a:gd name="T1" fmla="*/ 756 h 900"/>
                <a:gd name="T2" fmla="*/ 133 w 936"/>
                <a:gd name="T3" fmla="*/ 711 h 900"/>
                <a:gd name="T4" fmla="*/ 227 w 936"/>
                <a:gd name="T5" fmla="*/ 144 h 900"/>
                <a:gd name="T6" fmla="*/ 803 w 936"/>
                <a:gd name="T7" fmla="*/ 188 h 900"/>
                <a:gd name="T8" fmla="*/ 708 w 936"/>
                <a:gd name="T9" fmla="*/ 756 h 900"/>
              </a:gdLst>
              <a:ahLst/>
              <a:cxnLst>
                <a:cxn ang="0">
                  <a:pos x="T0" y="T1"/>
                </a:cxn>
                <a:cxn ang="0">
                  <a:pos x="T2" y="T3"/>
                </a:cxn>
                <a:cxn ang="0">
                  <a:pos x="T4" y="T5"/>
                </a:cxn>
                <a:cxn ang="0">
                  <a:pos x="T6" y="T7"/>
                </a:cxn>
                <a:cxn ang="0">
                  <a:pos x="T8" y="T9"/>
                </a:cxn>
              </a:cxnLst>
              <a:rect l="0" t="0" r="r" b="b"/>
              <a:pathLst>
                <a:path w="936" h="900">
                  <a:moveTo>
                    <a:pt x="708" y="756"/>
                  </a:moveTo>
                  <a:cubicBezTo>
                    <a:pt x="523" y="900"/>
                    <a:pt x="266" y="880"/>
                    <a:pt x="133" y="711"/>
                  </a:cubicBezTo>
                  <a:cubicBezTo>
                    <a:pt x="0" y="542"/>
                    <a:pt x="42" y="288"/>
                    <a:pt x="227" y="144"/>
                  </a:cubicBezTo>
                  <a:cubicBezTo>
                    <a:pt x="412" y="0"/>
                    <a:pt x="670" y="20"/>
                    <a:pt x="803" y="188"/>
                  </a:cubicBezTo>
                  <a:cubicBezTo>
                    <a:pt x="936" y="357"/>
                    <a:pt x="893" y="611"/>
                    <a:pt x="708" y="75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 name="Freeform 862"/>
            <p:cNvSpPr>
              <a:spLocks/>
            </p:cNvSpPr>
            <p:nvPr/>
          </p:nvSpPr>
          <p:spPr bwMode="auto">
            <a:xfrm>
              <a:off x="3705" y="3541"/>
              <a:ext cx="139" cy="126"/>
            </a:xfrm>
            <a:custGeom>
              <a:avLst/>
              <a:gdLst>
                <a:gd name="T0" fmla="*/ 427 w 591"/>
                <a:gd name="T1" fmla="*/ 433 h 533"/>
                <a:gd name="T2" fmla="*/ 72 w 591"/>
                <a:gd name="T3" fmla="*/ 440 h 533"/>
                <a:gd name="T4" fmla="*/ 164 w 591"/>
                <a:gd name="T5" fmla="*/ 99 h 533"/>
                <a:gd name="T6" fmla="*/ 519 w 591"/>
                <a:gd name="T7" fmla="*/ 92 h 533"/>
                <a:gd name="T8" fmla="*/ 427 w 591"/>
                <a:gd name="T9" fmla="*/ 433 h 533"/>
              </a:gdLst>
              <a:ahLst/>
              <a:cxnLst>
                <a:cxn ang="0">
                  <a:pos x="T0" y="T1"/>
                </a:cxn>
                <a:cxn ang="0">
                  <a:pos x="T2" y="T3"/>
                </a:cxn>
                <a:cxn ang="0">
                  <a:pos x="T4" y="T5"/>
                </a:cxn>
                <a:cxn ang="0">
                  <a:pos x="T6" y="T7"/>
                </a:cxn>
                <a:cxn ang="0">
                  <a:pos x="T8" y="T9"/>
                </a:cxn>
              </a:cxnLst>
              <a:rect l="0" t="0" r="r" b="b"/>
              <a:pathLst>
                <a:path w="591" h="533">
                  <a:moveTo>
                    <a:pt x="427" y="433"/>
                  </a:moveTo>
                  <a:cubicBezTo>
                    <a:pt x="304" y="529"/>
                    <a:pt x="145" y="533"/>
                    <a:pt x="72" y="440"/>
                  </a:cubicBezTo>
                  <a:cubicBezTo>
                    <a:pt x="0" y="348"/>
                    <a:pt x="41" y="196"/>
                    <a:pt x="164" y="99"/>
                  </a:cubicBezTo>
                  <a:cubicBezTo>
                    <a:pt x="288" y="3"/>
                    <a:pt x="446" y="0"/>
                    <a:pt x="519" y="92"/>
                  </a:cubicBezTo>
                  <a:cubicBezTo>
                    <a:pt x="591" y="184"/>
                    <a:pt x="550" y="337"/>
                    <a:pt x="427" y="43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 name="Freeform 863"/>
            <p:cNvSpPr>
              <a:spLocks/>
            </p:cNvSpPr>
            <p:nvPr/>
          </p:nvSpPr>
          <p:spPr bwMode="auto">
            <a:xfrm>
              <a:off x="3590" y="3407"/>
              <a:ext cx="95" cy="105"/>
            </a:xfrm>
            <a:custGeom>
              <a:avLst/>
              <a:gdLst>
                <a:gd name="T0" fmla="*/ 336 w 401"/>
                <a:gd name="T1" fmla="*/ 395 h 445"/>
                <a:gd name="T2" fmla="*/ 84 w 401"/>
                <a:gd name="T3" fmla="*/ 314 h 445"/>
                <a:gd name="T4" fmla="*/ 65 w 401"/>
                <a:gd name="T5" fmla="*/ 50 h 445"/>
                <a:gd name="T6" fmla="*/ 318 w 401"/>
                <a:gd name="T7" fmla="*/ 131 h 445"/>
                <a:gd name="T8" fmla="*/ 336 w 401"/>
                <a:gd name="T9" fmla="*/ 395 h 445"/>
              </a:gdLst>
              <a:ahLst/>
              <a:cxnLst>
                <a:cxn ang="0">
                  <a:pos x="T0" y="T1"/>
                </a:cxn>
                <a:cxn ang="0">
                  <a:pos x="T2" y="T3"/>
                </a:cxn>
                <a:cxn ang="0">
                  <a:pos x="T4" y="T5"/>
                </a:cxn>
                <a:cxn ang="0">
                  <a:pos x="T6" y="T7"/>
                </a:cxn>
                <a:cxn ang="0">
                  <a:pos x="T8" y="T9"/>
                </a:cxn>
              </a:cxnLst>
              <a:rect l="0" t="0" r="r" b="b"/>
              <a:pathLst>
                <a:path w="401" h="445">
                  <a:moveTo>
                    <a:pt x="336" y="395"/>
                  </a:moveTo>
                  <a:cubicBezTo>
                    <a:pt x="272" y="445"/>
                    <a:pt x="158" y="409"/>
                    <a:pt x="84" y="314"/>
                  </a:cubicBezTo>
                  <a:cubicBezTo>
                    <a:pt x="9" y="219"/>
                    <a:pt x="0" y="101"/>
                    <a:pt x="65" y="50"/>
                  </a:cubicBezTo>
                  <a:cubicBezTo>
                    <a:pt x="130" y="0"/>
                    <a:pt x="243" y="36"/>
                    <a:pt x="318" y="131"/>
                  </a:cubicBezTo>
                  <a:cubicBezTo>
                    <a:pt x="393" y="226"/>
                    <a:pt x="401" y="344"/>
                    <a:pt x="336" y="39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5" name="Falling_Objects" descr="{&quot;Key&quot;:&quot;POWER_USER_SHAPE_ICON&quot;,&quot;Value&quot;:&quot;POWER_USER_SHAPE_ICON_STYLE_1&quot;}"/>
          <p:cNvGrpSpPr>
            <a:grpSpLocks noChangeAspect="1"/>
          </p:cNvGrpSpPr>
          <p:nvPr>
            <p:custDataLst>
              <p:tags r:id="rId6"/>
            </p:custDataLst>
          </p:nvPr>
        </p:nvGrpSpPr>
        <p:grpSpPr bwMode="auto">
          <a:xfrm>
            <a:off x="7168028" y="2672794"/>
            <a:ext cx="460126" cy="542925"/>
            <a:chOff x="48" y="13"/>
            <a:chExt cx="389" cy="459"/>
          </a:xfrm>
          <a:solidFill>
            <a:schemeClr val="lt1"/>
          </a:solidFill>
        </p:grpSpPr>
        <p:sp>
          <p:nvSpPr>
            <p:cNvPr id="116" name="Falling_Objects"/>
            <p:cNvSpPr>
              <a:spLocks noChangeArrowheads="1"/>
            </p:cNvSpPr>
            <p:nvPr>
              <p:custDataLst>
                <p:tags r:id="rId8"/>
              </p:custDataLst>
            </p:nvPr>
          </p:nvSpPr>
          <p:spPr bwMode="auto">
            <a:xfrm>
              <a:off x="95" y="233"/>
              <a:ext cx="75" cy="75"/>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 name="Falling_Objects"/>
            <p:cNvSpPr>
              <a:spLocks noChangeArrowheads="1"/>
            </p:cNvSpPr>
            <p:nvPr>
              <p:custDataLst>
                <p:tags r:id="rId9"/>
              </p:custDataLst>
            </p:nvPr>
          </p:nvSpPr>
          <p:spPr bwMode="auto">
            <a:xfrm>
              <a:off x="192" y="233"/>
              <a:ext cx="76" cy="75"/>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 name="Falling_Objects"/>
            <p:cNvSpPr>
              <a:spLocks noChangeArrowheads="1"/>
            </p:cNvSpPr>
            <p:nvPr>
              <p:custDataLst>
                <p:tags r:id="rId10"/>
              </p:custDataLst>
            </p:nvPr>
          </p:nvSpPr>
          <p:spPr bwMode="auto">
            <a:xfrm>
              <a:off x="95" y="95"/>
              <a:ext cx="75" cy="76"/>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 name="Falling_Objects"/>
            <p:cNvSpPr>
              <a:spLocks noChangeArrowheads="1"/>
            </p:cNvSpPr>
            <p:nvPr>
              <p:custDataLst>
                <p:tags r:id="rId11"/>
              </p:custDataLst>
            </p:nvPr>
          </p:nvSpPr>
          <p:spPr bwMode="auto">
            <a:xfrm>
              <a:off x="342" y="155"/>
              <a:ext cx="66" cy="67"/>
            </a:xfrm>
            <a:prstGeom prst="ellipse">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 name="Falling_Objects"/>
            <p:cNvSpPr>
              <a:spLocks/>
            </p:cNvSpPr>
            <p:nvPr>
              <p:custDataLst>
                <p:tags r:id="rId12"/>
              </p:custDataLst>
            </p:nvPr>
          </p:nvSpPr>
          <p:spPr bwMode="auto">
            <a:xfrm>
              <a:off x="315" y="231"/>
              <a:ext cx="122" cy="241"/>
            </a:xfrm>
            <a:custGeom>
              <a:avLst/>
              <a:gdLst>
                <a:gd name="T0" fmla="*/ 70 w 324"/>
                <a:gd name="T1" fmla="*/ 639 h 639"/>
                <a:gd name="T2" fmla="*/ 254 w 324"/>
                <a:gd name="T3" fmla="*/ 639 h 639"/>
                <a:gd name="T4" fmla="*/ 254 w 324"/>
                <a:gd name="T5" fmla="*/ 329 h 639"/>
                <a:gd name="T6" fmla="*/ 324 w 324"/>
                <a:gd name="T7" fmla="*/ 329 h 639"/>
                <a:gd name="T8" fmla="*/ 323 w 324"/>
                <a:gd name="T9" fmla="*/ 79 h 639"/>
                <a:gd name="T10" fmla="*/ 244 w 324"/>
                <a:gd name="T11" fmla="*/ 0 h 639"/>
                <a:gd name="T12" fmla="*/ 79 w 324"/>
                <a:gd name="T13" fmla="*/ 0 h 639"/>
                <a:gd name="T14" fmla="*/ 0 w 324"/>
                <a:gd name="T15" fmla="*/ 79 h 639"/>
                <a:gd name="T16" fmla="*/ 0 w 324"/>
                <a:gd name="T17" fmla="*/ 329 h 639"/>
                <a:gd name="T18" fmla="*/ 70 w 324"/>
                <a:gd name="T19" fmla="*/ 329 h 639"/>
                <a:gd name="T20" fmla="*/ 70 w 324"/>
                <a:gd name="T21" fmla="*/ 639 h 6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4" h="639">
                  <a:moveTo>
                    <a:pt x="70" y="639"/>
                  </a:moveTo>
                  <a:lnTo>
                    <a:pt x="254" y="639"/>
                  </a:lnTo>
                  <a:lnTo>
                    <a:pt x="254" y="329"/>
                  </a:lnTo>
                  <a:lnTo>
                    <a:pt x="324" y="329"/>
                  </a:lnTo>
                  <a:lnTo>
                    <a:pt x="323" y="79"/>
                  </a:lnTo>
                  <a:cubicBezTo>
                    <a:pt x="323" y="35"/>
                    <a:pt x="288" y="0"/>
                    <a:pt x="244" y="0"/>
                  </a:cubicBezTo>
                  <a:lnTo>
                    <a:pt x="79" y="0"/>
                  </a:lnTo>
                  <a:cubicBezTo>
                    <a:pt x="36" y="0"/>
                    <a:pt x="0" y="35"/>
                    <a:pt x="0" y="79"/>
                  </a:cubicBezTo>
                  <a:lnTo>
                    <a:pt x="0" y="329"/>
                  </a:lnTo>
                  <a:lnTo>
                    <a:pt x="70" y="329"/>
                  </a:lnTo>
                  <a:lnTo>
                    <a:pt x="70" y="6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 name="Falling_Objects"/>
            <p:cNvSpPr>
              <a:spLocks/>
            </p:cNvSpPr>
            <p:nvPr>
              <p:custDataLst>
                <p:tags r:id="rId13"/>
              </p:custDataLst>
            </p:nvPr>
          </p:nvSpPr>
          <p:spPr bwMode="auto">
            <a:xfrm>
              <a:off x="48" y="95"/>
              <a:ext cx="222" cy="377"/>
            </a:xfrm>
            <a:custGeom>
              <a:avLst/>
              <a:gdLst>
                <a:gd name="T0" fmla="*/ 74 w 590"/>
                <a:gd name="T1" fmla="*/ 608 h 1001"/>
                <a:gd name="T2" fmla="*/ 74 w 590"/>
                <a:gd name="T3" fmla="*/ 324 h 1001"/>
                <a:gd name="T4" fmla="*/ 585 w 590"/>
                <a:gd name="T5" fmla="*/ 324 h 1001"/>
                <a:gd name="T6" fmla="*/ 585 w 590"/>
                <a:gd name="T7" fmla="*/ 250 h 1001"/>
                <a:gd name="T8" fmla="*/ 74 w 590"/>
                <a:gd name="T9" fmla="*/ 250 h 1001"/>
                <a:gd name="T10" fmla="*/ 74 w 590"/>
                <a:gd name="T11" fmla="*/ 0 h 1001"/>
                <a:gd name="T12" fmla="*/ 0 w 590"/>
                <a:gd name="T13" fmla="*/ 0 h 1001"/>
                <a:gd name="T14" fmla="*/ 0 w 590"/>
                <a:gd name="T15" fmla="*/ 1001 h 1001"/>
                <a:gd name="T16" fmla="*/ 74 w 590"/>
                <a:gd name="T17" fmla="*/ 1001 h 1001"/>
                <a:gd name="T18" fmla="*/ 74 w 590"/>
                <a:gd name="T19" fmla="*/ 683 h 1001"/>
                <a:gd name="T20" fmla="*/ 516 w 590"/>
                <a:gd name="T21" fmla="*/ 683 h 1001"/>
                <a:gd name="T22" fmla="*/ 516 w 590"/>
                <a:gd name="T23" fmla="*/ 1001 h 1001"/>
                <a:gd name="T24" fmla="*/ 590 w 590"/>
                <a:gd name="T25" fmla="*/ 1001 h 1001"/>
                <a:gd name="T26" fmla="*/ 590 w 590"/>
                <a:gd name="T27" fmla="*/ 608 h 1001"/>
                <a:gd name="T28" fmla="*/ 74 w 590"/>
                <a:gd name="T29" fmla="*/ 608 h 10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90" h="1001">
                  <a:moveTo>
                    <a:pt x="74" y="608"/>
                  </a:moveTo>
                  <a:lnTo>
                    <a:pt x="74" y="324"/>
                  </a:lnTo>
                  <a:lnTo>
                    <a:pt x="585" y="324"/>
                  </a:lnTo>
                  <a:lnTo>
                    <a:pt x="585" y="250"/>
                  </a:lnTo>
                  <a:lnTo>
                    <a:pt x="74" y="250"/>
                  </a:lnTo>
                  <a:lnTo>
                    <a:pt x="74" y="0"/>
                  </a:lnTo>
                  <a:lnTo>
                    <a:pt x="0" y="0"/>
                  </a:lnTo>
                  <a:lnTo>
                    <a:pt x="0" y="1001"/>
                  </a:lnTo>
                  <a:lnTo>
                    <a:pt x="74" y="1001"/>
                  </a:lnTo>
                  <a:lnTo>
                    <a:pt x="74" y="683"/>
                  </a:lnTo>
                  <a:lnTo>
                    <a:pt x="516" y="683"/>
                  </a:lnTo>
                  <a:lnTo>
                    <a:pt x="516" y="1001"/>
                  </a:lnTo>
                  <a:lnTo>
                    <a:pt x="590" y="1001"/>
                  </a:lnTo>
                  <a:lnTo>
                    <a:pt x="590" y="608"/>
                  </a:lnTo>
                  <a:lnTo>
                    <a:pt x="74" y="608"/>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 name="Falling_Objects"/>
            <p:cNvSpPr>
              <a:spLocks/>
            </p:cNvSpPr>
            <p:nvPr>
              <p:custDataLst>
                <p:tags r:id="rId14"/>
              </p:custDataLst>
            </p:nvPr>
          </p:nvSpPr>
          <p:spPr bwMode="auto">
            <a:xfrm>
              <a:off x="220" y="87"/>
              <a:ext cx="92" cy="92"/>
            </a:xfrm>
            <a:custGeom>
              <a:avLst/>
              <a:gdLst>
                <a:gd name="T0" fmla="*/ 51 w 245"/>
                <a:gd name="T1" fmla="*/ 0 h 245"/>
                <a:gd name="T2" fmla="*/ 245 w 245"/>
                <a:gd name="T3" fmla="*/ 51 h 245"/>
                <a:gd name="T4" fmla="*/ 194 w 245"/>
                <a:gd name="T5" fmla="*/ 245 h 245"/>
                <a:gd name="T6" fmla="*/ 0 w 245"/>
                <a:gd name="T7" fmla="*/ 194 h 245"/>
                <a:gd name="T8" fmla="*/ 51 w 245"/>
                <a:gd name="T9" fmla="*/ 0 h 245"/>
              </a:gdLst>
              <a:ahLst/>
              <a:cxnLst>
                <a:cxn ang="0">
                  <a:pos x="T0" y="T1"/>
                </a:cxn>
                <a:cxn ang="0">
                  <a:pos x="T2" y="T3"/>
                </a:cxn>
                <a:cxn ang="0">
                  <a:pos x="T4" y="T5"/>
                </a:cxn>
                <a:cxn ang="0">
                  <a:pos x="T6" y="T7"/>
                </a:cxn>
                <a:cxn ang="0">
                  <a:pos x="T8" y="T9"/>
                </a:cxn>
              </a:cxnLst>
              <a:rect l="0" t="0" r="r" b="b"/>
              <a:pathLst>
                <a:path w="245" h="245">
                  <a:moveTo>
                    <a:pt x="51" y="0"/>
                  </a:moveTo>
                  <a:lnTo>
                    <a:pt x="245" y="51"/>
                  </a:lnTo>
                  <a:lnTo>
                    <a:pt x="194" y="245"/>
                  </a:lnTo>
                  <a:lnTo>
                    <a:pt x="0" y="194"/>
                  </a:lnTo>
                  <a:lnTo>
                    <a:pt x="5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 name="Falling_Objects"/>
            <p:cNvSpPr>
              <a:spLocks/>
            </p:cNvSpPr>
            <p:nvPr>
              <p:custDataLst>
                <p:tags r:id="rId15"/>
              </p:custDataLst>
            </p:nvPr>
          </p:nvSpPr>
          <p:spPr bwMode="auto">
            <a:xfrm>
              <a:off x="171" y="55"/>
              <a:ext cx="42" cy="39"/>
            </a:xfrm>
            <a:custGeom>
              <a:avLst/>
              <a:gdLst>
                <a:gd name="T0" fmla="*/ 92 w 113"/>
                <a:gd name="T1" fmla="*/ 103 h 103"/>
                <a:gd name="T2" fmla="*/ 0 w 113"/>
                <a:gd name="T3" fmla="*/ 27 h 103"/>
                <a:gd name="T4" fmla="*/ 22 w 113"/>
                <a:gd name="T5" fmla="*/ 0 h 103"/>
                <a:gd name="T6" fmla="*/ 113 w 113"/>
                <a:gd name="T7" fmla="*/ 76 h 103"/>
                <a:gd name="T8" fmla="*/ 92 w 113"/>
                <a:gd name="T9" fmla="*/ 103 h 103"/>
              </a:gdLst>
              <a:ahLst/>
              <a:cxnLst>
                <a:cxn ang="0">
                  <a:pos x="T0" y="T1"/>
                </a:cxn>
                <a:cxn ang="0">
                  <a:pos x="T2" y="T3"/>
                </a:cxn>
                <a:cxn ang="0">
                  <a:pos x="T4" y="T5"/>
                </a:cxn>
                <a:cxn ang="0">
                  <a:pos x="T6" y="T7"/>
                </a:cxn>
                <a:cxn ang="0">
                  <a:pos x="T8" y="T9"/>
                </a:cxn>
              </a:cxnLst>
              <a:rect l="0" t="0" r="r" b="b"/>
              <a:pathLst>
                <a:path w="113" h="103">
                  <a:moveTo>
                    <a:pt x="92" y="103"/>
                  </a:moveTo>
                  <a:lnTo>
                    <a:pt x="0" y="27"/>
                  </a:lnTo>
                  <a:lnTo>
                    <a:pt x="22" y="0"/>
                  </a:lnTo>
                  <a:lnTo>
                    <a:pt x="113" y="76"/>
                  </a:lnTo>
                  <a:lnTo>
                    <a:pt x="92" y="10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 name="Falling_Objects"/>
            <p:cNvSpPr>
              <a:spLocks/>
            </p:cNvSpPr>
            <p:nvPr>
              <p:custDataLst>
                <p:tags r:id="rId16"/>
              </p:custDataLst>
            </p:nvPr>
          </p:nvSpPr>
          <p:spPr bwMode="auto">
            <a:xfrm>
              <a:off x="207" y="13"/>
              <a:ext cx="28" cy="49"/>
            </a:xfrm>
            <a:custGeom>
              <a:avLst/>
              <a:gdLst>
                <a:gd name="T0" fmla="*/ 44 w 76"/>
                <a:gd name="T1" fmla="*/ 130 h 130"/>
                <a:gd name="T2" fmla="*/ 0 w 76"/>
                <a:gd name="T3" fmla="*/ 12 h 130"/>
                <a:gd name="T4" fmla="*/ 32 w 76"/>
                <a:gd name="T5" fmla="*/ 0 h 130"/>
                <a:gd name="T6" fmla="*/ 76 w 76"/>
                <a:gd name="T7" fmla="*/ 118 h 130"/>
                <a:gd name="T8" fmla="*/ 44 w 76"/>
                <a:gd name="T9" fmla="*/ 130 h 130"/>
              </a:gdLst>
              <a:ahLst/>
              <a:cxnLst>
                <a:cxn ang="0">
                  <a:pos x="T0" y="T1"/>
                </a:cxn>
                <a:cxn ang="0">
                  <a:pos x="T2" y="T3"/>
                </a:cxn>
                <a:cxn ang="0">
                  <a:pos x="T4" y="T5"/>
                </a:cxn>
                <a:cxn ang="0">
                  <a:pos x="T6" y="T7"/>
                </a:cxn>
                <a:cxn ang="0">
                  <a:pos x="T8" y="T9"/>
                </a:cxn>
              </a:cxnLst>
              <a:rect l="0" t="0" r="r" b="b"/>
              <a:pathLst>
                <a:path w="76" h="130">
                  <a:moveTo>
                    <a:pt x="44" y="130"/>
                  </a:moveTo>
                  <a:lnTo>
                    <a:pt x="0" y="12"/>
                  </a:lnTo>
                  <a:lnTo>
                    <a:pt x="32" y="0"/>
                  </a:lnTo>
                  <a:lnTo>
                    <a:pt x="76" y="118"/>
                  </a:lnTo>
                  <a:lnTo>
                    <a:pt x="44" y="13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 name="Falling_Objects"/>
            <p:cNvSpPr>
              <a:spLocks/>
            </p:cNvSpPr>
            <p:nvPr>
              <p:custDataLst>
                <p:tags r:id="rId17"/>
              </p:custDataLst>
            </p:nvPr>
          </p:nvSpPr>
          <p:spPr bwMode="auto">
            <a:xfrm>
              <a:off x="254" y="20"/>
              <a:ext cx="23" cy="38"/>
            </a:xfrm>
            <a:custGeom>
              <a:avLst/>
              <a:gdLst>
                <a:gd name="T0" fmla="*/ 33 w 59"/>
                <a:gd name="T1" fmla="*/ 102 h 102"/>
                <a:gd name="T2" fmla="*/ 0 w 59"/>
                <a:gd name="T3" fmla="*/ 93 h 102"/>
                <a:gd name="T4" fmla="*/ 26 w 59"/>
                <a:gd name="T5" fmla="*/ 0 h 102"/>
                <a:gd name="T6" fmla="*/ 59 w 59"/>
                <a:gd name="T7" fmla="*/ 10 h 102"/>
                <a:gd name="T8" fmla="*/ 33 w 59"/>
                <a:gd name="T9" fmla="*/ 102 h 102"/>
              </a:gdLst>
              <a:ahLst/>
              <a:cxnLst>
                <a:cxn ang="0">
                  <a:pos x="T0" y="T1"/>
                </a:cxn>
                <a:cxn ang="0">
                  <a:pos x="T2" y="T3"/>
                </a:cxn>
                <a:cxn ang="0">
                  <a:pos x="T4" y="T5"/>
                </a:cxn>
                <a:cxn ang="0">
                  <a:pos x="T6" y="T7"/>
                </a:cxn>
                <a:cxn ang="0">
                  <a:pos x="T8" y="T9"/>
                </a:cxn>
              </a:cxnLst>
              <a:rect l="0" t="0" r="r" b="b"/>
              <a:pathLst>
                <a:path w="59" h="102">
                  <a:moveTo>
                    <a:pt x="33" y="102"/>
                  </a:moveTo>
                  <a:lnTo>
                    <a:pt x="0" y="93"/>
                  </a:lnTo>
                  <a:lnTo>
                    <a:pt x="26" y="0"/>
                  </a:lnTo>
                  <a:lnTo>
                    <a:pt x="59" y="10"/>
                  </a:lnTo>
                  <a:lnTo>
                    <a:pt x="33" y="10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6" name="Recycle3" descr="{&quot;Key&quot;:&quot;POWER_USER_SHAPE_ICON&quot;,&quot;Value&quot;:&quot;POWER_USER_SHAPE_ICON_STYLE_1&quot;}"/>
          <p:cNvSpPr>
            <a:spLocks noChangeAspect="1" noEditPoints="1"/>
          </p:cNvSpPr>
          <p:nvPr>
            <p:custDataLst>
              <p:tags r:id="rId7"/>
            </p:custDataLst>
          </p:nvPr>
        </p:nvSpPr>
        <p:spPr bwMode="auto">
          <a:xfrm>
            <a:off x="4597751" y="4068198"/>
            <a:ext cx="569045" cy="542925"/>
          </a:xfrm>
          <a:custGeom>
            <a:avLst/>
            <a:gdLst>
              <a:gd name="T0" fmla="*/ 19 w 168"/>
              <a:gd name="T1" fmla="*/ 99 h 160"/>
              <a:gd name="T2" fmla="*/ 20 w 168"/>
              <a:gd name="T3" fmla="*/ 129 h 160"/>
              <a:gd name="T4" fmla="*/ 35 w 168"/>
              <a:gd name="T5" fmla="*/ 135 h 160"/>
              <a:gd name="T6" fmla="*/ 34 w 168"/>
              <a:gd name="T7" fmla="*/ 141 h 160"/>
              <a:gd name="T8" fmla="*/ 2 w 168"/>
              <a:gd name="T9" fmla="*/ 121 h 160"/>
              <a:gd name="T10" fmla="*/ 8 w 168"/>
              <a:gd name="T11" fmla="*/ 92 h 160"/>
              <a:gd name="T12" fmla="*/ 17 w 168"/>
              <a:gd name="T13" fmla="*/ 76 h 160"/>
              <a:gd name="T14" fmla="*/ 1 w 168"/>
              <a:gd name="T15" fmla="*/ 67 h 160"/>
              <a:gd name="T16" fmla="*/ 44 w 168"/>
              <a:gd name="T17" fmla="*/ 41 h 160"/>
              <a:gd name="T18" fmla="*/ 44 w 168"/>
              <a:gd name="T19" fmla="*/ 91 h 160"/>
              <a:gd name="T20" fmla="*/ 28 w 168"/>
              <a:gd name="T21" fmla="*/ 82 h 160"/>
              <a:gd name="T22" fmla="*/ 19 w 168"/>
              <a:gd name="T23" fmla="*/ 99 h 160"/>
              <a:gd name="T24" fmla="*/ 72 w 168"/>
              <a:gd name="T25" fmla="*/ 16 h 160"/>
              <a:gd name="T26" fmla="*/ 99 w 168"/>
              <a:gd name="T27" fmla="*/ 29 h 160"/>
              <a:gd name="T28" fmla="*/ 109 w 168"/>
              <a:gd name="T29" fmla="*/ 45 h 160"/>
              <a:gd name="T30" fmla="*/ 93 w 168"/>
              <a:gd name="T31" fmla="*/ 55 h 160"/>
              <a:gd name="T32" fmla="*/ 138 w 168"/>
              <a:gd name="T33" fmla="*/ 78 h 160"/>
              <a:gd name="T34" fmla="*/ 136 w 168"/>
              <a:gd name="T35" fmla="*/ 28 h 160"/>
              <a:gd name="T36" fmla="*/ 120 w 168"/>
              <a:gd name="T37" fmla="*/ 38 h 160"/>
              <a:gd name="T38" fmla="*/ 110 w 168"/>
              <a:gd name="T39" fmla="*/ 23 h 160"/>
              <a:gd name="T40" fmla="*/ 87 w 168"/>
              <a:gd name="T41" fmla="*/ 4 h 160"/>
              <a:gd name="T42" fmla="*/ 54 w 168"/>
              <a:gd name="T43" fmla="*/ 24 h 160"/>
              <a:gd name="T44" fmla="*/ 60 w 168"/>
              <a:gd name="T45" fmla="*/ 26 h 160"/>
              <a:gd name="T46" fmla="*/ 72 w 168"/>
              <a:gd name="T47" fmla="*/ 16 h 160"/>
              <a:gd name="T48" fmla="*/ 154 w 168"/>
              <a:gd name="T49" fmla="*/ 94 h 160"/>
              <a:gd name="T50" fmla="*/ 149 w 168"/>
              <a:gd name="T51" fmla="*/ 97 h 160"/>
              <a:gd name="T52" fmla="*/ 151 w 168"/>
              <a:gd name="T53" fmla="*/ 112 h 160"/>
              <a:gd name="T54" fmla="*/ 126 w 168"/>
              <a:gd name="T55" fmla="*/ 129 h 160"/>
              <a:gd name="T56" fmla="*/ 107 w 168"/>
              <a:gd name="T57" fmla="*/ 129 h 160"/>
              <a:gd name="T58" fmla="*/ 107 w 168"/>
              <a:gd name="T59" fmla="*/ 110 h 160"/>
              <a:gd name="T60" fmla="*/ 63 w 168"/>
              <a:gd name="T61" fmla="*/ 135 h 160"/>
              <a:gd name="T62" fmla="*/ 107 w 168"/>
              <a:gd name="T63" fmla="*/ 160 h 160"/>
              <a:gd name="T64" fmla="*/ 107 w 168"/>
              <a:gd name="T65" fmla="*/ 141 h 160"/>
              <a:gd name="T66" fmla="*/ 126 w 168"/>
              <a:gd name="T67" fmla="*/ 141 h 160"/>
              <a:gd name="T68" fmla="*/ 153 w 168"/>
              <a:gd name="T69" fmla="*/ 132 h 160"/>
              <a:gd name="T70" fmla="*/ 154 w 168"/>
              <a:gd name="T71" fmla="*/ 94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8" h="160">
                <a:moveTo>
                  <a:pt x="19" y="99"/>
                </a:moveTo>
                <a:cubicBezTo>
                  <a:pt x="14" y="106"/>
                  <a:pt x="7" y="120"/>
                  <a:pt x="20" y="129"/>
                </a:cubicBezTo>
                <a:cubicBezTo>
                  <a:pt x="25" y="132"/>
                  <a:pt x="30" y="134"/>
                  <a:pt x="35" y="135"/>
                </a:cubicBezTo>
                <a:cubicBezTo>
                  <a:pt x="38" y="135"/>
                  <a:pt x="39" y="141"/>
                  <a:pt x="34" y="141"/>
                </a:cubicBezTo>
                <a:cubicBezTo>
                  <a:pt x="29" y="141"/>
                  <a:pt x="6" y="139"/>
                  <a:pt x="2" y="121"/>
                </a:cubicBezTo>
                <a:cubicBezTo>
                  <a:pt x="0" y="111"/>
                  <a:pt x="2" y="102"/>
                  <a:pt x="8" y="92"/>
                </a:cubicBezTo>
                <a:lnTo>
                  <a:pt x="17" y="76"/>
                </a:lnTo>
                <a:lnTo>
                  <a:pt x="1" y="67"/>
                </a:lnTo>
                <a:lnTo>
                  <a:pt x="44" y="41"/>
                </a:lnTo>
                <a:lnTo>
                  <a:pt x="44" y="91"/>
                </a:lnTo>
                <a:lnTo>
                  <a:pt x="28" y="82"/>
                </a:lnTo>
                <a:lnTo>
                  <a:pt x="19" y="99"/>
                </a:lnTo>
                <a:close/>
                <a:moveTo>
                  <a:pt x="72" y="16"/>
                </a:moveTo>
                <a:cubicBezTo>
                  <a:pt x="86" y="9"/>
                  <a:pt x="95" y="22"/>
                  <a:pt x="99" y="29"/>
                </a:cubicBezTo>
                <a:lnTo>
                  <a:pt x="109" y="45"/>
                </a:lnTo>
                <a:lnTo>
                  <a:pt x="93" y="55"/>
                </a:lnTo>
                <a:lnTo>
                  <a:pt x="138" y="78"/>
                </a:lnTo>
                <a:lnTo>
                  <a:pt x="136" y="28"/>
                </a:lnTo>
                <a:lnTo>
                  <a:pt x="120" y="38"/>
                </a:lnTo>
                <a:lnTo>
                  <a:pt x="110" y="23"/>
                </a:lnTo>
                <a:cubicBezTo>
                  <a:pt x="104" y="14"/>
                  <a:pt x="99" y="7"/>
                  <a:pt x="87" y="4"/>
                </a:cubicBezTo>
                <a:cubicBezTo>
                  <a:pt x="67" y="0"/>
                  <a:pt x="54" y="24"/>
                  <a:pt x="54" y="24"/>
                </a:cubicBezTo>
                <a:cubicBezTo>
                  <a:pt x="52" y="27"/>
                  <a:pt x="57" y="30"/>
                  <a:pt x="60" y="26"/>
                </a:cubicBezTo>
                <a:cubicBezTo>
                  <a:pt x="63" y="22"/>
                  <a:pt x="67" y="19"/>
                  <a:pt x="72" y="16"/>
                </a:cubicBezTo>
                <a:close/>
                <a:moveTo>
                  <a:pt x="154" y="94"/>
                </a:moveTo>
                <a:cubicBezTo>
                  <a:pt x="153" y="91"/>
                  <a:pt x="147" y="92"/>
                  <a:pt x="149" y="97"/>
                </a:cubicBezTo>
                <a:cubicBezTo>
                  <a:pt x="151" y="102"/>
                  <a:pt x="151" y="107"/>
                  <a:pt x="151" y="112"/>
                </a:cubicBezTo>
                <a:cubicBezTo>
                  <a:pt x="150" y="129"/>
                  <a:pt x="134" y="129"/>
                  <a:pt x="126" y="129"/>
                </a:cubicBezTo>
                <a:lnTo>
                  <a:pt x="107" y="129"/>
                </a:lnTo>
                <a:lnTo>
                  <a:pt x="107" y="110"/>
                </a:lnTo>
                <a:lnTo>
                  <a:pt x="63" y="135"/>
                </a:lnTo>
                <a:lnTo>
                  <a:pt x="107" y="160"/>
                </a:lnTo>
                <a:lnTo>
                  <a:pt x="107" y="141"/>
                </a:lnTo>
                <a:lnTo>
                  <a:pt x="126" y="141"/>
                </a:lnTo>
                <a:cubicBezTo>
                  <a:pt x="137" y="141"/>
                  <a:pt x="145" y="139"/>
                  <a:pt x="153" y="132"/>
                </a:cubicBezTo>
                <a:cubicBezTo>
                  <a:pt x="168" y="119"/>
                  <a:pt x="154" y="94"/>
                  <a:pt x="154" y="94"/>
                </a:cubicBezTo>
                <a:close/>
              </a:path>
            </a:pathLst>
          </a:custGeom>
          <a:solidFill>
            <a:schemeClr val="lt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Title 3">
            <a:extLst>
              <a:ext uri="{FF2B5EF4-FFF2-40B4-BE49-F238E27FC236}">
                <a16:creationId xmlns:a16="http://schemas.microsoft.com/office/drawing/2014/main" id="{5727291F-6E17-0F4F-1136-1C83A231CA3D}"/>
              </a:ext>
            </a:extLst>
          </p:cNvPr>
          <p:cNvSpPr txBox="1">
            <a:spLocks/>
          </p:cNvSpPr>
          <p:nvPr/>
        </p:nvSpPr>
        <p:spPr>
          <a:xfrm>
            <a:off x="184150" y="284162"/>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r>
              <a:rPr lang="en-US" sz="2800" cap="none">
                <a:solidFill>
                  <a:schemeClr val="tx1"/>
                </a:solidFill>
              </a:rPr>
              <a:t>Tracking Sprint Progress</a:t>
            </a:r>
          </a:p>
        </p:txBody>
      </p:sp>
      <p:sp>
        <p:nvSpPr>
          <p:cNvPr id="58" name="TextBox 57">
            <a:extLst>
              <a:ext uri="{FF2B5EF4-FFF2-40B4-BE49-F238E27FC236}">
                <a16:creationId xmlns:a16="http://schemas.microsoft.com/office/drawing/2014/main" id="{AF38A80F-DAC0-FE8E-BE95-6D9BBBE6ADB2}"/>
              </a:ext>
            </a:extLst>
          </p:cNvPr>
          <p:cNvSpPr txBox="1"/>
          <p:nvPr/>
        </p:nvSpPr>
        <p:spPr>
          <a:xfrm>
            <a:off x="413843" y="5486929"/>
            <a:ext cx="11364309" cy="461665"/>
          </a:xfrm>
          <a:prstGeom prst="rect">
            <a:avLst/>
          </a:prstGeom>
          <a:solidFill>
            <a:srgbClr val="D763C6"/>
          </a:solidFill>
          <a:ln>
            <a:no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200" b="0" i="0" u="none" strike="noStrike" kern="0" cap="none" spc="0" normalizeH="0" baseline="0" noProof="0">
                <a:ln>
                  <a:noFill/>
                </a:ln>
                <a:solidFill>
                  <a:schemeClr val="bg1"/>
                </a:solidFill>
                <a:effectLst/>
                <a:uLnTx/>
                <a:uFillTx/>
                <a:cs typeface="Calibri" panose="020F0502020204030204" pitchFamily="34" charset="0"/>
              </a:rPr>
              <a:t>Each Sprint will have a daily reporting through JIRA dashboards to track velocity numbers by story or story points and other test metrics as applicable. </a:t>
            </a:r>
          </a:p>
          <a:p>
            <a:pPr marL="0" marR="0" lvl="0" indent="0" defTabSz="914400" eaLnBrk="1" fontAlgn="auto" latinLnBrk="0" hangingPunct="1">
              <a:lnSpc>
                <a:spcPct val="100000"/>
              </a:lnSpc>
              <a:spcBef>
                <a:spcPts val="0"/>
              </a:spcBef>
              <a:spcAft>
                <a:spcPts val="0"/>
              </a:spcAft>
              <a:buClrTx/>
              <a:buSzTx/>
              <a:buFontTx/>
              <a:buNone/>
              <a:tabLst/>
              <a:defRPr/>
            </a:pPr>
            <a:r>
              <a:rPr kumimoji="0" lang="en-IN" sz="1200" b="0" i="0" u="none" strike="noStrike" kern="0" cap="none" spc="0" normalizeH="0" baseline="0" noProof="0">
                <a:ln>
                  <a:noFill/>
                </a:ln>
                <a:solidFill>
                  <a:schemeClr val="bg1"/>
                </a:solidFill>
                <a:effectLst/>
                <a:uLnTx/>
                <a:uFillTx/>
                <a:cs typeface="Calibri" panose="020F0502020204030204" pitchFamily="34" charset="0"/>
              </a:rPr>
              <a:t>The dashboard designs will be agreed between the Workstream Leads and  Programme Governance teams. </a:t>
            </a:r>
          </a:p>
        </p:txBody>
      </p:sp>
    </p:spTree>
    <p:extLst>
      <p:ext uri="{BB962C8B-B14F-4D97-AF65-F5344CB8AC3E}">
        <p14:creationId xmlns:p14="http://schemas.microsoft.com/office/powerpoint/2010/main" val="25846853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63D18CE-9F18-5E9F-EB01-9C74D070D915}"/>
              </a:ext>
            </a:extLst>
          </p:cNvPr>
          <p:cNvSpPr/>
          <p:nvPr/>
        </p:nvSpPr>
        <p:spPr>
          <a:xfrm>
            <a:off x="631464" y="2708088"/>
            <a:ext cx="2740558" cy="2614837"/>
          </a:xfrm>
          <a:prstGeom prst="rect">
            <a:avLst/>
          </a:prstGeom>
          <a:noFill/>
          <a:ln>
            <a:solidFill>
              <a:schemeClr val="tx1">
                <a:lumMod val="40000"/>
                <a:lumOff val="60000"/>
              </a:schemeClr>
            </a:solidFill>
            <a:prstDash val="dash"/>
          </a:ln>
        </p:spPr>
        <p:style>
          <a:lnRef idx="1">
            <a:schemeClr val="accent1"/>
          </a:lnRef>
          <a:fillRef idx="0">
            <a:schemeClr val="accen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3D4045"/>
              </a:solidFill>
              <a:effectLst/>
              <a:uLnTx/>
              <a:uFillTx/>
              <a:latin typeface="Trebuchet MS" panose="020B0603020202020204"/>
              <a:ea typeface="+mn-ea"/>
              <a:cs typeface="+mn-cs"/>
            </a:endParaRPr>
          </a:p>
        </p:txBody>
      </p:sp>
      <p:sp>
        <p:nvSpPr>
          <p:cNvPr id="4" name="Title 38">
            <a:extLst>
              <a:ext uri="{FF2B5EF4-FFF2-40B4-BE49-F238E27FC236}">
                <a16:creationId xmlns:a16="http://schemas.microsoft.com/office/drawing/2014/main" id="{A72AB8A9-FDD7-0AF0-D95B-276629D32266}"/>
              </a:ext>
            </a:extLst>
          </p:cNvPr>
          <p:cNvSpPr txBox="1">
            <a:spLocks/>
          </p:cNvSpPr>
          <p:nvPr/>
        </p:nvSpPr>
        <p:spPr>
          <a:xfrm>
            <a:off x="3371494" y="2262019"/>
            <a:ext cx="5399282" cy="3703124"/>
          </a:xfrm>
          <a:prstGeom prst="rect">
            <a:avLst/>
          </a:prstGeom>
          <a:solidFill>
            <a:schemeClr val="bg1">
              <a:lumMod val="95000"/>
            </a:schemeClr>
          </a:solidFill>
          <a:ln>
            <a:solidFill>
              <a:schemeClr val="accent4">
                <a:lumMod val="60000"/>
                <a:lumOff val="40000"/>
              </a:schemeClr>
            </a:solidFill>
          </a:ln>
        </p:spPr>
        <p:txBody>
          <a:bodyPr anchor="t"/>
          <a:lstStyle>
            <a:lvl1pPr algn="ctr" defTabSz="914400" rtl="0" eaLnBrk="1" latinLnBrk="0" hangingPunct="1">
              <a:lnSpc>
                <a:spcPct val="100000"/>
              </a:lnSpc>
              <a:spcBef>
                <a:spcPct val="0"/>
              </a:spcBef>
              <a:buNone/>
              <a:defRPr sz="4400" kern="1200" spc="300">
                <a:solidFill>
                  <a:schemeClr val="bg1"/>
                </a:solidFill>
                <a:latin typeface="Trebuchet MS" panose="020B0703020202090204" pitchFamily="34"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200" b="1" i="0" u="none" strike="noStrike" kern="1200" cap="small" spc="300" normalizeH="0" baseline="0" noProof="0">
              <a:ln>
                <a:noFill/>
              </a:ln>
              <a:solidFill>
                <a:srgbClr val="DF1F27"/>
              </a:solidFill>
              <a:effectLst/>
              <a:uLnTx/>
              <a:uFillTx/>
              <a:latin typeface="Trebuchet MS" panose="020B0703020202090204" pitchFamily="34" charset="0"/>
              <a:ea typeface="+mj-ea"/>
              <a:cs typeface="+mj-cs"/>
            </a:endParaRPr>
          </a:p>
        </p:txBody>
      </p:sp>
      <p:sp>
        <p:nvSpPr>
          <p:cNvPr id="5" name="Rectangle 4">
            <a:extLst>
              <a:ext uri="{FF2B5EF4-FFF2-40B4-BE49-F238E27FC236}">
                <a16:creationId xmlns:a16="http://schemas.microsoft.com/office/drawing/2014/main" id="{C80C75B9-BC7A-06C8-5463-D878698E1FEE}"/>
              </a:ext>
            </a:extLst>
          </p:cNvPr>
          <p:cNvSpPr/>
          <p:nvPr/>
        </p:nvSpPr>
        <p:spPr>
          <a:xfrm>
            <a:off x="3508213" y="6005664"/>
            <a:ext cx="5175574" cy="2616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Pct val="100000"/>
              <a:buFontTx/>
              <a:buNone/>
              <a:tabLst/>
              <a:defRPr/>
            </a:pPr>
            <a:r>
              <a:rPr kumimoji="0" lang="en-US" sz="1100" b="0" i="1" u="none" strike="noStrike" kern="1200" cap="none" spc="0" normalizeH="0" baseline="0" noProof="0">
                <a:ln>
                  <a:noFill/>
                </a:ln>
                <a:solidFill>
                  <a:srgbClr val="DF1F27"/>
                </a:solidFill>
                <a:effectLst/>
                <a:uLnTx/>
                <a:uFillTx/>
                <a:latin typeface="Trebuchet MS"/>
                <a:ea typeface="+mn-ea"/>
                <a:cs typeface="Arial" pitchFamily="34" charset="0"/>
              </a:rPr>
              <a:t>Teams are measured by outcome-specific KPIs</a:t>
            </a:r>
          </a:p>
        </p:txBody>
      </p:sp>
      <p:grpSp>
        <p:nvGrpSpPr>
          <p:cNvPr id="6" name="Group 5">
            <a:extLst>
              <a:ext uri="{FF2B5EF4-FFF2-40B4-BE49-F238E27FC236}">
                <a16:creationId xmlns:a16="http://schemas.microsoft.com/office/drawing/2014/main" id="{FCECC8D4-35B4-6820-997C-88D37856C2FF}"/>
              </a:ext>
            </a:extLst>
          </p:cNvPr>
          <p:cNvGrpSpPr/>
          <p:nvPr/>
        </p:nvGrpSpPr>
        <p:grpSpPr>
          <a:xfrm>
            <a:off x="5147483" y="2346320"/>
            <a:ext cx="1598660" cy="962202"/>
            <a:chOff x="4196794" y="2624945"/>
            <a:chExt cx="1598660" cy="962202"/>
          </a:xfrm>
        </p:grpSpPr>
        <p:sp>
          <p:nvSpPr>
            <p:cNvPr id="7" name="Rectangle 6">
              <a:extLst>
                <a:ext uri="{FF2B5EF4-FFF2-40B4-BE49-F238E27FC236}">
                  <a16:creationId xmlns:a16="http://schemas.microsoft.com/office/drawing/2014/main" id="{6917DEC1-C53C-B096-2D18-7C766ED15DE0}"/>
                </a:ext>
              </a:extLst>
            </p:cNvPr>
            <p:cNvSpPr/>
            <p:nvPr/>
          </p:nvSpPr>
          <p:spPr>
            <a:xfrm>
              <a:off x="4196794" y="2624945"/>
              <a:ext cx="923652"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Trebuchet MS" panose="020B0703020202090204" pitchFamily="34" charset="0"/>
                  <a:ea typeface="+mn-ea"/>
                  <a:cs typeface="+mn-cs"/>
                </a:rPr>
                <a:t>Product Owner</a:t>
              </a:r>
            </a:p>
          </p:txBody>
        </p:sp>
        <p:pic>
          <p:nvPicPr>
            <p:cNvPr id="8" name="Graphic 7" descr="Female Profile with solid fill">
              <a:extLst>
                <a:ext uri="{FF2B5EF4-FFF2-40B4-BE49-F238E27FC236}">
                  <a16:creationId xmlns:a16="http://schemas.microsoft.com/office/drawing/2014/main" id="{07245633-B332-F43F-12A3-43DBDEEEF14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88877" y="2656530"/>
              <a:ext cx="506991" cy="506991"/>
            </a:xfrm>
            <a:prstGeom prst="rect">
              <a:avLst/>
            </a:prstGeom>
          </p:spPr>
        </p:pic>
        <p:sp>
          <p:nvSpPr>
            <p:cNvPr id="9" name="Rectangle 8">
              <a:extLst>
                <a:ext uri="{FF2B5EF4-FFF2-40B4-BE49-F238E27FC236}">
                  <a16:creationId xmlns:a16="http://schemas.microsoft.com/office/drawing/2014/main" id="{5C315BE7-8ADC-F62F-2E76-4564E117C33B}"/>
                </a:ext>
              </a:extLst>
            </p:cNvPr>
            <p:cNvSpPr/>
            <p:nvPr/>
          </p:nvSpPr>
          <p:spPr>
            <a:xfrm>
              <a:off x="4223117" y="3079316"/>
              <a:ext cx="1572337" cy="507831"/>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effectLst/>
                  <a:uLnTx/>
                  <a:uFillTx/>
                  <a:latin typeface="Trebuchet MS" panose="020B0603020202020204" pitchFamily="34" charset="0"/>
                  <a:ea typeface="+mn-ea"/>
                  <a:cs typeface="+mn-cs"/>
                </a:rPr>
                <a:t>Leads Team in delivering outcomes supporting </a:t>
              </a:r>
            </a:p>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effectLst/>
                  <a:uLnTx/>
                  <a:uFillTx/>
                  <a:latin typeface="Trebuchet MS" panose="020B0603020202020204" pitchFamily="34" charset="0"/>
                  <a:ea typeface="+mn-ea"/>
                  <a:cs typeface="+mn-cs"/>
                </a:rPr>
                <a:t>the strategy</a:t>
              </a:r>
            </a:p>
          </p:txBody>
        </p:sp>
      </p:grpSp>
      <p:grpSp>
        <p:nvGrpSpPr>
          <p:cNvPr id="10" name="Group 9">
            <a:extLst>
              <a:ext uri="{FF2B5EF4-FFF2-40B4-BE49-F238E27FC236}">
                <a16:creationId xmlns:a16="http://schemas.microsoft.com/office/drawing/2014/main" id="{8AFD1997-9E1D-1CC1-779D-38E278954AE0}"/>
              </a:ext>
            </a:extLst>
          </p:cNvPr>
          <p:cNvGrpSpPr/>
          <p:nvPr/>
        </p:nvGrpSpPr>
        <p:grpSpPr>
          <a:xfrm>
            <a:off x="7010589" y="3151864"/>
            <a:ext cx="1501723" cy="790415"/>
            <a:chOff x="6436060" y="2440750"/>
            <a:chExt cx="1501723" cy="790415"/>
          </a:xfrm>
        </p:grpSpPr>
        <p:sp>
          <p:nvSpPr>
            <p:cNvPr id="11" name="Rectangle 10">
              <a:extLst>
                <a:ext uri="{FF2B5EF4-FFF2-40B4-BE49-F238E27FC236}">
                  <a16:creationId xmlns:a16="http://schemas.microsoft.com/office/drawing/2014/main" id="{9CD52457-6320-0ABD-9A29-173A47D5A2C5}"/>
                </a:ext>
              </a:extLst>
            </p:cNvPr>
            <p:cNvSpPr/>
            <p:nvPr/>
          </p:nvSpPr>
          <p:spPr>
            <a:xfrm>
              <a:off x="6740811" y="2440750"/>
              <a:ext cx="1196972" cy="5232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Trebuchet MS" panose="020B0703020202090204" pitchFamily="34" charset="0"/>
                  <a:ea typeface="+mn-ea"/>
                  <a:cs typeface="+mn-cs"/>
                </a:rPr>
                <a:t>Scrum Master</a:t>
              </a:r>
            </a:p>
          </p:txBody>
        </p:sp>
        <p:pic>
          <p:nvPicPr>
            <p:cNvPr id="12" name="Graphic 11" descr="Male profile with solid fill">
              <a:extLst>
                <a:ext uri="{FF2B5EF4-FFF2-40B4-BE49-F238E27FC236}">
                  <a16:creationId xmlns:a16="http://schemas.microsoft.com/office/drawing/2014/main" id="{A88140FA-EBF6-475F-5E73-D7EAC79730C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89166" y="2440750"/>
              <a:ext cx="506059" cy="506059"/>
            </a:xfrm>
            <a:prstGeom prst="rect">
              <a:avLst/>
            </a:prstGeom>
          </p:spPr>
        </p:pic>
        <p:sp>
          <p:nvSpPr>
            <p:cNvPr id="13" name="Rectangle 12">
              <a:extLst>
                <a:ext uri="{FF2B5EF4-FFF2-40B4-BE49-F238E27FC236}">
                  <a16:creationId xmlns:a16="http://schemas.microsoft.com/office/drawing/2014/main" id="{07E8A7EA-88C1-6753-2872-33DBFE7C78B8}"/>
                </a:ext>
              </a:extLst>
            </p:cNvPr>
            <p:cNvSpPr/>
            <p:nvPr/>
          </p:nvSpPr>
          <p:spPr>
            <a:xfrm>
              <a:off x="6436060" y="2861833"/>
              <a:ext cx="1395981" cy="369332"/>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effectLst/>
                  <a:uLnTx/>
                  <a:uFillTx/>
                  <a:latin typeface="Trebuchet MS" panose="020B0603020202020204" pitchFamily="34" charset="0"/>
                  <a:ea typeface="+mn-ea"/>
                  <a:cs typeface="+mn-cs"/>
                </a:rPr>
                <a:t>Leads and reinforces Agile practices</a:t>
              </a:r>
            </a:p>
          </p:txBody>
        </p:sp>
      </p:grpSp>
      <p:grpSp>
        <p:nvGrpSpPr>
          <p:cNvPr id="15" name="Group 14">
            <a:extLst>
              <a:ext uri="{FF2B5EF4-FFF2-40B4-BE49-F238E27FC236}">
                <a16:creationId xmlns:a16="http://schemas.microsoft.com/office/drawing/2014/main" id="{CCEA4B57-5B71-0658-9586-49D199DA4CBE}"/>
              </a:ext>
            </a:extLst>
          </p:cNvPr>
          <p:cNvGrpSpPr/>
          <p:nvPr/>
        </p:nvGrpSpPr>
        <p:grpSpPr>
          <a:xfrm>
            <a:off x="924913" y="3183307"/>
            <a:ext cx="2393369" cy="626145"/>
            <a:chOff x="780768" y="2589474"/>
            <a:chExt cx="2393369" cy="626145"/>
          </a:xfrm>
        </p:grpSpPr>
        <p:sp>
          <p:nvSpPr>
            <p:cNvPr id="16" name="Rectangle 15">
              <a:extLst>
                <a:ext uri="{FF2B5EF4-FFF2-40B4-BE49-F238E27FC236}">
                  <a16:creationId xmlns:a16="http://schemas.microsoft.com/office/drawing/2014/main" id="{C1E7B867-1503-A6FE-0F88-295E601BE989}"/>
                </a:ext>
              </a:extLst>
            </p:cNvPr>
            <p:cNvSpPr/>
            <p:nvPr/>
          </p:nvSpPr>
          <p:spPr>
            <a:xfrm>
              <a:off x="1222049" y="2633429"/>
              <a:ext cx="1583646"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Trebuchet MS" panose="020B0703020202090204" pitchFamily="34" charset="0"/>
                  <a:ea typeface="+mn-ea"/>
                  <a:cs typeface="+mn-cs"/>
                </a:rPr>
                <a:t>Agile Coach</a:t>
              </a:r>
            </a:p>
          </p:txBody>
        </p:sp>
        <p:pic>
          <p:nvPicPr>
            <p:cNvPr id="17" name="Graphic 16" descr="Whistle with solid fill">
              <a:extLst>
                <a:ext uri="{FF2B5EF4-FFF2-40B4-BE49-F238E27FC236}">
                  <a16:creationId xmlns:a16="http://schemas.microsoft.com/office/drawing/2014/main" id="{4124ACAF-F111-41C1-DCC5-C23D1309CE8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26005" y="2589474"/>
              <a:ext cx="481192" cy="481192"/>
            </a:xfrm>
            <a:prstGeom prst="rect">
              <a:avLst/>
            </a:prstGeom>
          </p:spPr>
        </p:pic>
        <p:sp>
          <p:nvSpPr>
            <p:cNvPr id="18" name="Rectangle 17">
              <a:extLst>
                <a:ext uri="{FF2B5EF4-FFF2-40B4-BE49-F238E27FC236}">
                  <a16:creationId xmlns:a16="http://schemas.microsoft.com/office/drawing/2014/main" id="{52221081-75C1-CE33-FD02-9D6BD65CA1EF}"/>
                </a:ext>
              </a:extLst>
            </p:cNvPr>
            <p:cNvSpPr/>
            <p:nvPr/>
          </p:nvSpPr>
          <p:spPr>
            <a:xfrm>
              <a:off x="780768" y="2846287"/>
              <a:ext cx="2393369" cy="369332"/>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effectLst/>
                  <a:uLnTx/>
                  <a:uFillTx/>
                  <a:latin typeface="Trebuchet MS" panose="020B0603020202020204" pitchFamily="34" charset="0"/>
                  <a:ea typeface="+mn-ea"/>
                  <a:cs typeface="+mn-cs"/>
                </a:rPr>
                <a:t>Coaches multiple Teams on Agile principles and practices</a:t>
              </a:r>
            </a:p>
          </p:txBody>
        </p:sp>
      </p:grpSp>
      <p:grpSp>
        <p:nvGrpSpPr>
          <p:cNvPr id="19" name="Group 18">
            <a:extLst>
              <a:ext uri="{FF2B5EF4-FFF2-40B4-BE49-F238E27FC236}">
                <a16:creationId xmlns:a16="http://schemas.microsoft.com/office/drawing/2014/main" id="{97ACD9B8-DC57-C8B0-C010-809F2AD6786F}"/>
              </a:ext>
            </a:extLst>
          </p:cNvPr>
          <p:cNvGrpSpPr/>
          <p:nvPr/>
        </p:nvGrpSpPr>
        <p:grpSpPr>
          <a:xfrm>
            <a:off x="3739936" y="3102970"/>
            <a:ext cx="1647518" cy="925997"/>
            <a:chOff x="3370281" y="3229896"/>
            <a:chExt cx="1647518" cy="925997"/>
          </a:xfrm>
        </p:grpSpPr>
        <p:sp>
          <p:nvSpPr>
            <p:cNvPr id="20" name="Rectangle 19">
              <a:extLst>
                <a:ext uri="{FF2B5EF4-FFF2-40B4-BE49-F238E27FC236}">
                  <a16:creationId xmlns:a16="http://schemas.microsoft.com/office/drawing/2014/main" id="{77A6F499-3E4E-EF30-B3BA-EE2A121CC89C}"/>
                </a:ext>
              </a:extLst>
            </p:cNvPr>
            <p:cNvSpPr/>
            <p:nvPr/>
          </p:nvSpPr>
          <p:spPr>
            <a:xfrm>
              <a:off x="3734221" y="3443104"/>
              <a:ext cx="844609"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Trebuchet MS" panose="020B0703020202090204" pitchFamily="34" charset="0"/>
                  <a:ea typeface="+mn-ea"/>
                  <a:cs typeface="+mn-cs"/>
                </a:rPr>
                <a:t>BA</a:t>
              </a:r>
            </a:p>
          </p:txBody>
        </p:sp>
        <p:pic>
          <p:nvPicPr>
            <p:cNvPr id="21" name="Graphic 20" descr="Male profile with solid fill">
              <a:extLst>
                <a:ext uri="{FF2B5EF4-FFF2-40B4-BE49-F238E27FC236}">
                  <a16:creationId xmlns:a16="http://schemas.microsoft.com/office/drawing/2014/main" id="{4DAC89CE-47E4-9485-4AB5-47FF7C3EA34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275734" y="3229896"/>
              <a:ext cx="506059" cy="506059"/>
            </a:xfrm>
            <a:prstGeom prst="rect">
              <a:avLst/>
            </a:prstGeom>
          </p:spPr>
        </p:pic>
        <p:sp>
          <p:nvSpPr>
            <p:cNvPr id="22" name="Rectangle 21">
              <a:extLst>
                <a:ext uri="{FF2B5EF4-FFF2-40B4-BE49-F238E27FC236}">
                  <a16:creationId xmlns:a16="http://schemas.microsoft.com/office/drawing/2014/main" id="{21A56261-9D31-6F01-648B-D00C7227DD96}"/>
                </a:ext>
              </a:extLst>
            </p:cNvPr>
            <p:cNvSpPr/>
            <p:nvPr/>
          </p:nvSpPr>
          <p:spPr>
            <a:xfrm>
              <a:off x="3370281" y="3648062"/>
              <a:ext cx="1647518" cy="507831"/>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effectLst/>
                  <a:uLnTx/>
                  <a:uFillTx/>
                  <a:latin typeface="Trebuchet MS" panose="020B0603020202020204" pitchFamily="34" charset="0"/>
                  <a:ea typeface="+mn-ea"/>
                  <a:cs typeface="+mn-cs"/>
                </a:rPr>
                <a:t>Provides business analysis; supports requirements gathering</a:t>
              </a:r>
            </a:p>
          </p:txBody>
        </p:sp>
      </p:grpSp>
      <p:grpSp>
        <p:nvGrpSpPr>
          <p:cNvPr id="23" name="Group 22">
            <a:extLst>
              <a:ext uri="{FF2B5EF4-FFF2-40B4-BE49-F238E27FC236}">
                <a16:creationId xmlns:a16="http://schemas.microsoft.com/office/drawing/2014/main" id="{5FE07F9D-5773-7E4D-5B88-4495C3510578}"/>
              </a:ext>
            </a:extLst>
          </p:cNvPr>
          <p:cNvGrpSpPr/>
          <p:nvPr/>
        </p:nvGrpSpPr>
        <p:grpSpPr>
          <a:xfrm>
            <a:off x="6961978" y="4127315"/>
            <a:ext cx="1595561" cy="1195610"/>
            <a:chOff x="3875716" y="4356225"/>
            <a:chExt cx="1595561" cy="1195610"/>
          </a:xfrm>
        </p:grpSpPr>
        <p:sp>
          <p:nvSpPr>
            <p:cNvPr id="24" name="Rectangle 23">
              <a:extLst>
                <a:ext uri="{FF2B5EF4-FFF2-40B4-BE49-F238E27FC236}">
                  <a16:creationId xmlns:a16="http://schemas.microsoft.com/office/drawing/2014/main" id="{639F521B-A7F2-A5E3-34FF-32A2053939A3}"/>
                </a:ext>
              </a:extLst>
            </p:cNvPr>
            <p:cNvSpPr/>
            <p:nvPr/>
          </p:nvSpPr>
          <p:spPr>
            <a:xfrm>
              <a:off x="3911892" y="4933470"/>
              <a:ext cx="1559385"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Trebuchet MS" panose="020B0703020202090204" pitchFamily="34" charset="0"/>
                  <a:ea typeface="+mn-ea"/>
                  <a:cs typeface="+mn-cs"/>
                </a:rPr>
                <a:t>Engineers</a:t>
              </a:r>
            </a:p>
          </p:txBody>
        </p:sp>
        <p:pic>
          <p:nvPicPr>
            <p:cNvPr id="25" name="Graphic 24" descr="Users with solid fill">
              <a:extLst>
                <a:ext uri="{FF2B5EF4-FFF2-40B4-BE49-F238E27FC236}">
                  <a16:creationId xmlns:a16="http://schemas.microsoft.com/office/drawing/2014/main" id="{027D9965-6BBA-694A-2BDB-421A1D4A3D7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282713" y="4356225"/>
              <a:ext cx="817745" cy="817745"/>
            </a:xfrm>
            <a:prstGeom prst="rect">
              <a:avLst/>
            </a:prstGeom>
          </p:spPr>
        </p:pic>
        <p:sp>
          <p:nvSpPr>
            <p:cNvPr id="26" name="Rectangle 25">
              <a:extLst>
                <a:ext uri="{FF2B5EF4-FFF2-40B4-BE49-F238E27FC236}">
                  <a16:creationId xmlns:a16="http://schemas.microsoft.com/office/drawing/2014/main" id="{6BB44C32-54C0-2D5F-DFD3-5BCC9579321D}"/>
                </a:ext>
              </a:extLst>
            </p:cNvPr>
            <p:cNvSpPr/>
            <p:nvPr/>
          </p:nvSpPr>
          <p:spPr>
            <a:xfrm>
              <a:off x="3875716" y="5182503"/>
              <a:ext cx="1559385" cy="369332"/>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effectLst/>
                  <a:uLnTx/>
                  <a:uFillTx/>
                  <a:latin typeface="Trebuchet MS" panose="020B0603020202020204" pitchFamily="34" charset="0"/>
                  <a:ea typeface="+mn-ea"/>
                  <a:cs typeface="+mn-cs"/>
                </a:rPr>
                <a:t>Technical delivery of business solution</a:t>
              </a:r>
            </a:p>
          </p:txBody>
        </p:sp>
      </p:grpSp>
      <p:grpSp>
        <p:nvGrpSpPr>
          <p:cNvPr id="27" name="Group 26">
            <a:extLst>
              <a:ext uri="{FF2B5EF4-FFF2-40B4-BE49-F238E27FC236}">
                <a16:creationId xmlns:a16="http://schemas.microsoft.com/office/drawing/2014/main" id="{DB255357-931B-0A0D-AF11-92059817D5CD}"/>
              </a:ext>
            </a:extLst>
          </p:cNvPr>
          <p:cNvGrpSpPr/>
          <p:nvPr/>
        </p:nvGrpSpPr>
        <p:grpSpPr>
          <a:xfrm>
            <a:off x="3958939" y="4204117"/>
            <a:ext cx="1812845" cy="1082108"/>
            <a:chOff x="3768475" y="4742078"/>
            <a:chExt cx="1812845" cy="1082108"/>
          </a:xfrm>
        </p:grpSpPr>
        <p:sp>
          <p:nvSpPr>
            <p:cNvPr id="28" name="Rectangle 27">
              <a:extLst>
                <a:ext uri="{FF2B5EF4-FFF2-40B4-BE49-F238E27FC236}">
                  <a16:creationId xmlns:a16="http://schemas.microsoft.com/office/drawing/2014/main" id="{7FE950D6-AB62-5DE3-D490-2B30E6C56D07}"/>
                </a:ext>
              </a:extLst>
            </p:cNvPr>
            <p:cNvSpPr/>
            <p:nvPr/>
          </p:nvSpPr>
          <p:spPr>
            <a:xfrm>
              <a:off x="4395982" y="4947138"/>
              <a:ext cx="778333"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Trebuchet MS" panose="020B0703020202090204" pitchFamily="34" charset="0"/>
                  <a:ea typeface="+mn-ea"/>
                  <a:cs typeface="+mn-cs"/>
                </a:rPr>
                <a:t>SME</a:t>
              </a:r>
            </a:p>
          </p:txBody>
        </p:sp>
        <p:sp>
          <p:nvSpPr>
            <p:cNvPr id="29" name="Rectangle 28">
              <a:extLst>
                <a:ext uri="{FF2B5EF4-FFF2-40B4-BE49-F238E27FC236}">
                  <a16:creationId xmlns:a16="http://schemas.microsoft.com/office/drawing/2014/main" id="{A3273CE5-90D9-A6AD-6855-6E7A1629C767}"/>
                </a:ext>
              </a:extLst>
            </p:cNvPr>
            <p:cNvSpPr/>
            <p:nvPr/>
          </p:nvSpPr>
          <p:spPr>
            <a:xfrm>
              <a:off x="3768475" y="5177855"/>
              <a:ext cx="1812845" cy="646331"/>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effectLst/>
                  <a:uLnTx/>
                  <a:uFillTx/>
                  <a:latin typeface="Trebuchet MS" panose="020B0603020202020204" pitchFamily="34" charset="0"/>
                  <a:ea typeface="+mn-ea"/>
                  <a:cs typeface="+mn-cs"/>
                </a:rPr>
                <a:t>Brings expertise to provide guidance and feedback for capability development</a:t>
              </a:r>
            </a:p>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1" u="none" strike="noStrike" kern="1200" cap="none" spc="0" normalizeH="0" baseline="0" noProof="0">
                  <a:ln>
                    <a:noFill/>
                  </a:ln>
                  <a:effectLst/>
                  <a:uLnTx/>
                  <a:uFillTx/>
                  <a:latin typeface="Trebuchet MS" panose="020B0603020202020204" pitchFamily="34" charset="0"/>
                  <a:ea typeface="+mn-ea"/>
                  <a:cs typeface="+mn-cs"/>
                </a:rPr>
                <a:t>~50% allocation </a:t>
              </a:r>
            </a:p>
          </p:txBody>
        </p:sp>
        <p:pic>
          <p:nvPicPr>
            <p:cNvPr id="30" name="Graphic 29" descr="Male profile with solid fill">
              <a:extLst>
                <a:ext uri="{FF2B5EF4-FFF2-40B4-BE49-F238E27FC236}">
                  <a16:creationId xmlns:a16="http://schemas.microsoft.com/office/drawing/2014/main" id="{AD24E566-8C3F-6C95-C9BA-B1DFD06C268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146945" y="4742078"/>
              <a:ext cx="506059" cy="506059"/>
            </a:xfrm>
            <a:prstGeom prst="rect">
              <a:avLst/>
            </a:prstGeom>
          </p:spPr>
        </p:pic>
      </p:grpSp>
      <p:grpSp>
        <p:nvGrpSpPr>
          <p:cNvPr id="31" name="Group 30">
            <a:extLst>
              <a:ext uri="{FF2B5EF4-FFF2-40B4-BE49-F238E27FC236}">
                <a16:creationId xmlns:a16="http://schemas.microsoft.com/office/drawing/2014/main" id="{A39109EC-7339-C88C-5F85-33449EE96501}"/>
              </a:ext>
            </a:extLst>
          </p:cNvPr>
          <p:cNvGrpSpPr/>
          <p:nvPr/>
        </p:nvGrpSpPr>
        <p:grpSpPr>
          <a:xfrm>
            <a:off x="921651" y="4126379"/>
            <a:ext cx="2319159" cy="580897"/>
            <a:chOff x="770197" y="3563176"/>
            <a:chExt cx="2319159" cy="580897"/>
          </a:xfrm>
        </p:grpSpPr>
        <p:sp>
          <p:nvSpPr>
            <p:cNvPr id="32" name="Rectangle 31">
              <a:extLst>
                <a:ext uri="{FF2B5EF4-FFF2-40B4-BE49-F238E27FC236}">
                  <a16:creationId xmlns:a16="http://schemas.microsoft.com/office/drawing/2014/main" id="{A9B6E3B3-196B-5EC5-04F5-9D3B15D03E50}"/>
                </a:ext>
              </a:extLst>
            </p:cNvPr>
            <p:cNvSpPr/>
            <p:nvPr/>
          </p:nvSpPr>
          <p:spPr>
            <a:xfrm>
              <a:off x="1007507" y="3563176"/>
              <a:ext cx="778333"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Trebuchet MS" panose="020B0703020202090204" pitchFamily="34" charset="0"/>
                  <a:ea typeface="+mn-ea"/>
                  <a:cs typeface="+mn-cs"/>
                </a:rPr>
                <a:t>SMA</a:t>
              </a:r>
            </a:p>
          </p:txBody>
        </p:sp>
        <p:pic>
          <p:nvPicPr>
            <p:cNvPr id="33" name="Graphic 32" descr="Female Profile with solid fill">
              <a:extLst>
                <a:ext uri="{FF2B5EF4-FFF2-40B4-BE49-F238E27FC236}">
                  <a16:creationId xmlns:a16="http://schemas.microsoft.com/office/drawing/2014/main" id="{850DCB1B-076C-96A3-9DD0-2A073E75ABB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70197" y="3610092"/>
              <a:ext cx="506991" cy="506991"/>
            </a:xfrm>
            <a:prstGeom prst="rect">
              <a:avLst/>
            </a:prstGeom>
          </p:spPr>
        </p:pic>
        <p:sp>
          <p:nvSpPr>
            <p:cNvPr id="34" name="Rectangle 33">
              <a:extLst>
                <a:ext uri="{FF2B5EF4-FFF2-40B4-BE49-F238E27FC236}">
                  <a16:creationId xmlns:a16="http://schemas.microsoft.com/office/drawing/2014/main" id="{685D9A75-EA5D-8BA9-376D-F35D17E45D2B}"/>
                </a:ext>
              </a:extLst>
            </p:cNvPr>
            <p:cNvSpPr/>
            <p:nvPr/>
          </p:nvSpPr>
          <p:spPr>
            <a:xfrm>
              <a:off x="1013988" y="3774741"/>
              <a:ext cx="2075368" cy="369332"/>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effectLst/>
                  <a:uLnTx/>
                  <a:uFillTx/>
                  <a:latin typeface="Trebuchet MS" panose="020B0603020202020204" pitchFamily="34" charset="0"/>
                  <a:ea typeface="+mn-ea"/>
                  <a:cs typeface="+mn-cs"/>
                </a:rPr>
                <a:t>Functional resource who provides ad hoc expertise and guidance</a:t>
              </a:r>
            </a:p>
          </p:txBody>
        </p:sp>
      </p:grpSp>
      <p:grpSp>
        <p:nvGrpSpPr>
          <p:cNvPr id="35" name="Group 34">
            <a:extLst>
              <a:ext uri="{FF2B5EF4-FFF2-40B4-BE49-F238E27FC236}">
                <a16:creationId xmlns:a16="http://schemas.microsoft.com/office/drawing/2014/main" id="{BEB3954F-46BA-46B2-5334-A44BDF0764DF}"/>
              </a:ext>
            </a:extLst>
          </p:cNvPr>
          <p:cNvGrpSpPr/>
          <p:nvPr/>
        </p:nvGrpSpPr>
        <p:grpSpPr>
          <a:xfrm>
            <a:off x="9200835" y="2610566"/>
            <a:ext cx="2185136" cy="2108852"/>
            <a:chOff x="9058270" y="2719389"/>
            <a:chExt cx="2185136" cy="2108852"/>
          </a:xfrm>
        </p:grpSpPr>
        <p:sp>
          <p:nvSpPr>
            <p:cNvPr id="36" name="Rectangle 35">
              <a:extLst>
                <a:ext uri="{FF2B5EF4-FFF2-40B4-BE49-F238E27FC236}">
                  <a16:creationId xmlns:a16="http://schemas.microsoft.com/office/drawing/2014/main" id="{C931982D-00A9-9EDD-950C-4ED15F566B64}"/>
                </a:ext>
              </a:extLst>
            </p:cNvPr>
            <p:cNvSpPr/>
            <p:nvPr/>
          </p:nvSpPr>
          <p:spPr>
            <a:xfrm>
              <a:off x="9058270" y="2719389"/>
              <a:ext cx="2011156" cy="820153"/>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E51B24"/>
                  </a:solidFill>
                </a14:hiddenFill>
              </a:ext>
              <a:ext uri="{91240B29-F687-4F45-9708-019B960494DF}">
                <a14:hiddenLine xmlns:a14="http://schemas.microsoft.com/office/drawing/2010/main" w="9525" cap="rnd" cmpd="sng" algn="ctr">
                  <a:solidFill>
                    <a:srgbClr val="E51B24"/>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8" rIns="82296" bIns="41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2E89AB"/>
                  </a:solidFill>
                  <a:effectLst/>
                  <a:uLnTx/>
                  <a:uFillTx/>
                  <a:latin typeface="Trebuchet MS"/>
                  <a:ea typeface="+mn-ea"/>
                  <a:cs typeface="+mn-cs"/>
                </a:rPr>
                <a:t>Spanning Functions</a:t>
              </a:r>
              <a:endParaRPr kumimoji="0" lang="en-US" sz="1400" b="1" i="0" u="none" strike="noStrike" kern="1200" cap="none" spc="0" normalizeH="0" baseline="30000" noProof="0">
                <a:ln>
                  <a:noFill/>
                </a:ln>
                <a:solidFill>
                  <a:srgbClr val="2E89AB"/>
                </a:solidFill>
                <a:effectLst/>
                <a:uLnTx/>
                <a:uFillTx/>
                <a:latin typeface="Trebuchet MS"/>
                <a:ea typeface="+mn-ea"/>
                <a:cs typeface="+mn-cs"/>
              </a:endParaRPr>
            </a:p>
          </p:txBody>
        </p:sp>
        <p:grpSp>
          <p:nvGrpSpPr>
            <p:cNvPr id="37" name="Group 36">
              <a:extLst>
                <a:ext uri="{FF2B5EF4-FFF2-40B4-BE49-F238E27FC236}">
                  <a16:creationId xmlns:a16="http://schemas.microsoft.com/office/drawing/2014/main" id="{088DAF36-5E23-18D1-05EE-055765816815}"/>
                </a:ext>
              </a:extLst>
            </p:cNvPr>
            <p:cNvGrpSpPr/>
            <p:nvPr/>
          </p:nvGrpSpPr>
          <p:grpSpPr>
            <a:xfrm>
              <a:off x="9285452" y="3322067"/>
              <a:ext cx="493711" cy="1426650"/>
              <a:chOff x="10007847" y="3231165"/>
              <a:chExt cx="493711" cy="1426650"/>
            </a:xfrm>
          </p:grpSpPr>
          <p:sp>
            <p:nvSpPr>
              <p:cNvPr id="39" name="Freeform 92">
                <a:extLst>
                  <a:ext uri="{FF2B5EF4-FFF2-40B4-BE49-F238E27FC236}">
                    <a16:creationId xmlns:a16="http://schemas.microsoft.com/office/drawing/2014/main" id="{384EBAD1-81CF-52A1-1FF7-BF42372F66D2}"/>
                  </a:ext>
                </a:extLst>
              </p:cNvPr>
              <p:cNvSpPr>
                <a:spLocks/>
              </p:cNvSpPr>
              <p:nvPr/>
            </p:nvSpPr>
            <p:spPr bwMode="auto">
              <a:xfrm>
                <a:off x="10114271" y="3359863"/>
                <a:ext cx="278553" cy="278553"/>
              </a:xfrm>
              <a:custGeom>
                <a:avLst/>
                <a:gdLst>
                  <a:gd name="T0" fmla="*/ 151 w 865"/>
                  <a:gd name="T1" fmla="*/ 191 h 864"/>
                  <a:gd name="T2" fmla="*/ 485 w 865"/>
                  <a:gd name="T3" fmla="*/ 0 h 864"/>
                  <a:gd name="T4" fmla="*/ 766 w 865"/>
                  <a:gd name="T5" fmla="*/ 136 h 864"/>
                  <a:gd name="T6" fmla="*/ 752 w 865"/>
                  <a:gd name="T7" fmla="*/ 159 h 864"/>
                  <a:gd name="T8" fmla="*/ 781 w 865"/>
                  <a:gd name="T9" fmla="*/ 258 h 864"/>
                  <a:gd name="T10" fmla="*/ 787 w 865"/>
                  <a:gd name="T11" fmla="*/ 342 h 864"/>
                  <a:gd name="T12" fmla="*/ 823 w 865"/>
                  <a:gd name="T13" fmla="*/ 401 h 864"/>
                  <a:gd name="T14" fmla="*/ 855 w 865"/>
                  <a:gd name="T15" fmla="*/ 473 h 864"/>
                  <a:gd name="T16" fmla="*/ 776 w 865"/>
                  <a:gd name="T17" fmla="*/ 511 h 864"/>
                  <a:gd name="T18" fmla="*/ 778 w 865"/>
                  <a:gd name="T19" fmla="*/ 571 h 864"/>
                  <a:gd name="T20" fmla="*/ 758 w 865"/>
                  <a:gd name="T21" fmla="*/ 682 h 864"/>
                  <a:gd name="T22" fmla="*/ 652 w 865"/>
                  <a:gd name="T23" fmla="*/ 702 h 864"/>
                  <a:gd name="T24" fmla="*/ 593 w 865"/>
                  <a:gd name="T25" fmla="*/ 699 h 864"/>
                  <a:gd name="T26" fmla="*/ 593 w 865"/>
                  <a:gd name="T27" fmla="*/ 845 h 864"/>
                  <a:gd name="T28" fmla="*/ 575 w 865"/>
                  <a:gd name="T29" fmla="*/ 864 h 864"/>
                  <a:gd name="T30" fmla="*/ 555 w 865"/>
                  <a:gd name="T31" fmla="*/ 864 h 864"/>
                  <a:gd name="T32" fmla="*/ 341 w 865"/>
                  <a:gd name="T33" fmla="*/ 812 h 864"/>
                  <a:gd name="T34" fmla="*/ 331 w 865"/>
                  <a:gd name="T35" fmla="*/ 797 h 864"/>
                  <a:gd name="T36" fmla="*/ 326 w 865"/>
                  <a:gd name="T37" fmla="*/ 700 h 864"/>
                  <a:gd name="T38" fmla="*/ 151 w 865"/>
                  <a:gd name="T39" fmla="*/ 191 h 8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65" h="864">
                    <a:moveTo>
                      <a:pt x="151" y="191"/>
                    </a:moveTo>
                    <a:cubicBezTo>
                      <a:pt x="196" y="97"/>
                      <a:pt x="304" y="0"/>
                      <a:pt x="485" y="0"/>
                    </a:cubicBezTo>
                    <a:cubicBezTo>
                      <a:pt x="690" y="0"/>
                      <a:pt x="775" y="94"/>
                      <a:pt x="766" y="136"/>
                    </a:cubicBezTo>
                    <a:cubicBezTo>
                      <a:pt x="762" y="144"/>
                      <a:pt x="757" y="152"/>
                      <a:pt x="752" y="159"/>
                    </a:cubicBezTo>
                    <a:cubicBezTo>
                      <a:pt x="762" y="171"/>
                      <a:pt x="786" y="205"/>
                      <a:pt x="781" y="258"/>
                    </a:cubicBezTo>
                    <a:cubicBezTo>
                      <a:pt x="779" y="286"/>
                      <a:pt x="783" y="332"/>
                      <a:pt x="787" y="342"/>
                    </a:cubicBezTo>
                    <a:cubicBezTo>
                      <a:pt x="794" y="360"/>
                      <a:pt x="807" y="385"/>
                      <a:pt x="823" y="401"/>
                    </a:cubicBezTo>
                    <a:cubicBezTo>
                      <a:pt x="840" y="417"/>
                      <a:pt x="865" y="451"/>
                      <a:pt x="855" y="473"/>
                    </a:cubicBezTo>
                    <a:cubicBezTo>
                      <a:pt x="849" y="487"/>
                      <a:pt x="825" y="511"/>
                      <a:pt x="776" y="511"/>
                    </a:cubicBezTo>
                    <a:cubicBezTo>
                      <a:pt x="777" y="527"/>
                      <a:pt x="778" y="548"/>
                      <a:pt x="778" y="571"/>
                    </a:cubicBezTo>
                    <a:cubicBezTo>
                      <a:pt x="778" y="651"/>
                      <a:pt x="768" y="672"/>
                      <a:pt x="758" y="682"/>
                    </a:cubicBezTo>
                    <a:cubicBezTo>
                      <a:pt x="749" y="691"/>
                      <a:pt x="728" y="702"/>
                      <a:pt x="652" y="702"/>
                    </a:cubicBezTo>
                    <a:cubicBezTo>
                      <a:pt x="639" y="702"/>
                      <a:pt x="613" y="701"/>
                      <a:pt x="593" y="699"/>
                    </a:cubicBezTo>
                    <a:cubicBezTo>
                      <a:pt x="593" y="845"/>
                      <a:pt x="593" y="845"/>
                      <a:pt x="593" y="845"/>
                    </a:cubicBezTo>
                    <a:cubicBezTo>
                      <a:pt x="593" y="855"/>
                      <a:pt x="585" y="863"/>
                      <a:pt x="575" y="864"/>
                    </a:cubicBezTo>
                    <a:cubicBezTo>
                      <a:pt x="573" y="864"/>
                      <a:pt x="566" y="864"/>
                      <a:pt x="555" y="864"/>
                    </a:cubicBezTo>
                    <a:cubicBezTo>
                      <a:pt x="514" y="864"/>
                      <a:pt x="418" y="859"/>
                      <a:pt x="341" y="812"/>
                    </a:cubicBezTo>
                    <a:cubicBezTo>
                      <a:pt x="335" y="809"/>
                      <a:pt x="332" y="803"/>
                      <a:pt x="331" y="797"/>
                    </a:cubicBezTo>
                    <a:cubicBezTo>
                      <a:pt x="326" y="700"/>
                      <a:pt x="326" y="700"/>
                      <a:pt x="326" y="700"/>
                    </a:cubicBezTo>
                    <a:cubicBezTo>
                      <a:pt x="200" y="650"/>
                      <a:pt x="0" y="503"/>
                      <a:pt x="151" y="191"/>
                    </a:cubicBezTo>
                    <a:close/>
                  </a:path>
                </a:pathLst>
              </a:custGeom>
              <a:solidFill>
                <a:srgbClr val="F2F2F2"/>
              </a:solidFill>
              <a:ln w="9525" cap="flat" cmpd="sng" algn="ctr">
                <a:solidFill>
                  <a:srgbClr val="6E6F73"/>
                </a:solidFill>
                <a:prstDash val="solid"/>
                <a:round/>
                <a:headEnd type="none" w="med" len="med"/>
                <a:tailEnd type="none" w="med" len="med"/>
              </a:ln>
            </p:spPr>
            <p:txBody>
              <a:bodyPr vert="horz" wrap="square" lIns="93339" tIns="46669" rIns="93339" bIns="4666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18" b="0" i="0" u="none" strike="noStrike" kern="1200" cap="none" spc="0" normalizeH="0" baseline="0" noProof="0">
                  <a:ln>
                    <a:noFill/>
                  </a:ln>
                  <a:solidFill>
                    <a:srgbClr val="5B6770"/>
                  </a:solidFill>
                  <a:effectLst/>
                  <a:uLnTx/>
                  <a:uFillTx/>
                  <a:latin typeface="Trebuchet MS"/>
                  <a:ea typeface="+mn-ea"/>
                  <a:cs typeface="+mn-cs"/>
                </a:endParaRPr>
              </a:p>
            </p:txBody>
          </p:sp>
          <p:sp>
            <p:nvSpPr>
              <p:cNvPr id="40" name="Freeform 93">
                <a:extLst>
                  <a:ext uri="{FF2B5EF4-FFF2-40B4-BE49-F238E27FC236}">
                    <a16:creationId xmlns:a16="http://schemas.microsoft.com/office/drawing/2014/main" id="{A0F5F5FD-8F27-55FF-C7EB-D461C95E2C77}"/>
                  </a:ext>
                </a:extLst>
              </p:cNvPr>
              <p:cNvSpPr>
                <a:spLocks/>
              </p:cNvSpPr>
              <p:nvPr/>
            </p:nvSpPr>
            <p:spPr bwMode="auto">
              <a:xfrm>
                <a:off x="10127333" y="3762041"/>
                <a:ext cx="252427" cy="278553"/>
              </a:xfrm>
              <a:custGeom>
                <a:avLst/>
                <a:gdLst>
                  <a:gd name="T0" fmla="*/ 741 w 784"/>
                  <a:gd name="T1" fmla="*/ 400 h 864"/>
                  <a:gd name="T2" fmla="*/ 734 w 784"/>
                  <a:gd name="T3" fmla="*/ 393 h 864"/>
                  <a:gd name="T4" fmla="*/ 702 w 784"/>
                  <a:gd name="T5" fmla="*/ 329 h 864"/>
                  <a:gd name="T6" fmla="*/ 694 w 784"/>
                  <a:gd name="T7" fmla="*/ 297 h 864"/>
                  <a:gd name="T8" fmla="*/ 683 w 784"/>
                  <a:gd name="T9" fmla="*/ 249 h 864"/>
                  <a:gd name="T10" fmla="*/ 672 w 784"/>
                  <a:gd name="T11" fmla="*/ 160 h 864"/>
                  <a:gd name="T12" fmla="*/ 681 w 784"/>
                  <a:gd name="T13" fmla="*/ 162 h 864"/>
                  <a:gd name="T14" fmla="*/ 683 w 784"/>
                  <a:gd name="T15" fmla="*/ 160 h 864"/>
                  <a:gd name="T16" fmla="*/ 735 w 784"/>
                  <a:gd name="T17" fmla="*/ 49 h 864"/>
                  <a:gd name="T18" fmla="*/ 396 w 784"/>
                  <a:gd name="T19" fmla="*/ 0 h 864"/>
                  <a:gd name="T20" fmla="*/ 79 w 784"/>
                  <a:gd name="T21" fmla="*/ 202 h 864"/>
                  <a:gd name="T22" fmla="*/ 192 w 784"/>
                  <a:gd name="T23" fmla="*/ 603 h 864"/>
                  <a:gd name="T24" fmla="*/ 192 w 784"/>
                  <a:gd name="T25" fmla="*/ 794 h 864"/>
                  <a:gd name="T26" fmla="*/ 203 w 784"/>
                  <a:gd name="T27" fmla="*/ 812 h 864"/>
                  <a:gd name="T28" fmla="*/ 505 w 784"/>
                  <a:gd name="T29" fmla="*/ 864 h 864"/>
                  <a:gd name="T30" fmla="*/ 505 w 784"/>
                  <a:gd name="T31" fmla="*/ 864 h 864"/>
                  <a:gd name="T32" fmla="*/ 524 w 784"/>
                  <a:gd name="T33" fmla="*/ 846 h 864"/>
                  <a:gd name="T34" fmla="*/ 524 w 784"/>
                  <a:gd name="T35" fmla="*/ 714 h 864"/>
                  <a:gd name="T36" fmla="*/ 678 w 784"/>
                  <a:gd name="T37" fmla="*/ 705 h 864"/>
                  <a:gd name="T38" fmla="*/ 703 w 784"/>
                  <a:gd name="T39" fmla="*/ 620 h 864"/>
                  <a:gd name="T40" fmla="*/ 704 w 784"/>
                  <a:gd name="T41" fmla="*/ 615 h 864"/>
                  <a:gd name="T42" fmla="*/ 699 w 784"/>
                  <a:gd name="T43" fmla="*/ 511 h 864"/>
                  <a:gd name="T44" fmla="*/ 776 w 784"/>
                  <a:gd name="T45" fmla="*/ 468 h 864"/>
                  <a:gd name="T46" fmla="*/ 741 w 784"/>
                  <a:gd name="T47" fmla="*/ 400 h 8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84" h="864">
                    <a:moveTo>
                      <a:pt x="741" y="400"/>
                    </a:moveTo>
                    <a:cubicBezTo>
                      <a:pt x="738" y="397"/>
                      <a:pt x="736" y="395"/>
                      <a:pt x="734" y="393"/>
                    </a:cubicBezTo>
                    <a:cubicBezTo>
                      <a:pt x="724" y="382"/>
                      <a:pt x="713" y="359"/>
                      <a:pt x="702" y="329"/>
                    </a:cubicBezTo>
                    <a:cubicBezTo>
                      <a:pt x="700" y="322"/>
                      <a:pt x="697" y="310"/>
                      <a:pt x="694" y="297"/>
                    </a:cubicBezTo>
                    <a:cubicBezTo>
                      <a:pt x="691" y="281"/>
                      <a:pt x="687" y="263"/>
                      <a:pt x="683" y="249"/>
                    </a:cubicBezTo>
                    <a:cubicBezTo>
                      <a:pt x="677" y="232"/>
                      <a:pt x="673" y="185"/>
                      <a:pt x="672" y="160"/>
                    </a:cubicBezTo>
                    <a:cubicBezTo>
                      <a:pt x="674" y="159"/>
                      <a:pt x="680" y="162"/>
                      <a:pt x="681" y="162"/>
                    </a:cubicBezTo>
                    <a:cubicBezTo>
                      <a:pt x="682" y="161"/>
                      <a:pt x="683" y="161"/>
                      <a:pt x="683" y="160"/>
                    </a:cubicBezTo>
                    <a:cubicBezTo>
                      <a:pt x="693" y="117"/>
                      <a:pt x="756" y="49"/>
                      <a:pt x="735" y="49"/>
                    </a:cubicBezTo>
                    <a:cubicBezTo>
                      <a:pt x="543" y="53"/>
                      <a:pt x="603" y="0"/>
                      <a:pt x="396" y="0"/>
                    </a:cubicBezTo>
                    <a:cubicBezTo>
                      <a:pt x="214" y="0"/>
                      <a:pt x="124" y="109"/>
                      <a:pt x="79" y="202"/>
                    </a:cubicBezTo>
                    <a:cubicBezTo>
                      <a:pt x="0" y="370"/>
                      <a:pt x="129" y="536"/>
                      <a:pt x="192" y="603"/>
                    </a:cubicBezTo>
                    <a:cubicBezTo>
                      <a:pt x="192" y="794"/>
                      <a:pt x="192" y="794"/>
                      <a:pt x="192" y="794"/>
                    </a:cubicBezTo>
                    <a:cubicBezTo>
                      <a:pt x="192" y="802"/>
                      <a:pt x="196" y="809"/>
                      <a:pt x="203" y="812"/>
                    </a:cubicBezTo>
                    <a:cubicBezTo>
                      <a:pt x="330" y="863"/>
                      <a:pt x="492" y="864"/>
                      <a:pt x="505" y="864"/>
                    </a:cubicBezTo>
                    <a:cubicBezTo>
                      <a:pt x="505" y="864"/>
                      <a:pt x="505" y="864"/>
                      <a:pt x="505" y="864"/>
                    </a:cubicBezTo>
                    <a:cubicBezTo>
                      <a:pt x="516" y="864"/>
                      <a:pt x="524" y="856"/>
                      <a:pt x="524" y="846"/>
                    </a:cubicBezTo>
                    <a:cubicBezTo>
                      <a:pt x="524" y="714"/>
                      <a:pt x="524" y="714"/>
                      <a:pt x="524" y="714"/>
                    </a:cubicBezTo>
                    <a:cubicBezTo>
                      <a:pt x="602" y="722"/>
                      <a:pt x="661" y="714"/>
                      <a:pt x="678" y="705"/>
                    </a:cubicBezTo>
                    <a:cubicBezTo>
                      <a:pt x="699" y="694"/>
                      <a:pt x="700" y="668"/>
                      <a:pt x="703" y="620"/>
                    </a:cubicBezTo>
                    <a:cubicBezTo>
                      <a:pt x="704" y="615"/>
                      <a:pt x="704" y="615"/>
                      <a:pt x="704" y="615"/>
                    </a:cubicBezTo>
                    <a:cubicBezTo>
                      <a:pt x="706" y="584"/>
                      <a:pt x="702" y="538"/>
                      <a:pt x="699" y="511"/>
                    </a:cubicBezTo>
                    <a:cubicBezTo>
                      <a:pt x="757" y="509"/>
                      <a:pt x="773" y="479"/>
                      <a:pt x="776" y="468"/>
                    </a:cubicBezTo>
                    <a:cubicBezTo>
                      <a:pt x="784" y="446"/>
                      <a:pt x="763" y="424"/>
                      <a:pt x="741" y="400"/>
                    </a:cubicBezTo>
                    <a:close/>
                  </a:path>
                </a:pathLst>
              </a:custGeom>
              <a:solidFill>
                <a:srgbClr val="F2F2F2"/>
              </a:solidFill>
              <a:ln w="9525" cap="flat" cmpd="sng" algn="ctr">
                <a:solidFill>
                  <a:srgbClr val="6E6F73"/>
                </a:solidFill>
                <a:prstDash val="solid"/>
                <a:round/>
                <a:headEnd type="none" w="med" len="med"/>
                <a:tailEnd type="none" w="med" len="med"/>
              </a:ln>
            </p:spPr>
            <p:txBody>
              <a:bodyPr vert="horz" wrap="square" lIns="93339" tIns="46669" rIns="93339" bIns="4666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18" b="0" i="0" u="none" strike="noStrike" kern="1200" cap="none" spc="0" normalizeH="0" baseline="0" noProof="0">
                  <a:ln>
                    <a:noFill/>
                  </a:ln>
                  <a:solidFill>
                    <a:srgbClr val="5B6770"/>
                  </a:solidFill>
                  <a:effectLst/>
                  <a:uLnTx/>
                  <a:uFillTx/>
                  <a:latin typeface="Trebuchet MS"/>
                  <a:ea typeface="+mn-ea"/>
                  <a:cs typeface="+mn-cs"/>
                </a:endParaRPr>
              </a:p>
            </p:txBody>
          </p:sp>
          <p:sp>
            <p:nvSpPr>
              <p:cNvPr id="41" name="Freeform 94">
                <a:extLst>
                  <a:ext uri="{FF2B5EF4-FFF2-40B4-BE49-F238E27FC236}">
                    <a16:creationId xmlns:a16="http://schemas.microsoft.com/office/drawing/2014/main" id="{CEF9CF1C-FE1B-B04E-E15B-E6911AC077C7}"/>
                  </a:ext>
                </a:extLst>
              </p:cNvPr>
              <p:cNvSpPr>
                <a:spLocks/>
              </p:cNvSpPr>
              <p:nvPr/>
            </p:nvSpPr>
            <p:spPr bwMode="auto">
              <a:xfrm>
                <a:off x="10115768" y="4158583"/>
                <a:ext cx="278553" cy="278553"/>
              </a:xfrm>
              <a:custGeom>
                <a:avLst/>
                <a:gdLst>
                  <a:gd name="T0" fmla="*/ 151 w 865"/>
                  <a:gd name="T1" fmla="*/ 191 h 864"/>
                  <a:gd name="T2" fmla="*/ 485 w 865"/>
                  <a:gd name="T3" fmla="*/ 0 h 864"/>
                  <a:gd name="T4" fmla="*/ 766 w 865"/>
                  <a:gd name="T5" fmla="*/ 136 h 864"/>
                  <a:gd name="T6" fmla="*/ 752 w 865"/>
                  <a:gd name="T7" fmla="*/ 159 h 864"/>
                  <a:gd name="T8" fmla="*/ 781 w 865"/>
                  <a:gd name="T9" fmla="*/ 258 h 864"/>
                  <a:gd name="T10" fmla="*/ 787 w 865"/>
                  <a:gd name="T11" fmla="*/ 342 h 864"/>
                  <a:gd name="T12" fmla="*/ 823 w 865"/>
                  <a:gd name="T13" fmla="*/ 401 h 864"/>
                  <a:gd name="T14" fmla="*/ 855 w 865"/>
                  <a:gd name="T15" fmla="*/ 473 h 864"/>
                  <a:gd name="T16" fmla="*/ 776 w 865"/>
                  <a:gd name="T17" fmla="*/ 511 h 864"/>
                  <a:gd name="T18" fmla="*/ 778 w 865"/>
                  <a:gd name="T19" fmla="*/ 571 h 864"/>
                  <a:gd name="T20" fmla="*/ 758 w 865"/>
                  <a:gd name="T21" fmla="*/ 682 h 864"/>
                  <a:gd name="T22" fmla="*/ 652 w 865"/>
                  <a:gd name="T23" fmla="*/ 702 h 864"/>
                  <a:gd name="T24" fmla="*/ 593 w 865"/>
                  <a:gd name="T25" fmla="*/ 699 h 864"/>
                  <a:gd name="T26" fmla="*/ 593 w 865"/>
                  <a:gd name="T27" fmla="*/ 845 h 864"/>
                  <a:gd name="T28" fmla="*/ 575 w 865"/>
                  <a:gd name="T29" fmla="*/ 864 h 864"/>
                  <a:gd name="T30" fmla="*/ 555 w 865"/>
                  <a:gd name="T31" fmla="*/ 864 h 864"/>
                  <a:gd name="T32" fmla="*/ 341 w 865"/>
                  <a:gd name="T33" fmla="*/ 812 h 864"/>
                  <a:gd name="T34" fmla="*/ 331 w 865"/>
                  <a:gd name="T35" fmla="*/ 797 h 864"/>
                  <a:gd name="T36" fmla="*/ 326 w 865"/>
                  <a:gd name="T37" fmla="*/ 700 h 864"/>
                  <a:gd name="T38" fmla="*/ 151 w 865"/>
                  <a:gd name="T39" fmla="*/ 191 h 8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65" h="864">
                    <a:moveTo>
                      <a:pt x="151" y="191"/>
                    </a:moveTo>
                    <a:cubicBezTo>
                      <a:pt x="196" y="97"/>
                      <a:pt x="304" y="0"/>
                      <a:pt x="485" y="0"/>
                    </a:cubicBezTo>
                    <a:cubicBezTo>
                      <a:pt x="690" y="0"/>
                      <a:pt x="775" y="94"/>
                      <a:pt x="766" y="136"/>
                    </a:cubicBezTo>
                    <a:cubicBezTo>
                      <a:pt x="762" y="144"/>
                      <a:pt x="757" y="152"/>
                      <a:pt x="752" y="159"/>
                    </a:cubicBezTo>
                    <a:cubicBezTo>
                      <a:pt x="762" y="171"/>
                      <a:pt x="786" y="205"/>
                      <a:pt x="781" y="258"/>
                    </a:cubicBezTo>
                    <a:cubicBezTo>
                      <a:pt x="779" y="286"/>
                      <a:pt x="783" y="332"/>
                      <a:pt x="787" y="342"/>
                    </a:cubicBezTo>
                    <a:cubicBezTo>
                      <a:pt x="794" y="360"/>
                      <a:pt x="807" y="385"/>
                      <a:pt x="823" y="401"/>
                    </a:cubicBezTo>
                    <a:cubicBezTo>
                      <a:pt x="840" y="417"/>
                      <a:pt x="865" y="451"/>
                      <a:pt x="855" y="473"/>
                    </a:cubicBezTo>
                    <a:cubicBezTo>
                      <a:pt x="849" y="487"/>
                      <a:pt x="825" y="511"/>
                      <a:pt x="776" y="511"/>
                    </a:cubicBezTo>
                    <a:cubicBezTo>
                      <a:pt x="777" y="527"/>
                      <a:pt x="778" y="548"/>
                      <a:pt x="778" y="571"/>
                    </a:cubicBezTo>
                    <a:cubicBezTo>
                      <a:pt x="778" y="651"/>
                      <a:pt x="768" y="672"/>
                      <a:pt x="758" y="682"/>
                    </a:cubicBezTo>
                    <a:cubicBezTo>
                      <a:pt x="749" y="691"/>
                      <a:pt x="728" y="702"/>
                      <a:pt x="652" y="702"/>
                    </a:cubicBezTo>
                    <a:cubicBezTo>
                      <a:pt x="639" y="702"/>
                      <a:pt x="613" y="701"/>
                      <a:pt x="593" y="699"/>
                    </a:cubicBezTo>
                    <a:cubicBezTo>
                      <a:pt x="593" y="845"/>
                      <a:pt x="593" y="845"/>
                      <a:pt x="593" y="845"/>
                    </a:cubicBezTo>
                    <a:cubicBezTo>
                      <a:pt x="593" y="855"/>
                      <a:pt x="585" y="863"/>
                      <a:pt x="575" y="864"/>
                    </a:cubicBezTo>
                    <a:cubicBezTo>
                      <a:pt x="573" y="864"/>
                      <a:pt x="566" y="864"/>
                      <a:pt x="555" y="864"/>
                    </a:cubicBezTo>
                    <a:cubicBezTo>
                      <a:pt x="514" y="864"/>
                      <a:pt x="418" y="859"/>
                      <a:pt x="341" y="812"/>
                    </a:cubicBezTo>
                    <a:cubicBezTo>
                      <a:pt x="335" y="809"/>
                      <a:pt x="332" y="803"/>
                      <a:pt x="331" y="797"/>
                    </a:cubicBezTo>
                    <a:cubicBezTo>
                      <a:pt x="326" y="700"/>
                      <a:pt x="326" y="700"/>
                      <a:pt x="326" y="700"/>
                    </a:cubicBezTo>
                    <a:cubicBezTo>
                      <a:pt x="200" y="650"/>
                      <a:pt x="0" y="503"/>
                      <a:pt x="151" y="191"/>
                    </a:cubicBezTo>
                    <a:close/>
                  </a:path>
                </a:pathLst>
              </a:custGeom>
              <a:solidFill>
                <a:srgbClr val="F2F2F2"/>
              </a:solidFill>
              <a:ln w="9525" cap="flat" cmpd="sng" algn="ctr">
                <a:solidFill>
                  <a:srgbClr val="6E6F73"/>
                </a:solidFill>
                <a:prstDash val="solid"/>
                <a:round/>
                <a:headEnd type="none" w="med" len="med"/>
                <a:tailEnd type="none" w="med" len="med"/>
              </a:ln>
            </p:spPr>
            <p:txBody>
              <a:bodyPr vert="horz" wrap="square" lIns="93339" tIns="46669" rIns="93339" bIns="46669"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18" b="0" i="0" u="none" strike="noStrike" kern="1200" cap="none" spc="0" normalizeH="0" baseline="0" noProof="0">
                  <a:ln>
                    <a:noFill/>
                  </a:ln>
                  <a:solidFill>
                    <a:srgbClr val="5B6770"/>
                  </a:solidFill>
                  <a:effectLst/>
                  <a:uLnTx/>
                  <a:uFillTx/>
                  <a:latin typeface="Trebuchet MS"/>
                  <a:ea typeface="+mn-ea"/>
                  <a:cs typeface="+mn-cs"/>
                </a:endParaRPr>
              </a:p>
            </p:txBody>
          </p:sp>
          <p:sp>
            <p:nvSpPr>
              <p:cNvPr id="42" name="Rectangle 41">
                <a:extLst>
                  <a:ext uri="{FF2B5EF4-FFF2-40B4-BE49-F238E27FC236}">
                    <a16:creationId xmlns:a16="http://schemas.microsoft.com/office/drawing/2014/main" id="{E00EE45B-49A3-3611-386F-971F25C30095}"/>
                  </a:ext>
                </a:extLst>
              </p:cNvPr>
              <p:cNvSpPr/>
              <p:nvPr/>
            </p:nvSpPr>
            <p:spPr>
              <a:xfrm>
                <a:off x="10007847" y="3231165"/>
                <a:ext cx="493711" cy="1426650"/>
              </a:xfrm>
              <a:prstGeom prst="rect">
                <a:avLst/>
              </a:prstGeom>
              <a:noFill/>
              <a:ln w="15431" cap="flat" cmpd="sng" algn="ctr">
                <a:solidFill>
                  <a:schemeClr val="accent5"/>
                </a:solidFill>
                <a:prstDash val="solid"/>
                <a:round/>
                <a:headEnd type="none" w="med" len="med"/>
                <a:tailEnd type="none" w="med" len="me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8337" tIns="29168" rIns="58337" bIns="29168" numCol="1" spcCol="0" rtlCol="0" fromWordArt="0" anchor="b" anchorCtr="1"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5B6770"/>
                    </a:solidFill>
                    <a:effectLst/>
                    <a:uLnTx/>
                    <a:uFillTx/>
                    <a:latin typeface="Arial" pitchFamily="34" charset="0"/>
                    <a:ea typeface="+mn-ea"/>
                    <a:cs typeface="Arial" pitchFamily="34" charset="0"/>
                  </a:rPr>
                  <a:t>…</a:t>
                </a:r>
              </a:p>
            </p:txBody>
          </p:sp>
        </p:grpSp>
        <p:sp>
          <p:nvSpPr>
            <p:cNvPr id="38" name="Rectangle 37">
              <a:extLst>
                <a:ext uri="{FF2B5EF4-FFF2-40B4-BE49-F238E27FC236}">
                  <a16:creationId xmlns:a16="http://schemas.microsoft.com/office/drawing/2014/main" id="{C69B4E1D-319C-933C-8E93-D1BF0DF4A927}"/>
                </a:ext>
              </a:extLst>
            </p:cNvPr>
            <p:cNvSpPr/>
            <p:nvPr/>
          </p:nvSpPr>
          <p:spPr>
            <a:xfrm>
              <a:off x="9835267" y="3766412"/>
              <a:ext cx="1408139" cy="1061829"/>
            </a:xfrm>
            <a:prstGeom prst="rect">
              <a:avLst/>
            </a:prstGeom>
          </p:spPr>
          <p:txBody>
            <a:bodyPr wrap="square">
              <a:spAutoFit/>
            </a:bodyPr>
            <a:lstStyle/>
            <a:p>
              <a:pPr marL="91440" marR="0" lvl="0" indent="-91440" algn="l" defTabSz="914400" rtl="0" eaLnBrk="1" fontAlgn="auto" latinLnBrk="0" hangingPunct="1">
                <a:lnSpc>
                  <a:spcPct val="100000"/>
                </a:lnSpc>
                <a:spcBef>
                  <a:spcPts val="0"/>
                </a:spcBef>
                <a:spcAft>
                  <a:spcPts val="0"/>
                </a:spcAft>
                <a:buClrTx/>
                <a:buSzTx/>
                <a:buFont typeface="Wingdings" pitchFamily="2" charset="2"/>
                <a:buChar char="§"/>
                <a:tabLst/>
                <a:defRPr/>
              </a:pPr>
              <a:r>
                <a:rPr kumimoji="0" lang="en-US" sz="900" b="0" i="0" u="none" strike="noStrike" kern="1200" cap="none" spc="0" normalizeH="0" baseline="0" noProof="0">
                  <a:ln>
                    <a:noFill/>
                  </a:ln>
                  <a:solidFill>
                    <a:srgbClr val="545658"/>
                  </a:solidFill>
                  <a:effectLst/>
                  <a:uLnTx/>
                  <a:uFillTx/>
                  <a:latin typeface="Trebuchet MS" panose="020B0603020202020204"/>
                  <a:ea typeface="+mn-ea"/>
                  <a:cs typeface="+mn-cs"/>
                </a:rPr>
                <a:t>HR</a:t>
              </a:r>
            </a:p>
            <a:p>
              <a:pPr marL="91440" marR="0" lvl="0" indent="-91440" algn="l" defTabSz="914400" rtl="0" eaLnBrk="1" fontAlgn="auto" latinLnBrk="0" hangingPunct="1">
                <a:lnSpc>
                  <a:spcPct val="100000"/>
                </a:lnSpc>
                <a:spcBef>
                  <a:spcPts val="0"/>
                </a:spcBef>
                <a:spcAft>
                  <a:spcPts val="0"/>
                </a:spcAft>
                <a:buClrTx/>
                <a:buSzTx/>
                <a:buFont typeface="Wingdings" pitchFamily="2" charset="2"/>
                <a:buChar char="§"/>
                <a:tabLst/>
                <a:defRPr/>
              </a:pPr>
              <a:r>
                <a:rPr kumimoji="0" lang="en-US" sz="900" b="0" i="0" u="none" strike="noStrike" kern="1200" cap="none" spc="0" normalizeH="0" baseline="0" noProof="0">
                  <a:ln>
                    <a:noFill/>
                  </a:ln>
                  <a:solidFill>
                    <a:srgbClr val="545658"/>
                  </a:solidFill>
                  <a:effectLst/>
                  <a:uLnTx/>
                  <a:uFillTx/>
                  <a:latin typeface="Trebuchet MS" panose="020B0603020202020204"/>
                  <a:ea typeface="+mn-ea"/>
                  <a:cs typeface="+mn-cs"/>
                </a:rPr>
                <a:t>Marketing</a:t>
              </a:r>
            </a:p>
            <a:p>
              <a:pPr marL="91440" marR="0" lvl="0" indent="-91440" algn="l" defTabSz="914400" rtl="0" eaLnBrk="1" fontAlgn="auto" latinLnBrk="0" hangingPunct="1">
                <a:lnSpc>
                  <a:spcPct val="100000"/>
                </a:lnSpc>
                <a:spcBef>
                  <a:spcPts val="0"/>
                </a:spcBef>
                <a:spcAft>
                  <a:spcPts val="0"/>
                </a:spcAft>
                <a:buClrTx/>
                <a:buSzTx/>
                <a:buFont typeface="Wingdings" pitchFamily="2" charset="2"/>
                <a:buChar char="§"/>
                <a:tabLst/>
                <a:defRPr/>
              </a:pPr>
              <a:r>
                <a:rPr kumimoji="0" lang="en-US" sz="900" b="0" i="0" u="none" strike="noStrike" kern="1200" cap="none" spc="0" normalizeH="0" baseline="0" noProof="0">
                  <a:ln>
                    <a:noFill/>
                  </a:ln>
                  <a:solidFill>
                    <a:srgbClr val="545658"/>
                  </a:solidFill>
                  <a:effectLst/>
                  <a:uLnTx/>
                  <a:uFillTx/>
                  <a:latin typeface="Trebuchet MS" panose="020B0603020202020204"/>
                  <a:ea typeface="+mn-ea"/>
                  <a:cs typeface="+mn-cs"/>
                </a:rPr>
                <a:t>Finance</a:t>
              </a:r>
            </a:p>
            <a:p>
              <a:pPr marL="91440" marR="0" lvl="0" indent="-91440" algn="l" defTabSz="914400" rtl="0" eaLnBrk="1" fontAlgn="auto" latinLnBrk="0" hangingPunct="1">
                <a:lnSpc>
                  <a:spcPct val="100000"/>
                </a:lnSpc>
                <a:spcBef>
                  <a:spcPts val="0"/>
                </a:spcBef>
                <a:spcAft>
                  <a:spcPts val="0"/>
                </a:spcAft>
                <a:buClrTx/>
                <a:buSzTx/>
                <a:buFont typeface="Wingdings" pitchFamily="2" charset="2"/>
                <a:buChar char="§"/>
                <a:tabLst/>
                <a:defRPr/>
              </a:pPr>
              <a:r>
                <a:rPr kumimoji="0" lang="en-US" sz="900" b="0" i="0" u="none" strike="noStrike" kern="1200" cap="none" spc="0" normalizeH="0" baseline="0" noProof="0">
                  <a:ln>
                    <a:noFill/>
                  </a:ln>
                  <a:solidFill>
                    <a:srgbClr val="545658"/>
                  </a:solidFill>
                  <a:effectLst/>
                  <a:uLnTx/>
                  <a:uFillTx/>
                  <a:latin typeface="Trebuchet MS" panose="020B0603020202020204"/>
                  <a:ea typeface="+mn-ea"/>
                  <a:cs typeface="+mn-cs"/>
                </a:rPr>
                <a:t>Legal</a:t>
              </a:r>
            </a:p>
            <a:p>
              <a:pPr marL="91440" marR="0" lvl="0" indent="-91440" algn="l" defTabSz="914400" rtl="0" eaLnBrk="1" fontAlgn="auto" latinLnBrk="0" hangingPunct="1">
                <a:lnSpc>
                  <a:spcPct val="100000"/>
                </a:lnSpc>
                <a:spcBef>
                  <a:spcPts val="0"/>
                </a:spcBef>
                <a:spcAft>
                  <a:spcPts val="0"/>
                </a:spcAft>
                <a:buClrTx/>
                <a:buSzTx/>
                <a:buFont typeface="Wingdings" pitchFamily="2" charset="2"/>
                <a:buChar char="§"/>
                <a:tabLst/>
                <a:defRPr/>
              </a:pPr>
              <a:r>
                <a:rPr kumimoji="0" lang="en-US" sz="900" b="0" i="0" u="none" strike="noStrike" kern="1200" cap="none" spc="0" normalizeH="0" baseline="0" noProof="0">
                  <a:ln>
                    <a:noFill/>
                  </a:ln>
                  <a:solidFill>
                    <a:srgbClr val="545658"/>
                  </a:solidFill>
                  <a:effectLst/>
                  <a:uLnTx/>
                  <a:uFillTx/>
                  <a:latin typeface="Trebuchet MS" panose="020B0603020202020204"/>
                  <a:ea typeface="+mn-ea"/>
                  <a:cs typeface="+mn-cs"/>
                </a:rPr>
                <a:t>ECX</a:t>
              </a:r>
            </a:p>
            <a:p>
              <a:pPr marL="91440" marR="0" lvl="0" indent="-91440" algn="l" defTabSz="914400" rtl="0" eaLnBrk="1" fontAlgn="auto" latinLnBrk="0" hangingPunct="1">
                <a:lnSpc>
                  <a:spcPct val="100000"/>
                </a:lnSpc>
                <a:spcBef>
                  <a:spcPts val="0"/>
                </a:spcBef>
                <a:spcAft>
                  <a:spcPts val="0"/>
                </a:spcAft>
                <a:buClrTx/>
                <a:buSzTx/>
                <a:buFont typeface="Wingdings" pitchFamily="2" charset="2"/>
                <a:buChar char="§"/>
                <a:tabLst/>
                <a:defRPr/>
              </a:pPr>
              <a:r>
                <a:rPr kumimoji="0" lang="en-US" sz="900" b="0" i="0" u="none" strike="noStrike" kern="1200" cap="none" spc="0" normalizeH="0" baseline="0" noProof="0">
                  <a:ln>
                    <a:noFill/>
                  </a:ln>
                  <a:solidFill>
                    <a:srgbClr val="545658"/>
                  </a:solidFill>
                  <a:effectLst/>
                  <a:uLnTx/>
                  <a:uFillTx/>
                  <a:latin typeface="Trebuchet MS" panose="020B0603020202020204"/>
                  <a:ea typeface="+mn-ea"/>
                  <a:cs typeface="+mn-cs"/>
                </a:rPr>
                <a:t>EMR</a:t>
              </a:r>
            </a:p>
            <a:p>
              <a:pPr marL="91440" marR="0" lvl="0" indent="-91440" algn="l" defTabSz="914400" rtl="0" eaLnBrk="1" fontAlgn="auto" latinLnBrk="0" hangingPunct="1">
                <a:lnSpc>
                  <a:spcPct val="100000"/>
                </a:lnSpc>
                <a:spcBef>
                  <a:spcPts val="0"/>
                </a:spcBef>
                <a:spcAft>
                  <a:spcPts val="0"/>
                </a:spcAft>
                <a:buClrTx/>
                <a:buSzTx/>
                <a:buFont typeface="Wingdings" pitchFamily="2" charset="2"/>
                <a:buChar char="§"/>
                <a:tabLst/>
                <a:defRPr/>
              </a:pPr>
              <a:r>
                <a:rPr kumimoji="0" lang="en-US" sz="900" b="0" i="0" u="none" strike="noStrike" kern="1200" cap="none" spc="0" normalizeH="0" baseline="0" noProof="0">
                  <a:ln>
                    <a:noFill/>
                  </a:ln>
                  <a:solidFill>
                    <a:srgbClr val="545658"/>
                  </a:solidFill>
                  <a:effectLst/>
                  <a:uLnTx/>
                  <a:uFillTx/>
                  <a:latin typeface="Trebuchet MS" panose="020B0603020202020204"/>
                  <a:ea typeface="+mn-ea"/>
                  <a:cs typeface="+mn-cs"/>
                </a:rPr>
                <a:t>Etc. </a:t>
              </a:r>
            </a:p>
          </p:txBody>
        </p:sp>
      </p:grpSp>
      <p:sp>
        <p:nvSpPr>
          <p:cNvPr id="43" name="Rectangle 42">
            <a:extLst>
              <a:ext uri="{FF2B5EF4-FFF2-40B4-BE49-F238E27FC236}">
                <a16:creationId xmlns:a16="http://schemas.microsoft.com/office/drawing/2014/main" id="{3090EDAC-2B71-D042-4771-F250145B1CC1}"/>
              </a:ext>
            </a:extLst>
          </p:cNvPr>
          <p:cNvSpPr/>
          <p:nvPr/>
        </p:nvSpPr>
        <p:spPr>
          <a:xfrm>
            <a:off x="5452176" y="1992999"/>
            <a:ext cx="1278555" cy="276999"/>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200" b="1" i="0" u="none" strike="noStrike" kern="1200" cap="small" spc="300" normalizeH="0" baseline="0" noProof="0">
                <a:ln>
                  <a:noFill/>
                </a:ln>
                <a:solidFill>
                  <a:srgbClr val="545658"/>
                </a:solidFill>
                <a:effectLst/>
                <a:uLnTx/>
                <a:uFillTx/>
                <a:latin typeface="Trebuchet MS" panose="020B0703020202090204" pitchFamily="34" charset="0"/>
                <a:ea typeface="+mn-ea"/>
                <a:cs typeface="+mn-cs"/>
              </a:rPr>
              <a:t>Team Roles</a:t>
            </a:r>
          </a:p>
        </p:txBody>
      </p:sp>
      <p:grpSp>
        <p:nvGrpSpPr>
          <p:cNvPr id="44" name="Group 43">
            <a:extLst>
              <a:ext uri="{FF2B5EF4-FFF2-40B4-BE49-F238E27FC236}">
                <a16:creationId xmlns:a16="http://schemas.microsoft.com/office/drawing/2014/main" id="{1FF32828-7B48-DB45-074B-50D1F76F62A6}"/>
              </a:ext>
            </a:extLst>
          </p:cNvPr>
          <p:cNvGrpSpPr/>
          <p:nvPr/>
        </p:nvGrpSpPr>
        <p:grpSpPr>
          <a:xfrm>
            <a:off x="5249955" y="4970729"/>
            <a:ext cx="1604599" cy="942274"/>
            <a:chOff x="5173806" y="4960934"/>
            <a:chExt cx="1604599" cy="942274"/>
          </a:xfrm>
        </p:grpSpPr>
        <p:sp>
          <p:nvSpPr>
            <p:cNvPr id="45" name="Rectangle 44">
              <a:extLst>
                <a:ext uri="{FF2B5EF4-FFF2-40B4-BE49-F238E27FC236}">
                  <a16:creationId xmlns:a16="http://schemas.microsoft.com/office/drawing/2014/main" id="{C59080AB-1726-8AA3-E633-16311A629AB5}"/>
                </a:ext>
              </a:extLst>
            </p:cNvPr>
            <p:cNvSpPr/>
            <p:nvPr/>
          </p:nvSpPr>
          <p:spPr>
            <a:xfrm>
              <a:off x="5403148" y="5173705"/>
              <a:ext cx="778333"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Trebuchet MS" panose="020B0703020202090204" pitchFamily="34" charset="0"/>
                  <a:ea typeface="+mn-ea"/>
                  <a:cs typeface="+mn-cs"/>
                </a:rPr>
                <a:t>UX</a:t>
              </a:r>
            </a:p>
          </p:txBody>
        </p:sp>
        <p:sp>
          <p:nvSpPr>
            <p:cNvPr id="46" name="Rectangle 45">
              <a:extLst>
                <a:ext uri="{FF2B5EF4-FFF2-40B4-BE49-F238E27FC236}">
                  <a16:creationId xmlns:a16="http://schemas.microsoft.com/office/drawing/2014/main" id="{C6455E77-D758-56B3-7414-E20FB57CA6E1}"/>
                </a:ext>
              </a:extLst>
            </p:cNvPr>
            <p:cNvSpPr/>
            <p:nvPr/>
          </p:nvSpPr>
          <p:spPr>
            <a:xfrm>
              <a:off x="5173806" y="5395377"/>
              <a:ext cx="1604599" cy="507831"/>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effectLst/>
                  <a:uLnTx/>
                  <a:uFillTx/>
                  <a:latin typeface="Trebuchet MS" panose="020B0603020202020204" pitchFamily="34" charset="0"/>
                  <a:ea typeface="+mn-ea"/>
                  <a:cs typeface="+mn-cs"/>
                </a:rPr>
                <a:t>Provides guidance for end user functionality and experience </a:t>
              </a:r>
            </a:p>
          </p:txBody>
        </p:sp>
        <p:pic>
          <p:nvPicPr>
            <p:cNvPr id="47" name="Graphic 46" descr="Female Profile with solid fill">
              <a:extLst>
                <a:ext uri="{FF2B5EF4-FFF2-40B4-BE49-F238E27FC236}">
                  <a16:creationId xmlns:a16="http://schemas.microsoft.com/office/drawing/2014/main" id="{1BC17BA2-4469-F881-840C-52F87F49946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90993" y="4960934"/>
              <a:ext cx="506991" cy="506991"/>
            </a:xfrm>
            <a:prstGeom prst="rect">
              <a:avLst/>
            </a:prstGeom>
          </p:spPr>
        </p:pic>
      </p:grpSp>
      <p:pic>
        <p:nvPicPr>
          <p:cNvPr id="48" name="Graphic 47" descr="Continuous Improvement outline">
            <a:extLst>
              <a:ext uri="{FF2B5EF4-FFF2-40B4-BE49-F238E27FC236}">
                <a16:creationId xmlns:a16="http://schemas.microsoft.com/office/drawing/2014/main" id="{A43FC586-EA47-C3D7-F619-54F0FE8AAE9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014258" y="3008821"/>
            <a:ext cx="2159560" cy="2159560"/>
          </a:xfrm>
          <a:prstGeom prst="rect">
            <a:avLst/>
          </a:prstGeom>
        </p:spPr>
      </p:pic>
      <p:sp>
        <p:nvSpPr>
          <p:cNvPr id="49" name="Rectangle 48">
            <a:extLst>
              <a:ext uri="{FF2B5EF4-FFF2-40B4-BE49-F238E27FC236}">
                <a16:creationId xmlns:a16="http://schemas.microsoft.com/office/drawing/2014/main" id="{25B2AAF5-D22E-1B73-DA80-D8FD5DA22B68}"/>
              </a:ext>
            </a:extLst>
          </p:cNvPr>
          <p:cNvSpPr/>
          <p:nvPr/>
        </p:nvSpPr>
        <p:spPr>
          <a:xfrm>
            <a:off x="9901658" y="3159558"/>
            <a:ext cx="2218708" cy="507831"/>
          </a:xfrm>
          <a:prstGeom prst="rect">
            <a:avLst/>
          </a:prstGeom>
        </p:spPr>
        <p:txBody>
          <a:bodyPr wrap="square">
            <a:spAutoFit/>
          </a:bodyPr>
          <a:lstStyle/>
          <a:p>
            <a:pPr marL="108000" marR="0" lvl="1" indent="0" algn="l"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srgbClr val="545658"/>
                </a:solidFill>
                <a:effectLst/>
                <a:uLnTx/>
                <a:uFillTx/>
                <a:latin typeface="Trebuchet MS" panose="020B0603020202020204" pitchFamily="34" charset="0"/>
                <a:ea typeface="+mn-ea"/>
                <a:cs typeface="+mn-cs"/>
              </a:rPr>
              <a:t>Sit outside Agile construct and support teams to drive towards business outcomes</a:t>
            </a:r>
          </a:p>
        </p:txBody>
      </p:sp>
      <p:sp>
        <p:nvSpPr>
          <p:cNvPr id="50" name="Rectangle 49">
            <a:extLst>
              <a:ext uri="{FF2B5EF4-FFF2-40B4-BE49-F238E27FC236}">
                <a16:creationId xmlns:a16="http://schemas.microsoft.com/office/drawing/2014/main" id="{39BF3FE1-DB1E-7A7A-0FE2-9FC8858461B1}"/>
              </a:ext>
            </a:extLst>
          </p:cNvPr>
          <p:cNvSpPr/>
          <p:nvPr/>
        </p:nvSpPr>
        <p:spPr>
          <a:xfrm>
            <a:off x="9606777" y="6005664"/>
            <a:ext cx="182880" cy="146304"/>
          </a:xfrm>
          <a:prstGeom prst="rect">
            <a:avLst/>
          </a:prstGeom>
          <a:solidFill>
            <a:schemeClr val="accent1"/>
          </a:solidFill>
          <a:ln>
            <a:noFill/>
          </a:ln>
        </p:spPr>
        <p:style>
          <a:lnRef idx="1">
            <a:schemeClr val="accent1"/>
          </a:lnRef>
          <a:fillRef idx="0">
            <a:schemeClr val="accen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3D4045"/>
              </a:solidFill>
              <a:effectLst/>
              <a:uLnTx/>
              <a:uFillTx/>
              <a:latin typeface="Trebuchet MS" panose="020B0603020202020204"/>
              <a:ea typeface="+mn-ea"/>
              <a:cs typeface="+mn-cs"/>
            </a:endParaRPr>
          </a:p>
        </p:txBody>
      </p:sp>
      <p:sp>
        <p:nvSpPr>
          <p:cNvPr id="51" name="Rectangle 50">
            <a:extLst>
              <a:ext uri="{FF2B5EF4-FFF2-40B4-BE49-F238E27FC236}">
                <a16:creationId xmlns:a16="http://schemas.microsoft.com/office/drawing/2014/main" id="{A71261F2-16F4-F0E5-AAA2-A668E3C92512}"/>
              </a:ext>
            </a:extLst>
          </p:cNvPr>
          <p:cNvSpPr/>
          <p:nvPr/>
        </p:nvSpPr>
        <p:spPr>
          <a:xfrm>
            <a:off x="9606777" y="6287045"/>
            <a:ext cx="182880" cy="146304"/>
          </a:xfrm>
          <a:prstGeom prst="rect">
            <a:avLst/>
          </a:prstGeom>
          <a:solidFill>
            <a:schemeClr val="accent1">
              <a:lumMod val="50000"/>
            </a:schemeClr>
          </a:solidFill>
          <a:ln>
            <a:noFill/>
          </a:ln>
        </p:spPr>
        <p:style>
          <a:lnRef idx="1">
            <a:schemeClr val="accent1"/>
          </a:lnRef>
          <a:fillRef idx="0">
            <a:schemeClr val="accen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3D4045"/>
              </a:solidFill>
              <a:effectLst/>
              <a:uLnTx/>
              <a:uFillTx/>
              <a:latin typeface="Trebuchet MS" panose="020B0603020202020204"/>
              <a:ea typeface="+mn-ea"/>
              <a:cs typeface="+mn-cs"/>
            </a:endParaRPr>
          </a:p>
        </p:txBody>
      </p:sp>
      <p:sp>
        <p:nvSpPr>
          <p:cNvPr id="52" name="Rectangle 51">
            <a:extLst>
              <a:ext uri="{FF2B5EF4-FFF2-40B4-BE49-F238E27FC236}">
                <a16:creationId xmlns:a16="http://schemas.microsoft.com/office/drawing/2014/main" id="{92FDED05-9FEC-D8A2-BB06-8BC8571C9F27}"/>
              </a:ext>
            </a:extLst>
          </p:cNvPr>
          <p:cNvSpPr/>
          <p:nvPr/>
        </p:nvSpPr>
        <p:spPr>
          <a:xfrm>
            <a:off x="9652606" y="5965143"/>
            <a:ext cx="1559385" cy="507831"/>
          </a:xfrm>
          <a:prstGeom prst="rect">
            <a:avLst/>
          </a:prstGeom>
        </p:spPr>
        <p:txBody>
          <a:bodyPr wrap="square">
            <a:spAutoFit/>
          </a:bodyPr>
          <a:lstStyle/>
          <a:p>
            <a:pPr marL="108000" marR="0" lvl="1" indent="0" algn="l"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1" u="none" strike="noStrike" kern="1200" cap="none" spc="0" normalizeH="0" baseline="0" noProof="0">
                <a:ln>
                  <a:noFill/>
                </a:ln>
                <a:solidFill>
                  <a:srgbClr val="5B6770">
                    <a:lumMod val="100000"/>
                  </a:srgbClr>
                </a:solidFill>
                <a:effectLst/>
                <a:uLnTx/>
                <a:uFillTx/>
                <a:latin typeface="Trebuchet MS" panose="020B0603020202020204" pitchFamily="34" charset="0"/>
                <a:ea typeface="+mn-ea"/>
                <a:cs typeface="+mn-cs"/>
              </a:rPr>
              <a:t>Business Resource</a:t>
            </a:r>
          </a:p>
          <a:p>
            <a:pPr marL="108000" marR="0" lvl="1" indent="0" algn="l" defTabSz="914400" rtl="0" eaLnBrk="1" fontAlgn="auto" latinLnBrk="0" hangingPunct="1">
              <a:lnSpc>
                <a:spcPct val="100000"/>
              </a:lnSpc>
              <a:spcBef>
                <a:spcPts val="0"/>
              </a:spcBef>
              <a:spcAft>
                <a:spcPts val="0"/>
              </a:spcAft>
              <a:buClr>
                <a:srgbClr val="E51B24">
                  <a:lumMod val="100000"/>
                </a:srgbClr>
              </a:buClr>
              <a:buSzPct val="100000"/>
              <a:buFontTx/>
              <a:buNone/>
              <a:tabLst/>
              <a:defRPr/>
            </a:pPr>
            <a:endParaRPr kumimoji="0" lang="en-US" sz="900" b="0" i="1" u="none" strike="noStrike" kern="1200" cap="none" spc="0" normalizeH="0" baseline="0" noProof="0">
              <a:ln>
                <a:noFill/>
              </a:ln>
              <a:solidFill>
                <a:srgbClr val="5B6770">
                  <a:lumMod val="100000"/>
                </a:srgbClr>
              </a:solidFill>
              <a:effectLst/>
              <a:uLnTx/>
              <a:uFillTx/>
              <a:latin typeface="Trebuchet MS" panose="020B0603020202020204" pitchFamily="34" charset="0"/>
              <a:ea typeface="+mn-ea"/>
              <a:cs typeface="+mn-cs"/>
            </a:endParaRPr>
          </a:p>
          <a:p>
            <a:pPr marL="108000" marR="0" lvl="1" indent="0" algn="l"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1" u="none" strike="noStrike" kern="1200" cap="none" spc="0" normalizeH="0" baseline="0" noProof="0">
                <a:ln>
                  <a:noFill/>
                </a:ln>
                <a:solidFill>
                  <a:srgbClr val="5B6770">
                    <a:lumMod val="100000"/>
                  </a:srgbClr>
                </a:solidFill>
                <a:effectLst/>
                <a:uLnTx/>
                <a:uFillTx/>
                <a:latin typeface="Trebuchet MS" panose="020B0603020202020204" pitchFamily="34" charset="0"/>
                <a:ea typeface="+mn-ea"/>
                <a:cs typeface="+mn-cs"/>
              </a:rPr>
              <a:t>Technical Resource</a:t>
            </a:r>
          </a:p>
        </p:txBody>
      </p:sp>
      <p:sp>
        <p:nvSpPr>
          <p:cNvPr id="53" name="TextBox 52">
            <a:extLst>
              <a:ext uri="{FF2B5EF4-FFF2-40B4-BE49-F238E27FC236}">
                <a16:creationId xmlns:a16="http://schemas.microsoft.com/office/drawing/2014/main" id="{E65706E5-6946-4C8C-FD20-8F273602B74D}"/>
              </a:ext>
            </a:extLst>
          </p:cNvPr>
          <p:cNvSpPr txBox="1"/>
          <p:nvPr/>
        </p:nvSpPr>
        <p:spPr>
          <a:xfrm>
            <a:off x="805686" y="1121681"/>
            <a:ext cx="10530898"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D763C6"/>
                </a:solidFill>
                <a:effectLst/>
                <a:uLnTx/>
                <a:uFillTx/>
                <a:latin typeface="Trebuchet MS" panose="020B0603020202020204"/>
                <a:ea typeface="+mn-ea"/>
                <a:cs typeface="Arial" pitchFamily="34" charset="0"/>
              </a:rPr>
              <a:t>The ultimate working unit is the autonomous and empowered cross functional Agile Team chartered with specific business outcomes to advance the business strategy</a:t>
            </a:r>
            <a:endParaRPr kumimoji="0" lang="en-US" sz="1600" b="1" i="0" u="none" strike="noStrike" kern="1200" cap="none" spc="0" normalizeH="0" baseline="0" noProof="0">
              <a:ln>
                <a:noFill/>
              </a:ln>
              <a:solidFill>
                <a:srgbClr val="D763C6"/>
              </a:solidFill>
              <a:effectLst/>
              <a:uLnTx/>
              <a:uFillTx/>
              <a:latin typeface="Trebuchet MS" panose="020B0703020202090204" pitchFamily="34" charset="0"/>
              <a:ea typeface="+mn-ea"/>
              <a:cs typeface="Calibri" panose="020F0502020204030204" pitchFamily="34" charset="0"/>
            </a:endParaRPr>
          </a:p>
        </p:txBody>
      </p:sp>
      <p:sp>
        <p:nvSpPr>
          <p:cNvPr id="14" name="Title 3">
            <a:extLst>
              <a:ext uri="{FF2B5EF4-FFF2-40B4-BE49-F238E27FC236}">
                <a16:creationId xmlns:a16="http://schemas.microsoft.com/office/drawing/2014/main" id="{E2369092-C94A-2FD2-098B-130109F4E008}"/>
              </a:ext>
            </a:extLst>
          </p:cNvPr>
          <p:cNvSpPr txBox="1">
            <a:spLocks/>
          </p:cNvSpPr>
          <p:nvPr/>
        </p:nvSpPr>
        <p:spPr>
          <a:xfrm>
            <a:off x="184150" y="284162"/>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r>
              <a:rPr lang="en-US" sz="2800" cap="none">
                <a:solidFill>
                  <a:schemeClr val="tx1"/>
                </a:solidFill>
              </a:rPr>
              <a:t>Standard Agile Team Make-up</a:t>
            </a:r>
          </a:p>
        </p:txBody>
      </p:sp>
      <p:sp>
        <p:nvSpPr>
          <p:cNvPr id="60" name="TextBox 59">
            <a:extLst>
              <a:ext uri="{FF2B5EF4-FFF2-40B4-BE49-F238E27FC236}">
                <a16:creationId xmlns:a16="http://schemas.microsoft.com/office/drawing/2014/main" id="{2FC894D7-1418-0261-D3AB-E40152A4A1AE}"/>
              </a:ext>
            </a:extLst>
          </p:cNvPr>
          <p:cNvSpPr txBox="1"/>
          <p:nvPr/>
        </p:nvSpPr>
        <p:spPr>
          <a:xfrm>
            <a:off x="9921728" y="2261361"/>
            <a:ext cx="1609148" cy="430887"/>
          </a:xfrm>
          <a:prstGeom prst="rect">
            <a:avLst/>
          </a:prstGeom>
          <a:noFill/>
        </p:spPr>
        <p:txBody>
          <a:bodyPr wrap="square" rtlCol="0">
            <a:spAutoFit/>
          </a:bodyPr>
          <a:lstStyle/>
          <a:p>
            <a:r>
              <a:rPr lang="en-GB" sz="1100"/>
              <a:t>Technical delivery of business solution</a:t>
            </a:r>
            <a:endParaRPr lang="en-US" sz="1100"/>
          </a:p>
        </p:txBody>
      </p:sp>
      <p:sp>
        <p:nvSpPr>
          <p:cNvPr id="61" name="TextBox 60">
            <a:extLst>
              <a:ext uri="{FF2B5EF4-FFF2-40B4-BE49-F238E27FC236}">
                <a16:creationId xmlns:a16="http://schemas.microsoft.com/office/drawing/2014/main" id="{75E7DEAD-AB15-3364-204D-09556FA09F54}"/>
              </a:ext>
            </a:extLst>
          </p:cNvPr>
          <p:cNvSpPr txBox="1"/>
          <p:nvPr/>
        </p:nvSpPr>
        <p:spPr>
          <a:xfrm>
            <a:off x="8538082" y="1752075"/>
            <a:ext cx="1609148" cy="430887"/>
          </a:xfrm>
          <a:prstGeom prst="rect">
            <a:avLst/>
          </a:prstGeom>
          <a:noFill/>
        </p:spPr>
        <p:txBody>
          <a:bodyPr wrap="square" rtlCol="0">
            <a:spAutoFit/>
          </a:bodyPr>
          <a:lstStyle/>
          <a:p>
            <a:r>
              <a:rPr lang="en-GB" sz="1100" b="1"/>
              <a:t>Developers &amp; Testers</a:t>
            </a:r>
            <a:endParaRPr lang="en-US" sz="1100" b="1"/>
          </a:p>
        </p:txBody>
      </p:sp>
    </p:spTree>
    <p:extLst>
      <p:ext uri="{BB962C8B-B14F-4D97-AF65-F5344CB8AC3E}">
        <p14:creationId xmlns:p14="http://schemas.microsoft.com/office/powerpoint/2010/main" val="41124359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12ADF75B-A2AF-EC54-F144-3F275EC83A2C}"/>
              </a:ext>
            </a:extLst>
          </p:cNvPr>
          <p:cNvGrpSpPr/>
          <p:nvPr/>
        </p:nvGrpSpPr>
        <p:grpSpPr>
          <a:xfrm>
            <a:off x="12338" y="0"/>
            <a:ext cx="12297100" cy="6858000"/>
            <a:chOff x="0" y="0"/>
            <a:chExt cx="12297100" cy="6858000"/>
          </a:xfrm>
        </p:grpSpPr>
        <p:sp>
          <p:nvSpPr>
            <p:cNvPr id="47" name="Freeform: Shape 45">
              <a:extLst>
                <a:ext uri="{FF2B5EF4-FFF2-40B4-BE49-F238E27FC236}">
                  <a16:creationId xmlns:a16="http://schemas.microsoft.com/office/drawing/2014/main" id="{F462E875-B85B-4F81-842E-C7A4B444826C}"/>
                </a:ext>
              </a:extLst>
            </p:cNvPr>
            <p:cNvSpPr/>
            <p:nvPr/>
          </p:nvSpPr>
          <p:spPr>
            <a:xfrm flipV="1">
              <a:off x="4206046" y="0"/>
              <a:ext cx="8091054" cy="6858000"/>
            </a:xfrm>
            <a:custGeom>
              <a:avLst/>
              <a:gdLst>
                <a:gd name="connsiteX0" fmla="*/ 3699163 w 8091054"/>
                <a:gd name="connsiteY0" fmla="*/ 0 h 6858000"/>
                <a:gd name="connsiteX1" fmla="*/ 8091054 w 8091054"/>
                <a:gd name="connsiteY1" fmla="*/ 0 h 6858000"/>
                <a:gd name="connsiteX2" fmla="*/ 8091054 w 8091054"/>
                <a:gd name="connsiteY2" fmla="*/ 6858000 h 6858000"/>
                <a:gd name="connsiteX3" fmla="*/ 3699163 w 8091054"/>
                <a:gd name="connsiteY3" fmla="*/ 6858000 h 6858000"/>
                <a:gd name="connsiteX4" fmla="*/ 3699162 w 8091054"/>
                <a:gd name="connsiteY4" fmla="*/ 0 h 6858000"/>
                <a:gd name="connsiteX5" fmla="*/ 3699162 w 8091054"/>
                <a:gd name="connsiteY5" fmla="*/ 6858000 h 6858000"/>
                <a:gd name="connsiteX6" fmla="*/ 0 w 80910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91054" h="6858000">
                  <a:moveTo>
                    <a:pt x="3699163" y="0"/>
                  </a:moveTo>
                  <a:lnTo>
                    <a:pt x="8091054" y="0"/>
                  </a:lnTo>
                  <a:lnTo>
                    <a:pt x="8091054" y="6858000"/>
                  </a:lnTo>
                  <a:lnTo>
                    <a:pt x="3699163" y="6858000"/>
                  </a:lnTo>
                  <a:close/>
                  <a:moveTo>
                    <a:pt x="3699162" y="0"/>
                  </a:moveTo>
                  <a:lnTo>
                    <a:pt x="3699162" y="6858000"/>
                  </a:lnTo>
                  <a:lnTo>
                    <a:pt x="0" y="685800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0" tIns="45720" rIns="72000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endParaRPr>
            </a:p>
          </p:txBody>
        </p:sp>
        <p:sp>
          <p:nvSpPr>
            <p:cNvPr id="46" name="Freeform: Shape 45">
              <a:extLst>
                <a:ext uri="{FF2B5EF4-FFF2-40B4-BE49-F238E27FC236}">
                  <a16:creationId xmlns:a16="http://schemas.microsoft.com/office/drawing/2014/main" id="{F462E875-B85B-4F81-842E-C7A4B444826C}"/>
                </a:ext>
              </a:extLst>
            </p:cNvPr>
            <p:cNvSpPr/>
            <p:nvPr/>
          </p:nvSpPr>
          <p:spPr>
            <a:xfrm rot="10800000" flipV="1">
              <a:off x="0" y="0"/>
              <a:ext cx="8091054" cy="6858000"/>
            </a:xfrm>
            <a:custGeom>
              <a:avLst/>
              <a:gdLst>
                <a:gd name="connsiteX0" fmla="*/ 3699163 w 8091054"/>
                <a:gd name="connsiteY0" fmla="*/ 0 h 6858000"/>
                <a:gd name="connsiteX1" fmla="*/ 8091054 w 8091054"/>
                <a:gd name="connsiteY1" fmla="*/ 0 h 6858000"/>
                <a:gd name="connsiteX2" fmla="*/ 8091054 w 8091054"/>
                <a:gd name="connsiteY2" fmla="*/ 6858000 h 6858000"/>
                <a:gd name="connsiteX3" fmla="*/ 3699163 w 8091054"/>
                <a:gd name="connsiteY3" fmla="*/ 6858000 h 6858000"/>
                <a:gd name="connsiteX4" fmla="*/ 3699162 w 8091054"/>
                <a:gd name="connsiteY4" fmla="*/ 0 h 6858000"/>
                <a:gd name="connsiteX5" fmla="*/ 3699162 w 8091054"/>
                <a:gd name="connsiteY5" fmla="*/ 6858000 h 6858000"/>
                <a:gd name="connsiteX6" fmla="*/ 0 w 80910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91054" h="6858000">
                  <a:moveTo>
                    <a:pt x="3699163" y="0"/>
                  </a:moveTo>
                  <a:lnTo>
                    <a:pt x="8091054" y="0"/>
                  </a:lnTo>
                  <a:lnTo>
                    <a:pt x="8091054" y="6858000"/>
                  </a:lnTo>
                  <a:lnTo>
                    <a:pt x="3699163" y="6858000"/>
                  </a:lnTo>
                  <a:close/>
                  <a:moveTo>
                    <a:pt x="3699162" y="0"/>
                  </a:moveTo>
                  <a:lnTo>
                    <a:pt x="3699162" y="6858000"/>
                  </a:lnTo>
                  <a:lnTo>
                    <a:pt x="0" y="6858000"/>
                  </a:lnTo>
                  <a:close/>
                </a:path>
              </a:pathLst>
            </a:cu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0" tIns="45720" rIns="72000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endParaRPr>
            </a:p>
          </p:txBody>
        </p:sp>
      </p:grpSp>
      <p:sp>
        <p:nvSpPr>
          <p:cNvPr id="59" name="Oval 58"/>
          <p:cNvSpPr>
            <a:spLocks noChangeAspect="1"/>
          </p:cNvSpPr>
          <p:nvPr/>
        </p:nvSpPr>
        <p:spPr>
          <a:xfrm flipH="1">
            <a:off x="6425308" y="2251244"/>
            <a:ext cx="965292" cy="965292"/>
          </a:xfrm>
          <a:prstGeom prst="ellipse">
            <a:avLst/>
          </a:prstGeom>
          <a:solidFill>
            <a:schemeClr val="accent4"/>
          </a:solidFill>
          <a:ln>
            <a:solidFill>
              <a:schemeClr val="l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0" name="TextBox 59"/>
          <p:cNvSpPr txBox="1"/>
          <p:nvPr/>
        </p:nvSpPr>
        <p:spPr>
          <a:xfrm flipH="1">
            <a:off x="7582249" y="2503058"/>
            <a:ext cx="3515056" cy="461665"/>
          </a:xfrm>
          <a:prstGeom prst="rect">
            <a:avLst/>
          </a:prstGeom>
          <a:noFill/>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GB" sz="2400" b="1" kern="0">
                <a:solidFill>
                  <a:schemeClr val="lt1"/>
                </a:solidFill>
                <a:latin typeface="+mj-lt"/>
              </a:rPr>
              <a:t>B</a:t>
            </a:r>
            <a:r>
              <a:rPr lang="en-US" sz="2400" b="1" kern="0" err="1">
                <a:solidFill>
                  <a:schemeClr val="lt1"/>
                </a:solidFill>
                <a:latin typeface="+mj-lt"/>
              </a:rPr>
              <a:t>acklog</a:t>
            </a:r>
            <a:r>
              <a:rPr lang="en-US" sz="2400" b="1" kern="0">
                <a:solidFill>
                  <a:schemeClr val="lt1"/>
                </a:solidFill>
                <a:latin typeface="+mj-lt"/>
              </a:rPr>
              <a:t> Construct</a:t>
            </a:r>
            <a:endParaRPr kumimoji="0" lang="en-US" sz="2400" b="1" i="0" u="none" strike="noStrike" kern="0" cap="none" spc="0" normalizeH="0" baseline="0" noProof="0">
              <a:ln>
                <a:noFill/>
              </a:ln>
              <a:solidFill>
                <a:schemeClr val="lt1"/>
              </a:solidFill>
              <a:effectLst/>
              <a:uLnTx/>
              <a:uFillTx/>
              <a:latin typeface="+mj-lt"/>
            </a:endParaRPr>
          </a:p>
        </p:txBody>
      </p:sp>
      <p:grpSp>
        <p:nvGrpSpPr>
          <p:cNvPr id="17" name="Construction3" descr="{&quot;Key&quot;:&quot;POWER_USER_SHAPE_ICON&quot;,&quot;Value&quot;:&quot;POWER_USER_SHAPE_ICON_STYLE_1&quot;}">
            <a:extLst>
              <a:ext uri="{FF2B5EF4-FFF2-40B4-BE49-F238E27FC236}">
                <a16:creationId xmlns:a16="http://schemas.microsoft.com/office/drawing/2014/main" id="{DD9748D4-A055-DA42-3552-A6CEF85C3CF2}"/>
              </a:ext>
            </a:extLst>
          </p:cNvPr>
          <p:cNvGrpSpPr>
            <a:grpSpLocks noChangeAspect="1"/>
          </p:cNvGrpSpPr>
          <p:nvPr/>
        </p:nvGrpSpPr>
        <p:grpSpPr>
          <a:xfrm>
            <a:off x="6593322" y="2303287"/>
            <a:ext cx="637539" cy="762000"/>
            <a:chOff x="8158164" y="1847851"/>
            <a:chExt cx="398462" cy="476250"/>
          </a:xfrm>
          <a:solidFill>
            <a:schemeClr val="bg1"/>
          </a:solidFill>
        </p:grpSpPr>
        <p:sp>
          <p:nvSpPr>
            <p:cNvPr id="18" name="Freeform 527">
              <a:extLst>
                <a:ext uri="{FF2B5EF4-FFF2-40B4-BE49-F238E27FC236}">
                  <a16:creationId xmlns:a16="http://schemas.microsoft.com/office/drawing/2014/main" id="{3645B7FD-5351-20B8-228F-26BC91F7B584}"/>
                </a:ext>
              </a:extLst>
            </p:cNvPr>
            <p:cNvSpPr>
              <a:spLocks/>
            </p:cNvSpPr>
            <p:nvPr/>
          </p:nvSpPr>
          <p:spPr bwMode="auto">
            <a:xfrm>
              <a:off x="8394701" y="2117726"/>
              <a:ext cx="161925" cy="204788"/>
            </a:xfrm>
            <a:custGeom>
              <a:avLst/>
              <a:gdLst>
                <a:gd name="T0" fmla="*/ 202 w 202"/>
                <a:gd name="T1" fmla="*/ 255 h 255"/>
                <a:gd name="T2" fmla="*/ 185 w 202"/>
                <a:gd name="T3" fmla="*/ 255 h 255"/>
                <a:gd name="T4" fmla="*/ 185 w 202"/>
                <a:gd name="T5" fmla="*/ 170 h 255"/>
                <a:gd name="T6" fmla="*/ 127 w 202"/>
                <a:gd name="T7" fmla="*/ 104 h 255"/>
                <a:gd name="T8" fmla="*/ 51 w 202"/>
                <a:gd name="T9" fmla="*/ 81 h 255"/>
                <a:gd name="T10" fmla="*/ 25 w 202"/>
                <a:gd name="T11" fmla="*/ 67 h 255"/>
                <a:gd name="T12" fmla="*/ 0 w 202"/>
                <a:gd name="T13" fmla="*/ 12 h 255"/>
                <a:gd name="T14" fmla="*/ 0 w 202"/>
                <a:gd name="T15" fmla="*/ 0 h 255"/>
                <a:gd name="T16" fmla="*/ 16 w 202"/>
                <a:gd name="T17" fmla="*/ 0 h 255"/>
                <a:gd name="T18" fmla="*/ 16 w 202"/>
                <a:gd name="T19" fmla="*/ 12 h 255"/>
                <a:gd name="T20" fmla="*/ 36 w 202"/>
                <a:gd name="T21" fmla="*/ 55 h 255"/>
                <a:gd name="T22" fmla="*/ 56 w 202"/>
                <a:gd name="T23" fmla="*/ 65 h 255"/>
                <a:gd name="T24" fmla="*/ 131 w 202"/>
                <a:gd name="T25" fmla="*/ 88 h 255"/>
                <a:gd name="T26" fmla="*/ 202 w 202"/>
                <a:gd name="T27" fmla="*/ 168 h 255"/>
                <a:gd name="T28" fmla="*/ 202 w 202"/>
                <a:gd name="T29" fmla="*/ 255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2" h="255">
                  <a:moveTo>
                    <a:pt x="202" y="255"/>
                  </a:moveTo>
                  <a:lnTo>
                    <a:pt x="185" y="255"/>
                  </a:lnTo>
                  <a:lnTo>
                    <a:pt x="185" y="170"/>
                  </a:lnTo>
                  <a:cubicBezTo>
                    <a:pt x="180" y="140"/>
                    <a:pt x="157" y="113"/>
                    <a:pt x="127" y="104"/>
                  </a:cubicBezTo>
                  <a:lnTo>
                    <a:pt x="51" y="81"/>
                  </a:lnTo>
                  <a:cubicBezTo>
                    <a:pt x="42" y="78"/>
                    <a:pt x="33" y="74"/>
                    <a:pt x="25" y="67"/>
                  </a:cubicBezTo>
                  <a:cubicBezTo>
                    <a:pt x="9" y="53"/>
                    <a:pt x="0" y="33"/>
                    <a:pt x="0" y="12"/>
                  </a:cubicBezTo>
                  <a:lnTo>
                    <a:pt x="0" y="0"/>
                  </a:lnTo>
                  <a:lnTo>
                    <a:pt x="16" y="0"/>
                  </a:lnTo>
                  <a:lnTo>
                    <a:pt x="16" y="12"/>
                  </a:lnTo>
                  <a:cubicBezTo>
                    <a:pt x="16" y="28"/>
                    <a:pt x="24" y="44"/>
                    <a:pt x="36" y="55"/>
                  </a:cubicBezTo>
                  <a:cubicBezTo>
                    <a:pt x="42" y="59"/>
                    <a:pt x="49" y="63"/>
                    <a:pt x="56" y="65"/>
                  </a:cubicBezTo>
                  <a:lnTo>
                    <a:pt x="131" y="88"/>
                  </a:lnTo>
                  <a:cubicBezTo>
                    <a:pt x="168" y="99"/>
                    <a:pt x="196" y="131"/>
                    <a:pt x="202" y="168"/>
                  </a:cubicBezTo>
                  <a:lnTo>
                    <a:pt x="202" y="255"/>
                  </a:ln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Freeform 528">
              <a:extLst>
                <a:ext uri="{FF2B5EF4-FFF2-40B4-BE49-F238E27FC236}">
                  <a16:creationId xmlns:a16="http://schemas.microsoft.com/office/drawing/2014/main" id="{82573032-E37E-54C6-F4C9-43BC862ABE81}"/>
                </a:ext>
              </a:extLst>
            </p:cNvPr>
            <p:cNvSpPr>
              <a:spLocks/>
            </p:cNvSpPr>
            <p:nvPr/>
          </p:nvSpPr>
          <p:spPr bwMode="auto">
            <a:xfrm>
              <a:off x="8158164" y="2117726"/>
              <a:ext cx="161925" cy="204788"/>
            </a:xfrm>
            <a:custGeom>
              <a:avLst/>
              <a:gdLst>
                <a:gd name="T0" fmla="*/ 16 w 202"/>
                <a:gd name="T1" fmla="*/ 255 h 255"/>
                <a:gd name="T2" fmla="*/ 0 w 202"/>
                <a:gd name="T3" fmla="*/ 255 h 255"/>
                <a:gd name="T4" fmla="*/ 0 w 202"/>
                <a:gd name="T5" fmla="*/ 171 h 255"/>
                <a:gd name="T6" fmla="*/ 70 w 202"/>
                <a:gd name="T7" fmla="*/ 88 h 255"/>
                <a:gd name="T8" fmla="*/ 145 w 202"/>
                <a:gd name="T9" fmla="*/ 65 h 255"/>
                <a:gd name="T10" fmla="*/ 166 w 202"/>
                <a:gd name="T11" fmla="*/ 54 h 255"/>
                <a:gd name="T12" fmla="*/ 185 w 202"/>
                <a:gd name="T13" fmla="*/ 11 h 255"/>
                <a:gd name="T14" fmla="*/ 185 w 202"/>
                <a:gd name="T15" fmla="*/ 0 h 255"/>
                <a:gd name="T16" fmla="*/ 202 w 202"/>
                <a:gd name="T17" fmla="*/ 0 h 255"/>
                <a:gd name="T18" fmla="*/ 202 w 202"/>
                <a:gd name="T19" fmla="*/ 11 h 255"/>
                <a:gd name="T20" fmla="*/ 177 w 202"/>
                <a:gd name="T21" fmla="*/ 66 h 255"/>
                <a:gd name="T22" fmla="*/ 150 w 202"/>
                <a:gd name="T23" fmla="*/ 81 h 255"/>
                <a:gd name="T24" fmla="*/ 75 w 202"/>
                <a:gd name="T25" fmla="*/ 104 h 255"/>
                <a:gd name="T26" fmla="*/ 16 w 202"/>
                <a:gd name="T27" fmla="*/ 173 h 255"/>
                <a:gd name="T28" fmla="*/ 16 w 202"/>
                <a:gd name="T29" fmla="*/ 255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2" h="255">
                  <a:moveTo>
                    <a:pt x="16" y="255"/>
                  </a:moveTo>
                  <a:lnTo>
                    <a:pt x="0" y="255"/>
                  </a:lnTo>
                  <a:lnTo>
                    <a:pt x="0" y="171"/>
                  </a:lnTo>
                  <a:cubicBezTo>
                    <a:pt x="5" y="132"/>
                    <a:pt x="33" y="99"/>
                    <a:pt x="70" y="88"/>
                  </a:cubicBezTo>
                  <a:lnTo>
                    <a:pt x="145" y="65"/>
                  </a:lnTo>
                  <a:cubicBezTo>
                    <a:pt x="153" y="63"/>
                    <a:pt x="160" y="59"/>
                    <a:pt x="166" y="54"/>
                  </a:cubicBezTo>
                  <a:cubicBezTo>
                    <a:pt x="178" y="43"/>
                    <a:pt x="185" y="28"/>
                    <a:pt x="185" y="11"/>
                  </a:cubicBezTo>
                  <a:lnTo>
                    <a:pt x="185" y="0"/>
                  </a:lnTo>
                  <a:lnTo>
                    <a:pt x="202" y="0"/>
                  </a:lnTo>
                  <a:lnTo>
                    <a:pt x="202" y="11"/>
                  </a:lnTo>
                  <a:cubicBezTo>
                    <a:pt x="202" y="32"/>
                    <a:pt x="193" y="52"/>
                    <a:pt x="177" y="66"/>
                  </a:cubicBezTo>
                  <a:cubicBezTo>
                    <a:pt x="169" y="73"/>
                    <a:pt x="160" y="78"/>
                    <a:pt x="150" y="81"/>
                  </a:cubicBezTo>
                  <a:lnTo>
                    <a:pt x="75" y="104"/>
                  </a:lnTo>
                  <a:cubicBezTo>
                    <a:pt x="44" y="113"/>
                    <a:pt x="21" y="140"/>
                    <a:pt x="16" y="173"/>
                  </a:cubicBezTo>
                  <a:lnTo>
                    <a:pt x="16" y="255"/>
                  </a:ln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Freeform 529">
              <a:extLst>
                <a:ext uri="{FF2B5EF4-FFF2-40B4-BE49-F238E27FC236}">
                  <a16:creationId xmlns:a16="http://schemas.microsoft.com/office/drawing/2014/main" id="{9DDF10D7-B267-2976-F1CA-9B29C84DA8CA}"/>
                </a:ext>
              </a:extLst>
            </p:cNvPr>
            <p:cNvSpPr>
              <a:spLocks/>
            </p:cNvSpPr>
            <p:nvPr/>
          </p:nvSpPr>
          <p:spPr bwMode="auto">
            <a:xfrm>
              <a:off x="8274051" y="1985963"/>
              <a:ext cx="165100" cy="158750"/>
            </a:xfrm>
            <a:custGeom>
              <a:avLst/>
              <a:gdLst>
                <a:gd name="T0" fmla="*/ 102 w 204"/>
                <a:gd name="T1" fmla="*/ 198 h 198"/>
                <a:gd name="T2" fmla="*/ 66 w 204"/>
                <a:gd name="T3" fmla="*/ 188 h 198"/>
                <a:gd name="T4" fmla="*/ 0 w 204"/>
                <a:gd name="T5" fmla="*/ 105 h 198"/>
                <a:gd name="T6" fmla="*/ 0 w 204"/>
                <a:gd name="T7" fmla="*/ 0 h 198"/>
                <a:gd name="T8" fmla="*/ 17 w 204"/>
                <a:gd name="T9" fmla="*/ 0 h 198"/>
                <a:gd name="T10" fmla="*/ 17 w 204"/>
                <a:gd name="T11" fmla="*/ 105 h 198"/>
                <a:gd name="T12" fmla="*/ 75 w 204"/>
                <a:gd name="T13" fmla="*/ 174 h 198"/>
                <a:gd name="T14" fmla="*/ 129 w 204"/>
                <a:gd name="T15" fmla="*/ 174 h 198"/>
                <a:gd name="T16" fmla="*/ 188 w 204"/>
                <a:gd name="T17" fmla="*/ 105 h 198"/>
                <a:gd name="T18" fmla="*/ 188 w 204"/>
                <a:gd name="T19" fmla="*/ 0 h 198"/>
                <a:gd name="T20" fmla="*/ 204 w 204"/>
                <a:gd name="T21" fmla="*/ 0 h 198"/>
                <a:gd name="T22" fmla="*/ 204 w 204"/>
                <a:gd name="T23" fmla="*/ 105 h 198"/>
                <a:gd name="T24" fmla="*/ 138 w 204"/>
                <a:gd name="T25" fmla="*/ 188 h 198"/>
                <a:gd name="T26" fmla="*/ 102 w 204"/>
                <a:gd name="T27" fmla="*/ 19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4" h="198">
                  <a:moveTo>
                    <a:pt x="102" y="198"/>
                  </a:moveTo>
                  <a:cubicBezTo>
                    <a:pt x="90" y="198"/>
                    <a:pt x="77" y="195"/>
                    <a:pt x="66" y="188"/>
                  </a:cubicBezTo>
                  <a:cubicBezTo>
                    <a:pt x="36" y="169"/>
                    <a:pt x="0" y="140"/>
                    <a:pt x="0" y="105"/>
                  </a:cubicBezTo>
                  <a:lnTo>
                    <a:pt x="0" y="0"/>
                  </a:lnTo>
                  <a:lnTo>
                    <a:pt x="17" y="0"/>
                  </a:lnTo>
                  <a:lnTo>
                    <a:pt x="17" y="105"/>
                  </a:lnTo>
                  <a:cubicBezTo>
                    <a:pt x="17" y="133"/>
                    <a:pt x="53" y="160"/>
                    <a:pt x="75" y="174"/>
                  </a:cubicBezTo>
                  <a:cubicBezTo>
                    <a:pt x="92" y="184"/>
                    <a:pt x="113" y="184"/>
                    <a:pt x="129" y="174"/>
                  </a:cubicBezTo>
                  <a:cubicBezTo>
                    <a:pt x="151" y="160"/>
                    <a:pt x="188" y="133"/>
                    <a:pt x="188" y="105"/>
                  </a:cubicBezTo>
                  <a:lnTo>
                    <a:pt x="188" y="0"/>
                  </a:lnTo>
                  <a:lnTo>
                    <a:pt x="204" y="0"/>
                  </a:lnTo>
                  <a:lnTo>
                    <a:pt x="204" y="105"/>
                  </a:lnTo>
                  <a:cubicBezTo>
                    <a:pt x="204" y="140"/>
                    <a:pt x="168" y="169"/>
                    <a:pt x="138" y="188"/>
                  </a:cubicBezTo>
                  <a:cubicBezTo>
                    <a:pt x="127" y="195"/>
                    <a:pt x="115" y="198"/>
                    <a:pt x="102" y="198"/>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Freeform 530">
              <a:extLst>
                <a:ext uri="{FF2B5EF4-FFF2-40B4-BE49-F238E27FC236}">
                  <a16:creationId xmlns:a16="http://schemas.microsoft.com/office/drawing/2014/main" id="{0582B724-D10C-11E8-9FF4-8DA1E29502A9}"/>
                </a:ext>
              </a:extLst>
            </p:cNvPr>
            <p:cNvSpPr>
              <a:spLocks noEditPoints="1"/>
            </p:cNvSpPr>
            <p:nvPr/>
          </p:nvSpPr>
          <p:spPr bwMode="auto">
            <a:xfrm>
              <a:off x="8248651" y="1847851"/>
              <a:ext cx="217488" cy="144463"/>
            </a:xfrm>
            <a:custGeom>
              <a:avLst/>
              <a:gdLst>
                <a:gd name="T0" fmla="*/ 17 w 269"/>
                <a:gd name="T1" fmla="*/ 162 h 179"/>
                <a:gd name="T2" fmla="*/ 252 w 269"/>
                <a:gd name="T3" fmla="*/ 162 h 179"/>
                <a:gd name="T4" fmla="*/ 252 w 269"/>
                <a:gd name="T5" fmla="*/ 134 h 179"/>
                <a:gd name="T6" fmla="*/ 134 w 269"/>
                <a:gd name="T7" fmla="*/ 16 h 179"/>
                <a:gd name="T8" fmla="*/ 17 w 269"/>
                <a:gd name="T9" fmla="*/ 134 h 179"/>
                <a:gd name="T10" fmla="*/ 17 w 269"/>
                <a:gd name="T11" fmla="*/ 162 h 179"/>
                <a:gd name="T12" fmla="*/ 269 w 269"/>
                <a:gd name="T13" fmla="*/ 179 h 179"/>
                <a:gd name="T14" fmla="*/ 0 w 269"/>
                <a:gd name="T15" fmla="*/ 179 h 179"/>
                <a:gd name="T16" fmla="*/ 0 w 269"/>
                <a:gd name="T17" fmla="*/ 134 h 179"/>
                <a:gd name="T18" fmla="*/ 134 w 269"/>
                <a:gd name="T19" fmla="*/ 0 h 179"/>
                <a:gd name="T20" fmla="*/ 269 w 269"/>
                <a:gd name="T21" fmla="*/ 134 h 179"/>
                <a:gd name="T22" fmla="*/ 269 w 269"/>
                <a:gd name="T23" fmla="*/ 17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9" h="179">
                  <a:moveTo>
                    <a:pt x="17" y="162"/>
                  </a:moveTo>
                  <a:lnTo>
                    <a:pt x="252" y="162"/>
                  </a:lnTo>
                  <a:lnTo>
                    <a:pt x="252" y="134"/>
                  </a:lnTo>
                  <a:cubicBezTo>
                    <a:pt x="252" y="69"/>
                    <a:pt x="199" y="16"/>
                    <a:pt x="134" y="16"/>
                  </a:cubicBezTo>
                  <a:cubicBezTo>
                    <a:pt x="69" y="16"/>
                    <a:pt x="17" y="69"/>
                    <a:pt x="17" y="134"/>
                  </a:cubicBezTo>
                  <a:lnTo>
                    <a:pt x="17" y="162"/>
                  </a:lnTo>
                  <a:close/>
                  <a:moveTo>
                    <a:pt x="269" y="179"/>
                  </a:moveTo>
                  <a:lnTo>
                    <a:pt x="0" y="179"/>
                  </a:lnTo>
                  <a:lnTo>
                    <a:pt x="0" y="134"/>
                  </a:lnTo>
                  <a:cubicBezTo>
                    <a:pt x="0" y="60"/>
                    <a:pt x="60" y="0"/>
                    <a:pt x="134" y="0"/>
                  </a:cubicBezTo>
                  <a:cubicBezTo>
                    <a:pt x="208" y="0"/>
                    <a:pt x="269" y="60"/>
                    <a:pt x="269" y="134"/>
                  </a:cubicBezTo>
                  <a:lnTo>
                    <a:pt x="269" y="17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Rectangle 531">
              <a:extLst>
                <a:ext uri="{FF2B5EF4-FFF2-40B4-BE49-F238E27FC236}">
                  <a16:creationId xmlns:a16="http://schemas.microsoft.com/office/drawing/2014/main" id="{431ADCCD-B8E8-A677-9A5D-58CAF438D5BB}"/>
                </a:ext>
              </a:extLst>
            </p:cNvPr>
            <p:cNvSpPr>
              <a:spLocks noChangeArrowheads="1"/>
            </p:cNvSpPr>
            <p:nvPr/>
          </p:nvSpPr>
          <p:spPr bwMode="auto">
            <a:xfrm>
              <a:off x="8237539" y="1978026"/>
              <a:ext cx="236538" cy="14288"/>
            </a:xfrm>
            <a:prstGeom prst="rect">
              <a:avLst/>
            </a:prstGeom>
            <a:grpFill/>
            <a:ln w="9525">
              <a:solidFill>
                <a:schemeClr val="bg1"/>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Freeform 532">
              <a:extLst>
                <a:ext uri="{FF2B5EF4-FFF2-40B4-BE49-F238E27FC236}">
                  <a16:creationId xmlns:a16="http://schemas.microsoft.com/office/drawing/2014/main" id="{766A74CB-A0C2-BA69-1872-44D1AB1164D5}"/>
                </a:ext>
              </a:extLst>
            </p:cNvPr>
            <p:cNvSpPr>
              <a:spLocks/>
            </p:cNvSpPr>
            <p:nvPr/>
          </p:nvSpPr>
          <p:spPr bwMode="auto">
            <a:xfrm>
              <a:off x="8335964" y="1854201"/>
              <a:ext cx="42863" cy="71438"/>
            </a:xfrm>
            <a:custGeom>
              <a:avLst/>
              <a:gdLst>
                <a:gd name="T0" fmla="*/ 27 w 27"/>
                <a:gd name="T1" fmla="*/ 45 h 45"/>
                <a:gd name="T2" fmla="*/ 0 w 27"/>
                <a:gd name="T3" fmla="*/ 45 h 45"/>
                <a:gd name="T4" fmla="*/ 0 w 27"/>
                <a:gd name="T5" fmla="*/ 0 h 45"/>
                <a:gd name="T6" fmla="*/ 8 w 27"/>
                <a:gd name="T7" fmla="*/ 0 h 45"/>
                <a:gd name="T8" fmla="*/ 8 w 27"/>
                <a:gd name="T9" fmla="*/ 37 h 45"/>
                <a:gd name="T10" fmla="*/ 18 w 27"/>
                <a:gd name="T11" fmla="*/ 37 h 45"/>
                <a:gd name="T12" fmla="*/ 18 w 27"/>
                <a:gd name="T13" fmla="*/ 0 h 45"/>
                <a:gd name="T14" fmla="*/ 27 w 27"/>
                <a:gd name="T15" fmla="*/ 0 h 45"/>
                <a:gd name="T16" fmla="*/ 27 w 27"/>
                <a:gd name="T17"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45">
                  <a:moveTo>
                    <a:pt x="27" y="45"/>
                  </a:moveTo>
                  <a:lnTo>
                    <a:pt x="0" y="45"/>
                  </a:lnTo>
                  <a:lnTo>
                    <a:pt x="0" y="0"/>
                  </a:lnTo>
                  <a:lnTo>
                    <a:pt x="8" y="0"/>
                  </a:lnTo>
                  <a:lnTo>
                    <a:pt x="8" y="37"/>
                  </a:lnTo>
                  <a:lnTo>
                    <a:pt x="18" y="37"/>
                  </a:lnTo>
                  <a:lnTo>
                    <a:pt x="18" y="0"/>
                  </a:lnTo>
                  <a:lnTo>
                    <a:pt x="27" y="0"/>
                  </a:lnTo>
                  <a:lnTo>
                    <a:pt x="27" y="45"/>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Rectangle 533">
              <a:extLst>
                <a:ext uri="{FF2B5EF4-FFF2-40B4-BE49-F238E27FC236}">
                  <a16:creationId xmlns:a16="http://schemas.microsoft.com/office/drawing/2014/main" id="{CD866836-C332-4B8E-E44B-EFDEA2DC132B}"/>
                </a:ext>
              </a:extLst>
            </p:cNvPr>
            <p:cNvSpPr>
              <a:spLocks noChangeArrowheads="1"/>
            </p:cNvSpPr>
            <p:nvPr/>
          </p:nvSpPr>
          <p:spPr bwMode="auto">
            <a:xfrm>
              <a:off x="8216901" y="2192338"/>
              <a:ext cx="14288" cy="130175"/>
            </a:xfrm>
            <a:prstGeom prst="rect">
              <a:avLst/>
            </a:prstGeom>
            <a:grpFill/>
            <a:ln w="9525">
              <a:solidFill>
                <a:schemeClr val="bg1"/>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Freeform 534">
              <a:extLst>
                <a:ext uri="{FF2B5EF4-FFF2-40B4-BE49-F238E27FC236}">
                  <a16:creationId xmlns:a16="http://schemas.microsoft.com/office/drawing/2014/main" id="{A67292ED-2302-411E-CA00-9C1A5F57BAD0}"/>
                </a:ext>
              </a:extLst>
            </p:cNvPr>
            <p:cNvSpPr>
              <a:spLocks/>
            </p:cNvSpPr>
            <p:nvPr/>
          </p:nvSpPr>
          <p:spPr bwMode="auto">
            <a:xfrm>
              <a:off x="8251826" y="2179638"/>
              <a:ext cx="211138" cy="93663"/>
            </a:xfrm>
            <a:custGeom>
              <a:avLst/>
              <a:gdLst>
                <a:gd name="T0" fmla="*/ 115 w 133"/>
                <a:gd name="T1" fmla="*/ 59 h 59"/>
                <a:gd name="T2" fmla="*/ 18 w 133"/>
                <a:gd name="T3" fmla="*/ 59 h 59"/>
                <a:gd name="T4" fmla="*/ 0 w 133"/>
                <a:gd name="T5" fmla="*/ 3 h 59"/>
                <a:gd name="T6" fmla="*/ 7 w 133"/>
                <a:gd name="T7" fmla="*/ 0 h 59"/>
                <a:gd name="T8" fmla="*/ 24 w 133"/>
                <a:gd name="T9" fmla="*/ 50 h 59"/>
                <a:gd name="T10" fmla="*/ 109 w 133"/>
                <a:gd name="T11" fmla="*/ 50 h 59"/>
                <a:gd name="T12" fmla="*/ 125 w 133"/>
                <a:gd name="T13" fmla="*/ 0 h 59"/>
                <a:gd name="T14" fmla="*/ 133 w 133"/>
                <a:gd name="T15" fmla="*/ 3 h 59"/>
                <a:gd name="T16" fmla="*/ 115 w 133"/>
                <a:gd name="T17"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3" h="59">
                  <a:moveTo>
                    <a:pt x="115" y="59"/>
                  </a:moveTo>
                  <a:lnTo>
                    <a:pt x="18" y="59"/>
                  </a:lnTo>
                  <a:lnTo>
                    <a:pt x="0" y="3"/>
                  </a:lnTo>
                  <a:lnTo>
                    <a:pt x="7" y="0"/>
                  </a:lnTo>
                  <a:lnTo>
                    <a:pt x="24" y="50"/>
                  </a:lnTo>
                  <a:lnTo>
                    <a:pt x="109" y="50"/>
                  </a:lnTo>
                  <a:lnTo>
                    <a:pt x="125" y="0"/>
                  </a:lnTo>
                  <a:lnTo>
                    <a:pt x="133" y="3"/>
                  </a:lnTo>
                  <a:lnTo>
                    <a:pt x="115" y="5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Rectangle 535">
              <a:extLst>
                <a:ext uri="{FF2B5EF4-FFF2-40B4-BE49-F238E27FC236}">
                  <a16:creationId xmlns:a16="http://schemas.microsoft.com/office/drawing/2014/main" id="{AEF35433-E10D-FDF8-212C-DEFF51EC4F23}"/>
                </a:ext>
              </a:extLst>
            </p:cNvPr>
            <p:cNvSpPr>
              <a:spLocks noChangeArrowheads="1"/>
            </p:cNvSpPr>
            <p:nvPr/>
          </p:nvSpPr>
          <p:spPr bwMode="auto">
            <a:xfrm>
              <a:off x="8483601" y="2192338"/>
              <a:ext cx="12700" cy="130175"/>
            </a:xfrm>
            <a:prstGeom prst="rect">
              <a:avLst/>
            </a:prstGeom>
            <a:grpFill/>
            <a:ln w="9525">
              <a:solidFill>
                <a:schemeClr val="bg1"/>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Freeform 536">
              <a:extLst>
                <a:ext uri="{FF2B5EF4-FFF2-40B4-BE49-F238E27FC236}">
                  <a16:creationId xmlns:a16="http://schemas.microsoft.com/office/drawing/2014/main" id="{47553B27-0A58-9A2B-C05F-D33DDC2DAAE7}"/>
                </a:ext>
              </a:extLst>
            </p:cNvPr>
            <p:cNvSpPr>
              <a:spLocks/>
            </p:cNvSpPr>
            <p:nvPr/>
          </p:nvSpPr>
          <p:spPr bwMode="auto">
            <a:xfrm>
              <a:off x="8294689" y="2159001"/>
              <a:ext cx="125413" cy="57150"/>
            </a:xfrm>
            <a:custGeom>
              <a:avLst/>
              <a:gdLst>
                <a:gd name="T0" fmla="*/ 78 w 156"/>
                <a:gd name="T1" fmla="*/ 70 h 70"/>
                <a:gd name="T2" fmla="*/ 0 w 156"/>
                <a:gd name="T3" fmla="*/ 0 h 70"/>
                <a:gd name="T4" fmla="*/ 17 w 156"/>
                <a:gd name="T5" fmla="*/ 0 h 70"/>
                <a:gd name="T6" fmla="*/ 78 w 156"/>
                <a:gd name="T7" fmla="*/ 54 h 70"/>
                <a:gd name="T8" fmla="*/ 140 w 156"/>
                <a:gd name="T9" fmla="*/ 0 h 70"/>
                <a:gd name="T10" fmla="*/ 156 w 156"/>
                <a:gd name="T11" fmla="*/ 0 h 70"/>
                <a:gd name="T12" fmla="*/ 78 w 156"/>
                <a:gd name="T13" fmla="*/ 70 h 70"/>
              </a:gdLst>
              <a:ahLst/>
              <a:cxnLst>
                <a:cxn ang="0">
                  <a:pos x="T0" y="T1"/>
                </a:cxn>
                <a:cxn ang="0">
                  <a:pos x="T2" y="T3"/>
                </a:cxn>
                <a:cxn ang="0">
                  <a:pos x="T4" y="T5"/>
                </a:cxn>
                <a:cxn ang="0">
                  <a:pos x="T6" y="T7"/>
                </a:cxn>
                <a:cxn ang="0">
                  <a:pos x="T8" y="T9"/>
                </a:cxn>
                <a:cxn ang="0">
                  <a:pos x="T10" y="T11"/>
                </a:cxn>
                <a:cxn ang="0">
                  <a:pos x="T12" y="T13"/>
                </a:cxn>
              </a:cxnLst>
              <a:rect l="0" t="0" r="r" b="b"/>
              <a:pathLst>
                <a:path w="156" h="70">
                  <a:moveTo>
                    <a:pt x="78" y="70"/>
                  </a:moveTo>
                  <a:cubicBezTo>
                    <a:pt x="35" y="70"/>
                    <a:pt x="0" y="39"/>
                    <a:pt x="0" y="0"/>
                  </a:cubicBezTo>
                  <a:lnTo>
                    <a:pt x="17" y="0"/>
                  </a:lnTo>
                  <a:cubicBezTo>
                    <a:pt x="17" y="30"/>
                    <a:pt x="45" y="54"/>
                    <a:pt x="78" y="54"/>
                  </a:cubicBezTo>
                  <a:cubicBezTo>
                    <a:pt x="112" y="54"/>
                    <a:pt x="140" y="30"/>
                    <a:pt x="140" y="0"/>
                  </a:cubicBezTo>
                  <a:lnTo>
                    <a:pt x="156" y="0"/>
                  </a:lnTo>
                  <a:cubicBezTo>
                    <a:pt x="156" y="39"/>
                    <a:pt x="121" y="70"/>
                    <a:pt x="78" y="7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Freeform 537">
              <a:extLst>
                <a:ext uri="{FF2B5EF4-FFF2-40B4-BE49-F238E27FC236}">
                  <a16:creationId xmlns:a16="http://schemas.microsoft.com/office/drawing/2014/main" id="{58AB7C99-31CF-4332-3560-7B1E83992648}"/>
                </a:ext>
              </a:extLst>
            </p:cNvPr>
            <p:cNvSpPr>
              <a:spLocks/>
            </p:cNvSpPr>
            <p:nvPr/>
          </p:nvSpPr>
          <p:spPr bwMode="auto">
            <a:xfrm>
              <a:off x="8269289" y="1892301"/>
              <a:ext cx="33338" cy="73025"/>
            </a:xfrm>
            <a:custGeom>
              <a:avLst/>
              <a:gdLst>
                <a:gd name="T0" fmla="*/ 40 w 41"/>
                <a:gd name="T1" fmla="*/ 89 h 89"/>
                <a:gd name="T2" fmla="*/ 24 w 41"/>
                <a:gd name="T3" fmla="*/ 88 h 89"/>
                <a:gd name="T4" fmla="*/ 0 w 41"/>
                <a:gd name="T5" fmla="*/ 11 h 89"/>
                <a:gd name="T6" fmla="*/ 12 w 41"/>
                <a:gd name="T7" fmla="*/ 0 h 89"/>
                <a:gd name="T8" fmla="*/ 40 w 41"/>
                <a:gd name="T9" fmla="*/ 89 h 89"/>
              </a:gdLst>
              <a:ahLst/>
              <a:cxnLst>
                <a:cxn ang="0">
                  <a:pos x="T0" y="T1"/>
                </a:cxn>
                <a:cxn ang="0">
                  <a:pos x="T2" y="T3"/>
                </a:cxn>
                <a:cxn ang="0">
                  <a:pos x="T4" y="T5"/>
                </a:cxn>
                <a:cxn ang="0">
                  <a:pos x="T6" y="T7"/>
                </a:cxn>
                <a:cxn ang="0">
                  <a:pos x="T8" y="T9"/>
                </a:cxn>
              </a:cxnLst>
              <a:rect l="0" t="0" r="r" b="b"/>
              <a:pathLst>
                <a:path w="41" h="89">
                  <a:moveTo>
                    <a:pt x="40" y="89"/>
                  </a:moveTo>
                  <a:lnTo>
                    <a:pt x="24" y="88"/>
                  </a:lnTo>
                  <a:cubicBezTo>
                    <a:pt x="24" y="63"/>
                    <a:pt x="16" y="27"/>
                    <a:pt x="0" y="11"/>
                  </a:cubicBezTo>
                  <a:lnTo>
                    <a:pt x="12" y="0"/>
                  </a:lnTo>
                  <a:cubicBezTo>
                    <a:pt x="33" y="20"/>
                    <a:pt x="41" y="64"/>
                    <a:pt x="40" y="89"/>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Freeform 538">
              <a:extLst>
                <a:ext uri="{FF2B5EF4-FFF2-40B4-BE49-F238E27FC236}">
                  <a16:creationId xmlns:a16="http://schemas.microsoft.com/office/drawing/2014/main" id="{7B364AAA-4D08-2A34-D624-810B0ED799B2}"/>
                </a:ext>
              </a:extLst>
            </p:cNvPr>
            <p:cNvSpPr>
              <a:spLocks/>
            </p:cNvSpPr>
            <p:nvPr/>
          </p:nvSpPr>
          <p:spPr bwMode="auto">
            <a:xfrm>
              <a:off x="8413751" y="1892301"/>
              <a:ext cx="31750" cy="73025"/>
            </a:xfrm>
            <a:custGeom>
              <a:avLst/>
              <a:gdLst>
                <a:gd name="T0" fmla="*/ 0 w 40"/>
                <a:gd name="T1" fmla="*/ 89 h 89"/>
                <a:gd name="T2" fmla="*/ 29 w 40"/>
                <a:gd name="T3" fmla="*/ 0 h 89"/>
                <a:gd name="T4" fmla="*/ 40 w 40"/>
                <a:gd name="T5" fmla="*/ 11 h 89"/>
                <a:gd name="T6" fmla="*/ 17 w 40"/>
                <a:gd name="T7" fmla="*/ 88 h 89"/>
                <a:gd name="T8" fmla="*/ 0 w 40"/>
                <a:gd name="T9" fmla="*/ 89 h 89"/>
              </a:gdLst>
              <a:ahLst/>
              <a:cxnLst>
                <a:cxn ang="0">
                  <a:pos x="T0" y="T1"/>
                </a:cxn>
                <a:cxn ang="0">
                  <a:pos x="T2" y="T3"/>
                </a:cxn>
                <a:cxn ang="0">
                  <a:pos x="T4" y="T5"/>
                </a:cxn>
                <a:cxn ang="0">
                  <a:pos x="T6" y="T7"/>
                </a:cxn>
                <a:cxn ang="0">
                  <a:pos x="T8" y="T9"/>
                </a:cxn>
              </a:cxnLst>
              <a:rect l="0" t="0" r="r" b="b"/>
              <a:pathLst>
                <a:path w="40" h="89">
                  <a:moveTo>
                    <a:pt x="0" y="89"/>
                  </a:moveTo>
                  <a:cubicBezTo>
                    <a:pt x="0" y="64"/>
                    <a:pt x="8" y="20"/>
                    <a:pt x="29" y="0"/>
                  </a:cubicBezTo>
                  <a:lnTo>
                    <a:pt x="40" y="11"/>
                  </a:lnTo>
                  <a:cubicBezTo>
                    <a:pt x="25" y="26"/>
                    <a:pt x="16" y="63"/>
                    <a:pt x="17" y="88"/>
                  </a:cubicBezTo>
                  <a:lnTo>
                    <a:pt x="0" y="89"/>
                  </a:ln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Freeform 539">
              <a:extLst>
                <a:ext uri="{FF2B5EF4-FFF2-40B4-BE49-F238E27FC236}">
                  <a16:creationId xmlns:a16="http://schemas.microsoft.com/office/drawing/2014/main" id="{5312582F-DAFB-0608-9A2E-A5B0757C8B22}"/>
                </a:ext>
              </a:extLst>
            </p:cNvPr>
            <p:cNvSpPr>
              <a:spLocks/>
            </p:cNvSpPr>
            <p:nvPr/>
          </p:nvSpPr>
          <p:spPr bwMode="auto">
            <a:xfrm>
              <a:off x="8253414" y="2259013"/>
              <a:ext cx="204788" cy="65088"/>
            </a:xfrm>
            <a:custGeom>
              <a:avLst/>
              <a:gdLst>
                <a:gd name="T0" fmla="*/ 129 w 129"/>
                <a:gd name="T1" fmla="*/ 41 h 41"/>
                <a:gd name="T2" fmla="*/ 121 w 129"/>
                <a:gd name="T3" fmla="*/ 41 h 41"/>
                <a:gd name="T4" fmla="*/ 121 w 129"/>
                <a:gd name="T5" fmla="*/ 9 h 41"/>
                <a:gd name="T6" fmla="*/ 8 w 129"/>
                <a:gd name="T7" fmla="*/ 9 h 41"/>
                <a:gd name="T8" fmla="*/ 8 w 129"/>
                <a:gd name="T9" fmla="*/ 41 h 41"/>
                <a:gd name="T10" fmla="*/ 0 w 129"/>
                <a:gd name="T11" fmla="*/ 41 h 41"/>
                <a:gd name="T12" fmla="*/ 0 w 129"/>
                <a:gd name="T13" fmla="*/ 0 h 41"/>
                <a:gd name="T14" fmla="*/ 129 w 129"/>
                <a:gd name="T15" fmla="*/ 0 h 41"/>
                <a:gd name="T16" fmla="*/ 129 w 129"/>
                <a:gd name="T1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9" h="41">
                  <a:moveTo>
                    <a:pt x="129" y="41"/>
                  </a:moveTo>
                  <a:lnTo>
                    <a:pt x="121" y="41"/>
                  </a:lnTo>
                  <a:lnTo>
                    <a:pt x="121" y="9"/>
                  </a:lnTo>
                  <a:lnTo>
                    <a:pt x="8" y="9"/>
                  </a:lnTo>
                  <a:lnTo>
                    <a:pt x="8" y="41"/>
                  </a:lnTo>
                  <a:lnTo>
                    <a:pt x="0" y="41"/>
                  </a:lnTo>
                  <a:lnTo>
                    <a:pt x="0" y="0"/>
                  </a:lnTo>
                  <a:lnTo>
                    <a:pt x="129" y="0"/>
                  </a:lnTo>
                  <a:lnTo>
                    <a:pt x="129" y="41"/>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custDataLst>
      <p:tags r:id="rId1"/>
    </p:custDataLst>
    <p:extLst>
      <p:ext uri="{BB962C8B-B14F-4D97-AF65-F5344CB8AC3E}">
        <p14:creationId xmlns:p14="http://schemas.microsoft.com/office/powerpoint/2010/main" val="17016231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5">
            <a:extLst>
              <a:ext uri="{FF2B5EF4-FFF2-40B4-BE49-F238E27FC236}">
                <a16:creationId xmlns:a16="http://schemas.microsoft.com/office/drawing/2014/main" id="{6E26CC64-A01A-5096-D1BA-F0CE07667FB3}"/>
              </a:ext>
            </a:extLst>
          </p:cNvPr>
          <p:cNvSpPr/>
          <p:nvPr/>
        </p:nvSpPr>
        <p:spPr>
          <a:xfrm>
            <a:off x="2187135" y="2748303"/>
            <a:ext cx="1088335" cy="578718"/>
          </a:xfrm>
          <a:prstGeom prst="rect">
            <a:avLst/>
          </a:prstGeom>
          <a:solidFill>
            <a:srgbClr val="D763C6"/>
          </a:solidFill>
          <a:ln>
            <a:noFill/>
          </a:ln>
        </p:spPr>
        <p:style>
          <a:lnRef idx="1">
            <a:schemeClr val="accent1"/>
          </a:lnRef>
          <a:fillRef idx="1001">
            <a:schemeClr val="dk2"/>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ea typeface="+mn-ea"/>
                <a:cs typeface="Calibri" panose="020F0502020204030204" pitchFamily="34" charset="0"/>
              </a:rPr>
              <a:t>Feature</a:t>
            </a:r>
          </a:p>
        </p:txBody>
      </p:sp>
      <p:sp>
        <p:nvSpPr>
          <p:cNvPr id="4" name="Rounded Rectangle 6">
            <a:extLst>
              <a:ext uri="{FF2B5EF4-FFF2-40B4-BE49-F238E27FC236}">
                <a16:creationId xmlns:a16="http://schemas.microsoft.com/office/drawing/2014/main" id="{DCFBF2CF-94BE-E4FB-964B-B486763139C5}"/>
              </a:ext>
            </a:extLst>
          </p:cNvPr>
          <p:cNvSpPr/>
          <p:nvPr/>
        </p:nvSpPr>
        <p:spPr>
          <a:xfrm>
            <a:off x="2187135" y="3531199"/>
            <a:ext cx="1088335" cy="578718"/>
          </a:xfrm>
          <a:prstGeom prst="rect">
            <a:avLst/>
          </a:prstGeom>
          <a:solidFill>
            <a:srgbClr val="D763C6"/>
          </a:solidFill>
          <a:ln>
            <a:noFill/>
          </a:ln>
        </p:spPr>
        <p:style>
          <a:lnRef idx="1">
            <a:schemeClr val="accent1"/>
          </a:lnRef>
          <a:fillRef idx="1001">
            <a:schemeClr val="dk2"/>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ea typeface="+mn-ea"/>
                <a:cs typeface="Calibri" panose="020F0502020204030204" pitchFamily="34" charset="0"/>
              </a:rPr>
              <a:t>Story</a:t>
            </a:r>
          </a:p>
        </p:txBody>
      </p:sp>
      <p:sp>
        <p:nvSpPr>
          <p:cNvPr id="6" name="Rounded Rectangle 7">
            <a:extLst>
              <a:ext uri="{FF2B5EF4-FFF2-40B4-BE49-F238E27FC236}">
                <a16:creationId xmlns:a16="http://schemas.microsoft.com/office/drawing/2014/main" id="{40A2947D-A74B-936D-19C6-9EDE4D21B41A}"/>
              </a:ext>
            </a:extLst>
          </p:cNvPr>
          <p:cNvSpPr/>
          <p:nvPr/>
        </p:nvSpPr>
        <p:spPr>
          <a:xfrm>
            <a:off x="2180957" y="4320273"/>
            <a:ext cx="1088335" cy="578718"/>
          </a:xfrm>
          <a:prstGeom prst="rect">
            <a:avLst/>
          </a:prstGeom>
          <a:solidFill>
            <a:srgbClr val="D763C6"/>
          </a:solidFill>
          <a:ln>
            <a:noFill/>
          </a:ln>
        </p:spPr>
        <p:style>
          <a:lnRef idx="1">
            <a:schemeClr val="accent1"/>
          </a:lnRef>
          <a:fillRef idx="1001">
            <a:schemeClr val="dk2"/>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ea typeface="+mn-ea"/>
                <a:cs typeface="Calibri" panose="020F0502020204030204" pitchFamily="34" charset="0"/>
              </a:rPr>
              <a:t>Tasks</a:t>
            </a:r>
          </a:p>
        </p:txBody>
      </p:sp>
      <p:sp>
        <p:nvSpPr>
          <p:cNvPr id="7" name="Rounded Rectangle 8">
            <a:extLst>
              <a:ext uri="{FF2B5EF4-FFF2-40B4-BE49-F238E27FC236}">
                <a16:creationId xmlns:a16="http://schemas.microsoft.com/office/drawing/2014/main" id="{114E8FBA-F10B-05C7-848D-9DAAAE273BE6}"/>
              </a:ext>
            </a:extLst>
          </p:cNvPr>
          <p:cNvSpPr/>
          <p:nvPr/>
        </p:nvSpPr>
        <p:spPr>
          <a:xfrm>
            <a:off x="2187135" y="1931115"/>
            <a:ext cx="1088335" cy="578718"/>
          </a:xfrm>
          <a:prstGeom prst="rect">
            <a:avLst/>
          </a:prstGeom>
          <a:solidFill>
            <a:srgbClr val="D763C6"/>
          </a:solidFill>
          <a:ln>
            <a:noFill/>
          </a:ln>
        </p:spPr>
        <p:style>
          <a:lnRef idx="1">
            <a:schemeClr val="accent1"/>
          </a:lnRef>
          <a:fillRef idx="1001">
            <a:schemeClr val="dk2"/>
          </a:fillRef>
          <a:effectRef idx="2">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ea typeface="+mn-ea"/>
                <a:cs typeface="Calibri" panose="020F0502020204030204" pitchFamily="34" charset="0"/>
              </a:rPr>
              <a:t>Epic</a:t>
            </a:r>
          </a:p>
        </p:txBody>
      </p:sp>
      <p:sp>
        <p:nvSpPr>
          <p:cNvPr id="10" name="TextBox 9">
            <a:extLst>
              <a:ext uri="{FF2B5EF4-FFF2-40B4-BE49-F238E27FC236}">
                <a16:creationId xmlns:a16="http://schemas.microsoft.com/office/drawing/2014/main" id="{D57C1FEF-F307-3F9E-0C20-30A8EA9886F8}"/>
              </a:ext>
            </a:extLst>
          </p:cNvPr>
          <p:cNvSpPr txBox="1"/>
          <p:nvPr/>
        </p:nvSpPr>
        <p:spPr>
          <a:xfrm>
            <a:off x="3291004" y="4372086"/>
            <a:ext cx="3258324" cy="261610"/>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4B4D4E"/>
                </a:solidFill>
                <a:effectLst/>
                <a:uLnTx/>
                <a:uFillTx/>
                <a:ea typeface="+mn-ea"/>
                <a:cs typeface="Calibri" panose="020F0502020204030204" pitchFamily="34" charset="0"/>
              </a:rPr>
              <a:t>What we do to define/build/test a user story</a:t>
            </a:r>
          </a:p>
        </p:txBody>
      </p:sp>
      <p:sp>
        <p:nvSpPr>
          <p:cNvPr id="11" name="TextBox 10">
            <a:extLst>
              <a:ext uri="{FF2B5EF4-FFF2-40B4-BE49-F238E27FC236}">
                <a16:creationId xmlns:a16="http://schemas.microsoft.com/office/drawing/2014/main" id="{20F6156C-91E3-3539-AC4B-CF2BD3965431}"/>
              </a:ext>
            </a:extLst>
          </p:cNvPr>
          <p:cNvSpPr txBox="1"/>
          <p:nvPr/>
        </p:nvSpPr>
        <p:spPr>
          <a:xfrm>
            <a:off x="3293965" y="3532191"/>
            <a:ext cx="3258324" cy="600164"/>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4B4D4E"/>
                </a:solidFill>
                <a:effectLst/>
                <a:uLnTx/>
                <a:uFillTx/>
                <a:ea typeface="+mn-ea"/>
                <a:cs typeface="Calibri" panose="020F0502020204030204" pitchFamily="34" charset="0"/>
              </a:rPr>
              <a:t>A small piece of desired functionality, written in the user’s language. Must be small enough to be completed within a sprint. </a:t>
            </a:r>
          </a:p>
        </p:txBody>
      </p:sp>
      <p:sp>
        <p:nvSpPr>
          <p:cNvPr id="12" name="TextBox 11">
            <a:extLst>
              <a:ext uri="{FF2B5EF4-FFF2-40B4-BE49-F238E27FC236}">
                <a16:creationId xmlns:a16="http://schemas.microsoft.com/office/drawing/2014/main" id="{BDC0FDEE-D000-8BDD-66C6-3CD601E289B7}"/>
              </a:ext>
            </a:extLst>
          </p:cNvPr>
          <p:cNvSpPr txBox="1"/>
          <p:nvPr/>
        </p:nvSpPr>
        <p:spPr>
          <a:xfrm>
            <a:off x="3293113" y="2831288"/>
            <a:ext cx="3337845" cy="430887"/>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4B4D4E"/>
                </a:solidFill>
                <a:effectLst/>
                <a:uLnTx/>
                <a:uFillTx/>
                <a:ea typeface="+mn-ea"/>
                <a:cs typeface="Calibri" panose="020F0502020204030204" pitchFamily="34" charset="0"/>
              </a:rPr>
              <a:t>A service / deliverable that fulfills a stakeholder need.  Can cut across sprints</a:t>
            </a:r>
          </a:p>
        </p:txBody>
      </p:sp>
      <p:cxnSp>
        <p:nvCxnSpPr>
          <p:cNvPr id="13" name="Straight Arrow Connector 12">
            <a:extLst>
              <a:ext uri="{FF2B5EF4-FFF2-40B4-BE49-F238E27FC236}">
                <a16:creationId xmlns:a16="http://schemas.microsoft.com/office/drawing/2014/main" id="{C540A19A-7866-3E60-33E8-97228A12787A}"/>
              </a:ext>
            </a:extLst>
          </p:cNvPr>
          <p:cNvCxnSpPr/>
          <p:nvPr/>
        </p:nvCxnSpPr>
        <p:spPr bwMode="auto">
          <a:xfrm>
            <a:off x="2731302" y="2509834"/>
            <a:ext cx="0" cy="210389"/>
          </a:xfrm>
          <a:prstGeom prst="straightConnector1">
            <a:avLst/>
          </a:prstGeom>
          <a:solidFill>
            <a:schemeClr val="bg1"/>
          </a:solidFill>
          <a:ln w="28575" cap="flat" cmpd="sng" algn="ctr">
            <a:solidFill>
              <a:schemeClr val="tx1">
                <a:lumMod val="40000"/>
                <a:lumOff val="60000"/>
              </a:schemeClr>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5717CAB0-5A5B-10E2-A529-A078187E6FC8}"/>
              </a:ext>
            </a:extLst>
          </p:cNvPr>
          <p:cNvCxnSpPr/>
          <p:nvPr/>
        </p:nvCxnSpPr>
        <p:spPr bwMode="auto">
          <a:xfrm>
            <a:off x="2731302" y="3327021"/>
            <a:ext cx="0" cy="204178"/>
          </a:xfrm>
          <a:prstGeom prst="straightConnector1">
            <a:avLst/>
          </a:prstGeom>
          <a:solidFill>
            <a:schemeClr val="bg1"/>
          </a:solidFill>
          <a:ln w="28575" cap="flat" cmpd="sng" algn="ctr">
            <a:solidFill>
              <a:schemeClr val="tx1">
                <a:lumMod val="40000"/>
                <a:lumOff val="60000"/>
              </a:schemeClr>
            </a:solidFill>
            <a:prstDash val="solid"/>
            <a:round/>
            <a:headEnd type="none" w="med" len="med"/>
            <a:tailEnd type="triangle"/>
          </a:ln>
          <a:effectLst/>
        </p:spPr>
      </p:cxnSp>
      <p:cxnSp>
        <p:nvCxnSpPr>
          <p:cNvPr id="15" name="Straight Arrow Connector 14">
            <a:extLst>
              <a:ext uri="{FF2B5EF4-FFF2-40B4-BE49-F238E27FC236}">
                <a16:creationId xmlns:a16="http://schemas.microsoft.com/office/drawing/2014/main" id="{448FBD9A-60D3-4EBD-76EB-D50B8D35C0CB}"/>
              </a:ext>
            </a:extLst>
          </p:cNvPr>
          <p:cNvCxnSpPr/>
          <p:nvPr/>
        </p:nvCxnSpPr>
        <p:spPr bwMode="auto">
          <a:xfrm flipH="1">
            <a:off x="2725124" y="4109917"/>
            <a:ext cx="6179" cy="210356"/>
          </a:xfrm>
          <a:prstGeom prst="straightConnector1">
            <a:avLst/>
          </a:prstGeom>
          <a:solidFill>
            <a:schemeClr val="bg1"/>
          </a:solidFill>
          <a:ln w="28575" cap="flat" cmpd="sng" algn="ctr">
            <a:solidFill>
              <a:schemeClr val="tx1">
                <a:lumMod val="40000"/>
                <a:lumOff val="60000"/>
              </a:schemeClr>
            </a:solidFill>
            <a:prstDash val="solid"/>
            <a:round/>
            <a:headEnd type="none" w="med" len="med"/>
            <a:tailEnd type="triangle"/>
          </a:ln>
          <a:effectLst/>
        </p:spPr>
      </p:cxnSp>
      <p:sp>
        <p:nvSpPr>
          <p:cNvPr id="16" name="TextBox 15">
            <a:extLst>
              <a:ext uri="{FF2B5EF4-FFF2-40B4-BE49-F238E27FC236}">
                <a16:creationId xmlns:a16="http://schemas.microsoft.com/office/drawing/2014/main" id="{B4C3D81E-44F4-D23D-F143-EDEA9CE20D29}"/>
              </a:ext>
            </a:extLst>
          </p:cNvPr>
          <p:cNvSpPr txBox="1"/>
          <p:nvPr/>
        </p:nvSpPr>
        <p:spPr>
          <a:xfrm>
            <a:off x="7938521" y="1447800"/>
            <a:ext cx="1627379" cy="338554"/>
          </a:xfrm>
          <a:prstGeom prst="rect">
            <a:avLst/>
          </a:prstGeom>
          <a:noFill/>
        </p:spPr>
        <p:txBody>
          <a:bodyPr wrap="square" rtlCol="0">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45494D"/>
                </a:solidFill>
                <a:effectLst/>
                <a:uLnTx/>
                <a:uFillTx/>
                <a:ea typeface="+mn-ea"/>
                <a:cs typeface="Calibri" panose="020F0502020204030204" pitchFamily="34" charset="0"/>
              </a:rPr>
              <a:t>Worked on by:</a:t>
            </a:r>
          </a:p>
        </p:txBody>
      </p:sp>
      <p:sp>
        <p:nvSpPr>
          <p:cNvPr id="17" name="TextBox 16">
            <a:extLst>
              <a:ext uri="{FF2B5EF4-FFF2-40B4-BE49-F238E27FC236}">
                <a16:creationId xmlns:a16="http://schemas.microsoft.com/office/drawing/2014/main" id="{7F06B1C8-499F-0C86-C073-1BBC636A5962}"/>
              </a:ext>
            </a:extLst>
          </p:cNvPr>
          <p:cNvSpPr txBox="1"/>
          <p:nvPr/>
        </p:nvSpPr>
        <p:spPr>
          <a:xfrm>
            <a:off x="323525" y="1447800"/>
            <a:ext cx="1671697" cy="338554"/>
          </a:xfrm>
          <a:prstGeom prst="rect">
            <a:avLst/>
          </a:prstGeom>
          <a:noFill/>
        </p:spPr>
        <p:txBody>
          <a:bodyPr wrap="square" rtlCol="0">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45494D"/>
                </a:solidFill>
                <a:effectLst/>
                <a:uLnTx/>
                <a:uFillTx/>
                <a:ea typeface="+mn-ea"/>
                <a:cs typeface="Calibri" panose="020F0502020204030204" pitchFamily="34" charset="0"/>
              </a:rPr>
              <a:t>Rock Analogy:</a:t>
            </a:r>
          </a:p>
        </p:txBody>
      </p:sp>
      <p:grpSp>
        <p:nvGrpSpPr>
          <p:cNvPr id="18" name="Group 17">
            <a:extLst>
              <a:ext uri="{FF2B5EF4-FFF2-40B4-BE49-F238E27FC236}">
                <a16:creationId xmlns:a16="http://schemas.microsoft.com/office/drawing/2014/main" id="{E8159A49-A1EB-8150-2A29-9A5354A66C05}"/>
              </a:ext>
            </a:extLst>
          </p:cNvPr>
          <p:cNvGrpSpPr/>
          <p:nvPr/>
        </p:nvGrpSpPr>
        <p:grpSpPr>
          <a:xfrm>
            <a:off x="186502" y="1903071"/>
            <a:ext cx="1945742" cy="3209813"/>
            <a:chOff x="1608467" y="2406353"/>
            <a:chExt cx="1945742" cy="3209813"/>
          </a:xfrm>
        </p:grpSpPr>
        <p:pic>
          <p:nvPicPr>
            <p:cNvPr id="19" name="Picture 18">
              <a:extLst>
                <a:ext uri="{FF2B5EF4-FFF2-40B4-BE49-F238E27FC236}">
                  <a16:creationId xmlns:a16="http://schemas.microsoft.com/office/drawing/2014/main" id="{6B090DC3-E2CA-B32B-C0FD-51A7CCE9600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88499" y="2406353"/>
              <a:ext cx="1226743" cy="712071"/>
            </a:xfrm>
            <a:prstGeom prst="rect">
              <a:avLst/>
            </a:prstGeom>
          </p:spPr>
        </p:pic>
        <p:pic>
          <p:nvPicPr>
            <p:cNvPr id="20" name="Picture 19">
              <a:extLst>
                <a:ext uri="{FF2B5EF4-FFF2-40B4-BE49-F238E27FC236}">
                  <a16:creationId xmlns:a16="http://schemas.microsoft.com/office/drawing/2014/main" id="{EFBA32CF-34A4-7093-8F22-6E0F353274A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08467" y="3341435"/>
              <a:ext cx="786318" cy="456424"/>
            </a:xfrm>
            <a:prstGeom prst="rect">
              <a:avLst/>
            </a:prstGeom>
          </p:spPr>
        </p:pic>
        <p:pic>
          <p:nvPicPr>
            <p:cNvPr id="21" name="Picture 20">
              <a:extLst>
                <a:ext uri="{FF2B5EF4-FFF2-40B4-BE49-F238E27FC236}">
                  <a16:creationId xmlns:a16="http://schemas.microsoft.com/office/drawing/2014/main" id="{EAEFD905-A2D7-9D88-A0E7-089323A247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13223" y="3334571"/>
              <a:ext cx="786318" cy="456424"/>
            </a:xfrm>
            <a:prstGeom prst="rect">
              <a:avLst/>
            </a:prstGeom>
          </p:spPr>
        </p:pic>
        <p:pic>
          <p:nvPicPr>
            <p:cNvPr id="22" name="Picture 21">
              <a:extLst>
                <a:ext uri="{FF2B5EF4-FFF2-40B4-BE49-F238E27FC236}">
                  <a16:creationId xmlns:a16="http://schemas.microsoft.com/office/drawing/2014/main" id="{E0C0AB80-73F1-0916-4979-6973B97683E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17979" y="3341435"/>
              <a:ext cx="786318" cy="456424"/>
            </a:xfrm>
            <a:prstGeom prst="rect">
              <a:avLst/>
            </a:prstGeom>
          </p:spPr>
        </p:pic>
        <p:pic>
          <p:nvPicPr>
            <p:cNvPr id="23" name="Picture 22">
              <a:extLst>
                <a:ext uri="{FF2B5EF4-FFF2-40B4-BE49-F238E27FC236}">
                  <a16:creationId xmlns:a16="http://schemas.microsoft.com/office/drawing/2014/main" id="{E9CC3B72-9C43-1C0B-0F5A-8DB0CB7DA69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09370" y="4155646"/>
              <a:ext cx="477828" cy="340339"/>
            </a:xfrm>
            <a:prstGeom prst="rect">
              <a:avLst/>
            </a:prstGeom>
          </p:spPr>
        </p:pic>
        <p:pic>
          <p:nvPicPr>
            <p:cNvPr id="24" name="Picture 23">
              <a:extLst>
                <a:ext uri="{FF2B5EF4-FFF2-40B4-BE49-F238E27FC236}">
                  <a16:creationId xmlns:a16="http://schemas.microsoft.com/office/drawing/2014/main" id="{C5C35E0B-810E-0E14-DEF3-6346D3AA4D3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93871" y="4155645"/>
              <a:ext cx="477828" cy="340339"/>
            </a:xfrm>
            <a:prstGeom prst="rect">
              <a:avLst/>
            </a:prstGeom>
          </p:spPr>
        </p:pic>
        <p:pic>
          <p:nvPicPr>
            <p:cNvPr id="25" name="Picture 24">
              <a:extLst>
                <a:ext uri="{FF2B5EF4-FFF2-40B4-BE49-F238E27FC236}">
                  <a16:creationId xmlns:a16="http://schemas.microsoft.com/office/drawing/2014/main" id="{B64CC21B-19BE-587A-C66A-2452592F450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84773" y="4155921"/>
              <a:ext cx="477828" cy="340339"/>
            </a:xfrm>
            <a:prstGeom prst="rect">
              <a:avLst/>
            </a:prstGeom>
          </p:spPr>
        </p:pic>
        <p:pic>
          <p:nvPicPr>
            <p:cNvPr id="26" name="Picture 25">
              <a:extLst>
                <a:ext uri="{FF2B5EF4-FFF2-40B4-BE49-F238E27FC236}">
                  <a16:creationId xmlns:a16="http://schemas.microsoft.com/office/drawing/2014/main" id="{98729D05-F384-91F6-BE53-E1A24EE41A2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76381" y="4155645"/>
              <a:ext cx="477828" cy="340339"/>
            </a:xfrm>
            <a:prstGeom prst="rect">
              <a:avLst/>
            </a:prstGeom>
          </p:spPr>
        </p:pic>
        <p:pic>
          <p:nvPicPr>
            <p:cNvPr id="27" name="Picture 26">
              <a:extLst>
                <a:ext uri="{FF2B5EF4-FFF2-40B4-BE49-F238E27FC236}">
                  <a16:creationId xmlns:a16="http://schemas.microsoft.com/office/drawing/2014/main" id="{853FE8B7-07AF-519C-ECD0-F8BC2885C3D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47834" y="4829506"/>
              <a:ext cx="133383" cy="154300"/>
            </a:xfrm>
            <a:prstGeom prst="rect">
              <a:avLst/>
            </a:prstGeom>
          </p:spPr>
        </p:pic>
        <p:pic>
          <p:nvPicPr>
            <p:cNvPr id="28" name="Picture 27">
              <a:extLst>
                <a:ext uri="{FF2B5EF4-FFF2-40B4-BE49-F238E27FC236}">
                  <a16:creationId xmlns:a16="http://schemas.microsoft.com/office/drawing/2014/main" id="{46FA7CB2-0A5B-BAE7-B898-61165BAEFEA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22505" y="4826486"/>
              <a:ext cx="133383" cy="154300"/>
            </a:xfrm>
            <a:prstGeom prst="rect">
              <a:avLst/>
            </a:prstGeom>
          </p:spPr>
        </p:pic>
        <p:pic>
          <p:nvPicPr>
            <p:cNvPr id="29" name="Picture 28">
              <a:extLst>
                <a:ext uri="{FF2B5EF4-FFF2-40B4-BE49-F238E27FC236}">
                  <a16:creationId xmlns:a16="http://schemas.microsoft.com/office/drawing/2014/main" id="{256FD8B4-524B-DE21-BBF9-7824FBE25C9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96985" y="4834474"/>
              <a:ext cx="133383" cy="154300"/>
            </a:xfrm>
            <a:prstGeom prst="rect">
              <a:avLst/>
            </a:prstGeom>
          </p:spPr>
        </p:pic>
        <p:pic>
          <p:nvPicPr>
            <p:cNvPr id="30" name="Picture 29">
              <a:extLst>
                <a:ext uri="{FF2B5EF4-FFF2-40B4-BE49-F238E27FC236}">
                  <a16:creationId xmlns:a16="http://schemas.microsoft.com/office/drawing/2014/main" id="{3597E912-F2F3-0161-C0B4-B35300E548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73146" y="4826486"/>
              <a:ext cx="133383" cy="154300"/>
            </a:xfrm>
            <a:prstGeom prst="rect">
              <a:avLst/>
            </a:prstGeom>
          </p:spPr>
        </p:pic>
        <p:pic>
          <p:nvPicPr>
            <p:cNvPr id="31" name="Picture 30">
              <a:extLst>
                <a:ext uri="{FF2B5EF4-FFF2-40B4-BE49-F238E27FC236}">
                  <a16:creationId xmlns:a16="http://schemas.microsoft.com/office/drawing/2014/main" id="{D7ACDFFD-1BC6-25C4-44A0-8E942E74078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46584" y="4829505"/>
              <a:ext cx="133383" cy="154300"/>
            </a:xfrm>
            <a:prstGeom prst="rect">
              <a:avLst/>
            </a:prstGeom>
          </p:spPr>
        </p:pic>
        <p:pic>
          <p:nvPicPr>
            <p:cNvPr id="32" name="Picture 31">
              <a:extLst>
                <a:ext uri="{FF2B5EF4-FFF2-40B4-BE49-F238E27FC236}">
                  <a16:creationId xmlns:a16="http://schemas.microsoft.com/office/drawing/2014/main" id="{2299DBFE-5B31-FCCD-4BA4-905B85009BB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21146" y="4833075"/>
              <a:ext cx="133383" cy="154300"/>
            </a:xfrm>
            <a:prstGeom prst="rect">
              <a:avLst/>
            </a:prstGeom>
          </p:spPr>
        </p:pic>
        <p:pic>
          <p:nvPicPr>
            <p:cNvPr id="33" name="Picture 32">
              <a:extLst>
                <a:ext uri="{FF2B5EF4-FFF2-40B4-BE49-F238E27FC236}">
                  <a16:creationId xmlns:a16="http://schemas.microsoft.com/office/drawing/2014/main" id="{3C3B9C3D-EB52-C549-26FB-86AB9011104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92595" y="4833075"/>
              <a:ext cx="133383" cy="154300"/>
            </a:xfrm>
            <a:prstGeom prst="rect">
              <a:avLst/>
            </a:prstGeom>
          </p:spPr>
        </p:pic>
        <p:pic>
          <p:nvPicPr>
            <p:cNvPr id="34" name="Picture 33">
              <a:extLst>
                <a:ext uri="{FF2B5EF4-FFF2-40B4-BE49-F238E27FC236}">
                  <a16:creationId xmlns:a16="http://schemas.microsoft.com/office/drawing/2014/main" id="{1080F977-0944-EC85-3A47-0DA5D97E6A7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44595" y="5006165"/>
              <a:ext cx="133383" cy="154300"/>
            </a:xfrm>
            <a:prstGeom prst="rect">
              <a:avLst/>
            </a:prstGeom>
          </p:spPr>
        </p:pic>
        <p:pic>
          <p:nvPicPr>
            <p:cNvPr id="35" name="Picture 34">
              <a:extLst>
                <a:ext uri="{FF2B5EF4-FFF2-40B4-BE49-F238E27FC236}">
                  <a16:creationId xmlns:a16="http://schemas.microsoft.com/office/drawing/2014/main" id="{15D00450-5D2D-BB4F-51AE-B0F7602A1DD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15203" y="5006165"/>
              <a:ext cx="133383" cy="154300"/>
            </a:xfrm>
            <a:prstGeom prst="rect">
              <a:avLst/>
            </a:prstGeom>
          </p:spPr>
        </p:pic>
        <p:pic>
          <p:nvPicPr>
            <p:cNvPr id="36" name="Picture 35">
              <a:extLst>
                <a:ext uri="{FF2B5EF4-FFF2-40B4-BE49-F238E27FC236}">
                  <a16:creationId xmlns:a16="http://schemas.microsoft.com/office/drawing/2014/main" id="{1BD5276F-C317-916C-811B-6A4A5E4C1C4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87494" y="5006164"/>
              <a:ext cx="133383" cy="154300"/>
            </a:xfrm>
            <a:prstGeom prst="rect">
              <a:avLst/>
            </a:prstGeom>
          </p:spPr>
        </p:pic>
        <p:pic>
          <p:nvPicPr>
            <p:cNvPr id="37" name="Picture 36">
              <a:extLst>
                <a:ext uri="{FF2B5EF4-FFF2-40B4-BE49-F238E27FC236}">
                  <a16:creationId xmlns:a16="http://schemas.microsoft.com/office/drawing/2014/main" id="{BD4DF28E-40C6-9331-8B02-21C497F4C8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71141" y="5006164"/>
              <a:ext cx="133383" cy="154300"/>
            </a:xfrm>
            <a:prstGeom prst="rect">
              <a:avLst/>
            </a:prstGeom>
          </p:spPr>
        </p:pic>
        <p:pic>
          <p:nvPicPr>
            <p:cNvPr id="38" name="Picture 37">
              <a:extLst>
                <a:ext uri="{FF2B5EF4-FFF2-40B4-BE49-F238E27FC236}">
                  <a16:creationId xmlns:a16="http://schemas.microsoft.com/office/drawing/2014/main" id="{9E765A96-E714-8352-9659-849359DAC7C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42590" y="5006164"/>
              <a:ext cx="133383" cy="154300"/>
            </a:xfrm>
            <a:prstGeom prst="rect">
              <a:avLst/>
            </a:prstGeom>
          </p:spPr>
        </p:pic>
        <p:pic>
          <p:nvPicPr>
            <p:cNvPr id="39" name="Picture 38">
              <a:extLst>
                <a:ext uri="{FF2B5EF4-FFF2-40B4-BE49-F238E27FC236}">
                  <a16:creationId xmlns:a16="http://schemas.microsoft.com/office/drawing/2014/main" id="{AD2F98F3-E1FA-253F-D7C2-7C4610A84A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20767" y="5006164"/>
              <a:ext cx="133383" cy="154300"/>
            </a:xfrm>
            <a:prstGeom prst="rect">
              <a:avLst/>
            </a:prstGeom>
          </p:spPr>
        </p:pic>
        <p:pic>
          <p:nvPicPr>
            <p:cNvPr id="40" name="Picture 39">
              <a:extLst>
                <a:ext uri="{FF2B5EF4-FFF2-40B4-BE49-F238E27FC236}">
                  <a16:creationId xmlns:a16="http://schemas.microsoft.com/office/drawing/2014/main" id="{CE31200C-9D17-23AA-ADF0-316627552AA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92216" y="5014907"/>
              <a:ext cx="133383" cy="154300"/>
            </a:xfrm>
            <a:prstGeom prst="rect">
              <a:avLst/>
            </a:prstGeom>
          </p:spPr>
        </p:pic>
        <p:pic>
          <p:nvPicPr>
            <p:cNvPr id="41" name="Picture 40">
              <a:extLst>
                <a:ext uri="{FF2B5EF4-FFF2-40B4-BE49-F238E27FC236}">
                  <a16:creationId xmlns:a16="http://schemas.microsoft.com/office/drawing/2014/main" id="{C0590413-8A1F-1894-5D12-7269884F92A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67812" y="4827281"/>
              <a:ext cx="133383" cy="154300"/>
            </a:xfrm>
            <a:prstGeom prst="rect">
              <a:avLst/>
            </a:prstGeom>
          </p:spPr>
        </p:pic>
        <p:pic>
          <p:nvPicPr>
            <p:cNvPr id="42" name="Picture 41">
              <a:extLst>
                <a:ext uri="{FF2B5EF4-FFF2-40B4-BE49-F238E27FC236}">
                  <a16:creationId xmlns:a16="http://schemas.microsoft.com/office/drawing/2014/main" id="{7899B6A9-3BF0-5EEE-6496-767659DA2F2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67432" y="5009114"/>
              <a:ext cx="133383" cy="154300"/>
            </a:xfrm>
            <a:prstGeom prst="rect">
              <a:avLst/>
            </a:prstGeom>
          </p:spPr>
        </p:pic>
        <p:pic>
          <p:nvPicPr>
            <p:cNvPr id="43" name="Picture 42">
              <a:extLst>
                <a:ext uri="{FF2B5EF4-FFF2-40B4-BE49-F238E27FC236}">
                  <a16:creationId xmlns:a16="http://schemas.microsoft.com/office/drawing/2014/main" id="{00CDC990-DDC7-31B6-57F2-8057C3157FA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53607" y="4837162"/>
              <a:ext cx="133383" cy="154300"/>
            </a:xfrm>
            <a:prstGeom prst="rect">
              <a:avLst/>
            </a:prstGeom>
          </p:spPr>
        </p:pic>
        <p:pic>
          <p:nvPicPr>
            <p:cNvPr id="44" name="Picture 43">
              <a:extLst>
                <a:ext uri="{FF2B5EF4-FFF2-40B4-BE49-F238E27FC236}">
                  <a16:creationId xmlns:a16="http://schemas.microsoft.com/office/drawing/2014/main" id="{54E6F422-CC57-C3BD-B1B6-0EF18B348C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53228" y="5018994"/>
              <a:ext cx="133383" cy="154300"/>
            </a:xfrm>
            <a:prstGeom prst="rect">
              <a:avLst/>
            </a:prstGeom>
          </p:spPr>
        </p:pic>
        <p:sp>
          <p:nvSpPr>
            <p:cNvPr id="45" name="TextBox 44">
              <a:extLst>
                <a:ext uri="{FF2B5EF4-FFF2-40B4-BE49-F238E27FC236}">
                  <a16:creationId xmlns:a16="http://schemas.microsoft.com/office/drawing/2014/main" id="{6F88700E-72D1-3CB3-3783-9FC376C3C09B}"/>
                </a:ext>
              </a:extLst>
            </p:cNvPr>
            <p:cNvSpPr txBox="1"/>
            <p:nvPr/>
          </p:nvSpPr>
          <p:spPr>
            <a:xfrm>
              <a:off x="1645028" y="3037722"/>
              <a:ext cx="1671697" cy="261610"/>
            </a:xfrm>
            <a:prstGeom prst="rect">
              <a:avLst/>
            </a:prstGeom>
            <a:noFill/>
          </p:spPr>
          <p:txBody>
            <a:bodyPr wrap="square" rtlCol="0">
              <a:spAutoFit/>
            </a:bodyPr>
            <a:lstStyle/>
            <a:p>
              <a:pPr marL="0" marR="0" lvl="1" indent="0" algn="ctr"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4B4D4E"/>
                  </a:solidFill>
                  <a:effectLst/>
                  <a:uLnTx/>
                  <a:uFillTx/>
                  <a:ea typeface="+mn-ea"/>
                  <a:cs typeface="Calibri" panose="020F0502020204030204" pitchFamily="34" charset="0"/>
                </a:rPr>
                <a:t>The boulders</a:t>
              </a:r>
            </a:p>
          </p:txBody>
        </p:sp>
        <p:sp>
          <p:nvSpPr>
            <p:cNvPr id="46" name="TextBox 45">
              <a:extLst>
                <a:ext uri="{FF2B5EF4-FFF2-40B4-BE49-F238E27FC236}">
                  <a16:creationId xmlns:a16="http://schemas.microsoft.com/office/drawing/2014/main" id="{4902983B-E108-588D-A4E3-2313FBE18FD0}"/>
                </a:ext>
              </a:extLst>
            </p:cNvPr>
            <p:cNvSpPr txBox="1"/>
            <p:nvPr/>
          </p:nvSpPr>
          <p:spPr>
            <a:xfrm>
              <a:off x="1656070" y="3739165"/>
              <a:ext cx="1671697" cy="261610"/>
            </a:xfrm>
            <a:prstGeom prst="rect">
              <a:avLst/>
            </a:prstGeom>
            <a:noFill/>
          </p:spPr>
          <p:txBody>
            <a:bodyPr wrap="square" rtlCol="0">
              <a:spAutoFit/>
            </a:bodyPr>
            <a:lstStyle/>
            <a:p>
              <a:pPr marL="0" marR="0" lvl="1" indent="0" algn="ctr"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4B4D4E"/>
                  </a:solidFill>
                  <a:effectLst/>
                  <a:uLnTx/>
                  <a:uFillTx/>
                  <a:ea typeface="+mn-ea"/>
                  <a:cs typeface="Calibri" panose="020F0502020204030204" pitchFamily="34" charset="0"/>
                </a:rPr>
                <a:t>The medium rocks</a:t>
              </a:r>
            </a:p>
          </p:txBody>
        </p:sp>
        <p:sp>
          <p:nvSpPr>
            <p:cNvPr id="47" name="TextBox 46">
              <a:extLst>
                <a:ext uri="{FF2B5EF4-FFF2-40B4-BE49-F238E27FC236}">
                  <a16:creationId xmlns:a16="http://schemas.microsoft.com/office/drawing/2014/main" id="{F41ED7AA-75A8-CEA8-3D35-3AAADE2475DF}"/>
                </a:ext>
              </a:extLst>
            </p:cNvPr>
            <p:cNvSpPr txBox="1"/>
            <p:nvPr/>
          </p:nvSpPr>
          <p:spPr>
            <a:xfrm>
              <a:off x="1663360" y="4454641"/>
              <a:ext cx="1671697" cy="261610"/>
            </a:xfrm>
            <a:prstGeom prst="rect">
              <a:avLst/>
            </a:prstGeom>
            <a:noFill/>
          </p:spPr>
          <p:txBody>
            <a:bodyPr wrap="square" rtlCol="0">
              <a:spAutoFit/>
            </a:bodyPr>
            <a:lstStyle/>
            <a:p>
              <a:pPr marL="0" marR="0" lvl="1" indent="0" algn="ctr"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4B4D4E"/>
                  </a:solidFill>
                  <a:effectLst/>
                  <a:uLnTx/>
                  <a:uFillTx/>
                  <a:ea typeface="+mn-ea"/>
                  <a:cs typeface="Calibri" panose="020F0502020204030204" pitchFamily="34" charset="0"/>
                </a:rPr>
                <a:t>The small rocks</a:t>
              </a:r>
            </a:p>
          </p:txBody>
        </p:sp>
        <p:sp>
          <p:nvSpPr>
            <p:cNvPr id="48" name="TextBox 47">
              <a:extLst>
                <a:ext uri="{FF2B5EF4-FFF2-40B4-BE49-F238E27FC236}">
                  <a16:creationId xmlns:a16="http://schemas.microsoft.com/office/drawing/2014/main" id="{12D459E1-FC33-A596-DF94-D8632ADA09BD}"/>
                </a:ext>
              </a:extLst>
            </p:cNvPr>
            <p:cNvSpPr txBox="1"/>
            <p:nvPr/>
          </p:nvSpPr>
          <p:spPr>
            <a:xfrm>
              <a:off x="1700434" y="5185279"/>
              <a:ext cx="1671697" cy="430887"/>
            </a:xfrm>
            <a:prstGeom prst="rect">
              <a:avLst/>
            </a:prstGeom>
            <a:solidFill>
              <a:schemeClr val="bg1"/>
            </a:solidFill>
          </p:spPr>
          <p:txBody>
            <a:bodyPr wrap="square" rtlCol="0">
              <a:spAutoFit/>
            </a:bodyPr>
            <a:lstStyle/>
            <a:p>
              <a:pPr marL="0" marR="0" lvl="1" indent="0" algn="ctr"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4B4D4E"/>
                  </a:solidFill>
                  <a:effectLst/>
                  <a:uLnTx/>
                  <a:uFillTx/>
                  <a:ea typeface="+mn-ea"/>
                  <a:cs typeface="Calibri" panose="020F0502020204030204" pitchFamily="34" charset="0"/>
                </a:rPr>
                <a:t>The pebbles/sand</a:t>
              </a:r>
            </a:p>
            <a:p>
              <a:pPr marL="0" marR="0" lvl="1" indent="0" algn="ctr" defTabSz="6858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4B4D4E"/>
                </a:solidFill>
                <a:effectLst/>
                <a:uLnTx/>
                <a:uFillTx/>
                <a:ea typeface="+mn-ea"/>
                <a:cs typeface="Calibri" panose="020F0502020204030204" pitchFamily="34" charset="0"/>
              </a:endParaRPr>
            </a:p>
          </p:txBody>
        </p:sp>
      </p:grpSp>
      <p:grpSp>
        <p:nvGrpSpPr>
          <p:cNvPr id="49" name="Group 48">
            <a:extLst>
              <a:ext uri="{FF2B5EF4-FFF2-40B4-BE49-F238E27FC236}">
                <a16:creationId xmlns:a16="http://schemas.microsoft.com/office/drawing/2014/main" id="{47C0A0B5-EF1E-66ED-38E5-B37660AE2B92}"/>
              </a:ext>
            </a:extLst>
          </p:cNvPr>
          <p:cNvGrpSpPr/>
          <p:nvPr/>
        </p:nvGrpSpPr>
        <p:grpSpPr>
          <a:xfrm>
            <a:off x="7938521" y="1762562"/>
            <a:ext cx="1627378" cy="3034912"/>
            <a:chOff x="9680703" y="2338968"/>
            <a:chExt cx="1627378" cy="3034912"/>
          </a:xfrm>
        </p:grpSpPr>
        <p:pic>
          <p:nvPicPr>
            <p:cNvPr id="50" name="Picture 49">
              <a:extLst>
                <a:ext uri="{FF2B5EF4-FFF2-40B4-BE49-F238E27FC236}">
                  <a16:creationId xmlns:a16="http://schemas.microsoft.com/office/drawing/2014/main" id="{BAFC341E-C53B-796D-1F22-C83E8ACDF13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76611" y="4091314"/>
              <a:ext cx="549489" cy="373195"/>
            </a:xfrm>
            <a:prstGeom prst="rect">
              <a:avLst/>
            </a:prstGeom>
          </p:spPr>
        </p:pic>
        <p:pic>
          <p:nvPicPr>
            <p:cNvPr id="51" name="Picture 50">
              <a:extLst>
                <a:ext uri="{FF2B5EF4-FFF2-40B4-BE49-F238E27FC236}">
                  <a16:creationId xmlns:a16="http://schemas.microsoft.com/office/drawing/2014/main" id="{F75A7F50-45C7-A005-4FFC-729625BF583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07597" y="4812264"/>
              <a:ext cx="289324" cy="301466"/>
            </a:xfrm>
            <a:prstGeom prst="rect">
              <a:avLst/>
            </a:prstGeom>
          </p:spPr>
        </p:pic>
        <p:pic>
          <p:nvPicPr>
            <p:cNvPr id="52" name="Picture 51">
              <a:extLst>
                <a:ext uri="{FF2B5EF4-FFF2-40B4-BE49-F238E27FC236}">
                  <a16:creationId xmlns:a16="http://schemas.microsoft.com/office/drawing/2014/main" id="{4968A297-2214-0310-0D5A-F64C5F10B1A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02620" y="3321702"/>
              <a:ext cx="549489" cy="373195"/>
            </a:xfrm>
            <a:prstGeom prst="rect">
              <a:avLst/>
            </a:prstGeom>
          </p:spPr>
        </p:pic>
        <p:pic>
          <p:nvPicPr>
            <p:cNvPr id="53" name="Picture 52">
              <a:extLst>
                <a:ext uri="{FF2B5EF4-FFF2-40B4-BE49-F238E27FC236}">
                  <a16:creationId xmlns:a16="http://schemas.microsoft.com/office/drawing/2014/main" id="{8939E6CC-9B41-C4F1-E524-2F8B401DCD8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36674" y="3321702"/>
              <a:ext cx="549489" cy="373195"/>
            </a:xfrm>
            <a:prstGeom prst="rect">
              <a:avLst/>
            </a:prstGeom>
          </p:spPr>
        </p:pic>
        <p:pic>
          <p:nvPicPr>
            <p:cNvPr id="54" name="Picture 53">
              <a:extLst>
                <a:ext uri="{FF2B5EF4-FFF2-40B4-BE49-F238E27FC236}">
                  <a16:creationId xmlns:a16="http://schemas.microsoft.com/office/drawing/2014/main" id="{3B5DA1E4-FBFD-E333-7F1E-319DDD2646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07132" y="2338968"/>
              <a:ext cx="549489" cy="373195"/>
            </a:xfrm>
            <a:prstGeom prst="rect">
              <a:avLst/>
            </a:prstGeom>
          </p:spPr>
        </p:pic>
        <p:pic>
          <p:nvPicPr>
            <p:cNvPr id="55" name="Picture 54">
              <a:extLst>
                <a:ext uri="{FF2B5EF4-FFF2-40B4-BE49-F238E27FC236}">
                  <a16:creationId xmlns:a16="http://schemas.microsoft.com/office/drawing/2014/main" id="{A5E68CD4-2A70-C39C-5368-2F2B20A3D1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41186" y="2338968"/>
              <a:ext cx="549489" cy="373195"/>
            </a:xfrm>
            <a:prstGeom prst="rect">
              <a:avLst/>
            </a:prstGeom>
          </p:spPr>
        </p:pic>
        <p:pic>
          <p:nvPicPr>
            <p:cNvPr id="56" name="Picture 55">
              <a:extLst>
                <a:ext uri="{FF2B5EF4-FFF2-40B4-BE49-F238E27FC236}">
                  <a16:creationId xmlns:a16="http://schemas.microsoft.com/office/drawing/2014/main" id="{898B2CE9-ABB5-0056-FCEA-0D9BC371578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24160" y="2510950"/>
              <a:ext cx="549489" cy="373195"/>
            </a:xfrm>
            <a:prstGeom prst="rect">
              <a:avLst/>
            </a:prstGeom>
          </p:spPr>
        </p:pic>
        <p:sp>
          <p:nvSpPr>
            <p:cNvPr id="57" name="TextBox 56">
              <a:extLst>
                <a:ext uri="{FF2B5EF4-FFF2-40B4-BE49-F238E27FC236}">
                  <a16:creationId xmlns:a16="http://schemas.microsoft.com/office/drawing/2014/main" id="{253110EC-40B7-37FE-EBD5-C15ED13D0895}"/>
                </a:ext>
              </a:extLst>
            </p:cNvPr>
            <p:cNvSpPr txBox="1"/>
            <p:nvPr/>
          </p:nvSpPr>
          <p:spPr>
            <a:xfrm>
              <a:off x="10065934" y="5112270"/>
              <a:ext cx="972648" cy="261610"/>
            </a:xfrm>
            <a:prstGeom prst="rect">
              <a:avLst/>
            </a:prstGeom>
            <a:noFill/>
          </p:spPr>
          <p:txBody>
            <a:bodyPr wrap="square" rtlCol="0">
              <a:spAutoFit/>
            </a:bodyPr>
            <a:lstStyle/>
            <a:p>
              <a:pPr marL="0" marR="0" lvl="1" indent="0" algn="ctr"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4B4D4E"/>
                  </a:solidFill>
                  <a:effectLst/>
                  <a:uLnTx/>
                  <a:uFillTx/>
                  <a:ea typeface="+mn-ea"/>
                  <a:cs typeface="Calibri" panose="020F0502020204030204" pitchFamily="34" charset="0"/>
                </a:rPr>
                <a:t>Individual</a:t>
              </a:r>
            </a:p>
          </p:txBody>
        </p:sp>
        <p:sp>
          <p:nvSpPr>
            <p:cNvPr id="58" name="TextBox 57">
              <a:extLst>
                <a:ext uri="{FF2B5EF4-FFF2-40B4-BE49-F238E27FC236}">
                  <a16:creationId xmlns:a16="http://schemas.microsoft.com/office/drawing/2014/main" id="{324F2029-24DF-3212-470A-A82D6627EAE1}"/>
                </a:ext>
              </a:extLst>
            </p:cNvPr>
            <p:cNvSpPr txBox="1"/>
            <p:nvPr/>
          </p:nvSpPr>
          <p:spPr>
            <a:xfrm>
              <a:off x="10065029" y="4468760"/>
              <a:ext cx="972648" cy="261610"/>
            </a:xfrm>
            <a:prstGeom prst="rect">
              <a:avLst/>
            </a:prstGeom>
            <a:noFill/>
          </p:spPr>
          <p:txBody>
            <a:bodyPr wrap="square" rtlCol="0">
              <a:spAutoFit/>
            </a:bodyPr>
            <a:lstStyle/>
            <a:p>
              <a:pPr marL="0" marR="0" lvl="1" indent="0" algn="ctr"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4B4D4E"/>
                  </a:solidFill>
                  <a:effectLst/>
                  <a:uLnTx/>
                  <a:uFillTx/>
                  <a:ea typeface="+mn-ea"/>
                  <a:cs typeface="Calibri" panose="020F0502020204030204" pitchFamily="34" charset="0"/>
                </a:rPr>
                <a:t>1 Team</a:t>
              </a:r>
            </a:p>
          </p:txBody>
        </p:sp>
        <p:sp>
          <p:nvSpPr>
            <p:cNvPr id="59" name="TextBox 58">
              <a:extLst>
                <a:ext uri="{FF2B5EF4-FFF2-40B4-BE49-F238E27FC236}">
                  <a16:creationId xmlns:a16="http://schemas.microsoft.com/office/drawing/2014/main" id="{FED77F52-5115-6726-DB02-10516B437DD3}"/>
                </a:ext>
              </a:extLst>
            </p:cNvPr>
            <p:cNvSpPr txBox="1"/>
            <p:nvPr/>
          </p:nvSpPr>
          <p:spPr>
            <a:xfrm>
              <a:off x="9782821" y="3694167"/>
              <a:ext cx="1405460" cy="261610"/>
            </a:xfrm>
            <a:prstGeom prst="rect">
              <a:avLst/>
            </a:prstGeom>
            <a:noFill/>
          </p:spPr>
          <p:txBody>
            <a:bodyPr wrap="square" rtlCol="0">
              <a:spAutoFit/>
            </a:bodyPr>
            <a:lstStyle/>
            <a:p>
              <a:pPr marL="0" marR="0" lvl="1" indent="0" algn="ctr"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4B4D4E"/>
                  </a:solidFill>
                  <a:effectLst/>
                  <a:uLnTx/>
                  <a:uFillTx/>
                  <a:ea typeface="+mn-ea"/>
                  <a:cs typeface="Calibri" panose="020F0502020204030204" pitchFamily="34" charset="0"/>
                </a:rPr>
                <a:t>1 or more Teams</a:t>
              </a:r>
            </a:p>
          </p:txBody>
        </p:sp>
        <p:sp>
          <p:nvSpPr>
            <p:cNvPr id="60" name="TextBox 59">
              <a:extLst>
                <a:ext uri="{FF2B5EF4-FFF2-40B4-BE49-F238E27FC236}">
                  <a16:creationId xmlns:a16="http://schemas.microsoft.com/office/drawing/2014/main" id="{86150592-2CBE-84CD-2767-D45A56423C8D}"/>
                </a:ext>
              </a:extLst>
            </p:cNvPr>
            <p:cNvSpPr txBox="1"/>
            <p:nvPr/>
          </p:nvSpPr>
          <p:spPr>
            <a:xfrm>
              <a:off x="9680703" y="2866227"/>
              <a:ext cx="1627378" cy="261610"/>
            </a:xfrm>
            <a:prstGeom prst="rect">
              <a:avLst/>
            </a:prstGeom>
            <a:noFill/>
          </p:spPr>
          <p:txBody>
            <a:bodyPr wrap="square" rtlCol="0">
              <a:spAutoFit/>
            </a:bodyPr>
            <a:lstStyle/>
            <a:p>
              <a:pPr marL="0" marR="0" lvl="1" indent="0" algn="ctr"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4B4D4E"/>
                  </a:solidFill>
                  <a:effectLst/>
                  <a:uLnTx/>
                  <a:uFillTx/>
                  <a:ea typeface="+mn-ea"/>
                  <a:cs typeface="Calibri" panose="020F0502020204030204" pitchFamily="34" charset="0"/>
                </a:rPr>
                <a:t>Circles</a:t>
              </a:r>
            </a:p>
          </p:txBody>
        </p:sp>
      </p:grpSp>
      <p:sp>
        <p:nvSpPr>
          <p:cNvPr id="61" name="TextBox 60">
            <a:extLst>
              <a:ext uri="{FF2B5EF4-FFF2-40B4-BE49-F238E27FC236}">
                <a16:creationId xmlns:a16="http://schemas.microsoft.com/office/drawing/2014/main" id="{FD23494C-6AFC-6A5E-FA1E-AC518EA660C8}"/>
              </a:ext>
            </a:extLst>
          </p:cNvPr>
          <p:cNvSpPr txBox="1"/>
          <p:nvPr/>
        </p:nvSpPr>
        <p:spPr>
          <a:xfrm>
            <a:off x="6525560" y="1447800"/>
            <a:ext cx="1273249" cy="338554"/>
          </a:xfrm>
          <a:prstGeom prst="rect">
            <a:avLst/>
          </a:prstGeom>
          <a:noFill/>
        </p:spPr>
        <p:txBody>
          <a:bodyPr wrap="square" rtlCol="0">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45494D"/>
                </a:solidFill>
                <a:effectLst/>
                <a:uLnTx/>
                <a:uFillTx/>
                <a:ea typeface="+mn-ea"/>
                <a:cs typeface="Calibri" panose="020F0502020204030204" pitchFamily="34" charset="0"/>
              </a:rPr>
              <a:t>Duration:</a:t>
            </a:r>
          </a:p>
        </p:txBody>
      </p:sp>
      <p:sp>
        <p:nvSpPr>
          <p:cNvPr id="62" name="TextBox 61">
            <a:extLst>
              <a:ext uri="{FF2B5EF4-FFF2-40B4-BE49-F238E27FC236}">
                <a16:creationId xmlns:a16="http://schemas.microsoft.com/office/drawing/2014/main" id="{4A592154-B912-269F-3A75-37D29F0E11B1}"/>
              </a:ext>
            </a:extLst>
          </p:cNvPr>
          <p:cNvSpPr txBox="1"/>
          <p:nvPr/>
        </p:nvSpPr>
        <p:spPr>
          <a:xfrm>
            <a:off x="6664384" y="1921033"/>
            <a:ext cx="995600" cy="430887"/>
          </a:xfrm>
          <a:prstGeom prst="rect">
            <a:avLst/>
          </a:prstGeom>
          <a:noFill/>
        </p:spPr>
        <p:txBody>
          <a:bodyPr wrap="square" rtlCol="0">
            <a:spAutoFit/>
          </a:bodyPr>
          <a:lstStyle/>
          <a:p>
            <a:pPr marL="0" marR="0" lvl="1" indent="0" algn="ctr"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4B4D4E"/>
                </a:solidFill>
                <a:effectLst/>
                <a:uLnTx/>
                <a:uFillTx/>
                <a:ea typeface="+mn-ea"/>
                <a:cs typeface="Calibri" panose="020F0502020204030204" pitchFamily="34" charset="0"/>
              </a:rPr>
              <a:t>3-5 Program</a:t>
            </a:r>
          </a:p>
          <a:p>
            <a:pPr marL="0" marR="0" lvl="1" indent="0" algn="ctr"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4B4D4E"/>
                </a:solidFill>
                <a:effectLst/>
                <a:uLnTx/>
                <a:uFillTx/>
                <a:ea typeface="+mn-ea"/>
                <a:cs typeface="Calibri" panose="020F0502020204030204" pitchFamily="34" charset="0"/>
              </a:rPr>
              <a:t>Increments</a:t>
            </a:r>
          </a:p>
        </p:txBody>
      </p:sp>
      <p:sp>
        <p:nvSpPr>
          <p:cNvPr id="63" name="TextBox 62">
            <a:extLst>
              <a:ext uri="{FF2B5EF4-FFF2-40B4-BE49-F238E27FC236}">
                <a16:creationId xmlns:a16="http://schemas.microsoft.com/office/drawing/2014/main" id="{3196B8E2-2B26-9D1D-4DB4-73173C057FD1}"/>
              </a:ext>
            </a:extLst>
          </p:cNvPr>
          <p:cNvSpPr txBox="1"/>
          <p:nvPr/>
        </p:nvSpPr>
        <p:spPr>
          <a:xfrm>
            <a:off x="6596188" y="2828657"/>
            <a:ext cx="1131992" cy="430887"/>
          </a:xfrm>
          <a:prstGeom prst="rect">
            <a:avLst/>
          </a:prstGeom>
          <a:noFill/>
        </p:spPr>
        <p:txBody>
          <a:bodyPr wrap="square" rtlCol="0">
            <a:spAutoFit/>
          </a:bodyPr>
          <a:lstStyle/>
          <a:p>
            <a:pPr marL="0" marR="0" lvl="1" indent="0" algn="ctr"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4B4D4E"/>
                </a:solidFill>
                <a:effectLst/>
                <a:uLnTx/>
                <a:uFillTx/>
                <a:ea typeface="+mn-ea"/>
                <a:cs typeface="Calibri" panose="020F0502020204030204" pitchFamily="34" charset="0"/>
              </a:rPr>
              <a:t>Program Increment</a:t>
            </a:r>
          </a:p>
        </p:txBody>
      </p:sp>
      <p:sp>
        <p:nvSpPr>
          <p:cNvPr id="64" name="TextBox 63">
            <a:extLst>
              <a:ext uri="{FF2B5EF4-FFF2-40B4-BE49-F238E27FC236}">
                <a16:creationId xmlns:a16="http://schemas.microsoft.com/office/drawing/2014/main" id="{8DF5E338-C04A-7876-3FC7-E94819F41A6A}"/>
              </a:ext>
            </a:extLst>
          </p:cNvPr>
          <p:cNvSpPr txBox="1"/>
          <p:nvPr/>
        </p:nvSpPr>
        <p:spPr>
          <a:xfrm>
            <a:off x="6596188" y="3600285"/>
            <a:ext cx="1131992" cy="430887"/>
          </a:xfrm>
          <a:prstGeom prst="rect">
            <a:avLst/>
          </a:prstGeom>
          <a:noFill/>
        </p:spPr>
        <p:txBody>
          <a:bodyPr wrap="square" rtlCol="0">
            <a:spAutoFit/>
          </a:bodyPr>
          <a:lstStyle/>
          <a:p>
            <a:pPr marL="0" marR="0" lvl="1" indent="0" algn="ctr"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4B4D4E"/>
                </a:solidFill>
                <a:effectLst/>
                <a:uLnTx/>
                <a:uFillTx/>
                <a:ea typeface="+mn-ea"/>
                <a:cs typeface="Calibri" panose="020F0502020204030204" pitchFamily="34" charset="0"/>
              </a:rPr>
              <a:t>&lt;10 days</a:t>
            </a:r>
          </a:p>
          <a:p>
            <a:pPr marL="0" marR="0" lvl="1" indent="0" algn="ctr"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4B4D4E"/>
                </a:solidFill>
                <a:effectLst/>
                <a:uLnTx/>
                <a:uFillTx/>
                <a:ea typeface="+mn-ea"/>
                <a:cs typeface="Calibri" panose="020F0502020204030204" pitchFamily="34" charset="0"/>
              </a:rPr>
              <a:t>1-3 days avg</a:t>
            </a:r>
          </a:p>
        </p:txBody>
      </p:sp>
      <p:sp>
        <p:nvSpPr>
          <p:cNvPr id="65" name="TextBox 64">
            <a:extLst>
              <a:ext uri="{FF2B5EF4-FFF2-40B4-BE49-F238E27FC236}">
                <a16:creationId xmlns:a16="http://schemas.microsoft.com/office/drawing/2014/main" id="{D6EBA9BE-30CE-FD1C-2FB6-8B538ADBB939}"/>
              </a:ext>
            </a:extLst>
          </p:cNvPr>
          <p:cNvSpPr txBox="1"/>
          <p:nvPr/>
        </p:nvSpPr>
        <p:spPr>
          <a:xfrm>
            <a:off x="6596188" y="4372086"/>
            <a:ext cx="1131992" cy="261610"/>
          </a:xfrm>
          <a:prstGeom prst="rect">
            <a:avLst/>
          </a:prstGeom>
          <a:noFill/>
        </p:spPr>
        <p:txBody>
          <a:bodyPr wrap="square" rtlCol="0">
            <a:spAutoFit/>
          </a:bodyPr>
          <a:lstStyle/>
          <a:p>
            <a:pPr marL="0" marR="0" lvl="1" indent="0" algn="ctr"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4B4D4E"/>
                </a:solidFill>
                <a:effectLst/>
                <a:uLnTx/>
                <a:uFillTx/>
                <a:ea typeface="+mn-ea"/>
                <a:cs typeface="Calibri" panose="020F0502020204030204" pitchFamily="34" charset="0"/>
              </a:rPr>
              <a:t>Hours</a:t>
            </a:r>
          </a:p>
        </p:txBody>
      </p:sp>
      <p:sp>
        <p:nvSpPr>
          <p:cNvPr id="66" name="TextBox 65">
            <a:extLst>
              <a:ext uri="{FF2B5EF4-FFF2-40B4-BE49-F238E27FC236}">
                <a16:creationId xmlns:a16="http://schemas.microsoft.com/office/drawing/2014/main" id="{04D230C6-D503-A043-0705-C728F03914F1}"/>
              </a:ext>
            </a:extLst>
          </p:cNvPr>
          <p:cNvSpPr txBox="1"/>
          <p:nvPr/>
        </p:nvSpPr>
        <p:spPr>
          <a:xfrm>
            <a:off x="3283155" y="1447800"/>
            <a:ext cx="2513251" cy="338554"/>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45494D"/>
                </a:solidFill>
                <a:effectLst/>
                <a:uLnTx/>
                <a:uFillTx/>
                <a:ea typeface="+mn-ea"/>
                <a:cs typeface="Calibri" panose="020F0502020204030204" pitchFamily="34" charset="0"/>
              </a:rPr>
              <a:t>Description:</a:t>
            </a:r>
          </a:p>
        </p:txBody>
      </p:sp>
      <p:sp>
        <p:nvSpPr>
          <p:cNvPr id="67" name="TextBox 66">
            <a:extLst>
              <a:ext uri="{FF2B5EF4-FFF2-40B4-BE49-F238E27FC236}">
                <a16:creationId xmlns:a16="http://schemas.microsoft.com/office/drawing/2014/main" id="{35461986-DE3C-E7CB-C668-F7E302279D4B}"/>
              </a:ext>
            </a:extLst>
          </p:cNvPr>
          <p:cNvSpPr txBox="1"/>
          <p:nvPr/>
        </p:nvSpPr>
        <p:spPr>
          <a:xfrm>
            <a:off x="3320046" y="1988801"/>
            <a:ext cx="3321926" cy="600164"/>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4B4D4E"/>
                </a:solidFill>
                <a:effectLst/>
                <a:uLnTx/>
                <a:uFillTx/>
                <a:ea typeface="+mn-ea"/>
                <a:cs typeface="Calibri" panose="020F0502020204030204" pitchFamily="34" charset="0"/>
              </a:rPr>
              <a:t>Big chunk of work that has one common objective</a:t>
            </a:r>
          </a:p>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4B4D4E"/>
                </a:solidFill>
                <a:effectLst/>
                <a:uLnTx/>
                <a:uFillTx/>
                <a:ea typeface="+mn-ea"/>
                <a:cs typeface="Calibri" panose="020F0502020204030204" pitchFamily="34" charset="0"/>
              </a:rPr>
              <a:t>Can cut across program releases</a:t>
            </a:r>
          </a:p>
        </p:txBody>
      </p:sp>
      <p:sp>
        <p:nvSpPr>
          <p:cNvPr id="68" name="TextBox 67">
            <a:extLst>
              <a:ext uri="{FF2B5EF4-FFF2-40B4-BE49-F238E27FC236}">
                <a16:creationId xmlns:a16="http://schemas.microsoft.com/office/drawing/2014/main" id="{1E0AEFF7-D7A4-DA4B-BE77-709C9D938358}"/>
              </a:ext>
            </a:extLst>
          </p:cNvPr>
          <p:cNvSpPr txBox="1"/>
          <p:nvPr/>
        </p:nvSpPr>
        <p:spPr>
          <a:xfrm>
            <a:off x="9865078" y="1447800"/>
            <a:ext cx="1273249" cy="338554"/>
          </a:xfrm>
          <a:prstGeom prst="rect">
            <a:avLst/>
          </a:prstGeom>
          <a:noFill/>
        </p:spPr>
        <p:txBody>
          <a:bodyPr wrap="square" rtlCol="0">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45494D"/>
                </a:solidFill>
                <a:effectLst/>
                <a:uLnTx/>
                <a:uFillTx/>
                <a:ea typeface="+mn-ea"/>
                <a:cs typeface="Calibri" panose="020F0502020204030204" pitchFamily="34" charset="0"/>
              </a:rPr>
              <a:t>Example:</a:t>
            </a:r>
          </a:p>
        </p:txBody>
      </p:sp>
      <p:sp>
        <p:nvSpPr>
          <p:cNvPr id="69" name="TextBox 68">
            <a:extLst>
              <a:ext uri="{FF2B5EF4-FFF2-40B4-BE49-F238E27FC236}">
                <a16:creationId xmlns:a16="http://schemas.microsoft.com/office/drawing/2014/main" id="{313821A1-2A08-F65D-A615-FCD2762628BB}"/>
              </a:ext>
            </a:extLst>
          </p:cNvPr>
          <p:cNvSpPr txBox="1"/>
          <p:nvPr/>
        </p:nvSpPr>
        <p:spPr>
          <a:xfrm>
            <a:off x="9820444" y="1928717"/>
            <a:ext cx="1718755" cy="261610"/>
          </a:xfrm>
          <a:prstGeom prst="rect">
            <a:avLst/>
          </a:prstGeom>
          <a:noFill/>
        </p:spPr>
        <p:txBody>
          <a:bodyPr wrap="square" rtlCol="0">
            <a:spAutoFit/>
          </a:bodyPr>
          <a:lstStyle/>
          <a:p>
            <a:pPr marL="171450" marR="0" lvl="1"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B4D4E"/>
                </a:solidFill>
                <a:effectLst/>
                <a:uLnTx/>
                <a:uFillTx/>
                <a:ea typeface="+mn-ea"/>
                <a:cs typeface="Calibri" panose="020F0502020204030204" pitchFamily="34" charset="0"/>
              </a:rPr>
              <a:t>Account Pricing</a:t>
            </a:r>
          </a:p>
        </p:txBody>
      </p:sp>
      <p:sp>
        <p:nvSpPr>
          <p:cNvPr id="70" name="TextBox 69">
            <a:extLst>
              <a:ext uri="{FF2B5EF4-FFF2-40B4-BE49-F238E27FC236}">
                <a16:creationId xmlns:a16="http://schemas.microsoft.com/office/drawing/2014/main" id="{18041627-1C0A-7D0C-916D-6F589503D41B}"/>
              </a:ext>
            </a:extLst>
          </p:cNvPr>
          <p:cNvSpPr txBox="1"/>
          <p:nvPr/>
        </p:nvSpPr>
        <p:spPr>
          <a:xfrm>
            <a:off x="9820445" y="2628873"/>
            <a:ext cx="2371555" cy="600164"/>
          </a:xfrm>
          <a:prstGeom prst="rect">
            <a:avLst/>
          </a:prstGeom>
          <a:noFill/>
        </p:spPr>
        <p:txBody>
          <a:bodyPr wrap="square" rtlCol="0">
            <a:spAutoFit/>
          </a:bodyPr>
          <a:lstStyle/>
          <a:p>
            <a:pPr marL="171450" marR="0" lvl="1"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B4D4E"/>
                </a:solidFill>
                <a:effectLst/>
                <a:uLnTx/>
                <a:uFillTx/>
                <a:ea typeface="+mn-ea"/>
                <a:cs typeface="Calibri" panose="020F0502020204030204" pitchFamily="34" charset="0"/>
              </a:rPr>
              <a:t>LOB Details</a:t>
            </a:r>
          </a:p>
          <a:p>
            <a:pPr marL="171450" marR="0" lvl="1"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B4D4E"/>
                </a:solidFill>
                <a:effectLst/>
                <a:uLnTx/>
                <a:uFillTx/>
                <a:ea typeface="+mn-ea"/>
                <a:cs typeface="Calibri" panose="020F0502020204030204" pitchFamily="34" charset="0"/>
              </a:rPr>
              <a:t>Account Level Summary Info</a:t>
            </a:r>
          </a:p>
          <a:p>
            <a:pPr marL="171450" marR="0" lvl="1"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B4D4E"/>
                </a:solidFill>
                <a:effectLst/>
                <a:uLnTx/>
                <a:uFillTx/>
                <a:ea typeface="+mn-ea"/>
                <a:cs typeface="Calibri" panose="020F0502020204030204" pitchFamily="34" charset="0"/>
              </a:rPr>
              <a:t>Shareable Output</a:t>
            </a:r>
          </a:p>
        </p:txBody>
      </p:sp>
      <p:sp>
        <p:nvSpPr>
          <p:cNvPr id="71" name="TextBox 70">
            <a:extLst>
              <a:ext uri="{FF2B5EF4-FFF2-40B4-BE49-F238E27FC236}">
                <a16:creationId xmlns:a16="http://schemas.microsoft.com/office/drawing/2014/main" id="{0FDD01D3-A628-B5BE-B021-4A9F8C9313DD}"/>
              </a:ext>
            </a:extLst>
          </p:cNvPr>
          <p:cNvSpPr txBox="1"/>
          <p:nvPr/>
        </p:nvSpPr>
        <p:spPr>
          <a:xfrm>
            <a:off x="9820444" y="3356573"/>
            <a:ext cx="2323389" cy="769441"/>
          </a:xfrm>
          <a:prstGeom prst="rect">
            <a:avLst/>
          </a:prstGeom>
          <a:noFill/>
        </p:spPr>
        <p:txBody>
          <a:bodyPr wrap="square" rtlCol="0">
            <a:spAutoFit/>
          </a:bodyPr>
          <a:lstStyle/>
          <a:p>
            <a:pPr marL="171450" marR="0" lvl="1"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B4D4E"/>
                </a:solidFill>
                <a:effectLst/>
                <a:uLnTx/>
                <a:uFillTx/>
                <a:ea typeface="+mn-ea"/>
                <a:cs typeface="Calibri" panose="020F0502020204030204" pitchFamily="34" charset="0"/>
              </a:rPr>
              <a:t>Display Rated Mod Info - WC</a:t>
            </a:r>
          </a:p>
          <a:p>
            <a:pPr marL="171450" marR="0" lvl="1"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B4D4E"/>
                </a:solidFill>
                <a:effectLst/>
                <a:uLnTx/>
                <a:uFillTx/>
                <a:ea typeface="+mn-ea"/>
                <a:cs typeface="Calibri" panose="020F0502020204030204" pitchFamily="34" charset="0"/>
              </a:rPr>
              <a:t>View Experience Mod – WC</a:t>
            </a:r>
          </a:p>
          <a:p>
            <a:pPr marL="171450" marR="0" lvl="1"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B4D4E"/>
                </a:solidFill>
                <a:effectLst/>
                <a:uLnTx/>
                <a:uFillTx/>
                <a:ea typeface="+mn-ea"/>
                <a:cs typeface="Calibri" panose="020F0502020204030204" pitchFamily="34" charset="0"/>
              </a:rPr>
              <a:t>What If Tool – WC</a:t>
            </a:r>
          </a:p>
          <a:p>
            <a:pPr marL="171450" marR="0" lvl="1"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B4D4E"/>
                </a:solidFill>
                <a:effectLst/>
                <a:uLnTx/>
                <a:uFillTx/>
                <a:ea typeface="+mn-ea"/>
                <a:cs typeface="Calibri" panose="020F0502020204030204" pitchFamily="34" charset="0"/>
              </a:rPr>
              <a:t>View LOB Detail - WC</a:t>
            </a:r>
          </a:p>
        </p:txBody>
      </p:sp>
      <p:sp>
        <p:nvSpPr>
          <p:cNvPr id="72" name="TextBox 71">
            <a:extLst>
              <a:ext uri="{FF2B5EF4-FFF2-40B4-BE49-F238E27FC236}">
                <a16:creationId xmlns:a16="http://schemas.microsoft.com/office/drawing/2014/main" id="{41A8A690-87A9-C4C1-DE7E-7A97BA61899E}"/>
              </a:ext>
            </a:extLst>
          </p:cNvPr>
          <p:cNvSpPr txBox="1"/>
          <p:nvPr/>
        </p:nvSpPr>
        <p:spPr>
          <a:xfrm>
            <a:off x="9820444" y="4342202"/>
            <a:ext cx="1195553" cy="430887"/>
          </a:xfrm>
          <a:prstGeom prst="rect">
            <a:avLst/>
          </a:prstGeom>
          <a:noFill/>
        </p:spPr>
        <p:txBody>
          <a:bodyPr wrap="square" rtlCol="0">
            <a:spAutoFit/>
          </a:bodyPr>
          <a:lstStyle/>
          <a:p>
            <a:pPr marL="171450" marR="0" lvl="1"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B4D4E"/>
                </a:solidFill>
                <a:effectLst/>
                <a:uLnTx/>
                <a:uFillTx/>
                <a:ea typeface="+mn-ea"/>
                <a:cs typeface="Calibri" panose="020F0502020204030204" pitchFamily="34" charset="0"/>
              </a:rPr>
              <a:t>Task 1</a:t>
            </a:r>
          </a:p>
          <a:p>
            <a:pPr marL="171450" marR="0" lvl="1"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4B4D4E"/>
                </a:solidFill>
                <a:effectLst/>
                <a:uLnTx/>
                <a:uFillTx/>
                <a:ea typeface="+mn-ea"/>
                <a:cs typeface="Calibri" panose="020F0502020204030204" pitchFamily="34" charset="0"/>
              </a:rPr>
              <a:t>Task 2</a:t>
            </a:r>
          </a:p>
        </p:txBody>
      </p:sp>
      <p:sp>
        <p:nvSpPr>
          <p:cNvPr id="5" name="Title 3">
            <a:extLst>
              <a:ext uri="{FF2B5EF4-FFF2-40B4-BE49-F238E27FC236}">
                <a16:creationId xmlns:a16="http://schemas.microsoft.com/office/drawing/2014/main" id="{61B28E04-AE1C-9913-1FEF-F509979A44D0}"/>
              </a:ext>
            </a:extLst>
          </p:cNvPr>
          <p:cNvSpPr txBox="1">
            <a:spLocks/>
          </p:cNvSpPr>
          <p:nvPr/>
        </p:nvSpPr>
        <p:spPr>
          <a:xfrm>
            <a:off x="184150" y="284162"/>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r>
              <a:rPr lang="en-US" sz="2800" cap="none">
                <a:solidFill>
                  <a:schemeClr val="tx1"/>
                </a:solidFill>
              </a:rPr>
              <a:t>Epics, Features, Stories &amp; Tasks</a:t>
            </a:r>
          </a:p>
        </p:txBody>
      </p:sp>
    </p:spTree>
    <p:extLst>
      <p:ext uri="{BB962C8B-B14F-4D97-AF65-F5344CB8AC3E}">
        <p14:creationId xmlns:p14="http://schemas.microsoft.com/office/powerpoint/2010/main" val="9996846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a:extLst>
              <a:ext uri="{FF2B5EF4-FFF2-40B4-BE49-F238E27FC236}">
                <a16:creationId xmlns:a16="http://schemas.microsoft.com/office/drawing/2014/main" id="{9FDFC3F2-3908-A948-572D-F9F9F8127478}"/>
              </a:ext>
            </a:extLst>
          </p:cNvPr>
          <p:cNvSpPr>
            <a:spLocks noGrp="1"/>
          </p:cNvSpPr>
          <p:nvPr>
            <p:ph type="subTitle" idx="1"/>
          </p:nvPr>
        </p:nvSpPr>
        <p:spPr>
          <a:xfrm>
            <a:off x="184150" y="727563"/>
            <a:ext cx="9144000" cy="365125"/>
          </a:xfrm>
        </p:spPr>
        <p:txBody>
          <a:bodyPr vert="horz" lIns="0" tIns="0" rIns="0" bIns="0" rtlCol="0">
            <a:normAutofit/>
          </a:bodyPr>
          <a:lstStyle/>
          <a:p>
            <a:r>
              <a:rPr lang="en-GB" sz="1600" b="1" i="1">
                <a:solidFill>
                  <a:schemeClr val="tx1"/>
                </a:solidFill>
              </a:rPr>
              <a:t>Focused hierarchy to support agile delivery and sprint goals</a:t>
            </a:r>
          </a:p>
          <a:p>
            <a:endParaRPr lang="en-GB" sz="1600" b="1" i="1">
              <a:solidFill>
                <a:schemeClr val="tx1"/>
              </a:solidFill>
            </a:endParaRPr>
          </a:p>
        </p:txBody>
      </p:sp>
      <p:sp>
        <p:nvSpPr>
          <p:cNvPr id="3" name="Rectangle 2"/>
          <p:cNvSpPr>
            <a:spLocks/>
          </p:cNvSpPr>
          <p:nvPr/>
        </p:nvSpPr>
        <p:spPr>
          <a:xfrm>
            <a:off x="8229749" y="3573247"/>
            <a:ext cx="2533307" cy="744255"/>
          </a:xfrm>
          <a:prstGeom prst="rect">
            <a:avLst/>
          </a:prstGeom>
          <a:noFill/>
          <a:ln w="28575">
            <a:solidFill>
              <a:schemeClr val="accent4"/>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hapeNameChangedByPowerUser1"/>
          <p:cNvSpPr/>
          <p:nvPr/>
        </p:nvSpPr>
        <p:spPr>
          <a:xfrm>
            <a:off x="639484" y="1362075"/>
            <a:ext cx="2493088" cy="4268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a:ln>
                  <a:noFill/>
                </a:ln>
                <a:solidFill>
                  <a:schemeClr val="tx1"/>
                </a:solidFill>
                <a:effectLst/>
                <a:uLnTx/>
                <a:uFillTx/>
                <a:ea typeface="+mn-ea"/>
                <a:cs typeface="+mn-cs"/>
              </a:rPr>
              <a:t>EPIC</a:t>
            </a:r>
          </a:p>
        </p:txBody>
      </p:sp>
      <p:sp>
        <p:nvSpPr>
          <p:cNvPr id="5" name="ShapeNameChangedByPowerUser2"/>
          <p:cNvSpPr/>
          <p:nvPr/>
        </p:nvSpPr>
        <p:spPr>
          <a:xfrm>
            <a:off x="3180067" y="1362075"/>
            <a:ext cx="2493088" cy="4268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a:ln>
                  <a:noFill/>
                </a:ln>
                <a:solidFill>
                  <a:schemeClr val="tx1"/>
                </a:solidFill>
                <a:effectLst/>
                <a:uLnTx/>
                <a:uFillTx/>
                <a:ea typeface="+mn-ea"/>
                <a:cs typeface="+mn-cs"/>
              </a:rPr>
              <a:t>FEATURE</a:t>
            </a:r>
          </a:p>
        </p:txBody>
      </p:sp>
      <p:sp>
        <p:nvSpPr>
          <p:cNvPr id="6" name="ShapeNameChangedByPowerUser3"/>
          <p:cNvSpPr/>
          <p:nvPr/>
        </p:nvSpPr>
        <p:spPr>
          <a:xfrm>
            <a:off x="5720649" y="1362075"/>
            <a:ext cx="2493088" cy="4268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a:ln>
                  <a:noFill/>
                </a:ln>
                <a:solidFill>
                  <a:schemeClr val="tx1"/>
                </a:solidFill>
                <a:effectLst/>
                <a:uLnTx/>
                <a:uFillTx/>
                <a:ea typeface="+mn-ea"/>
                <a:cs typeface="+mn-cs"/>
              </a:rPr>
              <a:t>USER STORY</a:t>
            </a:r>
          </a:p>
        </p:txBody>
      </p:sp>
      <p:cxnSp>
        <p:nvCxnSpPr>
          <p:cNvPr id="8" name="Connecteur droit 31"/>
          <p:cNvCxnSpPr>
            <a:cxnSpLocks/>
          </p:cNvCxnSpPr>
          <p:nvPr/>
        </p:nvCxnSpPr>
        <p:spPr>
          <a:xfrm>
            <a:off x="3170376" y="1419480"/>
            <a:ext cx="0" cy="4077669"/>
          </a:xfrm>
          <a:prstGeom prst="line">
            <a:avLst/>
          </a:prstGeom>
          <a:ln>
            <a:solidFill>
              <a:srgbClr val="7F7F7F"/>
            </a:solidFill>
          </a:ln>
        </p:spPr>
        <p:style>
          <a:lnRef idx="1">
            <a:schemeClr val="accent1"/>
          </a:lnRef>
          <a:fillRef idx="0">
            <a:schemeClr val="accent1"/>
          </a:fillRef>
          <a:effectRef idx="0">
            <a:schemeClr val="accent1"/>
          </a:effectRef>
          <a:fontRef idx="minor">
            <a:schemeClr val="tx1"/>
          </a:fontRef>
        </p:style>
      </p:cxnSp>
      <p:cxnSp>
        <p:nvCxnSpPr>
          <p:cNvPr id="9" name="Connecteur droit 32"/>
          <p:cNvCxnSpPr>
            <a:cxnSpLocks/>
          </p:cNvCxnSpPr>
          <p:nvPr/>
        </p:nvCxnSpPr>
        <p:spPr>
          <a:xfrm>
            <a:off x="5701269" y="1419480"/>
            <a:ext cx="0" cy="3607602"/>
          </a:xfrm>
          <a:prstGeom prst="line">
            <a:avLst/>
          </a:prstGeom>
          <a:ln>
            <a:solidFill>
              <a:srgbClr val="7F7F7F"/>
            </a:solidFill>
          </a:ln>
        </p:spPr>
        <p:style>
          <a:lnRef idx="1">
            <a:schemeClr val="accent1"/>
          </a:lnRef>
          <a:fillRef idx="0">
            <a:schemeClr val="accent1"/>
          </a:fillRef>
          <a:effectRef idx="0">
            <a:schemeClr val="accent1"/>
          </a:effectRef>
          <a:fontRef idx="minor">
            <a:schemeClr val="tx1"/>
          </a:fontRef>
        </p:style>
      </p:cxnSp>
      <p:sp>
        <p:nvSpPr>
          <p:cNvPr id="10" name="ZoneTexte 60"/>
          <p:cNvSpPr txBox="1"/>
          <p:nvPr/>
        </p:nvSpPr>
        <p:spPr>
          <a:xfrm>
            <a:off x="8215574" y="4694555"/>
            <a:ext cx="2681582"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prstClr val="black"/>
                </a:solidFill>
                <a:effectLst/>
                <a:uLnTx/>
                <a:uFillTx/>
                <a:latin typeface="Calibri" panose="020F0502020204030204"/>
                <a:ea typeface="+mn-ea"/>
                <a:cs typeface="+mn-cs"/>
              </a:rPr>
              <a:t>Ready </a:t>
            </a:r>
            <a:r>
              <a:rPr kumimoji="0" lang="en-GB" sz="1800" b="0" i="0" u="none" strike="noStrike" kern="0" cap="none" spc="0" normalizeH="0" baseline="0" noProof="0">
                <a:ln>
                  <a:noFill/>
                </a:ln>
                <a:solidFill>
                  <a:prstClr val="black"/>
                </a:solidFill>
                <a:effectLst/>
                <a:uLnTx/>
                <a:uFillTx/>
                <a:ea typeface="+mn-ea"/>
                <a:cs typeface="+mn-cs"/>
              </a:rPr>
              <a:t>for</a:t>
            </a:r>
            <a:r>
              <a:rPr kumimoji="0" lang="en-GB" sz="1800" b="0" i="0" u="none" strike="noStrike" kern="0" cap="none" spc="0" normalizeH="0" baseline="0" noProof="0">
                <a:ln>
                  <a:noFill/>
                </a:ln>
                <a:solidFill>
                  <a:prstClr val="black"/>
                </a:solidFill>
                <a:effectLst/>
                <a:uLnTx/>
                <a:uFillTx/>
                <a:latin typeface="Calibri" panose="020F0502020204030204"/>
                <a:ea typeface="+mn-ea"/>
                <a:cs typeface="+mn-cs"/>
              </a:rPr>
              <a:t> Sprint</a:t>
            </a:r>
          </a:p>
        </p:txBody>
      </p:sp>
      <p:sp>
        <p:nvSpPr>
          <p:cNvPr id="11" name="ShapeNameChangedByPowerUser3"/>
          <p:cNvSpPr/>
          <p:nvPr/>
        </p:nvSpPr>
        <p:spPr>
          <a:xfrm>
            <a:off x="8268738" y="1362075"/>
            <a:ext cx="2493088" cy="4268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a:ln>
                  <a:noFill/>
                </a:ln>
                <a:solidFill>
                  <a:schemeClr val="tx1"/>
                </a:solidFill>
                <a:effectLst/>
                <a:uLnTx/>
                <a:uFillTx/>
                <a:ea typeface="+mn-ea"/>
                <a:cs typeface="+mn-cs"/>
              </a:rPr>
              <a:t>SPLIT USER STORIES</a:t>
            </a:r>
          </a:p>
        </p:txBody>
      </p:sp>
      <p:cxnSp>
        <p:nvCxnSpPr>
          <p:cNvPr id="12" name="Connecteur droit 32"/>
          <p:cNvCxnSpPr>
            <a:cxnSpLocks/>
          </p:cNvCxnSpPr>
          <p:nvPr/>
        </p:nvCxnSpPr>
        <p:spPr>
          <a:xfrm>
            <a:off x="8232162" y="1419480"/>
            <a:ext cx="0" cy="3312000"/>
          </a:xfrm>
          <a:prstGeom prst="line">
            <a:avLst/>
          </a:prstGeom>
          <a:ln>
            <a:solidFill>
              <a:srgbClr val="7F7F7F"/>
            </a:solidFill>
          </a:ln>
        </p:spPr>
        <p:style>
          <a:lnRef idx="1">
            <a:schemeClr val="accent1"/>
          </a:lnRef>
          <a:fillRef idx="0">
            <a:schemeClr val="accent1"/>
          </a:fillRef>
          <a:effectRef idx="0">
            <a:schemeClr val="accent1"/>
          </a:effectRef>
          <a:fontRef idx="minor">
            <a:schemeClr val="tx1"/>
          </a:fontRef>
        </p:style>
      </p:cxnSp>
      <p:sp>
        <p:nvSpPr>
          <p:cNvPr id="14" name="Flèche droite 61"/>
          <p:cNvSpPr/>
          <p:nvPr/>
        </p:nvSpPr>
        <p:spPr>
          <a:xfrm>
            <a:off x="10950321" y="3639665"/>
            <a:ext cx="496891" cy="585083"/>
          </a:xfrm>
          <a:prstGeom prst="rightArrow">
            <a:avLst/>
          </a:prstGeom>
          <a:solidFill>
            <a:srgbClr val="F49A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grpSp>
        <p:nvGrpSpPr>
          <p:cNvPr id="27" name="Group 26"/>
          <p:cNvGrpSpPr/>
          <p:nvPr/>
        </p:nvGrpSpPr>
        <p:grpSpPr>
          <a:xfrm>
            <a:off x="632134" y="1591800"/>
            <a:ext cx="10129692" cy="1791688"/>
            <a:chOff x="632134" y="1967023"/>
            <a:chExt cx="10129692" cy="1791688"/>
          </a:xfrm>
        </p:grpSpPr>
        <p:cxnSp>
          <p:nvCxnSpPr>
            <p:cNvPr id="28" name="Connecteur droit 5"/>
            <p:cNvCxnSpPr/>
            <p:nvPr/>
          </p:nvCxnSpPr>
          <p:spPr>
            <a:xfrm>
              <a:off x="632134" y="1967023"/>
              <a:ext cx="2538242" cy="810405"/>
            </a:xfrm>
            <a:prstGeom prst="line">
              <a:avLst/>
            </a:prstGeom>
            <a:ln w="76200">
              <a:solidFill>
                <a:srgbClr val="7F7F7F"/>
              </a:solidFill>
            </a:ln>
          </p:spPr>
          <p:style>
            <a:lnRef idx="1">
              <a:schemeClr val="accent1"/>
            </a:lnRef>
            <a:fillRef idx="0">
              <a:schemeClr val="accent1"/>
            </a:fillRef>
            <a:effectRef idx="0">
              <a:schemeClr val="accent1"/>
            </a:effectRef>
            <a:fontRef idx="minor">
              <a:schemeClr val="tx1"/>
            </a:fontRef>
          </p:style>
        </p:cxnSp>
        <p:cxnSp>
          <p:nvCxnSpPr>
            <p:cNvPr id="29" name="Connecteur droit 17"/>
            <p:cNvCxnSpPr/>
            <p:nvPr/>
          </p:nvCxnSpPr>
          <p:spPr>
            <a:xfrm>
              <a:off x="3170376" y="2777428"/>
              <a:ext cx="2530893" cy="470067"/>
            </a:xfrm>
            <a:prstGeom prst="line">
              <a:avLst/>
            </a:prstGeom>
            <a:ln w="76200">
              <a:solidFill>
                <a:srgbClr val="7F7F7F"/>
              </a:solidFill>
            </a:ln>
          </p:spPr>
          <p:style>
            <a:lnRef idx="1">
              <a:schemeClr val="accent1"/>
            </a:lnRef>
            <a:fillRef idx="0">
              <a:schemeClr val="accent1"/>
            </a:fillRef>
            <a:effectRef idx="0">
              <a:schemeClr val="accent1"/>
            </a:effectRef>
            <a:fontRef idx="minor">
              <a:schemeClr val="tx1"/>
            </a:fontRef>
          </p:style>
        </p:cxnSp>
        <p:cxnSp>
          <p:nvCxnSpPr>
            <p:cNvPr id="30" name="Connecteur droit 17"/>
            <p:cNvCxnSpPr/>
            <p:nvPr/>
          </p:nvCxnSpPr>
          <p:spPr>
            <a:xfrm>
              <a:off x="5701269" y="3245914"/>
              <a:ext cx="2528480" cy="298883"/>
            </a:xfrm>
            <a:prstGeom prst="line">
              <a:avLst/>
            </a:prstGeom>
            <a:ln w="76200">
              <a:solidFill>
                <a:srgbClr val="7F7F7F"/>
              </a:solidFill>
            </a:ln>
          </p:spPr>
          <p:style>
            <a:lnRef idx="1">
              <a:schemeClr val="accent1"/>
            </a:lnRef>
            <a:fillRef idx="0">
              <a:schemeClr val="accent1"/>
            </a:fillRef>
            <a:effectRef idx="0">
              <a:schemeClr val="accent1"/>
            </a:effectRef>
            <a:fontRef idx="minor">
              <a:schemeClr val="tx1"/>
            </a:fontRef>
          </p:style>
        </p:cxnSp>
        <p:cxnSp>
          <p:nvCxnSpPr>
            <p:cNvPr id="31" name="Connecteur droit 17"/>
            <p:cNvCxnSpPr/>
            <p:nvPr/>
          </p:nvCxnSpPr>
          <p:spPr>
            <a:xfrm>
              <a:off x="8232162" y="3544797"/>
              <a:ext cx="2529664" cy="213914"/>
            </a:xfrm>
            <a:prstGeom prst="line">
              <a:avLst/>
            </a:prstGeom>
            <a:ln w="76200">
              <a:solidFill>
                <a:srgbClr val="7F7F7F"/>
              </a:solidFill>
            </a:ln>
          </p:spPr>
          <p:style>
            <a:lnRef idx="1">
              <a:schemeClr val="accent1"/>
            </a:lnRef>
            <a:fillRef idx="0">
              <a:schemeClr val="accent1"/>
            </a:fillRef>
            <a:effectRef idx="0">
              <a:schemeClr val="accent1"/>
            </a:effectRef>
            <a:fontRef idx="minor">
              <a:schemeClr val="tx1"/>
            </a:fontRef>
          </p:style>
        </p:cxnSp>
      </p:grpSp>
      <p:grpSp>
        <p:nvGrpSpPr>
          <p:cNvPr id="32" name="Group 31"/>
          <p:cNvGrpSpPr/>
          <p:nvPr/>
        </p:nvGrpSpPr>
        <p:grpSpPr>
          <a:xfrm flipV="1">
            <a:off x="655803" y="4515866"/>
            <a:ext cx="10129692" cy="1791688"/>
            <a:chOff x="632134" y="1967023"/>
            <a:chExt cx="10129692" cy="1791688"/>
          </a:xfrm>
        </p:grpSpPr>
        <p:cxnSp>
          <p:nvCxnSpPr>
            <p:cNvPr id="33" name="Connecteur droit 5"/>
            <p:cNvCxnSpPr/>
            <p:nvPr/>
          </p:nvCxnSpPr>
          <p:spPr>
            <a:xfrm>
              <a:off x="632134" y="1967023"/>
              <a:ext cx="2538242" cy="810405"/>
            </a:xfrm>
            <a:prstGeom prst="line">
              <a:avLst/>
            </a:prstGeom>
            <a:ln w="76200">
              <a:solidFill>
                <a:srgbClr val="7F7F7F"/>
              </a:solidFill>
            </a:ln>
          </p:spPr>
          <p:style>
            <a:lnRef idx="1">
              <a:schemeClr val="accent1"/>
            </a:lnRef>
            <a:fillRef idx="0">
              <a:schemeClr val="accent1"/>
            </a:fillRef>
            <a:effectRef idx="0">
              <a:schemeClr val="accent1"/>
            </a:effectRef>
            <a:fontRef idx="minor">
              <a:schemeClr val="tx1"/>
            </a:fontRef>
          </p:style>
        </p:cxnSp>
        <p:cxnSp>
          <p:nvCxnSpPr>
            <p:cNvPr id="34" name="Connecteur droit 17"/>
            <p:cNvCxnSpPr/>
            <p:nvPr/>
          </p:nvCxnSpPr>
          <p:spPr>
            <a:xfrm>
              <a:off x="3170376" y="2777428"/>
              <a:ext cx="2530893" cy="470067"/>
            </a:xfrm>
            <a:prstGeom prst="line">
              <a:avLst/>
            </a:prstGeom>
            <a:ln w="76200">
              <a:solidFill>
                <a:srgbClr val="7F7F7F"/>
              </a:solidFill>
            </a:ln>
          </p:spPr>
          <p:style>
            <a:lnRef idx="1">
              <a:schemeClr val="accent1"/>
            </a:lnRef>
            <a:fillRef idx="0">
              <a:schemeClr val="accent1"/>
            </a:fillRef>
            <a:effectRef idx="0">
              <a:schemeClr val="accent1"/>
            </a:effectRef>
            <a:fontRef idx="minor">
              <a:schemeClr val="tx1"/>
            </a:fontRef>
          </p:style>
        </p:cxnSp>
        <p:cxnSp>
          <p:nvCxnSpPr>
            <p:cNvPr id="35" name="Connecteur droit 17"/>
            <p:cNvCxnSpPr/>
            <p:nvPr/>
          </p:nvCxnSpPr>
          <p:spPr>
            <a:xfrm>
              <a:off x="5701269" y="3245914"/>
              <a:ext cx="2528480" cy="298883"/>
            </a:xfrm>
            <a:prstGeom prst="line">
              <a:avLst/>
            </a:prstGeom>
            <a:ln w="76200">
              <a:solidFill>
                <a:srgbClr val="7F7F7F"/>
              </a:solidFill>
            </a:ln>
          </p:spPr>
          <p:style>
            <a:lnRef idx="1">
              <a:schemeClr val="accent1"/>
            </a:lnRef>
            <a:fillRef idx="0">
              <a:schemeClr val="accent1"/>
            </a:fillRef>
            <a:effectRef idx="0">
              <a:schemeClr val="accent1"/>
            </a:effectRef>
            <a:fontRef idx="minor">
              <a:schemeClr val="tx1"/>
            </a:fontRef>
          </p:style>
        </p:cxnSp>
        <p:cxnSp>
          <p:nvCxnSpPr>
            <p:cNvPr id="36" name="Connecteur droit 17"/>
            <p:cNvCxnSpPr/>
            <p:nvPr/>
          </p:nvCxnSpPr>
          <p:spPr>
            <a:xfrm>
              <a:off x="8232162" y="3544797"/>
              <a:ext cx="2529664" cy="213914"/>
            </a:xfrm>
            <a:prstGeom prst="line">
              <a:avLst/>
            </a:prstGeom>
            <a:ln w="76200">
              <a:solidFill>
                <a:srgbClr val="7F7F7F"/>
              </a:solidFill>
            </a:ln>
          </p:spPr>
          <p:style>
            <a:lnRef idx="1">
              <a:schemeClr val="accent1"/>
            </a:lnRef>
            <a:fillRef idx="0">
              <a:schemeClr val="accent1"/>
            </a:fillRef>
            <a:effectRef idx="0">
              <a:schemeClr val="accent1"/>
            </a:effectRef>
            <a:fontRef idx="minor">
              <a:schemeClr val="tx1"/>
            </a:fontRef>
          </p:style>
        </p:cxnSp>
      </p:grpSp>
      <p:sp>
        <p:nvSpPr>
          <p:cNvPr id="13" name="Freeform: Shape 76">
            <a:extLst>
              <a:ext uri="{FF2B5EF4-FFF2-40B4-BE49-F238E27FC236}">
                <a16:creationId xmlns:a16="http://schemas.microsoft.com/office/drawing/2014/main" id="{AC6C452A-794B-FE31-E551-8E3B11E33F0A}"/>
              </a:ext>
            </a:extLst>
          </p:cNvPr>
          <p:cNvSpPr/>
          <p:nvPr/>
        </p:nvSpPr>
        <p:spPr>
          <a:xfrm>
            <a:off x="1264311" y="2573781"/>
            <a:ext cx="1218065" cy="1065884"/>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chemeClr val="tx2">
              <a:lumMod val="75000"/>
            </a:schemeClr>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37" name="Freeform: Shape 76">
            <a:extLst>
              <a:ext uri="{FF2B5EF4-FFF2-40B4-BE49-F238E27FC236}">
                <a16:creationId xmlns:a16="http://schemas.microsoft.com/office/drawing/2014/main" id="{242B045A-02C5-E01D-B3DB-F474AD5D8583}"/>
              </a:ext>
            </a:extLst>
          </p:cNvPr>
          <p:cNvSpPr/>
          <p:nvPr/>
        </p:nvSpPr>
        <p:spPr>
          <a:xfrm>
            <a:off x="1296535" y="3886200"/>
            <a:ext cx="1218065" cy="1065884"/>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chemeClr val="tx2">
              <a:lumMod val="75000"/>
            </a:schemeClr>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38" name="Freeform: Shape 76">
            <a:extLst>
              <a:ext uri="{FF2B5EF4-FFF2-40B4-BE49-F238E27FC236}">
                <a16:creationId xmlns:a16="http://schemas.microsoft.com/office/drawing/2014/main" id="{EC8160BE-FE0C-766E-5BD1-8402EB36156E}"/>
              </a:ext>
            </a:extLst>
          </p:cNvPr>
          <p:cNvSpPr/>
          <p:nvPr/>
        </p:nvSpPr>
        <p:spPr>
          <a:xfrm>
            <a:off x="3568584" y="3017867"/>
            <a:ext cx="915150" cy="880895"/>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chemeClr val="tx2">
              <a:lumMod val="60000"/>
              <a:lumOff val="40000"/>
            </a:schemeClr>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39" name="Freeform: Shape 76">
            <a:extLst>
              <a:ext uri="{FF2B5EF4-FFF2-40B4-BE49-F238E27FC236}">
                <a16:creationId xmlns:a16="http://schemas.microsoft.com/office/drawing/2014/main" id="{8A803C70-E0BD-6279-2154-B5DBDB27DCAD}"/>
              </a:ext>
            </a:extLst>
          </p:cNvPr>
          <p:cNvSpPr/>
          <p:nvPr/>
        </p:nvSpPr>
        <p:spPr>
          <a:xfrm>
            <a:off x="4571250" y="3462505"/>
            <a:ext cx="915150" cy="880895"/>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chemeClr val="tx2">
              <a:lumMod val="60000"/>
              <a:lumOff val="40000"/>
            </a:schemeClr>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40" name="Freeform: Shape 76">
            <a:extLst>
              <a:ext uri="{FF2B5EF4-FFF2-40B4-BE49-F238E27FC236}">
                <a16:creationId xmlns:a16="http://schemas.microsoft.com/office/drawing/2014/main" id="{11BE00FF-88BB-2F3F-066F-3E43458F4CFE}"/>
              </a:ext>
            </a:extLst>
          </p:cNvPr>
          <p:cNvSpPr/>
          <p:nvPr/>
        </p:nvSpPr>
        <p:spPr>
          <a:xfrm>
            <a:off x="3580650" y="3995905"/>
            <a:ext cx="915150" cy="880895"/>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chemeClr val="tx2">
              <a:lumMod val="60000"/>
              <a:lumOff val="40000"/>
            </a:schemeClr>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41" name="Freeform: Shape 76">
            <a:extLst>
              <a:ext uri="{FF2B5EF4-FFF2-40B4-BE49-F238E27FC236}">
                <a16:creationId xmlns:a16="http://schemas.microsoft.com/office/drawing/2014/main" id="{9AE3A789-FB64-FB63-2A16-C178BED56F97}"/>
              </a:ext>
            </a:extLst>
          </p:cNvPr>
          <p:cNvSpPr/>
          <p:nvPr/>
        </p:nvSpPr>
        <p:spPr>
          <a:xfrm>
            <a:off x="6629549" y="3562918"/>
            <a:ext cx="687566" cy="661830"/>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chemeClr val="tx2">
              <a:lumMod val="40000"/>
              <a:lumOff val="60000"/>
            </a:schemeClr>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42" name="Freeform: Shape 76">
            <a:extLst>
              <a:ext uri="{FF2B5EF4-FFF2-40B4-BE49-F238E27FC236}">
                <a16:creationId xmlns:a16="http://schemas.microsoft.com/office/drawing/2014/main" id="{CBA5032B-7CB3-4521-E121-39402A89B0C1}"/>
              </a:ext>
            </a:extLst>
          </p:cNvPr>
          <p:cNvSpPr/>
          <p:nvPr/>
        </p:nvSpPr>
        <p:spPr>
          <a:xfrm>
            <a:off x="7389634" y="3568838"/>
            <a:ext cx="687566" cy="661830"/>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chemeClr val="tx2">
              <a:lumMod val="40000"/>
              <a:lumOff val="60000"/>
            </a:schemeClr>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43" name="Freeform: Shape 76">
            <a:extLst>
              <a:ext uri="{FF2B5EF4-FFF2-40B4-BE49-F238E27FC236}">
                <a16:creationId xmlns:a16="http://schemas.microsoft.com/office/drawing/2014/main" id="{9345A2A9-A1A4-B8EC-0DBE-A3C0F1429472}"/>
              </a:ext>
            </a:extLst>
          </p:cNvPr>
          <p:cNvSpPr/>
          <p:nvPr/>
        </p:nvSpPr>
        <p:spPr>
          <a:xfrm>
            <a:off x="5887292" y="3560275"/>
            <a:ext cx="687566" cy="661830"/>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chemeClr val="tx2">
              <a:lumMod val="40000"/>
              <a:lumOff val="60000"/>
            </a:schemeClr>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44" name="Freeform: Shape 76">
            <a:extLst>
              <a:ext uri="{FF2B5EF4-FFF2-40B4-BE49-F238E27FC236}">
                <a16:creationId xmlns:a16="http://schemas.microsoft.com/office/drawing/2014/main" id="{E20EAD22-E0FC-6CD2-A67F-D38E4C8D9D21}"/>
              </a:ext>
            </a:extLst>
          </p:cNvPr>
          <p:cNvSpPr/>
          <p:nvPr/>
        </p:nvSpPr>
        <p:spPr>
          <a:xfrm>
            <a:off x="9536575" y="3736443"/>
            <a:ext cx="516578" cy="410945"/>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chemeClr val="tx2">
              <a:lumMod val="20000"/>
              <a:lumOff val="80000"/>
            </a:schemeClr>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45" name="Freeform: Shape 76">
            <a:extLst>
              <a:ext uri="{FF2B5EF4-FFF2-40B4-BE49-F238E27FC236}">
                <a16:creationId xmlns:a16="http://schemas.microsoft.com/office/drawing/2014/main" id="{5EF3500D-CEA5-6C28-0571-AC77CDE8B54C}"/>
              </a:ext>
            </a:extLst>
          </p:cNvPr>
          <p:cNvSpPr/>
          <p:nvPr/>
        </p:nvSpPr>
        <p:spPr>
          <a:xfrm>
            <a:off x="10151422" y="3742363"/>
            <a:ext cx="516578" cy="410945"/>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chemeClr val="tx2">
              <a:lumMod val="20000"/>
              <a:lumOff val="80000"/>
            </a:schemeClr>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46" name="Freeform: Shape 76">
            <a:extLst>
              <a:ext uri="{FF2B5EF4-FFF2-40B4-BE49-F238E27FC236}">
                <a16:creationId xmlns:a16="http://schemas.microsoft.com/office/drawing/2014/main" id="{3ACF914B-B828-C898-E2C3-ECC5974F4487}"/>
              </a:ext>
            </a:extLst>
          </p:cNvPr>
          <p:cNvSpPr/>
          <p:nvPr/>
        </p:nvSpPr>
        <p:spPr>
          <a:xfrm>
            <a:off x="8932222" y="3733800"/>
            <a:ext cx="516578" cy="410945"/>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chemeClr val="tx2">
              <a:lumMod val="20000"/>
              <a:lumOff val="80000"/>
            </a:schemeClr>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47" name="Freeform: Shape 76">
            <a:extLst>
              <a:ext uri="{FF2B5EF4-FFF2-40B4-BE49-F238E27FC236}">
                <a16:creationId xmlns:a16="http://schemas.microsoft.com/office/drawing/2014/main" id="{793AEC85-391A-E21F-AF28-6150EE43E75E}"/>
              </a:ext>
            </a:extLst>
          </p:cNvPr>
          <p:cNvSpPr/>
          <p:nvPr/>
        </p:nvSpPr>
        <p:spPr>
          <a:xfrm>
            <a:off x="8305800" y="3733800"/>
            <a:ext cx="516578" cy="410945"/>
          </a:xfrm>
          <a:custGeom>
            <a:avLst/>
            <a:gdLst>
              <a:gd name="connsiteX0" fmla="*/ 0 w 1547468"/>
              <a:gd name="connsiteY0" fmla="*/ 1151856 h 1542705"/>
              <a:gd name="connsiteX1" fmla="*/ 390848 w 1547468"/>
              <a:gd name="connsiteY1" fmla="*/ 1151856 h 1542705"/>
              <a:gd name="connsiteX2" fmla="*/ 390848 w 1547468"/>
              <a:gd name="connsiteY2" fmla="*/ 1542704 h 1542705"/>
              <a:gd name="connsiteX3" fmla="*/ 4763 w 1547468"/>
              <a:gd name="connsiteY3" fmla="*/ 0 h 1542705"/>
              <a:gd name="connsiteX4" fmla="*/ 1547468 w 1547468"/>
              <a:gd name="connsiteY4" fmla="*/ 0 h 1542705"/>
              <a:gd name="connsiteX5" fmla="*/ 1547468 w 1547468"/>
              <a:gd name="connsiteY5" fmla="*/ 1542705 h 1542705"/>
              <a:gd name="connsiteX6" fmla="*/ 459921 w 1547468"/>
              <a:gd name="connsiteY6" fmla="*/ 1542705 h 1542705"/>
              <a:gd name="connsiteX7" fmla="*/ 459921 w 1547468"/>
              <a:gd name="connsiteY7" fmla="*/ 1082784 h 1542705"/>
              <a:gd name="connsiteX8" fmla="*/ 4763 w 1547468"/>
              <a:gd name="connsiteY8" fmla="*/ 1082784 h 154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468" h="1542705">
                <a:moveTo>
                  <a:pt x="0" y="1151856"/>
                </a:moveTo>
                <a:lnTo>
                  <a:pt x="390848" y="1151856"/>
                </a:lnTo>
                <a:lnTo>
                  <a:pt x="390848" y="1542704"/>
                </a:lnTo>
                <a:close/>
                <a:moveTo>
                  <a:pt x="4763" y="0"/>
                </a:moveTo>
                <a:lnTo>
                  <a:pt x="1547468" y="0"/>
                </a:lnTo>
                <a:lnTo>
                  <a:pt x="1547468" y="1542705"/>
                </a:lnTo>
                <a:lnTo>
                  <a:pt x="459921" y="1542705"/>
                </a:lnTo>
                <a:lnTo>
                  <a:pt x="459921" y="1082784"/>
                </a:lnTo>
                <a:lnTo>
                  <a:pt x="4763" y="1082784"/>
                </a:lnTo>
                <a:close/>
              </a:path>
            </a:pathLst>
          </a:custGeom>
          <a:solidFill>
            <a:schemeClr val="tx2">
              <a:lumMod val="20000"/>
              <a:lumOff val="80000"/>
            </a:schemeClr>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15" name="Title 3">
            <a:extLst>
              <a:ext uri="{FF2B5EF4-FFF2-40B4-BE49-F238E27FC236}">
                <a16:creationId xmlns:a16="http://schemas.microsoft.com/office/drawing/2014/main" id="{E197A036-A479-9C5D-342E-9D440FF759EE}"/>
              </a:ext>
            </a:extLst>
          </p:cNvPr>
          <p:cNvSpPr txBox="1">
            <a:spLocks/>
          </p:cNvSpPr>
          <p:nvPr/>
        </p:nvSpPr>
        <p:spPr>
          <a:xfrm>
            <a:off x="184150" y="284162"/>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r>
              <a:rPr lang="en-US" sz="2800" cap="none">
                <a:solidFill>
                  <a:schemeClr val="tx1"/>
                </a:solidFill>
              </a:rPr>
              <a:t>Backlog Structure for Release-1  (illustrative)</a:t>
            </a:r>
          </a:p>
        </p:txBody>
      </p:sp>
    </p:spTree>
    <p:extLst>
      <p:ext uri="{BB962C8B-B14F-4D97-AF65-F5344CB8AC3E}">
        <p14:creationId xmlns:p14="http://schemas.microsoft.com/office/powerpoint/2010/main" val="31238964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Connector: Elbow 24">
            <a:extLst>
              <a:ext uri="{FF2B5EF4-FFF2-40B4-BE49-F238E27FC236}">
                <a16:creationId xmlns:a16="http://schemas.microsoft.com/office/drawing/2014/main" id="{EB502085-738A-110B-4E93-248A6DF0C93F}"/>
              </a:ext>
            </a:extLst>
          </p:cNvPr>
          <p:cNvCxnSpPr>
            <a:cxnSpLocks/>
          </p:cNvCxnSpPr>
          <p:nvPr/>
        </p:nvCxnSpPr>
        <p:spPr>
          <a:xfrm rot="10800000">
            <a:off x="5638801" y="1451119"/>
            <a:ext cx="2510903" cy="350423"/>
          </a:xfrm>
          <a:prstGeom prst="bentConnector3">
            <a:avLst>
              <a:gd name="adj1" fmla="val 50001"/>
            </a:avLst>
          </a:prstGeom>
          <a:noFill/>
          <a:ln w="25400" cap="flat" cmpd="sng" algn="ctr">
            <a:solidFill>
              <a:srgbClr val="D9D9D9"/>
            </a:solidFill>
            <a:prstDash val="dash"/>
            <a:miter lim="800000"/>
            <a:tailEnd type="oval"/>
          </a:ln>
          <a:effectLst/>
        </p:spPr>
      </p:cxnSp>
      <p:cxnSp>
        <p:nvCxnSpPr>
          <p:cNvPr id="30" name="Connector: Elbow 24">
            <a:extLst>
              <a:ext uri="{FF2B5EF4-FFF2-40B4-BE49-F238E27FC236}">
                <a16:creationId xmlns:a16="http://schemas.microsoft.com/office/drawing/2014/main" id="{E7115867-8676-41CB-C25B-26BEB7F0EE09}"/>
              </a:ext>
            </a:extLst>
          </p:cNvPr>
          <p:cNvCxnSpPr>
            <a:cxnSpLocks/>
          </p:cNvCxnSpPr>
          <p:nvPr/>
        </p:nvCxnSpPr>
        <p:spPr>
          <a:xfrm rot="10800000">
            <a:off x="5767255" y="2702671"/>
            <a:ext cx="1317672" cy="438961"/>
          </a:xfrm>
          <a:prstGeom prst="bentConnector3">
            <a:avLst>
              <a:gd name="adj1" fmla="val 50000"/>
            </a:avLst>
          </a:prstGeom>
          <a:noFill/>
          <a:ln w="25400" cap="flat" cmpd="sng" algn="ctr">
            <a:solidFill>
              <a:srgbClr val="D9D9D9"/>
            </a:solidFill>
            <a:prstDash val="dash"/>
            <a:miter lim="800000"/>
            <a:tailEnd type="oval"/>
          </a:ln>
          <a:effectLst/>
        </p:spPr>
      </p:cxnSp>
      <p:cxnSp>
        <p:nvCxnSpPr>
          <p:cNvPr id="31" name="Connector: Elbow 24">
            <a:extLst>
              <a:ext uri="{FF2B5EF4-FFF2-40B4-BE49-F238E27FC236}">
                <a16:creationId xmlns:a16="http://schemas.microsoft.com/office/drawing/2014/main" id="{F90FDD7C-D0C2-B661-BE04-A21206939EEF}"/>
              </a:ext>
            </a:extLst>
          </p:cNvPr>
          <p:cNvCxnSpPr>
            <a:cxnSpLocks/>
          </p:cNvCxnSpPr>
          <p:nvPr/>
        </p:nvCxnSpPr>
        <p:spPr>
          <a:xfrm rot="5400000">
            <a:off x="5309738" y="5124371"/>
            <a:ext cx="1288944" cy="517809"/>
          </a:xfrm>
          <a:prstGeom prst="bentConnector3">
            <a:avLst>
              <a:gd name="adj1" fmla="val 50000"/>
            </a:avLst>
          </a:prstGeom>
          <a:noFill/>
          <a:ln w="25400" cap="flat" cmpd="sng" algn="ctr">
            <a:solidFill>
              <a:srgbClr val="D9D9D9"/>
            </a:solidFill>
            <a:prstDash val="dash"/>
            <a:miter lim="800000"/>
            <a:tailEnd type="oval"/>
          </a:ln>
          <a:effectLst/>
        </p:spPr>
      </p:cxnSp>
      <p:cxnSp>
        <p:nvCxnSpPr>
          <p:cNvPr id="32" name="Connector: Elbow 24">
            <a:extLst>
              <a:ext uri="{FF2B5EF4-FFF2-40B4-BE49-F238E27FC236}">
                <a16:creationId xmlns:a16="http://schemas.microsoft.com/office/drawing/2014/main" id="{8EADC883-6E01-46DF-FA17-E9AED351EB92}"/>
              </a:ext>
            </a:extLst>
          </p:cNvPr>
          <p:cNvCxnSpPr>
            <a:cxnSpLocks/>
          </p:cNvCxnSpPr>
          <p:nvPr/>
        </p:nvCxnSpPr>
        <p:spPr>
          <a:xfrm rot="10800000" flipV="1">
            <a:off x="5716243" y="3758772"/>
            <a:ext cx="1058057" cy="361173"/>
          </a:xfrm>
          <a:prstGeom prst="bentConnector3">
            <a:avLst>
              <a:gd name="adj1" fmla="val 50000"/>
            </a:avLst>
          </a:prstGeom>
          <a:noFill/>
          <a:ln w="25400" cap="flat" cmpd="sng" algn="ctr">
            <a:solidFill>
              <a:srgbClr val="D9D9D9"/>
            </a:solidFill>
            <a:prstDash val="dash"/>
            <a:miter lim="800000"/>
            <a:tailEnd type="oval"/>
          </a:ln>
          <a:effectLst/>
        </p:spPr>
      </p:cxnSp>
      <p:grpSp>
        <p:nvGrpSpPr>
          <p:cNvPr id="33" name="Groupe 43">
            <a:extLst>
              <a:ext uri="{FF2B5EF4-FFF2-40B4-BE49-F238E27FC236}">
                <a16:creationId xmlns:a16="http://schemas.microsoft.com/office/drawing/2014/main" id="{6FEF9220-786B-F4FD-6F8F-881C5CC29C7E}"/>
              </a:ext>
            </a:extLst>
          </p:cNvPr>
          <p:cNvGrpSpPr/>
          <p:nvPr/>
        </p:nvGrpSpPr>
        <p:grpSpPr>
          <a:xfrm>
            <a:off x="6261045" y="1236984"/>
            <a:ext cx="5549955" cy="4249416"/>
            <a:chOff x="3027093" y="1385053"/>
            <a:chExt cx="5645272" cy="4683584"/>
          </a:xfrm>
        </p:grpSpPr>
        <p:grpSp>
          <p:nvGrpSpPr>
            <p:cNvPr id="34" name="Group 24">
              <a:extLst>
                <a:ext uri="{FF2B5EF4-FFF2-40B4-BE49-F238E27FC236}">
                  <a16:creationId xmlns:a16="http://schemas.microsoft.com/office/drawing/2014/main" id="{1205245E-B6CD-AB18-592A-D7636E2D4E8B}"/>
                </a:ext>
              </a:extLst>
            </p:cNvPr>
            <p:cNvGrpSpPr/>
            <p:nvPr/>
          </p:nvGrpSpPr>
          <p:grpSpPr>
            <a:xfrm>
              <a:off x="4349338" y="1385053"/>
              <a:ext cx="4323027" cy="3893670"/>
              <a:chOff x="5208267" y="971551"/>
              <a:chExt cx="4323027" cy="3893670"/>
            </a:xfrm>
          </p:grpSpPr>
          <p:sp>
            <p:nvSpPr>
              <p:cNvPr id="47" name="Freeform: Shape 6">
                <a:extLst>
                  <a:ext uri="{FF2B5EF4-FFF2-40B4-BE49-F238E27FC236}">
                    <a16:creationId xmlns:a16="http://schemas.microsoft.com/office/drawing/2014/main" id="{0392FD40-2CCE-8FAA-43D1-17F43B25E0DD}"/>
                  </a:ext>
                </a:extLst>
              </p:cNvPr>
              <p:cNvSpPr/>
              <p:nvPr/>
            </p:nvSpPr>
            <p:spPr>
              <a:xfrm>
                <a:off x="5454340" y="1774954"/>
                <a:ext cx="488078" cy="1297591"/>
              </a:xfrm>
              <a:custGeom>
                <a:avLst/>
                <a:gdLst>
                  <a:gd name="connsiteX0" fmla="*/ 131004 w 435518"/>
                  <a:gd name="connsiteY0" fmla="*/ 550450 h 1157858"/>
                  <a:gd name="connsiteX1" fmla="*/ 435518 w 435518"/>
                  <a:gd name="connsiteY1" fmla="*/ 0 h 1157858"/>
                  <a:gd name="connsiteX2" fmla="*/ 280642 w 435518"/>
                  <a:gd name="connsiteY2" fmla="*/ 718852 h 1157858"/>
                  <a:gd name="connsiteX3" fmla="*/ 131 w 435518"/>
                  <a:gd name="connsiteY3" fmla="*/ 1157859 h 1157858"/>
                  <a:gd name="connsiteX4" fmla="*/ 131004 w 435518"/>
                  <a:gd name="connsiteY4" fmla="*/ 550450 h 1157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5518" h="1157858">
                    <a:moveTo>
                      <a:pt x="131004" y="550450"/>
                    </a:moveTo>
                    <a:cubicBezTo>
                      <a:pt x="232540" y="366998"/>
                      <a:pt x="333982" y="183452"/>
                      <a:pt x="435518" y="0"/>
                    </a:cubicBezTo>
                    <a:cubicBezTo>
                      <a:pt x="333125" y="185166"/>
                      <a:pt x="277118" y="427387"/>
                      <a:pt x="280642" y="718852"/>
                    </a:cubicBezTo>
                    <a:lnTo>
                      <a:pt x="131" y="1157859"/>
                    </a:lnTo>
                    <a:cubicBezTo>
                      <a:pt x="-2822" y="911638"/>
                      <a:pt x="44422" y="706946"/>
                      <a:pt x="131004" y="550450"/>
                    </a:cubicBezTo>
                    <a:close/>
                  </a:path>
                </a:pathLst>
              </a:custGeom>
              <a:gradFill flip="none" rotWithShape="1">
                <a:gsLst>
                  <a:gs pos="15000">
                    <a:srgbClr val="FFCF4A">
                      <a:lumMod val="60000"/>
                      <a:lumOff val="40000"/>
                    </a:srgbClr>
                  </a:gs>
                  <a:gs pos="75000">
                    <a:srgbClr val="FFCF4A"/>
                  </a:gs>
                </a:gsLst>
                <a:path path="circle">
                  <a:fillToRect l="100000" t="100000"/>
                </a:path>
                <a:tileRect r="-100000" b="-100000"/>
              </a:gradFill>
              <a:ln w="9525" cap="flat">
                <a:noFill/>
                <a:prstDash val="solid"/>
                <a:miter/>
              </a:ln>
              <a:effectLst>
                <a:outerShdw blurRad="571500" dist="381000" dir="5400000" sx="85000" sy="85000" algn="t" rotWithShape="0">
                  <a:srgbClr val="33C481">
                    <a:alpha val="30000"/>
                  </a:srgb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48" name="Freeform: Shape 7">
                <a:extLst>
                  <a:ext uri="{FF2B5EF4-FFF2-40B4-BE49-F238E27FC236}">
                    <a16:creationId xmlns:a16="http://schemas.microsoft.com/office/drawing/2014/main" id="{F0874BCB-5820-4AB8-D7D1-535BE0315397}"/>
                  </a:ext>
                </a:extLst>
              </p:cNvPr>
              <p:cNvSpPr/>
              <p:nvPr/>
            </p:nvSpPr>
            <p:spPr>
              <a:xfrm>
                <a:off x="5208267" y="1666803"/>
                <a:ext cx="3468539" cy="3198418"/>
              </a:xfrm>
              <a:custGeom>
                <a:avLst/>
                <a:gdLst>
                  <a:gd name="connsiteX0" fmla="*/ 226475 w 3095023"/>
                  <a:gd name="connsiteY0" fmla="*/ 1254363 h 2853991"/>
                  <a:gd name="connsiteX1" fmla="*/ 226475 w 3095023"/>
                  <a:gd name="connsiteY1" fmla="*/ 1254363 h 2853991"/>
                  <a:gd name="connsiteX2" fmla="*/ 1528828 w 3095023"/>
                  <a:gd name="connsiteY2" fmla="*/ 459312 h 2853991"/>
                  <a:gd name="connsiteX3" fmla="*/ 2868615 w 3095023"/>
                  <a:gd name="connsiteY3" fmla="*/ 2726738 h 2853991"/>
                  <a:gd name="connsiteX4" fmla="*/ 3095024 w 3095023"/>
                  <a:gd name="connsiteY4" fmla="*/ 2853992 h 2853991"/>
                  <a:gd name="connsiteX5" fmla="*/ 3095024 w 3095023"/>
                  <a:gd name="connsiteY5" fmla="*/ 2852944 h 2853991"/>
                  <a:gd name="connsiteX6" fmla="*/ 1525589 w 3095023"/>
                  <a:gd name="connsiteY6" fmla="*/ 196993 h 2853991"/>
                  <a:gd name="connsiteX7" fmla="*/ 161 w 3095023"/>
                  <a:gd name="connsiteY7" fmla="*/ 1128252 h 2853991"/>
                  <a:gd name="connsiteX8" fmla="*/ 226475 w 3095023"/>
                  <a:gd name="connsiteY8" fmla="*/ 1254363 h 2853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95023" h="2853991">
                    <a:moveTo>
                      <a:pt x="226475" y="1254363"/>
                    </a:moveTo>
                    <a:lnTo>
                      <a:pt x="226475" y="1254363"/>
                    </a:lnTo>
                    <a:cubicBezTo>
                      <a:pt x="216092" y="408639"/>
                      <a:pt x="799213" y="52689"/>
                      <a:pt x="1528828" y="459312"/>
                    </a:cubicBezTo>
                    <a:cubicBezTo>
                      <a:pt x="2258443" y="865934"/>
                      <a:pt x="2858328" y="1881013"/>
                      <a:pt x="2868615" y="2726738"/>
                    </a:cubicBezTo>
                    <a:lnTo>
                      <a:pt x="3095024" y="2853992"/>
                    </a:lnTo>
                    <a:cubicBezTo>
                      <a:pt x="3095024" y="2853611"/>
                      <a:pt x="3095024" y="2853325"/>
                      <a:pt x="3095024" y="2852944"/>
                    </a:cubicBezTo>
                    <a:cubicBezTo>
                      <a:pt x="3082927" y="1862344"/>
                      <a:pt x="2380268" y="673243"/>
                      <a:pt x="1525589" y="196993"/>
                    </a:cubicBezTo>
                    <a:cubicBezTo>
                      <a:pt x="670911" y="-279257"/>
                      <a:pt x="-12031" y="137652"/>
                      <a:pt x="161" y="1128252"/>
                    </a:cubicBezTo>
                    <a:lnTo>
                      <a:pt x="226475" y="1254363"/>
                    </a:lnTo>
                    <a:close/>
                  </a:path>
                </a:pathLst>
              </a:custGeom>
              <a:solidFill>
                <a:sysClr val="window" lastClr="FFFFFF"/>
              </a:solidFill>
              <a:ln w="12700" cap="flat" cmpd="sng" algn="ctr">
                <a:noFill/>
                <a:prstDash val="solid"/>
                <a:miter lim="800000"/>
              </a:ln>
              <a:effectLst>
                <a:outerShdw blurRad="1016000" dist="889000" dir="8100000" sx="90000" sy="90000" algn="tr" rotWithShape="0">
                  <a:prstClr val="black">
                    <a:alpha val="1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9" name="Freeform: Shape 15">
                <a:extLst>
                  <a:ext uri="{FF2B5EF4-FFF2-40B4-BE49-F238E27FC236}">
                    <a16:creationId xmlns:a16="http://schemas.microsoft.com/office/drawing/2014/main" id="{9A07C0C6-BE23-F64B-D532-D641141FD45A}"/>
                  </a:ext>
                </a:extLst>
              </p:cNvPr>
              <p:cNvSpPr/>
              <p:nvPr/>
            </p:nvSpPr>
            <p:spPr>
              <a:xfrm>
                <a:off x="5368663" y="971551"/>
                <a:ext cx="4162631" cy="3893564"/>
              </a:xfrm>
              <a:custGeom>
                <a:avLst/>
                <a:gdLst>
                  <a:gd name="connsiteX0" fmla="*/ 2945130 w 3714369"/>
                  <a:gd name="connsiteY0" fmla="*/ 3474280 h 3474279"/>
                  <a:gd name="connsiteX1" fmla="*/ 2945130 w 3714369"/>
                  <a:gd name="connsiteY1" fmla="*/ 3473232 h 3474279"/>
                  <a:gd name="connsiteX2" fmla="*/ 2639854 w 3714369"/>
                  <a:gd name="connsiteY2" fmla="*/ 2260890 h 3474279"/>
                  <a:gd name="connsiteX3" fmla="*/ 2633472 w 3714369"/>
                  <a:gd name="connsiteY3" fmla="*/ 2247460 h 3474279"/>
                  <a:gd name="connsiteX4" fmla="*/ 2627090 w 3714369"/>
                  <a:gd name="connsiteY4" fmla="*/ 2234030 h 3474279"/>
                  <a:gd name="connsiteX5" fmla="*/ 2620518 w 3714369"/>
                  <a:gd name="connsiteY5" fmla="*/ 2220599 h 3474279"/>
                  <a:gd name="connsiteX6" fmla="*/ 2614041 w 3714369"/>
                  <a:gd name="connsiteY6" fmla="*/ 2207169 h 3474279"/>
                  <a:gd name="connsiteX7" fmla="*/ 2607374 w 3714369"/>
                  <a:gd name="connsiteY7" fmla="*/ 2193739 h 3474279"/>
                  <a:gd name="connsiteX8" fmla="*/ 2600706 w 3714369"/>
                  <a:gd name="connsiteY8" fmla="*/ 2180309 h 3474279"/>
                  <a:gd name="connsiteX9" fmla="*/ 2593943 w 3714369"/>
                  <a:gd name="connsiteY9" fmla="*/ 2166878 h 3474279"/>
                  <a:gd name="connsiteX10" fmla="*/ 2586990 w 3714369"/>
                  <a:gd name="connsiteY10" fmla="*/ 2153448 h 3474279"/>
                  <a:gd name="connsiteX11" fmla="*/ 2580037 w 3714369"/>
                  <a:gd name="connsiteY11" fmla="*/ 2140018 h 3474279"/>
                  <a:gd name="connsiteX12" fmla="*/ 2573083 w 3714369"/>
                  <a:gd name="connsiteY12" fmla="*/ 2126588 h 3474279"/>
                  <a:gd name="connsiteX13" fmla="*/ 2566035 w 3714369"/>
                  <a:gd name="connsiteY13" fmla="*/ 2113157 h 3474279"/>
                  <a:gd name="connsiteX14" fmla="*/ 2558891 w 3714369"/>
                  <a:gd name="connsiteY14" fmla="*/ 2099727 h 3474279"/>
                  <a:gd name="connsiteX15" fmla="*/ 2551652 w 3714369"/>
                  <a:gd name="connsiteY15" fmla="*/ 2086297 h 3474279"/>
                  <a:gd name="connsiteX16" fmla="*/ 2544413 w 3714369"/>
                  <a:gd name="connsiteY16" fmla="*/ 2072867 h 3474279"/>
                  <a:gd name="connsiteX17" fmla="*/ 2537079 w 3714369"/>
                  <a:gd name="connsiteY17" fmla="*/ 2059341 h 3474279"/>
                  <a:gd name="connsiteX18" fmla="*/ 2529649 w 3714369"/>
                  <a:gd name="connsiteY18" fmla="*/ 2045911 h 3474279"/>
                  <a:gd name="connsiteX19" fmla="*/ 2522220 w 3714369"/>
                  <a:gd name="connsiteY19" fmla="*/ 2032480 h 3474279"/>
                  <a:gd name="connsiteX20" fmla="*/ 2514600 w 3714369"/>
                  <a:gd name="connsiteY20" fmla="*/ 2019050 h 3474279"/>
                  <a:gd name="connsiteX21" fmla="*/ 2506980 w 3714369"/>
                  <a:gd name="connsiteY21" fmla="*/ 2005620 h 3474279"/>
                  <a:gd name="connsiteX22" fmla="*/ 2499360 w 3714369"/>
                  <a:gd name="connsiteY22" fmla="*/ 1992190 h 3474279"/>
                  <a:gd name="connsiteX23" fmla="*/ 2491549 w 3714369"/>
                  <a:gd name="connsiteY23" fmla="*/ 1978759 h 3474279"/>
                  <a:gd name="connsiteX24" fmla="*/ 2483739 w 3714369"/>
                  <a:gd name="connsiteY24" fmla="*/ 1965329 h 3474279"/>
                  <a:gd name="connsiteX25" fmla="*/ 2475833 w 3714369"/>
                  <a:gd name="connsiteY25" fmla="*/ 1951899 h 3474279"/>
                  <a:gd name="connsiteX26" fmla="*/ 2467832 w 3714369"/>
                  <a:gd name="connsiteY26" fmla="*/ 1938469 h 3474279"/>
                  <a:gd name="connsiteX27" fmla="*/ 2459736 w 3714369"/>
                  <a:gd name="connsiteY27" fmla="*/ 1925038 h 3474279"/>
                  <a:gd name="connsiteX28" fmla="*/ 2451640 w 3714369"/>
                  <a:gd name="connsiteY28" fmla="*/ 1911608 h 3474279"/>
                  <a:gd name="connsiteX29" fmla="*/ 2443448 w 3714369"/>
                  <a:gd name="connsiteY29" fmla="*/ 1898178 h 3474279"/>
                  <a:gd name="connsiteX30" fmla="*/ 2435257 w 3714369"/>
                  <a:gd name="connsiteY30" fmla="*/ 1884748 h 3474279"/>
                  <a:gd name="connsiteX31" fmla="*/ 2426970 w 3714369"/>
                  <a:gd name="connsiteY31" fmla="*/ 1871413 h 3474279"/>
                  <a:gd name="connsiteX32" fmla="*/ 2418588 w 3714369"/>
                  <a:gd name="connsiteY32" fmla="*/ 1857983 h 3474279"/>
                  <a:gd name="connsiteX33" fmla="*/ 2410206 w 3714369"/>
                  <a:gd name="connsiteY33" fmla="*/ 1844647 h 3474279"/>
                  <a:gd name="connsiteX34" fmla="*/ 2302955 w 3714369"/>
                  <a:gd name="connsiteY34" fmla="*/ 1685580 h 3474279"/>
                  <a:gd name="connsiteX35" fmla="*/ 2291239 w 3714369"/>
                  <a:gd name="connsiteY35" fmla="*/ 1669388 h 3474279"/>
                  <a:gd name="connsiteX36" fmla="*/ 2279523 w 3714369"/>
                  <a:gd name="connsiteY36" fmla="*/ 1653195 h 3474279"/>
                  <a:gd name="connsiteX37" fmla="*/ 2267712 w 3714369"/>
                  <a:gd name="connsiteY37" fmla="*/ 1637098 h 3474279"/>
                  <a:gd name="connsiteX38" fmla="*/ 2255806 w 3714369"/>
                  <a:gd name="connsiteY38" fmla="*/ 1620905 h 3474279"/>
                  <a:gd name="connsiteX39" fmla="*/ 2243709 w 3714369"/>
                  <a:gd name="connsiteY39" fmla="*/ 1604808 h 3474279"/>
                  <a:gd name="connsiteX40" fmla="*/ 2231517 w 3714369"/>
                  <a:gd name="connsiteY40" fmla="*/ 1588711 h 3474279"/>
                  <a:gd name="connsiteX41" fmla="*/ 2219230 w 3714369"/>
                  <a:gd name="connsiteY41" fmla="*/ 1572709 h 3474279"/>
                  <a:gd name="connsiteX42" fmla="*/ 2206752 w 3714369"/>
                  <a:gd name="connsiteY42" fmla="*/ 1556707 h 3474279"/>
                  <a:gd name="connsiteX43" fmla="*/ 2194274 w 3714369"/>
                  <a:gd name="connsiteY43" fmla="*/ 1540705 h 3474279"/>
                  <a:gd name="connsiteX44" fmla="*/ 2181606 w 3714369"/>
                  <a:gd name="connsiteY44" fmla="*/ 1524703 h 3474279"/>
                  <a:gd name="connsiteX45" fmla="*/ 2168938 w 3714369"/>
                  <a:gd name="connsiteY45" fmla="*/ 1508987 h 3474279"/>
                  <a:gd name="connsiteX46" fmla="*/ 2156079 w 3714369"/>
                  <a:gd name="connsiteY46" fmla="*/ 1493080 h 3474279"/>
                  <a:gd name="connsiteX47" fmla="*/ 2143125 w 3714369"/>
                  <a:gd name="connsiteY47" fmla="*/ 1477363 h 3474279"/>
                  <a:gd name="connsiteX48" fmla="*/ 2129981 w 3714369"/>
                  <a:gd name="connsiteY48" fmla="*/ 1461647 h 3474279"/>
                  <a:gd name="connsiteX49" fmla="*/ 2116836 w 3714369"/>
                  <a:gd name="connsiteY49" fmla="*/ 1446026 h 3474279"/>
                  <a:gd name="connsiteX50" fmla="*/ 2103501 w 3714369"/>
                  <a:gd name="connsiteY50" fmla="*/ 1430405 h 3474279"/>
                  <a:gd name="connsiteX51" fmla="*/ 2090071 w 3714369"/>
                  <a:gd name="connsiteY51" fmla="*/ 1414879 h 3474279"/>
                  <a:gd name="connsiteX52" fmla="*/ 2076545 w 3714369"/>
                  <a:gd name="connsiteY52" fmla="*/ 1399354 h 3474279"/>
                  <a:gd name="connsiteX53" fmla="*/ 2062924 w 3714369"/>
                  <a:gd name="connsiteY53" fmla="*/ 1383923 h 3474279"/>
                  <a:gd name="connsiteX54" fmla="*/ 2049113 w 3714369"/>
                  <a:gd name="connsiteY54" fmla="*/ 1368588 h 3474279"/>
                  <a:gd name="connsiteX55" fmla="*/ 2035207 w 3714369"/>
                  <a:gd name="connsiteY55" fmla="*/ 1353253 h 3474279"/>
                  <a:gd name="connsiteX56" fmla="*/ 2021205 w 3714369"/>
                  <a:gd name="connsiteY56" fmla="*/ 1338013 h 3474279"/>
                  <a:gd name="connsiteX57" fmla="*/ 2007108 w 3714369"/>
                  <a:gd name="connsiteY57" fmla="*/ 1322868 h 3474279"/>
                  <a:gd name="connsiteX58" fmla="*/ 1992916 w 3714369"/>
                  <a:gd name="connsiteY58" fmla="*/ 1307628 h 3474279"/>
                  <a:gd name="connsiteX59" fmla="*/ 1978533 w 3714369"/>
                  <a:gd name="connsiteY59" fmla="*/ 1292674 h 3474279"/>
                  <a:gd name="connsiteX60" fmla="*/ 1964055 w 3714369"/>
                  <a:gd name="connsiteY60" fmla="*/ 1277720 h 3474279"/>
                  <a:gd name="connsiteX61" fmla="*/ 1949387 w 3714369"/>
                  <a:gd name="connsiteY61" fmla="*/ 1262861 h 3474279"/>
                  <a:gd name="connsiteX62" fmla="*/ 1934718 w 3714369"/>
                  <a:gd name="connsiteY62" fmla="*/ 1248097 h 3474279"/>
                  <a:gd name="connsiteX63" fmla="*/ 1919859 w 3714369"/>
                  <a:gd name="connsiteY63" fmla="*/ 1233428 h 3474279"/>
                  <a:gd name="connsiteX64" fmla="*/ 1904905 w 3714369"/>
                  <a:gd name="connsiteY64" fmla="*/ 1218760 h 3474279"/>
                  <a:gd name="connsiteX65" fmla="*/ 1889855 w 3714369"/>
                  <a:gd name="connsiteY65" fmla="*/ 1204187 h 3474279"/>
                  <a:gd name="connsiteX66" fmla="*/ 1375696 w 3714369"/>
                  <a:gd name="connsiteY66" fmla="*/ 817471 h 3474279"/>
                  <a:gd name="connsiteX67" fmla="*/ 0 w 3714369"/>
                  <a:gd name="connsiteY67" fmla="*/ 1043690 h 3474279"/>
                  <a:gd name="connsiteX68" fmla="*/ 300609 w 3714369"/>
                  <a:gd name="connsiteY68" fmla="*/ 490478 h 3474279"/>
                  <a:gd name="connsiteX69" fmla="*/ 1895189 w 3714369"/>
                  <a:gd name="connsiteY69" fmla="*/ 228350 h 3474279"/>
                  <a:gd name="connsiteX70" fmla="*/ 2500503 w 3714369"/>
                  <a:gd name="connsiteY70" fmla="*/ 685645 h 3474279"/>
                  <a:gd name="connsiteX71" fmla="*/ 2517743 w 3714369"/>
                  <a:gd name="connsiteY71" fmla="*/ 702410 h 3474279"/>
                  <a:gd name="connsiteX72" fmla="*/ 2534888 w 3714369"/>
                  <a:gd name="connsiteY72" fmla="*/ 719269 h 3474279"/>
                  <a:gd name="connsiteX73" fmla="*/ 2551843 w 3714369"/>
                  <a:gd name="connsiteY73" fmla="*/ 736223 h 3474279"/>
                  <a:gd name="connsiteX74" fmla="*/ 2568607 w 3714369"/>
                  <a:gd name="connsiteY74" fmla="*/ 753273 h 3474279"/>
                  <a:gd name="connsiteX75" fmla="*/ 2585275 w 3714369"/>
                  <a:gd name="connsiteY75" fmla="*/ 770323 h 3474279"/>
                  <a:gd name="connsiteX76" fmla="*/ 2601849 w 3714369"/>
                  <a:gd name="connsiteY76" fmla="*/ 787563 h 3474279"/>
                  <a:gd name="connsiteX77" fmla="*/ 2618232 w 3714369"/>
                  <a:gd name="connsiteY77" fmla="*/ 804898 h 3474279"/>
                  <a:gd name="connsiteX78" fmla="*/ 2634520 w 3714369"/>
                  <a:gd name="connsiteY78" fmla="*/ 822234 h 3474279"/>
                  <a:gd name="connsiteX79" fmla="*/ 2650617 w 3714369"/>
                  <a:gd name="connsiteY79" fmla="*/ 839665 h 3474279"/>
                  <a:gd name="connsiteX80" fmla="*/ 2666619 w 3714369"/>
                  <a:gd name="connsiteY80" fmla="*/ 857191 h 3474279"/>
                  <a:gd name="connsiteX81" fmla="*/ 2682526 w 3714369"/>
                  <a:gd name="connsiteY81" fmla="*/ 874812 h 3474279"/>
                  <a:gd name="connsiteX82" fmla="*/ 2698242 w 3714369"/>
                  <a:gd name="connsiteY82" fmla="*/ 892529 h 3474279"/>
                  <a:gd name="connsiteX83" fmla="*/ 2713958 w 3714369"/>
                  <a:gd name="connsiteY83" fmla="*/ 910150 h 3474279"/>
                  <a:gd name="connsiteX84" fmla="*/ 2729389 w 3714369"/>
                  <a:gd name="connsiteY84" fmla="*/ 928057 h 3474279"/>
                  <a:gd name="connsiteX85" fmla="*/ 2744724 w 3714369"/>
                  <a:gd name="connsiteY85" fmla="*/ 945868 h 3474279"/>
                  <a:gd name="connsiteX86" fmla="*/ 2759964 w 3714369"/>
                  <a:gd name="connsiteY86" fmla="*/ 963871 h 3474279"/>
                  <a:gd name="connsiteX87" fmla="*/ 2775109 w 3714369"/>
                  <a:gd name="connsiteY87" fmla="*/ 981873 h 3474279"/>
                  <a:gd name="connsiteX88" fmla="*/ 2790063 w 3714369"/>
                  <a:gd name="connsiteY88" fmla="*/ 999875 h 3474279"/>
                  <a:gd name="connsiteX89" fmla="*/ 2804827 w 3714369"/>
                  <a:gd name="connsiteY89" fmla="*/ 1017973 h 3474279"/>
                  <a:gd name="connsiteX90" fmla="*/ 2819495 w 3714369"/>
                  <a:gd name="connsiteY90" fmla="*/ 1036166 h 3474279"/>
                  <a:gd name="connsiteX91" fmla="*/ 2834068 w 3714369"/>
                  <a:gd name="connsiteY91" fmla="*/ 1054358 h 3474279"/>
                  <a:gd name="connsiteX92" fmla="*/ 2848547 w 3714369"/>
                  <a:gd name="connsiteY92" fmla="*/ 1072551 h 3474279"/>
                  <a:gd name="connsiteX93" fmla="*/ 2862834 w 3714369"/>
                  <a:gd name="connsiteY93" fmla="*/ 1090839 h 3474279"/>
                  <a:gd name="connsiteX94" fmla="*/ 2877026 w 3714369"/>
                  <a:gd name="connsiteY94" fmla="*/ 1109222 h 3474279"/>
                  <a:gd name="connsiteX95" fmla="*/ 2891123 w 3714369"/>
                  <a:gd name="connsiteY95" fmla="*/ 1127510 h 3474279"/>
                  <a:gd name="connsiteX96" fmla="*/ 2905030 w 3714369"/>
                  <a:gd name="connsiteY96" fmla="*/ 1145989 h 3474279"/>
                  <a:gd name="connsiteX97" fmla="*/ 2918841 w 3714369"/>
                  <a:gd name="connsiteY97" fmla="*/ 1164467 h 3474279"/>
                  <a:gd name="connsiteX98" fmla="*/ 2932557 w 3714369"/>
                  <a:gd name="connsiteY98" fmla="*/ 1182946 h 3474279"/>
                  <a:gd name="connsiteX99" fmla="*/ 2946083 w 3714369"/>
                  <a:gd name="connsiteY99" fmla="*/ 1201424 h 3474279"/>
                  <a:gd name="connsiteX100" fmla="*/ 2959513 w 3714369"/>
                  <a:gd name="connsiteY100" fmla="*/ 1219998 h 3474279"/>
                  <a:gd name="connsiteX101" fmla="*/ 2972848 w 3714369"/>
                  <a:gd name="connsiteY101" fmla="*/ 1238572 h 3474279"/>
                  <a:gd name="connsiteX102" fmla="*/ 3092291 w 3714369"/>
                  <a:gd name="connsiteY102" fmla="*/ 1416118 h 3474279"/>
                  <a:gd name="connsiteX103" fmla="*/ 3102007 w 3714369"/>
                  <a:gd name="connsiteY103" fmla="*/ 1431358 h 3474279"/>
                  <a:gd name="connsiteX104" fmla="*/ 3111627 w 3714369"/>
                  <a:gd name="connsiteY104" fmla="*/ 1446693 h 3474279"/>
                  <a:gd name="connsiteX105" fmla="*/ 3121247 w 3714369"/>
                  <a:gd name="connsiteY105" fmla="*/ 1461933 h 3474279"/>
                  <a:gd name="connsiteX106" fmla="*/ 3130677 w 3714369"/>
                  <a:gd name="connsiteY106" fmla="*/ 1477363 h 3474279"/>
                  <a:gd name="connsiteX107" fmla="*/ 3140107 w 3714369"/>
                  <a:gd name="connsiteY107" fmla="*/ 1492699 h 3474279"/>
                  <a:gd name="connsiteX108" fmla="*/ 3149441 w 3714369"/>
                  <a:gd name="connsiteY108" fmla="*/ 1508034 h 3474279"/>
                  <a:gd name="connsiteX109" fmla="*/ 3158681 w 3714369"/>
                  <a:gd name="connsiteY109" fmla="*/ 1523465 h 3474279"/>
                  <a:gd name="connsiteX110" fmla="*/ 3167824 w 3714369"/>
                  <a:gd name="connsiteY110" fmla="*/ 1538800 h 3474279"/>
                  <a:gd name="connsiteX111" fmla="*/ 3176873 w 3714369"/>
                  <a:gd name="connsiteY111" fmla="*/ 1554135 h 3474279"/>
                  <a:gd name="connsiteX112" fmla="*/ 3185922 w 3714369"/>
                  <a:gd name="connsiteY112" fmla="*/ 1569566 h 3474279"/>
                  <a:gd name="connsiteX113" fmla="*/ 3194875 w 3714369"/>
                  <a:gd name="connsiteY113" fmla="*/ 1584996 h 3474279"/>
                  <a:gd name="connsiteX114" fmla="*/ 3203734 w 3714369"/>
                  <a:gd name="connsiteY114" fmla="*/ 1600426 h 3474279"/>
                  <a:gd name="connsiteX115" fmla="*/ 3212402 w 3714369"/>
                  <a:gd name="connsiteY115" fmla="*/ 1615857 h 3474279"/>
                  <a:gd name="connsiteX116" fmla="*/ 3221069 w 3714369"/>
                  <a:gd name="connsiteY116" fmla="*/ 1631288 h 3474279"/>
                  <a:gd name="connsiteX117" fmla="*/ 3229642 w 3714369"/>
                  <a:gd name="connsiteY117" fmla="*/ 1646718 h 3474279"/>
                  <a:gd name="connsiteX118" fmla="*/ 3238119 w 3714369"/>
                  <a:gd name="connsiteY118" fmla="*/ 1662149 h 3474279"/>
                  <a:gd name="connsiteX119" fmla="*/ 3246596 w 3714369"/>
                  <a:gd name="connsiteY119" fmla="*/ 1677579 h 3474279"/>
                  <a:gd name="connsiteX120" fmla="*/ 3254978 w 3714369"/>
                  <a:gd name="connsiteY120" fmla="*/ 1693009 h 3474279"/>
                  <a:gd name="connsiteX121" fmla="*/ 3263265 w 3714369"/>
                  <a:gd name="connsiteY121" fmla="*/ 1708440 h 3474279"/>
                  <a:gd name="connsiteX122" fmla="*/ 3271457 w 3714369"/>
                  <a:gd name="connsiteY122" fmla="*/ 1723871 h 3474279"/>
                  <a:gd name="connsiteX123" fmla="*/ 3279648 w 3714369"/>
                  <a:gd name="connsiteY123" fmla="*/ 1739301 h 3474279"/>
                  <a:gd name="connsiteX124" fmla="*/ 3287649 w 3714369"/>
                  <a:gd name="connsiteY124" fmla="*/ 1754732 h 3474279"/>
                  <a:gd name="connsiteX125" fmla="*/ 3295555 w 3714369"/>
                  <a:gd name="connsiteY125" fmla="*/ 1770162 h 3474279"/>
                  <a:gd name="connsiteX126" fmla="*/ 3303461 w 3714369"/>
                  <a:gd name="connsiteY126" fmla="*/ 1785592 h 3474279"/>
                  <a:gd name="connsiteX127" fmla="*/ 3311271 w 3714369"/>
                  <a:gd name="connsiteY127" fmla="*/ 1801023 h 3474279"/>
                  <a:gd name="connsiteX128" fmla="*/ 3318986 w 3714369"/>
                  <a:gd name="connsiteY128" fmla="*/ 1816358 h 3474279"/>
                  <a:gd name="connsiteX129" fmla="*/ 3326702 w 3714369"/>
                  <a:gd name="connsiteY129" fmla="*/ 1831789 h 3474279"/>
                  <a:gd name="connsiteX130" fmla="*/ 3334226 w 3714369"/>
                  <a:gd name="connsiteY130" fmla="*/ 1847124 h 3474279"/>
                  <a:gd name="connsiteX131" fmla="*/ 3341751 w 3714369"/>
                  <a:gd name="connsiteY131" fmla="*/ 1862459 h 3474279"/>
                  <a:gd name="connsiteX132" fmla="*/ 3349181 w 3714369"/>
                  <a:gd name="connsiteY132" fmla="*/ 1877890 h 3474279"/>
                  <a:gd name="connsiteX133" fmla="*/ 3356515 w 3714369"/>
                  <a:gd name="connsiteY133" fmla="*/ 1893320 h 3474279"/>
                  <a:gd name="connsiteX134" fmla="*/ 3714369 w 3714369"/>
                  <a:gd name="connsiteY134" fmla="*/ 3307021 h 3474279"/>
                  <a:gd name="connsiteX135" fmla="*/ 2945130 w 3714369"/>
                  <a:gd name="connsiteY135" fmla="*/ 3474280 h 3474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3714369" h="3474279">
                    <a:moveTo>
                      <a:pt x="2945130" y="3474280"/>
                    </a:moveTo>
                    <a:lnTo>
                      <a:pt x="2945130" y="3473232"/>
                    </a:lnTo>
                    <a:cubicBezTo>
                      <a:pt x="2940272" y="3081373"/>
                      <a:pt x="2827496" y="2658464"/>
                      <a:pt x="2639854" y="2260890"/>
                    </a:cubicBezTo>
                    <a:cubicBezTo>
                      <a:pt x="2637758" y="2256413"/>
                      <a:pt x="2635663" y="2251937"/>
                      <a:pt x="2633472" y="2247460"/>
                    </a:cubicBezTo>
                    <a:cubicBezTo>
                      <a:pt x="2631376" y="2242983"/>
                      <a:pt x="2629186" y="2238506"/>
                      <a:pt x="2627090" y="2234030"/>
                    </a:cubicBezTo>
                    <a:cubicBezTo>
                      <a:pt x="2624995" y="2229553"/>
                      <a:pt x="2622709" y="2225076"/>
                      <a:pt x="2620518" y="2220599"/>
                    </a:cubicBezTo>
                    <a:cubicBezTo>
                      <a:pt x="2618423" y="2216123"/>
                      <a:pt x="2616137" y="2211646"/>
                      <a:pt x="2614041" y="2207169"/>
                    </a:cubicBezTo>
                    <a:cubicBezTo>
                      <a:pt x="2611850" y="2202692"/>
                      <a:pt x="2609564" y="2198216"/>
                      <a:pt x="2607374" y="2193739"/>
                    </a:cubicBezTo>
                    <a:cubicBezTo>
                      <a:pt x="2605183" y="2189262"/>
                      <a:pt x="2602992" y="2184785"/>
                      <a:pt x="2600706" y="2180309"/>
                    </a:cubicBezTo>
                    <a:cubicBezTo>
                      <a:pt x="2598515" y="2175927"/>
                      <a:pt x="2596229" y="2171355"/>
                      <a:pt x="2593943" y="2166878"/>
                    </a:cubicBezTo>
                    <a:cubicBezTo>
                      <a:pt x="2591657" y="2162402"/>
                      <a:pt x="2589371" y="2157925"/>
                      <a:pt x="2586990" y="2153448"/>
                    </a:cubicBezTo>
                    <a:cubicBezTo>
                      <a:pt x="2584704" y="2148971"/>
                      <a:pt x="2582418" y="2144495"/>
                      <a:pt x="2580037" y="2140018"/>
                    </a:cubicBezTo>
                    <a:cubicBezTo>
                      <a:pt x="2577751" y="2135541"/>
                      <a:pt x="2575370" y="2131064"/>
                      <a:pt x="2573083" y="2126588"/>
                    </a:cubicBezTo>
                    <a:cubicBezTo>
                      <a:pt x="2570702" y="2122111"/>
                      <a:pt x="2568416" y="2117634"/>
                      <a:pt x="2566035" y="2113157"/>
                    </a:cubicBezTo>
                    <a:cubicBezTo>
                      <a:pt x="2563654" y="2108681"/>
                      <a:pt x="2561273" y="2104204"/>
                      <a:pt x="2558891" y="2099727"/>
                    </a:cubicBezTo>
                    <a:cubicBezTo>
                      <a:pt x="2556510" y="2095250"/>
                      <a:pt x="2554033" y="2090774"/>
                      <a:pt x="2551652" y="2086297"/>
                    </a:cubicBezTo>
                    <a:cubicBezTo>
                      <a:pt x="2549271" y="2081820"/>
                      <a:pt x="2546890" y="2077343"/>
                      <a:pt x="2544413" y="2072867"/>
                    </a:cubicBezTo>
                    <a:cubicBezTo>
                      <a:pt x="2542032" y="2068390"/>
                      <a:pt x="2539556" y="2063818"/>
                      <a:pt x="2537079" y="2059341"/>
                    </a:cubicBezTo>
                    <a:cubicBezTo>
                      <a:pt x="2534603" y="2054864"/>
                      <a:pt x="2532126" y="2050388"/>
                      <a:pt x="2529649" y="2045911"/>
                    </a:cubicBezTo>
                    <a:cubicBezTo>
                      <a:pt x="2527173" y="2041434"/>
                      <a:pt x="2524697" y="2036957"/>
                      <a:pt x="2522220" y="2032480"/>
                    </a:cubicBezTo>
                    <a:cubicBezTo>
                      <a:pt x="2519648" y="2028004"/>
                      <a:pt x="2517172" y="2023527"/>
                      <a:pt x="2514600" y="2019050"/>
                    </a:cubicBezTo>
                    <a:cubicBezTo>
                      <a:pt x="2512124" y="2014574"/>
                      <a:pt x="2509552" y="2010097"/>
                      <a:pt x="2506980" y="2005620"/>
                    </a:cubicBezTo>
                    <a:cubicBezTo>
                      <a:pt x="2504408" y="2001143"/>
                      <a:pt x="2501837" y="1996667"/>
                      <a:pt x="2499360" y="1992190"/>
                    </a:cubicBezTo>
                    <a:cubicBezTo>
                      <a:pt x="2496693" y="1987713"/>
                      <a:pt x="2494216" y="1983236"/>
                      <a:pt x="2491549" y="1978759"/>
                    </a:cubicBezTo>
                    <a:cubicBezTo>
                      <a:pt x="2488883" y="1974283"/>
                      <a:pt x="2486406" y="1969806"/>
                      <a:pt x="2483739" y="1965329"/>
                    </a:cubicBezTo>
                    <a:cubicBezTo>
                      <a:pt x="2481072" y="1960853"/>
                      <a:pt x="2478500" y="1956376"/>
                      <a:pt x="2475833" y="1951899"/>
                    </a:cubicBezTo>
                    <a:cubicBezTo>
                      <a:pt x="2473166" y="1947422"/>
                      <a:pt x="2470499" y="1942946"/>
                      <a:pt x="2467832" y="1938469"/>
                    </a:cubicBezTo>
                    <a:cubicBezTo>
                      <a:pt x="2465165" y="1933992"/>
                      <a:pt x="2462498" y="1929515"/>
                      <a:pt x="2459736" y="1925038"/>
                    </a:cubicBezTo>
                    <a:cubicBezTo>
                      <a:pt x="2457069" y="1920562"/>
                      <a:pt x="2454402" y="1916085"/>
                      <a:pt x="2451640" y="1911608"/>
                    </a:cubicBezTo>
                    <a:cubicBezTo>
                      <a:pt x="2448973" y="1907132"/>
                      <a:pt x="2446211" y="1902655"/>
                      <a:pt x="2443448" y="1898178"/>
                    </a:cubicBezTo>
                    <a:cubicBezTo>
                      <a:pt x="2440781" y="1893701"/>
                      <a:pt x="2438019" y="1889225"/>
                      <a:pt x="2435257" y="1884748"/>
                    </a:cubicBezTo>
                    <a:cubicBezTo>
                      <a:pt x="2432495" y="1880271"/>
                      <a:pt x="2429732" y="1875794"/>
                      <a:pt x="2426970" y="1871413"/>
                    </a:cubicBezTo>
                    <a:cubicBezTo>
                      <a:pt x="2424113" y="1866936"/>
                      <a:pt x="2421350" y="1862459"/>
                      <a:pt x="2418588" y="1857983"/>
                    </a:cubicBezTo>
                    <a:cubicBezTo>
                      <a:pt x="2415731" y="1853506"/>
                      <a:pt x="2412968" y="1849029"/>
                      <a:pt x="2410206" y="1844647"/>
                    </a:cubicBezTo>
                    <a:cubicBezTo>
                      <a:pt x="2375725" y="1790641"/>
                      <a:pt x="2340007" y="1737491"/>
                      <a:pt x="2302955" y="1685580"/>
                    </a:cubicBezTo>
                    <a:cubicBezTo>
                      <a:pt x="2299049" y="1680151"/>
                      <a:pt x="2295239" y="1674721"/>
                      <a:pt x="2291239" y="1669388"/>
                    </a:cubicBezTo>
                    <a:cubicBezTo>
                      <a:pt x="2287429" y="1663958"/>
                      <a:pt x="2283524" y="1658529"/>
                      <a:pt x="2279523" y="1653195"/>
                    </a:cubicBezTo>
                    <a:cubicBezTo>
                      <a:pt x="2275618" y="1647766"/>
                      <a:pt x="2271617" y="1642432"/>
                      <a:pt x="2267712" y="1637098"/>
                    </a:cubicBezTo>
                    <a:cubicBezTo>
                      <a:pt x="2263712" y="1631669"/>
                      <a:pt x="2259806" y="1626334"/>
                      <a:pt x="2255806" y="1620905"/>
                    </a:cubicBezTo>
                    <a:cubicBezTo>
                      <a:pt x="2251805" y="1615476"/>
                      <a:pt x="2247805" y="1610237"/>
                      <a:pt x="2243709" y="1604808"/>
                    </a:cubicBezTo>
                    <a:cubicBezTo>
                      <a:pt x="2239708" y="1599379"/>
                      <a:pt x="2235613" y="1594045"/>
                      <a:pt x="2231517" y="1588711"/>
                    </a:cubicBezTo>
                    <a:cubicBezTo>
                      <a:pt x="2227421" y="1583377"/>
                      <a:pt x="2223325" y="1578043"/>
                      <a:pt x="2219230" y="1572709"/>
                    </a:cubicBezTo>
                    <a:cubicBezTo>
                      <a:pt x="2215134" y="1567375"/>
                      <a:pt x="2211038" y="1562041"/>
                      <a:pt x="2206752" y="1556707"/>
                    </a:cubicBezTo>
                    <a:cubicBezTo>
                      <a:pt x="2202656" y="1551373"/>
                      <a:pt x="2198465" y="1546039"/>
                      <a:pt x="2194274" y="1540705"/>
                    </a:cubicBezTo>
                    <a:cubicBezTo>
                      <a:pt x="2190083" y="1535275"/>
                      <a:pt x="2185797" y="1530037"/>
                      <a:pt x="2181606" y="1524703"/>
                    </a:cubicBezTo>
                    <a:cubicBezTo>
                      <a:pt x="2177415" y="1519464"/>
                      <a:pt x="2173224" y="1514225"/>
                      <a:pt x="2168938" y="1508987"/>
                    </a:cubicBezTo>
                    <a:cubicBezTo>
                      <a:pt x="2164747" y="1503653"/>
                      <a:pt x="2160365" y="1498319"/>
                      <a:pt x="2156079" y="1493080"/>
                    </a:cubicBezTo>
                    <a:cubicBezTo>
                      <a:pt x="2151698" y="1487841"/>
                      <a:pt x="2147411" y="1482602"/>
                      <a:pt x="2143125" y="1477363"/>
                    </a:cubicBezTo>
                    <a:cubicBezTo>
                      <a:pt x="2138743" y="1472125"/>
                      <a:pt x="2134457" y="1466886"/>
                      <a:pt x="2129981" y="1461647"/>
                    </a:cubicBezTo>
                    <a:cubicBezTo>
                      <a:pt x="2125599" y="1456409"/>
                      <a:pt x="2121313" y="1451170"/>
                      <a:pt x="2116836" y="1446026"/>
                    </a:cubicBezTo>
                    <a:cubicBezTo>
                      <a:pt x="2112455" y="1440788"/>
                      <a:pt x="2107978" y="1435549"/>
                      <a:pt x="2103501" y="1430405"/>
                    </a:cubicBezTo>
                    <a:cubicBezTo>
                      <a:pt x="2099120" y="1425262"/>
                      <a:pt x="2094548" y="1420023"/>
                      <a:pt x="2090071" y="1414879"/>
                    </a:cubicBezTo>
                    <a:cubicBezTo>
                      <a:pt x="2085594" y="1409736"/>
                      <a:pt x="2081117" y="1404497"/>
                      <a:pt x="2076545" y="1399354"/>
                    </a:cubicBezTo>
                    <a:cubicBezTo>
                      <a:pt x="2072068" y="1394210"/>
                      <a:pt x="2067497" y="1389067"/>
                      <a:pt x="2062924" y="1383923"/>
                    </a:cubicBezTo>
                    <a:cubicBezTo>
                      <a:pt x="2058353" y="1378780"/>
                      <a:pt x="2053781" y="1373732"/>
                      <a:pt x="2049113" y="1368588"/>
                    </a:cubicBezTo>
                    <a:cubicBezTo>
                      <a:pt x="2044541" y="1363445"/>
                      <a:pt x="2039874" y="1358396"/>
                      <a:pt x="2035207" y="1353253"/>
                    </a:cubicBezTo>
                    <a:cubicBezTo>
                      <a:pt x="2030539" y="1348109"/>
                      <a:pt x="2025872" y="1343061"/>
                      <a:pt x="2021205" y="1338013"/>
                    </a:cubicBezTo>
                    <a:cubicBezTo>
                      <a:pt x="2016538" y="1332869"/>
                      <a:pt x="2011871" y="1327916"/>
                      <a:pt x="2007108" y="1322868"/>
                    </a:cubicBezTo>
                    <a:cubicBezTo>
                      <a:pt x="2002441" y="1317725"/>
                      <a:pt x="1997678" y="1312676"/>
                      <a:pt x="1992916" y="1307628"/>
                    </a:cubicBezTo>
                    <a:cubicBezTo>
                      <a:pt x="1988058" y="1302580"/>
                      <a:pt x="1983296" y="1297627"/>
                      <a:pt x="1978533" y="1292674"/>
                    </a:cubicBezTo>
                    <a:cubicBezTo>
                      <a:pt x="1973675" y="1287721"/>
                      <a:pt x="1968817" y="1282672"/>
                      <a:pt x="1964055" y="1277720"/>
                    </a:cubicBezTo>
                    <a:cubicBezTo>
                      <a:pt x="1959197" y="1272767"/>
                      <a:pt x="1954339" y="1267813"/>
                      <a:pt x="1949387" y="1262861"/>
                    </a:cubicBezTo>
                    <a:cubicBezTo>
                      <a:pt x="1944433" y="1257908"/>
                      <a:pt x="1939671" y="1252954"/>
                      <a:pt x="1934718" y="1248097"/>
                    </a:cubicBezTo>
                    <a:cubicBezTo>
                      <a:pt x="1929765" y="1243239"/>
                      <a:pt x="1924812" y="1238191"/>
                      <a:pt x="1919859" y="1233428"/>
                    </a:cubicBezTo>
                    <a:cubicBezTo>
                      <a:pt x="1914906" y="1228571"/>
                      <a:pt x="1909858" y="1223617"/>
                      <a:pt x="1904905" y="1218760"/>
                    </a:cubicBezTo>
                    <a:cubicBezTo>
                      <a:pt x="1899952" y="1213902"/>
                      <a:pt x="1894904" y="1209044"/>
                      <a:pt x="1889855" y="1204187"/>
                    </a:cubicBezTo>
                    <a:cubicBezTo>
                      <a:pt x="1728597" y="1049405"/>
                      <a:pt x="1555528" y="917674"/>
                      <a:pt x="1375696" y="817471"/>
                    </a:cubicBezTo>
                    <a:cubicBezTo>
                      <a:pt x="767048" y="478286"/>
                      <a:pt x="245364" y="592110"/>
                      <a:pt x="0" y="1043690"/>
                    </a:cubicBezTo>
                    <a:cubicBezTo>
                      <a:pt x="100203" y="859286"/>
                      <a:pt x="200406" y="674882"/>
                      <a:pt x="300609" y="490478"/>
                    </a:cubicBezTo>
                    <a:cubicBezTo>
                      <a:pt x="585121" y="-32825"/>
                      <a:pt x="1189577" y="-164842"/>
                      <a:pt x="1895189" y="228350"/>
                    </a:cubicBezTo>
                    <a:cubicBezTo>
                      <a:pt x="2107025" y="346365"/>
                      <a:pt x="2310860" y="502289"/>
                      <a:pt x="2500503" y="685645"/>
                    </a:cubicBezTo>
                    <a:cubicBezTo>
                      <a:pt x="2506218" y="691170"/>
                      <a:pt x="2511933" y="696790"/>
                      <a:pt x="2517743" y="702410"/>
                    </a:cubicBezTo>
                    <a:cubicBezTo>
                      <a:pt x="2523458" y="707934"/>
                      <a:pt x="2529173" y="713554"/>
                      <a:pt x="2534888" y="719269"/>
                    </a:cubicBezTo>
                    <a:cubicBezTo>
                      <a:pt x="2540508" y="724889"/>
                      <a:pt x="2546223" y="730508"/>
                      <a:pt x="2551843" y="736223"/>
                    </a:cubicBezTo>
                    <a:cubicBezTo>
                      <a:pt x="2557463" y="741843"/>
                      <a:pt x="2563082" y="747558"/>
                      <a:pt x="2568607" y="753273"/>
                    </a:cubicBezTo>
                    <a:cubicBezTo>
                      <a:pt x="2574226" y="758893"/>
                      <a:pt x="2579751" y="764608"/>
                      <a:pt x="2585275" y="770323"/>
                    </a:cubicBezTo>
                    <a:cubicBezTo>
                      <a:pt x="2590800" y="776038"/>
                      <a:pt x="2596229" y="781753"/>
                      <a:pt x="2601849" y="787563"/>
                    </a:cubicBezTo>
                    <a:cubicBezTo>
                      <a:pt x="2607278" y="793278"/>
                      <a:pt x="2612803" y="799088"/>
                      <a:pt x="2618232" y="804898"/>
                    </a:cubicBezTo>
                    <a:cubicBezTo>
                      <a:pt x="2623661" y="810614"/>
                      <a:pt x="2629091" y="816424"/>
                      <a:pt x="2634520" y="822234"/>
                    </a:cubicBezTo>
                    <a:cubicBezTo>
                      <a:pt x="2639949" y="828044"/>
                      <a:pt x="2645283" y="833854"/>
                      <a:pt x="2650617" y="839665"/>
                    </a:cubicBezTo>
                    <a:cubicBezTo>
                      <a:pt x="2656046" y="845475"/>
                      <a:pt x="2661285" y="851381"/>
                      <a:pt x="2666619" y="857191"/>
                    </a:cubicBezTo>
                    <a:cubicBezTo>
                      <a:pt x="2671953" y="863001"/>
                      <a:pt x="2677287" y="868906"/>
                      <a:pt x="2682526" y="874812"/>
                    </a:cubicBezTo>
                    <a:cubicBezTo>
                      <a:pt x="2687860" y="880718"/>
                      <a:pt x="2693099" y="886528"/>
                      <a:pt x="2698242" y="892529"/>
                    </a:cubicBezTo>
                    <a:cubicBezTo>
                      <a:pt x="2703481" y="898339"/>
                      <a:pt x="2708720" y="904244"/>
                      <a:pt x="2713958" y="910150"/>
                    </a:cubicBezTo>
                    <a:cubicBezTo>
                      <a:pt x="2719102" y="916055"/>
                      <a:pt x="2724245" y="922056"/>
                      <a:pt x="2729389" y="928057"/>
                    </a:cubicBezTo>
                    <a:cubicBezTo>
                      <a:pt x="2734532" y="933962"/>
                      <a:pt x="2739581" y="939868"/>
                      <a:pt x="2744724" y="945868"/>
                    </a:cubicBezTo>
                    <a:cubicBezTo>
                      <a:pt x="2749772" y="951774"/>
                      <a:pt x="2754916" y="957775"/>
                      <a:pt x="2759964" y="963871"/>
                    </a:cubicBezTo>
                    <a:cubicBezTo>
                      <a:pt x="2765012" y="969776"/>
                      <a:pt x="2770061" y="975777"/>
                      <a:pt x="2775109" y="981873"/>
                    </a:cubicBezTo>
                    <a:cubicBezTo>
                      <a:pt x="2780062" y="987874"/>
                      <a:pt x="2785015" y="993874"/>
                      <a:pt x="2790063" y="999875"/>
                    </a:cubicBezTo>
                    <a:cubicBezTo>
                      <a:pt x="2795016" y="1005876"/>
                      <a:pt x="2799969" y="1011877"/>
                      <a:pt x="2804827" y="1017973"/>
                    </a:cubicBezTo>
                    <a:cubicBezTo>
                      <a:pt x="2809684" y="1023973"/>
                      <a:pt x="2814638" y="1030070"/>
                      <a:pt x="2819495" y="1036166"/>
                    </a:cubicBezTo>
                    <a:cubicBezTo>
                      <a:pt x="2824353" y="1042166"/>
                      <a:pt x="2829211" y="1048262"/>
                      <a:pt x="2834068" y="1054358"/>
                    </a:cubicBezTo>
                    <a:cubicBezTo>
                      <a:pt x="2838926" y="1060454"/>
                      <a:pt x="2843784" y="1066550"/>
                      <a:pt x="2848547" y="1072551"/>
                    </a:cubicBezTo>
                    <a:cubicBezTo>
                      <a:pt x="2853309" y="1078647"/>
                      <a:pt x="2858072" y="1084743"/>
                      <a:pt x="2862834" y="1090839"/>
                    </a:cubicBezTo>
                    <a:cubicBezTo>
                      <a:pt x="2867597" y="1096935"/>
                      <a:pt x="2872264" y="1103031"/>
                      <a:pt x="2877026" y="1109222"/>
                    </a:cubicBezTo>
                    <a:cubicBezTo>
                      <a:pt x="2881693" y="1115318"/>
                      <a:pt x="2886456" y="1121414"/>
                      <a:pt x="2891123" y="1127510"/>
                    </a:cubicBezTo>
                    <a:cubicBezTo>
                      <a:pt x="2895791" y="1133702"/>
                      <a:pt x="2900363" y="1139798"/>
                      <a:pt x="2905030" y="1145989"/>
                    </a:cubicBezTo>
                    <a:cubicBezTo>
                      <a:pt x="2909697" y="1152180"/>
                      <a:pt x="2914269" y="1158371"/>
                      <a:pt x="2918841" y="1164467"/>
                    </a:cubicBezTo>
                    <a:cubicBezTo>
                      <a:pt x="2923508" y="1170659"/>
                      <a:pt x="2927985" y="1176754"/>
                      <a:pt x="2932557" y="1182946"/>
                    </a:cubicBezTo>
                    <a:cubicBezTo>
                      <a:pt x="2937129" y="1189137"/>
                      <a:pt x="2941606" y="1195233"/>
                      <a:pt x="2946083" y="1201424"/>
                    </a:cubicBezTo>
                    <a:cubicBezTo>
                      <a:pt x="2950559" y="1207616"/>
                      <a:pt x="2955036" y="1213807"/>
                      <a:pt x="2959513" y="1219998"/>
                    </a:cubicBezTo>
                    <a:cubicBezTo>
                      <a:pt x="2963990" y="1226189"/>
                      <a:pt x="2968466" y="1232380"/>
                      <a:pt x="2972848" y="1238572"/>
                    </a:cubicBezTo>
                    <a:cubicBezTo>
                      <a:pt x="3013996" y="1296579"/>
                      <a:pt x="3053906" y="1355825"/>
                      <a:pt x="3092291" y="1416118"/>
                    </a:cubicBezTo>
                    <a:cubicBezTo>
                      <a:pt x="3095625" y="1421166"/>
                      <a:pt x="3098864" y="1426309"/>
                      <a:pt x="3102007" y="1431358"/>
                    </a:cubicBezTo>
                    <a:cubicBezTo>
                      <a:pt x="3105245" y="1436501"/>
                      <a:pt x="3108484" y="1441550"/>
                      <a:pt x="3111627" y="1446693"/>
                    </a:cubicBezTo>
                    <a:cubicBezTo>
                      <a:pt x="3114866" y="1451837"/>
                      <a:pt x="3118009" y="1456885"/>
                      <a:pt x="3121247" y="1461933"/>
                    </a:cubicBezTo>
                    <a:cubicBezTo>
                      <a:pt x="3124391" y="1467076"/>
                      <a:pt x="3127629" y="1472220"/>
                      <a:pt x="3130677" y="1477363"/>
                    </a:cubicBezTo>
                    <a:cubicBezTo>
                      <a:pt x="3133820" y="1482507"/>
                      <a:pt x="3137059" y="1487555"/>
                      <a:pt x="3140107" y="1492699"/>
                    </a:cubicBezTo>
                    <a:cubicBezTo>
                      <a:pt x="3143250" y="1497842"/>
                      <a:pt x="3146393" y="1502891"/>
                      <a:pt x="3149441" y="1508034"/>
                    </a:cubicBezTo>
                    <a:cubicBezTo>
                      <a:pt x="3152584" y="1513178"/>
                      <a:pt x="3155633" y="1518226"/>
                      <a:pt x="3158681" y="1523465"/>
                    </a:cubicBezTo>
                    <a:cubicBezTo>
                      <a:pt x="3161729" y="1528608"/>
                      <a:pt x="3164872" y="1533656"/>
                      <a:pt x="3167824" y="1538800"/>
                    </a:cubicBezTo>
                    <a:cubicBezTo>
                      <a:pt x="3170873" y="1543943"/>
                      <a:pt x="3173921" y="1548992"/>
                      <a:pt x="3176873" y="1554135"/>
                    </a:cubicBezTo>
                    <a:cubicBezTo>
                      <a:pt x="3179921" y="1559279"/>
                      <a:pt x="3182969" y="1564327"/>
                      <a:pt x="3185922" y="1569566"/>
                    </a:cubicBezTo>
                    <a:cubicBezTo>
                      <a:pt x="3188875" y="1574709"/>
                      <a:pt x="3191828" y="1579757"/>
                      <a:pt x="3194875" y="1584996"/>
                    </a:cubicBezTo>
                    <a:cubicBezTo>
                      <a:pt x="3197828" y="1590140"/>
                      <a:pt x="3200781" y="1595188"/>
                      <a:pt x="3203734" y="1600426"/>
                    </a:cubicBezTo>
                    <a:cubicBezTo>
                      <a:pt x="3206591" y="1605570"/>
                      <a:pt x="3209639" y="1610618"/>
                      <a:pt x="3212402" y="1615857"/>
                    </a:cubicBezTo>
                    <a:cubicBezTo>
                      <a:pt x="3215354" y="1621000"/>
                      <a:pt x="3218307" y="1626049"/>
                      <a:pt x="3221069" y="1631288"/>
                    </a:cubicBezTo>
                    <a:cubicBezTo>
                      <a:pt x="3223927" y="1636431"/>
                      <a:pt x="3226785" y="1641575"/>
                      <a:pt x="3229642" y="1646718"/>
                    </a:cubicBezTo>
                    <a:cubicBezTo>
                      <a:pt x="3232499" y="1651862"/>
                      <a:pt x="3235357" y="1657005"/>
                      <a:pt x="3238119" y="1662149"/>
                    </a:cubicBezTo>
                    <a:cubicBezTo>
                      <a:pt x="3240977" y="1667292"/>
                      <a:pt x="3243739" y="1672340"/>
                      <a:pt x="3246596" y="1677579"/>
                    </a:cubicBezTo>
                    <a:cubicBezTo>
                      <a:pt x="3249359" y="1682722"/>
                      <a:pt x="3252216" y="1687771"/>
                      <a:pt x="3254978" y="1693009"/>
                    </a:cubicBezTo>
                    <a:cubicBezTo>
                      <a:pt x="3257741" y="1698153"/>
                      <a:pt x="3260503" y="1703201"/>
                      <a:pt x="3263265" y="1708440"/>
                    </a:cubicBezTo>
                    <a:cubicBezTo>
                      <a:pt x="3265932" y="1713584"/>
                      <a:pt x="3268694" y="1718727"/>
                      <a:pt x="3271457" y="1723871"/>
                    </a:cubicBezTo>
                    <a:cubicBezTo>
                      <a:pt x="3274219" y="1729014"/>
                      <a:pt x="3276886" y="1734158"/>
                      <a:pt x="3279648" y="1739301"/>
                    </a:cubicBezTo>
                    <a:cubicBezTo>
                      <a:pt x="3282315" y="1744445"/>
                      <a:pt x="3285078" y="1749493"/>
                      <a:pt x="3287649" y="1754732"/>
                    </a:cubicBezTo>
                    <a:cubicBezTo>
                      <a:pt x="3290316" y="1759875"/>
                      <a:pt x="3292983" y="1764923"/>
                      <a:pt x="3295555" y="1770162"/>
                    </a:cubicBezTo>
                    <a:cubicBezTo>
                      <a:pt x="3298222" y="1775305"/>
                      <a:pt x="3300889" y="1780354"/>
                      <a:pt x="3303461" y="1785592"/>
                    </a:cubicBezTo>
                    <a:cubicBezTo>
                      <a:pt x="3306127" y="1790736"/>
                      <a:pt x="3308699" y="1795784"/>
                      <a:pt x="3311271" y="1801023"/>
                    </a:cubicBezTo>
                    <a:cubicBezTo>
                      <a:pt x="3313938" y="1806167"/>
                      <a:pt x="3316415" y="1811215"/>
                      <a:pt x="3318986" y="1816358"/>
                    </a:cubicBezTo>
                    <a:cubicBezTo>
                      <a:pt x="3321558" y="1821502"/>
                      <a:pt x="3324130" y="1826645"/>
                      <a:pt x="3326702" y="1831789"/>
                    </a:cubicBezTo>
                    <a:cubicBezTo>
                      <a:pt x="3329273" y="1836932"/>
                      <a:pt x="3331750" y="1841980"/>
                      <a:pt x="3334226" y="1847124"/>
                    </a:cubicBezTo>
                    <a:cubicBezTo>
                      <a:pt x="3336798" y="1852267"/>
                      <a:pt x="3339275" y="1857316"/>
                      <a:pt x="3341751" y="1862459"/>
                    </a:cubicBezTo>
                    <a:cubicBezTo>
                      <a:pt x="3344132" y="1867603"/>
                      <a:pt x="3346609" y="1872651"/>
                      <a:pt x="3349181" y="1877890"/>
                    </a:cubicBezTo>
                    <a:cubicBezTo>
                      <a:pt x="3351562" y="1883033"/>
                      <a:pt x="3354038" y="1888177"/>
                      <a:pt x="3356515" y="1893320"/>
                    </a:cubicBezTo>
                    <a:cubicBezTo>
                      <a:pt x="3576352" y="2356616"/>
                      <a:pt x="3708749" y="2850011"/>
                      <a:pt x="3714369" y="3307021"/>
                    </a:cubicBezTo>
                    <a:lnTo>
                      <a:pt x="2945130" y="3474280"/>
                    </a:lnTo>
                    <a:close/>
                  </a:path>
                </a:pathLst>
              </a:custGeom>
              <a:gradFill flip="none" rotWithShape="1">
                <a:gsLst>
                  <a:gs pos="5000">
                    <a:srgbClr val="FFCF4A">
                      <a:lumMod val="60000"/>
                      <a:lumOff val="40000"/>
                    </a:srgbClr>
                  </a:gs>
                  <a:gs pos="75000">
                    <a:srgbClr val="FFCF4A"/>
                  </a:gs>
                </a:gsLst>
                <a:path path="circle">
                  <a:fillToRect l="100000" t="100000"/>
                </a:path>
                <a:tileRect r="-100000" b="-100000"/>
              </a:gradFill>
              <a:ln w="9525" cap="flat">
                <a:noFill/>
                <a:prstDash val="solid"/>
                <a:miter/>
              </a:ln>
              <a:effectLst>
                <a:outerShdw blurRad="571500" dist="381000" dir="5400000" sx="85000" sy="85000" algn="t" rotWithShape="0">
                  <a:srgbClr val="FFFFFF">
                    <a:alpha val="29804"/>
                  </a:srgb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grpSp>
          <p:nvGrpSpPr>
            <p:cNvPr id="35" name="Group 23">
              <a:extLst>
                <a:ext uri="{FF2B5EF4-FFF2-40B4-BE49-F238E27FC236}">
                  <a16:creationId xmlns:a16="http://schemas.microsoft.com/office/drawing/2014/main" id="{C1E3EEB6-0E03-2D8A-0CB4-911636DBF166}"/>
                </a:ext>
              </a:extLst>
            </p:cNvPr>
            <p:cNvGrpSpPr/>
            <p:nvPr/>
          </p:nvGrpSpPr>
          <p:grpSpPr>
            <a:xfrm>
              <a:off x="3886100" y="2622683"/>
              <a:ext cx="3267978" cy="2942195"/>
              <a:chOff x="4745029" y="2209181"/>
              <a:chExt cx="3267978" cy="2942195"/>
            </a:xfrm>
          </p:grpSpPr>
          <p:sp>
            <p:nvSpPr>
              <p:cNvPr id="44" name="Freeform: Shape 8">
                <a:extLst>
                  <a:ext uri="{FF2B5EF4-FFF2-40B4-BE49-F238E27FC236}">
                    <a16:creationId xmlns:a16="http://schemas.microsoft.com/office/drawing/2014/main" id="{6647D3FF-E9A2-0CB1-A92E-89D605E0D535}"/>
                  </a:ext>
                </a:extLst>
              </p:cNvPr>
              <p:cNvSpPr/>
              <p:nvPr/>
            </p:nvSpPr>
            <p:spPr>
              <a:xfrm>
                <a:off x="4996003" y="2868451"/>
                <a:ext cx="348109" cy="931242"/>
              </a:xfrm>
              <a:custGeom>
                <a:avLst/>
                <a:gdLst>
                  <a:gd name="connsiteX0" fmla="*/ 95071 w 310622"/>
                  <a:gd name="connsiteY0" fmla="*/ 389668 h 830960"/>
                  <a:gd name="connsiteX1" fmla="*/ 310622 w 310622"/>
                  <a:gd name="connsiteY1" fmla="*/ 0 h 830960"/>
                  <a:gd name="connsiteX2" fmla="*/ 198608 w 310622"/>
                  <a:gd name="connsiteY2" fmla="*/ 520160 h 830960"/>
                  <a:gd name="connsiteX3" fmla="*/ 107 w 310622"/>
                  <a:gd name="connsiteY3" fmla="*/ 830961 h 830960"/>
                  <a:gd name="connsiteX4" fmla="*/ 95071 w 310622"/>
                  <a:gd name="connsiteY4" fmla="*/ 389668 h 83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22" h="830960">
                    <a:moveTo>
                      <a:pt x="95071" y="389668"/>
                    </a:moveTo>
                    <a:cubicBezTo>
                      <a:pt x="166890" y="259747"/>
                      <a:pt x="238804" y="129921"/>
                      <a:pt x="310622" y="0"/>
                    </a:cubicBezTo>
                    <a:cubicBezTo>
                      <a:pt x="236518" y="134017"/>
                      <a:pt x="196036" y="309372"/>
                      <a:pt x="198608" y="520160"/>
                    </a:cubicBezTo>
                    <a:lnTo>
                      <a:pt x="107" y="830961"/>
                    </a:lnTo>
                    <a:cubicBezTo>
                      <a:pt x="-2179" y="652081"/>
                      <a:pt x="32206" y="503301"/>
                      <a:pt x="95071" y="389668"/>
                    </a:cubicBezTo>
                    <a:close/>
                  </a:path>
                </a:pathLst>
              </a:custGeom>
              <a:gradFill flip="none" rotWithShape="1">
                <a:gsLst>
                  <a:gs pos="15000">
                    <a:srgbClr val="41A5EE">
                      <a:lumMod val="60000"/>
                      <a:lumOff val="40000"/>
                    </a:srgbClr>
                  </a:gs>
                  <a:gs pos="75000">
                    <a:srgbClr val="41A5EE"/>
                  </a:gs>
                </a:gsLst>
                <a:path path="circle">
                  <a:fillToRect l="100000" t="100000"/>
                </a:path>
                <a:tileRect r="-100000" b="-100000"/>
              </a:gradFill>
              <a:ln w="9525" cap="flat">
                <a:noFill/>
                <a:prstDash val="solid"/>
                <a:miter/>
              </a:ln>
              <a:effectLst>
                <a:outerShdw blurRad="571500" dist="381000" dir="5400000" sx="85000" sy="85000" algn="t" rotWithShape="0">
                  <a:srgbClr val="EA6D49">
                    <a:alpha val="30000"/>
                  </a:srgb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45" name="Freeform: Shape 9">
                <a:extLst>
                  <a:ext uri="{FF2B5EF4-FFF2-40B4-BE49-F238E27FC236}">
                    <a16:creationId xmlns:a16="http://schemas.microsoft.com/office/drawing/2014/main" id="{BC1F9211-6C6B-6B62-AF1E-5D493B158F90}"/>
                  </a:ext>
                </a:extLst>
              </p:cNvPr>
              <p:cNvSpPr/>
              <p:nvPr/>
            </p:nvSpPr>
            <p:spPr>
              <a:xfrm>
                <a:off x="4745029" y="2692742"/>
                <a:ext cx="2653285" cy="2449804"/>
              </a:xfrm>
              <a:custGeom>
                <a:avLst/>
                <a:gdLst>
                  <a:gd name="connsiteX0" fmla="*/ 223961 w 2367561"/>
                  <a:gd name="connsiteY0" fmla="*/ 987748 h 2185993"/>
                  <a:gd name="connsiteX1" fmla="*/ 223961 w 2367561"/>
                  <a:gd name="connsiteY1" fmla="*/ 987748 h 2185993"/>
                  <a:gd name="connsiteX2" fmla="*/ 1170269 w 2367561"/>
                  <a:gd name="connsiteY2" fmla="*/ 410057 h 2185993"/>
                  <a:gd name="connsiteX3" fmla="*/ 2143820 w 2367561"/>
                  <a:gd name="connsiteY3" fmla="*/ 2057691 h 2185993"/>
                  <a:gd name="connsiteX4" fmla="*/ 2367562 w 2367561"/>
                  <a:gd name="connsiteY4" fmla="*/ 2185993 h 2185993"/>
                  <a:gd name="connsiteX5" fmla="*/ 2367562 w 2367561"/>
                  <a:gd name="connsiteY5" fmla="*/ 2182374 h 2185993"/>
                  <a:gd name="connsiteX6" fmla="*/ 1167031 w 2367561"/>
                  <a:gd name="connsiteY6" fmla="*/ 150691 h 2185993"/>
                  <a:gd name="connsiteX7" fmla="*/ 123 w 2367561"/>
                  <a:gd name="connsiteY7" fmla="*/ 863066 h 2185993"/>
                  <a:gd name="connsiteX8" fmla="*/ 223961 w 2367561"/>
                  <a:gd name="connsiteY8" fmla="*/ 987748 h 2185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67561" h="2185993">
                    <a:moveTo>
                      <a:pt x="223961" y="987748"/>
                    </a:moveTo>
                    <a:lnTo>
                      <a:pt x="223961" y="987748"/>
                    </a:lnTo>
                    <a:cubicBezTo>
                      <a:pt x="216436" y="373195"/>
                      <a:pt x="640108" y="114591"/>
                      <a:pt x="1170269" y="410057"/>
                    </a:cubicBezTo>
                    <a:cubicBezTo>
                      <a:pt x="1700431" y="705522"/>
                      <a:pt x="2136295" y="1443138"/>
                      <a:pt x="2143820" y="2057691"/>
                    </a:cubicBezTo>
                    <a:lnTo>
                      <a:pt x="2367562" y="2185993"/>
                    </a:lnTo>
                    <a:cubicBezTo>
                      <a:pt x="2367562" y="2184755"/>
                      <a:pt x="2367562" y="2183612"/>
                      <a:pt x="2367562" y="2182374"/>
                    </a:cubicBezTo>
                    <a:cubicBezTo>
                      <a:pt x="2358323" y="1424565"/>
                      <a:pt x="1820827" y="515022"/>
                      <a:pt x="1167031" y="150691"/>
                    </a:cubicBezTo>
                    <a:cubicBezTo>
                      <a:pt x="513235" y="-213640"/>
                      <a:pt x="-9211" y="105352"/>
                      <a:pt x="123" y="863066"/>
                    </a:cubicBezTo>
                    <a:lnTo>
                      <a:pt x="223961" y="987748"/>
                    </a:lnTo>
                    <a:close/>
                  </a:path>
                </a:pathLst>
              </a:custGeom>
              <a:solidFill>
                <a:sysClr val="window" lastClr="FFFFFF"/>
              </a:solidFill>
              <a:ln w="12700" cap="flat" cmpd="sng" algn="ctr">
                <a:noFill/>
                <a:prstDash val="solid"/>
                <a:miter lim="800000"/>
              </a:ln>
              <a:effectLst>
                <a:outerShdw blurRad="1016000" dist="889000" dir="8100000" sx="90000" sy="90000" algn="tr" rotWithShape="0">
                  <a:prstClr val="black">
                    <a:alpha val="1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6" name="Freeform: Shape 16">
                <a:extLst>
                  <a:ext uri="{FF2B5EF4-FFF2-40B4-BE49-F238E27FC236}">
                    <a16:creationId xmlns:a16="http://schemas.microsoft.com/office/drawing/2014/main" id="{A3BB96BA-3C5F-C247-A913-6A953D5E7D11}"/>
                  </a:ext>
                </a:extLst>
              </p:cNvPr>
              <p:cNvSpPr/>
              <p:nvPr/>
            </p:nvSpPr>
            <p:spPr>
              <a:xfrm>
                <a:off x="4878011" y="2209181"/>
                <a:ext cx="3134996" cy="2942195"/>
              </a:xfrm>
              <a:custGeom>
                <a:avLst/>
                <a:gdLst>
                  <a:gd name="connsiteX0" fmla="*/ 2797397 w 2797397"/>
                  <a:gd name="connsiteY0" fmla="*/ 2503726 h 2625360"/>
                  <a:gd name="connsiteX1" fmla="*/ 2797397 w 2797397"/>
                  <a:gd name="connsiteY1" fmla="*/ 2506584 h 2625360"/>
                  <a:gd name="connsiteX2" fmla="*/ 2252948 w 2797397"/>
                  <a:gd name="connsiteY2" fmla="*/ 2625361 h 2625360"/>
                  <a:gd name="connsiteX3" fmla="*/ 2252948 w 2797397"/>
                  <a:gd name="connsiteY3" fmla="*/ 2621741 h 2625360"/>
                  <a:gd name="connsiteX4" fmla="*/ 2025491 w 2797397"/>
                  <a:gd name="connsiteY4" fmla="*/ 1707246 h 2625360"/>
                  <a:gd name="connsiteX5" fmla="*/ 2020538 w 2797397"/>
                  <a:gd name="connsiteY5" fmla="*/ 1696673 h 2625360"/>
                  <a:gd name="connsiteX6" fmla="*/ 2015490 w 2797397"/>
                  <a:gd name="connsiteY6" fmla="*/ 1686005 h 2625360"/>
                  <a:gd name="connsiteX7" fmla="*/ 2010442 w 2797397"/>
                  <a:gd name="connsiteY7" fmla="*/ 1675432 h 2625360"/>
                  <a:gd name="connsiteX8" fmla="*/ 2005298 w 2797397"/>
                  <a:gd name="connsiteY8" fmla="*/ 1664860 h 2625360"/>
                  <a:gd name="connsiteX9" fmla="*/ 2000155 w 2797397"/>
                  <a:gd name="connsiteY9" fmla="*/ 1654192 h 2625360"/>
                  <a:gd name="connsiteX10" fmla="*/ 1994916 w 2797397"/>
                  <a:gd name="connsiteY10" fmla="*/ 1643619 h 2625360"/>
                  <a:gd name="connsiteX11" fmla="*/ 1989677 w 2797397"/>
                  <a:gd name="connsiteY11" fmla="*/ 1633046 h 2625360"/>
                  <a:gd name="connsiteX12" fmla="*/ 1984343 w 2797397"/>
                  <a:gd name="connsiteY12" fmla="*/ 1622378 h 2625360"/>
                  <a:gd name="connsiteX13" fmla="*/ 1984248 w 2797397"/>
                  <a:gd name="connsiteY13" fmla="*/ 1622378 h 2625360"/>
                  <a:gd name="connsiteX14" fmla="*/ 1978914 w 2797397"/>
                  <a:gd name="connsiteY14" fmla="*/ 1611805 h 2625360"/>
                  <a:gd name="connsiteX15" fmla="*/ 1973389 w 2797397"/>
                  <a:gd name="connsiteY15" fmla="*/ 1601233 h 2625360"/>
                  <a:gd name="connsiteX16" fmla="*/ 1967960 w 2797397"/>
                  <a:gd name="connsiteY16" fmla="*/ 1590660 h 2625360"/>
                  <a:gd name="connsiteX17" fmla="*/ 1962340 w 2797397"/>
                  <a:gd name="connsiteY17" fmla="*/ 1579992 h 2625360"/>
                  <a:gd name="connsiteX18" fmla="*/ 1956721 w 2797397"/>
                  <a:gd name="connsiteY18" fmla="*/ 1569419 h 2625360"/>
                  <a:gd name="connsiteX19" fmla="*/ 1951101 w 2797397"/>
                  <a:gd name="connsiteY19" fmla="*/ 1558846 h 2625360"/>
                  <a:gd name="connsiteX20" fmla="*/ 1945386 w 2797397"/>
                  <a:gd name="connsiteY20" fmla="*/ 1548274 h 2625360"/>
                  <a:gd name="connsiteX21" fmla="*/ 1939576 w 2797397"/>
                  <a:gd name="connsiteY21" fmla="*/ 1537605 h 2625360"/>
                  <a:gd name="connsiteX22" fmla="*/ 1933765 w 2797397"/>
                  <a:gd name="connsiteY22" fmla="*/ 1527033 h 2625360"/>
                  <a:gd name="connsiteX23" fmla="*/ 1927860 w 2797397"/>
                  <a:gd name="connsiteY23" fmla="*/ 1516460 h 2625360"/>
                  <a:gd name="connsiteX24" fmla="*/ 1921955 w 2797397"/>
                  <a:gd name="connsiteY24" fmla="*/ 1505887 h 2625360"/>
                  <a:gd name="connsiteX25" fmla="*/ 1915858 w 2797397"/>
                  <a:gd name="connsiteY25" fmla="*/ 1495314 h 2625360"/>
                  <a:gd name="connsiteX26" fmla="*/ 1909858 w 2797397"/>
                  <a:gd name="connsiteY26" fmla="*/ 1484742 h 2625360"/>
                  <a:gd name="connsiteX27" fmla="*/ 1903762 w 2797397"/>
                  <a:gd name="connsiteY27" fmla="*/ 1474169 h 2625360"/>
                  <a:gd name="connsiteX28" fmla="*/ 1897571 w 2797397"/>
                  <a:gd name="connsiteY28" fmla="*/ 1463692 h 2625360"/>
                  <a:gd name="connsiteX29" fmla="*/ 1891379 w 2797397"/>
                  <a:gd name="connsiteY29" fmla="*/ 1453119 h 2625360"/>
                  <a:gd name="connsiteX30" fmla="*/ 1885093 w 2797397"/>
                  <a:gd name="connsiteY30" fmla="*/ 1442546 h 2625360"/>
                  <a:gd name="connsiteX31" fmla="*/ 1878711 w 2797397"/>
                  <a:gd name="connsiteY31" fmla="*/ 1432069 h 2625360"/>
                  <a:gd name="connsiteX32" fmla="*/ 1872329 w 2797397"/>
                  <a:gd name="connsiteY32" fmla="*/ 1421591 h 2625360"/>
                  <a:gd name="connsiteX33" fmla="*/ 1865852 w 2797397"/>
                  <a:gd name="connsiteY33" fmla="*/ 1411018 h 2625360"/>
                  <a:gd name="connsiteX34" fmla="*/ 1859375 w 2797397"/>
                  <a:gd name="connsiteY34" fmla="*/ 1400541 h 2625360"/>
                  <a:gd name="connsiteX35" fmla="*/ 1852803 w 2797397"/>
                  <a:gd name="connsiteY35" fmla="*/ 1389968 h 2625360"/>
                  <a:gd name="connsiteX36" fmla="*/ 1852708 w 2797397"/>
                  <a:gd name="connsiteY36" fmla="*/ 1389968 h 2625360"/>
                  <a:gd name="connsiteX37" fmla="*/ 1846136 w 2797397"/>
                  <a:gd name="connsiteY37" fmla="*/ 1379491 h 2625360"/>
                  <a:gd name="connsiteX38" fmla="*/ 1757077 w 2797397"/>
                  <a:gd name="connsiteY38" fmla="*/ 1247569 h 2625360"/>
                  <a:gd name="connsiteX39" fmla="*/ 1747933 w 2797397"/>
                  <a:gd name="connsiteY39" fmla="*/ 1234806 h 2625360"/>
                  <a:gd name="connsiteX40" fmla="*/ 1738789 w 2797397"/>
                  <a:gd name="connsiteY40" fmla="*/ 1222138 h 2625360"/>
                  <a:gd name="connsiteX41" fmla="*/ 1729454 w 2797397"/>
                  <a:gd name="connsiteY41" fmla="*/ 1209565 h 2625360"/>
                  <a:gd name="connsiteX42" fmla="*/ 1720024 w 2797397"/>
                  <a:gd name="connsiteY42" fmla="*/ 1196896 h 2625360"/>
                  <a:gd name="connsiteX43" fmla="*/ 1710595 w 2797397"/>
                  <a:gd name="connsiteY43" fmla="*/ 1184323 h 2625360"/>
                  <a:gd name="connsiteX44" fmla="*/ 1710499 w 2797397"/>
                  <a:gd name="connsiteY44" fmla="*/ 1184323 h 2625360"/>
                  <a:gd name="connsiteX45" fmla="*/ 1700974 w 2797397"/>
                  <a:gd name="connsiteY45" fmla="*/ 1171750 h 2625360"/>
                  <a:gd name="connsiteX46" fmla="*/ 1700879 w 2797397"/>
                  <a:gd name="connsiteY46" fmla="*/ 1171750 h 2625360"/>
                  <a:gd name="connsiteX47" fmla="*/ 1691164 w 2797397"/>
                  <a:gd name="connsiteY47" fmla="*/ 1159177 h 2625360"/>
                  <a:gd name="connsiteX48" fmla="*/ 1681448 w 2797397"/>
                  <a:gd name="connsiteY48" fmla="*/ 1146700 h 2625360"/>
                  <a:gd name="connsiteX49" fmla="*/ 1671542 w 2797397"/>
                  <a:gd name="connsiteY49" fmla="*/ 1134222 h 2625360"/>
                  <a:gd name="connsiteX50" fmla="*/ 1661636 w 2797397"/>
                  <a:gd name="connsiteY50" fmla="*/ 1121744 h 2625360"/>
                  <a:gd name="connsiteX51" fmla="*/ 1651635 w 2797397"/>
                  <a:gd name="connsiteY51" fmla="*/ 1109362 h 2625360"/>
                  <a:gd name="connsiteX52" fmla="*/ 1641443 w 2797397"/>
                  <a:gd name="connsiteY52" fmla="*/ 1096979 h 2625360"/>
                  <a:gd name="connsiteX53" fmla="*/ 1631252 w 2797397"/>
                  <a:gd name="connsiteY53" fmla="*/ 1084692 h 2625360"/>
                  <a:gd name="connsiteX54" fmla="*/ 1620869 w 2797397"/>
                  <a:gd name="connsiteY54" fmla="*/ 1072500 h 2625360"/>
                  <a:gd name="connsiteX55" fmla="*/ 1610487 w 2797397"/>
                  <a:gd name="connsiteY55" fmla="*/ 1060308 h 2625360"/>
                  <a:gd name="connsiteX56" fmla="*/ 1600010 w 2797397"/>
                  <a:gd name="connsiteY56" fmla="*/ 1048116 h 2625360"/>
                  <a:gd name="connsiteX57" fmla="*/ 1599914 w 2797397"/>
                  <a:gd name="connsiteY57" fmla="*/ 1048116 h 2625360"/>
                  <a:gd name="connsiteX58" fmla="*/ 1589341 w 2797397"/>
                  <a:gd name="connsiteY58" fmla="*/ 1036019 h 2625360"/>
                  <a:gd name="connsiteX59" fmla="*/ 1578673 w 2797397"/>
                  <a:gd name="connsiteY59" fmla="*/ 1023922 h 2625360"/>
                  <a:gd name="connsiteX60" fmla="*/ 1567910 w 2797397"/>
                  <a:gd name="connsiteY60" fmla="*/ 1011921 h 2625360"/>
                  <a:gd name="connsiteX61" fmla="*/ 1556956 w 2797397"/>
                  <a:gd name="connsiteY61" fmla="*/ 1000015 h 2625360"/>
                  <a:gd name="connsiteX62" fmla="*/ 1546003 w 2797397"/>
                  <a:gd name="connsiteY62" fmla="*/ 988108 h 2625360"/>
                  <a:gd name="connsiteX63" fmla="*/ 1534954 w 2797397"/>
                  <a:gd name="connsiteY63" fmla="*/ 976202 h 2625360"/>
                  <a:gd name="connsiteX64" fmla="*/ 1523810 w 2797397"/>
                  <a:gd name="connsiteY64" fmla="*/ 964486 h 2625360"/>
                  <a:gd name="connsiteX65" fmla="*/ 1512570 w 2797397"/>
                  <a:gd name="connsiteY65" fmla="*/ 952675 h 2625360"/>
                  <a:gd name="connsiteX66" fmla="*/ 1501331 w 2797397"/>
                  <a:gd name="connsiteY66" fmla="*/ 940960 h 2625360"/>
                  <a:gd name="connsiteX67" fmla="*/ 1489900 w 2797397"/>
                  <a:gd name="connsiteY67" fmla="*/ 929244 h 2625360"/>
                  <a:gd name="connsiteX68" fmla="*/ 1478375 w 2797397"/>
                  <a:gd name="connsiteY68" fmla="*/ 917719 h 2625360"/>
                  <a:gd name="connsiteX69" fmla="*/ 1466850 w 2797397"/>
                  <a:gd name="connsiteY69" fmla="*/ 906289 h 2625360"/>
                  <a:gd name="connsiteX70" fmla="*/ 1455134 w 2797397"/>
                  <a:gd name="connsiteY70" fmla="*/ 894859 h 2625360"/>
                  <a:gd name="connsiteX71" fmla="*/ 1443323 w 2797397"/>
                  <a:gd name="connsiteY71" fmla="*/ 883428 h 2625360"/>
                  <a:gd name="connsiteX72" fmla="*/ 1431417 w 2797397"/>
                  <a:gd name="connsiteY72" fmla="*/ 872094 h 2625360"/>
                  <a:gd name="connsiteX73" fmla="*/ 1052417 w 2797397"/>
                  <a:gd name="connsiteY73" fmla="*/ 589963 h 2625360"/>
                  <a:gd name="connsiteX74" fmla="*/ 0 w 2797397"/>
                  <a:gd name="connsiteY74" fmla="*/ 763128 h 2625360"/>
                  <a:gd name="connsiteX75" fmla="*/ 212788 w 2797397"/>
                  <a:gd name="connsiteY75" fmla="*/ 371460 h 2625360"/>
                  <a:gd name="connsiteX76" fmla="*/ 1420082 w 2797397"/>
                  <a:gd name="connsiteY76" fmla="*/ 172864 h 2625360"/>
                  <a:gd name="connsiteX77" fmla="*/ 1863662 w 2797397"/>
                  <a:gd name="connsiteY77" fmla="*/ 504905 h 2625360"/>
                  <a:gd name="connsiteX78" fmla="*/ 1877092 w 2797397"/>
                  <a:gd name="connsiteY78" fmla="*/ 517764 h 2625360"/>
                  <a:gd name="connsiteX79" fmla="*/ 1890427 w 2797397"/>
                  <a:gd name="connsiteY79" fmla="*/ 530718 h 2625360"/>
                  <a:gd name="connsiteX80" fmla="*/ 1903666 w 2797397"/>
                  <a:gd name="connsiteY80" fmla="*/ 543672 h 2625360"/>
                  <a:gd name="connsiteX81" fmla="*/ 1916811 w 2797397"/>
                  <a:gd name="connsiteY81" fmla="*/ 556816 h 2625360"/>
                  <a:gd name="connsiteX82" fmla="*/ 1929765 w 2797397"/>
                  <a:gd name="connsiteY82" fmla="*/ 569961 h 2625360"/>
                  <a:gd name="connsiteX83" fmla="*/ 1942624 w 2797397"/>
                  <a:gd name="connsiteY83" fmla="*/ 583201 h 2625360"/>
                  <a:gd name="connsiteX84" fmla="*/ 1955482 w 2797397"/>
                  <a:gd name="connsiteY84" fmla="*/ 596440 h 2625360"/>
                  <a:gd name="connsiteX85" fmla="*/ 1968151 w 2797397"/>
                  <a:gd name="connsiteY85" fmla="*/ 609870 h 2625360"/>
                  <a:gd name="connsiteX86" fmla="*/ 1980724 w 2797397"/>
                  <a:gd name="connsiteY86" fmla="*/ 623206 h 2625360"/>
                  <a:gd name="connsiteX87" fmla="*/ 1993202 w 2797397"/>
                  <a:gd name="connsiteY87" fmla="*/ 636731 h 2625360"/>
                  <a:gd name="connsiteX88" fmla="*/ 2005584 w 2797397"/>
                  <a:gd name="connsiteY88" fmla="*/ 650257 h 2625360"/>
                  <a:gd name="connsiteX89" fmla="*/ 2017871 w 2797397"/>
                  <a:gd name="connsiteY89" fmla="*/ 663877 h 2625360"/>
                  <a:gd name="connsiteX90" fmla="*/ 2029968 w 2797397"/>
                  <a:gd name="connsiteY90" fmla="*/ 677593 h 2625360"/>
                  <a:gd name="connsiteX91" fmla="*/ 2042065 w 2797397"/>
                  <a:gd name="connsiteY91" fmla="*/ 691309 h 2625360"/>
                  <a:gd name="connsiteX92" fmla="*/ 2053971 w 2797397"/>
                  <a:gd name="connsiteY92" fmla="*/ 705025 h 2625360"/>
                  <a:gd name="connsiteX93" fmla="*/ 2065877 w 2797397"/>
                  <a:gd name="connsiteY93" fmla="*/ 718932 h 2625360"/>
                  <a:gd name="connsiteX94" fmla="*/ 2077593 w 2797397"/>
                  <a:gd name="connsiteY94" fmla="*/ 732743 h 2625360"/>
                  <a:gd name="connsiteX95" fmla="*/ 2077688 w 2797397"/>
                  <a:gd name="connsiteY95" fmla="*/ 732743 h 2625360"/>
                  <a:gd name="connsiteX96" fmla="*/ 2089309 w 2797397"/>
                  <a:gd name="connsiteY96" fmla="*/ 746649 h 2625360"/>
                  <a:gd name="connsiteX97" fmla="*/ 2100834 w 2797397"/>
                  <a:gd name="connsiteY97" fmla="*/ 760556 h 2625360"/>
                  <a:gd name="connsiteX98" fmla="*/ 2112359 w 2797397"/>
                  <a:gd name="connsiteY98" fmla="*/ 774558 h 2625360"/>
                  <a:gd name="connsiteX99" fmla="*/ 2123599 w 2797397"/>
                  <a:gd name="connsiteY99" fmla="*/ 788560 h 2625360"/>
                  <a:gd name="connsiteX100" fmla="*/ 2134838 w 2797397"/>
                  <a:gd name="connsiteY100" fmla="*/ 802657 h 2625360"/>
                  <a:gd name="connsiteX101" fmla="*/ 2145983 w 2797397"/>
                  <a:gd name="connsiteY101" fmla="*/ 816849 h 2625360"/>
                  <a:gd name="connsiteX102" fmla="*/ 2157032 w 2797397"/>
                  <a:gd name="connsiteY102" fmla="*/ 831041 h 2625360"/>
                  <a:gd name="connsiteX103" fmla="*/ 2167985 w 2797397"/>
                  <a:gd name="connsiteY103" fmla="*/ 845233 h 2625360"/>
                  <a:gd name="connsiteX104" fmla="*/ 2178844 w 2797397"/>
                  <a:gd name="connsiteY104" fmla="*/ 859426 h 2625360"/>
                  <a:gd name="connsiteX105" fmla="*/ 2189607 w 2797397"/>
                  <a:gd name="connsiteY105" fmla="*/ 873713 h 2625360"/>
                  <a:gd name="connsiteX106" fmla="*/ 2200275 w 2797397"/>
                  <a:gd name="connsiteY106" fmla="*/ 888001 h 2625360"/>
                  <a:gd name="connsiteX107" fmla="*/ 2210753 w 2797397"/>
                  <a:gd name="connsiteY107" fmla="*/ 902288 h 2625360"/>
                  <a:gd name="connsiteX108" fmla="*/ 2221230 w 2797397"/>
                  <a:gd name="connsiteY108" fmla="*/ 916766 h 2625360"/>
                  <a:gd name="connsiteX109" fmla="*/ 2231612 w 2797397"/>
                  <a:gd name="connsiteY109" fmla="*/ 931149 h 2625360"/>
                  <a:gd name="connsiteX110" fmla="*/ 2329339 w 2797397"/>
                  <a:gd name="connsiteY110" fmla="*/ 1076119 h 2625360"/>
                  <a:gd name="connsiteX111" fmla="*/ 2336864 w 2797397"/>
                  <a:gd name="connsiteY111" fmla="*/ 1088026 h 2625360"/>
                  <a:gd name="connsiteX112" fmla="*/ 2344293 w 2797397"/>
                  <a:gd name="connsiteY112" fmla="*/ 1099932 h 2625360"/>
                  <a:gd name="connsiteX113" fmla="*/ 2351723 w 2797397"/>
                  <a:gd name="connsiteY113" fmla="*/ 1111743 h 2625360"/>
                  <a:gd name="connsiteX114" fmla="*/ 2359057 w 2797397"/>
                  <a:gd name="connsiteY114" fmla="*/ 1123649 h 2625360"/>
                  <a:gd name="connsiteX115" fmla="*/ 2366296 w 2797397"/>
                  <a:gd name="connsiteY115" fmla="*/ 1135555 h 2625360"/>
                  <a:gd name="connsiteX116" fmla="*/ 2373440 w 2797397"/>
                  <a:gd name="connsiteY116" fmla="*/ 1147462 h 2625360"/>
                  <a:gd name="connsiteX117" fmla="*/ 2380583 w 2797397"/>
                  <a:gd name="connsiteY117" fmla="*/ 1159368 h 2625360"/>
                  <a:gd name="connsiteX118" fmla="*/ 2387727 w 2797397"/>
                  <a:gd name="connsiteY118" fmla="*/ 1171274 h 2625360"/>
                  <a:gd name="connsiteX119" fmla="*/ 2394680 w 2797397"/>
                  <a:gd name="connsiteY119" fmla="*/ 1183180 h 2625360"/>
                  <a:gd name="connsiteX120" fmla="*/ 2401633 w 2797397"/>
                  <a:gd name="connsiteY120" fmla="*/ 1195087 h 2625360"/>
                  <a:gd name="connsiteX121" fmla="*/ 2408491 w 2797397"/>
                  <a:gd name="connsiteY121" fmla="*/ 1206993 h 2625360"/>
                  <a:gd name="connsiteX122" fmla="*/ 2408587 w 2797397"/>
                  <a:gd name="connsiteY122" fmla="*/ 1206993 h 2625360"/>
                  <a:gd name="connsiteX123" fmla="*/ 2415349 w 2797397"/>
                  <a:gd name="connsiteY123" fmla="*/ 1218994 h 2625360"/>
                  <a:gd name="connsiteX124" fmla="*/ 2422112 w 2797397"/>
                  <a:gd name="connsiteY124" fmla="*/ 1230901 h 2625360"/>
                  <a:gd name="connsiteX125" fmla="*/ 2428780 w 2797397"/>
                  <a:gd name="connsiteY125" fmla="*/ 1242902 h 2625360"/>
                  <a:gd name="connsiteX126" fmla="*/ 2435447 w 2797397"/>
                  <a:gd name="connsiteY126" fmla="*/ 1254808 h 2625360"/>
                  <a:gd name="connsiteX127" fmla="*/ 2442020 w 2797397"/>
                  <a:gd name="connsiteY127" fmla="*/ 1266715 h 2625360"/>
                  <a:gd name="connsiteX128" fmla="*/ 2448592 w 2797397"/>
                  <a:gd name="connsiteY128" fmla="*/ 1278716 h 2625360"/>
                  <a:gd name="connsiteX129" fmla="*/ 2454974 w 2797397"/>
                  <a:gd name="connsiteY129" fmla="*/ 1290622 h 2625360"/>
                  <a:gd name="connsiteX130" fmla="*/ 2461355 w 2797397"/>
                  <a:gd name="connsiteY130" fmla="*/ 1302529 h 2625360"/>
                  <a:gd name="connsiteX131" fmla="*/ 2467642 w 2797397"/>
                  <a:gd name="connsiteY131" fmla="*/ 1314530 h 2625360"/>
                  <a:gd name="connsiteX132" fmla="*/ 2473928 w 2797397"/>
                  <a:gd name="connsiteY132" fmla="*/ 1326436 h 2625360"/>
                  <a:gd name="connsiteX133" fmla="*/ 2480120 w 2797397"/>
                  <a:gd name="connsiteY133" fmla="*/ 1338438 h 2625360"/>
                  <a:gd name="connsiteX134" fmla="*/ 2486311 w 2797397"/>
                  <a:gd name="connsiteY134" fmla="*/ 1350344 h 2625360"/>
                  <a:gd name="connsiteX135" fmla="*/ 2492407 w 2797397"/>
                  <a:gd name="connsiteY135" fmla="*/ 1362346 h 2625360"/>
                  <a:gd name="connsiteX136" fmla="*/ 2498408 w 2797397"/>
                  <a:gd name="connsiteY136" fmla="*/ 1374252 h 2625360"/>
                  <a:gd name="connsiteX137" fmla="*/ 2504313 w 2797397"/>
                  <a:gd name="connsiteY137" fmla="*/ 1386158 h 2625360"/>
                  <a:gd name="connsiteX138" fmla="*/ 2510219 w 2797397"/>
                  <a:gd name="connsiteY138" fmla="*/ 1398160 h 2625360"/>
                  <a:gd name="connsiteX139" fmla="*/ 2516029 w 2797397"/>
                  <a:gd name="connsiteY139" fmla="*/ 1410066 h 2625360"/>
                  <a:gd name="connsiteX140" fmla="*/ 2516124 w 2797397"/>
                  <a:gd name="connsiteY140" fmla="*/ 1410066 h 2625360"/>
                  <a:gd name="connsiteX141" fmla="*/ 2521839 w 2797397"/>
                  <a:gd name="connsiteY141" fmla="*/ 1421972 h 2625360"/>
                  <a:gd name="connsiteX142" fmla="*/ 2527459 w 2797397"/>
                  <a:gd name="connsiteY142" fmla="*/ 1433878 h 2625360"/>
                  <a:gd name="connsiteX143" fmla="*/ 2533079 w 2797397"/>
                  <a:gd name="connsiteY143" fmla="*/ 1445785 h 2625360"/>
                  <a:gd name="connsiteX144" fmla="*/ 2797397 w 2797397"/>
                  <a:gd name="connsiteY144" fmla="*/ 2503726 h 262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2797397" h="2625360">
                    <a:moveTo>
                      <a:pt x="2797397" y="2503726"/>
                    </a:moveTo>
                    <a:lnTo>
                      <a:pt x="2797397" y="2506584"/>
                    </a:lnTo>
                    <a:lnTo>
                      <a:pt x="2252948" y="2625361"/>
                    </a:lnTo>
                    <a:lnTo>
                      <a:pt x="2252948" y="2621741"/>
                    </a:lnTo>
                    <a:cubicBezTo>
                      <a:pt x="2249329" y="2326180"/>
                      <a:pt x="2165318" y="2007569"/>
                      <a:pt x="2025491" y="1707246"/>
                    </a:cubicBezTo>
                    <a:cubicBezTo>
                      <a:pt x="2023872" y="1703721"/>
                      <a:pt x="2022157" y="1700197"/>
                      <a:pt x="2020538" y="1696673"/>
                    </a:cubicBezTo>
                    <a:cubicBezTo>
                      <a:pt x="2018919" y="1693054"/>
                      <a:pt x="2017109" y="1689529"/>
                      <a:pt x="2015490" y="1686005"/>
                    </a:cubicBezTo>
                    <a:cubicBezTo>
                      <a:pt x="2013871" y="1682481"/>
                      <a:pt x="2012061" y="1678957"/>
                      <a:pt x="2010442" y="1675432"/>
                    </a:cubicBezTo>
                    <a:cubicBezTo>
                      <a:pt x="2008823" y="1671908"/>
                      <a:pt x="2007013" y="1668384"/>
                      <a:pt x="2005298" y="1664860"/>
                    </a:cubicBezTo>
                    <a:cubicBezTo>
                      <a:pt x="2003584" y="1661335"/>
                      <a:pt x="2001869" y="1657716"/>
                      <a:pt x="2000155" y="1654192"/>
                    </a:cubicBezTo>
                    <a:cubicBezTo>
                      <a:pt x="1998440" y="1650667"/>
                      <a:pt x="1996631" y="1647143"/>
                      <a:pt x="1994916" y="1643619"/>
                    </a:cubicBezTo>
                    <a:cubicBezTo>
                      <a:pt x="1993202" y="1640095"/>
                      <a:pt x="1991392" y="1636570"/>
                      <a:pt x="1989677" y="1633046"/>
                    </a:cubicBezTo>
                    <a:cubicBezTo>
                      <a:pt x="1987868" y="1629522"/>
                      <a:pt x="1986058" y="1625902"/>
                      <a:pt x="1984343" y="1622378"/>
                    </a:cubicBezTo>
                    <a:lnTo>
                      <a:pt x="1984248" y="1622378"/>
                    </a:lnTo>
                    <a:cubicBezTo>
                      <a:pt x="1982438" y="1618854"/>
                      <a:pt x="1980629" y="1615329"/>
                      <a:pt x="1978914" y="1611805"/>
                    </a:cubicBezTo>
                    <a:cubicBezTo>
                      <a:pt x="1977009" y="1608281"/>
                      <a:pt x="1975295" y="1604757"/>
                      <a:pt x="1973389" y="1601233"/>
                    </a:cubicBezTo>
                    <a:cubicBezTo>
                      <a:pt x="1971580" y="1597708"/>
                      <a:pt x="1969770" y="1594184"/>
                      <a:pt x="1967960" y="1590660"/>
                    </a:cubicBezTo>
                    <a:cubicBezTo>
                      <a:pt x="1966055" y="1587136"/>
                      <a:pt x="1964246" y="1583516"/>
                      <a:pt x="1962340" y="1579992"/>
                    </a:cubicBezTo>
                    <a:cubicBezTo>
                      <a:pt x="1960436" y="1576468"/>
                      <a:pt x="1958626" y="1572943"/>
                      <a:pt x="1956721" y="1569419"/>
                    </a:cubicBezTo>
                    <a:cubicBezTo>
                      <a:pt x="1954816" y="1565895"/>
                      <a:pt x="1952911" y="1562371"/>
                      <a:pt x="1951101" y="1558846"/>
                    </a:cubicBezTo>
                    <a:cubicBezTo>
                      <a:pt x="1949196" y="1555322"/>
                      <a:pt x="1947291" y="1551798"/>
                      <a:pt x="1945386" y="1548274"/>
                    </a:cubicBezTo>
                    <a:cubicBezTo>
                      <a:pt x="1943481" y="1544654"/>
                      <a:pt x="1941481" y="1541130"/>
                      <a:pt x="1939576" y="1537605"/>
                    </a:cubicBezTo>
                    <a:cubicBezTo>
                      <a:pt x="1937671" y="1534081"/>
                      <a:pt x="1935671" y="1530557"/>
                      <a:pt x="1933765" y="1527033"/>
                    </a:cubicBezTo>
                    <a:cubicBezTo>
                      <a:pt x="1931861" y="1523509"/>
                      <a:pt x="1929860" y="1519984"/>
                      <a:pt x="1927860" y="1516460"/>
                    </a:cubicBezTo>
                    <a:cubicBezTo>
                      <a:pt x="1925860" y="1512936"/>
                      <a:pt x="1923860" y="1509412"/>
                      <a:pt x="1921955" y="1505887"/>
                    </a:cubicBezTo>
                    <a:cubicBezTo>
                      <a:pt x="1919954" y="1502363"/>
                      <a:pt x="1917954" y="1498839"/>
                      <a:pt x="1915858" y="1495314"/>
                    </a:cubicBezTo>
                    <a:cubicBezTo>
                      <a:pt x="1913858" y="1491790"/>
                      <a:pt x="1911858" y="1488266"/>
                      <a:pt x="1909858" y="1484742"/>
                    </a:cubicBezTo>
                    <a:cubicBezTo>
                      <a:pt x="1907762" y="1481218"/>
                      <a:pt x="1905762" y="1477693"/>
                      <a:pt x="1903762" y="1474169"/>
                    </a:cubicBezTo>
                    <a:cubicBezTo>
                      <a:pt x="1901666" y="1470645"/>
                      <a:pt x="1899571" y="1467216"/>
                      <a:pt x="1897571" y="1463692"/>
                    </a:cubicBezTo>
                    <a:cubicBezTo>
                      <a:pt x="1895475" y="1460167"/>
                      <a:pt x="1893380" y="1456643"/>
                      <a:pt x="1891379" y="1453119"/>
                    </a:cubicBezTo>
                    <a:cubicBezTo>
                      <a:pt x="1889284" y="1449595"/>
                      <a:pt x="1887188" y="1446070"/>
                      <a:pt x="1885093" y="1442546"/>
                    </a:cubicBezTo>
                    <a:cubicBezTo>
                      <a:pt x="1882997" y="1439022"/>
                      <a:pt x="1880902" y="1435593"/>
                      <a:pt x="1878711" y="1432069"/>
                    </a:cubicBezTo>
                    <a:cubicBezTo>
                      <a:pt x="1876615" y="1428544"/>
                      <a:pt x="1874425" y="1425115"/>
                      <a:pt x="1872329" y="1421591"/>
                    </a:cubicBezTo>
                    <a:cubicBezTo>
                      <a:pt x="1870139" y="1418067"/>
                      <a:pt x="1867948" y="1414543"/>
                      <a:pt x="1865852" y="1411018"/>
                    </a:cubicBezTo>
                    <a:cubicBezTo>
                      <a:pt x="1863757" y="1407589"/>
                      <a:pt x="1861471" y="1404065"/>
                      <a:pt x="1859375" y="1400541"/>
                    </a:cubicBezTo>
                    <a:cubicBezTo>
                      <a:pt x="1857185" y="1397017"/>
                      <a:pt x="1854994" y="1393492"/>
                      <a:pt x="1852803" y="1389968"/>
                    </a:cubicBezTo>
                    <a:lnTo>
                      <a:pt x="1852708" y="1389968"/>
                    </a:lnTo>
                    <a:cubicBezTo>
                      <a:pt x="1850517" y="1386444"/>
                      <a:pt x="1848326" y="1383015"/>
                      <a:pt x="1846136" y="1379491"/>
                    </a:cubicBezTo>
                    <a:cubicBezTo>
                      <a:pt x="1817561" y="1334628"/>
                      <a:pt x="1787938" y="1290527"/>
                      <a:pt x="1757077" y="1247569"/>
                    </a:cubicBezTo>
                    <a:cubicBezTo>
                      <a:pt x="1754029" y="1243283"/>
                      <a:pt x="1750981" y="1238997"/>
                      <a:pt x="1747933" y="1234806"/>
                    </a:cubicBezTo>
                    <a:cubicBezTo>
                      <a:pt x="1744885" y="1230520"/>
                      <a:pt x="1741741" y="1226329"/>
                      <a:pt x="1738789" y="1222138"/>
                    </a:cubicBezTo>
                    <a:cubicBezTo>
                      <a:pt x="1735646" y="1217947"/>
                      <a:pt x="1732598" y="1213756"/>
                      <a:pt x="1729454" y="1209565"/>
                    </a:cubicBezTo>
                    <a:cubicBezTo>
                      <a:pt x="1726311" y="1205278"/>
                      <a:pt x="1723168" y="1201087"/>
                      <a:pt x="1720024" y="1196896"/>
                    </a:cubicBezTo>
                    <a:cubicBezTo>
                      <a:pt x="1716881" y="1192705"/>
                      <a:pt x="1713738" y="1188514"/>
                      <a:pt x="1710595" y="1184323"/>
                    </a:cubicBezTo>
                    <a:lnTo>
                      <a:pt x="1710499" y="1184323"/>
                    </a:lnTo>
                    <a:cubicBezTo>
                      <a:pt x="1707356" y="1180132"/>
                      <a:pt x="1704213" y="1175941"/>
                      <a:pt x="1700974" y="1171750"/>
                    </a:cubicBezTo>
                    <a:lnTo>
                      <a:pt x="1700879" y="1171750"/>
                    </a:lnTo>
                    <a:cubicBezTo>
                      <a:pt x="1697736" y="1167559"/>
                      <a:pt x="1694498" y="1163368"/>
                      <a:pt x="1691164" y="1159177"/>
                    </a:cubicBezTo>
                    <a:cubicBezTo>
                      <a:pt x="1687925" y="1154986"/>
                      <a:pt x="1684687" y="1150795"/>
                      <a:pt x="1681448" y="1146700"/>
                    </a:cubicBezTo>
                    <a:cubicBezTo>
                      <a:pt x="1678114" y="1142509"/>
                      <a:pt x="1674876" y="1138413"/>
                      <a:pt x="1671542" y="1134222"/>
                    </a:cubicBezTo>
                    <a:cubicBezTo>
                      <a:pt x="1668208" y="1130031"/>
                      <a:pt x="1664875" y="1125935"/>
                      <a:pt x="1661636" y="1121744"/>
                    </a:cubicBezTo>
                    <a:cubicBezTo>
                      <a:pt x="1658303" y="1117648"/>
                      <a:pt x="1654969" y="1113457"/>
                      <a:pt x="1651635" y="1109362"/>
                    </a:cubicBezTo>
                    <a:cubicBezTo>
                      <a:pt x="1648206" y="1105171"/>
                      <a:pt x="1644872" y="1101075"/>
                      <a:pt x="1641443" y="1096979"/>
                    </a:cubicBezTo>
                    <a:cubicBezTo>
                      <a:pt x="1638014" y="1092788"/>
                      <a:pt x="1634585" y="1088788"/>
                      <a:pt x="1631252" y="1084692"/>
                    </a:cubicBezTo>
                    <a:cubicBezTo>
                      <a:pt x="1627823" y="1080596"/>
                      <a:pt x="1624298" y="1076500"/>
                      <a:pt x="1620869" y="1072500"/>
                    </a:cubicBezTo>
                    <a:cubicBezTo>
                      <a:pt x="1617440" y="1068404"/>
                      <a:pt x="1613916" y="1064308"/>
                      <a:pt x="1610487" y="1060308"/>
                    </a:cubicBezTo>
                    <a:cubicBezTo>
                      <a:pt x="1606963" y="1056212"/>
                      <a:pt x="1603439" y="1052116"/>
                      <a:pt x="1600010" y="1048116"/>
                    </a:cubicBezTo>
                    <a:lnTo>
                      <a:pt x="1599914" y="1048116"/>
                    </a:lnTo>
                    <a:cubicBezTo>
                      <a:pt x="1596390" y="1044020"/>
                      <a:pt x="1592866" y="1040020"/>
                      <a:pt x="1589341" y="1036019"/>
                    </a:cubicBezTo>
                    <a:cubicBezTo>
                      <a:pt x="1585817" y="1031923"/>
                      <a:pt x="1582198" y="1027923"/>
                      <a:pt x="1578673" y="1023922"/>
                    </a:cubicBezTo>
                    <a:cubicBezTo>
                      <a:pt x="1575054" y="1019922"/>
                      <a:pt x="1571530" y="1015921"/>
                      <a:pt x="1567910" y="1011921"/>
                    </a:cubicBezTo>
                    <a:cubicBezTo>
                      <a:pt x="1564291" y="1007920"/>
                      <a:pt x="1560671" y="1004015"/>
                      <a:pt x="1556956" y="1000015"/>
                    </a:cubicBezTo>
                    <a:cubicBezTo>
                      <a:pt x="1553337" y="996014"/>
                      <a:pt x="1549718" y="992014"/>
                      <a:pt x="1546003" y="988108"/>
                    </a:cubicBezTo>
                    <a:cubicBezTo>
                      <a:pt x="1542383" y="984108"/>
                      <a:pt x="1538669" y="980203"/>
                      <a:pt x="1534954" y="976202"/>
                    </a:cubicBezTo>
                    <a:cubicBezTo>
                      <a:pt x="1531334" y="972297"/>
                      <a:pt x="1527524" y="968296"/>
                      <a:pt x="1523810" y="964486"/>
                    </a:cubicBezTo>
                    <a:cubicBezTo>
                      <a:pt x="1520095" y="960486"/>
                      <a:pt x="1516380" y="956581"/>
                      <a:pt x="1512570" y="952675"/>
                    </a:cubicBezTo>
                    <a:cubicBezTo>
                      <a:pt x="1508855" y="948770"/>
                      <a:pt x="1505140" y="944865"/>
                      <a:pt x="1501331" y="940960"/>
                    </a:cubicBezTo>
                    <a:cubicBezTo>
                      <a:pt x="1497521" y="937054"/>
                      <a:pt x="1493711" y="933149"/>
                      <a:pt x="1489900" y="929244"/>
                    </a:cubicBezTo>
                    <a:cubicBezTo>
                      <a:pt x="1485995" y="925339"/>
                      <a:pt x="1482185" y="921528"/>
                      <a:pt x="1478375" y="917719"/>
                    </a:cubicBezTo>
                    <a:cubicBezTo>
                      <a:pt x="1474565" y="913813"/>
                      <a:pt x="1470660" y="910099"/>
                      <a:pt x="1466850" y="906289"/>
                    </a:cubicBezTo>
                    <a:cubicBezTo>
                      <a:pt x="1462945" y="902383"/>
                      <a:pt x="1459039" y="898573"/>
                      <a:pt x="1455134" y="894859"/>
                    </a:cubicBezTo>
                    <a:lnTo>
                      <a:pt x="1443323" y="883428"/>
                    </a:lnTo>
                    <a:cubicBezTo>
                      <a:pt x="1439418" y="879619"/>
                      <a:pt x="1435418" y="875904"/>
                      <a:pt x="1431417" y="872094"/>
                    </a:cubicBezTo>
                    <a:cubicBezTo>
                      <a:pt x="1312069" y="759603"/>
                      <a:pt x="1184624" y="663687"/>
                      <a:pt x="1052417" y="589963"/>
                    </a:cubicBezTo>
                    <a:cubicBezTo>
                      <a:pt x="586740" y="330502"/>
                      <a:pt x="187738" y="417561"/>
                      <a:pt x="0" y="763128"/>
                    </a:cubicBezTo>
                    <a:cubicBezTo>
                      <a:pt x="70866" y="632635"/>
                      <a:pt x="141827" y="502048"/>
                      <a:pt x="212788" y="371460"/>
                    </a:cubicBezTo>
                    <a:cubicBezTo>
                      <a:pt x="428149" y="-24875"/>
                      <a:pt x="885920" y="-124793"/>
                      <a:pt x="1420082" y="172864"/>
                    </a:cubicBezTo>
                    <a:cubicBezTo>
                      <a:pt x="1575054" y="259255"/>
                      <a:pt x="1724215" y="372222"/>
                      <a:pt x="1863662" y="504905"/>
                    </a:cubicBezTo>
                    <a:cubicBezTo>
                      <a:pt x="1868138" y="509096"/>
                      <a:pt x="1872615" y="513382"/>
                      <a:pt x="1877092" y="517764"/>
                    </a:cubicBezTo>
                    <a:cubicBezTo>
                      <a:pt x="1881473" y="522050"/>
                      <a:pt x="1886045" y="526432"/>
                      <a:pt x="1890427" y="530718"/>
                    </a:cubicBezTo>
                    <a:cubicBezTo>
                      <a:pt x="1894808" y="535004"/>
                      <a:pt x="1899285" y="539386"/>
                      <a:pt x="1903666" y="543672"/>
                    </a:cubicBezTo>
                    <a:lnTo>
                      <a:pt x="1916811" y="556816"/>
                    </a:lnTo>
                    <a:cubicBezTo>
                      <a:pt x="1921097" y="561198"/>
                      <a:pt x="1925479" y="565484"/>
                      <a:pt x="1929765" y="569961"/>
                    </a:cubicBezTo>
                    <a:cubicBezTo>
                      <a:pt x="1934147" y="574342"/>
                      <a:pt x="1938433" y="578819"/>
                      <a:pt x="1942624" y="583201"/>
                    </a:cubicBezTo>
                    <a:cubicBezTo>
                      <a:pt x="1947005" y="587582"/>
                      <a:pt x="1951291" y="592059"/>
                      <a:pt x="1955482" y="596440"/>
                    </a:cubicBezTo>
                    <a:cubicBezTo>
                      <a:pt x="1959673" y="600822"/>
                      <a:pt x="1963960" y="605394"/>
                      <a:pt x="1968151" y="609870"/>
                    </a:cubicBezTo>
                    <a:cubicBezTo>
                      <a:pt x="1972342" y="614252"/>
                      <a:pt x="1976533" y="618729"/>
                      <a:pt x="1980724" y="623206"/>
                    </a:cubicBezTo>
                    <a:cubicBezTo>
                      <a:pt x="1984820" y="627682"/>
                      <a:pt x="1989106" y="632159"/>
                      <a:pt x="1993202" y="636731"/>
                    </a:cubicBezTo>
                    <a:cubicBezTo>
                      <a:pt x="1997393" y="641208"/>
                      <a:pt x="2001393" y="645685"/>
                      <a:pt x="2005584" y="650257"/>
                    </a:cubicBezTo>
                    <a:cubicBezTo>
                      <a:pt x="2009680" y="654733"/>
                      <a:pt x="2013775" y="659305"/>
                      <a:pt x="2017871" y="663877"/>
                    </a:cubicBezTo>
                    <a:cubicBezTo>
                      <a:pt x="2021872" y="668449"/>
                      <a:pt x="2025968" y="673021"/>
                      <a:pt x="2029968" y="677593"/>
                    </a:cubicBezTo>
                    <a:cubicBezTo>
                      <a:pt x="2034064" y="682070"/>
                      <a:pt x="2038064" y="686737"/>
                      <a:pt x="2042065" y="691309"/>
                    </a:cubicBezTo>
                    <a:cubicBezTo>
                      <a:pt x="2045970" y="695881"/>
                      <a:pt x="2049971" y="700453"/>
                      <a:pt x="2053971" y="705025"/>
                    </a:cubicBezTo>
                    <a:cubicBezTo>
                      <a:pt x="2057876" y="709597"/>
                      <a:pt x="2061877" y="714169"/>
                      <a:pt x="2065877" y="718932"/>
                    </a:cubicBezTo>
                    <a:cubicBezTo>
                      <a:pt x="2069782" y="723504"/>
                      <a:pt x="2073688" y="728076"/>
                      <a:pt x="2077593" y="732743"/>
                    </a:cubicBezTo>
                    <a:lnTo>
                      <a:pt x="2077688" y="732743"/>
                    </a:lnTo>
                    <a:cubicBezTo>
                      <a:pt x="2081594" y="737410"/>
                      <a:pt x="2085499" y="741982"/>
                      <a:pt x="2089309" y="746649"/>
                    </a:cubicBezTo>
                    <a:cubicBezTo>
                      <a:pt x="2093214" y="751317"/>
                      <a:pt x="2097024" y="755889"/>
                      <a:pt x="2100834" y="760556"/>
                    </a:cubicBezTo>
                    <a:cubicBezTo>
                      <a:pt x="2104739" y="765223"/>
                      <a:pt x="2108549" y="769891"/>
                      <a:pt x="2112359" y="774558"/>
                    </a:cubicBezTo>
                    <a:cubicBezTo>
                      <a:pt x="2116169" y="779225"/>
                      <a:pt x="2119884" y="783892"/>
                      <a:pt x="2123599" y="788560"/>
                    </a:cubicBezTo>
                    <a:cubicBezTo>
                      <a:pt x="2127409" y="793227"/>
                      <a:pt x="2131124" y="797989"/>
                      <a:pt x="2134838" y="802657"/>
                    </a:cubicBezTo>
                    <a:cubicBezTo>
                      <a:pt x="2138553" y="807324"/>
                      <a:pt x="2142268" y="812086"/>
                      <a:pt x="2145983" y="816849"/>
                    </a:cubicBezTo>
                    <a:cubicBezTo>
                      <a:pt x="2149697" y="821516"/>
                      <a:pt x="2153412" y="826278"/>
                      <a:pt x="2157032" y="831041"/>
                    </a:cubicBezTo>
                    <a:cubicBezTo>
                      <a:pt x="2160651" y="835708"/>
                      <a:pt x="2164366" y="840471"/>
                      <a:pt x="2167985" y="845233"/>
                    </a:cubicBezTo>
                    <a:cubicBezTo>
                      <a:pt x="2171605" y="849996"/>
                      <a:pt x="2175224" y="854663"/>
                      <a:pt x="2178844" y="859426"/>
                    </a:cubicBezTo>
                    <a:cubicBezTo>
                      <a:pt x="2182463" y="864188"/>
                      <a:pt x="2185988" y="868951"/>
                      <a:pt x="2189607" y="873713"/>
                    </a:cubicBezTo>
                    <a:cubicBezTo>
                      <a:pt x="2193131" y="878476"/>
                      <a:pt x="2196656" y="883238"/>
                      <a:pt x="2200275" y="888001"/>
                    </a:cubicBezTo>
                    <a:cubicBezTo>
                      <a:pt x="2203704" y="892763"/>
                      <a:pt x="2207228" y="897526"/>
                      <a:pt x="2210753" y="902288"/>
                    </a:cubicBezTo>
                    <a:cubicBezTo>
                      <a:pt x="2214277" y="907146"/>
                      <a:pt x="2217706" y="911908"/>
                      <a:pt x="2221230" y="916766"/>
                    </a:cubicBezTo>
                    <a:cubicBezTo>
                      <a:pt x="2224754" y="921528"/>
                      <a:pt x="2228183" y="926386"/>
                      <a:pt x="2231612" y="931149"/>
                    </a:cubicBezTo>
                    <a:cubicBezTo>
                      <a:pt x="2265331" y="978488"/>
                      <a:pt x="2297906" y="1026780"/>
                      <a:pt x="2329339" y="1076119"/>
                    </a:cubicBezTo>
                    <a:cubicBezTo>
                      <a:pt x="2331911" y="1080025"/>
                      <a:pt x="2334387" y="1084025"/>
                      <a:pt x="2336864" y="1088026"/>
                    </a:cubicBezTo>
                    <a:cubicBezTo>
                      <a:pt x="2339340" y="1091931"/>
                      <a:pt x="2341816" y="1095931"/>
                      <a:pt x="2344293" y="1099932"/>
                    </a:cubicBezTo>
                    <a:cubicBezTo>
                      <a:pt x="2346770" y="1103837"/>
                      <a:pt x="2349151" y="1107838"/>
                      <a:pt x="2351723" y="1111743"/>
                    </a:cubicBezTo>
                    <a:cubicBezTo>
                      <a:pt x="2354104" y="1115648"/>
                      <a:pt x="2356580" y="1119649"/>
                      <a:pt x="2359057" y="1123649"/>
                    </a:cubicBezTo>
                    <a:cubicBezTo>
                      <a:pt x="2361438" y="1127554"/>
                      <a:pt x="2363915" y="1131555"/>
                      <a:pt x="2366296" y="1135555"/>
                    </a:cubicBezTo>
                    <a:cubicBezTo>
                      <a:pt x="2368677" y="1139556"/>
                      <a:pt x="2371154" y="1143461"/>
                      <a:pt x="2373440" y="1147462"/>
                    </a:cubicBezTo>
                    <a:cubicBezTo>
                      <a:pt x="2375821" y="1151462"/>
                      <a:pt x="2378202" y="1155367"/>
                      <a:pt x="2380583" y="1159368"/>
                    </a:cubicBezTo>
                    <a:cubicBezTo>
                      <a:pt x="2382965" y="1163273"/>
                      <a:pt x="2385346" y="1167274"/>
                      <a:pt x="2387727" y="1171274"/>
                    </a:cubicBezTo>
                    <a:cubicBezTo>
                      <a:pt x="2390108" y="1175179"/>
                      <a:pt x="2392394" y="1179180"/>
                      <a:pt x="2394680" y="1183180"/>
                    </a:cubicBezTo>
                    <a:cubicBezTo>
                      <a:pt x="2397062" y="1187086"/>
                      <a:pt x="2399348" y="1191086"/>
                      <a:pt x="2401633" y="1195087"/>
                    </a:cubicBezTo>
                    <a:cubicBezTo>
                      <a:pt x="2404015" y="1198992"/>
                      <a:pt x="2406301" y="1202992"/>
                      <a:pt x="2408491" y="1206993"/>
                    </a:cubicBezTo>
                    <a:lnTo>
                      <a:pt x="2408587" y="1206993"/>
                    </a:lnTo>
                    <a:cubicBezTo>
                      <a:pt x="2410873" y="1210993"/>
                      <a:pt x="2413159" y="1214994"/>
                      <a:pt x="2415349" y="1218994"/>
                    </a:cubicBezTo>
                    <a:cubicBezTo>
                      <a:pt x="2417636" y="1222900"/>
                      <a:pt x="2419922" y="1226900"/>
                      <a:pt x="2422112" y="1230901"/>
                    </a:cubicBezTo>
                    <a:cubicBezTo>
                      <a:pt x="2424398" y="1234901"/>
                      <a:pt x="2426589" y="1238902"/>
                      <a:pt x="2428780" y="1242902"/>
                    </a:cubicBezTo>
                    <a:cubicBezTo>
                      <a:pt x="2430971" y="1246807"/>
                      <a:pt x="2433161" y="1250808"/>
                      <a:pt x="2435447" y="1254808"/>
                    </a:cubicBezTo>
                    <a:cubicBezTo>
                      <a:pt x="2437638" y="1258809"/>
                      <a:pt x="2439829" y="1262714"/>
                      <a:pt x="2442020" y="1266715"/>
                    </a:cubicBezTo>
                    <a:cubicBezTo>
                      <a:pt x="2444210" y="1270715"/>
                      <a:pt x="2446401" y="1274716"/>
                      <a:pt x="2448592" y="1278716"/>
                    </a:cubicBezTo>
                    <a:cubicBezTo>
                      <a:pt x="2450687" y="1282717"/>
                      <a:pt x="2452878" y="1286717"/>
                      <a:pt x="2454974" y="1290622"/>
                    </a:cubicBezTo>
                    <a:cubicBezTo>
                      <a:pt x="2457069" y="1294623"/>
                      <a:pt x="2459165" y="1298528"/>
                      <a:pt x="2461355" y="1302529"/>
                    </a:cubicBezTo>
                    <a:cubicBezTo>
                      <a:pt x="2463451" y="1306529"/>
                      <a:pt x="2465546" y="1310530"/>
                      <a:pt x="2467642" y="1314530"/>
                    </a:cubicBezTo>
                    <a:cubicBezTo>
                      <a:pt x="2469737" y="1318435"/>
                      <a:pt x="2471833" y="1322436"/>
                      <a:pt x="2473928" y="1326436"/>
                    </a:cubicBezTo>
                    <a:cubicBezTo>
                      <a:pt x="2476024" y="1330437"/>
                      <a:pt x="2478024" y="1334437"/>
                      <a:pt x="2480120" y="1338438"/>
                    </a:cubicBezTo>
                    <a:cubicBezTo>
                      <a:pt x="2482215" y="1342343"/>
                      <a:pt x="2484215" y="1346344"/>
                      <a:pt x="2486311" y="1350344"/>
                    </a:cubicBezTo>
                    <a:cubicBezTo>
                      <a:pt x="2488311" y="1354345"/>
                      <a:pt x="2490407" y="1358345"/>
                      <a:pt x="2492407" y="1362346"/>
                    </a:cubicBezTo>
                    <a:cubicBezTo>
                      <a:pt x="2494407" y="1366346"/>
                      <a:pt x="2496407" y="1370251"/>
                      <a:pt x="2498408" y="1374252"/>
                    </a:cubicBezTo>
                    <a:cubicBezTo>
                      <a:pt x="2500408" y="1378252"/>
                      <a:pt x="2502313" y="1382158"/>
                      <a:pt x="2504313" y="1386158"/>
                    </a:cubicBezTo>
                    <a:cubicBezTo>
                      <a:pt x="2506313" y="1390159"/>
                      <a:pt x="2508314" y="1394159"/>
                      <a:pt x="2510219" y="1398160"/>
                    </a:cubicBezTo>
                    <a:cubicBezTo>
                      <a:pt x="2512124" y="1402065"/>
                      <a:pt x="2514124" y="1406065"/>
                      <a:pt x="2516029" y="1410066"/>
                    </a:cubicBezTo>
                    <a:lnTo>
                      <a:pt x="2516124" y="1410066"/>
                    </a:lnTo>
                    <a:cubicBezTo>
                      <a:pt x="2518029" y="1413971"/>
                      <a:pt x="2519934" y="1417971"/>
                      <a:pt x="2521839" y="1421972"/>
                    </a:cubicBezTo>
                    <a:cubicBezTo>
                      <a:pt x="2523744" y="1425972"/>
                      <a:pt x="2525649" y="1429878"/>
                      <a:pt x="2527459" y="1433878"/>
                    </a:cubicBezTo>
                    <a:cubicBezTo>
                      <a:pt x="2529364" y="1437879"/>
                      <a:pt x="2531269" y="1441784"/>
                      <a:pt x="2533079" y="1445785"/>
                    </a:cubicBezTo>
                    <a:cubicBezTo>
                      <a:pt x="2695385" y="1793542"/>
                      <a:pt x="2793206" y="2162064"/>
                      <a:pt x="2797397" y="2503726"/>
                    </a:cubicBezTo>
                    <a:close/>
                  </a:path>
                </a:pathLst>
              </a:custGeom>
              <a:gradFill flip="none" rotWithShape="1">
                <a:gsLst>
                  <a:gs pos="10000">
                    <a:srgbClr val="41A5EE">
                      <a:lumMod val="60000"/>
                      <a:lumOff val="40000"/>
                    </a:srgbClr>
                  </a:gs>
                  <a:gs pos="75000">
                    <a:srgbClr val="41A5EE"/>
                  </a:gs>
                </a:gsLst>
                <a:path path="circle">
                  <a:fillToRect l="100000" t="100000"/>
                </a:path>
                <a:tileRect r="-100000" b="-100000"/>
              </a:gradFill>
              <a:ln w="9525" cap="flat">
                <a:noFill/>
                <a:prstDash val="solid"/>
                <a:miter/>
              </a:ln>
              <a:effectLst>
                <a:outerShdw blurRad="571500" dist="381000" dir="5400000" sx="85000" sy="85000" algn="t" rotWithShape="0">
                  <a:srgbClr val="FFFFFF">
                    <a:alpha val="29804"/>
                  </a:srgb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grpSp>
          <p:nvGrpSpPr>
            <p:cNvPr id="36" name="Group 22">
              <a:extLst>
                <a:ext uri="{FF2B5EF4-FFF2-40B4-BE49-F238E27FC236}">
                  <a16:creationId xmlns:a16="http://schemas.microsoft.com/office/drawing/2014/main" id="{0F47DF85-40FD-F790-3533-8217A813B82A}"/>
                </a:ext>
              </a:extLst>
            </p:cNvPr>
            <p:cNvGrpSpPr/>
            <p:nvPr/>
          </p:nvGrpSpPr>
          <p:grpSpPr>
            <a:xfrm>
              <a:off x="3406005" y="3653590"/>
              <a:ext cx="2448290" cy="2185118"/>
              <a:chOff x="4264934" y="3240088"/>
              <a:chExt cx="2448290" cy="2185118"/>
            </a:xfrm>
          </p:grpSpPr>
          <p:sp>
            <p:nvSpPr>
              <p:cNvPr id="41" name="Freeform: Shape 10">
                <a:extLst>
                  <a:ext uri="{FF2B5EF4-FFF2-40B4-BE49-F238E27FC236}">
                    <a16:creationId xmlns:a16="http://schemas.microsoft.com/office/drawing/2014/main" id="{242FC630-35B0-0E8C-97DD-220BC1501B67}"/>
                  </a:ext>
                </a:extLst>
              </p:cNvPr>
              <p:cNvSpPr/>
              <p:nvPr/>
            </p:nvSpPr>
            <p:spPr>
              <a:xfrm>
                <a:off x="4512823" y="3795744"/>
                <a:ext cx="308132" cy="745293"/>
              </a:xfrm>
              <a:custGeom>
                <a:avLst/>
                <a:gdLst>
                  <a:gd name="connsiteX0" fmla="*/ 59399 w 274950"/>
                  <a:gd name="connsiteY0" fmla="*/ 389763 h 665035"/>
                  <a:gd name="connsiteX1" fmla="*/ 274950 w 274950"/>
                  <a:gd name="connsiteY1" fmla="*/ 0 h 665035"/>
                  <a:gd name="connsiteX2" fmla="*/ 198655 w 274950"/>
                  <a:gd name="connsiteY2" fmla="*/ 354235 h 665035"/>
                  <a:gd name="connsiteX3" fmla="*/ 59 w 274950"/>
                  <a:gd name="connsiteY3" fmla="*/ 665036 h 665035"/>
                  <a:gd name="connsiteX4" fmla="*/ 59399 w 274950"/>
                  <a:gd name="connsiteY4" fmla="*/ 389763 h 665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950" h="665035">
                    <a:moveTo>
                      <a:pt x="59399" y="389763"/>
                    </a:moveTo>
                    <a:cubicBezTo>
                      <a:pt x="131218" y="259842"/>
                      <a:pt x="203132" y="129921"/>
                      <a:pt x="274950" y="0"/>
                    </a:cubicBezTo>
                    <a:cubicBezTo>
                      <a:pt x="224468" y="91250"/>
                      <a:pt x="196940" y="210598"/>
                      <a:pt x="198655" y="354235"/>
                    </a:cubicBezTo>
                    <a:lnTo>
                      <a:pt x="59" y="665036"/>
                    </a:lnTo>
                    <a:cubicBezTo>
                      <a:pt x="-1275" y="553498"/>
                      <a:pt x="20156" y="460724"/>
                      <a:pt x="59399" y="389763"/>
                    </a:cubicBezTo>
                    <a:close/>
                  </a:path>
                </a:pathLst>
              </a:custGeom>
              <a:gradFill flip="none" rotWithShape="1">
                <a:gsLst>
                  <a:gs pos="15000">
                    <a:srgbClr val="33C481">
                      <a:lumMod val="60000"/>
                      <a:lumOff val="40000"/>
                    </a:srgbClr>
                  </a:gs>
                  <a:gs pos="75000">
                    <a:srgbClr val="33C481"/>
                  </a:gs>
                </a:gsLst>
                <a:path path="circle">
                  <a:fillToRect l="100000" t="100000"/>
                </a:path>
                <a:tileRect r="-100000" b="-100000"/>
              </a:gradFill>
              <a:ln w="9525" cap="flat">
                <a:noFill/>
                <a:prstDash val="solid"/>
                <a:miter/>
              </a:ln>
              <a:effectLst>
                <a:outerShdw blurRad="571500" dist="381000" dir="5400000" sx="85000" sy="85000" algn="t" rotWithShape="0">
                  <a:srgbClr val="33C481">
                    <a:alpha val="30000"/>
                  </a:srgb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42" name="Freeform: Shape 11">
                <a:extLst>
                  <a:ext uri="{FF2B5EF4-FFF2-40B4-BE49-F238E27FC236}">
                    <a16:creationId xmlns:a16="http://schemas.microsoft.com/office/drawing/2014/main" id="{8DBC6BA3-FC73-C068-2090-D574D16541A9}"/>
                  </a:ext>
                </a:extLst>
              </p:cNvPr>
              <p:cNvSpPr/>
              <p:nvPr/>
            </p:nvSpPr>
            <p:spPr>
              <a:xfrm>
                <a:off x="4264934" y="3732859"/>
                <a:ext cx="1838029" cy="1692347"/>
              </a:xfrm>
              <a:custGeom>
                <a:avLst/>
                <a:gdLst>
                  <a:gd name="connsiteX0" fmla="*/ 221254 w 1640097"/>
                  <a:gd name="connsiteY0" fmla="*/ 721244 h 1510104"/>
                  <a:gd name="connsiteX1" fmla="*/ 811613 w 1640097"/>
                  <a:gd name="connsiteY1" fmla="*/ 360818 h 1510104"/>
                  <a:gd name="connsiteX2" fmla="*/ 1418927 w 1640097"/>
                  <a:gd name="connsiteY2" fmla="*/ 1388661 h 1510104"/>
                  <a:gd name="connsiteX3" fmla="*/ 1640098 w 1640097"/>
                  <a:gd name="connsiteY3" fmla="*/ 1510104 h 1510104"/>
                  <a:gd name="connsiteX4" fmla="*/ 808470 w 1640097"/>
                  <a:gd name="connsiteY4" fmla="*/ 104405 h 1510104"/>
                  <a:gd name="connsiteX5" fmla="*/ 83 w 1640097"/>
                  <a:gd name="connsiteY5" fmla="*/ 597895 h 1510104"/>
                  <a:gd name="connsiteX6" fmla="*/ 221254 w 1640097"/>
                  <a:gd name="connsiteY6" fmla="*/ 721244 h 1510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40097" h="1510104">
                    <a:moveTo>
                      <a:pt x="221254" y="721244"/>
                    </a:moveTo>
                    <a:cubicBezTo>
                      <a:pt x="216586" y="337863"/>
                      <a:pt x="480905" y="176509"/>
                      <a:pt x="811613" y="360818"/>
                    </a:cubicBezTo>
                    <a:cubicBezTo>
                      <a:pt x="1142321" y="545127"/>
                      <a:pt x="1414260" y="1005279"/>
                      <a:pt x="1418927" y="1388661"/>
                    </a:cubicBezTo>
                    <a:lnTo>
                      <a:pt x="1640098" y="1510104"/>
                    </a:lnTo>
                    <a:cubicBezTo>
                      <a:pt x="1632859" y="985563"/>
                      <a:pt x="1260812" y="356532"/>
                      <a:pt x="808470" y="104405"/>
                    </a:cubicBezTo>
                    <a:cubicBezTo>
                      <a:pt x="355556" y="-148008"/>
                      <a:pt x="-6299" y="72972"/>
                      <a:pt x="83" y="597895"/>
                    </a:cubicBezTo>
                    <a:lnTo>
                      <a:pt x="221254" y="721244"/>
                    </a:lnTo>
                    <a:close/>
                  </a:path>
                </a:pathLst>
              </a:custGeom>
              <a:solidFill>
                <a:sysClr val="window" lastClr="FFFFFF"/>
              </a:solidFill>
              <a:ln w="12700" cap="flat" cmpd="sng" algn="ctr">
                <a:noFill/>
                <a:prstDash val="solid"/>
                <a:miter lim="800000"/>
              </a:ln>
              <a:effectLst>
                <a:outerShdw blurRad="1016000" dist="889000" dir="8100000" sx="90000" sy="90000" algn="tr" rotWithShape="0">
                  <a:prstClr val="black">
                    <a:alpha val="1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3" name="Freeform: Shape 42">
                <a:extLst>
                  <a:ext uri="{FF2B5EF4-FFF2-40B4-BE49-F238E27FC236}">
                    <a16:creationId xmlns:a16="http://schemas.microsoft.com/office/drawing/2014/main" id="{F02866F7-64E1-206E-3CBA-E74FC9189229}"/>
                  </a:ext>
                </a:extLst>
              </p:cNvPr>
              <p:cNvSpPr/>
              <p:nvPr/>
            </p:nvSpPr>
            <p:spPr>
              <a:xfrm>
                <a:off x="4353839" y="3240088"/>
                <a:ext cx="2359385" cy="2185012"/>
              </a:xfrm>
              <a:custGeom>
                <a:avLst/>
                <a:gdLst>
                  <a:gd name="connsiteX0" fmla="*/ 2105311 w 2105310"/>
                  <a:gd name="connsiteY0" fmla="*/ 1830939 h 1949715"/>
                  <a:gd name="connsiteX1" fmla="*/ 1560767 w 2105310"/>
                  <a:gd name="connsiteY1" fmla="*/ 1949716 h 1949715"/>
                  <a:gd name="connsiteX2" fmla="*/ 1410462 w 2105310"/>
                  <a:gd name="connsiteY2" fmla="*/ 1333734 h 1949715"/>
                  <a:gd name="connsiteX3" fmla="*/ 1406938 w 2105310"/>
                  <a:gd name="connsiteY3" fmla="*/ 1326114 h 1949715"/>
                  <a:gd name="connsiteX4" fmla="*/ 1403318 w 2105310"/>
                  <a:gd name="connsiteY4" fmla="*/ 1318399 h 1949715"/>
                  <a:gd name="connsiteX5" fmla="*/ 1399699 w 2105310"/>
                  <a:gd name="connsiteY5" fmla="*/ 1310683 h 1949715"/>
                  <a:gd name="connsiteX6" fmla="*/ 1396079 w 2105310"/>
                  <a:gd name="connsiteY6" fmla="*/ 1303063 h 1949715"/>
                  <a:gd name="connsiteX7" fmla="*/ 1392460 w 2105310"/>
                  <a:gd name="connsiteY7" fmla="*/ 1295348 h 1949715"/>
                  <a:gd name="connsiteX8" fmla="*/ 1388840 w 2105310"/>
                  <a:gd name="connsiteY8" fmla="*/ 1287633 h 1949715"/>
                  <a:gd name="connsiteX9" fmla="*/ 1385030 w 2105310"/>
                  <a:gd name="connsiteY9" fmla="*/ 1279918 h 1949715"/>
                  <a:gd name="connsiteX10" fmla="*/ 1381220 w 2105310"/>
                  <a:gd name="connsiteY10" fmla="*/ 1272297 h 1949715"/>
                  <a:gd name="connsiteX11" fmla="*/ 1377410 w 2105310"/>
                  <a:gd name="connsiteY11" fmla="*/ 1264677 h 1949715"/>
                  <a:gd name="connsiteX12" fmla="*/ 1373505 w 2105310"/>
                  <a:gd name="connsiteY12" fmla="*/ 1257058 h 1949715"/>
                  <a:gd name="connsiteX13" fmla="*/ 1369600 w 2105310"/>
                  <a:gd name="connsiteY13" fmla="*/ 1249342 h 1949715"/>
                  <a:gd name="connsiteX14" fmla="*/ 1365695 w 2105310"/>
                  <a:gd name="connsiteY14" fmla="*/ 1241627 h 1949715"/>
                  <a:gd name="connsiteX15" fmla="*/ 1361694 w 2105310"/>
                  <a:gd name="connsiteY15" fmla="*/ 1234007 h 1949715"/>
                  <a:gd name="connsiteX16" fmla="*/ 1357693 w 2105310"/>
                  <a:gd name="connsiteY16" fmla="*/ 1226292 h 1949715"/>
                  <a:gd name="connsiteX17" fmla="*/ 1357598 w 2105310"/>
                  <a:gd name="connsiteY17" fmla="*/ 1226292 h 1949715"/>
                  <a:gd name="connsiteX18" fmla="*/ 1353598 w 2105310"/>
                  <a:gd name="connsiteY18" fmla="*/ 1218672 h 1949715"/>
                  <a:gd name="connsiteX19" fmla="*/ 1349407 w 2105310"/>
                  <a:gd name="connsiteY19" fmla="*/ 1211052 h 1949715"/>
                  <a:gd name="connsiteX20" fmla="*/ 1345216 w 2105310"/>
                  <a:gd name="connsiteY20" fmla="*/ 1203336 h 1949715"/>
                  <a:gd name="connsiteX21" fmla="*/ 1341025 w 2105310"/>
                  <a:gd name="connsiteY21" fmla="*/ 1195717 h 1949715"/>
                  <a:gd name="connsiteX22" fmla="*/ 1336834 w 2105310"/>
                  <a:gd name="connsiteY22" fmla="*/ 1188096 h 1949715"/>
                  <a:gd name="connsiteX23" fmla="*/ 1332452 w 2105310"/>
                  <a:gd name="connsiteY23" fmla="*/ 1180477 h 1949715"/>
                  <a:gd name="connsiteX24" fmla="*/ 1328166 w 2105310"/>
                  <a:gd name="connsiteY24" fmla="*/ 1172857 h 1949715"/>
                  <a:gd name="connsiteX25" fmla="*/ 1323785 w 2105310"/>
                  <a:gd name="connsiteY25" fmla="*/ 1165236 h 1949715"/>
                  <a:gd name="connsiteX26" fmla="*/ 1319403 w 2105310"/>
                  <a:gd name="connsiteY26" fmla="*/ 1157617 h 1949715"/>
                  <a:gd name="connsiteX27" fmla="*/ 1315022 w 2105310"/>
                  <a:gd name="connsiteY27" fmla="*/ 1149996 h 1949715"/>
                  <a:gd name="connsiteX28" fmla="*/ 1310545 w 2105310"/>
                  <a:gd name="connsiteY28" fmla="*/ 1142281 h 1949715"/>
                  <a:gd name="connsiteX29" fmla="*/ 1305973 w 2105310"/>
                  <a:gd name="connsiteY29" fmla="*/ 1134661 h 1949715"/>
                  <a:gd name="connsiteX30" fmla="*/ 1301401 w 2105310"/>
                  <a:gd name="connsiteY30" fmla="*/ 1127136 h 1949715"/>
                  <a:gd name="connsiteX31" fmla="*/ 1296734 w 2105310"/>
                  <a:gd name="connsiteY31" fmla="*/ 1119421 h 1949715"/>
                  <a:gd name="connsiteX32" fmla="*/ 1292066 w 2105310"/>
                  <a:gd name="connsiteY32" fmla="*/ 1111992 h 1949715"/>
                  <a:gd name="connsiteX33" fmla="*/ 1287399 w 2105310"/>
                  <a:gd name="connsiteY33" fmla="*/ 1104372 h 1949715"/>
                  <a:gd name="connsiteX34" fmla="*/ 1282637 w 2105310"/>
                  <a:gd name="connsiteY34" fmla="*/ 1096752 h 1949715"/>
                  <a:gd name="connsiteX35" fmla="*/ 1212247 w 2105310"/>
                  <a:gd name="connsiteY35" fmla="*/ 992548 h 1949715"/>
                  <a:gd name="connsiteX36" fmla="*/ 1205675 w 2105310"/>
                  <a:gd name="connsiteY36" fmla="*/ 983404 h 1949715"/>
                  <a:gd name="connsiteX37" fmla="*/ 1198912 w 2105310"/>
                  <a:gd name="connsiteY37" fmla="*/ 974260 h 1949715"/>
                  <a:gd name="connsiteX38" fmla="*/ 1192244 w 2105310"/>
                  <a:gd name="connsiteY38" fmla="*/ 965211 h 1949715"/>
                  <a:gd name="connsiteX39" fmla="*/ 1185386 w 2105310"/>
                  <a:gd name="connsiteY39" fmla="*/ 956163 h 1949715"/>
                  <a:gd name="connsiteX40" fmla="*/ 1178433 w 2105310"/>
                  <a:gd name="connsiteY40" fmla="*/ 947114 h 1949715"/>
                  <a:gd name="connsiteX41" fmla="*/ 1171480 w 2105310"/>
                  <a:gd name="connsiteY41" fmla="*/ 938160 h 1949715"/>
                  <a:gd name="connsiteX42" fmla="*/ 1164431 w 2105310"/>
                  <a:gd name="connsiteY42" fmla="*/ 929207 h 1949715"/>
                  <a:gd name="connsiteX43" fmla="*/ 1157383 w 2105310"/>
                  <a:gd name="connsiteY43" fmla="*/ 920253 h 1949715"/>
                  <a:gd name="connsiteX44" fmla="*/ 1150239 w 2105310"/>
                  <a:gd name="connsiteY44" fmla="*/ 911300 h 1949715"/>
                  <a:gd name="connsiteX45" fmla="*/ 1143000 w 2105310"/>
                  <a:gd name="connsiteY45" fmla="*/ 902442 h 1949715"/>
                  <a:gd name="connsiteX46" fmla="*/ 1135761 w 2105310"/>
                  <a:gd name="connsiteY46" fmla="*/ 893488 h 1949715"/>
                  <a:gd name="connsiteX47" fmla="*/ 1128332 w 2105310"/>
                  <a:gd name="connsiteY47" fmla="*/ 884630 h 1949715"/>
                  <a:gd name="connsiteX48" fmla="*/ 1120997 w 2105310"/>
                  <a:gd name="connsiteY48" fmla="*/ 875867 h 1949715"/>
                  <a:gd name="connsiteX49" fmla="*/ 1113473 w 2105310"/>
                  <a:gd name="connsiteY49" fmla="*/ 867199 h 1949715"/>
                  <a:gd name="connsiteX50" fmla="*/ 1105948 w 2105310"/>
                  <a:gd name="connsiteY50" fmla="*/ 858532 h 1949715"/>
                  <a:gd name="connsiteX51" fmla="*/ 1098233 w 2105310"/>
                  <a:gd name="connsiteY51" fmla="*/ 849864 h 1949715"/>
                  <a:gd name="connsiteX52" fmla="*/ 1090613 w 2105310"/>
                  <a:gd name="connsiteY52" fmla="*/ 841196 h 1949715"/>
                  <a:gd name="connsiteX53" fmla="*/ 1082897 w 2105310"/>
                  <a:gd name="connsiteY53" fmla="*/ 832528 h 1949715"/>
                  <a:gd name="connsiteX54" fmla="*/ 1074992 w 2105310"/>
                  <a:gd name="connsiteY54" fmla="*/ 823956 h 1949715"/>
                  <a:gd name="connsiteX55" fmla="*/ 1067086 w 2105310"/>
                  <a:gd name="connsiteY55" fmla="*/ 815383 h 1949715"/>
                  <a:gd name="connsiteX56" fmla="*/ 1059180 w 2105310"/>
                  <a:gd name="connsiteY56" fmla="*/ 807001 h 1949715"/>
                  <a:gd name="connsiteX57" fmla="*/ 1051179 w 2105310"/>
                  <a:gd name="connsiteY57" fmla="*/ 798619 h 1949715"/>
                  <a:gd name="connsiteX58" fmla="*/ 1043083 w 2105310"/>
                  <a:gd name="connsiteY58" fmla="*/ 790237 h 1949715"/>
                  <a:gd name="connsiteX59" fmla="*/ 1034891 w 2105310"/>
                  <a:gd name="connsiteY59" fmla="*/ 781855 h 1949715"/>
                  <a:gd name="connsiteX60" fmla="*/ 1026700 w 2105310"/>
                  <a:gd name="connsiteY60" fmla="*/ 773568 h 1949715"/>
                  <a:gd name="connsiteX61" fmla="*/ 1018318 w 2105310"/>
                  <a:gd name="connsiteY61" fmla="*/ 765282 h 1949715"/>
                  <a:gd name="connsiteX62" fmla="*/ 1010031 w 2105310"/>
                  <a:gd name="connsiteY62" fmla="*/ 757090 h 1949715"/>
                  <a:gd name="connsiteX63" fmla="*/ 1001649 w 2105310"/>
                  <a:gd name="connsiteY63" fmla="*/ 748899 h 1949715"/>
                  <a:gd name="connsiteX64" fmla="*/ 993172 w 2105310"/>
                  <a:gd name="connsiteY64" fmla="*/ 740707 h 1949715"/>
                  <a:gd name="connsiteX65" fmla="*/ 984504 w 2105310"/>
                  <a:gd name="connsiteY65" fmla="*/ 732706 h 1949715"/>
                  <a:gd name="connsiteX66" fmla="*/ 975836 w 2105310"/>
                  <a:gd name="connsiteY66" fmla="*/ 724705 h 1949715"/>
                  <a:gd name="connsiteX67" fmla="*/ 729043 w 2105310"/>
                  <a:gd name="connsiteY67" fmla="*/ 543826 h 1949715"/>
                  <a:gd name="connsiteX68" fmla="*/ 0 w 2105310"/>
                  <a:gd name="connsiteY68" fmla="*/ 663650 h 1949715"/>
                  <a:gd name="connsiteX69" fmla="*/ 212884 w 2105310"/>
                  <a:gd name="connsiteY69" fmla="*/ 271982 h 1949715"/>
                  <a:gd name="connsiteX70" fmla="*/ 1096804 w 2105310"/>
                  <a:gd name="connsiteY70" fmla="*/ 126535 h 1949715"/>
                  <a:gd name="connsiteX71" fmla="*/ 1408367 w 2105310"/>
                  <a:gd name="connsiteY71" fmla="*/ 357231 h 1949715"/>
                  <a:gd name="connsiteX72" fmla="*/ 1418558 w 2105310"/>
                  <a:gd name="connsiteY72" fmla="*/ 366756 h 1949715"/>
                  <a:gd name="connsiteX73" fmla="*/ 1428655 w 2105310"/>
                  <a:gd name="connsiteY73" fmla="*/ 376471 h 1949715"/>
                  <a:gd name="connsiteX74" fmla="*/ 1438656 w 2105310"/>
                  <a:gd name="connsiteY74" fmla="*/ 386187 h 1949715"/>
                  <a:gd name="connsiteX75" fmla="*/ 1448562 w 2105310"/>
                  <a:gd name="connsiteY75" fmla="*/ 395902 h 1949715"/>
                  <a:gd name="connsiteX76" fmla="*/ 1458373 w 2105310"/>
                  <a:gd name="connsiteY76" fmla="*/ 405618 h 1949715"/>
                  <a:gd name="connsiteX77" fmla="*/ 1468184 w 2105310"/>
                  <a:gd name="connsiteY77" fmla="*/ 415524 h 1949715"/>
                  <a:gd name="connsiteX78" fmla="*/ 1477899 w 2105310"/>
                  <a:gd name="connsiteY78" fmla="*/ 425430 h 1949715"/>
                  <a:gd name="connsiteX79" fmla="*/ 1487519 w 2105310"/>
                  <a:gd name="connsiteY79" fmla="*/ 435431 h 1949715"/>
                  <a:gd name="connsiteX80" fmla="*/ 1496949 w 2105310"/>
                  <a:gd name="connsiteY80" fmla="*/ 445432 h 1949715"/>
                  <a:gd name="connsiteX81" fmla="*/ 1506379 w 2105310"/>
                  <a:gd name="connsiteY81" fmla="*/ 455434 h 1949715"/>
                  <a:gd name="connsiteX82" fmla="*/ 1515809 w 2105310"/>
                  <a:gd name="connsiteY82" fmla="*/ 465530 h 1949715"/>
                  <a:gd name="connsiteX83" fmla="*/ 1525143 w 2105310"/>
                  <a:gd name="connsiteY83" fmla="*/ 475722 h 1949715"/>
                  <a:gd name="connsiteX84" fmla="*/ 1534287 w 2105310"/>
                  <a:gd name="connsiteY84" fmla="*/ 485913 h 1949715"/>
                  <a:gd name="connsiteX85" fmla="*/ 1543431 w 2105310"/>
                  <a:gd name="connsiteY85" fmla="*/ 496200 h 1949715"/>
                  <a:gd name="connsiteX86" fmla="*/ 1552385 w 2105310"/>
                  <a:gd name="connsiteY86" fmla="*/ 506392 h 1949715"/>
                  <a:gd name="connsiteX87" fmla="*/ 1561338 w 2105310"/>
                  <a:gd name="connsiteY87" fmla="*/ 516775 h 1949715"/>
                  <a:gd name="connsiteX88" fmla="*/ 1570292 w 2105310"/>
                  <a:gd name="connsiteY88" fmla="*/ 527157 h 1949715"/>
                  <a:gd name="connsiteX89" fmla="*/ 1579055 w 2105310"/>
                  <a:gd name="connsiteY89" fmla="*/ 537634 h 1949715"/>
                  <a:gd name="connsiteX90" fmla="*/ 1587818 w 2105310"/>
                  <a:gd name="connsiteY90" fmla="*/ 548112 h 1949715"/>
                  <a:gd name="connsiteX91" fmla="*/ 1596485 w 2105310"/>
                  <a:gd name="connsiteY91" fmla="*/ 558589 h 1949715"/>
                  <a:gd name="connsiteX92" fmla="*/ 1604963 w 2105310"/>
                  <a:gd name="connsiteY92" fmla="*/ 569067 h 1949715"/>
                  <a:gd name="connsiteX93" fmla="*/ 1613535 w 2105310"/>
                  <a:gd name="connsiteY93" fmla="*/ 579640 h 1949715"/>
                  <a:gd name="connsiteX94" fmla="*/ 1621917 w 2105310"/>
                  <a:gd name="connsiteY94" fmla="*/ 590212 h 1949715"/>
                  <a:gd name="connsiteX95" fmla="*/ 1630299 w 2105310"/>
                  <a:gd name="connsiteY95" fmla="*/ 600880 h 1949715"/>
                  <a:gd name="connsiteX96" fmla="*/ 1638586 w 2105310"/>
                  <a:gd name="connsiteY96" fmla="*/ 611548 h 1949715"/>
                  <a:gd name="connsiteX97" fmla="*/ 1646777 w 2105310"/>
                  <a:gd name="connsiteY97" fmla="*/ 622216 h 1949715"/>
                  <a:gd name="connsiteX98" fmla="*/ 1654969 w 2105310"/>
                  <a:gd name="connsiteY98" fmla="*/ 632979 h 1949715"/>
                  <a:gd name="connsiteX99" fmla="*/ 1662970 w 2105310"/>
                  <a:gd name="connsiteY99" fmla="*/ 643647 h 1949715"/>
                  <a:gd name="connsiteX100" fmla="*/ 1670876 w 2105310"/>
                  <a:gd name="connsiteY100" fmla="*/ 654411 h 1949715"/>
                  <a:gd name="connsiteX101" fmla="*/ 1678781 w 2105310"/>
                  <a:gd name="connsiteY101" fmla="*/ 665174 h 1949715"/>
                  <a:gd name="connsiteX102" fmla="*/ 1686592 w 2105310"/>
                  <a:gd name="connsiteY102" fmla="*/ 675937 h 1949715"/>
                  <a:gd name="connsiteX103" fmla="*/ 1765745 w 2105310"/>
                  <a:gd name="connsiteY103" fmla="*/ 793190 h 1949715"/>
                  <a:gd name="connsiteX104" fmla="*/ 1771364 w 2105310"/>
                  <a:gd name="connsiteY104" fmla="*/ 802143 h 1949715"/>
                  <a:gd name="connsiteX105" fmla="*/ 1776984 w 2105310"/>
                  <a:gd name="connsiteY105" fmla="*/ 811097 h 1949715"/>
                  <a:gd name="connsiteX106" fmla="*/ 1782509 w 2105310"/>
                  <a:gd name="connsiteY106" fmla="*/ 820051 h 1949715"/>
                  <a:gd name="connsiteX107" fmla="*/ 1788033 w 2105310"/>
                  <a:gd name="connsiteY107" fmla="*/ 829004 h 1949715"/>
                  <a:gd name="connsiteX108" fmla="*/ 1793462 w 2105310"/>
                  <a:gd name="connsiteY108" fmla="*/ 837958 h 1949715"/>
                  <a:gd name="connsiteX109" fmla="*/ 1798796 w 2105310"/>
                  <a:gd name="connsiteY109" fmla="*/ 846911 h 1949715"/>
                  <a:gd name="connsiteX110" fmla="*/ 1804226 w 2105310"/>
                  <a:gd name="connsiteY110" fmla="*/ 855865 h 1949715"/>
                  <a:gd name="connsiteX111" fmla="*/ 1809464 w 2105310"/>
                  <a:gd name="connsiteY111" fmla="*/ 864818 h 1949715"/>
                  <a:gd name="connsiteX112" fmla="*/ 1814703 w 2105310"/>
                  <a:gd name="connsiteY112" fmla="*/ 873771 h 1949715"/>
                  <a:gd name="connsiteX113" fmla="*/ 1819942 w 2105310"/>
                  <a:gd name="connsiteY113" fmla="*/ 882725 h 1949715"/>
                  <a:gd name="connsiteX114" fmla="*/ 1825085 w 2105310"/>
                  <a:gd name="connsiteY114" fmla="*/ 891678 h 1949715"/>
                  <a:gd name="connsiteX115" fmla="*/ 1830229 w 2105310"/>
                  <a:gd name="connsiteY115" fmla="*/ 900727 h 1949715"/>
                  <a:gd name="connsiteX116" fmla="*/ 1835182 w 2105310"/>
                  <a:gd name="connsiteY116" fmla="*/ 909776 h 1949715"/>
                  <a:gd name="connsiteX117" fmla="*/ 1840230 w 2105310"/>
                  <a:gd name="connsiteY117" fmla="*/ 918825 h 1949715"/>
                  <a:gd name="connsiteX118" fmla="*/ 1845183 w 2105310"/>
                  <a:gd name="connsiteY118" fmla="*/ 927778 h 1949715"/>
                  <a:gd name="connsiteX119" fmla="*/ 1850041 w 2105310"/>
                  <a:gd name="connsiteY119" fmla="*/ 936827 h 1949715"/>
                  <a:gd name="connsiteX120" fmla="*/ 1854898 w 2105310"/>
                  <a:gd name="connsiteY120" fmla="*/ 945971 h 1949715"/>
                  <a:gd name="connsiteX121" fmla="*/ 1859661 w 2105310"/>
                  <a:gd name="connsiteY121" fmla="*/ 954925 h 1949715"/>
                  <a:gd name="connsiteX122" fmla="*/ 1864423 w 2105310"/>
                  <a:gd name="connsiteY122" fmla="*/ 963973 h 1949715"/>
                  <a:gd name="connsiteX123" fmla="*/ 1869091 w 2105310"/>
                  <a:gd name="connsiteY123" fmla="*/ 973022 h 1949715"/>
                  <a:gd name="connsiteX124" fmla="*/ 1873758 w 2105310"/>
                  <a:gd name="connsiteY124" fmla="*/ 982071 h 1949715"/>
                  <a:gd name="connsiteX125" fmla="*/ 1878425 w 2105310"/>
                  <a:gd name="connsiteY125" fmla="*/ 991119 h 1949715"/>
                  <a:gd name="connsiteX126" fmla="*/ 1882997 w 2105310"/>
                  <a:gd name="connsiteY126" fmla="*/ 1000073 h 1949715"/>
                  <a:gd name="connsiteX127" fmla="*/ 1887474 w 2105310"/>
                  <a:gd name="connsiteY127" fmla="*/ 1009122 h 1949715"/>
                  <a:gd name="connsiteX128" fmla="*/ 1891951 w 2105310"/>
                  <a:gd name="connsiteY128" fmla="*/ 1018170 h 1949715"/>
                  <a:gd name="connsiteX129" fmla="*/ 1896332 w 2105310"/>
                  <a:gd name="connsiteY129" fmla="*/ 1027124 h 1949715"/>
                  <a:gd name="connsiteX130" fmla="*/ 1900714 w 2105310"/>
                  <a:gd name="connsiteY130" fmla="*/ 1036268 h 1949715"/>
                  <a:gd name="connsiteX131" fmla="*/ 1905000 w 2105310"/>
                  <a:gd name="connsiteY131" fmla="*/ 1045221 h 1949715"/>
                  <a:gd name="connsiteX132" fmla="*/ 1909286 w 2105310"/>
                  <a:gd name="connsiteY132" fmla="*/ 1054270 h 1949715"/>
                  <a:gd name="connsiteX133" fmla="*/ 1913477 w 2105310"/>
                  <a:gd name="connsiteY133" fmla="*/ 1063319 h 1949715"/>
                  <a:gd name="connsiteX134" fmla="*/ 1917668 w 2105310"/>
                  <a:gd name="connsiteY134" fmla="*/ 1072368 h 1949715"/>
                  <a:gd name="connsiteX135" fmla="*/ 2105311 w 2105310"/>
                  <a:gd name="connsiteY135" fmla="*/ 1830939 h 1949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2105310" h="1949715">
                    <a:moveTo>
                      <a:pt x="2105311" y="1830939"/>
                    </a:moveTo>
                    <a:lnTo>
                      <a:pt x="1560767" y="1949716"/>
                    </a:lnTo>
                    <a:cubicBezTo>
                      <a:pt x="1558100" y="1750643"/>
                      <a:pt x="1502759" y="1536521"/>
                      <a:pt x="1410462" y="1333734"/>
                    </a:cubicBezTo>
                    <a:cubicBezTo>
                      <a:pt x="1409319" y="1331162"/>
                      <a:pt x="1408176" y="1328590"/>
                      <a:pt x="1406938" y="1326114"/>
                    </a:cubicBezTo>
                    <a:cubicBezTo>
                      <a:pt x="1405795" y="1323542"/>
                      <a:pt x="1404557" y="1320970"/>
                      <a:pt x="1403318" y="1318399"/>
                    </a:cubicBezTo>
                    <a:cubicBezTo>
                      <a:pt x="1402175" y="1315827"/>
                      <a:pt x="1401032" y="1313255"/>
                      <a:pt x="1399699" y="1310683"/>
                    </a:cubicBezTo>
                    <a:cubicBezTo>
                      <a:pt x="1398556" y="1308111"/>
                      <a:pt x="1397318" y="1305540"/>
                      <a:pt x="1396079" y="1303063"/>
                    </a:cubicBezTo>
                    <a:cubicBezTo>
                      <a:pt x="1394936" y="1300492"/>
                      <a:pt x="1393698" y="1297920"/>
                      <a:pt x="1392460" y="1295348"/>
                    </a:cubicBezTo>
                    <a:cubicBezTo>
                      <a:pt x="1391317" y="1292776"/>
                      <a:pt x="1390079" y="1290204"/>
                      <a:pt x="1388840" y="1287633"/>
                    </a:cubicBezTo>
                    <a:cubicBezTo>
                      <a:pt x="1387602" y="1285061"/>
                      <a:pt x="1386364" y="1282489"/>
                      <a:pt x="1385030" y="1279918"/>
                    </a:cubicBezTo>
                    <a:cubicBezTo>
                      <a:pt x="1383792" y="1277346"/>
                      <a:pt x="1382554" y="1274774"/>
                      <a:pt x="1381220" y="1272297"/>
                    </a:cubicBezTo>
                    <a:cubicBezTo>
                      <a:pt x="1379982" y="1269726"/>
                      <a:pt x="1378744" y="1267154"/>
                      <a:pt x="1377410" y="1264677"/>
                    </a:cubicBezTo>
                    <a:cubicBezTo>
                      <a:pt x="1376172" y="1262106"/>
                      <a:pt x="1374839" y="1259534"/>
                      <a:pt x="1373505" y="1257058"/>
                    </a:cubicBezTo>
                    <a:cubicBezTo>
                      <a:pt x="1372267" y="1254486"/>
                      <a:pt x="1370933" y="1251914"/>
                      <a:pt x="1369600" y="1249342"/>
                    </a:cubicBezTo>
                    <a:cubicBezTo>
                      <a:pt x="1368362" y="1246675"/>
                      <a:pt x="1366933" y="1244199"/>
                      <a:pt x="1365695" y="1241627"/>
                    </a:cubicBezTo>
                    <a:cubicBezTo>
                      <a:pt x="1364361" y="1239055"/>
                      <a:pt x="1363028" y="1236579"/>
                      <a:pt x="1361694" y="1234007"/>
                    </a:cubicBezTo>
                    <a:cubicBezTo>
                      <a:pt x="1360361" y="1231435"/>
                      <a:pt x="1359027" y="1228863"/>
                      <a:pt x="1357693" y="1226292"/>
                    </a:cubicBezTo>
                    <a:lnTo>
                      <a:pt x="1357598" y="1226292"/>
                    </a:lnTo>
                    <a:cubicBezTo>
                      <a:pt x="1356265" y="1223720"/>
                      <a:pt x="1354931" y="1221148"/>
                      <a:pt x="1353598" y="1218672"/>
                    </a:cubicBezTo>
                    <a:cubicBezTo>
                      <a:pt x="1352169" y="1216100"/>
                      <a:pt x="1350836" y="1213528"/>
                      <a:pt x="1349407" y="1211052"/>
                    </a:cubicBezTo>
                    <a:cubicBezTo>
                      <a:pt x="1347978" y="1208480"/>
                      <a:pt x="1346645" y="1205908"/>
                      <a:pt x="1345216" y="1203336"/>
                    </a:cubicBezTo>
                    <a:cubicBezTo>
                      <a:pt x="1343787" y="1200765"/>
                      <a:pt x="1342358" y="1198193"/>
                      <a:pt x="1341025" y="1195717"/>
                    </a:cubicBezTo>
                    <a:cubicBezTo>
                      <a:pt x="1339691" y="1193145"/>
                      <a:pt x="1338167" y="1190573"/>
                      <a:pt x="1336834" y="1188096"/>
                    </a:cubicBezTo>
                    <a:cubicBezTo>
                      <a:pt x="1335405" y="1185525"/>
                      <a:pt x="1333976" y="1182953"/>
                      <a:pt x="1332452" y="1180477"/>
                    </a:cubicBezTo>
                    <a:cubicBezTo>
                      <a:pt x="1331024" y="1177905"/>
                      <a:pt x="1329595" y="1175428"/>
                      <a:pt x="1328166" y="1172857"/>
                    </a:cubicBezTo>
                    <a:cubicBezTo>
                      <a:pt x="1326737" y="1170285"/>
                      <a:pt x="1325309" y="1167808"/>
                      <a:pt x="1323785" y="1165236"/>
                    </a:cubicBezTo>
                    <a:cubicBezTo>
                      <a:pt x="1322356" y="1162665"/>
                      <a:pt x="1320927" y="1160188"/>
                      <a:pt x="1319403" y="1157617"/>
                    </a:cubicBezTo>
                    <a:cubicBezTo>
                      <a:pt x="1317974" y="1155045"/>
                      <a:pt x="1316546" y="1152473"/>
                      <a:pt x="1315022" y="1149996"/>
                    </a:cubicBezTo>
                    <a:cubicBezTo>
                      <a:pt x="1313593" y="1147425"/>
                      <a:pt x="1312069" y="1144853"/>
                      <a:pt x="1310545" y="1142281"/>
                    </a:cubicBezTo>
                    <a:cubicBezTo>
                      <a:pt x="1309021" y="1139710"/>
                      <a:pt x="1307497" y="1137138"/>
                      <a:pt x="1305973" y="1134661"/>
                    </a:cubicBezTo>
                    <a:cubicBezTo>
                      <a:pt x="1304544" y="1132090"/>
                      <a:pt x="1303020" y="1129613"/>
                      <a:pt x="1301401" y="1127136"/>
                    </a:cubicBezTo>
                    <a:cubicBezTo>
                      <a:pt x="1299877" y="1124565"/>
                      <a:pt x="1298353" y="1121993"/>
                      <a:pt x="1296734" y="1119421"/>
                    </a:cubicBezTo>
                    <a:cubicBezTo>
                      <a:pt x="1295210" y="1116945"/>
                      <a:pt x="1293686" y="1114468"/>
                      <a:pt x="1292066" y="1111992"/>
                    </a:cubicBezTo>
                    <a:cubicBezTo>
                      <a:pt x="1290542" y="1109420"/>
                      <a:pt x="1288923" y="1106848"/>
                      <a:pt x="1287399" y="1104372"/>
                    </a:cubicBezTo>
                    <a:cubicBezTo>
                      <a:pt x="1285875" y="1101800"/>
                      <a:pt x="1284256" y="1099228"/>
                      <a:pt x="1282637" y="1096752"/>
                    </a:cubicBezTo>
                    <a:cubicBezTo>
                      <a:pt x="1260253" y="1061128"/>
                      <a:pt x="1236726" y="1026362"/>
                      <a:pt x="1212247" y="992548"/>
                    </a:cubicBezTo>
                    <a:cubicBezTo>
                      <a:pt x="1210151" y="989405"/>
                      <a:pt x="1207865" y="986357"/>
                      <a:pt x="1205675" y="983404"/>
                    </a:cubicBezTo>
                    <a:cubicBezTo>
                      <a:pt x="1203389" y="980356"/>
                      <a:pt x="1201198" y="977308"/>
                      <a:pt x="1198912" y="974260"/>
                    </a:cubicBezTo>
                    <a:cubicBezTo>
                      <a:pt x="1196721" y="971212"/>
                      <a:pt x="1194435" y="968164"/>
                      <a:pt x="1192244" y="965211"/>
                    </a:cubicBezTo>
                    <a:cubicBezTo>
                      <a:pt x="1189958" y="962163"/>
                      <a:pt x="1187672" y="959116"/>
                      <a:pt x="1185386" y="956163"/>
                    </a:cubicBezTo>
                    <a:cubicBezTo>
                      <a:pt x="1183005" y="953115"/>
                      <a:pt x="1180719" y="950067"/>
                      <a:pt x="1178433" y="947114"/>
                    </a:cubicBezTo>
                    <a:cubicBezTo>
                      <a:pt x="1176052" y="944066"/>
                      <a:pt x="1173766" y="941113"/>
                      <a:pt x="1171480" y="938160"/>
                    </a:cubicBezTo>
                    <a:cubicBezTo>
                      <a:pt x="1169099" y="935208"/>
                      <a:pt x="1166813" y="932160"/>
                      <a:pt x="1164431" y="929207"/>
                    </a:cubicBezTo>
                    <a:cubicBezTo>
                      <a:pt x="1162050" y="926159"/>
                      <a:pt x="1159764" y="923301"/>
                      <a:pt x="1157383" y="920253"/>
                    </a:cubicBezTo>
                    <a:cubicBezTo>
                      <a:pt x="1155002" y="917301"/>
                      <a:pt x="1152620" y="914348"/>
                      <a:pt x="1150239" y="911300"/>
                    </a:cubicBezTo>
                    <a:cubicBezTo>
                      <a:pt x="1147858" y="908347"/>
                      <a:pt x="1145572" y="905394"/>
                      <a:pt x="1143000" y="902442"/>
                    </a:cubicBezTo>
                    <a:cubicBezTo>
                      <a:pt x="1140619" y="899489"/>
                      <a:pt x="1138238" y="896536"/>
                      <a:pt x="1135761" y="893488"/>
                    </a:cubicBezTo>
                    <a:cubicBezTo>
                      <a:pt x="1133380" y="890535"/>
                      <a:pt x="1130903" y="887583"/>
                      <a:pt x="1128332" y="884630"/>
                    </a:cubicBezTo>
                    <a:cubicBezTo>
                      <a:pt x="1125950" y="881677"/>
                      <a:pt x="1123474" y="878725"/>
                      <a:pt x="1120997" y="875867"/>
                    </a:cubicBezTo>
                    <a:cubicBezTo>
                      <a:pt x="1118521" y="873009"/>
                      <a:pt x="1116044" y="870057"/>
                      <a:pt x="1113473" y="867199"/>
                    </a:cubicBezTo>
                    <a:cubicBezTo>
                      <a:pt x="1110996" y="864342"/>
                      <a:pt x="1108520" y="861389"/>
                      <a:pt x="1105948" y="858532"/>
                    </a:cubicBezTo>
                    <a:cubicBezTo>
                      <a:pt x="1103471" y="855579"/>
                      <a:pt x="1100900" y="852626"/>
                      <a:pt x="1098233" y="849864"/>
                    </a:cubicBezTo>
                    <a:cubicBezTo>
                      <a:pt x="1095756" y="847006"/>
                      <a:pt x="1093184" y="844053"/>
                      <a:pt x="1090613" y="841196"/>
                    </a:cubicBezTo>
                    <a:cubicBezTo>
                      <a:pt x="1088136" y="838338"/>
                      <a:pt x="1085469" y="835386"/>
                      <a:pt x="1082897" y="832528"/>
                    </a:cubicBezTo>
                    <a:cubicBezTo>
                      <a:pt x="1080326" y="829671"/>
                      <a:pt x="1077754" y="826813"/>
                      <a:pt x="1074992" y="823956"/>
                    </a:cubicBezTo>
                    <a:cubicBezTo>
                      <a:pt x="1072420" y="821098"/>
                      <a:pt x="1069848" y="818241"/>
                      <a:pt x="1067086" y="815383"/>
                    </a:cubicBezTo>
                    <a:cubicBezTo>
                      <a:pt x="1064514" y="812526"/>
                      <a:pt x="1061942" y="809763"/>
                      <a:pt x="1059180" y="807001"/>
                    </a:cubicBezTo>
                    <a:cubicBezTo>
                      <a:pt x="1056608" y="804144"/>
                      <a:pt x="1053941" y="801382"/>
                      <a:pt x="1051179" y="798619"/>
                    </a:cubicBezTo>
                    <a:cubicBezTo>
                      <a:pt x="1048512" y="795762"/>
                      <a:pt x="1045845" y="793000"/>
                      <a:pt x="1043083" y="790237"/>
                    </a:cubicBezTo>
                    <a:cubicBezTo>
                      <a:pt x="1040416" y="787380"/>
                      <a:pt x="1037654" y="784618"/>
                      <a:pt x="1034891" y="781855"/>
                    </a:cubicBezTo>
                    <a:cubicBezTo>
                      <a:pt x="1032224" y="779093"/>
                      <a:pt x="1029462" y="776331"/>
                      <a:pt x="1026700" y="773568"/>
                    </a:cubicBezTo>
                    <a:cubicBezTo>
                      <a:pt x="1023938" y="770711"/>
                      <a:pt x="1021175" y="767949"/>
                      <a:pt x="1018318" y="765282"/>
                    </a:cubicBezTo>
                    <a:cubicBezTo>
                      <a:pt x="1015555" y="762519"/>
                      <a:pt x="1012793" y="759757"/>
                      <a:pt x="1010031" y="757090"/>
                    </a:cubicBezTo>
                    <a:cubicBezTo>
                      <a:pt x="1007269" y="754328"/>
                      <a:pt x="1004411" y="751661"/>
                      <a:pt x="1001649" y="748899"/>
                    </a:cubicBezTo>
                    <a:cubicBezTo>
                      <a:pt x="998792" y="746136"/>
                      <a:pt x="996029" y="743469"/>
                      <a:pt x="993172" y="740707"/>
                    </a:cubicBezTo>
                    <a:cubicBezTo>
                      <a:pt x="990314" y="738040"/>
                      <a:pt x="987457" y="735278"/>
                      <a:pt x="984504" y="732706"/>
                    </a:cubicBezTo>
                    <a:cubicBezTo>
                      <a:pt x="981647" y="729944"/>
                      <a:pt x="978789" y="727277"/>
                      <a:pt x="975836" y="724705"/>
                    </a:cubicBezTo>
                    <a:cubicBezTo>
                      <a:pt x="897731" y="652982"/>
                      <a:pt x="814864" y="591641"/>
                      <a:pt x="729043" y="543826"/>
                    </a:cubicBezTo>
                    <a:cubicBezTo>
                      <a:pt x="406432" y="363993"/>
                      <a:pt x="130016" y="424382"/>
                      <a:pt x="0" y="663650"/>
                    </a:cubicBezTo>
                    <a:cubicBezTo>
                      <a:pt x="70961" y="533158"/>
                      <a:pt x="141923" y="402570"/>
                      <a:pt x="212884" y="271982"/>
                    </a:cubicBezTo>
                    <a:cubicBezTo>
                      <a:pt x="370618" y="-18150"/>
                      <a:pt x="705803" y="-91397"/>
                      <a:pt x="1096804" y="126535"/>
                    </a:cubicBezTo>
                    <a:cubicBezTo>
                      <a:pt x="1205293" y="187019"/>
                      <a:pt x="1310164" y="265410"/>
                      <a:pt x="1408367" y="357231"/>
                    </a:cubicBezTo>
                    <a:cubicBezTo>
                      <a:pt x="1411796" y="360374"/>
                      <a:pt x="1415129" y="363517"/>
                      <a:pt x="1418558" y="366756"/>
                    </a:cubicBezTo>
                    <a:cubicBezTo>
                      <a:pt x="1421987" y="369899"/>
                      <a:pt x="1425321" y="373138"/>
                      <a:pt x="1428655" y="376471"/>
                    </a:cubicBezTo>
                    <a:cubicBezTo>
                      <a:pt x="1432084" y="379614"/>
                      <a:pt x="1435322" y="382853"/>
                      <a:pt x="1438656" y="386187"/>
                    </a:cubicBezTo>
                    <a:cubicBezTo>
                      <a:pt x="1441990" y="389330"/>
                      <a:pt x="1445324" y="392568"/>
                      <a:pt x="1448562" y="395902"/>
                    </a:cubicBezTo>
                    <a:cubicBezTo>
                      <a:pt x="1451896" y="399045"/>
                      <a:pt x="1455134" y="402284"/>
                      <a:pt x="1458373" y="405618"/>
                    </a:cubicBezTo>
                    <a:cubicBezTo>
                      <a:pt x="1461707" y="408856"/>
                      <a:pt x="1464945" y="412190"/>
                      <a:pt x="1468184" y="415524"/>
                    </a:cubicBezTo>
                    <a:cubicBezTo>
                      <a:pt x="1471422" y="418762"/>
                      <a:pt x="1474565" y="422096"/>
                      <a:pt x="1477899" y="425430"/>
                    </a:cubicBezTo>
                    <a:cubicBezTo>
                      <a:pt x="1481042" y="428763"/>
                      <a:pt x="1484281" y="432097"/>
                      <a:pt x="1487519" y="435431"/>
                    </a:cubicBezTo>
                    <a:cubicBezTo>
                      <a:pt x="1490758" y="438765"/>
                      <a:pt x="1493901" y="442099"/>
                      <a:pt x="1496949" y="445432"/>
                    </a:cubicBezTo>
                    <a:cubicBezTo>
                      <a:pt x="1500188" y="448766"/>
                      <a:pt x="1503331" y="452100"/>
                      <a:pt x="1506379" y="455434"/>
                    </a:cubicBezTo>
                    <a:cubicBezTo>
                      <a:pt x="1509522" y="458767"/>
                      <a:pt x="1512570" y="462101"/>
                      <a:pt x="1515809" y="465530"/>
                    </a:cubicBezTo>
                    <a:cubicBezTo>
                      <a:pt x="1518952" y="468959"/>
                      <a:pt x="1522000" y="472293"/>
                      <a:pt x="1525143" y="475722"/>
                    </a:cubicBezTo>
                    <a:lnTo>
                      <a:pt x="1534287" y="485913"/>
                    </a:lnTo>
                    <a:cubicBezTo>
                      <a:pt x="1537430" y="489342"/>
                      <a:pt x="1540478" y="492771"/>
                      <a:pt x="1543431" y="496200"/>
                    </a:cubicBezTo>
                    <a:cubicBezTo>
                      <a:pt x="1546479" y="499629"/>
                      <a:pt x="1549432" y="502963"/>
                      <a:pt x="1552385" y="506392"/>
                    </a:cubicBezTo>
                    <a:cubicBezTo>
                      <a:pt x="1555433" y="509821"/>
                      <a:pt x="1558385" y="513345"/>
                      <a:pt x="1561338" y="516775"/>
                    </a:cubicBezTo>
                    <a:cubicBezTo>
                      <a:pt x="1564291" y="520203"/>
                      <a:pt x="1567243" y="523728"/>
                      <a:pt x="1570292" y="527157"/>
                    </a:cubicBezTo>
                    <a:cubicBezTo>
                      <a:pt x="1573244" y="530586"/>
                      <a:pt x="1576197" y="534110"/>
                      <a:pt x="1579055" y="537634"/>
                    </a:cubicBezTo>
                    <a:cubicBezTo>
                      <a:pt x="1582007" y="541063"/>
                      <a:pt x="1584960" y="544587"/>
                      <a:pt x="1587818" y="548112"/>
                    </a:cubicBezTo>
                    <a:cubicBezTo>
                      <a:pt x="1590675" y="551636"/>
                      <a:pt x="1593628" y="555065"/>
                      <a:pt x="1596485" y="558589"/>
                    </a:cubicBezTo>
                    <a:cubicBezTo>
                      <a:pt x="1599343" y="562113"/>
                      <a:pt x="1602200" y="565543"/>
                      <a:pt x="1604963" y="569067"/>
                    </a:cubicBezTo>
                    <a:cubicBezTo>
                      <a:pt x="1607820" y="572591"/>
                      <a:pt x="1610678" y="576115"/>
                      <a:pt x="1613535" y="579640"/>
                    </a:cubicBezTo>
                    <a:cubicBezTo>
                      <a:pt x="1616393" y="583164"/>
                      <a:pt x="1619155" y="586688"/>
                      <a:pt x="1621917" y="590212"/>
                    </a:cubicBezTo>
                    <a:cubicBezTo>
                      <a:pt x="1624775" y="593736"/>
                      <a:pt x="1627537" y="597261"/>
                      <a:pt x="1630299" y="600880"/>
                    </a:cubicBezTo>
                    <a:cubicBezTo>
                      <a:pt x="1633061" y="604404"/>
                      <a:pt x="1635824" y="607929"/>
                      <a:pt x="1638586" y="611548"/>
                    </a:cubicBezTo>
                    <a:cubicBezTo>
                      <a:pt x="1641348" y="615072"/>
                      <a:pt x="1644015" y="618597"/>
                      <a:pt x="1646777" y="622216"/>
                    </a:cubicBezTo>
                    <a:cubicBezTo>
                      <a:pt x="1649444" y="625836"/>
                      <a:pt x="1652207" y="629360"/>
                      <a:pt x="1654969" y="632979"/>
                    </a:cubicBezTo>
                    <a:cubicBezTo>
                      <a:pt x="1657636" y="636599"/>
                      <a:pt x="1660303" y="640123"/>
                      <a:pt x="1662970" y="643647"/>
                    </a:cubicBezTo>
                    <a:cubicBezTo>
                      <a:pt x="1665637" y="647267"/>
                      <a:pt x="1668304" y="650791"/>
                      <a:pt x="1670876" y="654411"/>
                    </a:cubicBezTo>
                    <a:cubicBezTo>
                      <a:pt x="1673543" y="658030"/>
                      <a:pt x="1676114" y="661554"/>
                      <a:pt x="1678781" y="665174"/>
                    </a:cubicBezTo>
                    <a:cubicBezTo>
                      <a:pt x="1681448" y="668793"/>
                      <a:pt x="1684020" y="672318"/>
                      <a:pt x="1686592" y="675937"/>
                    </a:cubicBezTo>
                    <a:cubicBezTo>
                      <a:pt x="1714024" y="714133"/>
                      <a:pt x="1740503" y="753280"/>
                      <a:pt x="1765745" y="793190"/>
                    </a:cubicBezTo>
                    <a:cubicBezTo>
                      <a:pt x="1767649" y="796238"/>
                      <a:pt x="1769459" y="799191"/>
                      <a:pt x="1771364" y="802143"/>
                    </a:cubicBezTo>
                    <a:cubicBezTo>
                      <a:pt x="1773269" y="805192"/>
                      <a:pt x="1775174" y="808144"/>
                      <a:pt x="1776984" y="811097"/>
                    </a:cubicBezTo>
                    <a:cubicBezTo>
                      <a:pt x="1778889" y="814050"/>
                      <a:pt x="1780699" y="817002"/>
                      <a:pt x="1782509" y="820051"/>
                    </a:cubicBezTo>
                    <a:cubicBezTo>
                      <a:pt x="1784414" y="823099"/>
                      <a:pt x="1786128" y="826051"/>
                      <a:pt x="1788033" y="829004"/>
                    </a:cubicBezTo>
                    <a:cubicBezTo>
                      <a:pt x="1789843" y="832052"/>
                      <a:pt x="1791653" y="835005"/>
                      <a:pt x="1793462" y="837958"/>
                    </a:cubicBezTo>
                    <a:cubicBezTo>
                      <a:pt x="1795272" y="840910"/>
                      <a:pt x="1797082" y="843958"/>
                      <a:pt x="1798796" y="846911"/>
                    </a:cubicBezTo>
                    <a:cubicBezTo>
                      <a:pt x="1800701" y="849864"/>
                      <a:pt x="1802416" y="852817"/>
                      <a:pt x="1804226" y="855865"/>
                    </a:cubicBezTo>
                    <a:cubicBezTo>
                      <a:pt x="1806035" y="858817"/>
                      <a:pt x="1807750" y="861770"/>
                      <a:pt x="1809464" y="864818"/>
                    </a:cubicBezTo>
                    <a:cubicBezTo>
                      <a:pt x="1811274" y="867771"/>
                      <a:pt x="1812989" y="870724"/>
                      <a:pt x="1814703" y="873771"/>
                    </a:cubicBezTo>
                    <a:cubicBezTo>
                      <a:pt x="1816418" y="876724"/>
                      <a:pt x="1818132" y="879772"/>
                      <a:pt x="1819942" y="882725"/>
                    </a:cubicBezTo>
                    <a:cubicBezTo>
                      <a:pt x="1821561" y="885678"/>
                      <a:pt x="1823371" y="888726"/>
                      <a:pt x="1825085" y="891678"/>
                    </a:cubicBezTo>
                    <a:cubicBezTo>
                      <a:pt x="1826705" y="894726"/>
                      <a:pt x="1828514" y="897679"/>
                      <a:pt x="1830229" y="900727"/>
                    </a:cubicBezTo>
                    <a:cubicBezTo>
                      <a:pt x="1831848" y="903775"/>
                      <a:pt x="1833563" y="906728"/>
                      <a:pt x="1835182" y="909776"/>
                    </a:cubicBezTo>
                    <a:cubicBezTo>
                      <a:pt x="1836896" y="912729"/>
                      <a:pt x="1838611" y="915777"/>
                      <a:pt x="1840230" y="918825"/>
                    </a:cubicBezTo>
                    <a:cubicBezTo>
                      <a:pt x="1841849" y="921777"/>
                      <a:pt x="1843564" y="924730"/>
                      <a:pt x="1845183" y="927778"/>
                    </a:cubicBezTo>
                    <a:cubicBezTo>
                      <a:pt x="1846802" y="930826"/>
                      <a:pt x="1848422" y="933874"/>
                      <a:pt x="1850041" y="936827"/>
                    </a:cubicBezTo>
                    <a:cubicBezTo>
                      <a:pt x="1851660" y="939875"/>
                      <a:pt x="1853374" y="942923"/>
                      <a:pt x="1854898" y="945971"/>
                    </a:cubicBezTo>
                    <a:cubicBezTo>
                      <a:pt x="1856518" y="948924"/>
                      <a:pt x="1858137" y="951972"/>
                      <a:pt x="1859661" y="954925"/>
                    </a:cubicBezTo>
                    <a:cubicBezTo>
                      <a:pt x="1861280" y="957972"/>
                      <a:pt x="1862804" y="960925"/>
                      <a:pt x="1864423" y="963973"/>
                    </a:cubicBezTo>
                    <a:cubicBezTo>
                      <a:pt x="1866043" y="966926"/>
                      <a:pt x="1867567" y="969974"/>
                      <a:pt x="1869091" y="973022"/>
                    </a:cubicBezTo>
                    <a:cubicBezTo>
                      <a:pt x="1870710" y="975975"/>
                      <a:pt x="1872234" y="979023"/>
                      <a:pt x="1873758" y="982071"/>
                    </a:cubicBezTo>
                    <a:cubicBezTo>
                      <a:pt x="1875377" y="985119"/>
                      <a:pt x="1876901" y="988071"/>
                      <a:pt x="1878425" y="991119"/>
                    </a:cubicBezTo>
                    <a:cubicBezTo>
                      <a:pt x="1879949" y="994072"/>
                      <a:pt x="1881473" y="997120"/>
                      <a:pt x="1882997" y="1000073"/>
                    </a:cubicBezTo>
                    <a:cubicBezTo>
                      <a:pt x="1884521" y="1003026"/>
                      <a:pt x="1885950" y="1006074"/>
                      <a:pt x="1887474" y="1009122"/>
                    </a:cubicBezTo>
                    <a:cubicBezTo>
                      <a:pt x="1888998" y="1012075"/>
                      <a:pt x="1890427" y="1015122"/>
                      <a:pt x="1891951" y="1018170"/>
                    </a:cubicBezTo>
                    <a:cubicBezTo>
                      <a:pt x="1893380" y="1021123"/>
                      <a:pt x="1894904" y="1024171"/>
                      <a:pt x="1896332" y="1027124"/>
                    </a:cubicBezTo>
                    <a:cubicBezTo>
                      <a:pt x="1897761" y="1030172"/>
                      <a:pt x="1899285" y="1033220"/>
                      <a:pt x="1900714" y="1036268"/>
                    </a:cubicBezTo>
                    <a:cubicBezTo>
                      <a:pt x="1902143" y="1039221"/>
                      <a:pt x="1903571" y="1042269"/>
                      <a:pt x="1905000" y="1045221"/>
                    </a:cubicBezTo>
                    <a:cubicBezTo>
                      <a:pt x="1906429" y="1048174"/>
                      <a:pt x="1907857" y="1051222"/>
                      <a:pt x="1909286" y="1054270"/>
                    </a:cubicBezTo>
                    <a:cubicBezTo>
                      <a:pt x="1910620" y="1057223"/>
                      <a:pt x="1912144" y="1060271"/>
                      <a:pt x="1913477" y="1063319"/>
                    </a:cubicBezTo>
                    <a:cubicBezTo>
                      <a:pt x="1914906" y="1066272"/>
                      <a:pt x="1916335" y="1069320"/>
                      <a:pt x="1917668" y="1072368"/>
                    </a:cubicBezTo>
                    <a:cubicBezTo>
                      <a:pt x="2032730" y="1322209"/>
                      <a:pt x="2101787" y="1585956"/>
                      <a:pt x="2105311" y="1830939"/>
                    </a:cubicBezTo>
                    <a:close/>
                  </a:path>
                </a:pathLst>
              </a:custGeom>
              <a:gradFill flip="none" rotWithShape="1">
                <a:gsLst>
                  <a:gs pos="15000">
                    <a:srgbClr val="33C481">
                      <a:lumMod val="60000"/>
                      <a:lumOff val="40000"/>
                    </a:srgbClr>
                  </a:gs>
                  <a:gs pos="75000">
                    <a:srgbClr val="33C481"/>
                  </a:gs>
                </a:gsLst>
                <a:path path="circle">
                  <a:fillToRect l="100000" t="100000"/>
                </a:path>
                <a:tileRect r="-100000" b="-100000"/>
              </a:gradFill>
              <a:ln w="9525" cap="flat">
                <a:noFill/>
                <a:prstDash val="solid"/>
                <a:miter/>
              </a:ln>
              <a:effectLst>
                <a:outerShdw blurRad="571500" dist="381000" dir="5400000" sx="85000" sy="85000" algn="t" rotWithShape="0">
                  <a:srgbClr val="FFFFFF">
                    <a:alpha val="29804"/>
                  </a:srgb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grpSp>
          <p:nvGrpSpPr>
            <p:cNvPr id="37" name="Group 21">
              <a:extLst>
                <a:ext uri="{FF2B5EF4-FFF2-40B4-BE49-F238E27FC236}">
                  <a16:creationId xmlns:a16="http://schemas.microsoft.com/office/drawing/2014/main" id="{441F9DE6-519F-A91F-4A60-380B42FB90DD}"/>
                </a:ext>
              </a:extLst>
            </p:cNvPr>
            <p:cNvGrpSpPr/>
            <p:nvPr/>
          </p:nvGrpSpPr>
          <p:grpSpPr>
            <a:xfrm>
              <a:off x="3027093" y="4625094"/>
              <a:ext cx="1623971" cy="1443543"/>
              <a:chOff x="3886022" y="4211592"/>
              <a:chExt cx="1623971" cy="1443543"/>
            </a:xfrm>
          </p:grpSpPr>
          <p:sp>
            <p:nvSpPr>
              <p:cNvPr id="38" name="Freeform: Shape 12">
                <a:extLst>
                  <a:ext uri="{FF2B5EF4-FFF2-40B4-BE49-F238E27FC236}">
                    <a16:creationId xmlns:a16="http://schemas.microsoft.com/office/drawing/2014/main" id="{85A8C0FD-9BA3-C764-D870-62BAE9663390}"/>
                  </a:ext>
                </a:extLst>
              </p:cNvPr>
              <p:cNvSpPr/>
              <p:nvPr/>
            </p:nvSpPr>
            <p:spPr>
              <a:xfrm>
                <a:off x="4131670" y="4659951"/>
                <a:ext cx="215764" cy="484302"/>
              </a:xfrm>
              <a:custGeom>
                <a:avLst/>
                <a:gdLst>
                  <a:gd name="connsiteX0" fmla="*/ 192530 w 192529"/>
                  <a:gd name="connsiteY0" fmla="*/ 0 h 432149"/>
                  <a:gd name="connsiteX1" fmla="*/ 29747 w 192529"/>
                  <a:gd name="connsiteY1" fmla="*/ 294323 h 432149"/>
                  <a:gd name="connsiteX2" fmla="*/ 29 w 192529"/>
                  <a:gd name="connsiteY2" fmla="*/ 432150 h 432149"/>
                  <a:gd name="connsiteX3" fmla="*/ 149953 w 192529"/>
                  <a:gd name="connsiteY3" fmla="*/ 197453 h 432149"/>
                  <a:gd name="connsiteX4" fmla="*/ 192530 w 192529"/>
                  <a:gd name="connsiteY4" fmla="*/ 0 h 432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529" h="432149">
                    <a:moveTo>
                      <a:pt x="192530" y="0"/>
                    </a:moveTo>
                    <a:cubicBezTo>
                      <a:pt x="138237" y="98108"/>
                      <a:pt x="84040" y="196215"/>
                      <a:pt x="29747" y="294323"/>
                    </a:cubicBezTo>
                    <a:cubicBezTo>
                      <a:pt x="10126" y="329851"/>
                      <a:pt x="-638" y="376238"/>
                      <a:pt x="29" y="432150"/>
                    </a:cubicBezTo>
                    <a:lnTo>
                      <a:pt x="149953" y="197453"/>
                    </a:lnTo>
                    <a:cubicBezTo>
                      <a:pt x="149000" y="117348"/>
                      <a:pt x="164431" y="50864"/>
                      <a:pt x="192530" y="0"/>
                    </a:cubicBezTo>
                    <a:close/>
                  </a:path>
                </a:pathLst>
              </a:custGeom>
              <a:gradFill flip="none" rotWithShape="1">
                <a:gsLst>
                  <a:gs pos="15000">
                    <a:srgbClr val="EA6D49">
                      <a:lumMod val="60000"/>
                      <a:lumOff val="40000"/>
                    </a:srgbClr>
                  </a:gs>
                  <a:gs pos="75000">
                    <a:srgbClr val="EA6D49"/>
                  </a:gs>
                </a:gsLst>
                <a:path path="circle">
                  <a:fillToRect l="100000" t="100000"/>
                </a:path>
                <a:tileRect r="-100000" b="-100000"/>
              </a:gradFill>
              <a:ln w="9525" cap="flat">
                <a:noFill/>
                <a:prstDash val="solid"/>
                <a:miter/>
              </a:ln>
              <a:effectLst>
                <a:outerShdw blurRad="571500" dist="381000" dir="5400000" sx="85000" sy="85000" algn="t" rotWithShape="0">
                  <a:srgbClr val="EA6D49">
                    <a:alpha val="30000"/>
                  </a:srgb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39" name="Freeform: Shape 13">
                <a:extLst>
                  <a:ext uri="{FF2B5EF4-FFF2-40B4-BE49-F238E27FC236}">
                    <a16:creationId xmlns:a16="http://schemas.microsoft.com/office/drawing/2014/main" id="{3FFA5EFE-66D8-1706-ED1E-10D6B3BAE2E4}"/>
                  </a:ext>
                </a:extLst>
              </p:cNvPr>
              <p:cNvSpPr/>
              <p:nvPr/>
            </p:nvSpPr>
            <p:spPr>
              <a:xfrm>
                <a:off x="3886022" y="4583236"/>
                <a:ext cx="1163261" cy="1071898"/>
              </a:xfrm>
              <a:custGeom>
                <a:avLst/>
                <a:gdLst>
                  <a:gd name="connsiteX0" fmla="*/ 219224 w 1037993"/>
                  <a:gd name="connsiteY0" fmla="*/ 500603 h 956469"/>
                  <a:gd name="connsiteX1" fmla="*/ 514690 w 1037993"/>
                  <a:gd name="connsiteY1" fmla="*/ 320200 h 956469"/>
                  <a:gd name="connsiteX2" fmla="*/ 818728 w 1037993"/>
                  <a:gd name="connsiteY2" fmla="*/ 834645 h 956469"/>
                  <a:gd name="connsiteX3" fmla="*/ 1037993 w 1037993"/>
                  <a:gd name="connsiteY3" fmla="*/ 956470 h 956469"/>
                  <a:gd name="connsiteX4" fmla="*/ 511642 w 1037993"/>
                  <a:gd name="connsiteY4" fmla="*/ 66073 h 956469"/>
                  <a:gd name="connsiteX5" fmla="*/ 54 w 1037993"/>
                  <a:gd name="connsiteY5" fmla="*/ 378397 h 956469"/>
                  <a:gd name="connsiteX6" fmla="*/ 219224 w 1037993"/>
                  <a:gd name="connsiteY6" fmla="*/ 500603 h 956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7993" h="956469">
                    <a:moveTo>
                      <a:pt x="219224" y="500603"/>
                    </a:moveTo>
                    <a:cubicBezTo>
                      <a:pt x="216843" y="308674"/>
                      <a:pt x="349145" y="227903"/>
                      <a:pt x="514690" y="320200"/>
                    </a:cubicBezTo>
                    <a:cubicBezTo>
                      <a:pt x="680234" y="412497"/>
                      <a:pt x="816347" y="642812"/>
                      <a:pt x="818728" y="834645"/>
                    </a:cubicBezTo>
                    <a:lnTo>
                      <a:pt x="1037993" y="956470"/>
                    </a:lnTo>
                    <a:cubicBezTo>
                      <a:pt x="1033802" y="624333"/>
                      <a:pt x="798154" y="225712"/>
                      <a:pt x="511642" y="66073"/>
                    </a:cubicBezTo>
                    <a:cubicBezTo>
                      <a:pt x="225035" y="-93662"/>
                      <a:pt x="-4042" y="46165"/>
                      <a:pt x="54" y="378397"/>
                    </a:cubicBezTo>
                    <a:lnTo>
                      <a:pt x="219224" y="500603"/>
                    </a:lnTo>
                    <a:close/>
                  </a:path>
                </a:pathLst>
              </a:custGeom>
              <a:solidFill>
                <a:sysClr val="window" lastClr="FFFFFF"/>
              </a:solidFill>
              <a:ln w="12700" cap="flat" cmpd="sng" algn="ctr">
                <a:noFill/>
                <a:prstDash val="solid"/>
                <a:miter lim="800000"/>
              </a:ln>
              <a:effectLst>
                <a:outerShdw blurRad="1016000" dist="889000" dir="8100000" sx="90000" sy="90000" algn="tr" rotWithShape="0">
                  <a:prstClr val="black">
                    <a:alpha val="1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18">
                <a:extLst>
                  <a:ext uri="{FF2B5EF4-FFF2-40B4-BE49-F238E27FC236}">
                    <a16:creationId xmlns:a16="http://schemas.microsoft.com/office/drawing/2014/main" id="{9B6291FB-BBBB-9E7E-5486-84048875E627}"/>
                  </a:ext>
                </a:extLst>
              </p:cNvPr>
              <p:cNvSpPr/>
              <p:nvPr/>
            </p:nvSpPr>
            <p:spPr>
              <a:xfrm>
                <a:off x="3942123" y="4211592"/>
                <a:ext cx="1567870" cy="1443543"/>
              </a:xfrm>
              <a:custGeom>
                <a:avLst/>
                <a:gdLst>
                  <a:gd name="connsiteX0" fmla="*/ 1399032 w 1399031"/>
                  <a:gd name="connsiteY0" fmla="*/ 1198368 h 1288093"/>
                  <a:gd name="connsiteX1" fmla="*/ 987838 w 1399031"/>
                  <a:gd name="connsiteY1" fmla="*/ 1288094 h 1288093"/>
                  <a:gd name="connsiteX2" fmla="*/ 901446 w 1399031"/>
                  <a:gd name="connsiteY2" fmla="*/ 917095 h 1288093"/>
                  <a:gd name="connsiteX3" fmla="*/ 899065 w 1399031"/>
                  <a:gd name="connsiteY3" fmla="*/ 911856 h 1288093"/>
                  <a:gd name="connsiteX4" fmla="*/ 896684 w 1399031"/>
                  <a:gd name="connsiteY4" fmla="*/ 906522 h 1288093"/>
                  <a:gd name="connsiteX5" fmla="*/ 894302 w 1399031"/>
                  <a:gd name="connsiteY5" fmla="*/ 901188 h 1288093"/>
                  <a:gd name="connsiteX6" fmla="*/ 891921 w 1399031"/>
                  <a:gd name="connsiteY6" fmla="*/ 895949 h 1288093"/>
                  <a:gd name="connsiteX7" fmla="*/ 889540 w 1399031"/>
                  <a:gd name="connsiteY7" fmla="*/ 890615 h 1288093"/>
                  <a:gd name="connsiteX8" fmla="*/ 887159 w 1399031"/>
                  <a:gd name="connsiteY8" fmla="*/ 885281 h 1288093"/>
                  <a:gd name="connsiteX9" fmla="*/ 884587 w 1399031"/>
                  <a:gd name="connsiteY9" fmla="*/ 879947 h 1288093"/>
                  <a:gd name="connsiteX10" fmla="*/ 882110 w 1399031"/>
                  <a:gd name="connsiteY10" fmla="*/ 874613 h 1288093"/>
                  <a:gd name="connsiteX11" fmla="*/ 879539 w 1399031"/>
                  <a:gd name="connsiteY11" fmla="*/ 869375 h 1288093"/>
                  <a:gd name="connsiteX12" fmla="*/ 876967 w 1399031"/>
                  <a:gd name="connsiteY12" fmla="*/ 864136 h 1288093"/>
                  <a:gd name="connsiteX13" fmla="*/ 874300 w 1399031"/>
                  <a:gd name="connsiteY13" fmla="*/ 858802 h 1288093"/>
                  <a:gd name="connsiteX14" fmla="*/ 871633 w 1399031"/>
                  <a:gd name="connsiteY14" fmla="*/ 853563 h 1288093"/>
                  <a:gd name="connsiteX15" fmla="*/ 868966 w 1399031"/>
                  <a:gd name="connsiteY15" fmla="*/ 848229 h 1288093"/>
                  <a:gd name="connsiteX16" fmla="*/ 866299 w 1399031"/>
                  <a:gd name="connsiteY16" fmla="*/ 842990 h 1288093"/>
                  <a:gd name="connsiteX17" fmla="*/ 863536 w 1399031"/>
                  <a:gd name="connsiteY17" fmla="*/ 837752 h 1288093"/>
                  <a:gd name="connsiteX18" fmla="*/ 860774 w 1399031"/>
                  <a:gd name="connsiteY18" fmla="*/ 832418 h 1288093"/>
                  <a:gd name="connsiteX19" fmla="*/ 858012 w 1399031"/>
                  <a:gd name="connsiteY19" fmla="*/ 827274 h 1288093"/>
                  <a:gd name="connsiteX20" fmla="*/ 855155 w 1399031"/>
                  <a:gd name="connsiteY20" fmla="*/ 821940 h 1288093"/>
                  <a:gd name="connsiteX21" fmla="*/ 852297 w 1399031"/>
                  <a:gd name="connsiteY21" fmla="*/ 816702 h 1288093"/>
                  <a:gd name="connsiteX22" fmla="*/ 849440 w 1399031"/>
                  <a:gd name="connsiteY22" fmla="*/ 811463 h 1288093"/>
                  <a:gd name="connsiteX23" fmla="*/ 846582 w 1399031"/>
                  <a:gd name="connsiteY23" fmla="*/ 806224 h 1288093"/>
                  <a:gd name="connsiteX24" fmla="*/ 843724 w 1399031"/>
                  <a:gd name="connsiteY24" fmla="*/ 801080 h 1288093"/>
                  <a:gd name="connsiteX25" fmla="*/ 840772 w 1399031"/>
                  <a:gd name="connsiteY25" fmla="*/ 795842 h 1288093"/>
                  <a:gd name="connsiteX26" fmla="*/ 837819 w 1399031"/>
                  <a:gd name="connsiteY26" fmla="*/ 790603 h 1288093"/>
                  <a:gd name="connsiteX27" fmla="*/ 834771 w 1399031"/>
                  <a:gd name="connsiteY27" fmla="*/ 785364 h 1288093"/>
                  <a:gd name="connsiteX28" fmla="*/ 831723 w 1399031"/>
                  <a:gd name="connsiteY28" fmla="*/ 780221 h 1288093"/>
                  <a:gd name="connsiteX29" fmla="*/ 828580 w 1399031"/>
                  <a:gd name="connsiteY29" fmla="*/ 775077 h 1288093"/>
                  <a:gd name="connsiteX30" fmla="*/ 825436 w 1399031"/>
                  <a:gd name="connsiteY30" fmla="*/ 769838 h 1288093"/>
                  <a:gd name="connsiteX31" fmla="*/ 822293 w 1399031"/>
                  <a:gd name="connsiteY31" fmla="*/ 764695 h 1288093"/>
                  <a:gd name="connsiteX32" fmla="*/ 819150 w 1399031"/>
                  <a:gd name="connsiteY32" fmla="*/ 759552 h 1288093"/>
                  <a:gd name="connsiteX33" fmla="*/ 815911 w 1399031"/>
                  <a:gd name="connsiteY33" fmla="*/ 754408 h 1288093"/>
                  <a:gd name="connsiteX34" fmla="*/ 760571 w 1399031"/>
                  <a:gd name="connsiteY34" fmla="*/ 672588 h 1288093"/>
                  <a:gd name="connsiteX35" fmla="*/ 755904 w 1399031"/>
                  <a:gd name="connsiteY35" fmla="*/ 666397 h 1288093"/>
                  <a:gd name="connsiteX36" fmla="*/ 751237 w 1399031"/>
                  <a:gd name="connsiteY36" fmla="*/ 660206 h 1288093"/>
                  <a:gd name="connsiteX37" fmla="*/ 746570 w 1399031"/>
                  <a:gd name="connsiteY37" fmla="*/ 654110 h 1288093"/>
                  <a:gd name="connsiteX38" fmla="*/ 741902 w 1399031"/>
                  <a:gd name="connsiteY38" fmla="*/ 647919 h 1288093"/>
                  <a:gd name="connsiteX39" fmla="*/ 737045 w 1399031"/>
                  <a:gd name="connsiteY39" fmla="*/ 641822 h 1288093"/>
                  <a:gd name="connsiteX40" fmla="*/ 732187 w 1399031"/>
                  <a:gd name="connsiteY40" fmla="*/ 635631 h 1288093"/>
                  <a:gd name="connsiteX41" fmla="*/ 727329 w 1399031"/>
                  <a:gd name="connsiteY41" fmla="*/ 629535 h 1288093"/>
                  <a:gd name="connsiteX42" fmla="*/ 722471 w 1399031"/>
                  <a:gd name="connsiteY42" fmla="*/ 623535 h 1288093"/>
                  <a:gd name="connsiteX43" fmla="*/ 717518 w 1399031"/>
                  <a:gd name="connsiteY43" fmla="*/ 617534 h 1288093"/>
                  <a:gd name="connsiteX44" fmla="*/ 712470 w 1399031"/>
                  <a:gd name="connsiteY44" fmla="*/ 611533 h 1288093"/>
                  <a:gd name="connsiteX45" fmla="*/ 707327 w 1399031"/>
                  <a:gd name="connsiteY45" fmla="*/ 605532 h 1288093"/>
                  <a:gd name="connsiteX46" fmla="*/ 702183 w 1399031"/>
                  <a:gd name="connsiteY46" fmla="*/ 599627 h 1288093"/>
                  <a:gd name="connsiteX47" fmla="*/ 697040 w 1399031"/>
                  <a:gd name="connsiteY47" fmla="*/ 593721 h 1288093"/>
                  <a:gd name="connsiteX48" fmla="*/ 691801 w 1399031"/>
                  <a:gd name="connsiteY48" fmla="*/ 587816 h 1288093"/>
                  <a:gd name="connsiteX49" fmla="*/ 686562 w 1399031"/>
                  <a:gd name="connsiteY49" fmla="*/ 581910 h 1288093"/>
                  <a:gd name="connsiteX50" fmla="*/ 681228 w 1399031"/>
                  <a:gd name="connsiteY50" fmla="*/ 576005 h 1288093"/>
                  <a:gd name="connsiteX51" fmla="*/ 675894 w 1399031"/>
                  <a:gd name="connsiteY51" fmla="*/ 570290 h 1288093"/>
                  <a:gd name="connsiteX52" fmla="*/ 670465 w 1399031"/>
                  <a:gd name="connsiteY52" fmla="*/ 564479 h 1288093"/>
                  <a:gd name="connsiteX53" fmla="*/ 665036 w 1399031"/>
                  <a:gd name="connsiteY53" fmla="*/ 558764 h 1288093"/>
                  <a:gd name="connsiteX54" fmla="*/ 659511 w 1399031"/>
                  <a:gd name="connsiteY54" fmla="*/ 553145 h 1288093"/>
                  <a:gd name="connsiteX55" fmla="*/ 653986 w 1399031"/>
                  <a:gd name="connsiteY55" fmla="*/ 547430 h 1288093"/>
                  <a:gd name="connsiteX56" fmla="*/ 648367 w 1399031"/>
                  <a:gd name="connsiteY56" fmla="*/ 541810 h 1288093"/>
                  <a:gd name="connsiteX57" fmla="*/ 642747 w 1399031"/>
                  <a:gd name="connsiteY57" fmla="*/ 536190 h 1288093"/>
                  <a:gd name="connsiteX58" fmla="*/ 637127 w 1399031"/>
                  <a:gd name="connsiteY58" fmla="*/ 530666 h 1288093"/>
                  <a:gd name="connsiteX59" fmla="*/ 631412 w 1399031"/>
                  <a:gd name="connsiteY59" fmla="*/ 525141 h 1288093"/>
                  <a:gd name="connsiteX60" fmla="*/ 625602 w 1399031"/>
                  <a:gd name="connsiteY60" fmla="*/ 519712 h 1288093"/>
                  <a:gd name="connsiteX61" fmla="*/ 619697 w 1399031"/>
                  <a:gd name="connsiteY61" fmla="*/ 514283 h 1288093"/>
                  <a:gd name="connsiteX62" fmla="*/ 613791 w 1399031"/>
                  <a:gd name="connsiteY62" fmla="*/ 508853 h 1288093"/>
                  <a:gd name="connsiteX63" fmla="*/ 607886 w 1399031"/>
                  <a:gd name="connsiteY63" fmla="*/ 503519 h 1288093"/>
                  <a:gd name="connsiteX64" fmla="*/ 601885 w 1399031"/>
                  <a:gd name="connsiteY64" fmla="*/ 498186 h 1288093"/>
                  <a:gd name="connsiteX65" fmla="*/ 595789 w 1399031"/>
                  <a:gd name="connsiteY65" fmla="*/ 492947 h 1288093"/>
                  <a:gd name="connsiteX66" fmla="*/ 461391 w 1399031"/>
                  <a:gd name="connsiteY66" fmla="*/ 397792 h 1288093"/>
                  <a:gd name="connsiteX67" fmla="*/ 0 w 1399031"/>
                  <a:gd name="connsiteY67" fmla="*/ 473611 h 1288093"/>
                  <a:gd name="connsiteX68" fmla="*/ 160782 w 1399031"/>
                  <a:gd name="connsiteY68" fmla="*/ 177860 h 1288093"/>
                  <a:gd name="connsiteX69" fmla="*/ 739140 w 1399031"/>
                  <a:gd name="connsiteY69" fmla="*/ 82800 h 1288093"/>
                  <a:gd name="connsiteX70" fmla="*/ 922782 w 1399031"/>
                  <a:gd name="connsiteY70" fmla="*/ 215293 h 1288093"/>
                  <a:gd name="connsiteX71" fmla="*/ 929926 w 1399031"/>
                  <a:gd name="connsiteY71" fmla="*/ 221675 h 1288093"/>
                  <a:gd name="connsiteX72" fmla="*/ 937070 w 1399031"/>
                  <a:gd name="connsiteY72" fmla="*/ 228247 h 1288093"/>
                  <a:gd name="connsiteX73" fmla="*/ 944118 w 1399031"/>
                  <a:gd name="connsiteY73" fmla="*/ 234819 h 1288093"/>
                  <a:gd name="connsiteX74" fmla="*/ 951071 w 1399031"/>
                  <a:gd name="connsiteY74" fmla="*/ 241487 h 1288093"/>
                  <a:gd name="connsiteX75" fmla="*/ 958024 w 1399031"/>
                  <a:gd name="connsiteY75" fmla="*/ 248154 h 1288093"/>
                  <a:gd name="connsiteX76" fmla="*/ 964978 w 1399031"/>
                  <a:gd name="connsiteY76" fmla="*/ 254822 h 1288093"/>
                  <a:gd name="connsiteX77" fmla="*/ 971740 w 1399031"/>
                  <a:gd name="connsiteY77" fmla="*/ 261585 h 1288093"/>
                  <a:gd name="connsiteX78" fmla="*/ 978599 w 1399031"/>
                  <a:gd name="connsiteY78" fmla="*/ 268347 h 1288093"/>
                  <a:gd name="connsiteX79" fmla="*/ 985266 w 1399031"/>
                  <a:gd name="connsiteY79" fmla="*/ 275205 h 1288093"/>
                  <a:gd name="connsiteX80" fmla="*/ 991934 w 1399031"/>
                  <a:gd name="connsiteY80" fmla="*/ 282063 h 1288093"/>
                  <a:gd name="connsiteX81" fmla="*/ 998506 w 1399031"/>
                  <a:gd name="connsiteY81" fmla="*/ 289017 h 1288093"/>
                  <a:gd name="connsiteX82" fmla="*/ 1005078 w 1399031"/>
                  <a:gd name="connsiteY82" fmla="*/ 295970 h 1288093"/>
                  <a:gd name="connsiteX83" fmla="*/ 1011555 w 1399031"/>
                  <a:gd name="connsiteY83" fmla="*/ 302923 h 1288093"/>
                  <a:gd name="connsiteX84" fmla="*/ 1017937 w 1399031"/>
                  <a:gd name="connsiteY84" fmla="*/ 309876 h 1288093"/>
                  <a:gd name="connsiteX85" fmla="*/ 1024319 w 1399031"/>
                  <a:gd name="connsiteY85" fmla="*/ 316925 h 1288093"/>
                  <a:gd name="connsiteX86" fmla="*/ 1030700 w 1399031"/>
                  <a:gd name="connsiteY86" fmla="*/ 324069 h 1288093"/>
                  <a:gd name="connsiteX87" fmla="*/ 1036891 w 1399031"/>
                  <a:gd name="connsiteY87" fmla="*/ 331117 h 1288093"/>
                  <a:gd name="connsiteX88" fmla="*/ 1043083 w 1399031"/>
                  <a:gd name="connsiteY88" fmla="*/ 338261 h 1288093"/>
                  <a:gd name="connsiteX89" fmla="*/ 1049274 w 1399031"/>
                  <a:gd name="connsiteY89" fmla="*/ 345404 h 1288093"/>
                  <a:gd name="connsiteX90" fmla="*/ 1055370 w 1399031"/>
                  <a:gd name="connsiteY90" fmla="*/ 352644 h 1288093"/>
                  <a:gd name="connsiteX91" fmla="*/ 1061466 w 1399031"/>
                  <a:gd name="connsiteY91" fmla="*/ 359787 h 1288093"/>
                  <a:gd name="connsiteX92" fmla="*/ 1067372 w 1399031"/>
                  <a:gd name="connsiteY92" fmla="*/ 367121 h 1288093"/>
                  <a:gd name="connsiteX93" fmla="*/ 1073277 w 1399031"/>
                  <a:gd name="connsiteY93" fmla="*/ 374361 h 1288093"/>
                  <a:gd name="connsiteX94" fmla="*/ 1079183 w 1399031"/>
                  <a:gd name="connsiteY94" fmla="*/ 381695 h 1288093"/>
                  <a:gd name="connsiteX95" fmla="*/ 1084898 w 1399031"/>
                  <a:gd name="connsiteY95" fmla="*/ 389029 h 1288093"/>
                  <a:gd name="connsiteX96" fmla="*/ 1090708 w 1399031"/>
                  <a:gd name="connsiteY96" fmla="*/ 396459 h 1288093"/>
                  <a:gd name="connsiteX97" fmla="*/ 1096328 w 1399031"/>
                  <a:gd name="connsiteY97" fmla="*/ 403888 h 1288093"/>
                  <a:gd name="connsiteX98" fmla="*/ 1101947 w 1399031"/>
                  <a:gd name="connsiteY98" fmla="*/ 411318 h 1288093"/>
                  <a:gd name="connsiteX99" fmla="*/ 1107567 w 1399031"/>
                  <a:gd name="connsiteY99" fmla="*/ 418747 h 1288093"/>
                  <a:gd name="connsiteX100" fmla="*/ 1113091 w 1399031"/>
                  <a:gd name="connsiteY100" fmla="*/ 426177 h 1288093"/>
                  <a:gd name="connsiteX101" fmla="*/ 1118616 w 1399031"/>
                  <a:gd name="connsiteY101" fmla="*/ 433606 h 1288093"/>
                  <a:gd name="connsiteX102" fmla="*/ 1180624 w 1399031"/>
                  <a:gd name="connsiteY102" fmla="*/ 525236 h 1288093"/>
                  <a:gd name="connsiteX103" fmla="*/ 1184529 w 1399031"/>
                  <a:gd name="connsiteY103" fmla="*/ 531523 h 1288093"/>
                  <a:gd name="connsiteX104" fmla="*/ 1188434 w 1399031"/>
                  <a:gd name="connsiteY104" fmla="*/ 537714 h 1288093"/>
                  <a:gd name="connsiteX105" fmla="*/ 1192149 w 1399031"/>
                  <a:gd name="connsiteY105" fmla="*/ 543905 h 1288093"/>
                  <a:gd name="connsiteX106" fmla="*/ 1195959 w 1399031"/>
                  <a:gd name="connsiteY106" fmla="*/ 550192 h 1288093"/>
                  <a:gd name="connsiteX107" fmla="*/ 1199674 w 1399031"/>
                  <a:gd name="connsiteY107" fmla="*/ 556383 h 1288093"/>
                  <a:gd name="connsiteX108" fmla="*/ 1203389 w 1399031"/>
                  <a:gd name="connsiteY108" fmla="*/ 562670 h 1288093"/>
                  <a:gd name="connsiteX109" fmla="*/ 1207008 w 1399031"/>
                  <a:gd name="connsiteY109" fmla="*/ 568956 h 1288093"/>
                  <a:gd name="connsiteX110" fmla="*/ 1210628 w 1399031"/>
                  <a:gd name="connsiteY110" fmla="*/ 575243 h 1288093"/>
                  <a:gd name="connsiteX111" fmla="*/ 1214247 w 1399031"/>
                  <a:gd name="connsiteY111" fmla="*/ 581529 h 1288093"/>
                  <a:gd name="connsiteX112" fmla="*/ 1217771 w 1399031"/>
                  <a:gd name="connsiteY112" fmla="*/ 587720 h 1288093"/>
                  <a:gd name="connsiteX113" fmla="*/ 1221391 w 1399031"/>
                  <a:gd name="connsiteY113" fmla="*/ 594007 h 1288093"/>
                  <a:gd name="connsiteX114" fmla="*/ 1224820 w 1399031"/>
                  <a:gd name="connsiteY114" fmla="*/ 600294 h 1288093"/>
                  <a:gd name="connsiteX115" fmla="*/ 1228249 w 1399031"/>
                  <a:gd name="connsiteY115" fmla="*/ 606580 h 1288093"/>
                  <a:gd name="connsiteX116" fmla="*/ 1231678 w 1399031"/>
                  <a:gd name="connsiteY116" fmla="*/ 612962 h 1288093"/>
                  <a:gd name="connsiteX117" fmla="*/ 1235107 w 1399031"/>
                  <a:gd name="connsiteY117" fmla="*/ 619248 h 1288093"/>
                  <a:gd name="connsiteX118" fmla="*/ 1238441 w 1399031"/>
                  <a:gd name="connsiteY118" fmla="*/ 625535 h 1288093"/>
                  <a:gd name="connsiteX119" fmla="*/ 1241870 w 1399031"/>
                  <a:gd name="connsiteY119" fmla="*/ 631917 h 1288093"/>
                  <a:gd name="connsiteX120" fmla="*/ 1245108 w 1399031"/>
                  <a:gd name="connsiteY120" fmla="*/ 638203 h 1288093"/>
                  <a:gd name="connsiteX121" fmla="*/ 1248347 w 1399031"/>
                  <a:gd name="connsiteY121" fmla="*/ 644489 h 1288093"/>
                  <a:gd name="connsiteX122" fmla="*/ 1251585 w 1399031"/>
                  <a:gd name="connsiteY122" fmla="*/ 650871 h 1288093"/>
                  <a:gd name="connsiteX123" fmla="*/ 1254728 w 1399031"/>
                  <a:gd name="connsiteY123" fmla="*/ 657158 h 1288093"/>
                  <a:gd name="connsiteX124" fmla="*/ 1257872 w 1399031"/>
                  <a:gd name="connsiteY124" fmla="*/ 663539 h 1288093"/>
                  <a:gd name="connsiteX125" fmla="*/ 1261015 w 1399031"/>
                  <a:gd name="connsiteY125" fmla="*/ 669826 h 1288093"/>
                  <a:gd name="connsiteX126" fmla="*/ 1264158 w 1399031"/>
                  <a:gd name="connsiteY126" fmla="*/ 676208 h 1288093"/>
                  <a:gd name="connsiteX127" fmla="*/ 1267111 w 1399031"/>
                  <a:gd name="connsiteY127" fmla="*/ 682589 h 1288093"/>
                  <a:gd name="connsiteX128" fmla="*/ 1270159 w 1399031"/>
                  <a:gd name="connsiteY128" fmla="*/ 688876 h 1288093"/>
                  <a:gd name="connsiteX129" fmla="*/ 1273112 w 1399031"/>
                  <a:gd name="connsiteY129" fmla="*/ 695258 h 1288093"/>
                  <a:gd name="connsiteX130" fmla="*/ 1275969 w 1399031"/>
                  <a:gd name="connsiteY130" fmla="*/ 701544 h 1288093"/>
                  <a:gd name="connsiteX131" fmla="*/ 1278827 w 1399031"/>
                  <a:gd name="connsiteY131" fmla="*/ 707926 h 1288093"/>
                  <a:gd name="connsiteX132" fmla="*/ 1281779 w 1399031"/>
                  <a:gd name="connsiteY132" fmla="*/ 714308 h 1288093"/>
                  <a:gd name="connsiteX133" fmla="*/ 1284541 w 1399031"/>
                  <a:gd name="connsiteY133" fmla="*/ 720594 h 1288093"/>
                  <a:gd name="connsiteX134" fmla="*/ 1399032 w 1399031"/>
                  <a:gd name="connsiteY134" fmla="*/ 1198368 h 1288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Lst>
                <a:rect l="l" t="t" r="r" b="b"/>
                <a:pathLst>
                  <a:path w="1399031" h="1288093">
                    <a:moveTo>
                      <a:pt x="1399032" y="1198368"/>
                    </a:moveTo>
                    <a:lnTo>
                      <a:pt x="987838" y="1288094"/>
                    </a:lnTo>
                    <a:cubicBezTo>
                      <a:pt x="986314" y="1168269"/>
                      <a:pt x="954691" y="1039872"/>
                      <a:pt x="901446" y="917095"/>
                    </a:cubicBezTo>
                    <a:cubicBezTo>
                      <a:pt x="900684" y="915380"/>
                      <a:pt x="899922" y="913571"/>
                      <a:pt x="899065" y="911856"/>
                    </a:cubicBezTo>
                    <a:cubicBezTo>
                      <a:pt x="898303" y="910046"/>
                      <a:pt x="897541" y="908237"/>
                      <a:pt x="896684" y="906522"/>
                    </a:cubicBezTo>
                    <a:cubicBezTo>
                      <a:pt x="895922" y="904712"/>
                      <a:pt x="895160" y="902903"/>
                      <a:pt x="894302" y="901188"/>
                    </a:cubicBezTo>
                    <a:cubicBezTo>
                      <a:pt x="893540" y="899378"/>
                      <a:pt x="892683" y="897664"/>
                      <a:pt x="891921" y="895949"/>
                    </a:cubicBezTo>
                    <a:cubicBezTo>
                      <a:pt x="891159" y="894140"/>
                      <a:pt x="890302" y="892330"/>
                      <a:pt x="889540" y="890615"/>
                    </a:cubicBezTo>
                    <a:cubicBezTo>
                      <a:pt x="888778" y="888806"/>
                      <a:pt x="887920" y="887091"/>
                      <a:pt x="887159" y="885281"/>
                    </a:cubicBezTo>
                    <a:cubicBezTo>
                      <a:pt x="886301" y="883472"/>
                      <a:pt x="885444" y="881662"/>
                      <a:pt x="884587" y="879947"/>
                    </a:cubicBezTo>
                    <a:cubicBezTo>
                      <a:pt x="883730" y="878138"/>
                      <a:pt x="882968" y="876328"/>
                      <a:pt x="882110" y="874613"/>
                    </a:cubicBezTo>
                    <a:cubicBezTo>
                      <a:pt x="881253" y="872804"/>
                      <a:pt x="880396" y="871089"/>
                      <a:pt x="879539" y="869375"/>
                    </a:cubicBezTo>
                    <a:cubicBezTo>
                      <a:pt x="878681" y="867565"/>
                      <a:pt x="877824" y="865851"/>
                      <a:pt x="876967" y="864136"/>
                    </a:cubicBezTo>
                    <a:cubicBezTo>
                      <a:pt x="876110" y="862326"/>
                      <a:pt x="875252" y="860612"/>
                      <a:pt x="874300" y="858802"/>
                    </a:cubicBezTo>
                    <a:cubicBezTo>
                      <a:pt x="873443" y="857087"/>
                      <a:pt x="872585" y="855373"/>
                      <a:pt x="871633" y="853563"/>
                    </a:cubicBezTo>
                    <a:cubicBezTo>
                      <a:pt x="870776" y="851849"/>
                      <a:pt x="869823" y="850039"/>
                      <a:pt x="868966" y="848229"/>
                    </a:cubicBezTo>
                    <a:cubicBezTo>
                      <a:pt x="868109" y="846515"/>
                      <a:pt x="867156" y="844800"/>
                      <a:pt x="866299" y="842990"/>
                    </a:cubicBezTo>
                    <a:cubicBezTo>
                      <a:pt x="865441" y="841276"/>
                      <a:pt x="864489" y="839561"/>
                      <a:pt x="863536" y="837752"/>
                    </a:cubicBezTo>
                    <a:cubicBezTo>
                      <a:pt x="862679" y="836037"/>
                      <a:pt x="861727" y="834228"/>
                      <a:pt x="860774" y="832418"/>
                    </a:cubicBezTo>
                    <a:cubicBezTo>
                      <a:pt x="859917" y="830703"/>
                      <a:pt x="858965" y="828989"/>
                      <a:pt x="858012" y="827274"/>
                    </a:cubicBezTo>
                    <a:cubicBezTo>
                      <a:pt x="857155" y="825464"/>
                      <a:pt x="856107" y="823750"/>
                      <a:pt x="855155" y="821940"/>
                    </a:cubicBezTo>
                    <a:cubicBezTo>
                      <a:pt x="854297" y="820130"/>
                      <a:pt x="853249" y="818416"/>
                      <a:pt x="852297" y="816702"/>
                    </a:cubicBezTo>
                    <a:cubicBezTo>
                      <a:pt x="851345" y="814892"/>
                      <a:pt x="850392" y="813177"/>
                      <a:pt x="849440" y="811463"/>
                    </a:cubicBezTo>
                    <a:cubicBezTo>
                      <a:pt x="848582" y="809653"/>
                      <a:pt x="847535" y="807938"/>
                      <a:pt x="846582" y="806224"/>
                    </a:cubicBezTo>
                    <a:cubicBezTo>
                      <a:pt x="845725" y="804510"/>
                      <a:pt x="844677" y="802795"/>
                      <a:pt x="843724" y="801080"/>
                    </a:cubicBezTo>
                    <a:cubicBezTo>
                      <a:pt x="842772" y="799271"/>
                      <a:pt x="841820" y="797556"/>
                      <a:pt x="840772" y="795842"/>
                    </a:cubicBezTo>
                    <a:cubicBezTo>
                      <a:pt x="839819" y="794032"/>
                      <a:pt x="838772" y="792318"/>
                      <a:pt x="837819" y="790603"/>
                    </a:cubicBezTo>
                    <a:cubicBezTo>
                      <a:pt x="836771" y="788793"/>
                      <a:pt x="835819" y="787079"/>
                      <a:pt x="834771" y="785364"/>
                    </a:cubicBezTo>
                    <a:cubicBezTo>
                      <a:pt x="833723" y="783650"/>
                      <a:pt x="832771" y="781935"/>
                      <a:pt x="831723" y="780221"/>
                    </a:cubicBezTo>
                    <a:cubicBezTo>
                      <a:pt x="830675" y="778506"/>
                      <a:pt x="829723" y="776792"/>
                      <a:pt x="828580" y="775077"/>
                    </a:cubicBezTo>
                    <a:cubicBezTo>
                      <a:pt x="827627" y="773363"/>
                      <a:pt x="826484" y="771553"/>
                      <a:pt x="825436" y="769838"/>
                    </a:cubicBezTo>
                    <a:cubicBezTo>
                      <a:pt x="824389" y="768124"/>
                      <a:pt x="823341" y="766410"/>
                      <a:pt x="822293" y="764695"/>
                    </a:cubicBezTo>
                    <a:cubicBezTo>
                      <a:pt x="821246" y="762980"/>
                      <a:pt x="820198" y="761266"/>
                      <a:pt x="819150" y="759552"/>
                    </a:cubicBezTo>
                    <a:cubicBezTo>
                      <a:pt x="818102" y="757837"/>
                      <a:pt x="817055" y="756122"/>
                      <a:pt x="815911" y="754408"/>
                    </a:cubicBezTo>
                    <a:cubicBezTo>
                      <a:pt x="798481" y="726309"/>
                      <a:pt x="780002" y="698972"/>
                      <a:pt x="760571" y="672588"/>
                    </a:cubicBezTo>
                    <a:cubicBezTo>
                      <a:pt x="759047" y="670493"/>
                      <a:pt x="757523" y="668397"/>
                      <a:pt x="755904" y="666397"/>
                    </a:cubicBezTo>
                    <a:cubicBezTo>
                      <a:pt x="754380" y="664302"/>
                      <a:pt x="752761" y="662206"/>
                      <a:pt x="751237" y="660206"/>
                    </a:cubicBezTo>
                    <a:cubicBezTo>
                      <a:pt x="749618" y="658110"/>
                      <a:pt x="748094" y="656110"/>
                      <a:pt x="746570" y="654110"/>
                    </a:cubicBezTo>
                    <a:cubicBezTo>
                      <a:pt x="744950" y="652014"/>
                      <a:pt x="743426" y="649919"/>
                      <a:pt x="741902" y="647919"/>
                    </a:cubicBezTo>
                    <a:cubicBezTo>
                      <a:pt x="740283" y="645823"/>
                      <a:pt x="738759" y="643823"/>
                      <a:pt x="737045" y="641822"/>
                    </a:cubicBezTo>
                    <a:cubicBezTo>
                      <a:pt x="735521" y="639727"/>
                      <a:pt x="733901" y="637631"/>
                      <a:pt x="732187" y="635631"/>
                    </a:cubicBezTo>
                    <a:cubicBezTo>
                      <a:pt x="730568" y="633536"/>
                      <a:pt x="728948" y="631536"/>
                      <a:pt x="727329" y="629535"/>
                    </a:cubicBezTo>
                    <a:cubicBezTo>
                      <a:pt x="725710" y="627535"/>
                      <a:pt x="724186" y="625535"/>
                      <a:pt x="722471" y="623535"/>
                    </a:cubicBezTo>
                    <a:cubicBezTo>
                      <a:pt x="720852" y="621534"/>
                      <a:pt x="719138" y="619534"/>
                      <a:pt x="717518" y="617534"/>
                    </a:cubicBezTo>
                    <a:cubicBezTo>
                      <a:pt x="715899" y="615534"/>
                      <a:pt x="714185" y="613533"/>
                      <a:pt x="712470" y="611533"/>
                    </a:cubicBezTo>
                    <a:cubicBezTo>
                      <a:pt x="710851" y="609533"/>
                      <a:pt x="709041" y="607532"/>
                      <a:pt x="707327" y="605532"/>
                    </a:cubicBezTo>
                    <a:cubicBezTo>
                      <a:pt x="705707" y="603532"/>
                      <a:pt x="703898" y="601627"/>
                      <a:pt x="702183" y="599627"/>
                    </a:cubicBezTo>
                    <a:cubicBezTo>
                      <a:pt x="700564" y="597722"/>
                      <a:pt x="698754" y="595721"/>
                      <a:pt x="697040" y="593721"/>
                    </a:cubicBezTo>
                    <a:cubicBezTo>
                      <a:pt x="695325" y="591721"/>
                      <a:pt x="693611" y="589816"/>
                      <a:pt x="691801" y="587816"/>
                    </a:cubicBezTo>
                    <a:cubicBezTo>
                      <a:pt x="690086" y="585815"/>
                      <a:pt x="688372" y="583911"/>
                      <a:pt x="686562" y="581910"/>
                    </a:cubicBezTo>
                    <a:cubicBezTo>
                      <a:pt x="684848" y="579910"/>
                      <a:pt x="683038" y="578005"/>
                      <a:pt x="681228" y="576005"/>
                    </a:cubicBezTo>
                    <a:cubicBezTo>
                      <a:pt x="679513" y="574100"/>
                      <a:pt x="677799" y="572195"/>
                      <a:pt x="675894" y="570290"/>
                    </a:cubicBezTo>
                    <a:cubicBezTo>
                      <a:pt x="674180" y="568385"/>
                      <a:pt x="672275" y="566385"/>
                      <a:pt x="670465" y="564479"/>
                    </a:cubicBezTo>
                    <a:cubicBezTo>
                      <a:pt x="668750" y="562574"/>
                      <a:pt x="666845" y="560574"/>
                      <a:pt x="665036" y="558764"/>
                    </a:cubicBezTo>
                    <a:cubicBezTo>
                      <a:pt x="663226" y="556860"/>
                      <a:pt x="661416" y="554954"/>
                      <a:pt x="659511" y="553145"/>
                    </a:cubicBezTo>
                    <a:cubicBezTo>
                      <a:pt x="657701" y="551240"/>
                      <a:pt x="655892" y="549239"/>
                      <a:pt x="653986" y="547430"/>
                    </a:cubicBezTo>
                    <a:cubicBezTo>
                      <a:pt x="652082" y="545525"/>
                      <a:pt x="650272" y="543715"/>
                      <a:pt x="648367" y="541810"/>
                    </a:cubicBezTo>
                    <a:cubicBezTo>
                      <a:pt x="646462" y="539905"/>
                      <a:pt x="644652" y="538095"/>
                      <a:pt x="642747" y="536190"/>
                    </a:cubicBezTo>
                    <a:cubicBezTo>
                      <a:pt x="640842" y="534285"/>
                      <a:pt x="639032" y="532476"/>
                      <a:pt x="637127" y="530666"/>
                    </a:cubicBezTo>
                    <a:cubicBezTo>
                      <a:pt x="635222" y="528761"/>
                      <a:pt x="633317" y="526951"/>
                      <a:pt x="631412" y="525141"/>
                    </a:cubicBezTo>
                    <a:cubicBezTo>
                      <a:pt x="629507" y="523236"/>
                      <a:pt x="627507" y="521427"/>
                      <a:pt x="625602" y="519712"/>
                    </a:cubicBezTo>
                    <a:cubicBezTo>
                      <a:pt x="623697" y="517807"/>
                      <a:pt x="621697" y="516093"/>
                      <a:pt x="619697" y="514283"/>
                    </a:cubicBezTo>
                    <a:cubicBezTo>
                      <a:pt x="617792" y="512378"/>
                      <a:pt x="615791" y="510663"/>
                      <a:pt x="613791" y="508853"/>
                    </a:cubicBezTo>
                    <a:cubicBezTo>
                      <a:pt x="611886" y="507044"/>
                      <a:pt x="609886" y="505234"/>
                      <a:pt x="607886" y="503519"/>
                    </a:cubicBezTo>
                    <a:cubicBezTo>
                      <a:pt x="605981" y="501614"/>
                      <a:pt x="603885" y="499900"/>
                      <a:pt x="601885" y="498186"/>
                    </a:cubicBezTo>
                    <a:cubicBezTo>
                      <a:pt x="599885" y="496280"/>
                      <a:pt x="597884" y="494566"/>
                      <a:pt x="595789" y="492947"/>
                    </a:cubicBezTo>
                    <a:cubicBezTo>
                      <a:pt x="552831" y="455704"/>
                      <a:pt x="507778" y="423605"/>
                      <a:pt x="461391" y="397792"/>
                    </a:cubicBezTo>
                    <a:cubicBezTo>
                      <a:pt x="257270" y="284063"/>
                      <a:pt x="82296" y="322259"/>
                      <a:pt x="0" y="473611"/>
                    </a:cubicBezTo>
                    <a:cubicBezTo>
                      <a:pt x="53626" y="375027"/>
                      <a:pt x="107156" y="276444"/>
                      <a:pt x="160782" y="177860"/>
                    </a:cubicBezTo>
                    <a:cubicBezTo>
                      <a:pt x="264033" y="-11878"/>
                      <a:pt x="483298" y="-59789"/>
                      <a:pt x="739140" y="82800"/>
                    </a:cubicBezTo>
                    <a:cubicBezTo>
                      <a:pt x="802767" y="118233"/>
                      <a:pt x="864394" y="163096"/>
                      <a:pt x="922782" y="215293"/>
                    </a:cubicBezTo>
                    <a:cubicBezTo>
                      <a:pt x="925163" y="217388"/>
                      <a:pt x="927640" y="219579"/>
                      <a:pt x="929926" y="221675"/>
                    </a:cubicBezTo>
                    <a:cubicBezTo>
                      <a:pt x="932307" y="223865"/>
                      <a:pt x="934688" y="226056"/>
                      <a:pt x="937070" y="228247"/>
                    </a:cubicBezTo>
                    <a:cubicBezTo>
                      <a:pt x="939451" y="230343"/>
                      <a:pt x="941737" y="232628"/>
                      <a:pt x="944118" y="234819"/>
                    </a:cubicBezTo>
                    <a:cubicBezTo>
                      <a:pt x="946499" y="236915"/>
                      <a:pt x="948785" y="239201"/>
                      <a:pt x="951071" y="241487"/>
                    </a:cubicBezTo>
                    <a:cubicBezTo>
                      <a:pt x="953453" y="243582"/>
                      <a:pt x="955739" y="245868"/>
                      <a:pt x="958024" y="248154"/>
                    </a:cubicBezTo>
                    <a:cubicBezTo>
                      <a:pt x="960406" y="250345"/>
                      <a:pt x="962692" y="252536"/>
                      <a:pt x="964978" y="254822"/>
                    </a:cubicBezTo>
                    <a:cubicBezTo>
                      <a:pt x="967264" y="257108"/>
                      <a:pt x="969550" y="259298"/>
                      <a:pt x="971740" y="261585"/>
                    </a:cubicBezTo>
                    <a:cubicBezTo>
                      <a:pt x="974027" y="263775"/>
                      <a:pt x="976312" y="266061"/>
                      <a:pt x="978599" y="268347"/>
                    </a:cubicBezTo>
                    <a:cubicBezTo>
                      <a:pt x="980789" y="270633"/>
                      <a:pt x="983075" y="272919"/>
                      <a:pt x="985266" y="275205"/>
                    </a:cubicBezTo>
                    <a:cubicBezTo>
                      <a:pt x="987552" y="277491"/>
                      <a:pt x="989743" y="279777"/>
                      <a:pt x="991934" y="282063"/>
                    </a:cubicBezTo>
                    <a:cubicBezTo>
                      <a:pt x="994124" y="284349"/>
                      <a:pt x="996315" y="286635"/>
                      <a:pt x="998506" y="289017"/>
                    </a:cubicBezTo>
                    <a:cubicBezTo>
                      <a:pt x="1000697" y="291303"/>
                      <a:pt x="1002887" y="293684"/>
                      <a:pt x="1005078" y="295970"/>
                    </a:cubicBezTo>
                    <a:cubicBezTo>
                      <a:pt x="1007269" y="298256"/>
                      <a:pt x="1009460" y="300637"/>
                      <a:pt x="1011555" y="302923"/>
                    </a:cubicBezTo>
                    <a:cubicBezTo>
                      <a:pt x="1013651" y="305209"/>
                      <a:pt x="1015841" y="307590"/>
                      <a:pt x="1017937" y="309876"/>
                    </a:cubicBezTo>
                    <a:cubicBezTo>
                      <a:pt x="1020032" y="312257"/>
                      <a:pt x="1022223" y="314544"/>
                      <a:pt x="1024319" y="316925"/>
                    </a:cubicBezTo>
                    <a:cubicBezTo>
                      <a:pt x="1026414" y="319306"/>
                      <a:pt x="1028605" y="321592"/>
                      <a:pt x="1030700" y="324069"/>
                    </a:cubicBezTo>
                    <a:cubicBezTo>
                      <a:pt x="1032796" y="326354"/>
                      <a:pt x="1034891" y="328736"/>
                      <a:pt x="1036891" y="331117"/>
                    </a:cubicBezTo>
                    <a:cubicBezTo>
                      <a:pt x="1038987" y="333498"/>
                      <a:pt x="1041082" y="335879"/>
                      <a:pt x="1043083" y="338261"/>
                    </a:cubicBezTo>
                    <a:cubicBezTo>
                      <a:pt x="1045178" y="340642"/>
                      <a:pt x="1047178" y="342928"/>
                      <a:pt x="1049274" y="345404"/>
                    </a:cubicBezTo>
                    <a:cubicBezTo>
                      <a:pt x="1051274" y="347786"/>
                      <a:pt x="1053370" y="350262"/>
                      <a:pt x="1055370" y="352644"/>
                    </a:cubicBezTo>
                    <a:cubicBezTo>
                      <a:pt x="1057370" y="355025"/>
                      <a:pt x="1059371" y="357406"/>
                      <a:pt x="1061466" y="359787"/>
                    </a:cubicBezTo>
                    <a:cubicBezTo>
                      <a:pt x="1063371" y="362169"/>
                      <a:pt x="1065466" y="364645"/>
                      <a:pt x="1067372" y="367121"/>
                    </a:cubicBezTo>
                    <a:cubicBezTo>
                      <a:pt x="1069372" y="369503"/>
                      <a:pt x="1071372" y="371979"/>
                      <a:pt x="1073277" y="374361"/>
                    </a:cubicBezTo>
                    <a:cubicBezTo>
                      <a:pt x="1075182" y="376742"/>
                      <a:pt x="1077182" y="379218"/>
                      <a:pt x="1079183" y="381695"/>
                    </a:cubicBezTo>
                    <a:cubicBezTo>
                      <a:pt x="1081087" y="384076"/>
                      <a:pt x="1083088" y="386553"/>
                      <a:pt x="1084898" y="389029"/>
                    </a:cubicBezTo>
                    <a:cubicBezTo>
                      <a:pt x="1086898" y="391410"/>
                      <a:pt x="1088803" y="393887"/>
                      <a:pt x="1090708" y="396459"/>
                    </a:cubicBezTo>
                    <a:cubicBezTo>
                      <a:pt x="1092613" y="398935"/>
                      <a:pt x="1094613" y="401411"/>
                      <a:pt x="1096328" y="403888"/>
                    </a:cubicBezTo>
                    <a:cubicBezTo>
                      <a:pt x="1098328" y="406364"/>
                      <a:pt x="1100233" y="408746"/>
                      <a:pt x="1101947" y="411318"/>
                    </a:cubicBezTo>
                    <a:cubicBezTo>
                      <a:pt x="1103852" y="413794"/>
                      <a:pt x="1105757" y="416175"/>
                      <a:pt x="1107567" y="418747"/>
                    </a:cubicBezTo>
                    <a:cubicBezTo>
                      <a:pt x="1109472" y="421223"/>
                      <a:pt x="1111377" y="423700"/>
                      <a:pt x="1113091" y="426177"/>
                    </a:cubicBezTo>
                    <a:cubicBezTo>
                      <a:pt x="1114997" y="428653"/>
                      <a:pt x="1116806" y="431129"/>
                      <a:pt x="1118616" y="433606"/>
                    </a:cubicBezTo>
                    <a:cubicBezTo>
                      <a:pt x="1140238" y="463229"/>
                      <a:pt x="1161002" y="493804"/>
                      <a:pt x="1180624" y="525236"/>
                    </a:cubicBezTo>
                    <a:cubicBezTo>
                      <a:pt x="1181957" y="527332"/>
                      <a:pt x="1183291" y="529428"/>
                      <a:pt x="1184529" y="531523"/>
                    </a:cubicBezTo>
                    <a:cubicBezTo>
                      <a:pt x="1185862" y="533619"/>
                      <a:pt x="1187196" y="535714"/>
                      <a:pt x="1188434" y="537714"/>
                    </a:cubicBezTo>
                    <a:cubicBezTo>
                      <a:pt x="1189673" y="539810"/>
                      <a:pt x="1190911" y="541810"/>
                      <a:pt x="1192149" y="543905"/>
                    </a:cubicBezTo>
                    <a:cubicBezTo>
                      <a:pt x="1193483" y="546001"/>
                      <a:pt x="1194721" y="548096"/>
                      <a:pt x="1195959" y="550192"/>
                    </a:cubicBezTo>
                    <a:cubicBezTo>
                      <a:pt x="1197197" y="552287"/>
                      <a:pt x="1198436" y="554383"/>
                      <a:pt x="1199674" y="556383"/>
                    </a:cubicBezTo>
                    <a:cubicBezTo>
                      <a:pt x="1200912" y="558479"/>
                      <a:pt x="1202150" y="560574"/>
                      <a:pt x="1203389" y="562670"/>
                    </a:cubicBezTo>
                    <a:cubicBezTo>
                      <a:pt x="1204627" y="564765"/>
                      <a:pt x="1205770" y="566765"/>
                      <a:pt x="1207008" y="568956"/>
                    </a:cubicBezTo>
                    <a:cubicBezTo>
                      <a:pt x="1208246" y="571052"/>
                      <a:pt x="1209389" y="573147"/>
                      <a:pt x="1210628" y="575243"/>
                    </a:cubicBezTo>
                    <a:cubicBezTo>
                      <a:pt x="1211866" y="577338"/>
                      <a:pt x="1213104" y="579434"/>
                      <a:pt x="1214247" y="581529"/>
                    </a:cubicBezTo>
                    <a:cubicBezTo>
                      <a:pt x="1215485" y="583625"/>
                      <a:pt x="1216628" y="585720"/>
                      <a:pt x="1217771" y="587720"/>
                    </a:cubicBezTo>
                    <a:cubicBezTo>
                      <a:pt x="1219010" y="589816"/>
                      <a:pt x="1220153" y="591911"/>
                      <a:pt x="1221391" y="594007"/>
                    </a:cubicBezTo>
                    <a:cubicBezTo>
                      <a:pt x="1222534" y="596103"/>
                      <a:pt x="1223772" y="598198"/>
                      <a:pt x="1224820" y="600294"/>
                    </a:cubicBezTo>
                    <a:cubicBezTo>
                      <a:pt x="1225963" y="602389"/>
                      <a:pt x="1227201" y="604485"/>
                      <a:pt x="1228249" y="606580"/>
                    </a:cubicBezTo>
                    <a:cubicBezTo>
                      <a:pt x="1229392" y="608676"/>
                      <a:pt x="1230630" y="610771"/>
                      <a:pt x="1231678" y="612962"/>
                    </a:cubicBezTo>
                    <a:cubicBezTo>
                      <a:pt x="1232821" y="615057"/>
                      <a:pt x="1233964" y="617153"/>
                      <a:pt x="1235107" y="619248"/>
                    </a:cubicBezTo>
                    <a:cubicBezTo>
                      <a:pt x="1236250" y="621344"/>
                      <a:pt x="1237393" y="623439"/>
                      <a:pt x="1238441" y="625535"/>
                    </a:cubicBezTo>
                    <a:cubicBezTo>
                      <a:pt x="1239584" y="627630"/>
                      <a:pt x="1240727" y="629726"/>
                      <a:pt x="1241870" y="631917"/>
                    </a:cubicBezTo>
                    <a:cubicBezTo>
                      <a:pt x="1243012" y="634012"/>
                      <a:pt x="1244060" y="636107"/>
                      <a:pt x="1245108" y="638203"/>
                    </a:cubicBezTo>
                    <a:cubicBezTo>
                      <a:pt x="1246251" y="640298"/>
                      <a:pt x="1247299" y="642394"/>
                      <a:pt x="1248347" y="644489"/>
                    </a:cubicBezTo>
                    <a:cubicBezTo>
                      <a:pt x="1249490" y="646585"/>
                      <a:pt x="1250537" y="648680"/>
                      <a:pt x="1251585" y="650871"/>
                    </a:cubicBezTo>
                    <a:cubicBezTo>
                      <a:pt x="1252728" y="652967"/>
                      <a:pt x="1253681" y="655062"/>
                      <a:pt x="1254728" y="657158"/>
                    </a:cubicBezTo>
                    <a:cubicBezTo>
                      <a:pt x="1255776" y="659253"/>
                      <a:pt x="1256824" y="661349"/>
                      <a:pt x="1257872" y="663539"/>
                    </a:cubicBezTo>
                    <a:cubicBezTo>
                      <a:pt x="1258919" y="665635"/>
                      <a:pt x="1259967" y="667730"/>
                      <a:pt x="1261015" y="669826"/>
                    </a:cubicBezTo>
                    <a:cubicBezTo>
                      <a:pt x="1262062" y="671921"/>
                      <a:pt x="1263110" y="674112"/>
                      <a:pt x="1264158" y="676208"/>
                    </a:cubicBezTo>
                    <a:cubicBezTo>
                      <a:pt x="1265206" y="678303"/>
                      <a:pt x="1266158" y="680399"/>
                      <a:pt x="1267111" y="682589"/>
                    </a:cubicBezTo>
                    <a:cubicBezTo>
                      <a:pt x="1268159" y="684685"/>
                      <a:pt x="1269206" y="686685"/>
                      <a:pt x="1270159" y="688876"/>
                    </a:cubicBezTo>
                    <a:cubicBezTo>
                      <a:pt x="1271111" y="690971"/>
                      <a:pt x="1272159" y="693067"/>
                      <a:pt x="1273112" y="695258"/>
                    </a:cubicBezTo>
                    <a:cubicBezTo>
                      <a:pt x="1274064" y="697353"/>
                      <a:pt x="1275016" y="699449"/>
                      <a:pt x="1275969" y="701544"/>
                    </a:cubicBezTo>
                    <a:cubicBezTo>
                      <a:pt x="1277017" y="703640"/>
                      <a:pt x="1277969" y="705735"/>
                      <a:pt x="1278827" y="707926"/>
                    </a:cubicBezTo>
                    <a:cubicBezTo>
                      <a:pt x="1279874" y="710021"/>
                      <a:pt x="1280827" y="712117"/>
                      <a:pt x="1281779" y="714308"/>
                    </a:cubicBezTo>
                    <a:cubicBezTo>
                      <a:pt x="1282637" y="716403"/>
                      <a:pt x="1283684" y="718499"/>
                      <a:pt x="1284541" y="720594"/>
                    </a:cubicBezTo>
                    <a:cubicBezTo>
                      <a:pt x="1355027" y="877947"/>
                      <a:pt x="1397032" y="1043968"/>
                      <a:pt x="1399032" y="1198368"/>
                    </a:cubicBezTo>
                    <a:close/>
                  </a:path>
                </a:pathLst>
              </a:custGeom>
              <a:gradFill flip="none" rotWithShape="1">
                <a:gsLst>
                  <a:gs pos="15000">
                    <a:srgbClr val="EA6D49">
                      <a:lumMod val="60000"/>
                      <a:lumOff val="40000"/>
                    </a:srgbClr>
                  </a:gs>
                  <a:gs pos="75000">
                    <a:srgbClr val="EA6D49"/>
                  </a:gs>
                </a:gsLst>
                <a:path path="circle">
                  <a:fillToRect l="100000" t="100000"/>
                </a:path>
                <a:tileRect r="-100000" b="-100000"/>
              </a:gradFill>
              <a:ln w="9525" cap="flat">
                <a:noFill/>
                <a:prstDash val="solid"/>
                <a:miter/>
              </a:ln>
              <a:effectLst>
                <a:outerShdw blurRad="571500" dist="381000" dir="5400000" sx="85000" sy="85000" algn="t" rotWithShape="0">
                  <a:srgbClr val="FFFFFF">
                    <a:alpha val="29804"/>
                  </a:srgb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grpSp>
      <p:sp>
        <p:nvSpPr>
          <p:cNvPr id="50" name="TextBox 82">
            <a:extLst>
              <a:ext uri="{FF2B5EF4-FFF2-40B4-BE49-F238E27FC236}">
                <a16:creationId xmlns:a16="http://schemas.microsoft.com/office/drawing/2014/main" id="{0A6FAAD4-FCD7-7EE3-A9E0-34732EDA5F68}"/>
              </a:ext>
            </a:extLst>
          </p:cNvPr>
          <p:cNvSpPr txBox="1"/>
          <p:nvPr/>
        </p:nvSpPr>
        <p:spPr>
          <a:xfrm>
            <a:off x="203661" y="4520706"/>
            <a:ext cx="5172987" cy="2200602"/>
          </a:xfrm>
          <a:prstGeom prst="rect">
            <a:avLst/>
          </a:prstGeom>
          <a:noFill/>
        </p:spPr>
        <p:txBody>
          <a:bodyPr wrap="square" lIns="0" r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EA6D49"/>
                </a:solidFill>
                <a:effectLst/>
                <a:uLnTx/>
                <a:uFillTx/>
                <a:ea typeface="+mn-ea"/>
                <a:cs typeface="+mn-cs"/>
              </a:rPr>
              <a:t>Split User Stories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prstClr val="black"/>
                </a:solidFill>
                <a:effectLst/>
                <a:uLnTx/>
                <a:uFillTx/>
                <a:ea typeface="+mn-ea"/>
                <a:cs typeface="+mn-cs"/>
              </a:rPr>
              <a:t>Sized so as to be achieved within a single sprint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prstClr val="black"/>
                </a:solidFill>
                <a:effectLst/>
                <a:uLnTx/>
                <a:uFillTx/>
                <a:ea typeface="+mn-ea"/>
                <a:cs typeface="+mn-cs"/>
              </a:rPr>
              <a:t>Story sizing and necessity for splitting to be determined by BA and Technical team during elaboration and sprint planning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prstClr val="black"/>
                </a:solidFill>
                <a:effectLst/>
                <a:uLnTx/>
                <a:uFillTx/>
                <a:ea typeface="+mn-ea"/>
                <a:cs typeface="+mn-cs"/>
              </a:rPr>
              <a:t>Typically there may be one or more development stories which will complete a single independent functional user story.  The testing for the full functionality will occur in a separate test user story.  All split stories will be linked to the original signed off user story to maintain traceability.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prstClr val="black"/>
                </a:solidFill>
                <a:effectLst/>
                <a:uLnTx/>
                <a:uFillTx/>
                <a:ea typeface="+mn-ea"/>
                <a:cs typeface="+mn-cs"/>
              </a:rPr>
              <a:t>Story sign off will be on the Test Story by the PO at Sprint exit – which may be a later sprint to the original story starting sprint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prstClr val="black"/>
                </a:solidFill>
                <a:effectLst/>
                <a:uLnTx/>
                <a:uFillTx/>
                <a:ea typeface="+mn-ea"/>
                <a:cs typeface="+mn-cs"/>
              </a:rPr>
              <a:t>Dev only stories will not be demo-ed or signed off by the PO but will count in terms of the team’s velocity and specific sprint effort</a:t>
            </a:r>
          </a:p>
        </p:txBody>
      </p:sp>
      <p:sp>
        <p:nvSpPr>
          <p:cNvPr id="51" name="TextBox 82">
            <a:extLst>
              <a:ext uri="{FF2B5EF4-FFF2-40B4-BE49-F238E27FC236}">
                <a16:creationId xmlns:a16="http://schemas.microsoft.com/office/drawing/2014/main" id="{B934CE82-ADA7-9353-B8B6-FFF8780F84F1}"/>
              </a:ext>
            </a:extLst>
          </p:cNvPr>
          <p:cNvSpPr txBox="1"/>
          <p:nvPr/>
        </p:nvSpPr>
        <p:spPr>
          <a:xfrm>
            <a:off x="220587" y="3070062"/>
            <a:ext cx="5172987" cy="1354217"/>
          </a:xfrm>
          <a:prstGeom prst="rect">
            <a:avLst/>
          </a:prstGeom>
          <a:noFill/>
        </p:spPr>
        <p:txBody>
          <a:bodyPr wrap="square" lIns="0" r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33C481"/>
                </a:solidFill>
                <a:effectLst/>
                <a:uLnTx/>
                <a:uFillTx/>
                <a:ea typeface="+mn-ea"/>
                <a:cs typeface="+mn-cs"/>
              </a:rPr>
              <a:t>User Stories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prstClr val="black"/>
                </a:solidFill>
                <a:effectLst/>
                <a:uLnTx/>
                <a:uFillTx/>
                <a:ea typeface="+mn-ea"/>
                <a:cs typeface="+mn-cs"/>
              </a:rPr>
              <a:t>Represent an independent story which may or may not have multiple Acceptance Criteria within dependent on the User Story Size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prstClr val="black"/>
                </a:solidFill>
                <a:effectLst/>
                <a:uLnTx/>
                <a:uFillTx/>
                <a:ea typeface="+mn-ea"/>
                <a:cs typeface="+mn-cs"/>
              </a:rPr>
              <a:t>Story signed off by Product Owner against DOR and DOD criteria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prstClr val="black"/>
                </a:solidFill>
                <a:effectLst/>
                <a:uLnTx/>
                <a:uFillTx/>
                <a:ea typeface="+mn-ea"/>
                <a:cs typeface="+mn-cs"/>
              </a:rPr>
              <a:t>User Stories should be smaller enough to complete within a single sprint, however due to technical complexities, logical dependencies or team velocity planning these may cross multiple sprints</a:t>
            </a:r>
          </a:p>
        </p:txBody>
      </p:sp>
      <p:sp>
        <p:nvSpPr>
          <p:cNvPr id="52" name="TextBox 82">
            <a:extLst>
              <a:ext uri="{FF2B5EF4-FFF2-40B4-BE49-F238E27FC236}">
                <a16:creationId xmlns:a16="http://schemas.microsoft.com/office/drawing/2014/main" id="{337DA8CE-77F7-DD6A-26E9-9620D6C2649A}"/>
              </a:ext>
            </a:extLst>
          </p:cNvPr>
          <p:cNvSpPr txBox="1"/>
          <p:nvPr/>
        </p:nvSpPr>
        <p:spPr>
          <a:xfrm>
            <a:off x="228600" y="1941390"/>
            <a:ext cx="4924124" cy="1015663"/>
          </a:xfrm>
          <a:prstGeom prst="rect">
            <a:avLst/>
          </a:prstGeom>
          <a:noFill/>
        </p:spPr>
        <p:txBody>
          <a:bodyPr wrap="square" lIns="0" r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41A5EE"/>
                </a:solidFill>
                <a:effectLst/>
                <a:uLnTx/>
                <a:uFillTx/>
                <a:ea typeface="+mn-ea"/>
                <a:cs typeface="+mn-cs"/>
              </a:rPr>
              <a:t>Features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prstClr val="black"/>
                </a:solidFill>
                <a:effectLst/>
                <a:uLnTx/>
                <a:uFillTx/>
                <a:ea typeface="+mn-ea"/>
                <a:cs typeface="+mn-cs"/>
              </a:rPr>
              <a:t>Multiple business flows can fit in a single feature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prstClr val="black"/>
                </a:solidFill>
                <a:effectLst/>
                <a:uLnTx/>
                <a:uFillTx/>
                <a:ea typeface="+mn-ea"/>
                <a:cs typeface="+mn-cs"/>
              </a:rPr>
              <a:t>Complete Parent User Stories can be signed off independently to other Parent User Stories within a Feature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prstClr val="black"/>
                </a:solidFill>
                <a:effectLst/>
                <a:uLnTx/>
                <a:uFillTx/>
                <a:ea typeface="+mn-ea"/>
                <a:cs typeface="+mn-cs"/>
              </a:rPr>
              <a:t>Features can cross multiple sprints</a:t>
            </a:r>
          </a:p>
        </p:txBody>
      </p:sp>
      <p:sp>
        <p:nvSpPr>
          <p:cNvPr id="53" name="TextBox 82">
            <a:extLst>
              <a:ext uri="{FF2B5EF4-FFF2-40B4-BE49-F238E27FC236}">
                <a16:creationId xmlns:a16="http://schemas.microsoft.com/office/drawing/2014/main" id="{AF1802EB-16E2-F23F-69D2-5403F7745470}"/>
              </a:ext>
            </a:extLst>
          </p:cNvPr>
          <p:cNvSpPr txBox="1"/>
          <p:nvPr/>
        </p:nvSpPr>
        <p:spPr>
          <a:xfrm>
            <a:off x="238004" y="982905"/>
            <a:ext cx="6086596" cy="846386"/>
          </a:xfrm>
          <a:prstGeom prst="rect">
            <a:avLst/>
          </a:prstGeom>
          <a:noFill/>
        </p:spPr>
        <p:txBody>
          <a:bodyPr wrap="square" lIns="0" r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FFCF4A"/>
                </a:solidFill>
                <a:effectLst/>
                <a:uLnTx/>
                <a:uFillTx/>
                <a:ea typeface="+mn-ea"/>
                <a:cs typeface="+mn-cs"/>
              </a:rPr>
              <a:t>Epics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prstClr val="black"/>
                </a:solidFill>
                <a:effectLst/>
                <a:uLnTx/>
                <a:uFillTx/>
                <a:ea typeface="+mn-ea"/>
                <a:cs typeface="+mn-cs"/>
              </a:rPr>
              <a:t>Multiple Features fit into a single Epic</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prstClr val="black"/>
                </a:solidFill>
                <a:effectLst/>
                <a:uLnTx/>
                <a:uFillTx/>
                <a:ea typeface="+mn-ea"/>
                <a:cs typeface="+mn-cs"/>
              </a:rPr>
              <a:t>Epics can cross multiple Releases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prstClr val="black"/>
                </a:solidFill>
                <a:effectLst/>
                <a:uLnTx/>
                <a:uFillTx/>
                <a:ea typeface="+mn-ea"/>
                <a:cs typeface="+mn-cs"/>
              </a:rPr>
              <a:t>Overarching business flows which cross multiple teams and processes</a:t>
            </a:r>
          </a:p>
        </p:txBody>
      </p:sp>
      <p:sp>
        <p:nvSpPr>
          <p:cNvPr id="6" name="Title 3">
            <a:extLst>
              <a:ext uri="{FF2B5EF4-FFF2-40B4-BE49-F238E27FC236}">
                <a16:creationId xmlns:a16="http://schemas.microsoft.com/office/drawing/2014/main" id="{57923115-5AC7-2496-0B81-98CDF98F8ED7}"/>
              </a:ext>
            </a:extLst>
          </p:cNvPr>
          <p:cNvSpPr txBox="1">
            <a:spLocks/>
          </p:cNvSpPr>
          <p:nvPr/>
        </p:nvSpPr>
        <p:spPr>
          <a:xfrm>
            <a:off x="184150" y="284162"/>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r>
              <a:rPr lang="en-US" sz="2800" cap="none">
                <a:solidFill>
                  <a:schemeClr val="tx1"/>
                </a:solidFill>
              </a:rPr>
              <a:t>Definitions</a:t>
            </a:r>
          </a:p>
        </p:txBody>
      </p:sp>
    </p:spTree>
    <p:extLst>
      <p:ext uri="{BB962C8B-B14F-4D97-AF65-F5344CB8AC3E}">
        <p14:creationId xmlns:p14="http://schemas.microsoft.com/office/powerpoint/2010/main" val="26977567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330BCD9-F559-B83C-58F5-9C12E1D1288B}"/>
              </a:ext>
            </a:extLst>
          </p:cNvPr>
          <p:cNvSpPr>
            <a:spLocks noGrp="1"/>
          </p:cNvSpPr>
          <p:nvPr>
            <p:ph type="subTitle" idx="1"/>
          </p:nvPr>
        </p:nvSpPr>
        <p:spPr>
          <a:xfrm>
            <a:off x="293832" y="716310"/>
            <a:ext cx="9144000" cy="293733"/>
          </a:xfrm>
        </p:spPr>
        <p:txBody>
          <a:bodyPr vert="horz" lIns="0" tIns="0" rIns="0" bIns="0" rtlCol="0">
            <a:normAutofit/>
          </a:bodyPr>
          <a:lstStyle/>
          <a:p>
            <a:r>
              <a:rPr lang="en-GB" sz="1600" b="1" i="1">
                <a:solidFill>
                  <a:schemeClr val="tx1"/>
                </a:solidFill>
              </a:rPr>
              <a:t>Clear User Story standards drive quality delivery</a:t>
            </a:r>
          </a:p>
        </p:txBody>
      </p:sp>
      <p:sp>
        <p:nvSpPr>
          <p:cNvPr id="4" name="Rectangle 3">
            <a:extLst>
              <a:ext uri="{FF2B5EF4-FFF2-40B4-BE49-F238E27FC236}">
                <a16:creationId xmlns:a16="http://schemas.microsoft.com/office/drawing/2014/main" id="{5ADDE44B-A24D-A445-1279-59604C2E2CA3}"/>
              </a:ext>
            </a:extLst>
          </p:cNvPr>
          <p:cNvSpPr/>
          <p:nvPr/>
        </p:nvSpPr>
        <p:spPr>
          <a:xfrm>
            <a:off x="360975" y="1677114"/>
            <a:ext cx="2781618" cy="10932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User Role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User action</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Business Value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Acceptance Criteria</a:t>
            </a: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IN" sz="1000" b="0" i="0" u="none" strike="noStrike" kern="1200" cap="none" spc="0" normalizeH="0" baseline="0" noProof="0">
              <a:ln>
                <a:noFill/>
              </a:ln>
              <a:solidFill>
                <a:prstClr val="black">
                  <a:lumMod val="95000"/>
                  <a:lumOff val="5000"/>
                </a:prstClr>
              </a:solidFill>
              <a:effectLst/>
              <a:uLnTx/>
              <a:uFillTx/>
              <a:ea typeface="+mn-ea"/>
              <a:cs typeface="+mn-cs"/>
            </a:endParaRPr>
          </a:p>
        </p:txBody>
      </p:sp>
      <p:sp>
        <p:nvSpPr>
          <p:cNvPr id="6" name="TextBox 5">
            <a:extLst>
              <a:ext uri="{FF2B5EF4-FFF2-40B4-BE49-F238E27FC236}">
                <a16:creationId xmlns:a16="http://schemas.microsoft.com/office/drawing/2014/main" id="{8AA90E49-86AA-3872-F610-FBD9DB79DA42}"/>
              </a:ext>
            </a:extLst>
          </p:cNvPr>
          <p:cNvSpPr txBox="1"/>
          <p:nvPr/>
        </p:nvSpPr>
        <p:spPr>
          <a:xfrm>
            <a:off x="293832" y="2783485"/>
            <a:ext cx="2461758" cy="261610"/>
          </a:xfrm>
          <a:prstGeom prst="rect">
            <a:avLst/>
          </a:prstGeom>
          <a:solidFill>
            <a:srgbClr val="D763C6"/>
          </a:solidFill>
        </p:spPr>
        <p:txBody>
          <a:bodyPr wrap="square" rtlCol="0">
            <a:spAutoFit/>
          </a:bodyPr>
          <a:lstStyle>
            <a:defPPr>
              <a:defRPr lang="en-US"/>
            </a:defPPr>
            <a:lvl1pPr algn="ctr">
              <a:defRPr sz="1100" b="1">
                <a:solidFill>
                  <a:schemeClr val="bg1"/>
                </a:solidFill>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a:ln>
                  <a:noFill/>
                </a:ln>
                <a:solidFill>
                  <a:prstClr val="white"/>
                </a:solidFill>
                <a:effectLst/>
                <a:uLnTx/>
                <a:uFillTx/>
                <a:latin typeface="+mn-lt"/>
                <a:ea typeface="+mn-ea"/>
                <a:cs typeface="+mn-cs"/>
              </a:rPr>
              <a:t>What a user story must be</a:t>
            </a:r>
          </a:p>
        </p:txBody>
      </p:sp>
      <p:sp>
        <p:nvSpPr>
          <p:cNvPr id="7" name="TextBox 6">
            <a:extLst>
              <a:ext uri="{FF2B5EF4-FFF2-40B4-BE49-F238E27FC236}">
                <a16:creationId xmlns:a16="http://schemas.microsoft.com/office/drawing/2014/main" id="{6FA312E9-022A-0AC5-7F56-900A18B85716}"/>
              </a:ext>
            </a:extLst>
          </p:cNvPr>
          <p:cNvSpPr txBox="1"/>
          <p:nvPr/>
        </p:nvSpPr>
        <p:spPr>
          <a:xfrm>
            <a:off x="321443" y="1386972"/>
            <a:ext cx="2406537" cy="261610"/>
          </a:xfrm>
          <a:prstGeom prst="rect">
            <a:avLst/>
          </a:prstGeom>
          <a:solidFill>
            <a:srgbClr val="D763C6"/>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a:ln>
                  <a:noFill/>
                </a:ln>
                <a:solidFill>
                  <a:prstClr val="white"/>
                </a:solidFill>
                <a:effectLst/>
                <a:uLnTx/>
                <a:uFillTx/>
                <a:ea typeface="+mn-ea"/>
                <a:cs typeface="+mn-cs"/>
              </a:rPr>
              <a:t>User story structure</a:t>
            </a:r>
          </a:p>
        </p:txBody>
      </p:sp>
      <p:sp>
        <p:nvSpPr>
          <p:cNvPr id="8" name="Rectangle 7">
            <a:extLst>
              <a:ext uri="{FF2B5EF4-FFF2-40B4-BE49-F238E27FC236}">
                <a16:creationId xmlns:a16="http://schemas.microsoft.com/office/drawing/2014/main" id="{582AB548-0230-626A-DCD0-67BF4F15296A}"/>
              </a:ext>
            </a:extLst>
          </p:cNvPr>
          <p:cNvSpPr/>
          <p:nvPr/>
        </p:nvSpPr>
        <p:spPr>
          <a:xfrm>
            <a:off x="360975" y="4932121"/>
            <a:ext cx="3696018" cy="11731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Follow the INVEST standard</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Identify correct personas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Have a clear goal/outcome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Be explicit on pathway/flow – Given this, Then …, So that…</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Meet Programme Definition of Ready</a:t>
            </a:r>
          </a:p>
        </p:txBody>
      </p:sp>
      <p:sp>
        <p:nvSpPr>
          <p:cNvPr id="9" name="TextBox 8">
            <a:extLst>
              <a:ext uri="{FF2B5EF4-FFF2-40B4-BE49-F238E27FC236}">
                <a16:creationId xmlns:a16="http://schemas.microsoft.com/office/drawing/2014/main" id="{7B4E326B-583F-0ED2-759B-FE3A716C42A2}"/>
              </a:ext>
            </a:extLst>
          </p:cNvPr>
          <p:cNvSpPr txBox="1"/>
          <p:nvPr/>
        </p:nvSpPr>
        <p:spPr>
          <a:xfrm>
            <a:off x="293832" y="4590116"/>
            <a:ext cx="2461758" cy="261610"/>
          </a:xfrm>
          <a:prstGeom prst="rect">
            <a:avLst/>
          </a:prstGeom>
          <a:solidFill>
            <a:srgbClr val="D763C6"/>
          </a:solidFill>
        </p:spPr>
        <p:txBody>
          <a:bodyPr wrap="square" rtlCol="0">
            <a:spAutoFit/>
          </a:bodyPr>
          <a:lstStyle>
            <a:defPPr>
              <a:defRPr lang="en-US"/>
            </a:defPPr>
            <a:lvl1pPr algn="ctr">
              <a:defRPr sz="1100" b="1">
                <a:solidFill>
                  <a:schemeClr val="bg1"/>
                </a:solidFill>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a:ln>
                  <a:noFill/>
                </a:ln>
                <a:solidFill>
                  <a:prstClr val="white"/>
                </a:solidFill>
                <a:effectLst/>
                <a:uLnTx/>
                <a:uFillTx/>
                <a:latin typeface="+mn-lt"/>
                <a:ea typeface="+mn-ea"/>
                <a:cs typeface="+mn-cs"/>
              </a:rPr>
              <a:t>User story standards must</a:t>
            </a:r>
          </a:p>
        </p:txBody>
      </p:sp>
      <p:sp>
        <p:nvSpPr>
          <p:cNvPr id="10" name="Rectangle 9">
            <a:extLst>
              <a:ext uri="{FF2B5EF4-FFF2-40B4-BE49-F238E27FC236}">
                <a16:creationId xmlns:a16="http://schemas.microsoft.com/office/drawing/2014/main" id="{889C16B4-DF7C-3141-7F89-9DA961157637}"/>
              </a:ext>
            </a:extLst>
          </p:cNvPr>
          <p:cNvSpPr/>
          <p:nvPr/>
        </p:nvSpPr>
        <p:spPr>
          <a:xfrm>
            <a:off x="360975" y="3070070"/>
            <a:ext cx="1694618" cy="14902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1" i="0" u="none" strike="noStrike" kern="1200" cap="none" spc="0" normalizeH="0" baseline="0" noProof="0">
                <a:ln>
                  <a:noFill/>
                </a:ln>
                <a:solidFill>
                  <a:srgbClr val="FF0000"/>
                </a:solidFill>
                <a:effectLst/>
                <a:uLnTx/>
                <a:uFillTx/>
                <a:ea typeface="+mn-ea"/>
                <a:cs typeface="+mn-cs"/>
              </a:rPr>
              <a:t>I</a:t>
            </a: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ndependent  </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1" i="0" u="none" strike="noStrike" kern="1200" cap="none" spc="0" normalizeH="0" baseline="0" noProof="0">
                <a:ln>
                  <a:noFill/>
                </a:ln>
                <a:solidFill>
                  <a:srgbClr val="FF0000"/>
                </a:solidFill>
                <a:effectLst/>
                <a:uLnTx/>
                <a:uFillTx/>
                <a:ea typeface="+mn-ea"/>
                <a:cs typeface="+mn-cs"/>
              </a:rPr>
              <a:t>N</a:t>
            </a: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egotiable </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1" i="0" u="none" strike="noStrike" kern="1200" cap="none" spc="0" normalizeH="0" baseline="0" noProof="0">
                <a:ln>
                  <a:noFill/>
                </a:ln>
                <a:solidFill>
                  <a:srgbClr val="FF0000"/>
                </a:solidFill>
                <a:effectLst/>
                <a:uLnTx/>
                <a:uFillTx/>
                <a:ea typeface="+mn-ea"/>
                <a:cs typeface="+mn-cs"/>
              </a:rPr>
              <a:t>V</a:t>
            </a: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aluable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1" i="0" u="none" strike="noStrike" kern="1200" cap="none" spc="0" normalizeH="0" baseline="0" noProof="0">
                <a:ln>
                  <a:noFill/>
                </a:ln>
                <a:solidFill>
                  <a:srgbClr val="FF0000"/>
                </a:solidFill>
                <a:effectLst/>
                <a:uLnTx/>
                <a:uFillTx/>
                <a:ea typeface="+mn-ea"/>
                <a:cs typeface="+mn-cs"/>
              </a:rPr>
              <a:t>E</a:t>
            </a: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stimable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1" i="0" u="none" strike="noStrike" kern="1200" cap="none" spc="0" normalizeH="0" baseline="0" noProof="0">
                <a:ln>
                  <a:noFill/>
                </a:ln>
                <a:solidFill>
                  <a:srgbClr val="FF0000"/>
                </a:solidFill>
                <a:effectLst/>
                <a:uLnTx/>
                <a:uFillTx/>
                <a:ea typeface="+mn-ea"/>
                <a:cs typeface="+mn-cs"/>
              </a:rPr>
              <a:t>S</a:t>
            </a: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mall</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1" i="0" u="none" strike="noStrike" kern="1200" cap="none" spc="0" normalizeH="0" baseline="0" noProof="0">
                <a:ln>
                  <a:noFill/>
                </a:ln>
                <a:solidFill>
                  <a:srgbClr val="FF0000"/>
                </a:solidFill>
                <a:effectLst/>
                <a:uLnTx/>
                <a:uFillTx/>
                <a:ea typeface="+mn-ea"/>
                <a:cs typeface="+mn-cs"/>
              </a:rPr>
              <a:t>T</a:t>
            </a: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estable</a:t>
            </a:r>
          </a:p>
        </p:txBody>
      </p:sp>
      <p:sp>
        <p:nvSpPr>
          <p:cNvPr id="11" name="Rectangle 10">
            <a:extLst>
              <a:ext uri="{FF2B5EF4-FFF2-40B4-BE49-F238E27FC236}">
                <a16:creationId xmlns:a16="http://schemas.microsoft.com/office/drawing/2014/main" id="{0E1E1449-A045-DF34-34AD-B0348E7F100D}"/>
              </a:ext>
            </a:extLst>
          </p:cNvPr>
          <p:cNvSpPr/>
          <p:nvPr/>
        </p:nvSpPr>
        <p:spPr>
          <a:xfrm>
            <a:off x="7205289" y="1262848"/>
            <a:ext cx="1474887" cy="631372"/>
          </a:xfrm>
          <a:prstGeom prst="rect">
            <a:avLst/>
          </a:prstGeom>
          <a:solidFill>
            <a:srgbClr val="D763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EPIC</a:t>
            </a:r>
          </a:p>
        </p:txBody>
      </p:sp>
      <p:sp>
        <p:nvSpPr>
          <p:cNvPr id="12" name="Rectangle 11">
            <a:extLst>
              <a:ext uri="{FF2B5EF4-FFF2-40B4-BE49-F238E27FC236}">
                <a16:creationId xmlns:a16="http://schemas.microsoft.com/office/drawing/2014/main" id="{71A4B53F-FFB2-8C67-D5AC-371EFEB701B4}"/>
              </a:ext>
            </a:extLst>
          </p:cNvPr>
          <p:cNvSpPr/>
          <p:nvPr/>
        </p:nvSpPr>
        <p:spPr>
          <a:xfrm>
            <a:off x="5110970" y="2488398"/>
            <a:ext cx="1630237" cy="485579"/>
          </a:xfrm>
          <a:prstGeom prst="rect">
            <a:avLst/>
          </a:prstGeom>
          <a:solidFill>
            <a:srgbClr val="D763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FEATURE-1</a:t>
            </a:r>
          </a:p>
        </p:txBody>
      </p:sp>
      <p:sp>
        <p:nvSpPr>
          <p:cNvPr id="13" name="Rectangle 12">
            <a:extLst>
              <a:ext uri="{FF2B5EF4-FFF2-40B4-BE49-F238E27FC236}">
                <a16:creationId xmlns:a16="http://schemas.microsoft.com/office/drawing/2014/main" id="{73FEC11B-AD54-E9DE-A748-6B4656EBE889}"/>
              </a:ext>
            </a:extLst>
          </p:cNvPr>
          <p:cNvSpPr/>
          <p:nvPr/>
        </p:nvSpPr>
        <p:spPr>
          <a:xfrm>
            <a:off x="7127614" y="2488398"/>
            <a:ext cx="1630237" cy="485579"/>
          </a:xfrm>
          <a:prstGeom prst="rect">
            <a:avLst/>
          </a:prstGeom>
          <a:solidFill>
            <a:srgbClr val="D763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FEATURE-2</a:t>
            </a:r>
          </a:p>
        </p:txBody>
      </p:sp>
      <p:sp>
        <p:nvSpPr>
          <p:cNvPr id="14" name="Rectangle 13">
            <a:extLst>
              <a:ext uri="{FF2B5EF4-FFF2-40B4-BE49-F238E27FC236}">
                <a16:creationId xmlns:a16="http://schemas.microsoft.com/office/drawing/2014/main" id="{8F297BB4-6127-C986-E8C7-37362CD0B7FF}"/>
              </a:ext>
            </a:extLst>
          </p:cNvPr>
          <p:cNvSpPr/>
          <p:nvPr/>
        </p:nvSpPr>
        <p:spPr>
          <a:xfrm>
            <a:off x="9174068" y="2488398"/>
            <a:ext cx="1630237" cy="485580"/>
          </a:xfrm>
          <a:prstGeom prst="rect">
            <a:avLst/>
          </a:prstGeom>
          <a:solidFill>
            <a:srgbClr val="D763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FEATURE-N</a:t>
            </a:r>
          </a:p>
        </p:txBody>
      </p:sp>
      <p:sp>
        <p:nvSpPr>
          <p:cNvPr id="15" name="Rectangle 14">
            <a:extLst>
              <a:ext uri="{FF2B5EF4-FFF2-40B4-BE49-F238E27FC236}">
                <a16:creationId xmlns:a16="http://schemas.microsoft.com/office/drawing/2014/main" id="{00A1C9C2-0189-5C50-1589-CC00C7E536A6}"/>
              </a:ext>
            </a:extLst>
          </p:cNvPr>
          <p:cNvSpPr/>
          <p:nvPr/>
        </p:nvSpPr>
        <p:spPr>
          <a:xfrm>
            <a:off x="4262738" y="3686664"/>
            <a:ext cx="1061231" cy="339371"/>
          </a:xfrm>
          <a:prstGeom prst="rect">
            <a:avLst/>
          </a:prstGeom>
          <a:solidFill>
            <a:srgbClr val="D763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US-1</a:t>
            </a:r>
          </a:p>
        </p:txBody>
      </p:sp>
      <p:sp>
        <p:nvSpPr>
          <p:cNvPr id="16" name="Rectangle 15">
            <a:extLst>
              <a:ext uri="{FF2B5EF4-FFF2-40B4-BE49-F238E27FC236}">
                <a16:creationId xmlns:a16="http://schemas.microsoft.com/office/drawing/2014/main" id="{3437409B-255A-AC7B-823A-CE569352AFA6}"/>
              </a:ext>
            </a:extLst>
          </p:cNvPr>
          <p:cNvSpPr/>
          <p:nvPr/>
        </p:nvSpPr>
        <p:spPr>
          <a:xfrm>
            <a:off x="5421943" y="3686664"/>
            <a:ext cx="1025412" cy="322716"/>
          </a:xfrm>
          <a:prstGeom prst="rect">
            <a:avLst/>
          </a:prstGeom>
          <a:solidFill>
            <a:srgbClr val="D763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US-2</a:t>
            </a:r>
          </a:p>
        </p:txBody>
      </p:sp>
      <p:sp>
        <p:nvSpPr>
          <p:cNvPr id="17" name="Rectangle 16">
            <a:extLst>
              <a:ext uri="{FF2B5EF4-FFF2-40B4-BE49-F238E27FC236}">
                <a16:creationId xmlns:a16="http://schemas.microsoft.com/office/drawing/2014/main" id="{6B2F25E8-AB52-826C-E306-A7E4D4AB5948}"/>
              </a:ext>
            </a:extLst>
          </p:cNvPr>
          <p:cNvSpPr/>
          <p:nvPr/>
        </p:nvSpPr>
        <p:spPr>
          <a:xfrm>
            <a:off x="6559623" y="3686664"/>
            <a:ext cx="1125981" cy="322716"/>
          </a:xfrm>
          <a:prstGeom prst="rect">
            <a:avLst/>
          </a:prstGeom>
          <a:solidFill>
            <a:srgbClr val="D763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US-N</a:t>
            </a:r>
          </a:p>
        </p:txBody>
      </p:sp>
      <p:cxnSp>
        <p:nvCxnSpPr>
          <p:cNvPr id="18" name="Connector: Elbow 17">
            <a:extLst>
              <a:ext uri="{FF2B5EF4-FFF2-40B4-BE49-F238E27FC236}">
                <a16:creationId xmlns:a16="http://schemas.microsoft.com/office/drawing/2014/main" id="{0520EEC2-A998-06C7-8E1A-D4F1A6979411}"/>
              </a:ext>
            </a:extLst>
          </p:cNvPr>
          <p:cNvCxnSpPr>
            <a:cxnSpLocks/>
            <a:stCxn id="11" idx="2"/>
            <a:endCxn id="12" idx="0"/>
          </p:cNvCxnSpPr>
          <p:nvPr/>
        </p:nvCxnSpPr>
        <p:spPr>
          <a:xfrm rot="5400000">
            <a:off x="6637322" y="1182987"/>
            <a:ext cx="594178" cy="201664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EC936218-FCE3-07A1-2430-17959F1B0CE0}"/>
              </a:ext>
            </a:extLst>
          </p:cNvPr>
          <p:cNvCxnSpPr>
            <a:cxnSpLocks/>
            <a:stCxn id="11" idx="2"/>
            <a:endCxn id="14" idx="0"/>
          </p:cNvCxnSpPr>
          <p:nvPr/>
        </p:nvCxnSpPr>
        <p:spPr>
          <a:xfrm rot="16200000" flipH="1">
            <a:off x="8668871" y="1168082"/>
            <a:ext cx="594178" cy="204645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A1344AE4-A2EE-0D77-BA80-035DA5C2DAF4}"/>
              </a:ext>
            </a:extLst>
          </p:cNvPr>
          <p:cNvSpPr/>
          <p:nvPr/>
        </p:nvSpPr>
        <p:spPr>
          <a:xfrm>
            <a:off x="8311849" y="3670008"/>
            <a:ext cx="1061231" cy="339371"/>
          </a:xfrm>
          <a:prstGeom prst="rect">
            <a:avLst/>
          </a:prstGeom>
          <a:solidFill>
            <a:srgbClr val="D763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US-1</a:t>
            </a:r>
          </a:p>
        </p:txBody>
      </p:sp>
      <p:sp>
        <p:nvSpPr>
          <p:cNvPr id="22" name="Rectangle 21">
            <a:extLst>
              <a:ext uri="{FF2B5EF4-FFF2-40B4-BE49-F238E27FC236}">
                <a16:creationId xmlns:a16="http://schemas.microsoft.com/office/drawing/2014/main" id="{CABCE625-288D-E1FC-A299-048A05E65683}"/>
              </a:ext>
            </a:extLst>
          </p:cNvPr>
          <p:cNvSpPr/>
          <p:nvPr/>
        </p:nvSpPr>
        <p:spPr>
          <a:xfrm>
            <a:off x="9481940" y="3670008"/>
            <a:ext cx="1025412" cy="322716"/>
          </a:xfrm>
          <a:prstGeom prst="rect">
            <a:avLst/>
          </a:prstGeom>
          <a:solidFill>
            <a:srgbClr val="D763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US-2</a:t>
            </a:r>
          </a:p>
        </p:txBody>
      </p:sp>
      <p:sp>
        <p:nvSpPr>
          <p:cNvPr id="23" name="Rectangle 22">
            <a:extLst>
              <a:ext uri="{FF2B5EF4-FFF2-40B4-BE49-F238E27FC236}">
                <a16:creationId xmlns:a16="http://schemas.microsoft.com/office/drawing/2014/main" id="{C1438183-7583-95B3-9235-921D9155DDC9}"/>
              </a:ext>
            </a:extLst>
          </p:cNvPr>
          <p:cNvSpPr/>
          <p:nvPr/>
        </p:nvSpPr>
        <p:spPr>
          <a:xfrm>
            <a:off x="10608734" y="3670008"/>
            <a:ext cx="1125981" cy="322716"/>
          </a:xfrm>
          <a:prstGeom prst="rect">
            <a:avLst/>
          </a:prstGeom>
          <a:solidFill>
            <a:srgbClr val="D763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US-N</a:t>
            </a:r>
          </a:p>
        </p:txBody>
      </p:sp>
      <p:cxnSp>
        <p:nvCxnSpPr>
          <p:cNvPr id="24" name="Connector: Elbow 23">
            <a:extLst>
              <a:ext uri="{FF2B5EF4-FFF2-40B4-BE49-F238E27FC236}">
                <a16:creationId xmlns:a16="http://schemas.microsoft.com/office/drawing/2014/main" id="{50E4D8B3-D4ED-971B-98B5-ED134765403E}"/>
              </a:ext>
            </a:extLst>
          </p:cNvPr>
          <p:cNvCxnSpPr>
            <a:stCxn id="12" idx="2"/>
            <a:endCxn id="15" idx="0"/>
          </p:cNvCxnSpPr>
          <p:nvPr/>
        </p:nvCxnSpPr>
        <p:spPr>
          <a:xfrm rot="5400000">
            <a:off x="5003379" y="2763953"/>
            <a:ext cx="712687" cy="113273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51F8AECC-55E6-1E8E-9789-FB5B7489F6FB}"/>
              </a:ext>
            </a:extLst>
          </p:cNvPr>
          <p:cNvCxnSpPr>
            <a:stCxn id="12" idx="2"/>
            <a:endCxn id="17" idx="0"/>
          </p:cNvCxnSpPr>
          <p:nvPr/>
        </p:nvCxnSpPr>
        <p:spPr>
          <a:xfrm rot="16200000" flipH="1">
            <a:off x="6168008" y="2732057"/>
            <a:ext cx="712687" cy="119652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7F6B1E1D-99BC-5CFD-3DED-46CAF6BFDE16}"/>
              </a:ext>
            </a:extLst>
          </p:cNvPr>
          <p:cNvCxnSpPr>
            <a:stCxn id="14" idx="2"/>
            <a:endCxn id="21" idx="0"/>
          </p:cNvCxnSpPr>
          <p:nvPr/>
        </p:nvCxnSpPr>
        <p:spPr>
          <a:xfrm rot="5400000">
            <a:off x="9067811" y="2748632"/>
            <a:ext cx="696030" cy="114672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9760102E-0826-F35E-0A82-D1B36D84C520}"/>
              </a:ext>
            </a:extLst>
          </p:cNvPr>
          <p:cNvCxnSpPr>
            <a:stCxn id="14" idx="2"/>
            <a:endCxn id="23" idx="0"/>
          </p:cNvCxnSpPr>
          <p:nvPr/>
        </p:nvCxnSpPr>
        <p:spPr>
          <a:xfrm rot="16200000" flipH="1">
            <a:off x="10232441" y="2730724"/>
            <a:ext cx="696030" cy="118253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6EA20D2C-766E-B0D4-F516-292903235F12}"/>
              </a:ext>
            </a:extLst>
          </p:cNvPr>
          <p:cNvSpPr txBox="1"/>
          <p:nvPr/>
        </p:nvSpPr>
        <p:spPr>
          <a:xfrm>
            <a:off x="4262738" y="4209666"/>
            <a:ext cx="6792686" cy="23083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black"/>
                </a:solidFill>
                <a:effectLst/>
                <a:uLnTx/>
                <a:uFillTx/>
                <a:ea typeface="+mn-ea"/>
                <a:cs typeface="+mn-cs"/>
              </a:rPr>
              <a:t>USER STORY TYPEs: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solidFill>
              <a:effectLst/>
              <a:uLnTx/>
              <a:uFillTx/>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1" i="0" u="none" strike="noStrike" kern="1200" cap="none" spc="0" normalizeH="0" baseline="0" noProof="0">
                <a:ln>
                  <a:noFill/>
                </a:ln>
                <a:solidFill>
                  <a:prstClr val="black"/>
                </a:solidFill>
                <a:effectLst/>
                <a:uLnTx/>
                <a:uFillTx/>
                <a:ea typeface="+mn-ea"/>
                <a:cs typeface="+mn-cs"/>
              </a:rPr>
              <a:t>A functional user story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ea typeface="+mn-ea"/>
                <a:cs typeface="+mn-cs"/>
              </a:rPr>
              <a:t>A story where you have a user role, action and an outcome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ea typeface="+mn-ea"/>
                <a:cs typeface="+mn-cs"/>
              </a:rPr>
              <a:t>Typically associated with user facing screens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ea typeface="+mn-ea"/>
                <a:cs typeface="+mn-cs"/>
              </a:rPr>
              <a:t>Very closely associated to the product behaviour</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200" b="0" i="0" u="none" strike="noStrike" kern="1200" cap="none" spc="0" normalizeH="0" baseline="0" noProof="0">
              <a:ln>
                <a:noFill/>
              </a:ln>
              <a:solidFill>
                <a:prstClr val="black"/>
              </a:solidFill>
              <a:effectLst/>
              <a:uLnTx/>
              <a:uFillTx/>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1" i="0" u="none" strike="noStrike" kern="1200" cap="none" spc="0" normalizeH="0" baseline="0" noProof="0">
                <a:ln>
                  <a:noFill/>
                </a:ln>
                <a:solidFill>
                  <a:prstClr val="black"/>
                </a:solidFill>
                <a:effectLst/>
                <a:uLnTx/>
                <a:uFillTx/>
                <a:ea typeface="+mn-ea"/>
                <a:cs typeface="+mn-cs"/>
              </a:rPr>
              <a:t>A technical user story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ea typeface="+mn-ea"/>
                <a:cs typeface="+mn-cs"/>
              </a:rPr>
              <a:t>Usually linked to a front end functional story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ea typeface="+mn-ea"/>
                <a:cs typeface="+mn-cs"/>
              </a:rPr>
              <a:t>Has a technical flow in the background of a functional user story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ea typeface="+mn-ea"/>
                <a:cs typeface="+mn-cs"/>
              </a:rPr>
              <a:t>Depends on team composition if you have separate integration team</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ea typeface="+mn-ea"/>
                <a:cs typeface="+mn-cs"/>
              </a:rPr>
              <a:t>Applies to data and integration layer types of work</a:t>
            </a:r>
          </a:p>
        </p:txBody>
      </p:sp>
      <p:cxnSp>
        <p:nvCxnSpPr>
          <p:cNvPr id="35" name="Straight Arrow Connector 34">
            <a:extLst>
              <a:ext uri="{FF2B5EF4-FFF2-40B4-BE49-F238E27FC236}">
                <a16:creationId xmlns:a16="http://schemas.microsoft.com/office/drawing/2014/main" id="{ADC65598-D4B0-825B-EB96-5BAFEAE8A8CD}"/>
              </a:ext>
            </a:extLst>
          </p:cNvPr>
          <p:cNvCxnSpPr>
            <a:stCxn id="12" idx="2"/>
            <a:endCxn id="16" idx="0"/>
          </p:cNvCxnSpPr>
          <p:nvPr/>
        </p:nvCxnSpPr>
        <p:spPr>
          <a:xfrm>
            <a:off x="5926089" y="2973977"/>
            <a:ext cx="8560" cy="7126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2CA0B9ED-1F4E-FD16-EF18-5104292DAE09}"/>
              </a:ext>
            </a:extLst>
          </p:cNvPr>
          <p:cNvCxnSpPr>
            <a:cxnSpLocks/>
            <a:stCxn id="11" idx="2"/>
            <a:endCxn id="13" idx="0"/>
          </p:cNvCxnSpPr>
          <p:nvPr/>
        </p:nvCxnSpPr>
        <p:spPr>
          <a:xfrm>
            <a:off x="7942733" y="1894220"/>
            <a:ext cx="0" cy="5941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A6879321-3C87-9FD8-0ACF-0EE2A4E28165}"/>
              </a:ext>
            </a:extLst>
          </p:cNvPr>
          <p:cNvCxnSpPr>
            <a:cxnSpLocks/>
            <a:stCxn id="14" idx="2"/>
            <a:endCxn id="22" idx="0"/>
          </p:cNvCxnSpPr>
          <p:nvPr/>
        </p:nvCxnSpPr>
        <p:spPr>
          <a:xfrm>
            <a:off x="9989187" y="2973978"/>
            <a:ext cx="5459" cy="6960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itle 3">
            <a:extLst>
              <a:ext uri="{FF2B5EF4-FFF2-40B4-BE49-F238E27FC236}">
                <a16:creationId xmlns:a16="http://schemas.microsoft.com/office/drawing/2014/main" id="{97F5290C-333E-7FB2-3662-B080A4282E5A}"/>
              </a:ext>
            </a:extLst>
          </p:cNvPr>
          <p:cNvSpPr txBox="1">
            <a:spLocks/>
          </p:cNvSpPr>
          <p:nvPr/>
        </p:nvSpPr>
        <p:spPr>
          <a:xfrm>
            <a:off x="184150" y="284162"/>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r>
              <a:rPr lang="en-US" sz="2800" cap="none">
                <a:solidFill>
                  <a:schemeClr val="tx1"/>
                </a:solidFill>
              </a:rPr>
              <a:t>User Story Structure and Standards</a:t>
            </a:r>
          </a:p>
        </p:txBody>
      </p:sp>
    </p:spTree>
    <p:extLst>
      <p:ext uri="{BB962C8B-B14F-4D97-AF65-F5344CB8AC3E}">
        <p14:creationId xmlns:p14="http://schemas.microsoft.com/office/powerpoint/2010/main" val="25710746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a:extLst>
              <a:ext uri="{FF2B5EF4-FFF2-40B4-BE49-F238E27FC236}">
                <a16:creationId xmlns:a16="http://schemas.microsoft.com/office/drawing/2014/main" id="{DBF3B927-C8D1-7CD5-8B0E-B1F5728884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5655" y="1652432"/>
            <a:ext cx="5885793" cy="1979389"/>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54B4683A-AFAB-1616-A7E2-58E6F6D5A3D2}"/>
              </a:ext>
            </a:extLst>
          </p:cNvPr>
          <p:cNvSpPr txBox="1"/>
          <p:nvPr/>
        </p:nvSpPr>
        <p:spPr>
          <a:xfrm>
            <a:off x="2019298" y="5418231"/>
            <a:ext cx="7501759" cy="276999"/>
          </a:xfrm>
          <a:prstGeom prst="rect">
            <a:avLst/>
          </a:prstGeom>
          <a:noFill/>
        </p:spPr>
        <p:txBody>
          <a:bodyPr wrap="square">
            <a:spAutoFit/>
          </a:bodyPr>
          <a:lstStyle/>
          <a:p>
            <a:pPr algn="ctr"/>
            <a:r>
              <a:rPr lang="en-US" sz="1200" i="1"/>
              <a:t>The Definition of Done describes the target state. It must be informed by the Definition of Ready.</a:t>
            </a:r>
          </a:p>
        </p:txBody>
      </p:sp>
      <p:sp>
        <p:nvSpPr>
          <p:cNvPr id="24" name="Subtitle 2">
            <a:extLst>
              <a:ext uri="{FF2B5EF4-FFF2-40B4-BE49-F238E27FC236}">
                <a16:creationId xmlns:a16="http://schemas.microsoft.com/office/drawing/2014/main" id="{224CDA5E-E4A8-6575-3BCD-981C61869120}"/>
              </a:ext>
            </a:extLst>
          </p:cNvPr>
          <p:cNvSpPr>
            <a:spLocks noGrp="1"/>
          </p:cNvSpPr>
          <p:nvPr>
            <p:ph type="subTitle" idx="1"/>
          </p:nvPr>
        </p:nvSpPr>
        <p:spPr>
          <a:xfrm>
            <a:off x="184150" y="748814"/>
            <a:ext cx="9144000" cy="247730"/>
          </a:xfrm>
        </p:spPr>
        <p:txBody>
          <a:bodyPr vert="horz" lIns="0" tIns="0" rIns="0" bIns="0" rtlCol="0">
            <a:normAutofit/>
          </a:bodyPr>
          <a:lstStyle/>
          <a:p>
            <a:r>
              <a:rPr lang="en-GB" sz="1600" b="1" i="1">
                <a:solidFill>
                  <a:schemeClr val="tx1"/>
                </a:solidFill>
              </a:rPr>
              <a:t>The two checklists that control how the team commits &amp; delivers work</a:t>
            </a:r>
          </a:p>
        </p:txBody>
      </p:sp>
      <p:sp>
        <p:nvSpPr>
          <p:cNvPr id="26" name="TextBox 25">
            <a:extLst>
              <a:ext uri="{FF2B5EF4-FFF2-40B4-BE49-F238E27FC236}">
                <a16:creationId xmlns:a16="http://schemas.microsoft.com/office/drawing/2014/main" id="{5B312D86-0C8D-5129-F49B-CDE46FD724D4}"/>
              </a:ext>
            </a:extLst>
          </p:cNvPr>
          <p:cNvSpPr txBox="1"/>
          <p:nvPr/>
        </p:nvSpPr>
        <p:spPr>
          <a:xfrm>
            <a:off x="1581175" y="3996946"/>
            <a:ext cx="3978798" cy="1323439"/>
          </a:xfrm>
          <a:prstGeom prst="rect">
            <a:avLst/>
          </a:prstGeom>
          <a:noFill/>
        </p:spPr>
        <p:txBody>
          <a:bodyPr wrap="square">
            <a:spAutoFit/>
          </a:bodyPr>
          <a:lstStyle/>
          <a:p>
            <a:pPr algn="ctr"/>
            <a:r>
              <a:rPr lang="en-US" sz="1600" b="1" i="0">
                <a:solidFill>
                  <a:srgbClr val="242424"/>
                </a:solidFill>
                <a:effectLst/>
              </a:rPr>
              <a:t>Definition of Ready (DoR)</a:t>
            </a:r>
          </a:p>
          <a:p>
            <a:pPr algn="ctr"/>
            <a:endParaRPr lang="en-US" sz="600" b="1" i="0">
              <a:solidFill>
                <a:srgbClr val="242424"/>
              </a:solidFill>
              <a:effectLst/>
            </a:endParaRPr>
          </a:p>
          <a:p>
            <a:pPr algn="ctr"/>
            <a:r>
              <a:rPr lang="en-US" sz="1400" b="0" i="0">
                <a:solidFill>
                  <a:srgbClr val="242424"/>
                </a:solidFill>
                <a:effectLst/>
              </a:rPr>
              <a:t>The criteria of a product backlog item (i.e. story of feature) has to meet </a:t>
            </a:r>
            <a:r>
              <a:rPr lang="en-US" sz="1400" b="1" i="0">
                <a:solidFill>
                  <a:srgbClr val="242424"/>
                </a:solidFill>
                <a:effectLst/>
              </a:rPr>
              <a:t>before the team can start implementing it</a:t>
            </a:r>
            <a:r>
              <a:rPr lang="en-US" sz="1400" b="0" i="0">
                <a:solidFill>
                  <a:srgbClr val="242424"/>
                </a:solidFill>
                <a:effectLst/>
              </a:rPr>
              <a:t> in the next sprint.</a:t>
            </a:r>
          </a:p>
          <a:p>
            <a:pPr algn="l"/>
            <a:endParaRPr lang="en-US" sz="1600" b="1" i="0">
              <a:solidFill>
                <a:srgbClr val="242424"/>
              </a:solidFill>
              <a:effectLst/>
            </a:endParaRPr>
          </a:p>
        </p:txBody>
      </p:sp>
      <p:sp>
        <p:nvSpPr>
          <p:cNvPr id="30" name="TextBox 29">
            <a:extLst>
              <a:ext uri="{FF2B5EF4-FFF2-40B4-BE49-F238E27FC236}">
                <a16:creationId xmlns:a16="http://schemas.microsoft.com/office/drawing/2014/main" id="{C65F5E06-1879-F55C-8462-0D904C7738DB}"/>
              </a:ext>
            </a:extLst>
          </p:cNvPr>
          <p:cNvSpPr txBox="1"/>
          <p:nvPr/>
        </p:nvSpPr>
        <p:spPr>
          <a:xfrm>
            <a:off x="6355297" y="3999753"/>
            <a:ext cx="4383649" cy="1308050"/>
          </a:xfrm>
          <a:prstGeom prst="rect">
            <a:avLst/>
          </a:prstGeom>
          <a:noFill/>
        </p:spPr>
        <p:txBody>
          <a:bodyPr wrap="square">
            <a:spAutoFit/>
          </a:bodyPr>
          <a:lstStyle/>
          <a:p>
            <a:pPr algn="ctr"/>
            <a:r>
              <a:rPr lang="en-US" sz="1600" b="1" i="0">
                <a:solidFill>
                  <a:srgbClr val="242424"/>
                </a:solidFill>
                <a:effectLst/>
              </a:rPr>
              <a:t>Definition of Done (DoD)</a:t>
            </a:r>
          </a:p>
          <a:p>
            <a:pPr algn="l"/>
            <a:endParaRPr lang="en-US" sz="700" b="1" i="0">
              <a:solidFill>
                <a:srgbClr val="242424"/>
              </a:solidFill>
              <a:effectLst/>
            </a:endParaRPr>
          </a:p>
          <a:p>
            <a:pPr algn="ctr"/>
            <a:r>
              <a:rPr lang="en-US" sz="1400" b="0" i="0">
                <a:solidFill>
                  <a:srgbClr val="242424"/>
                </a:solidFill>
                <a:effectLst/>
              </a:rPr>
              <a:t>An agreement between the development team and the product owner on what needs to be completed for each product backlog item, the </a:t>
            </a:r>
            <a:r>
              <a:rPr lang="en-US" sz="1400" b="1" i="0">
                <a:solidFill>
                  <a:srgbClr val="242424"/>
                </a:solidFill>
                <a:effectLst/>
              </a:rPr>
              <a:t>acceptance criteria for a sprint or release</a:t>
            </a:r>
          </a:p>
        </p:txBody>
      </p:sp>
      <p:sp>
        <p:nvSpPr>
          <p:cNvPr id="3" name="Title 3">
            <a:extLst>
              <a:ext uri="{FF2B5EF4-FFF2-40B4-BE49-F238E27FC236}">
                <a16:creationId xmlns:a16="http://schemas.microsoft.com/office/drawing/2014/main" id="{D18FF93B-B37C-2846-5FE4-D584628126E4}"/>
              </a:ext>
            </a:extLst>
          </p:cNvPr>
          <p:cNvSpPr txBox="1">
            <a:spLocks/>
          </p:cNvSpPr>
          <p:nvPr/>
        </p:nvSpPr>
        <p:spPr>
          <a:xfrm>
            <a:off x="184150" y="284162"/>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r>
              <a:rPr lang="en-US" sz="2800" cap="none">
                <a:solidFill>
                  <a:schemeClr val="tx1"/>
                </a:solidFill>
              </a:rPr>
              <a:t>Definition of READY &amp; Definition of DONE</a:t>
            </a:r>
          </a:p>
        </p:txBody>
      </p:sp>
      <p:sp>
        <p:nvSpPr>
          <p:cNvPr id="2" name="TextBox 1">
            <a:extLst>
              <a:ext uri="{FF2B5EF4-FFF2-40B4-BE49-F238E27FC236}">
                <a16:creationId xmlns:a16="http://schemas.microsoft.com/office/drawing/2014/main" id="{A9992F97-C7BD-2FB8-1157-06FE78B743ED}"/>
              </a:ext>
            </a:extLst>
          </p:cNvPr>
          <p:cNvSpPr txBox="1"/>
          <p:nvPr/>
        </p:nvSpPr>
        <p:spPr>
          <a:xfrm>
            <a:off x="3421116" y="6389172"/>
            <a:ext cx="5454869" cy="369332"/>
          </a:xfrm>
          <a:prstGeom prst="rect">
            <a:avLst/>
          </a:prstGeom>
          <a:noFill/>
        </p:spPr>
        <p:txBody>
          <a:bodyPr wrap="square" rtlCol="0">
            <a:spAutoFit/>
          </a:bodyPr>
          <a:lstStyle/>
          <a:p>
            <a:r>
              <a:rPr lang="en-GB" sz="1000" b="1"/>
              <a:t>** Pl refer to Beazley GPAS and Billing Ways of Working presentation for more details</a:t>
            </a:r>
            <a:r>
              <a:rPr lang="en-GB"/>
              <a:t> </a:t>
            </a:r>
            <a:endParaRPr lang="en-US"/>
          </a:p>
        </p:txBody>
      </p:sp>
    </p:spTree>
    <p:extLst>
      <p:ext uri="{BB962C8B-B14F-4D97-AF65-F5344CB8AC3E}">
        <p14:creationId xmlns:p14="http://schemas.microsoft.com/office/powerpoint/2010/main" val="18915586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12ADF75B-A2AF-EC54-F144-3F275EC83A2C}"/>
              </a:ext>
            </a:extLst>
          </p:cNvPr>
          <p:cNvGrpSpPr/>
          <p:nvPr/>
        </p:nvGrpSpPr>
        <p:grpSpPr>
          <a:xfrm>
            <a:off x="12338" y="0"/>
            <a:ext cx="12297100" cy="6858000"/>
            <a:chOff x="0" y="0"/>
            <a:chExt cx="12297100" cy="6858000"/>
          </a:xfrm>
        </p:grpSpPr>
        <p:sp>
          <p:nvSpPr>
            <p:cNvPr id="47" name="Freeform: Shape 45">
              <a:extLst>
                <a:ext uri="{FF2B5EF4-FFF2-40B4-BE49-F238E27FC236}">
                  <a16:creationId xmlns:a16="http://schemas.microsoft.com/office/drawing/2014/main" id="{F462E875-B85B-4F81-842E-C7A4B444826C}"/>
                </a:ext>
              </a:extLst>
            </p:cNvPr>
            <p:cNvSpPr/>
            <p:nvPr/>
          </p:nvSpPr>
          <p:spPr>
            <a:xfrm flipV="1">
              <a:off x="4206046" y="0"/>
              <a:ext cx="8091054" cy="6858000"/>
            </a:xfrm>
            <a:custGeom>
              <a:avLst/>
              <a:gdLst>
                <a:gd name="connsiteX0" fmla="*/ 3699163 w 8091054"/>
                <a:gd name="connsiteY0" fmla="*/ 0 h 6858000"/>
                <a:gd name="connsiteX1" fmla="*/ 8091054 w 8091054"/>
                <a:gd name="connsiteY1" fmla="*/ 0 h 6858000"/>
                <a:gd name="connsiteX2" fmla="*/ 8091054 w 8091054"/>
                <a:gd name="connsiteY2" fmla="*/ 6858000 h 6858000"/>
                <a:gd name="connsiteX3" fmla="*/ 3699163 w 8091054"/>
                <a:gd name="connsiteY3" fmla="*/ 6858000 h 6858000"/>
                <a:gd name="connsiteX4" fmla="*/ 3699162 w 8091054"/>
                <a:gd name="connsiteY4" fmla="*/ 0 h 6858000"/>
                <a:gd name="connsiteX5" fmla="*/ 3699162 w 8091054"/>
                <a:gd name="connsiteY5" fmla="*/ 6858000 h 6858000"/>
                <a:gd name="connsiteX6" fmla="*/ 0 w 80910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91054" h="6858000">
                  <a:moveTo>
                    <a:pt x="3699163" y="0"/>
                  </a:moveTo>
                  <a:lnTo>
                    <a:pt x="8091054" y="0"/>
                  </a:lnTo>
                  <a:lnTo>
                    <a:pt x="8091054" y="6858000"/>
                  </a:lnTo>
                  <a:lnTo>
                    <a:pt x="3699163" y="6858000"/>
                  </a:lnTo>
                  <a:close/>
                  <a:moveTo>
                    <a:pt x="3699162" y="0"/>
                  </a:moveTo>
                  <a:lnTo>
                    <a:pt x="3699162" y="6858000"/>
                  </a:lnTo>
                  <a:lnTo>
                    <a:pt x="0" y="685800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0" tIns="45720" rIns="72000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endParaRPr>
            </a:p>
          </p:txBody>
        </p:sp>
        <p:sp>
          <p:nvSpPr>
            <p:cNvPr id="46" name="Freeform: Shape 45">
              <a:extLst>
                <a:ext uri="{FF2B5EF4-FFF2-40B4-BE49-F238E27FC236}">
                  <a16:creationId xmlns:a16="http://schemas.microsoft.com/office/drawing/2014/main" id="{F462E875-B85B-4F81-842E-C7A4B444826C}"/>
                </a:ext>
              </a:extLst>
            </p:cNvPr>
            <p:cNvSpPr/>
            <p:nvPr/>
          </p:nvSpPr>
          <p:spPr>
            <a:xfrm rot="10800000" flipV="1">
              <a:off x="0" y="0"/>
              <a:ext cx="8091054" cy="6858000"/>
            </a:xfrm>
            <a:custGeom>
              <a:avLst/>
              <a:gdLst>
                <a:gd name="connsiteX0" fmla="*/ 3699163 w 8091054"/>
                <a:gd name="connsiteY0" fmla="*/ 0 h 6858000"/>
                <a:gd name="connsiteX1" fmla="*/ 8091054 w 8091054"/>
                <a:gd name="connsiteY1" fmla="*/ 0 h 6858000"/>
                <a:gd name="connsiteX2" fmla="*/ 8091054 w 8091054"/>
                <a:gd name="connsiteY2" fmla="*/ 6858000 h 6858000"/>
                <a:gd name="connsiteX3" fmla="*/ 3699163 w 8091054"/>
                <a:gd name="connsiteY3" fmla="*/ 6858000 h 6858000"/>
                <a:gd name="connsiteX4" fmla="*/ 3699162 w 8091054"/>
                <a:gd name="connsiteY4" fmla="*/ 0 h 6858000"/>
                <a:gd name="connsiteX5" fmla="*/ 3699162 w 8091054"/>
                <a:gd name="connsiteY5" fmla="*/ 6858000 h 6858000"/>
                <a:gd name="connsiteX6" fmla="*/ 0 w 80910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91054" h="6858000">
                  <a:moveTo>
                    <a:pt x="3699163" y="0"/>
                  </a:moveTo>
                  <a:lnTo>
                    <a:pt x="8091054" y="0"/>
                  </a:lnTo>
                  <a:lnTo>
                    <a:pt x="8091054" y="6858000"/>
                  </a:lnTo>
                  <a:lnTo>
                    <a:pt x="3699163" y="6858000"/>
                  </a:lnTo>
                  <a:close/>
                  <a:moveTo>
                    <a:pt x="3699162" y="0"/>
                  </a:moveTo>
                  <a:lnTo>
                    <a:pt x="3699162" y="6858000"/>
                  </a:lnTo>
                  <a:lnTo>
                    <a:pt x="0" y="6858000"/>
                  </a:lnTo>
                  <a:close/>
                </a:path>
              </a:pathLst>
            </a:cu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0" tIns="45720" rIns="72000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endParaRPr>
            </a:p>
          </p:txBody>
        </p:sp>
      </p:grpSp>
      <p:sp>
        <p:nvSpPr>
          <p:cNvPr id="59" name="Oval 58"/>
          <p:cNvSpPr>
            <a:spLocks noChangeAspect="1"/>
          </p:cNvSpPr>
          <p:nvPr/>
        </p:nvSpPr>
        <p:spPr>
          <a:xfrm flipH="1">
            <a:off x="6425308" y="2251244"/>
            <a:ext cx="965292" cy="965292"/>
          </a:xfrm>
          <a:prstGeom prst="ellipse">
            <a:avLst/>
          </a:prstGeom>
          <a:solidFill>
            <a:schemeClr val="accent4"/>
          </a:solidFill>
          <a:ln>
            <a:solidFill>
              <a:schemeClr val="l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0" name="TextBox 59"/>
          <p:cNvSpPr txBox="1"/>
          <p:nvPr/>
        </p:nvSpPr>
        <p:spPr>
          <a:xfrm flipH="1">
            <a:off x="7582249" y="2503058"/>
            <a:ext cx="3515056" cy="461665"/>
          </a:xfrm>
          <a:prstGeom prst="rect">
            <a:avLst/>
          </a:prstGeom>
          <a:noFill/>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GB" sz="2400" b="1" kern="0">
                <a:solidFill>
                  <a:schemeClr val="lt1"/>
                </a:solidFill>
                <a:latin typeface="+mj-lt"/>
              </a:rPr>
              <a:t>A ‘Day in a life’</a:t>
            </a:r>
            <a:endParaRPr kumimoji="0" lang="en-US" sz="2400" b="1" i="0" u="none" strike="noStrike" kern="0" cap="none" spc="0" normalizeH="0" baseline="0" noProof="0">
              <a:ln>
                <a:noFill/>
              </a:ln>
              <a:solidFill>
                <a:schemeClr val="lt1"/>
              </a:solidFill>
              <a:effectLst/>
              <a:uLnTx/>
              <a:uFillTx/>
              <a:latin typeface="+mj-lt"/>
            </a:endParaRPr>
          </a:p>
        </p:txBody>
      </p:sp>
      <p:grpSp>
        <p:nvGrpSpPr>
          <p:cNvPr id="2" name="Sun2" descr="{&quot;Key&quot;:&quot;POWER_USER_SHAPE_ICON&quot;,&quot;Value&quot;:&quot;POWER_USER_SHAPE_ICON_STYLE_1&quot;}">
            <a:extLst>
              <a:ext uri="{FF2B5EF4-FFF2-40B4-BE49-F238E27FC236}">
                <a16:creationId xmlns:a16="http://schemas.microsoft.com/office/drawing/2014/main" id="{3E04E3BE-3DE8-08E3-45F0-5EBE5B1FE6EF}"/>
              </a:ext>
            </a:extLst>
          </p:cNvPr>
          <p:cNvGrpSpPr>
            <a:grpSpLocks noChangeAspect="1"/>
          </p:cNvGrpSpPr>
          <p:nvPr/>
        </p:nvGrpSpPr>
        <p:grpSpPr>
          <a:xfrm>
            <a:off x="6521127" y="2339397"/>
            <a:ext cx="755902" cy="736600"/>
            <a:chOff x="3187700" y="2828926"/>
            <a:chExt cx="373063" cy="363537"/>
          </a:xfrm>
          <a:solidFill>
            <a:schemeClr val="bg1"/>
          </a:solidFill>
        </p:grpSpPr>
        <p:sp>
          <p:nvSpPr>
            <p:cNvPr id="3" name="Freeform 1251">
              <a:extLst>
                <a:ext uri="{FF2B5EF4-FFF2-40B4-BE49-F238E27FC236}">
                  <a16:creationId xmlns:a16="http://schemas.microsoft.com/office/drawing/2014/main" id="{68F3013E-51CF-3511-3980-A9F92FBC4B37}"/>
                </a:ext>
              </a:extLst>
            </p:cNvPr>
            <p:cNvSpPr>
              <a:spLocks/>
            </p:cNvSpPr>
            <p:nvPr/>
          </p:nvSpPr>
          <p:spPr bwMode="auto">
            <a:xfrm>
              <a:off x="3322638" y="2832101"/>
              <a:ext cx="30163" cy="66675"/>
            </a:xfrm>
            <a:custGeom>
              <a:avLst/>
              <a:gdLst>
                <a:gd name="T0" fmla="*/ 218 w 292"/>
                <a:gd name="T1" fmla="*/ 672 h 672"/>
                <a:gd name="T2" fmla="*/ 154 w 292"/>
                <a:gd name="T3" fmla="*/ 623 h 672"/>
                <a:gd name="T4" fmla="*/ 9 w 292"/>
                <a:gd name="T5" fmla="*/ 92 h 672"/>
                <a:gd name="T6" fmla="*/ 56 w 292"/>
                <a:gd name="T7" fmla="*/ 10 h 672"/>
                <a:gd name="T8" fmla="*/ 138 w 292"/>
                <a:gd name="T9" fmla="*/ 57 h 672"/>
                <a:gd name="T10" fmla="*/ 283 w 292"/>
                <a:gd name="T11" fmla="*/ 587 h 672"/>
                <a:gd name="T12" fmla="*/ 236 w 292"/>
                <a:gd name="T13" fmla="*/ 669 h 672"/>
                <a:gd name="T14" fmla="*/ 218 w 292"/>
                <a:gd name="T15" fmla="*/ 672 h 6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2" h="672">
                  <a:moveTo>
                    <a:pt x="218" y="672"/>
                  </a:moveTo>
                  <a:cubicBezTo>
                    <a:pt x="189" y="672"/>
                    <a:pt x="162" y="652"/>
                    <a:pt x="154" y="623"/>
                  </a:cubicBezTo>
                  <a:lnTo>
                    <a:pt x="9" y="92"/>
                  </a:lnTo>
                  <a:cubicBezTo>
                    <a:pt x="0" y="56"/>
                    <a:pt x="21" y="20"/>
                    <a:pt x="56" y="10"/>
                  </a:cubicBezTo>
                  <a:cubicBezTo>
                    <a:pt x="92" y="0"/>
                    <a:pt x="128" y="21"/>
                    <a:pt x="138" y="57"/>
                  </a:cubicBezTo>
                  <a:lnTo>
                    <a:pt x="283" y="587"/>
                  </a:lnTo>
                  <a:cubicBezTo>
                    <a:pt x="292" y="623"/>
                    <a:pt x="271" y="660"/>
                    <a:pt x="236" y="669"/>
                  </a:cubicBezTo>
                  <a:cubicBezTo>
                    <a:pt x="230" y="671"/>
                    <a:pt x="224" y="672"/>
                    <a:pt x="218" y="672"/>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Freeform 1252">
              <a:extLst>
                <a:ext uri="{FF2B5EF4-FFF2-40B4-BE49-F238E27FC236}">
                  <a16:creationId xmlns:a16="http://schemas.microsoft.com/office/drawing/2014/main" id="{A5850EF2-6759-69CF-87EE-75F66FEABCF4}"/>
                </a:ext>
              </a:extLst>
            </p:cNvPr>
            <p:cNvSpPr>
              <a:spLocks/>
            </p:cNvSpPr>
            <p:nvPr/>
          </p:nvSpPr>
          <p:spPr bwMode="auto">
            <a:xfrm>
              <a:off x="3387725" y="2828926"/>
              <a:ext cx="22225" cy="66675"/>
            </a:xfrm>
            <a:custGeom>
              <a:avLst/>
              <a:gdLst>
                <a:gd name="T0" fmla="*/ 71 w 218"/>
                <a:gd name="T1" fmla="*/ 663 h 663"/>
                <a:gd name="T2" fmla="*/ 62 w 218"/>
                <a:gd name="T3" fmla="*/ 663 h 663"/>
                <a:gd name="T4" fmla="*/ 5 w 218"/>
                <a:gd name="T5" fmla="*/ 587 h 663"/>
                <a:gd name="T6" fmla="*/ 81 w 218"/>
                <a:gd name="T7" fmla="*/ 61 h 663"/>
                <a:gd name="T8" fmla="*/ 156 w 218"/>
                <a:gd name="T9" fmla="*/ 5 h 663"/>
                <a:gd name="T10" fmla="*/ 213 w 218"/>
                <a:gd name="T11" fmla="*/ 80 h 663"/>
                <a:gd name="T12" fmla="*/ 137 w 218"/>
                <a:gd name="T13" fmla="*/ 606 h 663"/>
                <a:gd name="T14" fmla="*/ 71 w 218"/>
                <a:gd name="T15" fmla="*/ 663 h 6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8" h="663">
                  <a:moveTo>
                    <a:pt x="71" y="663"/>
                  </a:moveTo>
                  <a:cubicBezTo>
                    <a:pt x="68" y="663"/>
                    <a:pt x="65" y="663"/>
                    <a:pt x="62" y="663"/>
                  </a:cubicBezTo>
                  <a:cubicBezTo>
                    <a:pt x="25" y="657"/>
                    <a:pt x="0" y="623"/>
                    <a:pt x="5" y="587"/>
                  </a:cubicBezTo>
                  <a:lnTo>
                    <a:pt x="81" y="61"/>
                  </a:lnTo>
                  <a:cubicBezTo>
                    <a:pt x="86" y="25"/>
                    <a:pt x="120" y="0"/>
                    <a:pt x="156" y="5"/>
                  </a:cubicBezTo>
                  <a:cubicBezTo>
                    <a:pt x="193" y="10"/>
                    <a:pt x="218" y="44"/>
                    <a:pt x="213" y="80"/>
                  </a:cubicBezTo>
                  <a:lnTo>
                    <a:pt x="137" y="606"/>
                  </a:lnTo>
                  <a:cubicBezTo>
                    <a:pt x="132" y="639"/>
                    <a:pt x="104" y="663"/>
                    <a:pt x="71" y="663"/>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1253">
              <a:extLst>
                <a:ext uri="{FF2B5EF4-FFF2-40B4-BE49-F238E27FC236}">
                  <a16:creationId xmlns:a16="http://schemas.microsoft.com/office/drawing/2014/main" id="{D97D5C7F-6973-D4E6-E997-EF58E358CFED}"/>
                </a:ext>
              </a:extLst>
            </p:cNvPr>
            <p:cNvSpPr>
              <a:spLocks/>
            </p:cNvSpPr>
            <p:nvPr/>
          </p:nvSpPr>
          <p:spPr bwMode="auto">
            <a:xfrm>
              <a:off x="3438525" y="2852738"/>
              <a:ext cx="41275" cy="58738"/>
            </a:xfrm>
            <a:custGeom>
              <a:avLst/>
              <a:gdLst>
                <a:gd name="T0" fmla="*/ 76 w 394"/>
                <a:gd name="T1" fmla="*/ 577 h 577"/>
                <a:gd name="T2" fmla="*/ 44 w 394"/>
                <a:gd name="T3" fmla="*/ 569 h 577"/>
                <a:gd name="T4" fmla="*/ 18 w 394"/>
                <a:gd name="T5" fmla="*/ 478 h 577"/>
                <a:gd name="T6" fmla="*/ 259 w 394"/>
                <a:gd name="T7" fmla="*/ 44 h 577"/>
                <a:gd name="T8" fmla="*/ 350 w 394"/>
                <a:gd name="T9" fmla="*/ 18 h 577"/>
                <a:gd name="T10" fmla="*/ 376 w 394"/>
                <a:gd name="T11" fmla="*/ 109 h 577"/>
                <a:gd name="T12" fmla="*/ 135 w 394"/>
                <a:gd name="T13" fmla="*/ 543 h 577"/>
                <a:gd name="T14" fmla="*/ 76 w 394"/>
                <a:gd name="T15" fmla="*/ 577 h 5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4" h="577">
                  <a:moveTo>
                    <a:pt x="76" y="577"/>
                  </a:moveTo>
                  <a:cubicBezTo>
                    <a:pt x="65" y="577"/>
                    <a:pt x="54" y="574"/>
                    <a:pt x="44" y="569"/>
                  </a:cubicBezTo>
                  <a:cubicBezTo>
                    <a:pt x="12" y="551"/>
                    <a:pt x="0" y="510"/>
                    <a:pt x="18" y="478"/>
                  </a:cubicBezTo>
                  <a:lnTo>
                    <a:pt x="259" y="44"/>
                  </a:lnTo>
                  <a:cubicBezTo>
                    <a:pt x="277" y="12"/>
                    <a:pt x="318" y="0"/>
                    <a:pt x="350" y="18"/>
                  </a:cubicBezTo>
                  <a:cubicBezTo>
                    <a:pt x="382" y="36"/>
                    <a:pt x="394" y="77"/>
                    <a:pt x="376" y="109"/>
                  </a:cubicBezTo>
                  <a:lnTo>
                    <a:pt x="135" y="543"/>
                  </a:lnTo>
                  <a:cubicBezTo>
                    <a:pt x="122" y="565"/>
                    <a:pt x="100" y="577"/>
                    <a:pt x="76" y="577"/>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Freeform 1254">
              <a:extLst>
                <a:ext uri="{FF2B5EF4-FFF2-40B4-BE49-F238E27FC236}">
                  <a16:creationId xmlns:a16="http://schemas.microsoft.com/office/drawing/2014/main" id="{D1813B9D-84A4-BF0D-B134-712E7F6B590C}"/>
                </a:ext>
              </a:extLst>
            </p:cNvPr>
            <p:cNvSpPr>
              <a:spLocks/>
            </p:cNvSpPr>
            <p:nvPr/>
          </p:nvSpPr>
          <p:spPr bwMode="auto">
            <a:xfrm>
              <a:off x="3470275" y="2903538"/>
              <a:ext cx="65088" cy="44450"/>
            </a:xfrm>
            <a:custGeom>
              <a:avLst/>
              <a:gdLst>
                <a:gd name="T0" fmla="*/ 77 w 655"/>
                <a:gd name="T1" fmla="*/ 438 h 438"/>
                <a:gd name="T2" fmla="*/ 19 w 655"/>
                <a:gd name="T3" fmla="*/ 405 h 438"/>
                <a:gd name="T4" fmla="*/ 43 w 655"/>
                <a:gd name="T5" fmla="*/ 314 h 438"/>
                <a:gd name="T6" fmla="*/ 545 w 655"/>
                <a:gd name="T7" fmla="*/ 19 h 438"/>
                <a:gd name="T8" fmla="*/ 637 w 655"/>
                <a:gd name="T9" fmla="*/ 42 h 438"/>
                <a:gd name="T10" fmla="*/ 613 w 655"/>
                <a:gd name="T11" fmla="*/ 134 h 438"/>
                <a:gd name="T12" fmla="*/ 110 w 655"/>
                <a:gd name="T13" fmla="*/ 428 h 438"/>
                <a:gd name="T14" fmla="*/ 77 w 655"/>
                <a:gd name="T15" fmla="*/ 438 h 4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55" h="438">
                  <a:moveTo>
                    <a:pt x="77" y="438"/>
                  </a:moveTo>
                  <a:cubicBezTo>
                    <a:pt x="54" y="438"/>
                    <a:pt x="31" y="426"/>
                    <a:pt x="19" y="405"/>
                  </a:cubicBezTo>
                  <a:cubicBezTo>
                    <a:pt x="0" y="373"/>
                    <a:pt x="11" y="332"/>
                    <a:pt x="43" y="314"/>
                  </a:cubicBezTo>
                  <a:lnTo>
                    <a:pt x="545" y="19"/>
                  </a:lnTo>
                  <a:cubicBezTo>
                    <a:pt x="577" y="0"/>
                    <a:pt x="618" y="11"/>
                    <a:pt x="637" y="42"/>
                  </a:cubicBezTo>
                  <a:cubicBezTo>
                    <a:pt x="655" y="74"/>
                    <a:pt x="645" y="115"/>
                    <a:pt x="613" y="134"/>
                  </a:cubicBezTo>
                  <a:lnTo>
                    <a:pt x="110" y="428"/>
                  </a:lnTo>
                  <a:cubicBezTo>
                    <a:pt x="100" y="435"/>
                    <a:pt x="88" y="438"/>
                    <a:pt x="77" y="438"/>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Freeform 1255">
              <a:extLst>
                <a:ext uri="{FF2B5EF4-FFF2-40B4-BE49-F238E27FC236}">
                  <a16:creationId xmlns:a16="http://schemas.microsoft.com/office/drawing/2014/main" id="{1AE151CD-3C37-B9C7-2CA5-C5E956B0C315}"/>
                </a:ext>
              </a:extLst>
            </p:cNvPr>
            <p:cNvSpPr>
              <a:spLocks/>
            </p:cNvSpPr>
            <p:nvPr/>
          </p:nvSpPr>
          <p:spPr bwMode="auto">
            <a:xfrm>
              <a:off x="3489325" y="2981326"/>
              <a:ext cx="71438" cy="20638"/>
            </a:xfrm>
            <a:custGeom>
              <a:avLst/>
              <a:gdLst>
                <a:gd name="T0" fmla="*/ 71 w 720"/>
                <a:gd name="T1" fmla="*/ 207 h 207"/>
                <a:gd name="T2" fmla="*/ 4 w 720"/>
                <a:gd name="T3" fmla="*/ 148 h 207"/>
                <a:gd name="T4" fmla="*/ 63 w 720"/>
                <a:gd name="T5" fmla="*/ 74 h 207"/>
                <a:gd name="T6" fmla="*/ 641 w 720"/>
                <a:gd name="T7" fmla="*/ 5 h 207"/>
                <a:gd name="T8" fmla="*/ 715 w 720"/>
                <a:gd name="T9" fmla="*/ 63 h 207"/>
                <a:gd name="T10" fmla="*/ 657 w 720"/>
                <a:gd name="T11" fmla="*/ 137 h 207"/>
                <a:gd name="T12" fmla="*/ 79 w 720"/>
                <a:gd name="T13" fmla="*/ 207 h 207"/>
                <a:gd name="T14" fmla="*/ 71 w 720"/>
                <a:gd name="T15" fmla="*/ 207 h 20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0" h="207">
                  <a:moveTo>
                    <a:pt x="71" y="207"/>
                  </a:moveTo>
                  <a:cubicBezTo>
                    <a:pt x="37" y="207"/>
                    <a:pt x="9" y="182"/>
                    <a:pt x="4" y="148"/>
                  </a:cubicBezTo>
                  <a:cubicBezTo>
                    <a:pt x="0" y="112"/>
                    <a:pt x="26" y="79"/>
                    <a:pt x="63" y="74"/>
                  </a:cubicBezTo>
                  <a:lnTo>
                    <a:pt x="641" y="5"/>
                  </a:lnTo>
                  <a:cubicBezTo>
                    <a:pt x="678" y="0"/>
                    <a:pt x="711" y="26"/>
                    <a:pt x="715" y="63"/>
                  </a:cubicBezTo>
                  <a:cubicBezTo>
                    <a:pt x="720" y="99"/>
                    <a:pt x="694" y="133"/>
                    <a:pt x="657" y="137"/>
                  </a:cubicBezTo>
                  <a:lnTo>
                    <a:pt x="79" y="207"/>
                  </a:lnTo>
                  <a:cubicBezTo>
                    <a:pt x="76" y="207"/>
                    <a:pt x="73" y="207"/>
                    <a:pt x="71" y="207"/>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1256">
              <a:extLst>
                <a:ext uri="{FF2B5EF4-FFF2-40B4-BE49-F238E27FC236}">
                  <a16:creationId xmlns:a16="http://schemas.microsoft.com/office/drawing/2014/main" id="{F8684E12-906F-5C55-B586-4AFC57E05953}"/>
                </a:ext>
              </a:extLst>
            </p:cNvPr>
            <p:cNvSpPr>
              <a:spLocks/>
            </p:cNvSpPr>
            <p:nvPr/>
          </p:nvSpPr>
          <p:spPr bwMode="auto">
            <a:xfrm>
              <a:off x="3486150" y="3041651"/>
              <a:ext cx="68263" cy="28575"/>
            </a:xfrm>
            <a:custGeom>
              <a:avLst/>
              <a:gdLst>
                <a:gd name="T0" fmla="*/ 605 w 679"/>
                <a:gd name="T1" fmla="*/ 285 h 285"/>
                <a:gd name="T2" fmla="*/ 587 w 679"/>
                <a:gd name="T3" fmla="*/ 283 h 285"/>
                <a:gd name="T4" fmla="*/ 57 w 679"/>
                <a:gd name="T5" fmla="*/ 138 h 285"/>
                <a:gd name="T6" fmla="*/ 10 w 679"/>
                <a:gd name="T7" fmla="*/ 57 h 285"/>
                <a:gd name="T8" fmla="*/ 92 w 679"/>
                <a:gd name="T9" fmla="*/ 10 h 285"/>
                <a:gd name="T10" fmla="*/ 623 w 679"/>
                <a:gd name="T11" fmla="*/ 154 h 285"/>
                <a:gd name="T12" fmla="*/ 669 w 679"/>
                <a:gd name="T13" fmla="*/ 236 h 285"/>
                <a:gd name="T14" fmla="*/ 605 w 679"/>
                <a:gd name="T15" fmla="*/ 285 h 2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9" h="285">
                  <a:moveTo>
                    <a:pt x="605" y="285"/>
                  </a:moveTo>
                  <a:cubicBezTo>
                    <a:pt x="599" y="285"/>
                    <a:pt x="593" y="285"/>
                    <a:pt x="587" y="283"/>
                  </a:cubicBezTo>
                  <a:lnTo>
                    <a:pt x="57" y="138"/>
                  </a:lnTo>
                  <a:cubicBezTo>
                    <a:pt x="21" y="129"/>
                    <a:pt x="0" y="92"/>
                    <a:pt x="10" y="57"/>
                  </a:cubicBezTo>
                  <a:cubicBezTo>
                    <a:pt x="20" y="21"/>
                    <a:pt x="57" y="0"/>
                    <a:pt x="92" y="10"/>
                  </a:cubicBezTo>
                  <a:lnTo>
                    <a:pt x="623" y="154"/>
                  </a:lnTo>
                  <a:cubicBezTo>
                    <a:pt x="658" y="164"/>
                    <a:pt x="679" y="201"/>
                    <a:pt x="669" y="236"/>
                  </a:cubicBezTo>
                  <a:cubicBezTo>
                    <a:pt x="661" y="266"/>
                    <a:pt x="634" y="285"/>
                    <a:pt x="605" y="285"/>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Freeform 1257">
              <a:extLst>
                <a:ext uri="{FF2B5EF4-FFF2-40B4-BE49-F238E27FC236}">
                  <a16:creationId xmlns:a16="http://schemas.microsoft.com/office/drawing/2014/main" id="{C7CDBA90-9E91-C89C-16B5-2DAE8542E8FE}"/>
                </a:ext>
              </a:extLst>
            </p:cNvPr>
            <p:cNvSpPr>
              <a:spLocks/>
            </p:cNvSpPr>
            <p:nvPr/>
          </p:nvSpPr>
          <p:spPr bwMode="auto">
            <a:xfrm>
              <a:off x="3260725" y="2870201"/>
              <a:ext cx="46038" cy="52388"/>
            </a:xfrm>
            <a:custGeom>
              <a:avLst/>
              <a:gdLst>
                <a:gd name="T0" fmla="*/ 380 w 455"/>
                <a:gd name="T1" fmla="*/ 508 h 508"/>
                <a:gd name="T2" fmla="*/ 329 w 455"/>
                <a:gd name="T3" fmla="*/ 484 h 508"/>
                <a:gd name="T4" fmla="*/ 24 w 455"/>
                <a:gd name="T5" fmla="*/ 117 h 508"/>
                <a:gd name="T6" fmla="*/ 33 w 455"/>
                <a:gd name="T7" fmla="*/ 23 h 508"/>
                <a:gd name="T8" fmla="*/ 126 w 455"/>
                <a:gd name="T9" fmla="*/ 32 h 508"/>
                <a:gd name="T10" fmla="*/ 432 w 455"/>
                <a:gd name="T11" fmla="*/ 399 h 508"/>
                <a:gd name="T12" fmla="*/ 423 w 455"/>
                <a:gd name="T13" fmla="*/ 493 h 508"/>
                <a:gd name="T14" fmla="*/ 380 w 455"/>
                <a:gd name="T15" fmla="*/ 508 h 50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5" h="508">
                  <a:moveTo>
                    <a:pt x="380" y="508"/>
                  </a:moveTo>
                  <a:cubicBezTo>
                    <a:pt x="361" y="508"/>
                    <a:pt x="342" y="500"/>
                    <a:pt x="329" y="484"/>
                  </a:cubicBezTo>
                  <a:lnTo>
                    <a:pt x="24" y="117"/>
                  </a:lnTo>
                  <a:cubicBezTo>
                    <a:pt x="0" y="89"/>
                    <a:pt x="4" y="47"/>
                    <a:pt x="33" y="23"/>
                  </a:cubicBezTo>
                  <a:cubicBezTo>
                    <a:pt x="61" y="0"/>
                    <a:pt x="103" y="3"/>
                    <a:pt x="126" y="32"/>
                  </a:cubicBezTo>
                  <a:lnTo>
                    <a:pt x="432" y="399"/>
                  </a:lnTo>
                  <a:cubicBezTo>
                    <a:pt x="455" y="427"/>
                    <a:pt x="451" y="469"/>
                    <a:pt x="423" y="493"/>
                  </a:cubicBezTo>
                  <a:cubicBezTo>
                    <a:pt x="411" y="503"/>
                    <a:pt x="395" y="508"/>
                    <a:pt x="380" y="508"/>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1258">
              <a:extLst>
                <a:ext uri="{FF2B5EF4-FFF2-40B4-BE49-F238E27FC236}">
                  <a16:creationId xmlns:a16="http://schemas.microsoft.com/office/drawing/2014/main" id="{005CAC04-D1E7-DE0A-CFE2-683C9BB0018C}"/>
                </a:ext>
              </a:extLst>
            </p:cNvPr>
            <p:cNvSpPr>
              <a:spLocks/>
            </p:cNvSpPr>
            <p:nvPr/>
          </p:nvSpPr>
          <p:spPr bwMode="auto">
            <a:xfrm>
              <a:off x="3459163" y="3084513"/>
              <a:ext cx="60325" cy="49213"/>
            </a:xfrm>
            <a:custGeom>
              <a:avLst/>
              <a:gdLst>
                <a:gd name="T0" fmla="*/ 517 w 597"/>
                <a:gd name="T1" fmla="*/ 489 h 489"/>
                <a:gd name="T2" fmla="*/ 36 w 597"/>
                <a:gd name="T3" fmla="*/ 129 h 489"/>
                <a:gd name="T4" fmla="*/ 22 w 597"/>
                <a:gd name="T5" fmla="*/ 36 h 489"/>
                <a:gd name="T6" fmla="*/ 116 w 597"/>
                <a:gd name="T7" fmla="*/ 22 h 489"/>
                <a:gd name="T8" fmla="*/ 597 w 597"/>
                <a:gd name="T9" fmla="*/ 382 h 489"/>
                <a:gd name="T10" fmla="*/ 517 w 597"/>
                <a:gd name="T11" fmla="*/ 489 h 489"/>
              </a:gdLst>
              <a:ahLst/>
              <a:cxnLst>
                <a:cxn ang="0">
                  <a:pos x="T0" y="T1"/>
                </a:cxn>
                <a:cxn ang="0">
                  <a:pos x="T2" y="T3"/>
                </a:cxn>
                <a:cxn ang="0">
                  <a:pos x="T4" y="T5"/>
                </a:cxn>
                <a:cxn ang="0">
                  <a:pos x="T6" y="T7"/>
                </a:cxn>
                <a:cxn ang="0">
                  <a:pos x="T8" y="T9"/>
                </a:cxn>
                <a:cxn ang="0">
                  <a:pos x="T10" y="T11"/>
                </a:cxn>
              </a:cxnLst>
              <a:rect l="0" t="0" r="r" b="b"/>
              <a:pathLst>
                <a:path w="597" h="489">
                  <a:moveTo>
                    <a:pt x="517" y="489"/>
                  </a:moveTo>
                  <a:lnTo>
                    <a:pt x="36" y="129"/>
                  </a:lnTo>
                  <a:cubicBezTo>
                    <a:pt x="6" y="107"/>
                    <a:pt x="0" y="65"/>
                    <a:pt x="22" y="36"/>
                  </a:cubicBezTo>
                  <a:cubicBezTo>
                    <a:pt x="44" y="6"/>
                    <a:pt x="86" y="0"/>
                    <a:pt x="116" y="22"/>
                  </a:cubicBezTo>
                  <a:lnTo>
                    <a:pt x="597" y="382"/>
                  </a:lnTo>
                  <a:lnTo>
                    <a:pt x="517" y="489"/>
                  </a:ln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Freeform 1259">
              <a:extLst>
                <a:ext uri="{FF2B5EF4-FFF2-40B4-BE49-F238E27FC236}">
                  <a16:creationId xmlns:a16="http://schemas.microsoft.com/office/drawing/2014/main" id="{D129F16B-5738-4095-BEF6-0C62FAF03242}"/>
                </a:ext>
              </a:extLst>
            </p:cNvPr>
            <p:cNvSpPr>
              <a:spLocks/>
            </p:cNvSpPr>
            <p:nvPr/>
          </p:nvSpPr>
          <p:spPr bwMode="auto">
            <a:xfrm>
              <a:off x="3421063" y="3114676"/>
              <a:ext cx="39688" cy="61913"/>
            </a:xfrm>
            <a:custGeom>
              <a:avLst/>
              <a:gdLst>
                <a:gd name="T0" fmla="*/ 309 w 385"/>
                <a:gd name="T1" fmla="*/ 620 h 620"/>
                <a:gd name="T2" fmla="*/ 249 w 385"/>
                <a:gd name="T3" fmla="*/ 583 h 620"/>
                <a:gd name="T4" fmla="*/ 16 w 385"/>
                <a:gd name="T5" fmla="*/ 105 h 620"/>
                <a:gd name="T6" fmla="*/ 47 w 385"/>
                <a:gd name="T7" fmla="*/ 16 h 620"/>
                <a:gd name="T8" fmla="*/ 136 w 385"/>
                <a:gd name="T9" fmla="*/ 47 h 620"/>
                <a:gd name="T10" fmla="*/ 368 w 385"/>
                <a:gd name="T11" fmla="*/ 524 h 620"/>
                <a:gd name="T12" fmla="*/ 338 w 385"/>
                <a:gd name="T13" fmla="*/ 613 h 620"/>
                <a:gd name="T14" fmla="*/ 309 w 385"/>
                <a:gd name="T15" fmla="*/ 620 h 6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5" h="620">
                  <a:moveTo>
                    <a:pt x="309" y="620"/>
                  </a:moveTo>
                  <a:cubicBezTo>
                    <a:pt x="284" y="620"/>
                    <a:pt x="260" y="606"/>
                    <a:pt x="249" y="583"/>
                  </a:cubicBezTo>
                  <a:lnTo>
                    <a:pt x="16" y="105"/>
                  </a:lnTo>
                  <a:cubicBezTo>
                    <a:pt x="0" y="72"/>
                    <a:pt x="14" y="32"/>
                    <a:pt x="47" y="16"/>
                  </a:cubicBezTo>
                  <a:cubicBezTo>
                    <a:pt x="80" y="0"/>
                    <a:pt x="120" y="13"/>
                    <a:pt x="136" y="47"/>
                  </a:cubicBezTo>
                  <a:lnTo>
                    <a:pt x="368" y="524"/>
                  </a:lnTo>
                  <a:cubicBezTo>
                    <a:pt x="385" y="557"/>
                    <a:pt x="371" y="597"/>
                    <a:pt x="338" y="613"/>
                  </a:cubicBezTo>
                  <a:cubicBezTo>
                    <a:pt x="328" y="618"/>
                    <a:pt x="318" y="620"/>
                    <a:pt x="309" y="62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Freeform 1260">
              <a:extLst>
                <a:ext uri="{FF2B5EF4-FFF2-40B4-BE49-F238E27FC236}">
                  <a16:creationId xmlns:a16="http://schemas.microsoft.com/office/drawing/2014/main" id="{2A9B3CC4-0A5D-4B57-88F8-CAF4CDF2261A}"/>
                </a:ext>
              </a:extLst>
            </p:cNvPr>
            <p:cNvSpPr>
              <a:spLocks/>
            </p:cNvSpPr>
            <p:nvPr/>
          </p:nvSpPr>
          <p:spPr bwMode="auto">
            <a:xfrm>
              <a:off x="3371850" y="3128963"/>
              <a:ext cx="14288" cy="63500"/>
            </a:xfrm>
            <a:custGeom>
              <a:avLst/>
              <a:gdLst>
                <a:gd name="T0" fmla="*/ 67 w 140"/>
                <a:gd name="T1" fmla="*/ 630 h 630"/>
                <a:gd name="T2" fmla="*/ 67 w 140"/>
                <a:gd name="T3" fmla="*/ 630 h 630"/>
                <a:gd name="T4" fmla="*/ 1 w 140"/>
                <a:gd name="T5" fmla="*/ 563 h 630"/>
                <a:gd name="T6" fmla="*/ 6 w 140"/>
                <a:gd name="T7" fmla="*/ 66 h 630"/>
                <a:gd name="T8" fmla="*/ 73 w 140"/>
                <a:gd name="T9" fmla="*/ 0 h 630"/>
                <a:gd name="T10" fmla="*/ 139 w 140"/>
                <a:gd name="T11" fmla="*/ 68 h 630"/>
                <a:gd name="T12" fmla="*/ 134 w 140"/>
                <a:gd name="T13" fmla="*/ 564 h 630"/>
                <a:gd name="T14" fmla="*/ 67 w 140"/>
                <a:gd name="T15" fmla="*/ 630 h 6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0" h="630">
                  <a:moveTo>
                    <a:pt x="67" y="630"/>
                  </a:moveTo>
                  <a:lnTo>
                    <a:pt x="67" y="630"/>
                  </a:lnTo>
                  <a:cubicBezTo>
                    <a:pt x="30" y="629"/>
                    <a:pt x="0" y="599"/>
                    <a:pt x="1" y="563"/>
                  </a:cubicBezTo>
                  <a:lnTo>
                    <a:pt x="6" y="66"/>
                  </a:lnTo>
                  <a:cubicBezTo>
                    <a:pt x="6" y="29"/>
                    <a:pt x="37" y="0"/>
                    <a:pt x="73" y="0"/>
                  </a:cubicBezTo>
                  <a:cubicBezTo>
                    <a:pt x="110" y="0"/>
                    <a:pt x="140" y="31"/>
                    <a:pt x="139" y="68"/>
                  </a:cubicBezTo>
                  <a:lnTo>
                    <a:pt x="134" y="564"/>
                  </a:lnTo>
                  <a:cubicBezTo>
                    <a:pt x="134" y="601"/>
                    <a:pt x="104" y="630"/>
                    <a:pt x="67" y="630"/>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261">
              <a:extLst>
                <a:ext uri="{FF2B5EF4-FFF2-40B4-BE49-F238E27FC236}">
                  <a16:creationId xmlns:a16="http://schemas.microsoft.com/office/drawing/2014/main" id="{8C633D42-0755-5920-5381-5BAA42F3AEC1}"/>
                </a:ext>
              </a:extLst>
            </p:cNvPr>
            <p:cNvSpPr>
              <a:spLocks/>
            </p:cNvSpPr>
            <p:nvPr/>
          </p:nvSpPr>
          <p:spPr bwMode="auto">
            <a:xfrm>
              <a:off x="3294063" y="3114676"/>
              <a:ext cx="41275" cy="68263"/>
            </a:xfrm>
            <a:custGeom>
              <a:avLst/>
              <a:gdLst>
                <a:gd name="T0" fmla="*/ 76 w 402"/>
                <a:gd name="T1" fmla="*/ 669 h 669"/>
                <a:gd name="T2" fmla="*/ 47 w 402"/>
                <a:gd name="T3" fmla="*/ 662 h 669"/>
                <a:gd name="T4" fmla="*/ 15 w 402"/>
                <a:gd name="T5" fmla="*/ 574 h 669"/>
                <a:gd name="T6" fmla="*/ 266 w 402"/>
                <a:gd name="T7" fmla="*/ 48 h 669"/>
                <a:gd name="T8" fmla="*/ 355 w 402"/>
                <a:gd name="T9" fmla="*/ 16 h 669"/>
                <a:gd name="T10" fmla="*/ 387 w 402"/>
                <a:gd name="T11" fmla="*/ 105 h 669"/>
                <a:gd name="T12" fmla="*/ 136 w 402"/>
                <a:gd name="T13" fmla="*/ 631 h 669"/>
                <a:gd name="T14" fmla="*/ 76 w 402"/>
                <a:gd name="T15" fmla="*/ 669 h 6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2" h="669">
                  <a:moveTo>
                    <a:pt x="76" y="669"/>
                  </a:moveTo>
                  <a:cubicBezTo>
                    <a:pt x="66" y="669"/>
                    <a:pt x="56" y="667"/>
                    <a:pt x="47" y="662"/>
                  </a:cubicBezTo>
                  <a:cubicBezTo>
                    <a:pt x="14" y="647"/>
                    <a:pt x="0" y="607"/>
                    <a:pt x="15" y="574"/>
                  </a:cubicBezTo>
                  <a:lnTo>
                    <a:pt x="266" y="48"/>
                  </a:lnTo>
                  <a:cubicBezTo>
                    <a:pt x="282" y="14"/>
                    <a:pt x="322" y="0"/>
                    <a:pt x="355" y="16"/>
                  </a:cubicBezTo>
                  <a:cubicBezTo>
                    <a:pt x="388" y="32"/>
                    <a:pt x="402" y="72"/>
                    <a:pt x="387" y="105"/>
                  </a:cubicBezTo>
                  <a:lnTo>
                    <a:pt x="136" y="631"/>
                  </a:lnTo>
                  <a:cubicBezTo>
                    <a:pt x="124" y="655"/>
                    <a:pt x="101" y="669"/>
                    <a:pt x="76" y="669"/>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Freeform 1262">
              <a:extLst>
                <a:ext uri="{FF2B5EF4-FFF2-40B4-BE49-F238E27FC236}">
                  <a16:creationId xmlns:a16="http://schemas.microsoft.com/office/drawing/2014/main" id="{DB7B360E-7815-1A8E-1F56-462482C3033C}"/>
                </a:ext>
              </a:extLst>
            </p:cNvPr>
            <p:cNvSpPr>
              <a:spLocks/>
            </p:cNvSpPr>
            <p:nvPr/>
          </p:nvSpPr>
          <p:spPr bwMode="auto">
            <a:xfrm>
              <a:off x="3232150" y="3082926"/>
              <a:ext cx="60325" cy="52388"/>
            </a:xfrm>
            <a:custGeom>
              <a:avLst/>
              <a:gdLst>
                <a:gd name="T0" fmla="*/ 74 w 589"/>
                <a:gd name="T1" fmla="*/ 524 h 524"/>
                <a:gd name="T2" fmla="*/ 24 w 589"/>
                <a:gd name="T3" fmla="*/ 501 h 524"/>
                <a:gd name="T4" fmla="*/ 31 w 589"/>
                <a:gd name="T5" fmla="*/ 407 h 524"/>
                <a:gd name="T6" fmla="*/ 471 w 589"/>
                <a:gd name="T7" fmla="*/ 25 h 524"/>
                <a:gd name="T8" fmla="*/ 565 w 589"/>
                <a:gd name="T9" fmla="*/ 31 h 524"/>
                <a:gd name="T10" fmla="*/ 558 w 589"/>
                <a:gd name="T11" fmla="*/ 125 h 524"/>
                <a:gd name="T12" fmla="*/ 118 w 589"/>
                <a:gd name="T13" fmla="*/ 507 h 524"/>
                <a:gd name="T14" fmla="*/ 74 w 589"/>
                <a:gd name="T15" fmla="*/ 524 h 5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9" h="524">
                  <a:moveTo>
                    <a:pt x="74" y="524"/>
                  </a:moveTo>
                  <a:cubicBezTo>
                    <a:pt x="56" y="524"/>
                    <a:pt x="37" y="516"/>
                    <a:pt x="24" y="501"/>
                  </a:cubicBezTo>
                  <a:cubicBezTo>
                    <a:pt x="0" y="473"/>
                    <a:pt x="3" y="431"/>
                    <a:pt x="31" y="407"/>
                  </a:cubicBezTo>
                  <a:lnTo>
                    <a:pt x="471" y="25"/>
                  </a:lnTo>
                  <a:cubicBezTo>
                    <a:pt x="498" y="0"/>
                    <a:pt x="541" y="3"/>
                    <a:pt x="565" y="31"/>
                  </a:cubicBezTo>
                  <a:cubicBezTo>
                    <a:pt x="589" y="59"/>
                    <a:pt x="586" y="101"/>
                    <a:pt x="558" y="125"/>
                  </a:cubicBezTo>
                  <a:lnTo>
                    <a:pt x="118" y="507"/>
                  </a:lnTo>
                  <a:cubicBezTo>
                    <a:pt x="105" y="518"/>
                    <a:pt x="90" y="524"/>
                    <a:pt x="74" y="524"/>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1263">
              <a:extLst>
                <a:ext uri="{FF2B5EF4-FFF2-40B4-BE49-F238E27FC236}">
                  <a16:creationId xmlns:a16="http://schemas.microsoft.com/office/drawing/2014/main" id="{832D1FE4-E3F7-FB3C-897B-92EA0160CE11}"/>
                </a:ext>
              </a:extLst>
            </p:cNvPr>
            <p:cNvSpPr>
              <a:spLocks/>
            </p:cNvSpPr>
            <p:nvPr/>
          </p:nvSpPr>
          <p:spPr bwMode="auto">
            <a:xfrm>
              <a:off x="3200400" y="3046413"/>
              <a:ext cx="69850" cy="23813"/>
            </a:xfrm>
            <a:custGeom>
              <a:avLst/>
              <a:gdLst>
                <a:gd name="T0" fmla="*/ 72 w 685"/>
                <a:gd name="T1" fmla="*/ 239 h 239"/>
                <a:gd name="T2" fmla="*/ 7 w 685"/>
                <a:gd name="T3" fmla="*/ 185 h 239"/>
                <a:gd name="T4" fmla="*/ 60 w 685"/>
                <a:gd name="T5" fmla="*/ 107 h 239"/>
                <a:gd name="T6" fmla="*/ 601 w 685"/>
                <a:gd name="T7" fmla="*/ 6 h 239"/>
                <a:gd name="T8" fmla="*/ 679 w 685"/>
                <a:gd name="T9" fmla="*/ 60 h 239"/>
                <a:gd name="T10" fmla="*/ 625 w 685"/>
                <a:gd name="T11" fmla="*/ 138 h 239"/>
                <a:gd name="T12" fmla="*/ 85 w 685"/>
                <a:gd name="T13" fmla="*/ 238 h 239"/>
                <a:gd name="T14" fmla="*/ 72 w 685"/>
                <a:gd name="T15" fmla="*/ 239 h 2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5" h="239">
                  <a:moveTo>
                    <a:pt x="72" y="239"/>
                  </a:moveTo>
                  <a:cubicBezTo>
                    <a:pt x="41" y="239"/>
                    <a:pt x="13" y="217"/>
                    <a:pt x="7" y="185"/>
                  </a:cubicBezTo>
                  <a:cubicBezTo>
                    <a:pt x="0" y="149"/>
                    <a:pt x="24" y="114"/>
                    <a:pt x="60" y="107"/>
                  </a:cubicBezTo>
                  <a:lnTo>
                    <a:pt x="601" y="6"/>
                  </a:lnTo>
                  <a:cubicBezTo>
                    <a:pt x="637" y="0"/>
                    <a:pt x="672" y="23"/>
                    <a:pt x="679" y="60"/>
                  </a:cubicBezTo>
                  <a:cubicBezTo>
                    <a:pt x="685" y="96"/>
                    <a:pt x="662" y="131"/>
                    <a:pt x="625" y="138"/>
                  </a:cubicBezTo>
                  <a:lnTo>
                    <a:pt x="85" y="238"/>
                  </a:lnTo>
                  <a:cubicBezTo>
                    <a:pt x="81" y="239"/>
                    <a:pt x="77" y="239"/>
                    <a:pt x="72" y="239"/>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Freeform 1264">
              <a:extLst>
                <a:ext uri="{FF2B5EF4-FFF2-40B4-BE49-F238E27FC236}">
                  <a16:creationId xmlns:a16="http://schemas.microsoft.com/office/drawing/2014/main" id="{704E7799-0240-971A-5EEE-87BACA9BD2AA}"/>
                </a:ext>
              </a:extLst>
            </p:cNvPr>
            <p:cNvSpPr>
              <a:spLocks/>
            </p:cNvSpPr>
            <p:nvPr/>
          </p:nvSpPr>
          <p:spPr bwMode="auto">
            <a:xfrm>
              <a:off x="3187700" y="2990851"/>
              <a:ext cx="85725" cy="20638"/>
            </a:xfrm>
            <a:custGeom>
              <a:avLst/>
              <a:gdLst>
                <a:gd name="T0" fmla="*/ 783 w 853"/>
                <a:gd name="T1" fmla="*/ 209 h 209"/>
                <a:gd name="T2" fmla="*/ 776 w 853"/>
                <a:gd name="T3" fmla="*/ 209 h 209"/>
                <a:gd name="T4" fmla="*/ 63 w 853"/>
                <a:gd name="T5" fmla="*/ 137 h 209"/>
                <a:gd name="T6" fmla="*/ 4 w 853"/>
                <a:gd name="T7" fmla="*/ 64 h 209"/>
                <a:gd name="T8" fmla="*/ 77 w 853"/>
                <a:gd name="T9" fmla="*/ 4 h 209"/>
                <a:gd name="T10" fmla="*/ 790 w 853"/>
                <a:gd name="T11" fmla="*/ 77 h 209"/>
                <a:gd name="T12" fmla="*/ 849 w 853"/>
                <a:gd name="T13" fmla="*/ 150 h 209"/>
                <a:gd name="T14" fmla="*/ 783 w 853"/>
                <a:gd name="T15" fmla="*/ 209 h 20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53" h="209">
                  <a:moveTo>
                    <a:pt x="783" y="209"/>
                  </a:moveTo>
                  <a:cubicBezTo>
                    <a:pt x="781" y="209"/>
                    <a:pt x="779" y="209"/>
                    <a:pt x="776" y="209"/>
                  </a:cubicBezTo>
                  <a:lnTo>
                    <a:pt x="63" y="137"/>
                  </a:lnTo>
                  <a:cubicBezTo>
                    <a:pt x="27" y="133"/>
                    <a:pt x="0" y="100"/>
                    <a:pt x="4" y="64"/>
                  </a:cubicBezTo>
                  <a:cubicBezTo>
                    <a:pt x="7" y="27"/>
                    <a:pt x="40" y="0"/>
                    <a:pt x="77" y="4"/>
                  </a:cubicBezTo>
                  <a:lnTo>
                    <a:pt x="790" y="77"/>
                  </a:lnTo>
                  <a:cubicBezTo>
                    <a:pt x="827" y="80"/>
                    <a:pt x="853" y="113"/>
                    <a:pt x="849" y="150"/>
                  </a:cubicBezTo>
                  <a:cubicBezTo>
                    <a:pt x="846" y="184"/>
                    <a:pt x="817" y="209"/>
                    <a:pt x="783" y="209"/>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Freeform 1265">
              <a:extLst>
                <a:ext uri="{FF2B5EF4-FFF2-40B4-BE49-F238E27FC236}">
                  <a16:creationId xmlns:a16="http://schemas.microsoft.com/office/drawing/2014/main" id="{C5169DA4-6A7E-9AA6-2615-63BAA218DDC3}"/>
                </a:ext>
              </a:extLst>
            </p:cNvPr>
            <p:cNvSpPr>
              <a:spLocks/>
            </p:cNvSpPr>
            <p:nvPr/>
          </p:nvSpPr>
          <p:spPr bwMode="auto">
            <a:xfrm>
              <a:off x="3214688" y="2922588"/>
              <a:ext cx="63500" cy="39688"/>
            </a:xfrm>
            <a:custGeom>
              <a:avLst/>
              <a:gdLst>
                <a:gd name="T0" fmla="*/ 551 w 628"/>
                <a:gd name="T1" fmla="*/ 394 h 394"/>
                <a:gd name="T2" fmla="*/ 520 w 628"/>
                <a:gd name="T3" fmla="*/ 386 h 394"/>
                <a:gd name="T4" fmla="*/ 45 w 628"/>
                <a:gd name="T5" fmla="*/ 135 h 394"/>
                <a:gd name="T6" fmla="*/ 17 w 628"/>
                <a:gd name="T7" fmla="*/ 45 h 394"/>
                <a:gd name="T8" fmla="*/ 107 w 628"/>
                <a:gd name="T9" fmla="*/ 17 h 394"/>
                <a:gd name="T10" fmla="*/ 583 w 628"/>
                <a:gd name="T11" fmla="*/ 268 h 394"/>
                <a:gd name="T12" fmla="*/ 610 w 628"/>
                <a:gd name="T13" fmla="*/ 358 h 394"/>
                <a:gd name="T14" fmla="*/ 551 w 628"/>
                <a:gd name="T15" fmla="*/ 394 h 3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28" h="394">
                  <a:moveTo>
                    <a:pt x="551" y="394"/>
                  </a:moveTo>
                  <a:cubicBezTo>
                    <a:pt x="541" y="394"/>
                    <a:pt x="530" y="391"/>
                    <a:pt x="520" y="386"/>
                  </a:cubicBezTo>
                  <a:lnTo>
                    <a:pt x="45" y="135"/>
                  </a:lnTo>
                  <a:cubicBezTo>
                    <a:pt x="12" y="118"/>
                    <a:pt x="0" y="78"/>
                    <a:pt x="17" y="45"/>
                  </a:cubicBezTo>
                  <a:cubicBezTo>
                    <a:pt x="34" y="13"/>
                    <a:pt x="74" y="0"/>
                    <a:pt x="107" y="17"/>
                  </a:cubicBezTo>
                  <a:lnTo>
                    <a:pt x="583" y="268"/>
                  </a:lnTo>
                  <a:cubicBezTo>
                    <a:pt x="615" y="285"/>
                    <a:pt x="628" y="326"/>
                    <a:pt x="610" y="358"/>
                  </a:cubicBezTo>
                  <a:cubicBezTo>
                    <a:pt x="599" y="381"/>
                    <a:pt x="575" y="394"/>
                    <a:pt x="551" y="394"/>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Freeform 1266">
              <a:extLst>
                <a:ext uri="{FF2B5EF4-FFF2-40B4-BE49-F238E27FC236}">
                  <a16:creationId xmlns:a16="http://schemas.microsoft.com/office/drawing/2014/main" id="{471A20C1-4ABD-580E-C374-E99C539EA4BB}"/>
                </a:ext>
              </a:extLst>
            </p:cNvPr>
            <p:cNvSpPr>
              <a:spLocks noEditPoints="1"/>
            </p:cNvSpPr>
            <p:nvPr/>
          </p:nvSpPr>
          <p:spPr bwMode="auto">
            <a:xfrm>
              <a:off x="3260725" y="2892426"/>
              <a:ext cx="238125" cy="238125"/>
            </a:xfrm>
            <a:custGeom>
              <a:avLst/>
              <a:gdLst>
                <a:gd name="T0" fmla="*/ 1176 w 2352"/>
                <a:gd name="T1" fmla="*/ 133 h 2351"/>
                <a:gd name="T2" fmla="*/ 134 w 2352"/>
                <a:gd name="T3" fmla="*/ 1175 h 2351"/>
                <a:gd name="T4" fmla="*/ 1176 w 2352"/>
                <a:gd name="T5" fmla="*/ 2218 h 2351"/>
                <a:gd name="T6" fmla="*/ 2219 w 2352"/>
                <a:gd name="T7" fmla="*/ 1175 h 2351"/>
                <a:gd name="T8" fmla="*/ 1176 w 2352"/>
                <a:gd name="T9" fmla="*/ 133 h 2351"/>
                <a:gd name="T10" fmla="*/ 1176 w 2352"/>
                <a:gd name="T11" fmla="*/ 2351 h 2351"/>
                <a:gd name="T12" fmla="*/ 0 w 2352"/>
                <a:gd name="T13" fmla="*/ 1175 h 2351"/>
                <a:gd name="T14" fmla="*/ 1176 w 2352"/>
                <a:gd name="T15" fmla="*/ 0 h 2351"/>
                <a:gd name="T16" fmla="*/ 2352 w 2352"/>
                <a:gd name="T17" fmla="*/ 1175 h 2351"/>
                <a:gd name="T18" fmla="*/ 1176 w 2352"/>
                <a:gd name="T19" fmla="*/ 2351 h 23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52" h="2351">
                  <a:moveTo>
                    <a:pt x="1176" y="133"/>
                  </a:moveTo>
                  <a:cubicBezTo>
                    <a:pt x="601" y="133"/>
                    <a:pt x="134" y="601"/>
                    <a:pt x="134" y="1175"/>
                  </a:cubicBezTo>
                  <a:cubicBezTo>
                    <a:pt x="134" y="1750"/>
                    <a:pt x="601" y="2218"/>
                    <a:pt x="1176" y="2218"/>
                  </a:cubicBezTo>
                  <a:cubicBezTo>
                    <a:pt x="1751" y="2218"/>
                    <a:pt x="2219" y="1750"/>
                    <a:pt x="2219" y="1175"/>
                  </a:cubicBezTo>
                  <a:cubicBezTo>
                    <a:pt x="2219" y="601"/>
                    <a:pt x="1751" y="133"/>
                    <a:pt x="1176" y="133"/>
                  </a:cubicBezTo>
                  <a:close/>
                  <a:moveTo>
                    <a:pt x="1176" y="2351"/>
                  </a:moveTo>
                  <a:cubicBezTo>
                    <a:pt x="528" y="2351"/>
                    <a:pt x="0" y="1824"/>
                    <a:pt x="0" y="1175"/>
                  </a:cubicBezTo>
                  <a:cubicBezTo>
                    <a:pt x="0" y="527"/>
                    <a:pt x="528" y="0"/>
                    <a:pt x="1176" y="0"/>
                  </a:cubicBezTo>
                  <a:cubicBezTo>
                    <a:pt x="1825" y="0"/>
                    <a:pt x="2352" y="527"/>
                    <a:pt x="2352" y="1175"/>
                  </a:cubicBezTo>
                  <a:cubicBezTo>
                    <a:pt x="2352" y="1824"/>
                    <a:pt x="1825" y="2351"/>
                    <a:pt x="1176" y="2351"/>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custDataLst>
      <p:tags r:id="rId1"/>
    </p:custDataLst>
    <p:extLst>
      <p:ext uri="{BB962C8B-B14F-4D97-AF65-F5344CB8AC3E}">
        <p14:creationId xmlns:p14="http://schemas.microsoft.com/office/powerpoint/2010/main" val="39940676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 name="Text Placeholder 20">
            <a:extLst>
              <a:ext uri="{FF2B5EF4-FFF2-40B4-BE49-F238E27FC236}">
                <a16:creationId xmlns:a16="http://schemas.microsoft.com/office/drawing/2014/main" id="{63AFAC24-AC01-F738-B736-C4C5742F2302}"/>
              </a:ext>
            </a:extLst>
          </p:cNvPr>
          <p:cNvSpPr txBox="1">
            <a:spLocks/>
          </p:cNvSpPr>
          <p:nvPr/>
        </p:nvSpPr>
        <p:spPr>
          <a:xfrm>
            <a:off x="78374" y="5014793"/>
            <a:ext cx="1043386" cy="1691828"/>
          </a:xfrm>
          <a:prstGeom prst="rect">
            <a:avLst/>
          </a:prstGeom>
          <a:solidFill>
            <a:schemeClr val="accent2">
              <a:lumMod val="20000"/>
              <a:lumOff val="80000"/>
            </a:schemeClr>
          </a:solidFill>
          <a:ln>
            <a:noFill/>
          </a:ln>
        </p:spPr>
        <p:txBody>
          <a:bodyPr wrap="square" lIns="91440" tIns="91440" rIns="91440" bIns="91440" anchor="t" anchorCtr="0">
            <a:noAutofit/>
          </a:bodyPr>
          <a:lstStyle>
            <a:defPPr>
              <a:defRPr lang="pt-PT"/>
            </a:defPPr>
            <a:lvl1pPr marL="0" algn="r"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100"/>
              </a:spcBef>
              <a:spcAft>
                <a:spcPts val="100"/>
              </a:spcAft>
              <a:buClr>
                <a:srgbClr val="ECECEC"/>
              </a:buClr>
              <a:defRPr/>
            </a:pPr>
            <a:endParaRPr lang="en-US" sz="1600" b="1">
              <a:solidFill>
                <a:schemeClr val="accent1"/>
              </a:solidFill>
              <a:latin typeface="Ubuntu" panose="020B0504030602030204" pitchFamily="34" charset="0"/>
            </a:endParaRPr>
          </a:p>
          <a:p>
            <a:pPr algn="l">
              <a:spcBef>
                <a:spcPts val="100"/>
              </a:spcBef>
              <a:spcAft>
                <a:spcPts val="100"/>
              </a:spcAft>
              <a:buClr>
                <a:srgbClr val="ECECEC"/>
              </a:buClr>
              <a:defRPr/>
            </a:pPr>
            <a:endParaRPr lang="en-US" sz="1600" b="1">
              <a:solidFill>
                <a:schemeClr val="accent1"/>
              </a:solidFill>
              <a:latin typeface="Ubuntu" panose="020B0504030602030204" pitchFamily="34" charset="0"/>
            </a:endParaRPr>
          </a:p>
        </p:txBody>
      </p:sp>
      <p:sp>
        <p:nvSpPr>
          <p:cNvPr id="627" name="Text Placeholder 20">
            <a:extLst>
              <a:ext uri="{FF2B5EF4-FFF2-40B4-BE49-F238E27FC236}">
                <a16:creationId xmlns:a16="http://schemas.microsoft.com/office/drawing/2014/main" id="{78BB1F18-60A2-3691-0C96-DF06CA4A536C}"/>
              </a:ext>
            </a:extLst>
          </p:cNvPr>
          <p:cNvSpPr txBox="1">
            <a:spLocks/>
          </p:cNvSpPr>
          <p:nvPr/>
        </p:nvSpPr>
        <p:spPr>
          <a:xfrm>
            <a:off x="10382574" y="695359"/>
            <a:ext cx="1755746" cy="6006811"/>
          </a:xfrm>
          <a:prstGeom prst="rect">
            <a:avLst/>
          </a:prstGeom>
          <a:solidFill>
            <a:schemeClr val="accent2">
              <a:lumMod val="20000"/>
              <a:lumOff val="80000"/>
            </a:schemeClr>
          </a:solidFill>
        </p:spPr>
        <p:txBody>
          <a:bodyPr wrap="square" lIns="91440" tIns="91440" rIns="91440" bIns="91440" anchor="t" anchorCtr="0">
            <a:noAutofit/>
          </a:bodyPr>
          <a:lstStyle>
            <a:defPPr>
              <a:defRPr lang="pt-PT"/>
            </a:defPPr>
            <a:lvl1pPr marL="0" algn="r"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100"/>
              </a:spcBef>
              <a:spcAft>
                <a:spcPts val="100"/>
              </a:spcAft>
              <a:buClr>
                <a:srgbClr val="ECECEC"/>
              </a:buClr>
              <a:defRPr/>
            </a:pPr>
            <a:endParaRPr lang="en-US" sz="1600" b="1">
              <a:solidFill>
                <a:schemeClr val="accent1"/>
              </a:solidFill>
              <a:latin typeface="Ubuntu" panose="020B0504030602030204" pitchFamily="34" charset="0"/>
            </a:endParaRPr>
          </a:p>
        </p:txBody>
      </p:sp>
      <p:sp>
        <p:nvSpPr>
          <p:cNvPr id="418" name="Rounded Rectangle 67">
            <a:extLst>
              <a:ext uri="{FF2B5EF4-FFF2-40B4-BE49-F238E27FC236}">
                <a16:creationId xmlns:a16="http://schemas.microsoft.com/office/drawing/2014/main" id="{CF47D172-5A00-2222-9276-6B84393088EB}"/>
              </a:ext>
            </a:extLst>
          </p:cNvPr>
          <p:cNvSpPr>
            <a:spLocks/>
          </p:cNvSpPr>
          <p:nvPr/>
        </p:nvSpPr>
        <p:spPr>
          <a:xfrm>
            <a:off x="10474014" y="2861065"/>
            <a:ext cx="1618485" cy="2132527"/>
          </a:xfrm>
          <a:prstGeom prst="roundRect">
            <a:avLst>
              <a:gd name="adj" fmla="val 5380"/>
            </a:avLst>
          </a:prstGeom>
          <a:noFill/>
          <a:ln w="19050" cap="flat" cmpd="sng" algn="ctr">
            <a:solidFill>
              <a:schemeClr val="bg1">
                <a:lumMod val="8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3" name="Title 3">
            <a:extLst>
              <a:ext uri="{FF2B5EF4-FFF2-40B4-BE49-F238E27FC236}">
                <a16:creationId xmlns:a16="http://schemas.microsoft.com/office/drawing/2014/main" id="{AA517563-EC26-4A72-6E3A-2F909348303E}"/>
              </a:ext>
            </a:extLst>
          </p:cNvPr>
          <p:cNvSpPr txBox="1">
            <a:spLocks/>
          </p:cNvSpPr>
          <p:nvPr/>
        </p:nvSpPr>
        <p:spPr>
          <a:xfrm>
            <a:off x="212822" y="155830"/>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r>
              <a:rPr lang="en-GB" sz="2800" cap="none">
                <a:solidFill>
                  <a:schemeClr val="tx1"/>
                </a:solidFill>
              </a:rPr>
              <a:t>‘A day in a life’ during Inception Workshops</a:t>
            </a:r>
            <a:endParaRPr lang="en-US" sz="2800" cap="none">
              <a:solidFill>
                <a:schemeClr val="tx1"/>
              </a:solidFill>
            </a:endParaRPr>
          </a:p>
        </p:txBody>
      </p:sp>
      <p:sp>
        <p:nvSpPr>
          <p:cNvPr id="2" name="Text Placeholder 20">
            <a:extLst>
              <a:ext uri="{FF2B5EF4-FFF2-40B4-BE49-F238E27FC236}">
                <a16:creationId xmlns:a16="http://schemas.microsoft.com/office/drawing/2014/main" id="{663BA533-BA0F-A7F6-69A7-64B8A27BECD9}"/>
              </a:ext>
            </a:extLst>
          </p:cNvPr>
          <p:cNvSpPr txBox="1">
            <a:spLocks/>
          </p:cNvSpPr>
          <p:nvPr/>
        </p:nvSpPr>
        <p:spPr>
          <a:xfrm>
            <a:off x="78374" y="695359"/>
            <a:ext cx="1043386" cy="4291871"/>
          </a:xfrm>
          <a:prstGeom prst="rect">
            <a:avLst/>
          </a:prstGeom>
          <a:solidFill>
            <a:schemeClr val="accent2">
              <a:lumMod val="20000"/>
              <a:lumOff val="80000"/>
            </a:schemeClr>
          </a:solidFill>
          <a:ln>
            <a:noFill/>
          </a:ln>
        </p:spPr>
        <p:txBody>
          <a:bodyPr wrap="square" lIns="91440" tIns="91440" rIns="91440" bIns="91440" anchor="t" anchorCtr="0">
            <a:noAutofit/>
          </a:bodyPr>
          <a:lstStyle>
            <a:defPPr>
              <a:defRPr lang="pt-PT"/>
            </a:defPPr>
            <a:lvl1pPr marL="0" algn="r"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100"/>
              </a:spcBef>
              <a:spcAft>
                <a:spcPts val="100"/>
              </a:spcAft>
              <a:buClr>
                <a:srgbClr val="ECECEC"/>
              </a:buClr>
              <a:defRPr/>
            </a:pPr>
            <a:r>
              <a:rPr lang="en-US" sz="1600" b="1">
                <a:solidFill>
                  <a:schemeClr val="accent1"/>
                </a:solidFill>
                <a:latin typeface="Ubuntu" panose="020B0504030602030204" pitchFamily="34" charset="0"/>
              </a:rPr>
              <a:t>Actors</a:t>
            </a:r>
          </a:p>
          <a:p>
            <a:pPr algn="l">
              <a:spcBef>
                <a:spcPts val="100"/>
              </a:spcBef>
              <a:spcAft>
                <a:spcPts val="100"/>
              </a:spcAft>
              <a:buClr>
                <a:srgbClr val="ECECEC"/>
              </a:buClr>
              <a:defRPr/>
            </a:pPr>
            <a:endParaRPr lang="en-US" sz="1600" b="1">
              <a:solidFill>
                <a:schemeClr val="accent1"/>
              </a:solidFill>
              <a:latin typeface="Ubuntu" panose="020B0504030602030204" pitchFamily="34" charset="0"/>
            </a:endParaRPr>
          </a:p>
          <a:p>
            <a:pPr algn="l">
              <a:spcBef>
                <a:spcPts val="100"/>
              </a:spcBef>
              <a:spcAft>
                <a:spcPts val="100"/>
              </a:spcAft>
              <a:buClr>
                <a:srgbClr val="ECECEC"/>
              </a:buClr>
              <a:defRPr/>
            </a:pPr>
            <a:endParaRPr lang="en-US" sz="1600" b="1">
              <a:solidFill>
                <a:schemeClr val="accent1"/>
              </a:solidFill>
              <a:latin typeface="Ubuntu" panose="020B0504030602030204" pitchFamily="34" charset="0"/>
            </a:endParaRPr>
          </a:p>
          <a:p>
            <a:pPr algn="l">
              <a:spcBef>
                <a:spcPts val="100"/>
              </a:spcBef>
              <a:spcAft>
                <a:spcPts val="100"/>
              </a:spcAft>
              <a:buClr>
                <a:schemeClr val="accent1"/>
              </a:buClr>
              <a:defRPr/>
            </a:pPr>
            <a:endParaRPr lang="en-US" sz="1100">
              <a:solidFill>
                <a:schemeClr val="tx1"/>
              </a:solidFill>
              <a:latin typeface="Ubuntu" panose="020B0504030602030204" pitchFamily="34" charset="0"/>
            </a:endParaRPr>
          </a:p>
          <a:p>
            <a:pPr algn="l">
              <a:spcBef>
                <a:spcPts val="100"/>
              </a:spcBef>
              <a:spcAft>
                <a:spcPts val="100"/>
              </a:spcAft>
              <a:buClr>
                <a:schemeClr val="accent1"/>
              </a:buClr>
              <a:defRPr/>
            </a:pPr>
            <a:r>
              <a:rPr lang="en-US" sz="700" b="1">
                <a:solidFill>
                  <a:schemeClr val="tx1"/>
                </a:solidFill>
                <a:latin typeface="Ubuntu" panose="020B0504030602030204" pitchFamily="34" charset="0"/>
              </a:rPr>
              <a:t>    Product Owner</a:t>
            </a:r>
          </a:p>
          <a:p>
            <a:pPr algn="l">
              <a:spcBef>
                <a:spcPts val="100"/>
              </a:spcBef>
              <a:spcAft>
                <a:spcPts val="100"/>
              </a:spcAft>
              <a:buClr>
                <a:schemeClr val="accent1"/>
              </a:buClr>
              <a:defRPr/>
            </a:pPr>
            <a:endParaRPr lang="en-US" b="1">
              <a:solidFill>
                <a:schemeClr val="tx1"/>
              </a:solidFill>
              <a:latin typeface="Ubuntu" panose="020B0504030602030204" pitchFamily="34" charset="0"/>
            </a:endParaRPr>
          </a:p>
          <a:p>
            <a:pPr algn="l">
              <a:spcBef>
                <a:spcPts val="100"/>
              </a:spcBef>
              <a:spcAft>
                <a:spcPts val="100"/>
              </a:spcAft>
              <a:buClr>
                <a:schemeClr val="accent1"/>
              </a:buClr>
              <a:defRPr/>
            </a:pPr>
            <a:endParaRPr lang="en-US" b="1">
              <a:solidFill>
                <a:schemeClr val="tx1"/>
              </a:solidFill>
              <a:latin typeface="Ubuntu" panose="020B0504030602030204" pitchFamily="34" charset="0"/>
            </a:endParaRPr>
          </a:p>
          <a:p>
            <a:pPr algn="l">
              <a:spcBef>
                <a:spcPts val="100"/>
              </a:spcBef>
              <a:spcAft>
                <a:spcPts val="100"/>
              </a:spcAft>
              <a:buClr>
                <a:schemeClr val="accent1"/>
              </a:buClr>
              <a:defRPr/>
            </a:pPr>
            <a:endParaRPr lang="en-US" b="1">
              <a:solidFill>
                <a:schemeClr val="tx1"/>
              </a:solidFill>
              <a:latin typeface="Ubuntu" panose="020B0504030602030204" pitchFamily="34" charset="0"/>
            </a:endParaRPr>
          </a:p>
          <a:p>
            <a:pPr algn="l">
              <a:spcBef>
                <a:spcPts val="100"/>
              </a:spcBef>
              <a:spcAft>
                <a:spcPts val="100"/>
              </a:spcAft>
              <a:buClr>
                <a:schemeClr val="accent1"/>
              </a:buClr>
              <a:defRPr/>
            </a:pPr>
            <a:endParaRPr lang="en-US" b="1">
              <a:solidFill>
                <a:schemeClr val="tx1"/>
              </a:solidFill>
              <a:latin typeface="Ubuntu" panose="020B0504030602030204" pitchFamily="34" charset="0"/>
            </a:endParaRPr>
          </a:p>
          <a:p>
            <a:pPr algn="l">
              <a:spcBef>
                <a:spcPts val="100"/>
              </a:spcBef>
              <a:spcAft>
                <a:spcPts val="100"/>
              </a:spcAft>
              <a:buClr>
                <a:schemeClr val="accent1"/>
              </a:buClr>
              <a:defRPr/>
            </a:pPr>
            <a:r>
              <a:rPr lang="en-US" b="1">
                <a:solidFill>
                  <a:schemeClr val="tx1"/>
                </a:solidFill>
                <a:latin typeface="Ubuntu" panose="020B0504030602030204" pitchFamily="34" charset="0"/>
              </a:rPr>
              <a:t>         </a:t>
            </a:r>
          </a:p>
          <a:p>
            <a:pPr algn="l">
              <a:spcBef>
                <a:spcPts val="100"/>
              </a:spcBef>
              <a:spcAft>
                <a:spcPts val="100"/>
              </a:spcAft>
              <a:buClr>
                <a:schemeClr val="accent1"/>
              </a:buClr>
              <a:defRPr/>
            </a:pPr>
            <a:r>
              <a:rPr lang="en-US" sz="700" b="1">
                <a:solidFill>
                  <a:schemeClr val="tx1"/>
                </a:solidFill>
                <a:latin typeface="Ubuntu" panose="020B0504030602030204" pitchFamily="34" charset="0"/>
              </a:rPr>
              <a:t>             SMEs</a:t>
            </a:r>
          </a:p>
          <a:p>
            <a:pPr algn="l">
              <a:spcBef>
                <a:spcPts val="100"/>
              </a:spcBef>
              <a:spcAft>
                <a:spcPts val="100"/>
              </a:spcAft>
              <a:buClr>
                <a:schemeClr val="accent1"/>
              </a:buClr>
              <a:defRPr/>
            </a:pPr>
            <a:endParaRPr lang="en-US" b="1">
              <a:solidFill>
                <a:schemeClr val="tx1"/>
              </a:solidFill>
              <a:latin typeface="Ubuntu" panose="020B0504030602030204" pitchFamily="34" charset="0"/>
            </a:endParaRPr>
          </a:p>
          <a:p>
            <a:pPr algn="l">
              <a:spcBef>
                <a:spcPts val="100"/>
              </a:spcBef>
              <a:spcAft>
                <a:spcPts val="100"/>
              </a:spcAft>
              <a:buClr>
                <a:schemeClr val="accent1"/>
              </a:buClr>
              <a:defRPr/>
            </a:pPr>
            <a:endParaRPr lang="en-US" b="1">
              <a:solidFill>
                <a:schemeClr val="tx1"/>
              </a:solidFill>
              <a:latin typeface="Ubuntu" panose="020B0504030602030204" pitchFamily="34" charset="0"/>
            </a:endParaRPr>
          </a:p>
          <a:p>
            <a:pPr algn="l">
              <a:spcBef>
                <a:spcPts val="100"/>
              </a:spcBef>
              <a:spcAft>
                <a:spcPts val="100"/>
              </a:spcAft>
              <a:buClr>
                <a:schemeClr val="accent1"/>
              </a:buClr>
              <a:defRPr/>
            </a:pPr>
            <a:endParaRPr lang="en-US" b="1">
              <a:solidFill>
                <a:schemeClr val="tx1"/>
              </a:solidFill>
              <a:latin typeface="Ubuntu" panose="020B0504030602030204" pitchFamily="34" charset="0"/>
            </a:endParaRPr>
          </a:p>
          <a:p>
            <a:pPr algn="l">
              <a:spcBef>
                <a:spcPts val="100"/>
              </a:spcBef>
              <a:spcAft>
                <a:spcPts val="100"/>
              </a:spcAft>
              <a:buClr>
                <a:schemeClr val="accent1"/>
              </a:buClr>
              <a:defRPr/>
            </a:pPr>
            <a:endParaRPr lang="en-US" b="1">
              <a:solidFill>
                <a:schemeClr val="tx1"/>
              </a:solidFill>
              <a:latin typeface="Ubuntu" panose="020B0504030602030204" pitchFamily="34" charset="0"/>
            </a:endParaRPr>
          </a:p>
          <a:p>
            <a:pPr algn="l">
              <a:spcBef>
                <a:spcPts val="100"/>
              </a:spcBef>
              <a:spcAft>
                <a:spcPts val="100"/>
              </a:spcAft>
              <a:buClr>
                <a:schemeClr val="accent1"/>
              </a:buClr>
              <a:defRPr/>
            </a:pPr>
            <a:r>
              <a:rPr lang="en-US" b="1">
                <a:solidFill>
                  <a:schemeClr val="tx1"/>
                </a:solidFill>
                <a:latin typeface="Ubuntu" panose="020B0504030602030204" pitchFamily="34" charset="0"/>
              </a:rPr>
              <a:t> </a:t>
            </a:r>
          </a:p>
          <a:p>
            <a:pPr algn="l">
              <a:spcBef>
                <a:spcPts val="100"/>
              </a:spcBef>
              <a:spcAft>
                <a:spcPts val="100"/>
              </a:spcAft>
              <a:buClr>
                <a:schemeClr val="accent1"/>
              </a:buClr>
              <a:defRPr/>
            </a:pPr>
            <a:r>
              <a:rPr lang="en-US" sz="700" b="1">
                <a:solidFill>
                  <a:schemeClr val="tx1"/>
                </a:solidFill>
                <a:latin typeface="Ubuntu" panose="020B0504030602030204" pitchFamily="34" charset="0"/>
              </a:rPr>
              <a:t>Solution Architect</a:t>
            </a:r>
          </a:p>
          <a:p>
            <a:pPr algn="l">
              <a:spcBef>
                <a:spcPts val="100"/>
              </a:spcBef>
              <a:spcAft>
                <a:spcPts val="100"/>
              </a:spcAft>
              <a:buClr>
                <a:schemeClr val="accent1"/>
              </a:buClr>
              <a:defRPr/>
            </a:pPr>
            <a:endParaRPr lang="en-US" b="1">
              <a:solidFill>
                <a:schemeClr val="tx1"/>
              </a:solidFill>
              <a:latin typeface="Ubuntu" panose="020B0504030602030204" pitchFamily="34" charset="0"/>
            </a:endParaRPr>
          </a:p>
          <a:p>
            <a:pPr algn="l">
              <a:spcBef>
                <a:spcPts val="100"/>
              </a:spcBef>
              <a:spcAft>
                <a:spcPts val="100"/>
              </a:spcAft>
              <a:buClr>
                <a:schemeClr val="accent1"/>
              </a:buClr>
              <a:defRPr/>
            </a:pPr>
            <a:endParaRPr lang="en-US" b="1">
              <a:solidFill>
                <a:schemeClr val="tx1"/>
              </a:solidFill>
              <a:latin typeface="Ubuntu" panose="020B0504030602030204" pitchFamily="34" charset="0"/>
            </a:endParaRPr>
          </a:p>
          <a:p>
            <a:pPr algn="l">
              <a:spcBef>
                <a:spcPts val="100"/>
              </a:spcBef>
              <a:spcAft>
                <a:spcPts val="100"/>
              </a:spcAft>
              <a:buClr>
                <a:schemeClr val="accent1"/>
              </a:buClr>
              <a:defRPr/>
            </a:pPr>
            <a:endParaRPr lang="en-US" b="1">
              <a:solidFill>
                <a:schemeClr val="tx1"/>
              </a:solidFill>
              <a:latin typeface="Ubuntu" panose="020B0504030602030204" pitchFamily="34" charset="0"/>
            </a:endParaRPr>
          </a:p>
          <a:p>
            <a:pPr algn="l">
              <a:spcBef>
                <a:spcPts val="100"/>
              </a:spcBef>
              <a:spcAft>
                <a:spcPts val="100"/>
              </a:spcAft>
              <a:buClr>
                <a:schemeClr val="accent1"/>
              </a:buClr>
              <a:defRPr/>
            </a:pPr>
            <a:endParaRPr lang="en-US" b="1">
              <a:solidFill>
                <a:schemeClr val="tx1"/>
              </a:solidFill>
              <a:latin typeface="Ubuntu" panose="020B0504030602030204" pitchFamily="34" charset="0"/>
            </a:endParaRPr>
          </a:p>
          <a:p>
            <a:pPr algn="l">
              <a:spcBef>
                <a:spcPts val="100"/>
              </a:spcBef>
              <a:spcAft>
                <a:spcPts val="100"/>
              </a:spcAft>
              <a:buClr>
                <a:schemeClr val="accent1"/>
              </a:buClr>
              <a:defRPr/>
            </a:pPr>
            <a:endParaRPr lang="en-US" b="1">
              <a:solidFill>
                <a:schemeClr val="tx1"/>
              </a:solidFill>
              <a:latin typeface="Ubuntu" panose="020B0504030602030204" pitchFamily="34" charset="0"/>
            </a:endParaRPr>
          </a:p>
          <a:p>
            <a:pPr algn="l">
              <a:spcBef>
                <a:spcPts val="100"/>
              </a:spcBef>
              <a:spcAft>
                <a:spcPts val="100"/>
              </a:spcAft>
              <a:buClr>
                <a:schemeClr val="accent1"/>
              </a:buClr>
              <a:defRPr/>
            </a:pPr>
            <a:r>
              <a:rPr lang="en-US" sz="700" b="1">
                <a:solidFill>
                  <a:schemeClr val="tx1"/>
                </a:solidFill>
                <a:latin typeface="Ubuntu" panose="020B0504030602030204" pitchFamily="34" charset="0"/>
              </a:rPr>
              <a:t>     </a:t>
            </a:r>
          </a:p>
          <a:p>
            <a:pPr algn="l">
              <a:spcBef>
                <a:spcPts val="100"/>
              </a:spcBef>
              <a:spcAft>
                <a:spcPts val="100"/>
              </a:spcAft>
              <a:buClr>
                <a:schemeClr val="accent1"/>
              </a:buClr>
              <a:defRPr/>
            </a:pPr>
            <a:endParaRPr lang="en-US" sz="700" b="1">
              <a:solidFill>
                <a:schemeClr val="tx1"/>
              </a:solidFill>
              <a:latin typeface="Ubuntu" panose="020B0504030602030204" pitchFamily="34" charset="0"/>
            </a:endParaRPr>
          </a:p>
          <a:p>
            <a:pPr algn="l">
              <a:spcBef>
                <a:spcPts val="100"/>
              </a:spcBef>
              <a:spcAft>
                <a:spcPts val="100"/>
              </a:spcAft>
              <a:buClr>
                <a:schemeClr val="accent1"/>
              </a:buClr>
              <a:defRPr/>
            </a:pPr>
            <a:r>
              <a:rPr lang="en-US" sz="700" b="1">
                <a:solidFill>
                  <a:schemeClr val="tx1"/>
                </a:solidFill>
                <a:latin typeface="Ubuntu" panose="020B0504030602030204" pitchFamily="34" charset="0"/>
              </a:rPr>
              <a:t>Team members</a:t>
            </a:r>
          </a:p>
          <a:p>
            <a:pPr algn="l">
              <a:spcBef>
                <a:spcPts val="100"/>
              </a:spcBef>
              <a:spcAft>
                <a:spcPts val="100"/>
              </a:spcAft>
              <a:buClr>
                <a:schemeClr val="accent1"/>
              </a:buClr>
              <a:defRPr/>
            </a:pPr>
            <a:endParaRPr lang="en-US" b="1">
              <a:solidFill>
                <a:schemeClr val="tx1"/>
              </a:solidFill>
              <a:latin typeface="Ubuntu" panose="020B0504030602030204" pitchFamily="34" charset="0"/>
            </a:endParaRPr>
          </a:p>
          <a:p>
            <a:pPr algn="l">
              <a:spcBef>
                <a:spcPts val="100"/>
              </a:spcBef>
              <a:spcAft>
                <a:spcPts val="100"/>
              </a:spcAft>
              <a:buClr>
                <a:schemeClr val="accent1"/>
              </a:buClr>
              <a:defRPr/>
            </a:pPr>
            <a:endParaRPr lang="en-US" b="1">
              <a:solidFill>
                <a:schemeClr val="tx1"/>
              </a:solidFill>
              <a:latin typeface="Ubuntu" panose="020B0504030602030204" pitchFamily="34" charset="0"/>
            </a:endParaRPr>
          </a:p>
          <a:p>
            <a:pPr algn="l">
              <a:spcBef>
                <a:spcPts val="100"/>
              </a:spcBef>
              <a:spcAft>
                <a:spcPts val="100"/>
              </a:spcAft>
              <a:buClr>
                <a:schemeClr val="accent1"/>
              </a:buClr>
              <a:defRPr/>
            </a:pPr>
            <a:endParaRPr lang="en-US" sz="700" b="1">
              <a:solidFill>
                <a:schemeClr val="tx1"/>
              </a:solidFill>
              <a:latin typeface="Ubuntu" panose="020B0504030602030204" pitchFamily="34" charset="0"/>
            </a:endParaRPr>
          </a:p>
          <a:p>
            <a:pPr algn="l">
              <a:spcBef>
                <a:spcPts val="100"/>
              </a:spcBef>
              <a:spcAft>
                <a:spcPts val="100"/>
              </a:spcAft>
              <a:buClr>
                <a:schemeClr val="accent1"/>
              </a:buClr>
              <a:defRPr/>
            </a:pPr>
            <a:endParaRPr lang="en-US" sz="700" b="1">
              <a:solidFill>
                <a:schemeClr val="tx1"/>
              </a:solidFill>
              <a:latin typeface="Ubuntu" panose="020B0504030602030204" pitchFamily="34" charset="0"/>
            </a:endParaRPr>
          </a:p>
          <a:p>
            <a:pPr algn="l">
              <a:spcBef>
                <a:spcPts val="100"/>
              </a:spcBef>
              <a:spcAft>
                <a:spcPts val="100"/>
              </a:spcAft>
              <a:buClr>
                <a:schemeClr val="accent1"/>
              </a:buClr>
              <a:defRPr/>
            </a:pPr>
            <a:endParaRPr lang="en-US" sz="700" b="1">
              <a:solidFill>
                <a:schemeClr val="tx1"/>
              </a:solidFill>
              <a:latin typeface="Ubuntu" panose="020B0504030602030204" pitchFamily="34" charset="0"/>
            </a:endParaRPr>
          </a:p>
          <a:p>
            <a:pPr algn="l">
              <a:spcBef>
                <a:spcPts val="100"/>
              </a:spcBef>
              <a:spcAft>
                <a:spcPts val="100"/>
              </a:spcAft>
              <a:buClr>
                <a:schemeClr val="accent1"/>
              </a:buClr>
              <a:defRPr/>
            </a:pPr>
            <a:endParaRPr lang="en-US" sz="700" b="1">
              <a:solidFill>
                <a:schemeClr val="tx1"/>
              </a:solidFill>
              <a:latin typeface="Ubuntu" panose="020B0504030602030204" pitchFamily="34" charset="0"/>
            </a:endParaRPr>
          </a:p>
          <a:p>
            <a:pPr algn="l">
              <a:spcBef>
                <a:spcPts val="100"/>
              </a:spcBef>
              <a:spcAft>
                <a:spcPts val="100"/>
              </a:spcAft>
              <a:buClr>
                <a:schemeClr val="accent1"/>
              </a:buClr>
              <a:defRPr/>
            </a:pPr>
            <a:endParaRPr lang="en-US" sz="700" b="1">
              <a:solidFill>
                <a:schemeClr val="tx1"/>
              </a:solidFill>
              <a:latin typeface="Ubuntu" panose="020B0504030602030204" pitchFamily="34" charset="0"/>
            </a:endParaRPr>
          </a:p>
          <a:p>
            <a:pPr algn="l">
              <a:spcBef>
                <a:spcPts val="100"/>
              </a:spcBef>
              <a:spcAft>
                <a:spcPts val="100"/>
              </a:spcAft>
              <a:buClr>
                <a:schemeClr val="accent1"/>
              </a:buClr>
              <a:defRPr/>
            </a:pPr>
            <a:endParaRPr lang="en-US" sz="700" b="1">
              <a:solidFill>
                <a:schemeClr val="tx1"/>
              </a:solidFill>
              <a:latin typeface="Ubuntu" panose="020B0504030602030204" pitchFamily="34" charset="0"/>
            </a:endParaRPr>
          </a:p>
          <a:p>
            <a:pPr algn="l">
              <a:spcBef>
                <a:spcPts val="100"/>
              </a:spcBef>
              <a:spcAft>
                <a:spcPts val="100"/>
              </a:spcAft>
              <a:buClr>
                <a:schemeClr val="accent1"/>
              </a:buClr>
              <a:defRPr/>
            </a:pPr>
            <a:r>
              <a:rPr lang="en-US" sz="700" b="1">
                <a:solidFill>
                  <a:schemeClr val="tx1"/>
                </a:solidFill>
                <a:latin typeface="Ubuntu" panose="020B0504030602030204" pitchFamily="34" charset="0"/>
              </a:rPr>
              <a:t>Functional lead / BA</a:t>
            </a:r>
          </a:p>
        </p:txBody>
      </p:sp>
      <p:grpSp>
        <p:nvGrpSpPr>
          <p:cNvPr id="6" name="Teacher7" descr="{&quot;Key&quot;:&quot;POWER_USER_SHAPE_ICON&quot;,&quot;Value&quot;:&quot;POWER_USER_SHAPE_ICON_STYLE_1&quot;}">
            <a:extLst>
              <a:ext uri="{FF2B5EF4-FFF2-40B4-BE49-F238E27FC236}">
                <a16:creationId xmlns:a16="http://schemas.microsoft.com/office/drawing/2014/main" id="{91A7FC1A-F1FC-01B2-D8FE-0616F45E7859}"/>
              </a:ext>
            </a:extLst>
          </p:cNvPr>
          <p:cNvGrpSpPr>
            <a:grpSpLocks noChangeAspect="1"/>
          </p:cNvGrpSpPr>
          <p:nvPr/>
        </p:nvGrpSpPr>
        <p:grpSpPr>
          <a:xfrm>
            <a:off x="387747" y="1288661"/>
            <a:ext cx="360000" cy="350581"/>
            <a:chOff x="6302376" y="1846263"/>
            <a:chExt cx="479425" cy="479425"/>
          </a:xfrm>
          <a:solidFill>
            <a:schemeClr val="accent1"/>
          </a:solidFill>
        </p:grpSpPr>
        <p:sp>
          <p:nvSpPr>
            <p:cNvPr id="7" name="Rectangle 495">
              <a:extLst>
                <a:ext uri="{FF2B5EF4-FFF2-40B4-BE49-F238E27FC236}">
                  <a16:creationId xmlns:a16="http://schemas.microsoft.com/office/drawing/2014/main" id="{A4732C34-FE05-0482-5FA2-E673102B1A97}"/>
                </a:ext>
              </a:extLst>
            </p:cNvPr>
            <p:cNvSpPr>
              <a:spLocks noChangeArrowheads="1"/>
            </p:cNvSpPr>
            <p:nvPr/>
          </p:nvSpPr>
          <p:spPr bwMode="auto">
            <a:xfrm>
              <a:off x="6586539" y="2144713"/>
              <a:ext cx="12700" cy="34925"/>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Freeform 496">
              <a:extLst>
                <a:ext uri="{FF2B5EF4-FFF2-40B4-BE49-F238E27FC236}">
                  <a16:creationId xmlns:a16="http://schemas.microsoft.com/office/drawing/2014/main" id="{E688B714-0AF6-971B-750E-B2BBFB7029C6}"/>
                </a:ext>
              </a:extLst>
            </p:cNvPr>
            <p:cNvSpPr>
              <a:spLocks/>
            </p:cNvSpPr>
            <p:nvPr/>
          </p:nvSpPr>
          <p:spPr bwMode="auto">
            <a:xfrm>
              <a:off x="6623051" y="2206626"/>
              <a:ext cx="158750" cy="117475"/>
            </a:xfrm>
            <a:custGeom>
              <a:avLst/>
              <a:gdLst>
                <a:gd name="T0" fmla="*/ 196 w 196"/>
                <a:gd name="T1" fmla="*/ 146 h 146"/>
                <a:gd name="T2" fmla="*/ 180 w 196"/>
                <a:gd name="T3" fmla="*/ 146 h 146"/>
                <a:gd name="T4" fmla="*/ 106 w 196"/>
                <a:gd name="T5" fmla="*/ 48 h 146"/>
                <a:gd name="T6" fmla="*/ 0 w 196"/>
                <a:gd name="T7" fmla="*/ 15 h 146"/>
                <a:gd name="T8" fmla="*/ 5 w 196"/>
                <a:gd name="T9" fmla="*/ 0 h 146"/>
                <a:gd name="T10" fmla="*/ 111 w 196"/>
                <a:gd name="T11" fmla="*/ 32 h 146"/>
                <a:gd name="T12" fmla="*/ 19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96" y="146"/>
                  </a:moveTo>
                  <a:lnTo>
                    <a:pt x="180" y="146"/>
                  </a:lnTo>
                  <a:cubicBezTo>
                    <a:pt x="180" y="101"/>
                    <a:pt x="150" y="61"/>
                    <a:pt x="106" y="48"/>
                  </a:cubicBezTo>
                  <a:lnTo>
                    <a:pt x="0" y="15"/>
                  </a:lnTo>
                  <a:lnTo>
                    <a:pt x="5" y="0"/>
                  </a:lnTo>
                  <a:lnTo>
                    <a:pt x="111" y="32"/>
                  </a:lnTo>
                  <a:cubicBezTo>
                    <a:pt x="162" y="47"/>
                    <a:pt x="196" y="93"/>
                    <a:pt x="19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Rectangle 497">
              <a:extLst>
                <a:ext uri="{FF2B5EF4-FFF2-40B4-BE49-F238E27FC236}">
                  <a16:creationId xmlns:a16="http://schemas.microsoft.com/office/drawing/2014/main" id="{A9B9C543-03A8-9D18-0383-91A8FF54E3ED}"/>
                </a:ext>
              </a:extLst>
            </p:cNvPr>
            <p:cNvSpPr>
              <a:spLocks noChangeArrowheads="1"/>
            </p:cNvSpPr>
            <p:nvPr/>
          </p:nvSpPr>
          <p:spPr bwMode="auto">
            <a:xfrm>
              <a:off x="6483351" y="2144713"/>
              <a:ext cx="12700" cy="39688"/>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Freeform 498">
              <a:extLst>
                <a:ext uri="{FF2B5EF4-FFF2-40B4-BE49-F238E27FC236}">
                  <a16:creationId xmlns:a16="http://schemas.microsoft.com/office/drawing/2014/main" id="{EB28C401-7A57-83BD-4ED5-6642116876A1}"/>
                </a:ext>
              </a:extLst>
            </p:cNvPr>
            <p:cNvSpPr>
              <a:spLocks/>
            </p:cNvSpPr>
            <p:nvPr/>
          </p:nvSpPr>
          <p:spPr bwMode="auto">
            <a:xfrm>
              <a:off x="6302376" y="2206626"/>
              <a:ext cx="157163" cy="117475"/>
            </a:xfrm>
            <a:custGeom>
              <a:avLst/>
              <a:gdLst>
                <a:gd name="T0" fmla="*/ 16 w 196"/>
                <a:gd name="T1" fmla="*/ 146 h 146"/>
                <a:gd name="T2" fmla="*/ 0 w 196"/>
                <a:gd name="T3" fmla="*/ 146 h 146"/>
                <a:gd name="T4" fmla="*/ 85 w 196"/>
                <a:gd name="T5" fmla="*/ 32 h 146"/>
                <a:gd name="T6" fmla="*/ 191 w 196"/>
                <a:gd name="T7" fmla="*/ 0 h 146"/>
                <a:gd name="T8" fmla="*/ 196 w 196"/>
                <a:gd name="T9" fmla="*/ 15 h 146"/>
                <a:gd name="T10" fmla="*/ 90 w 196"/>
                <a:gd name="T11" fmla="*/ 48 h 146"/>
                <a:gd name="T12" fmla="*/ 1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6" y="146"/>
                  </a:moveTo>
                  <a:lnTo>
                    <a:pt x="0" y="146"/>
                  </a:lnTo>
                  <a:cubicBezTo>
                    <a:pt x="0" y="93"/>
                    <a:pt x="34" y="47"/>
                    <a:pt x="85" y="32"/>
                  </a:cubicBezTo>
                  <a:lnTo>
                    <a:pt x="191" y="0"/>
                  </a:lnTo>
                  <a:lnTo>
                    <a:pt x="196" y="15"/>
                  </a:lnTo>
                  <a:lnTo>
                    <a:pt x="90" y="48"/>
                  </a:lnTo>
                  <a:cubicBezTo>
                    <a:pt x="46" y="61"/>
                    <a:pt x="16" y="101"/>
                    <a:pt x="1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Freeform 499">
              <a:extLst>
                <a:ext uri="{FF2B5EF4-FFF2-40B4-BE49-F238E27FC236}">
                  <a16:creationId xmlns:a16="http://schemas.microsoft.com/office/drawing/2014/main" id="{4965F401-6C7F-19BD-0C3B-ACE16CB20C94}"/>
                </a:ext>
              </a:extLst>
            </p:cNvPr>
            <p:cNvSpPr>
              <a:spLocks noEditPoints="1"/>
            </p:cNvSpPr>
            <p:nvPr/>
          </p:nvSpPr>
          <p:spPr bwMode="auto">
            <a:xfrm>
              <a:off x="6443664" y="1927226"/>
              <a:ext cx="195263" cy="250825"/>
            </a:xfrm>
            <a:custGeom>
              <a:avLst/>
              <a:gdLst>
                <a:gd name="T0" fmla="*/ 48 w 243"/>
                <a:gd name="T1" fmla="*/ 44 h 311"/>
                <a:gd name="T2" fmla="*/ 17 w 243"/>
                <a:gd name="T3" fmla="*/ 108 h 311"/>
                <a:gd name="T4" fmla="*/ 17 w 243"/>
                <a:gd name="T5" fmla="*/ 200 h 311"/>
                <a:gd name="T6" fmla="*/ 88 w 243"/>
                <a:gd name="T7" fmla="*/ 285 h 311"/>
                <a:gd name="T8" fmla="*/ 155 w 243"/>
                <a:gd name="T9" fmla="*/ 285 h 311"/>
                <a:gd name="T10" fmla="*/ 226 w 243"/>
                <a:gd name="T11" fmla="*/ 200 h 311"/>
                <a:gd name="T12" fmla="*/ 226 w 243"/>
                <a:gd name="T13" fmla="*/ 81 h 311"/>
                <a:gd name="T14" fmla="*/ 197 w 243"/>
                <a:gd name="T15" fmla="*/ 32 h 311"/>
                <a:gd name="T16" fmla="*/ 175 w 243"/>
                <a:gd name="T17" fmla="*/ 18 h 311"/>
                <a:gd name="T18" fmla="*/ 175 w 243"/>
                <a:gd name="T19" fmla="*/ 19 h 311"/>
                <a:gd name="T20" fmla="*/ 160 w 243"/>
                <a:gd name="T21" fmla="*/ 59 h 311"/>
                <a:gd name="T22" fmla="*/ 84 w 243"/>
                <a:gd name="T23" fmla="*/ 52 h 311"/>
                <a:gd name="T24" fmla="*/ 48 w 243"/>
                <a:gd name="T25" fmla="*/ 44 h 311"/>
                <a:gd name="T26" fmla="*/ 121 w 243"/>
                <a:gd name="T27" fmla="*/ 311 h 311"/>
                <a:gd name="T28" fmla="*/ 79 w 243"/>
                <a:gd name="T29" fmla="*/ 299 h 311"/>
                <a:gd name="T30" fmla="*/ 0 w 243"/>
                <a:gd name="T31" fmla="*/ 200 h 311"/>
                <a:gd name="T32" fmla="*/ 0 w 243"/>
                <a:gd name="T33" fmla="*/ 108 h 311"/>
                <a:gd name="T34" fmla="*/ 48 w 243"/>
                <a:gd name="T35" fmla="*/ 27 h 311"/>
                <a:gd name="T36" fmla="*/ 88 w 243"/>
                <a:gd name="T37" fmla="*/ 36 h 311"/>
                <a:gd name="T38" fmla="*/ 152 w 243"/>
                <a:gd name="T39" fmla="*/ 44 h 311"/>
                <a:gd name="T40" fmla="*/ 159 w 243"/>
                <a:gd name="T41" fmla="*/ 23 h 311"/>
                <a:gd name="T42" fmla="*/ 160 w 243"/>
                <a:gd name="T43" fmla="*/ 6 h 311"/>
                <a:gd name="T44" fmla="*/ 171 w 243"/>
                <a:gd name="T45" fmla="*/ 1 h 311"/>
                <a:gd name="T46" fmla="*/ 171 w 243"/>
                <a:gd name="T47" fmla="*/ 1 h 311"/>
                <a:gd name="T48" fmla="*/ 209 w 243"/>
                <a:gd name="T49" fmla="*/ 20 h 311"/>
                <a:gd name="T50" fmla="*/ 243 w 243"/>
                <a:gd name="T51" fmla="*/ 81 h 311"/>
                <a:gd name="T52" fmla="*/ 243 w 243"/>
                <a:gd name="T53" fmla="*/ 200 h 311"/>
                <a:gd name="T54" fmla="*/ 164 w 243"/>
                <a:gd name="T55" fmla="*/ 299 h 311"/>
                <a:gd name="T56" fmla="*/ 121 w 243"/>
                <a:gd name="T57" fmla="*/ 311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3" h="311">
                  <a:moveTo>
                    <a:pt x="48" y="44"/>
                  </a:moveTo>
                  <a:cubicBezTo>
                    <a:pt x="22" y="44"/>
                    <a:pt x="17" y="69"/>
                    <a:pt x="17" y="108"/>
                  </a:cubicBezTo>
                  <a:lnTo>
                    <a:pt x="17" y="200"/>
                  </a:lnTo>
                  <a:cubicBezTo>
                    <a:pt x="17" y="235"/>
                    <a:pt x="62" y="268"/>
                    <a:pt x="88" y="285"/>
                  </a:cubicBezTo>
                  <a:cubicBezTo>
                    <a:pt x="109" y="298"/>
                    <a:pt x="134" y="298"/>
                    <a:pt x="155" y="285"/>
                  </a:cubicBezTo>
                  <a:cubicBezTo>
                    <a:pt x="181" y="268"/>
                    <a:pt x="226" y="235"/>
                    <a:pt x="226" y="200"/>
                  </a:cubicBezTo>
                  <a:lnTo>
                    <a:pt x="226" y="81"/>
                  </a:lnTo>
                  <a:cubicBezTo>
                    <a:pt x="226" y="70"/>
                    <a:pt x="213" y="47"/>
                    <a:pt x="197" y="32"/>
                  </a:cubicBezTo>
                  <a:cubicBezTo>
                    <a:pt x="188" y="23"/>
                    <a:pt x="180" y="19"/>
                    <a:pt x="175" y="18"/>
                  </a:cubicBezTo>
                  <a:cubicBezTo>
                    <a:pt x="175" y="18"/>
                    <a:pt x="175" y="18"/>
                    <a:pt x="175" y="19"/>
                  </a:cubicBezTo>
                  <a:cubicBezTo>
                    <a:pt x="178" y="28"/>
                    <a:pt x="184" y="47"/>
                    <a:pt x="160" y="59"/>
                  </a:cubicBezTo>
                  <a:cubicBezTo>
                    <a:pt x="142" y="68"/>
                    <a:pt x="112" y="60"/>
                    <a:pt x="84" y="52"/>
                  </a:cubicBezTo>
                  <a:cubicBezTo>
                    <a:pt x="69" y="48"/>
                    <a:pt x="56" y="44"/>
                    <a:pt x="48" y="44"/>
                  </a:cubicBezTo>
                  <a:close/>
                  <a:moveTo>
                    <a:pt x="121" y="311"/>
                  </a:moveTo>
                  <a:cubicBezTo>
                    <a:pt x="107" y="311"/>
                    <a:pt x="92" y="307"/>
                    <a:pt x="79" y="299"/>
                  </a:cubicBezTo>
                  <a:cubicBezTo>
                    <a:pt x="43" y="276"/>
                    <a:pt x="0" y="241"/>
                    <a:pt x="0" y="200"/>
                  </a:cubicBezTo>
                  <a:lnTo>
                    <a:pt x="0" y="108"/>
                  </a:lnTo>
                  <a:cubicBezTo>
                    <a:pt x="0" y="84"/>
                    <a:pt x="0" y="27"/>
                    <a:pt x="48" y="27"/>
                  </a:cubicBezTo>
                  <a:cubicBezTo>
                    <a:pt x="58" y="27"/>
                    <a:pt x="72" y="31"/>
                    <a:pt x="88" y="36"/>
                  </a:cubicBezTo>
                  <a:cubicBezTo>
                    <a:pt x="111" y="42"/>
                    <a:pt x="140" y="50"/>
                    <a:pt x="152" y="44"/>
                  </a:cubicBezTo>
                  <a:cubicBezTo>
                    <a:pt x="164" y="39"/>
                    <a:pt x="162" y="33"/>
                    <a:pt x="159" y="23"/>
                  </a:cubicBezTo>
                  <a:cubicBezTo>
                    <a:pt x="158" y="18"/>
                    <a:pt x="156" y="12"/>
                    <a:pt x="160" y="6"/>
                  </a:cubicBezTo>
                  <a:cubicBezTo>
                    <a:pt x="162" y="3"/>
                    <a:pt x="166" y="1"/>
                    <a:pt x="171" y="1"/>
                  </a:cubicBezTo>
                  <a:lnTo>
                    <a:pt x="171" y="1"/>
                  </a:lnTo>
                  <a:cubicBezTo>
                    <a:pt x="185" y="0"/>
                    <a:pt x="199" y="11"/>
                    <a:pt x="209" y="20"/>
                  </a:cubicBezTo>
                  <a:cubicBezTo>
                    <a:pt x="225" y="36"/>
                    <a:pt x="243" y="63"/>
                    <a:pt x="243" y="81"/>
                  </a:cubicBezTo>
                  <a:lnTo>
                    <a:pt x="243" y="200"/>
                  </a:lnTo>
                  <a:cubicBezTo>
                    <a:pt x="243" y="241"/>
                    <a:pt x="200" y="276"/>
                    <a:pt x="164" y="299"/>
                  </a:cubicBezTo>
                  <a:cubicBezTo>
                    <a:pt x="151" y="307"/>
                    <a:pt x="136" y="311"/>
                    <a:pt x="121" y="311"/>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Freeform 500">
              <a:extLst>
                <a:ext uri="{FF2B5EF4-FFF2-40B4-BE49-F238E27FC236}">
                  <a16:creationId xmlns:a16="http://schemas.microsoft.com/office/drawing/2014/main" id="{8BA61A3D-0AD7-11F3-675B-59F9169698FA}"/>
                </a:ext>
              </a:extLst>
            </p:cNvPr>
            <p:cNvSpPr>
              <a:spLocks noEditPoints="1"/>
            </p:cNvSpPr>
            <p:nvPr/>
          </p:nvSpPr>
          <p:spPr bwMode="auto">
            <a:xfrm>
              <a:off x="6413501" y="2011363"/>
              <a:ext cx="44450" cy="85725"/>
            </a:xfrm>
            <a:custGeom>
              <a:avLst/>
              <a:gdLst>
                <a:gd name="T0" fmla="*/ 27 w 55"/>
                <a:gd name="T1" fmla="*/ 17 h 107"/>
                <a:gd name="T2" fmla="*/ 16 w 55"/>
                <a:gd name="T3" fmla="*/ 27 h 107"/>
                <a:gd name="T4" fmla="*/ 16 w 55"/>
                <a:gd name="T5" fmla="*/ 30 h 107"/>
                <a:gd name="T6" fmla="*/ 26 w 55"/>
                <a:gd name="T7" fmla="*/ 75 h 107"/>
                <a:gd name="T8" fmla="*/ 39 w 55"/>
                <a:gd name="T9" fmla="*/ 89 h 107"/>
                <a:gd name="T10" fmla="*/ 38 w 55"/>
                <a:gd name="T11" fmla="*/ 17 h 107"/>
                <a:gd name="T12" fmla="*/ 27 w 55"/>
                <a:gd name="T13" fmla="*/ 17 h 107"/>
                <a:gd name="T14" fmla="*/ 55 w 55"/>
                <a:gd name="T15" fmla="*/ 107 h 107"/>
                <a:gd name="T16" fmla="*/ 47 w 55"/>
                <a:gd name="T17" fmla="*/ 107 h 107"/>
                <a:gd name="T18" fmla="*/ 12 w 55"/>
                <a:gd name="T19" fmla="*/ 82 h 107"/>
                <a:gd name="T20" fmla="*/ 0 w 55"/>
                <a:gd name="T21" fmla="*/ 30 h 107"/>
                <a:gd name="T22" fmla="*/ 0 w 55"/>
                <a:gd name="T23" fmla="*/ 27 h 107"/>
                <a:gd name="T24" fmla="*/ 27 w 55"/>
                <a:gd name="T25" fmla="*/ 0 h 107"/>
                <a:gd name="T26" fmla="*/ 55 w 55"/>
                <a:gd name="T27" fmla="*/ 0 h 107"/>
                <a:gd name="T28" fmla="*/ 55 w 55"/>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 h="107">
                  <a:moveTo>
                    <a:pt x="27" y="17"/>
                  </a:moveTo>
                  <a:cubicBezTo>
                    <a:pt x="21" y="17"/>
                    <a:pt x="16" y="21"/>
                    <a:pt x="16" y="27"/>
                  </a:cubicBezTo>
                  <a:lnTo>
                    <a:pt x="16" y="30"/>
                  </a:lnTo>
                  <a:cubicBezTo>
                    <a:pt x="16" y="46"/>
                    <a:pt x="20" y="62"/>
                    <a:pt x="26" y="75"/>
                  </a:cubicBezTo>
                  <a:cubicBezTo>
                    <a:pt x="31" y="83"/>
                    <a:pt x="34" y="87"/>
                    <a:pt x="39" y="89"/>
                  </a:cubicBezTo>
                  <a:lnTo>
                    <a:pt x="38" y="17"/>
                  </a:lnTo>
                  <a:lnTo>
                    <a:pt x="27" y="17"/>
                  </a:lnTo>
                  <a:close/>
                  <a:moveTo>
                    <a:pt x="55" y="107"/>
                  </a:moveTo>
                  <a:lnTo>
                    <a:pt x="47" y="107"/>
                  </a:lnTo>
                  <a:cubicBezTo>
                    <a:pt x="28" y="107"/>
                    <a:pt x="19" y="98"/>
                    <a:pt x="12" y="82"/>
                  </a:cubicBezTo>
                  <a:cubicBezTo>
                    <a:pt x="4" y="67"/>
                    <a:pt x="0" y="49"/>
                    <a:pt x="0" y="30"/>
                  </a:cubicBezTo>
                  <a:lnTo>
                    <a:pt x="0" y="27"/>
                  </a:lnTo>
                  <a:cubicBezTo>
                    <a:pt x="0" y="12"/>
                    <a:pt x="12" y="0"/>
                    <a:pt x="27" y="0"/>
                  </a:cubicBezTo>
                  <a:lnTo>
                    <a:pt x="55" y="0"/>
                  </a:lnTo>
                  <a:lnTo>
                    <a:pt x="55" y="10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Freeform 501">
              <a:extLst>
                <a:ext uri="{FF2B5EF4-FFF2-40B4-BE49-F238E27FC236}">
                  <a16:creationId xmlns:a16="http://schemas.microsoft.com/office/drawing/2014/main" id="{F670AEEF-1405-733F-98C1-19D16521597C}"/>
                </a:ext>
              </a:extLst>
            </p:cNvPr>
            <p:cNvSpPr>
              <a:spLocks/>
            </p:cNvSpPr>
            <p:nvPr/>
          </p:nvSpPr>
          <p:spPr bwMode="auto">
            <a:xfrm>
              <a:off x="6411914" y="1846263"/>
              <a:ext cx="260350" cy="174625"/>
            </a:xfrm>
            <a:custGeom>
              <a:avLst/>
              <a:gdLst>
                <a:gd name="T0" fmla="*/ 9 w 323"/>
                <a:gd name="T1" fmla="*/ 217 h 217"/>
                <a:gd name="T2" fmla="*/ 4 w 323"/>
                <a:gd name="T3" fmla="*/ 186 h 217"/>
                <a:gd name="T4" fmla="*/ 11 w 323"/>
                <a:gd name="T5" fmla="*/ 105 h 217"/>
                <a:gd name="T6" fmla="*/ 161 w 323"/>
                <a:gd name="T7" fmla="*/ 2 h 217"/>
                <a:gd name="T8" fmla="*/ 312 w 323"/>
                <a:gd name="T9" fmla="*/ 105 h 217"/>
                <a:gd name="T10" fmla="*/ 318 w 323"/>
                <a:gd name="T11" fmla="*/ 186 h 217"/>
                <a:gd name="T12" fmla="*/ 313 w 323"/>
                <a:gd name="T13" fmla="*/ 217 h 217"/>
                <a:gd name="T14" fmla="*/ 297 w 323"/>
                <a:gd name="T15" fmla="*/ 214 h 217"/>
                <a:gd name="T16" fmla="*/ 302 w 323"/>
                <a:gd name="T17" fmla="*/ 184 h 217"/>
                <a:gd name="T18" fmla="*/ 296 w 323"/>
                <a:gd name="T19" fmla="*/ 111 h 217"/>
                <a:gd name="T20" fmla="*/ 161 w 323"/>
                <a:gd name="T21" fmla="*/ 18 h 217"/>
                <a:gd name="T22" fmla="*/ 26 w 323"/>
                <a:gd name="T23" fmla="*/ 111 h 217"/>
                <a:gd name="T24" fmla="*/ 21 w 323"/>
                <a:gd name="T25" fmla="*/ 184 h 217"/>
                <a:gd name="T26" fmla="*/ 26 w 323"/>
                <a:gd name="T27" fmla="*/ 214 h 217"/>
                <a:gd name="T28" fmla="*/ 9 w 323"/>
                <a:gd name="T29" fmla="*/ 21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3" h="217">
                  <a:moveTo>
                    <a:pt x="9" y="217"/>
                  </a:moveTo>
                  <a:lnTo>
                    <a:pt x="4" y="186"/>
                  </a:lnTo>
                  <a:cubicBezTo>
                    <a:pt x="0" y="157"/>
                    <a:pt x="2" y="129"/>
                    <a:pt x="11" y="105"/>
                  </a:cubicBezTo>
                  <a:cubicBezTo>
                    <a:pt x="34" y="41"/>
                    <a:pt x="95" y="0"/>
                    <a:pt x="161" y="2"/>
                  </a:cubicBezTo>
                  <a:cubicBezTo>
                    <a:pt x="228" y="0"/>
                    <a:pt x="288" y="41"/>
                    <a:pt x="312" y="105"/>
                  </a:cubicBezTo>
                  <a:cubicBezTo>
                    <a:pt x="321" y="129"/>
                    <a:pt x="323" y="157"/>
                    <a:pt x="318" y="186"/>
                  </a:cubicBezTo>
                  <a:lnTo>
                    <a:pt x="313" y="217"/>
                  </a:lnTo>
                  <a:lnTo>
                    <a:pt x="297" y="214"/>
                  </a:lnTo>
                  <a:lnTo>
                    <a:pt x="302" y="184"/>
                  </a:lnTo>
                  <a:cubicBezTo>
                    <a:pt x="306" y="157"/>
                    <a:pt x="304" y="132"/>
                    <a:pt x="296" y="111"/>
                  </a:cubicBezTo>
                  <a:cubicBezTo>
                    <a:pt x="275" y="54"/>
                    <a:pt x="222" y="17"/>
                    <a:pt x="161" y="18"/>
                  </a:cubicBezTo>
                  <a:cubicBezTo>
                    <a:pt x="102" y="17"/>
                    <a:pt x="47" y="54"/>
                    <a:pt x="26" y="111"/>
                  </a:cubicBezTo>
                  <a:cubicBezTo>
                    <a:pt x="18" y="132"/>
                    <a:pt x="16" y="157"/>
                    <a:pt x="21" y="184"/>
                  </a:cubicBezTo>
                  <a:lnTo>
                    <a:pt x="26" y="214"/>
                  </a:lnTo>
                  <a:lnTo>
                    <a:pt x="9" y="21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Freeform 502">
              <a:extLst>
                <a:ext uri="{FF2B5EF4-FFF2-40B4-BE49-F238E27FC236}">
                  <a16:creationId xmlns:a16="http://schemas.microsoft.com/office/drawing/2014/main" id="{C131AD56-618F-A940-AE7D-A89D9DDDDE33}"/>
                </a:ext>
              </a:extLst>
            </p:cNvPr>
            <p:cNvSpPr>
              <a:spLocks noEditPoints="1"/>
            </p:cNvSpPr>
            <p:nvPr/>
          </p:nvSpPr>
          <p:spPr bwMode="auto">
            <a:xfrm>
              <a:off x="6626226" y="2011363"/>
              <a:ext cx="44450" cy="85725"/>
            </a:xfrm>
            <a:custGeom>
              <a:avLst/>
              <a:gdLst>
                <a:gd name="T0" fmla="*/ 17 w 56"/>
                <a:gd name="T1" fmla="*/ 17 h 107"/>
                <a:gd name="T2" fmla="*/ 17 w 56"/>
                <a:gd name="T3" fmla="*/ 89 h 107"/>
                <a:gd name="T4" fmla="*/ 29 w 56"/>
                <a:gd name="T5" fmla="*/ 75 h 107"/>
                <a:gd name="T6" fmla="*/ 40 w 56"/>
                <a:gd name="T7" fmla="*/ 30 h 107"/>
                <a:gd name="T8" fmla="*/ 40 w 56"/>
                <a:gd name="T9" fmla="*/ 27 h 107"/>
                <a:gd name="T10" fmla="*/ 29 w 56"/>
                <a:gd name="T11" fmla="*/ 17 h 107"/>
                <a:gd name="T12" fmla="*/ 17 w 56"/>
                <a:gd name="T13" fmla="*/ 17 h 107"/>
                <a:gd name="T14" fmla="*/ 9 w 56"/>
                <a:gd name="T15" fmla="*/ 107 h 107"/>
                <a:gd name="T16" fmla="*/ 0 w 56"/>
                <a:gd name="T17" fmla="*/ 107 h 107"/>
                <a:gd name="T18" fmla="*/ 1 w 56"/>
                <a:gd name="T19" fmla="*/ 0 h 107"/>
                <a:gd name="T20" fmla="*/ 29 w 56"/>
                <a:gd name="T21" fmla="*/ 0 h 107"/>
                <a:gd name="T22" fmla="*/ 56 w 56"/>
                <a:gd name="T23" fmla="*/ 27 h 107"/>
                <a:gd name="T24" fmla="*/ 56 w 56"/>
                <a:gd name="T25" fmla="*/ 30 h 107"/>
                <a:gd name="T26" fmla="*/ 44 w 56"/>
                <a:gd name="T27" fmla="*/ 82 h 107"/>
                <a:gd name="T28" fmla="*/ 9 w 56"/>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107">
                  <a:moveTo>
                    <a:pt x="17" y="17"/>
                  </a:moveTo>
                  <a:lnTo>
                    <a:pt x="17" y="89"/>
                  </a:lnTo>
                  <a:cubicBezTo>
                    <a:pt x="22" y="87"/>
                    <a:pt x="25" y="83"/>
                    <a:pt x="29" y="75"/>
                  </a:cubicBezTo>
                  <a:cubicBezTo>
                    <a:pt x="36" y="62"/>
                    <a:pt x="40" y="46"/>
                    <a:pt x="40" y="30"/>
                  </a:cubicBezTo>
                  <a:lnTo>
                    <a:pt x="40" y="27"/>
                  </a:lnTo>
                  <a:cubicBezTo>
                    <a:pt x="40" y="21"/>
                    <a:pt x="35" y="17"/>
                    <a:pt x="29" y="17"/>
                  </a:cubicBezTo>
                  <a:lnTo>
                    <a:pt x="17" y="17"/>
                  </a:lnTo>
                  <a:close/>
                  <a:moveTo>
                    <a:pt x="9" y="107"/>
                  </a:moveTo>
                  <a:lnTo>
                    <a:pt x="0" y="107"/>
                  </a:lnTo>
                  <a:lnTo>
                    <a:pt x="1" y="0"/>
                  </a:lnTo>
                  <a:lnTo>
                    <a:pt x="29" y="0"/>
                  </a:lnTo>
                  <a:cubicBezTo>
                    <a:pt x="44" y="0"/>
                    <a:pt x="56" y="12"/>
                    <a:pt x="56" y="27"/>
                  </a:cubicBezTo>
                  <a:lnTo>
                    <a:pt x="56" y="30"/>
                  </a:lnTo>
                  <a:cubicBezTo>
                    <a:pt x="56" y="49"/>
                    <a:pt x="52" y="67"/>
                    <a:pt x="44" y="82"/>
                  </a:cubicBezTo>
                  <a:cubicBezTo>
                    <a:pt x="36" y="98"/>
                    <a:pt x="28" y="107"/>
                    <a:pt x="9" y="107"/>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Freeform 503">
              <a:extLst>
                <a:ext uri="{FF2B5EF4-FFF2-40B4-BE49-F238E27FC236}">
                  <a16:creationId xmlns:a16="http://schemas.microsoft.com/office/drawing/2014/main" id="{C6CC01A1-7014-5085-9CB1-733D692A200C}"/>
                </a:ext>
              </a:extLst>
            </p:cNvPr>
            <p:cNvSpPr>
              <a:spLocks noEditPoints="1"/>
            </p:cNvSpPr>
            <p:nvPr/>
          </p:nvSpPr>
          <p:spPr bwMode="auto">
            <a:xfrm>
              <a:off x="6530976" y="2166938"/>
              <a:ext cx="103188" cy="103188"/>
            </a:xfrm>
            <a:custGeom>
              <a:avLst/>
              <a:gdLst>
                <a:gd name="T0" fmla="*/ 25 w 128"/>
                <a:gd name="T1" fmla="*/ 72 h 127"/>
                <a:gd name="T2" fmla="*/ 56 w 128"/>
                <a:gd name="T3" fmla="*/ 104 h 127"/>
                <a:gd name="T4" fmla="*/ 106 w 128"/>
                <a:gd name="T5" fmla="*/ 56 h 127"/>
                <a:gd name="T6" fmla="*/ 81 w 128"/>
                <a:gd name="T7" fmla="*/ 24 h 127"/>
                <a:gd name="T8" fmla="*/ 25 w 128"/>
                <a:gd name="T9" fmla="*/ 72 h 127"/>
                <a:gd name="T10" fmla="*/ 55 w 128"/>
                <a:gd name="T11" fmla="*/ 127 h 127"/>
                <a:gd name="T12" fmla="*/ 0 w 128"/>
                <a:gd name="T13" fmla="*/ 71 h 127"/>
                <a:gd name="T14" fmla="*/ 84 w 128"/>
                <a:gd name="T15" fmla="*/ 0 h 127"/>
                <a:gd name="T16" fmla="*/ 128 w 128"/>
                <a:gd name="T17" fmla="*/ 57 h 127"/>
                <a:gd name="T18" fmla="*/ 55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5" y="72"/>
                  </a:moveTo>
                  <a:lnTo>
                    <a:pt x="56" y="104"/>
                  </a:lnTo>
                  <a:lnTo>
                    <a:pt x="106" y="56"/>
                  </a:lnTo>
                  <a:lnTo>
                    <a:pt x="81" y="24"/>
                  </a:lnTo>
                  <a:lnTo>
                    <a:pt x="25" y="72"/>
                  </a:lnTo>
                  <a:close/>
                  <a:moveTo>
                    <a:pt x="55" y="127"/>
                  </a:moveTo>
                  <a:lnTo>
                    <a:pt x="0" y="71"/>
                  </a:lnTo>
                  <a:lnTo>
                    <a:pt x="84" y="0"/>
                  </a:lnTo>
                  <a:lnTo>
                    <a:pt x="128" y="57"/>
                  </a:lnTo>
                  <a:lnTo>
                    <a:pt x="55"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Freeform 504">
              <a:extLst>
                <a:ext uri="{FF2B5EF4-FFF2-40B4-BE49-F238E27FC236}">
                  <a16:creationId xmlns:a16="http://schemas.microsoft.com/office/drawing/2014/main" id="{6AB016DD-102D-B938-D983-01D270127481}"/>
                </a:ext>
              </a:extLst>
            </p:cNvPr>
            <p:cNvSpPr>
              <a:spLocks noEditPoints="1"/>
            </p:cNvSpPr>
            <p:nvPr/>
          </p:nvSpPr>
          <p:spPr bwMode="auto">
            <a:xfrm>
              <a:off x="6448426" y="2166938"/>
              <a:ext cx="103188" cy="103188"/>
            </a:xfrm>
            <a:custGeom>
              <a:avLst/>
              <a:gdLst>
                <a:gd name="T0" fmla="*/ 22 w 128"/>
                <a:gd name="T1" fmla="*/ 56 h 127"/>
                <a:gd name="T2" fmla="*/ 72 w 128"/>
                <a:gd name="T3" fmla="*/ 104 h 127"/>
                <a:gd name="T4" fmla="*/ 103 w 128"/>
                <a:gd name="T5" fmla="*/ 72 h 127"/>
                <a:gd name="T6" fmla="*/ 47 w 128"/>
                <a:gd name="T7" fmla="*/ 24 h 127"/>
                <a:gd name="T8" fmla="*/ 22 w 128"/>
                <a:gd name="T9" fmla="*/ 56 h 127"/>
                <a:gd name="T10" fmla="*/ 73 w 128"/>
                <a:gd name="T11" fmla="*/ 127 h 127"/>
                <a:gd name="T12" fmla="*/ 0 w 128"/>
                <a:gd name="T13" fmla="*/ 57 h 127"/>
                <a:gd name="T14" fmla="*/ 44 w 128"/>
                <a:gd name="T15" fmla="*/ 0 h 127"/>
                <a:gd name="T16" fmla="*/ 128 w 128"/>
                <a:gd name="T17" fmla="*/ 71 h 127"/>
                <a:gd name="T18" fmla="*/ 73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2" y="56"/>
                  </a:moveTo>
                  <a:lnTo>
                    <a:pt x="72" y="104"/>
                  </a:lnTo>
                  <a:lnTo>
                    <a:pt x="103" y="72"/>
                  </a:lnTo>
                  <a:lnTo>
                    <a:pt x="47" y="24"/>
                  </a:lnTo>
                  <a:lnTo>
                    <a:pt x="22" y="56"/>
                  </a:lnTo>
                  <a:close/>
                  <a:moveTo>
                    <a:pt x="73" y="127"/>
                  </a:moveTo>
                  <a:lnTo>
                    <a:pt x="0" y="57"/>
                  </a:lnTo>
                  <a:lnTo>
                    <a:pt x="44" y="0"/>
                  </a:lnTo>
                  <a:lnTo>
                    <a:pt x="128" y="71"/>
                  </a:lnTo>
                  <a:lnTo>
                    <a:pt x="73"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Freeform 505">
              <a:extLst>
                <a:ext uri="{FF2B5EF4-FFF2-40B4-BE49-F238E27FC236}">
                  <a16:creationId xmlns:a16="http://schemas.microsoft.com/office/drawing/2014/main" id="{5F0D6ACB-26C1-847C-63AF-C50F6326C205}"/>
                </a:ext>
              </a:extLst>
            </p:cNvPr>
            <p:cNvSpPr>
              <a:spLocks/>
            </p:cNvSpPr>
            <p:nvPr/>
          </p:nvSpPr>
          <p:spPr bwMode="auto">
            <a:xfrm>
              <a:off x="6508751" y="2249488"/>
              <a:ext cx="66675" cy="31750"/>
            </a:xfrm>
            <a:custGeom>
              <a:avLst/>
              <a:gdLst>
                <a:gd name="T0" fmla="*/ 41 w 83"/>
                <a:gd name="T1" fmla="*/ 40 h 40"/>
                <a:gd name="T2" fmla="*/ 20 w 83"/>
                <a:gd name="T3" fmla="*/ 31 h 40"/>
                <a:gd name="T4" fmla="*/ 0 w 83"/>
                <a:gd name="T5" fmla="*/ 12 h 40"/>
                <a:gd name="T6" fmla="*/ 12 w 83"/>
                <a:gd name="T7" fmla="*/ 0 h 40"/>
                <a:gd name="T8" fmla="*/ 32 w 83"/>
                <a:gd name="T9" fmla="*/ 19 h 40"/>
                <a:gd name="T10" fmla="*/ 51 w 83"/>
                <a:gd name="T11" fmla="*/ 19 h 40"/>
                <a:gd name="T12" fmla="*/ 71 w 83"/>
                <a:gd name="T13" fmla="*/ 0 h 40"/>
                <a:gd name="T14" fmla="*/ 83 w 83"/>
                <a:gd name="T15" fmla="*/ 12 h 40"/>
                <a:gd name="T16" fmla="*/ 63 w 83"/>
                <a:gd name="T17" fmla="*/ 31 h 40"/>
                <a:gd name="T18" fmla="*/ 41 w 83"/>
                <a:gd name="T1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40">
                  <a:moveTo>
                    <a:pt x="41" y="40"/>
                  </a:moveTo>
                  <a:cubicBezTo>
                    <a:pt x="34" y="40"/>
                    <a:pt x="26" y="37"/>
                    <a:pt x="20" y="31"/>
                  </a:cubicBezTo>
                  <a:lnTo>
                    <a:pt x="0" y="12"/>
                  </a:lnTo>
                  <a:lnTo>
                    <a:pt x="12" y="0"/>
                  </a:lnTo>
                  <a:lnTo>
                    <a:pt x="32" y="19"/>
                  </a:lnTo>
                  <a:cubicBezTo>
                    <a:pt x="37" y="24"/>
                    <a:pt x="46" y="24"/>
                    <a:pt x="51" y="19"/>
                  </a:cubicBezTo>
                  <a:lnTo>
                    <a:pt x="71" y="0"/>
                  </a:lnTo>
                  <a:lnTo>
                    <a:pt x="83" y="12"/>
                  </a:lnTo>
                  <a:lnTo>
                    <a:pt x="63" y="31"/>
                  </a:lnTo>
                  <a:cubicBezTo>
                    <a:pt x="57" y="37"/>
                    <a:pt x="49" y="40"/>
                    <a:pt x="41" y="40"/>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Freeform 506">
              <a:extLst>
                <a:ext uri="{FF2B5EF4-FFF2-40B4-BE49-F238E27FC236}">
                  <a16:creationId xmlns:a16="http://schemas.microsoft.com/office/drawing/2014/main" id="{13BE35C6-1F54-7A41-A7B1-4A048FE501E1}"/>
                </a:ext>
              </a:extLst>
            </p:cNvPr>
            <p:cNvSpPr>
              <a:spLocks/>
            </p:cNvSpPr>
            <p:nvPr/>
          </p:nvSpPr>
          <p:spPr bwMode="auto">
            <a:xfrm>
              <a:off x="6508751" y="2268538"/>
              <a:ext cx="25400" cy="57150"/>
            </a:xfrm>
            <a:custGeom>
              <a:avLst/>
              <a:gdLst>
                <a:gd name="T0" fmla="*/ 8 w 16"/>
                <a:gd name="T1" fmla="*/ 36 h 36"/>
                <a:gd name="T2" fmla="*/ 0 w 16"/>
                <a:gd name="T3" fmla="*/ 34 h 36"/>
                <a:gd name="T4" fmla="*/ 8 w 16"/>
                <a:gd name="T5" fmla="*/ 0 h 36"/>
                <a:gd name="T6" fmla="*/ 16 w 16"/>
                <a:gd name="T7" fmla="*/ 2 h 36"/>
                <a:gd name="T8" fmla="*/ 8 w 16"/>
                <a:gd name="T9" fmla="*/ 36 h 36"/>
              </a:gdLst>
              <a:ahLst/>
              <a:cxnLst>
                <a:cxn ang="0">
                  <a:pos x="T0" y="T1"/>
                </a:cxn>
                <a:cxn ang="0">
                  <a:pos x="T2" y="T3"/>
                </a:cxn>
                <a:cxn ang="0">
                  <a:pos x="T4" y="T5"/>
                </a:cxn>
                <a:cxn ang="0">
                  <a:pos x="T6" y="T7"/>
                </a:cxn>
                <a:cxn ang="0">
                  <a:pos x="T8" y="T9"/>
                </a:cxn>
              </a:cxnLst>
              <a:rect l="0" t="0" r="r" b="b"/>
              <a:pathLst>
                <a:path w="16" h="36">
                  <a:moveTo>
                    <a:pt x="8" y="36"/>
                  </a:moveTo>
                  <a:lnTo>
                    <a:pt x="0" y="34"/>
                  </a:lnTo>
                  <a:lnTo>
                    <a:pt x="8" y="0"/>
                  </a:lnTo>
                  <a:lnTo>
                    <a:pt x="16" y="2"/>
                  </a:lnTo>
                  <a:lnTo>
                    <a:pt x="8"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7" name="Freeform 507">
              <a:extLst>
                <a:ext uri="{FF2B5EF4-FFF2-40B4-BE49-F238E27FC236}">
                  <a16:creationId xmlns:a16="http://schemas.microsoft.com/office/drawing/2014/main" id="{CB49E3B1-0A9B-3F42-E643-224665078AE7}"/>
                </a:ext>
              </a:extLst>
            </p:cNvPr>
            <p:cNvSpPr>
              <a:spLocks/>
            </p:cNvSpPr>
            <p:nvPr/>
          </p:nvSpPr>
          <p:spPr bwMode="auto">
            <a:xfrm>
              <a:off x="6548439" y="2268538"/>
              <a:ext cx="26988" cy="57150"/>
            </a:xfrm>
            <a:custGeom>
              <a:avLst/>
              <a:gdLst>
                <a:gd name="T0" fmla="*/ 9 w 17"/>
                <a:gd name="T1" fmla="*/ 36 h 36"/>
                <a:gd name="T2" fmla="*/ 0 w 17"/>
                <a:gd name="T3" fmla="*/ 2 h 36"/>
                <a:gd name="T4" fmla="*/ 9 w 17"/>
                <a:gd name="T5" fmla="*/ 0 h 36"/>
                <a:gd name="T6" fmla="*/ 17 w 17"/>
                <a:gd name="T7" fmla="*/ 34 h 36"/>
                <a:gd name="T8" fmla="*/ 9 w 17"/>
                <a:gd name="T9" fmla="*/ 36 h 36"/>
              </a:gdLst>
              <a:ahLst/>
              <a:cxnLst>
                <a:cxn ang="0">
                  <a:pos x="T0" y="T1"/>
                </a:cxn>
                <a:cxn ang="0">
                  <a:pos x="T2" y="T3"/>
                </a:cxn>
                <a:cxn ang="0">
                  <a:pos x="T4" y="T5"/>
                </a:cxn>
                <a:cxn ang="0">
                  <a:pos x="T6" y="T7"/>
                </a:cxn>
                <a:cxn ang="0">
                  <a:pos x="T8" y="T9"/>
                </a:cxn>
              </a:cxnLst>
              <a:rect l="0" t="0" r="r" b="b"/>
              <a:pathLst>
                <a:path w="17" h="36">
                  <a:moveTo>
                    <a:pt x="9" y="36"/>
                  </a:moveTo>
                  <a:lnTo>
                    <a:pt x="0" y="2"/>
                  </a:lnTo>
                  <a:lnTo>
                    <a:pt x="9" y="0"/>
                  </a:lnTo>
                  <a:lnTo>
                    <a:pt x="17" y="34"/>
                  </a:lnTo>
                  <a:lnTo>
                    <a:pt x="9"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8" name="Woman29" descr="{&quot;Key&quot;:&quot;POWER_USER_SHAPE_ICON&quot;,&quot;Value&quot;:&quot;POWER_USER_SHAPE_ICON_STYLE_1&quot;}">
            <a:extLst>
              <a:ext uri="{FF2B5EF4-FFF2-40B4-BE49-F238E27FC236}">
                <a16:creationId xmlns:a16="http://schemas.microsoft.com/office/drawing/2014/main" id="{F2D9407E-4404-F3F1-16C3-CF6606C91059}"/>
              </a:ext>
            </a:extLst>
          </p:cNvPr>
          <p:cNvGrpSpPr>
            <a:grpSpLocks noChangeAspect="1"/>
          </p:cNvGrpSpPr>
          <p:nvPr/>
        </p:nvGrpSpPr>
        <p:grpSpPr>
          <a:xfrm>
            <a:off x="229405" y="2084506"/>
            <a:ext cx="324000" cy="405325"/>
            <a:chOff x="3049573" y="285562"/>
            <a:chExt cx="588025" cy="755384"/>
          </a:xfrm>
        </p:grpSpPr>
        <p:sp>
          <p:nvSpPr>
            <p:cNvPr id="99" name="Freeform: Shape 98">
              <a:extLst>
                <a:ext uri="{FF2B5EF4-FFF2-40B4-BE49-F238E27FC236}">
                  <a16:creationId xmlns:a16="http://schemas.microsoft.com/office/drawing/2014/main" id="{C2A35ED1-A758-5743-4AB1-D8D287410D20}"/>
                </a:ext>
              </a:extLst>
            </p:cNvPr>
            <p:cNvSpPr/>
            <p:nvPr/>
          </p:nvSpPr>
          <p:spPr>
            <a:xfrm>
              <a:off x="3209793" y="747246"/>
              <a:ext cx="37681" cy="292030"/>
            </a:xfrm>
            <a:custGeom>
              <a:avLst/>
              <a:gdLst>
                <a:gd name="connsiteX0" fmla="*/ 38981 w 37681"/>
                <a:gd name="connsiteY0" fmla="*/ 293902 h 292030"/>
                <a:gd name="connsiteX1" fmla="*/ 0 w 37681"/>
                <a:gd name="connsiteY1" fmla="*/ 0 h 292030"/>
              </a:gdLst>
              <a:ahLst/>
              <a:cxnLst>
                <a:cxn ang="0">
                  <a:pos x="connsiteX0" y="connsiteY0"/>
                </a:cxn>
                <a:cxn ang="0">
                  <a:pos x="connsiteX1" y="connsiteY1"/>
                </a:cxn>
              </a:cxnLst>
              <a:rect l="l" t="t" r="r" b="b"/>
              <a:pathLst>
                <a:path w="37681" h="292030">
                  <a:moveTo>
                    <a:pt x="38981" y="293902"/>
                  </a:moveTo>
                  <a:cubicBezTo>
                    <a:pt x="38981" y="153702"/>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 name="Freeform: Shape 99">
              <a:extLst>
                <a:ext uri="{FF2B5EF4-FFF2-40B4-BE49-F238E27FC236}">
                  <a16:creationId xmlns:a16="http://schemas.microsoft.com/office/drawing/2014/main" id="{48DB9103-B8CC-0CD6-84DF-16209F0ED180}"/>
                </a:ext>
              </a:extLst>
            </p:cNvPr>
            <p:cNvSpPr/>
            <p:nvPr/>
          </p:nvSpPr>
          <p:spPr>
            <a:xfrm>
              <a:off x="3445840" y="747246"/>
              <a:ext cx="37681" cy="292030"/>
            </a:xfrm>
            <a:custGeom>
              <a:avLst/>
              <a:gdLst>
                <a:gd name="connsiteX0" fmla="*/ 0 w 37681"/>
                <a:gd name="connsiteY0" fmla="*/ 293902 h 292030"/>
                <a:gd name="connsiteX1" fmla="*/ 38981 w 37681"/>
                <a:gd name="connsiteY1" fmla="*/ 0 h 292030"/>
              </a:gdLst>
              <a:ahLst/>
              <a:cxnLst>
                <a:cxn ang="0">
                  <a:pos x="connsiteX0" y="connsiteY0"/>
                </a:cxn>
                <a:cxn ang="0">
                  <a:pos x="connsiteX1" y="connsiteY1"/>
                </a:cxn>
              </a:cxnLst>
              <a:rect l="l" t="t" r="r" b="b"/>
              <a:pathLst>
                <a:path w="37681" h="292030">
                  <a:moveTo>
                    <a:pt x="0" y="293902"/>
                  </a:moveTo>
                  <a:cubicBezTo>
                    <a:pt x="0" y="153702"/>
                    <a:pt x="38981" y="0"/>
                    <a:pt x="38981"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Freeform: Shape 100">
              <a:extLst>
                <a:ext uri="{FF2B5EF4-FFF2-40B4-BE49-F238E27FC236}">
                  <a16:creationId xmlns:a16="http://schemas.microsoft.com/office/drawing/2014/main" id="{3E09A0ED-D660-45BD-3387-B666DB203798}"/>
                </a:ext>
              </a:extLst>
            </p:cNvPr>
            <p:cNvSpPr/>
            <p:nvPr/>
          </p:nvSpPr>
          <p:spPr>
            <a:xfrm>
              <a:off x="3229595" y="847629"/>
              <a:ext cx="226088" cy="37681"/>
            </a:xfrm>
            <a:custGeom>
              <a:avLst/>
              <a:gdLst>
                <a:gd name="connsiteX0" fmla="*/ 0 w 226087"/>
                <a:gd name="connsiteY0" fmla="*/ 0 h 37681"/>
                <a:gd name="connsiteX1" fmla="*/ 117705 w 226087"/>
                <a:gd name="connsiteY1" fmla="*/ 39629 h 37681"/>
                <a:gd name="connsiteX2" fmla="*/ 235415 w 226087"/>
                <a:gd name="connsiteY2" fmla="*/ 0 h 37681"/>
              </a:gdLst>
              <a:ahLst/>
              <a:cxnLst>
                <a:cxn ang="0">
                  <a:pos x="connsiteX0" y="connsiteY0"/>
                </a:cxn>
                <a:cxn ang="0">
                  <a:pos x="connsiteX1" y="connsiteY1"/>
                </a:cxn>
                <a:cxn ang="0">
                  <a:pos x="connsiteX2" y="connsiteY2"/>
                </a:cxn>
              </a:cxnLst>
              <a:rect l="l" t="t" r="r" b="b"/>
              <a:pathLst>
                <a:path w="226087" h="37681">
                  <a:moveTo>
                    <a:pt x="0" y="0"/>
                  </a:moveTo>
                  <a:cubicBezTo>
                    <a:pt x="23527" y="23677"/>
                    <a:pt x="67370" y="39629"/>
                    <a:pt x="117705" y="39629"/>
                  </a:cubicBezTo>
                  <a:cubicBezTo>
                    <a:pt x="168040" y="39629"/>
                    <a:pt x="211888" y="23677"/>
                    <a:pt x="235415" y="0"/>
                  </a:cubicBezTo>
                </a:path>
              </a:pathLst>
            </a:custGeom>
            <a:noFill/>
            <a:ln w="19050" cap="flat">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9" name="Freeform: Shape 238">
              <a:extLst>
                <a:ext uri="{FF2B5EF4-FFF2-40B4-BE49-F238E27FC236}">
                  <a16:creationId xmlns:a16="http://schemas.microsoft.com/office/drawing/2014/main" id="{9E2B672D-0583-FF56-3D9D-852EE995847D}"/>
                </a:ext>
              </a:extLst>
            </p:cNvPr>
            <p:cNvSpPr/>
            <p:nvPr/>
          </p:nvSpPr>
          <p:spPr>
            <a:xfrm>
              <a:off x="3049573" y="466306"/>
              <a:ext cx="405074" cy="574640"/>
            </a:xfrm>
            <a:custGeom>
              <a:avLst/>
              <a:gdLst>
                <a:gd name="connsiteX0" fmla="*/ 7668 w 405074"/>
                <a:gd name="connsiteY0" fmla="*/ 574841 h 574640"/>
                <a:gd name="connsiteX1" fmla="*/ 0 w 405074"/>
                <a:gd name="connsiteY1" fmla="*/ 427884 h 574640"/>
                <a:gd name="connsiteX2" fmla="*/ 160220 w 405074"/>
                <a:gd name="connsiteY2" fmla="*/ 280939 h 574640"/>
                <a:gd name="connsiteX3" fmla="*/ 223296 w 405074"/>
                <a:gd name="connsiteY3" fmla="*/ 264310 h 574640"/>
                <a:gd name="connsiteX4" fmla="*/ 220838 w 405074"/>
                <a:gd name="connsiteY4" fmla="*/ 199937 h 574640"/>
                <a:gd name="connsiteX5" fmla="*/ 189393 w 405074"/>
                <a:gd name="connsiteY5" fmla="*/ 0 h 574640"/>
                <a:gd name="connsiteX6" fmla="*/ 412242 w 405074"/>
                <a:gd name="connsiteY6" fmla="*/ 21667 h 57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5074" h="574640">
                  <a:moveTo>
                    <a:pt x="7668" y="574841"/>
                  </a:moveTo>
                  <a:lnTo>
                    <a:pt x="0" y="427884"/>
                  </a:lnTo>
                  <a:cubicBezTo>
                    <a:pt x="0" y="352283"/>
                    <a:pt x="75579" y="308886"/>
                    <a:pt x="160220" y="280939"/>
                  </a:cubicBezTo>
                  <a:cubicBezTo>
                    <a:pt x="176734" y="275488"/>
                    <a:pt x="223296" y="264310"/>
                    <a:pt x="223296" y="264310"/>
                  </a:cubicBezTo>
                  <a:cubicBezTo>
                    <a:pt x="223983" y="247604"/>
                    <a:pt x="223233" y="219645"/>
                    <a:pt x="220838" y="199937"/>
                  </a:cubicBezTo>
                  <a:cubicBezTo>
                    <a:pt x="170420" y="131972"/>
                    <a:pt x="174300" y="35848"/>
                    <a:pt x="189393" y="0"/>
                  </a:cubicBezTo>
                  <a:cubicBezTo>
                    <a:pt x="225352" y="22006"/>
                    <a:pt x="314663" y="46047"/>
                    <a:pt x="412242" y="21667"/>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0" name="Freeform: Shape 239">
              <a:extLst>
                <a:ext uri="{FF2B5EF4-FFF2-40B4-BE49-F238E27FC236}">
                  <a16:creationId xmlns:a16="http://schemas.microsoft.com/office/drawing/2014/main" id="{00CCE8FA-7965-4F16-602B-23BEB190084E}"/>
                </a:ext>
              </a:extLst>
            </p:cNvPr>
            <p:cNvSpPr/>
            <p:nvPr/>
          </p:nvSpPr>
          <p:spPr>
            <a:xfrm>
              <a:off x="3383249" y="443836"/>
              <a:ext cx="254349" cy="593481"/>
            </a:xfrm>
            <a:custGeom>
              <a:avLst/>
              <a:gdLst>
                <a:gd name="connsiteX0" fmla="*/ 254119 w 254348"/>
                <a:gd name="connsiteY0" fmla="*/ 597312 h 593480"/>
                <a:gd name="connsiteX1" fmla="*/ 261792 w 254348"/>
                <a:gd name="connsiteY1" fmla="*/ 450355 h 593480"/>
                <a:gd name="connsiteX2" fmla="*/ 101573 w 254348"/>
                <a:gd name="connsiteY2" fmla="*/ 303410 h 593480"/>
                <a:gd name="connsiteX3" fmla="*/ 38456 w 254348"/>
                <a:gd name="connsiteY3" fmla="*/ 286730 h 593480"/>
                <a:gd name="connsiteX4" fmla="*/ 40806 w 254348"/>
                <a:gd name="connsiteY4" fmla="*/ 223601 h 593480"/>
                <a:gd name="connsiteX5" fmla="*/ 78567 w 254348"/>
                <a:gd name="connsiteY5" fmla="*/ 44138 h 593480"/>
                <a:gd name="connsiteX6" fmla="*/ 0 w 254348"/>
                <a:gd name="connsiteY6" fmla="*/ 0 h 59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348" h="593480">
                  <a:moveTo>
                    <a:pt x="254119" y="597312"/>
                  </a:moveTo>
                  <a:lnTo>
                    <a:pt x="261792" y="450355"/>
                  </a:lnTo>
                  <a:cubicBezTo>
                    <a:pt x="261792" y="374754"/>
                    <a:pt x="192421" y="327174"/>
                    <a:pt x="101573" y="303410"/>
                  </a:cubicBezTo>
                  <a:cubicBezTo>
                    <a:pt x="85779" y="299278"/>
                    <a:pt x="38456" y="286730"/>
                    <a:pt x="38456" y="286730"/>
                  </a:cubicBezTo>
                  <a:cubicBezTo>
                    <a:pt x="37774" y="270363"/>
                    <a:pt x="38466" y="242756"/>
                    <a:pt x="40806" y="223601"/>
                  </a:cubicBezTo>
                  <a:cubicBezTo>
                    <a:pt x="93099" y="152522"/>
                    <a:pt x="96465" y="83929"/>
                    <a:pt x="78567" y="44138"/>
                  </a:cubicBezTo>
                  <a:cubicBezTo>
                    <a:pt x="39315" y="31703"/>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1" name="Freeform: Shape 240">
              <a:extLst>
                <a:ext uri="{FF2B5EF4-FFF2-40B4-BE49-F238E27FC236}">
                  <a16:creationId xmlns:a16="http://schemas.microsoft.com/office/drawing/2014/main" id="{04FF2E76-C9B2-B524-9AD1-2DDD5D343066}"/>
                </a:ext>
              </a:extLst>
            </p:cNvPr>
            <p:cNvSpPr/>
            <p:nvPr/>
          </p:nvSpPr>
          <p:spPr>
            <a:xfrm>
              <a:off x="3152851" y="285562"/>
              <a:ext cx="386234" cy="480437"/>
            </a:xfrm>
            <a:custGeom>
              <a:avLst/>
              <a:gdLst>
                <a:gd name="connsiteX0" fmla="*/ 383695 w 386233"/>
                <a:gd name="connsiteY0" fmla="*/ 479344 h 480436"/>
                <a:gd name="connsiteX1" fmla="*/ 388714 w 386233"/>
                <a:gd name="connsiteY1" fmla="*/ 209470 h 480436"/>
                <a:gd name="connsiteX2" fmla="*/ 194444 w 386233"/>
                <a:gd name="connsiteY2" fmla="*/ 0 h 480436"/>
                <a:gd name="connsiteX3" fmla="*/ 107 w 386233"/>
                <a:gd name="connsiteY3" fmla="*/ 209646 h 480436"/>
                <a:gd name="connsiteX4" fmla="*/ 792 w 386233"/>
                <a:gd name="connsiteY4" fmla="*/ 483062 h 480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33" h="480436">
                  <a:moveTo>
                    <a:pt x="383695" y="479344"/>
                  </a:moveTo>
                  <a:cubicBezTo>
                    <a:pt x="334827" y="447063"/>
                    <a:pt x="391221" y="320103"/>
                    <a:pt x="388714" y="209470"/>
                  </a:cubicBezTo>
                  <a:cubicBezTo>
                    <a:pt x="388837" y="102141"/>
                    <a:pt x="307022" y="0"/>
                    <a:pt x="194444" y="0"/>
                  </a:cubicBezTo>
                  <a:cubicBezTo>
                    <a:pt x="83073" y="0"/>
                    <a:pt x="107" y="102292"/>
                    <a:pt x="107" y="209646"/>
                  </a:cubicBezTo>
                  <a:cubicBezTo>
                    <a:pt x="-2593" y="321949"/>
                    <a:pt x="47325" y="453168"/>
                    <a:pt x="792" y="483062"/>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2" name="Plan5" descr="{&quot;Key&quot;:&quot;POWER_USER_SHAPE_ICON&quot;,&quot;Value&quot;:&quot;POWER_USER_SHAPE_ICON_STYLE_1&quot;}">
            <a:extLst>
              <a:ext uri="{FF2B5EF4-FFF2-40B4-BE49-F238E27FC236}">
                <a16:creationId xmlns:a16="http://schemas.microsoft.com/office/drawing/2014/main" id="{32EFF54D-6BCC-0A53-A0E9-DA44E9C6886A}"/>
              </a:ext>
            </a:extLst>
          </p:cNvPr>
          <p:cNvGrpSpPr>
            <a:grpSpLocks noChangeAspect="1"/>
          </p:cNvGrpSpPr>
          <p:nvPr/>
        </p:nvGrpSpPr>
        <p:grpSpPr>
          <a:xfrm>
            <a:off x="395731" y="3030132"/>
            <a:ext cx="359997" cy="378154"/>
            <a:chOff x="8462963" y="1682750"/>
            <a:chExt cx="706430" cy="762001"/>
          </a:xfrm>
        </p:grpSpPr>
        <p:sp>
          <p:nvSpPr>
            <p:cNvPr id="243" name="Freeform 55">
              <a:extLst>
                <a:ext uri="{FF2B5EF4-FFF2-40B4-BE49-F238E27FC236}">
                  <a16:creationId xmlns:a16="http://schemas.microsoft.com/office/drawing/2014/main" id="{165E0868-55DF-20E4-C356-7A8A9985CFEC}"/>
                </a:ext>
              </a:extLst>
            </p:cNvPr>
            <p:cNvSpPr>
              <a:spLocks/>
            </p:cNvSpPr>
            <p:nvPr/>
          </p:nvSpPr>
          <p:spPr bwMode="auto">
            <a:xfrm>
              <a:off x="8462963" y="2109788"/>
              <a:ext cx="317500" cy="244475"/>
            </a:xfrm>
            <a:custGeom>
              <a:avLst/>
              <a:gdLst>
                <a:gd name="T0" fmla="*/ 124 w 424"/>
                <a:gd name="T1" fmla="*/ 325 h 325"/>
                <a:gd name="T2" fmla="*/ 7 w 424"/>
                <a:gd name="T3" fmla="*/ 141 h 325"/>
                <a:gd name="T4" fmla="*/ 14 w 424"/>
                <a:gd name="T5" fmla="*/ 115 h 325"/>
                <a:gd name="T6" fmla="*/ 259 w 424"/>
                <a:gd name="T7" fmla="*/ 5 h 325"/>
                <a:gd name="T8" fmla="*/ 291 w 424"/>
                <a:gd name="T9" fmla="*/ 16 h 325"/>
                <a:gd name="T10" fmla="*/ 424 w 424"/>
                <a:gd name="T11" fmla="*/ 228 h 325"/>
              </a:gdLst>
              <a:ahLst/>
              <a:cxnLst>
                <a:cxn ang="0">
                  <a:pos x="T0" y="T1"/>
                </a:cxn>
                <a:cxn ang="0">
                  <a:pos x="T2" y="T3"/>
                </a:cxn>
                <a:cxn ang="0">
                  <a:pos x="T4" y="T5"/>
                </a:cxn>
                <a:cxn ang="0">
                  <a:pos x="T6" y="T7"/>
                </a:cxn>
                <a:cxn ang="0">
                  <a:pos x="T8" y="T9"/>
                </a:cxn>
                <a:cxn ang="0">
                  <a:pos x="T10" y="T11"/>
                </a:cxn>
              </a:cxnLst>
              <a:rect l="0" t="0" r="r" b="b"/>
              <a:pathLst>
                <a:path w="424" h="325">
                  <a:moveTo>
                    <a:pt x="124" y="325"/>
                  </a:moveTo>
                  <a:lnTo>
                    <a:pt x="7" y="141"/>
                  </a:lnTo>
                  <a:cubicBezTo>
                    <a:pt x="0" y="130"/>
                    <a:pt x="3" y="119"/>
                    <a:pt x="14" y="115"/>
                  </a:cubicBezTo>
                  <a:lnTo>
                    <a:pt x="259" y="5"/>
                  </a:lnTo>
                  <a:cubicBezTo>
                    <a:pt x="273" y="0"/>
                    <a:pt x="282" y="3"/>
                    <a:pt x="291" y="16"/>
                  </a:cubicBezTo>
                  <a:lnTo>
                    <a:pt x="424" y="228"/>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4" name="Freeform 56">
              <a:extLst>
                <a:ext uri="{FF2B5EF4-FFF2-40B4-BE49-F238E27FC236}">
                  <a16:creationId xmlns:a16="http://schemas.microsoft.com/office/drawing/2014/main" id="{C276BE4F-F40D-737E-B358-56E94D8519BB}"/>
                </a:ext>
              </a:extLst>
            </p:cNvPr>
            <p:cNvSpPr>
              <a:spLocks/>
            </p:cNvSpPr>
            <p:nvPr/>
          </p:nvSpPr>
          <p:spPr bwMode="auto">
            <a:xfrm>
              <a:off x="8547093" y="2035175"/>
              <a:ext cx="622300" cy="409576"/>
            </a:xfrm>
            <a:custGeom>
              <a:avLst/>
              <a:gdLst>
                <a:gd name="T0" fmla="*/ 516 w 828"/>
                <a:gd name="T1" fmla="*/ 518 h 544"/>
                <a:gd name="T2" fmla="*/ 828 w 828"/>
                <a:gd name="T3" fmla="*/ 518 h 544"/>
                <a:gd name="T4" fmla="*/ 784 w 828"/>
                <a:gd name="T5" fmla="*/ 202 h 544"/>
                <a:gd name="T6" fmla="*/ 577 w 828"/>
                <a:gd name="T7" fmla="*/ 0 h 544"/>
                <a:gd name="T8" fmla="*/ 390 w 828"/>
                <a:gd name="T9" fmla="*/ 142 h 544"/>
                <a:gd name="T10" fmla="*/ 292 w 828"/>
                <a:gd name="T11" fmla="*/ 372 h 544"/>
                <a:gd name="T12" fmla="*/ 49 w 828"/>
                <a:gd name="T13" fmla="*/ 397 h 544"/>
                <a:gd name="T14" fmla="*/ 0 w 828"/>
                <a:gd name="T15" fmla="*/ 469 h 544"/>
                <a:gd name="T16" fmla="*/ 86 w 828"/>
                <a:gd name="T17" fmla="*/ 544 h 544"/>
                <a:gd name="T18" fmla="*/ 365 w 828"/>
                <a:gd name="T19" fmla="*/ 544 h 544"/>
                <a:gd name="T20" fmla="*/ 456 w 828"/>
                <a:gd name="T21" fmla="*/ 481 h 544"/>
                <a:gd name="T22" fmla="*/ 559 w 828"/>
                <a:gd name="T23" fmla="*/ 270 h 544"/>
                <a:gd name="T24" fmla="*/ 559 w 828"/>
                <a:gd name="T25" fmla="*/ 27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8" h="544">
                  <a:moveTo>
                    <a:pt x="516" y="518"/>
                  </a:moveTo>
                  <a:lnTo>
                    <a:pt x="828" y="518"/>
                  </a:lnTo>
                  <a:lnTo>
                    <a:pt x="784" y="202"/>
                  </a:lnTo>
                  <a:cubicBezTo>
                    <a:pt x="762" y="62"/>
                    <a:pt x="683" y="0"/>
                    <a:pt x="577" y="0"/>
                  </a:cubicBezTo>
                  <a:cubicBezTo>
                    <a:pt x="501" y="0"/>
                    <a:pt x="430" y="43"/>
                    <a:pt x="390" y="142"/>
                  </a:cubicBezTo>
                  <a:lnTo>
                    <a:pt x="292" y="372"/>
                  </a:lnTo>
                  <a:lnTo>
                    <a:pt x="49" y="397"/>
                  </a:lnTo>
                  <a:cubicBezTo>
                    <a:pt x="20" y="406"/>
                    <a:pt x="0" y="428"/>
                    <a:pt x="0" y="469"/>
                  </a:cubicBezTo>
                  <a:cubicBezTo>
                    <a:pt x="0" y="518"/>
                    <a:pt x="32" y="544"/>
                    <a:pt x="86" y="544"/>
                  </a:cubicBezTo>
                  <a:lnTo>
                    <a:pt x="365" y="544"/>
                  </a:lnTo>
                  <a:cubicBezTo>
                    <a:pt x="405" y="544"/>
                    <a:pt x="436" y="521"/>
                    <a:pt x="456" y="481"/>
                  </a:cubicBezTo>
                  <a:cubicBezTo>
                    <a:pt x="483" y="426"/>
                    <a:pt x="530" y="330"/>
                    <a:pt x="559" y="270"/>
                  </a:cubicBezTo>
                  <a:lnTo>
                    <a:pt x="559" y="270"/>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5" name="Line 57">
              <a:extLst>
                <a:ext uri="{FF2B5EF4-FFF2-40B4-BE49-F238E27FC236}">
                  <a16:creationId xmlns:a16="http://schemas.microsoft.com/office/drawing/2014/main" id="{7ACC0F0E-BD4D-6262-BEC2-38795008FAA3}"/>
                </a:ext>
              </a:extLst>
            </p:cNvPr>
            <p:cNvSpPr>
              <a:spLocks noChangeShapeType="1"/>
            </p:cNvSpPr>
            <p:nvPr/>
          </p:nvSpPr>
          <p:spPr bwMode="auto">
            <a:xfrm flipH="1">
              <a:off x="8593138" y="2265363"/>
              <a:ext cx="17463" cy="6667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6" name="Freeform 58">
              <a:extLst>
                <a:ext uri="{FF2B5EF4-FFF2-40B4-BE49-F238E27FC236}">
                  <a16:creationId xmlns:a16="http://schemas.microsoft.com/office/drawing/2014/main" id="{9DDB805D-8CD2-442A-664B-9F16262903CE}"/>
                </a:ext>
              </a:extLst>
            </p:cNvPr>
            <p:cNvSpPr>
              <a:spLocks/>
            </p:cNvSpPr>
            <p:nvPr/>
          </p:nvSpPr>
          <p:spPr bwMode="auto">
            <a:xfrm>
              <a:off x="8709025" y="1806575"/>
              <a:ext cx="279400" cy="204788"/>
            </a:xfrm>
            <a:custGeom>
              <a:avLst/>
              <a:gdLst>
                <a:gd name="T0" fmla="*/ 351 w 372"/>
                <a:gd name="T1" fmla="*/ 0 h 273"/>
                <a:gd name="T2" fmla="*/ 372 w 372"/>
                <a:gd name="T3" fmla="*/ 85 h 273"/>
                <a:gd name="T4" fmla="*/ 186 w 372"/>
                <a:gd name="T5" fmla="*/ 273 h 273"/>
                <a:gd name="T6" fmla="*/ 0 w 372"/>
                <a:gd name="T7" fmla="*/ 113 h 273"/>
              </a:gdLst>
              <a:ahLst/>
              <a:cxnLst>
                <a:cxn ang="0">
                  <a:pos x="T0" y="T1"/>
                </a:cxn>
                <a:cxn ang="0">
                  <a:pos x="T2" y="T3"/>
                </a:cxn>
                <a:cxn ang="0">
                  <a:pos x="T4" y="T5"/>
                </a:cxn>
                <a:cxn ang="0">
                  <a:pos x="T6" y="T7"/>
                </a:cxn>
              </a:cxnLst>
              <a:rect l="0" t="0" r="r" b="b"/>
              <a:pathLst>
                <a:path w="372" h="273">
                  <a:moveTo>
                    <a:pt x="351" y="0"/>
                  </a:moveTo>
                  <a:cubicBezTo>
                    <a:pt x="364" y="26"/>
                    <a:pt x="372" y="55"/>
                    <a:pt x="372" y="85"/>
                  </a:cubicBezTo>
                  <a:cubicBezTo>
                    <a:pt x="372" y="188"/>
                    <a:pt x="289" y="272"/>
                    <a:pt x="186" y="273"/>
                  </a:cubicBezTo>
                  <a:cubicBezTo>
                    <a:pt x="91" y="273"/>
                    <a:pt x="14" y="203"/>
                    <a:pt x="0" y="113"/>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7" name="Freeform 59">
              <a:extLst>
                <a:ext uri="{FF2B5EF4-FFF2-40B4-BE49-F238E27FC236}">
                  <a16:creationId xmlns:a16="http://schemas.microsoft.com/office/drawing/2014/main" id="{FEE054F8-2019-8796-D382-D242FEBB367E}"/>
                </a:ext>
              </a:extLst>
            </p:cNvPr>
            <p:cNvSpPr>
              <a:spLocks/>
            </p:cNvSpPr>
            <p:nvPr/>
          </p:nvSpPr>
          <p:spPr bwMode="auto">
            <a:xfrm>
              <a:off x="8667750" y="1682750"/>
              <a:ext cx="312738" cy="206375"/>
            </a:xfrm>
            <a:custGeom>
              <a:avLst/>
              <a:gdLst>
                <a:gd name="T0" fmla="*/ 418 w 418"/>
                <a:gd name="T1" fmla="*/ 145 h 274"/>
                <a:gd name="T2" fmla="*/ 222 w 418"/>
                <a:gd name="T3" fmla="*/ 0 h 274"/>
                <a:gd name="T4" fmla="*/ 165 w 418"/>
                <a:gd name="T5" fmla="*/ 9 h 274"/>
                <a:gd name="T6" fmla="*/ 37 w 418"/>
                <a:gd name="T7" fmla="*/ 274 h 274"/>
              </a:gdLst>
              <a:ahLst/>
              <a:cxnLst>
                <a:cxn ang="0">
                  <a:pos x="T0" y="T1"/>
                </a:cxn>
                <a:cxn ang="0">
                  <a:pos x="T2" y="T3"/>
                </a:cxn>
                <a:cxn ang="0">
                  <a:pos x="T4" y="T5"/>
                </a:cxn>
                <a:cxn ang="0">
                  <a:pos x="T6" y="T7"/>
                </a:cxn>
              </a:cxnLst>
              <a:rect l="0" t="0" r="r" b="b"/>
              <a:pathLst>
                <a:path w="418" h="274">
                  <a:moveTo>
                    <a:pt x="418" y="145"/>
                  </a:moveTo>
                  <a:cubicBezTo>
                    <a:pt x="396" y="67"/>
                    <a:pt x="314" y="0"/>
                    <a:pt x="222" y="0"/>
                  </a:cubicBezTo>
                  <a:cubicBezTo>
                    <a:pt x="203" y="0"/>
                    <a:pt x="184" y="3"/>
                    <a:pt x="165" y="9"/>
                  </a:cubicBezTo>
                  <a:cubicBezTo>
                    <a:pt x="61" y="43"/>
                    <a:pt x="0" y="154"/>
                    <a:pt x="37" y="274"/>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8" name="Line 60">
              <a:extLst>
                <a:ext uri="{FF2B5EF4-FFF2-40B4-BE49-F238E27FC236}">
                  <a16:creationId xmlns:a16="http://schemas.microsoft.com/office/drawing/2014/main" id="{87038BAA-FE3F-A0A1-6007-B7AA0E53F890}"/>
                </a:ext>
              </a:extLst>
            </p:cNvPr>
            <p:cNvSpPr>
              <a:spLocks noChangeShapeType="1"/>
            </p:cNvSpPr>
            <p:nvPr/>
          </p:nvSpPr>
          <p:spPr bwMode="auto">
            <a:xfrm flipH="1">
              <a:off x="8645525" y="1792288"/>
              <a:ext cx="347663" cy="11112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9" name="Employee6" descr="{&quot;Key&quot;:&quot;POWER_USER_SHAPE_ICON&quot;,&quot;Value&quot;:&quot;POWER_USER_SHAPE_ICON_STYLE_1&quot;}">
            <a:extLst>
              <a:ext uri="{FF2B5EF4-FFF2-40B4-BE49-F238E27FC236}">
                <a16:creationId xmlns:a16="http://schemas.microsoft.com/office/drawing/2014/main" id="{8DE154C1-65D7-DB1F-A2BB-E28F6A653780}"/>
              </a:ext>
            </a:extLst>
          </p:cNvPr>
          <p:cNvGrpSpPr>
            <a:grpSpLocks noChangeAspect="1"/>
          </p:cNvGrpSpPr>
          <p:nvPr/>
        </p:nvGrpSpPr>
        <p:grpSpPr>
          <a:xfrm>
            <a:off x="607604" y="2087499"/>
            <a:ext cx="324000" cy="400385"/>
            <a:chOff x="3584576" y="3348038"/>
            <a:chExt cx="230188" cy="292100"/>
          </a:xfrm>
          <a:solidFill>
            <a:schemeClr val="accent1"/>
          </a:solidFill>
        </p:grpSpPr>
        <p:sp>
          <p:nvSpPr>
            <p:cNvPr id="250" name="Freeform 1099">
              <a:extLst>
                <a:ext uri="{FF2B5EF4-FFF2-40B4-BE49-F238E27FC236}">
                  <a16:creationId xmlns:a16="http://schemas.microsoft.com/office/drawing/2014/main" id="{AB335945-7DCD-2A8A-8AD4-69A251CE1EB4}"/>
                </a:ext>
              </a:extLst>
            </p:cNvPr>
            <p:cNvSpPr>
              <a:spLocks/>
            </p:cNvSpPr>
            <p:nvPr/>
          </p:nvSpPr>
          <p:spPr bwMode="auto">
            <a:xfrm>
              <a:off x="3621088" y="3433763"/>
              <a:ext cx="44450" cy="36513"/>
            </a:xfrm>
            <a:custGeom>
              <a:avLst/>
              <a:gdLst>
                <a:gd name="T0" fmla="*/ 109 w 218"/>
                <a:gd name="T1" fmla="*/ 159 h 176"/>
                <a:gd name="T2" fmla="*/ 109 w 218"/>
                <a:gd name="T3" fmla="*/ 143 h 176"/>
                <a:gd name="T4" fmla="*/ 55 w 218"/>
                <a:gd name="T5" fmla="*/ 120 h 176"/>
                <a:gd name="T6" fmla="*/ 33 w 218"/>
                <a:gd name="T7" fmla="*/ 67 h 176"/>
                <a:gd name="T8" fmla="*/ 33 w 218"/>
                <a:gd name="T9" fmla="*/ 33 h 176"/>
                <a:gd name="T10" fmla="*/ 185 w 218"/>
                <a:gd name="T11" fmla="*/ 33 h 176"/>
                <a:gd name="T12" fmla="*/ 185 w 218"/>
                <a:gd name="T13" fmla="*/ 67 h 176"/>
                <a:gd name="T14" fmla="*/ 163 w 218"/>
                <a:gd name="T15" fmla="*/ 120 h 176"/>
                <a:gd name="T16" fmla="*/ 109 w 218"/>
                <a:gd name="T17" fmla="*/ 143 h 176"/>
                <a:gd name="T18" fmla="*/ 109 w 218"/>
                <a:gd name="T19" fmla="*/ 159 h 176"/>
                <a:gd name="T20" fmla="*/ 109 w 218"/>
                <a:gd name="T21" fmla="*/ 176 h 176"/>
                <a:gd name="T22" fmla="*/ 218 w 218"/>
                <a:gd name="T23" fmla="*/ 67 h 176"/>
                <a:gd name="T24" fmla="*/ 218 w 218"/>
                <a:gd name="T25" fmla="*/ 0 h 176"/>
                <a:gd name="T26" fmla="*/ 0 w 218"/>
                <a:gd name="T27" fmla="*/ 0 h 176"/>
                <a:gd name="T28" fmla="*/ 0 w 218"/>
                <a:gd name="T29" fmla="*/ 67 h 176"/>
                <a:gd name="T30" fmla="*/ 109 w 218"/>
                <a:gd name="T31" fmla="*/ 176 h 176"/>
                <a:gd name="T32" fmla="*/ 109 w 218"/>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8" h="176">
                  <a:moveTo>
                    <a:pt x="109" y="159"/>
                  </a:moveTo>
                  <a:lnTo>
                    <a:pt x="109" y="143"/>
                  </a:lnTo>
                  <a:cubicBezTo>
                    <a:pt x="88" y="143"/>
                    <a:pt x="69" y="134"/>
                    <a:pt x="55" y="120"/>
                  </a:cubicBezTo>
                  <a:cubicBezTo>
                    <a:pt x="41" y="107"/>
                    <a:pt x="33" y="88"/>
                    <a:pt x="33" y="67"/>
                  </a:cubicBezTo>
                  <a:lnTo>
                    <a:pt x="33" y="33"/>
                  </a:lnTo>
                  <a:lnTo>
                    <a:pt x="185" y="33"/>
                  </a:lnTo>
                  <a:lnTo>
                    <a:pt x="185" y="67"/>
                  </a:lnTo>
                  <a:cubicBezTo>
                    <a:pt x="185" y="88"/>
                    <a:pt x="176" y="107"/>
                    <a:pt x="163" y="120"/>
                  </a:cubicBezTo>
                  <a:cubicBezTo>
                    <a:pt x="149" y="134"/>
                    <a:pt x="130" y="143"/>
                    <a:pt x="109" y="143"/>
                  </a:cubicBezTo>
                  <a:lnTo>
                    <a:pt x="109" y="159"/>
                  </a:lnTo>
                  <a:lnTo>
                    <a:pt x="109" y="176"/>
                  </a:lnTo>
                  <a:cubicBezTo>
                    <a:pt x="169" y="176"/>
                    <a:pt x="218" y="127"/>
                    <a:pt x="218" y="67"/>
                  </a:cubicBezTo>
                  <a:lnTo>
                    <a:pt x="218" y="0"/>
                  </a:lnTo>
                  <a:lnTo>
                    <a:pt x="0" y="0"/>
                  </a:lnTo>
                  <a:lnTo>
                    <a:pt x="0" y="67"/>
                  </a:lnTo>
                  <a:cubicBezTo>
                    <a:pt x="0" y="127"/>
                    <a:pt x="48" y="176"/>
                    <a:pt x="109" y="176"/>
                  </a:cubicBezTo>
                  <a:lnTo>
                    <a:pt x="109" y="159"/>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1" name="Freeform 1100">
              <a:extLst>
                <a:ext uri="{FF2B5EF4-FFF2-40B4-BE49-F238E27FC236}">
                  <a16:creationId xmlns:a16="http://schemas.microsoft.com/office/drawing/2014/main" id="{FFAC8785-0A9E-8979-85C7-65405CBD8A89}"/>
                </a:ext>
              </a:extLst>
            </p:cNvPr>
            <p:cNvSpPr>
              <a:spLocks/>
            </p:cNvSpPr>
            <p:nvPr/>
          </p:nvSpPr>
          <p:spPr bwMode="auto">
            <a:xfrm>
              <a:off x="3671888" y="3433763"/>
              <a:ext cx="44450" cy="36513"/>
            </a:xfrm>
            <a:custGeom>
              <a:avLst/>
              <a:gdLst>
                <a:gd name="T0" fmla="*/ 109 w 219"/>
                <a:gd name="T1" fmla="*/ 159 h 176"/>
                <a:gd name="T2" fmla="*/ 109 w 219"/>
                <a:gd name="T3" fmla="*/ 143 h 176"/>
                <a:gd name="T4" fmla="*/ 56 w 219"/>
                <a:gd name="T5" fmla="*/ 120 h 176"/>
                <a:gd name="T6" fmla="*/ 33 w 219"/>
                <a:gd name="T7" fmla="*/ 67 h 176"/>
                <a:gd name="T8" fmla="*/ 33 w 219"/>
                <a:gd name="T9" fmla="*/ 33 h 176"/>
                <a:gd name="T10" fmla="*/ 185 w 219"/>
                <a:gd name="T11" fmla="*/ 33 h 176"/>
                <a:gd name="T12" fmla="*/ 185 w 219"/>
                <a:gd name="T13" fmla="*/ 67 h 176"/>
                <a:gd name="T14" fmla="*/ 163 w 219"/>
                <a:gd name="T15" fmla="*/ 120 h 176"/>
                <a:gd name="T16" fmla="*/ 109 w 219"/>
                <a:gd name="T17" fmla="*/ 143 h 176"/>
                <a:gd name="T18" fmla="*/ 109 w 219"/>
                <a:gd name="T19" fmla="*/ 159 h 176"/>
                <a:gd name="T20" fmla="*/ 109 w 219"/>
                <a:gd name="T21" fmla="*/ 176 h 176"/>
                <a:gd name="T22" fmla="*/ 219 w 219"/>
                <a:gd name="T23" fmla="*/ 67 h 176"/>
                <a:gd name="T24" fmla="*/ 219 w 219"/>
                <a:gd name="T25" fmla="*/ 0 h 176"/>
                <a:gd name="T26" fmla="*/ 0 w 219"/>
                <a:gd name="T27" fmla="*/ 0 h 176"/>
                <a:gd name="T28" fmla="*/ 0 w 219"/>
                <a:gd name="T29" fmla="*/ 67 h 176"/>
                <a:gd name="T30" fmla="*/ 109 w 219"/>
                <a:gd name="T31" fmla="*/ 176 h 176"/>
                <a:gd name="T32" fmla="*/ 109 w 219"/>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9" h="176">
                  <a:moveTo>
                    <a:pt x="109" y="159"/>
                  </a:moveTo>
                  <a:lnTo>
                    <a:pt x="109" y="143"/>
                  </a:lnTo>
                  <a:cubicBezTo>
                    <a:pt x="88" y="143"/>
                    <a:pt x="69" y="134"/>
                    <a:pt x="56" y="120"/>
                  </a:cubicBezTo>
                  <a:cubicBezTo>
                    <a:pt x="42" y="107"/>
                    <a:pt x="33" y="88"/>
                    <a:pt x="33" y="67"/>
                  </a:cubicBezTo>
                  <a:lnTo>
                    <a:pt x="33" y="33"/>
                  </a:lnTo>
                  <a:lnTo>
                    <a:pt x="185" y="33"/>
                  </a:lnTo>
                  <a:lnTo>
                    <a:pt x="185" y="67"/>
                  </a:lnTo>
                  <a:cubicBezTo>
                    <a:pt x="185" y="88"/>
                    <a:pt x="177" y="107"/>
                    <a:pt x="163" y="120"/>
                  </a:cubicBezTo>
                  <a:cubicBezTo>
                    <a:pt x="149" y="134"/>
                    <a:pt x="130" y="143"/>
                    <a:pt x="109" y="143"/>
                  </a:cubicBezTo>
                  <a:lnTo>
                    <a:pt x="109" y="159"/>
                  </a:lnTo>
                  <a:lnTo>
                    <a:pt x="109" y="176"/>
                  </a:lnTo>
                  <a:cubicBezTo>
                    <a:pt x="170" y="176"/>
                    <a:pt x="219" y="127"/>
                    <a:pt x="219" y="67"/>
                  </a:cubicBezTo>
                  <a:lnTo>
                    <a:pt x="219" y="0"/>
                  </a:lnTo>
                  <a:lnTo>
                    <a:pt x="0" y="0"/>
                  </a:lnTo>
                  <a:lnTo>
                    <a:pt x="0" y="67"/>
                  </a:lnTo>
                  <a:cubicBezTo>
                    <a:pt x="0" y="127"/>
                    <a:pt x="49" y="176"/>
                    <a:pt x="109" y="176"/>
                  </a:cubicBezTo>
                  <a:lnTo>
                    <a:pt x="109" y="15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2" name="Freeform 1101">
              <a:extLst>
                <a:ext uri="{FF2B5EF4-FFF2-40B4-BE49-F238E27FC236}">
                  <a16:creationId xmlns:a16="http://schemas.microsoft.com/office/drawing/2014/main" id="{6D3093C9-77A6-A4E0-E091-2E15499AE052}"/>
                </a:ext>
              </a:extLst>
            </p:cNvPr>
            <p:cNvSpPr>
              <a:spLocks/>
            </p:cNvSpPr>
            <p:nvPr/>
          </p:nvSpPr>
          <p:spPr bwMode="auto">
            <a:xfrm>
              <a:off x="3584576" y="3570288"/>
              <a:ext cx="60325" cy="69850"/>
            </a:xfrm>
            <a:custGeom>
              <a:avLst/>
              <a:gdLst>
                <a:gd name="T0" fmla="*/ 280 w 290"/>
                <a:gd name="T1" fmla="*/ 0 h 339"/>
                <a:gd name="T2" fmla="*/ 142 w 290"/>
                <a:gd name="T3" fmla="*/ 43 h 339"/>
                <a:gd name="T4" fmla="*/ 142 w 290"/>
                <a:gd name="T5" fmla="*/ 43 h 339"/>
                <a:gd name="T6" fmla="*/ 0 w 290"/>
                <a:gd name="T7" fmla="*/ 248 h 339"/>
                <a:gd name="T8" fmla="*/ 0 w 290"/>
                <a:gd name="T9" fmla="*/ 339 h 339"/>
                <a:gd name="T10" fmla="*/ 33 w 290"/>
                <a:gd name="T11" fmla="*/ 339 h 339"/>
                <a:gd name="T12" fmla="*/ 33 w 290"/>
                <a:gd name="T13" fmla="*/ 248 h 339"/>
                <a:gd name="T14" fmla="*/ 153 w 290"/>
                <a:gd name="T15" fmla="*/ 75 h 339"/>
                <a:gd name="T16" fmla="*/ 148 w 290"/>
                <a:gd name="T17" fmla="*/ 59 h 339"/>
                <a:gd name="T18" fmla="*/ 153 w 290"/>
                <a:gd name="T19" fmla="*/ 75 h 339"/>
                <a:gd name="T20" fmla="*/ 290 w 290"/>
                <a:gd name="T21" fmla="*/ 32 h 339"/>
                <a:gd name="T22" fmla="*/ 280 w 290"/>
                <a:gd name="T2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280" y="0"/>
                  </a:moveTo>
                  <a:lnTo>
                    <a:pt x="142" y="43"/>
                  </a:lnTo>
                  <a:lnTo>
                    <a:pt x="142" y="43"/>
                  </a:lnTo>
                  <a:cubicBezTo>
                    <a:pt x="56" y="75"/>
                    <a:pt x="0" y="157"/>
                    <a:pt x="0" y="248"/>
                  </a:cubicBezTo>
                  <a:lnTo>
                    <a:pt x="0" y="339"/>
                  </a:lnTo>
                  <a:lnTo>
                    <a:pt x="33" y="339"/>
                  </a:lnTo>
                  <a:lnTo>
                    <a:pt x="33" y="248"/>
                  </a:lnTo>
                  <a:cubicBezTo>
                    <a:pt x="33" y="170"/>
                    <a:pt x="81" y="101"/>
                    <a:pt x="153" y="75"/>
                  </a:cubicBezTo>
                  <a:lnTo>
                    <a:pt x="148" y="59"/>
                  </a:lnTo>
                  <a:lnTo>
                    <a:pt x="153" y="75"/>
                  </a:lnTo>
                  <a:lnTo>
                    <a:pt x="290" y="32"/>
                  </a:lnTo>
                  <a:lnTo>
                    <a:pt x="28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3" name="Freeform 1102">
              <a:extLst>
                <a:ext uri="{FF2B5EF4-FFF2-40B4-BE49-F238E27FC236}">
                  <a16:creationId xmlns:a16="http://schemas.microsoft.com/office/drawing/2014/main" id="{B1BF493F-5AEB-3C2B-EEEF-8919D5457DB6}"/>
                </a:ext>
              </a:extLst>
            </p:cNvPr>
            <p:cNvSpPr>
              <a:spLocks/>
            </p:cNvSpPr>
            <p:nvPr/>
          </p:nvSpPr>
          <p:spPr bwMode="auto">
            <a:xfrm>
              <a:off x="3660776" y="3530600"/>
              <a:ext cx="12700" cy="25400"/>
            </a:xfrm>
            <a:custGeom>
              <a:avLst/>
              <a:gdLst>
                <a:gd name="T0" fmla="*/ 27 w 60"/>
                <a:gd name="T1" fmla="*/ 2 h 124"/>
                <a:gd name="T2" fmla="*/ 27 w 60"/>
                <a:gd name="T3" fmla="*/ 2 h 124"/>
                <a:gd name="T4" fmla="*/ 27 w 60"/>
                <a:gd name="T5" fmla="*/ 5 h 124"/>
                <a:gd name="T6" fmla="*/ 0 w 60"/>
                <a:gd name="T7" fmla="*/ 108 h 124"/>
                <a:gd name="T8" fmla="*/ 29 w 60"/>
                <a:gd name="T9" fmla="*/ 124 h 124"/>
                <a:gd name="T10" fmla="*/ 60 w 60"/>
                <a:gd name="T11" fmla="*/ 5 h 124"/>
                <a:gd name="T12" fmla="*/ 60 w 60"/>
                <a:gd name="T13" fmla="*/ 0 h 124"/>
                <a:gd name="T14" fmla="*/ 27 w 60"/>
                <a:gd name="T15" fmla="*/ 2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124">
                  <a:moveTo>
                    <a:pt x="27" y="2"/>
                  </a:moveTo>
                  <a:lnTo>
                    <a:pt x="27" y="2"/>
                  </a:lnTo>
                  <a:cubicBezTo>
                    <a:pt x="27" y="3"/>
                    <a:pt x="27" y="4"/>
                    <a:pt x="27" y="5"/>
                  </a:cubicBezTo>
                  <a:cubicBezTo>
                    <a:pt x="27" y="17"/>
                    <a:pt x="25" y="60"/>
                    <a:pt x="0" y="108"/>
                  </a:cubicBezTo>
                  <a:lnTo>
                    <a:pt x="29" y="124"/>
                  </a:lnTo>
                  <a:cubicBezTo>
                    <a:pt x="58" y="69"/>
                    <a:pt x="60" y="21"/>
                    <a:pt x="60" y="5"/>
                  </a:cubicBezTo>
                  <a:cubicBezTo>
                    <a:pt x="60" y="2"/>
                    <a:pt x="60" y="1"/>
                    <a:pt x="60" y="0"/>
                  </a:cubicBezTo>
                  <a:lnTo>
                    <a:pt x="27" y="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4" name="Freeform 1103">
              <a:extLst>
                <a:ext uri="{FF2B5EF4-FFF2-40B4-BE49-F238E27FC236}">
                  <a16:creationId xmlns:a16="http://schemas.microsoft.com/office/drawing/2014/main" id="{58AEA87A-78F5-0CE2-2533-1CC9EE63507D}"/>
                </a:ext>
              </a:extLst>
            </p:cNvPr>
            <p:cNvSpPr>
              <a:spLocks/>
            </p:cNvSpPr>
            <p:nvPr/>
          </p:nvSpPr>
          <p:spPr bwMode="auto">
            <a:xfrm>
              <a:off x="3756026" y="3570288"/>
              <a:ext cx="58738" cy="69850"/>
            </a:xfrm>
            <a:custGeom>
              <a:avLst/>
              <a:gdLst>
                <a:gd name="T0" fmla="*/ 0 w 290"/>
                <a:gd name="T1" fmla="*/ 32 h 339"/>
                <a:gd name="T2" fmla="*/ 137 w 290"/>
                <a:gd name="T3" fmla="*/ 75 h 339"/>
                <a:gd name="T4" fmla="*/ 142 w 290"/>
                <a:gd name="T5" fmla="*/ 59 h 339"/>
                <a:gd name="T6" fmla="*/ 136 w 290"/>
                <a:gd name="T7" fmla="*/ 75 h 339"/>
                <a:gd name="T8" fmla="*/ 257 w 290"/>
                <a:gd name="T9" fmla="*/ 248 h 339"/>
                <a:gd name="T10" fmla="*/ 257 w 290"/>
                <a:gd name="T11" fmla="*/ 339 h 339"/>
                <a:gd name="T12" fmla="*/ 290 w 290"/>
                <a:gd name="T13" fmla="*/ 339 h 339"/>
                <a:gd name="T14" fmla="*/ 290 w 290"/>
                <a:gd name="T15" fmla="*/ 248 h 339"/>
                <a:gd name="T16" fmla="*/ 148 w 290"/>
                <a:gd name="T17" fmla="*/ 43 h 339"/>
                <a:gd name="T18" fmla="*/ 148 w 290"/>
                <a:gd name="T19" fmla="*/ 43 h 339"/>
                <a:gd name="T20" fmla="*/ 10 w 290"/>
                <a:gd name="T21" fmla="*/ 0 h 339"/>
                <a:gd name="T22" fmla="*/ 0 w 290"/>
                <a:gd name="T23" fmla="*/ 32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0" y="32"/>
                  </a:moveTo>
                  <a:lnTo>
                    <a:pt x="137" y="75"/>
                  </a:lnTo>
                  <a:lnTo>
                    <a:pt x="142" y="59"/>
                  </a:lnTo>
                  <a:lnTo>
                    <a:pt x="136" y="75"/>
                  </a:lnTo>
                  <a:cubicBezTo>
                    <a:pt x="209" y="101"/>
                    <a:pt x="257" y="170"/>
                    <a:pt x="257" y="248"/>
                  </a:cubicBezTo>
                  <a:lnTo>
                    <a:pt x="257" y="339"/>
                  </a:lnTo>
                  <a:lnTo>
                    <a:pt x="290" y="339"/>
                  </a:lnTo>
                  <a:lnTo>
                    <a:pt x="290" y="248"/>
                  </a:lnTo>
                  <a:cubicBezTo>
                    <a:pt x="290" y="157"/>
                    <a:pt x="233" y="75"/>
                    <a:pt x="148" y="43"/>
                  </a:cubicBezTo>
                  <a:lnTo>
                    <a:pt x="148" y="43"/>
                  </a:lnTo>
                  <a:lnTo>
                    <a:pt x="10" y="0"/>
                  </a:lnTo>
                  <a:lnTo>
                    <a:pt x="0" y="3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5" name="Freeform 1104">
              <a:extLst>
                <a:ext uri="{FF2B5EF4-FFF2-40B4-BE49-F238E27FC236}">
                  <a16:creationId xmlns:a16="http://schemas.microsoft.com/office/drawing/2014/main" id="{77460D04-06FC-0C40-54AE-EBAEAA0B116A}"/>
                </a:ext>
              </a:extLst>
            </p:cNvPr>
            <p:cNvSpPr>
              <a:spLocks/>
            </p:cNvSpPr>
            <p:nvPr/>
          </p:nvSpPr>
          <p:spPr bwMode="auto">
            <a:xfrm>
              <a:off x="3727451" y="3522663"/>
              <a:ext cx="11113" cy="33338"/>
            </a:xfrm>
            <a:custGeom>
              <a:avLst/>
              <a:gdLst>
                <a:gd name="T0" fmla="*/ 0 w 58"/>
                <a:gd name="T1" fmla="*/ 0 h 163"/>
                <a:gd name="T2" fmla="*/ 0 w 58"/>
                <a:gd name="T3" fmla="*/ 19 h 163"/>
                <a:gd name="T4" fmla="*/ 5 w 58"/>
                <a:gd name="T5" fmla="*/ 84 h 163"/>
                <a:gd name="T6" fmla="*/ 28 w 58"/>
                <a:gd name="T7" fmla="*/ 163 h 163"/>
                <a:gd name="T8" fmla="*/ 58 w 58"/>
                <a:gd name="T9" fmla="*/ 147 h 163"/>
                <a:gd name="T10" fmla="*/ 38 w 58"/>
                <a:gd name="T11" fmla="*/ 79 h 163"/>
                <a:gd name="T12" fmla="*/ 33 w 58"/>
                <a:gd name="T13" fmla="*/ 19 h 163"/>
                <a:gd name="T14" fmla="*/ 34 w 58"/>
                <a:gd name="T15" fmla="*/ 7 h 163"/>
                <a:gd name="T16" fmla="*/ 34 w 58"/>
                <a:gd name="T17" fmla="*/ 3 h 163"/>
                <a:gd name="T18" fmla="*/ 34 w 58"/>
                <a:gd name="T19" fmla="*/ 2 h 163"/>
                <a:gd name="T20" fmla="*/ 0 w 58"/>
                <a:gd name="T2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163">
                  <a:moveTo>
                    <a:pt x="0" y="0"/>
                  </a:moveTo>
                  <a:cubicBezTo>
                    <a:pt x="0" y="0"/>
                    <a:pt x="0" y="7"/>
                    <a:pt x="0" y="19"/>
                  </a:cubicBezTo>
                  <a:cubicBezTo>
                    <a:pt x="0" y="34"/>
                    <a:pt x="1" y="58"/>
                    <a:pt x="5" y="84"/>
                  </a:cubicBezTo>
                  <a:cubicBezTo>
                    <a:pt x="9" y="109"/>
                    <a:pt x="15" y="138"/>
                    <a:pt x="28" y="163"/>
                  </a:cubicBezTo>
                  <a:lnTo>
                    <a:pt x="58" y="147"/>
                  </a:lnTo>
                  <a:cubicBezTo>
                    <a:pt x="48" y="127"/>
                    <a:pt x="41" y="102"/>
                    <a:pt x="38" y="79"/>
                  </a:cubicBezTo>
                  <a:cubicBezTo>
                    <a:pt x="34" y="55"/>
                    <a:pt x="33" y="33"/>
                    <a:pt x="33" y="19"/>
                  </a:cubicBezTo>
                  <a:cubicBezTo>
                    <a:pt x="33" y="14"/>
                    <a:pt x="33" y="9"/>
                    <a:pt x="34" y="7"/>
                  </a:cubicBezTo>
                  <a:lnTo>
                    <a:pt x="34" y="3"/>
                  </a:lnTo>
                  <a:lnTo>
                    <a:pt x="34" y="2"/>
                  </a:lnTo>
                  <a:lnTo>
                    <a:pt x="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6" name="Freeform 1105">
              <a:extLst>
                <a:ext uri="{FF2B5EF4-FFF2-40B4-BE49-F238E27FC236}">
                  <a16:creationId xmlns:a16="http://schemas.microsoft.com/office/drawing/2014/main" id="{3071960A-8351-5C5A-D801-4E6CCB1DF61B}"/>
                </a:ext>
              </a:extLst>
            </p:cNvPr>
            <p:cNvSpPr>
              <a:spLocks/>
            </p:cNvSpPr>
            <p:nvPr/>
          </p:nvSpPr>
          <p:spPr bwMode="auto">
            <a:xfrm>
              <a:off x="3611563" y="3348038"/>
              <a:ext cx="117475" cy="80963"/>
            </a:xfrm>
            <a:custGeom>
              <a:avLst/>
              <a:gdLst>
                <a:gd name="T0" fmla="*/ 543 w 573"/>
                <a:gd name="T1" fmla="*/ 8 h 389"/>
                <a:gd name="T2" fmla="*/ 419 w 573"/>
                <a:gd name="T3" fmla="*/ 0 h 389"/>
                <a:gd name="T4" fmla="*/ 162 w 573"/>
                <a:gd name="T5" fmla="*/ 46 h 389"/>
                <a:gd name="T6" fmla="*/ 53 w 573"/>
                <a:gd name="T7" fmla="*/ 128 h 389"/>
                <a:gd name="T8" fmla="*/ 1 w 573"/>
                <a:gd name="T9" fmla="*/ 269 h 389"/>
                <a:gd name="T10" fmla="*/ 0 w 573"/>
                <a:gd name="T11" fmla="*/ 287 h 389"/>
                <a:gd name="T12" fmla="*/ 221 w 573"/>
                <a:gd name="T13" fmla="*/ 287 h 389"/>
                <a:gd name="T14" fmla="*/ 221 w 573"/>
                <a:gd name="T15" fmla="*/ 270 h 389"/>
                <a:gd name="T16" fmla="*/ 206 w 573"/>
                <a:gd name="T17" fmla="*/ 277 h 389"/>
                <a:gd name="T18" fmla="*/ 261 w 573"/>
                <a:gd name="T19" fmla="*/ 335 h 389"/>
                <a:gd name="T20" fmla="*/ 476 w 573"/>
                <a:gd name="T21" fmla="*/ 389 h 389"/>
                <a:gd name="T22" fmla="*/ 573 w 573"/>
                <a:gd name="T23" fmla="*/ 389 h 389"/>
                <a:gd name="T24" fmla="*/ 573 w 573"/>
                <a:gd name="T25" fmla="*/ 356 h 389"/>
                <a:gd name="T26" fmla="*/ 476 w 573"/>
                <a:gd name="T27" fmla="*/ 356 h 389"/>
                <a:gd name="T28" fmla="*/ 280 w 573"/>
                <a:gd name="T29" fmla="*/ 308 h 389"/>
                <a:gd name="T30" fmla="*/ 244 w 573"/>
                <a:gd name="T31" fmla="*/ 276 h 389"/>
                <a:gd name="T32" fmla="*/ 237 w 573"/>
                <a:gd name="T33" fmla="*/ 266 h 389"/>
                <a:gd name="T34" fmla="*/ 236 w 573"/>
                <a:gd name="T35" fmla="*/ 263 h 389"/>
                <a:gd name="T36" fmla="*/ 236 w 573"/>
                <a:gd name="T37" fmla="*/ 263 h 389"/>
                <a:gd name="T38" fmla="*/ 236 w 573"/>
                <a:gd name="T39" fmla="*/ 263 h 389"/>
                <a:gd name="T40" fmla="*/ 226 w 573"/>
                <a:gd name="T41" fmla="*/ 267 h 389"/>
                <a:gd name="T42" fmla="*/ 236 w 573"/>
                <a:gd name="T43" fmla="*/ 263 h 389"/>
                <a:gd name="T44" fmla="*/ 236 w 573"/>
                <a:gd name="T45" fmla="*/ 263 h 389"/>
                <a:gd name="T46" fmla="*/ 226 w 573"/>
                <a:gd name="T47" fmla="*/ 267 h 389"/>
                <a:gd name="T48" fmla="*/ 236 w 573"/>
                <a:gd name="T49" fmla="*/ 263 h 389"/>
                <a:gd name="T50" fmla="*/ 231 w 573"/>
                <a:gd name="T51" fmla="*/ 253 h 389"/>
                <a:gd name="T52" fmla="*/ 18 w 573"/>
                <a:gd name="T53" fmla="*/ 253 h 389"/>
                <a:gd name="T54" fmla="*/ 18 w 573"/>
                <a:gd name="T55" fmla="*/ 270 h 389"/>
                <a:gd name="T56" fmla="*/ 35 w 573"/>
                <a:gd name="T57" fmla="*/ 271 h 389"/>
                <a:gd name="T58" fmla="*/ 80 w 573"/>
                <a:gd name="T59" fmla="*/ 148 h 389"/>
                <a:gd name="T60" fmla="*/ 235 w 573"/>
                <a:gd name="T61" fmla="*/ 55 h 389"/>
                <a:gd name="T62" fmla="*/ 419 w 573"/>
                <a:gd name="T63" fmla="*/ 33 h 389"/>
                <a:gd name="T64" fmla="*/ 505 w 573"/>
                <a:gd name="T65" fmla="*/ 37 h 389"/>
                <a:gd name="T66" fmla="*/ 529 w 573"/>
                <a:gd name="T67" fmla="*/ 39 h 389"/>
                <a:gd name="T68" fmla="*/ 536 w 573"/>
                <a:gd name="T69" fmla="*/ 40 h 389"/>
                <a:gd name="T70" fmla="*/ 538 w 573"/>
                <a:gd name="T71" fmla="*/ 41 h 389"/>
                <a:gd name="T72" fmla="*/ 543 w 573"/>
                <a:gd name="T73" fmla="*/ 8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73" h="389">
                  <a:moveTo>
                    <a:pt x="543" y="8"/>
                  </a:moveTo>
                  <a:cubicBezTo>
                    <a:pt x="542" y="7"/>
                    <a:pt x="491" y="0"/>
                    <a:pt x="419" y="0"/>
                  </a:cubicBezTo>
                  <a:cubicBezTo>
                    <a:pt x="343" y="0"/>
                    <a:pt x="245" y="8"/>
                    <a:pt x="162" y="46"/>
                  </a:cubicBezTo>
                  <a:cubicBezTo>
                    <a:pt x="120" y="65"/>
                    <a:pt x="82" y="91"/>
                    <a:pt x="53" y="128"/>
                  </a:cubicBezTo>
                  <a:cubicBezTo>
                    <a:pt x="25" y="164"/>
                    <a:pt x="6" y="211"/>
                    <a:pt x="1" y="269"/>
                  </a:cubicBezTo>
                  <a:lnTo>
                    <a:pt x="0" y="287"/>
                  </a:lnTo>
                  <a:lnTo>
                    <a:pt x="221" y="287"/>
                  </a:lnTo>
                  <a:lnTo>
                    <a:pt x="221" y="270"/>
                  </a:lnTo>
                  <a:lnTo>
                    <a:pt x="206" y="277"/>
                  </a:lnTo>
                  <a:cubicBezTo>
                    <a:pt x="207" y="279"/>
                    <a:pt x="220" y="307"/>
                    <a:pt x="261" y="335"/>
                  </a:cubicBezTo>
                  <a:cubicBezTo>
                    <a:pt x="302" y="363"/>
                    <a:pt x="370" y="389"/>
                    <a:pt x="476" y="389"/>
                  </a:cubicBezTo>
                  <a:lnTo>
                    <a:pt x="573" y="389"/>
                  </a:lnTo>
                  <a:lnTo>
                    <a:pt x="573" y="356"/>
                  </a:lnTo>
                  <a:lnTo>
                    <a:pt x="476" y="356"/>
                  </a:lnTo>
                  <a:cubicBezTo>
                    <a:pt x="375" y="356"/>
                    <a:pt x="315" y="331"/>
                    <a:pt x="280" y="308"/>
                  </a:cubicBezTo>
                  <a:cubicBezTo>
                    <a:pt x="262" y="296"/>
                    <a:pt x="251" y="284"/>
                    <a:pt x="244" y="276"/>
                  </a:cubicBezTo>
                  <a:cubicBezTo>
                    <a:pt x="241" y="271"/>
                    <a:pt x="239" y="268"/>
                    <a:pt x="237" y="266"/>
                  </a:cubicBezTo>
                  <a:lnTo>
                    <a:pt x="236" y="263"/>
                  </a:lnTo>
                  <a:lnTo>
                    <a:pt x="236" y="263"/>
                  </a:lnTo>
                  <a:lnTo>
                    <a:pt x="236" y="263"/>
                  </a:lnTo>
                  <a:lnTo>
                    <a:pt x="226" y="267"/>
                  </a:lnTo>
                  <a:lnTo>
                    <a:pt x="236" y="263"/>
                  </a:lnTo>
                  <a:lnTo>
                    <a:pt x="236" y="263"/>
                  </a:lnTo>
                  <a:lnTo>
                    <a:pt x="226" y="267"/>
                  </a:lnTo>
                  <a:lnTo>
                    <a:pt x="236" y="263"/>
                  </a:lnTo>
                  <a:lnTo>
                    <a:pt x="231" y="253"/>
                  </a:lnTo>
                  <a:lnTo>
                    <a:pt x="18" y="253"/>
                  </a:lnTo>
                  <a:lnTo>
                    <a:pt x="18" y="270"/>
                  </a:lnTo>
                  <a:lnTo>
                    <a:pt x="35" y="271"/>
                  </a:lnTo>
                  <a:cubicBezTo>
                    <a:pt x="39" y="219"/>
                    <a:pt x="55" y="180"/>
                    <a:pt x="80" y="148"/>
                  </a:cubicBezTo>
                  <a:cubicBezTo>
                    <a:pt x="117" y="101"/>
                    <a:pt x="173" y="72"/>
                    <a:pt x="235" y="55"/>
                  </a:cubicBezTo>
                  <a:cubicBezTo>
                    <a:pt x="297" y="38"/>
                    <a:pt x="364" y="33"/>
                    <a:pt x="419" y="33"/>
                  </a:cubicBezTo>
                  <a:cubicBezTo>
                    <a:pt x="454" y="33"/>
                    <a:pt x="484" y="35"/>
                    <a:pt x="505" y="37"/>
                  </a:cubicBezTo>
                  <a:cubicBezTo>
                    <a:pt x="515" y="38"/>
                    <a:pt x="524" y="39"/>
                    <a:pt x="529" y="39"/>
                  </a:cubicBezTo>
                  <a:cubicBezTo>
                    <a:pt x="532" y="40"/>
                    <a:pt x="534" y="40"/>
                    <a:pt x="536" y="40"/>
                  </a:cubicBezTo>
                  <a:lnTo>
                    <a:pt x="538" y="41"/>
                  </a:lnTo>
                  <a:lnTo>
                    <a:pt x="543" y="8"/>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7" name="Freeform 1106">
              <a:extLst>
                <a:ext uri="{FF2B5EF4-FFF2-40B4-BE49-F238E27FC236}">
                  <a16:creationId xmlns:a16="http://schemas.microsoft.com/office/drawing/2014/main" id="{0DAC9698-093C-C6AD-2F6C-2FF22047AB7E}"/>
                </a:ext>
              </a:extLst>
            </p:cNvPr>
            <p:cNvSpPr>
              <a:spLocks/>
            </p:cNvSpPr>
            <p:nvPr/>
          </p:nvSpPr>
          <p:spPr bwMode="auto">
            <a:xfrm>
              <a:off x="3716338" y="3362325"/>
              <a:ext cx="61913" cy="98425"/>
            </a:xfrm>
            <a:custGeom>
              <a:avLst/>
              <a:gdLst>
                <a:gd name="T0" fmla="*/ 4 w 297"/>
                <a:gd name="T1" fmla="*/ 34 h 483"/>
                <a:gd name="T2" fmla="*/ 4 w 297"/>
                <a:gd name="T3" fmla="*/ 34 h 483"/>
                <a:gd name="T4" fmla="*/ 19 w 297"/>
                <a:gd name="T5" fmla="*/ 34 h 483"/>
                <a:gd name="T6" fmla="*/ 163 w 297"/>
                <a:gd name="T7" fmla="*/ 79 h 483"/>
                <a:gd name="T8" fmla="*/ 233 w 297"/>
                <a:gd name="T9" fmla="*/ 170 h 483"/>
                <a:gd name="T10" fmla="*/ 264 w 297"/>
                <a:gd name="T11" fmla="*/ 341 h 483"/>
                <a:gd name="T12" fmla="*/ 261 w 297"/>
                <a:gd name="T13" fmla="*/ 398 h 483"/>
                <a:gd name="T14" fmla="*/ 206 w 297"/>
                <a:gd name="T15" fmla="*/ 450 h 483"/>
                <a:gd name="T16" fmla="*/ 206 w 297"/>
                <a:gd name="T17" fmla="*/ 483 h 483"/>
                <a:gd name="T18" fmla="*/ 295 w 297"/>
                <a:gd name="T19" fmla="*/ 401 h 483"/>
                <a:gd name="T20" fmla="*/ 297 w 297"/>
                <a:gd name="T21" fmla="*/ 341 h 483"/>
                <a:gd name="T22" fmla="*/ 263 w 297"/>
                <a:gd name="T23" fmla="*/ 157 h 483"/>
                <a:gd name="T24" fmla="*/ 136 w 297"/>
                <a:gd name="T25" fmla="*/ 25 h 483"/>
                <a:gd name="T26" fmla="*/ 19 w 297"/>
                <a:gd name="T27" fmla="*/ 0 h 483"/>
                <a:gd name="T28" fmla="*/ 0 w 297"/>
                <a:gd name="T29" fmla="*/ 1 h 483"/>
                <a:gd name="T30" fmla="*/ 4 w 297"/>
                <a:gd name="T31" fmla="*/ 34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7" h="483">
                  <a:moveTo>
                    <a:pt x="4" y="34"/>
                  </a:moveTo>
                  <a:lnTo>
                    <a:pt x="4" y="34"/>
                  </a:lnTo>
                  <a:cubicBezTo>
                    <a:pt x="5" y="34"/>
                    <a:pt x="10" y="34"/>
                    <a:pt x="19" y="34"/>
                  </a:cubicBezTo>
                  <a:cubicBezTo>
                    <a:pt x="48" y="34"/>
                    <a:pt x="110" y="39"/>
                    <a:pt x="163" y="79"/>
                  </a:cubicBezTo>
                  <a:cubicBezTo>
                    <a:pt x="189" y="100"/>
                    <a:pt x="214" y="128"/>
                    <a:pt x="233" y="170"/>
                  </a:cubicBezTo>
                  <a:cubicBezTo>
                    <a:pt x="251" y="212"/>
                    <a:pt x="264" y="267"/>
                    <a:pt x="264" y="341"/>
                  </a:cubicBezTo>
                  <a:cubicBezTo>
                    <a:pt x="264" y="359"/>
                    <a:pt x="263" y="378"/>
                    <a:pt x="261" y="398"/>
                  </a:cubicBezTo>
                  <a:cubicBezTo>
                    <a:pt x="259" y="428"/>
                    <a:pt x="235" y="450"/>
                    <a:pt x="206" y="450"/>
                  </a:cubicBezTo>
                  <a:lnTo>
                    <a:pt x="206" y="483"/>
                  </a:lnTo>
                  <a:cubicBezTo>
                    <a:pt x="253" y="483"/>
                    <a:pt x="291" y="447"/>
                    <a:pt x="295" y="401"/>
                  </a:cubicBezTo>
                  <a:cubicBezTo>
                    <a:pt x="296" y="380"/>
                    <a:pt x="297" y="360"/>
                    <a:pt x="297" y="341"/>
                  </a:cubicBezTo>
                  <a:cubicBezTo>
                    <a:pt x="297" y="264"/>
                    <a:pt x="284" y="204"/>
                    <a:pt x="263" y="157"/>
                  </a:cubicBezTo>
                  <a:cubicBezTo>
                    <a:pt x="232" y="86"/>
                    <a:pt x="183" y="46"/>
                    <a:pt x="136" y="25"/>
                  </a:cubicBezTo>
                  <a:cubicBezTo>
                    <a:pt x="89" y="4"/>
                    <a:pt x="44" y="0"/>
                    <a:pt x="19" y="0"/>
                  </a:cubicBezTo>
                  <a:cubicBezTo>
                    <a:pt x="8" y="0"/>
                    <a:pt x="0" y="1"/>
                    <a:pt x="0" y="1"/>
                  </a:cubicBezTo>
                  <a:lnTo>
                    <a:pt x="4" y="34"/>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8" name="Freeform 1107">
              <a:extLst>
                <a:ext uri="{FF2B5EF4-FFF2-40B4-BE49-F238E27FC236}">
                  <a16:creationId xmlns:a16="http://schemas.microsoft.com/office/drawing/2014/main" id="{BE14BDDB-2B01-C529-F453-60EB8F3F0ADB}"/>
                </a:ext>
              </a:extLst>
            </p:cNvPr>
            <p:cNvSpPr>
              <a:spLocks/>
            </p:cNvSpPr>
            <p:nvPr/>
          </p:nvSpPr>
          <p:spPr bwMode="auto">
            <a:xfrm>
              <a:off x="3625851" y="3400425"/>
              <a:ext cx="139700" cy="136525"/>
            </a:xfrm>
            <a:custGeom>
              <a:avLst/>
              <a:gdLst>
                <a:gd name="T0" fmla="*/ 12 w 677"/>
                <a:gd name="T1" fmla="*/ 191 h 657"/>
                <a:gd name="T2" fmla="*/ 32 w 677"/>
                <a:gd name="T3" fmla="*/ 263 h 657"/>
                <a:gd name="T4" fmla="*/ 0 w 677"/>
                <a:gd name="T5" fmla="*/ 383 h 657"/>
                <a:gd name="T6" fmla="*/ 142 w 677"/>
                <a:gd name="T7" fmla="*/ 631 h 657"/>
                <a:gd name="T8" fmla="*/ 286 w 677"/>
                <a:gd name="T9" fmla="*/ 640 h 657"/>
                <a:gd name="T10" fmla="*/ 307 w 677"/>
                <a:gd name="T11" fmla="*/ 657 h 657"/>
                <a:gd name="T12" fmla="*/ 582 w 677"/>
                <a:gd name="T13" fmla="*/ 553 h 657"/>
                <a:gd name="T14" fmla="*/ 621 w 677"/>
                <a:gd name="T15" fmla="*/ 401 h 657"/>
                <a:gd name="T16" fmla="*/ 621 w 677"/>
                <a:gd name="T17" fmla="*/ 402 h 657"/>
                <a:gd name="T18" fmla="*/ 604 w 677"/>
                <a:gd name="T19" fmla="*/ 328 h 657"/>
                <a:gd name="T20" fmla="*/ 606 w 677"/>
                <a:gd name="T21" fmla="*/ 345 h 657"/>
                <a:gd name="T22" fmla="*/ 606 w 677"/>
                <a:gd name="T23" fmla="*/ 202 h 657"/>
                <a:gd name="T24" fmla="*/ 590 w 677"/>
                <a:gd name="T25" fmla="*/ 219 h 657"/>
                <a:gd name="T26" fmla="*/ 608 w 677"/>
                <a:gd name="T27" fmla="*/ 185 h 657"/>
                <a:gd name="T28" fmla="*/ 561 w 677"/>
                <a:gd name="T29" fmla="*/ 13 h 657"/>
                <a:gd name="T30" fmla="*/ 568 w 677"/>
                <a:gd name="T31" fmla="*/ 106 h 657"/>
                <a:gd name="T32" fmla="*/ 574 w 677"/>
                <a:gd name="T33" fmla="*/ 209 h 657"/>
                <a:gd name="T34" fmla="*/ 574 w 677"/>
                <a:gd name="T35" fmla="*/ 217 h 657"/>
                <a:gd name="T36" fmla="*/ 606 w 677"/>
                <a:gd name="T37" fmla="*/ 235 h 657"/>
                <a:gd name="T38" fmla="*/ 606 w 677"/>
                <a:gd name="T39" fmla="*/ 311 h 657"/>
                <a:gd name="T40" fmla="*/ 588 w 677"/>
                <a:gd name="T41" fmla="*/ 311 h 657"/>
                <a:gd name="T42" fmla="*/ 588 w 677"/>
                <a:gd name="T43" fmla="*/ 404 h 657"/>
                <a:gd name="T44" fmla="*/ 556 w 677"/>
                <a:gd name="T45" fmla="*/ 533 h 657"/>
                <a:gd name="T46" fmla="*/ 307 w 677"/>
                <a:gd name="T47" fmla="*/ 624 h 657"/>
                <a:gd name="T48" fmla="*/ 288 w 677"/>
                <a:gd name="T49" fmla="*/ 623 h 657"/>
                <a:gd name="T50" fmla="*/ 286 w 677"/>
                <a:gd name="T51" fmla="*/ 623 h 657"/>
                <a:gd name="T52" fmla="*/ 155 w 677"/>
                <a:gd name="T53" fmla="*/ 600 h 657"/>
                <a:gd name="T54" fmla="*/ 33 w 677"/>
                <a:gd name="T55" fmla="*/ 383 h 657"/>
                <a:gd name="T56" fmla="*/ 46 w 677"/>
                <a:gd name="T57" fmla="*/ 276 h 657"/>
                <a:gd name="T58" fmla="*/ 48 w 677"/>
                <a:gd name="T59" fmla="*/ 268 h 657"/>
                <a:gd name="T60" fmla="*/ 49 w 677"/>
                <a:gd name="T61" fmla="*/ 264 h 657"/>
                <a:gd name="T62" fmla="*/ 45 w 677"/>
                <a:gd name="T63" fmla="*/ 191 h 657"/>
                <a:gd name="T64" fmla="*/ 50 w 677"/>
                <a:gd name="T65"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7" h="657">
                  <a:moveTo>
                    <a:pt x="50" y="0"/>
                  </a:moveTo>
                  <a:cubicBezTo>
                    <a:pt x="30" y="42"/>
                    <a:pt x="12" y="104"/>
                    <a:pt x="12" y="191"/>
                  </a:cubicBezTo>
                  <a:cubicBezTo>
                    <a:pt x="12" y="214"/>
                    <a:pt x="13" y="238"/>
                    <a:pt x="16" y="264"/>
                  </a:cubicBezTo>
                  <a:lnTo>
                    <a:pt x="32" y="263"/>
                  </a:lnTo>
                  <a:lnTo>
                    <a:pt x="16" y="258"/>
                  </a:lnTo>
                  <a:cubicBezTo>
                    <a:pt x="16" y="259"/>
                    <a:pt x="0" y="314"/>
                    <a:pt x="0" y="383"/>
                  </a:cubicBezTo>
                  <a:cubicBezTo>
                    <a:pt x="0" y="441"/>
                    <a:pt x="11" y="508"/>
                    <a:pt x="53" y="563"/>
                  </a:cubicBezTo>
                  <a:cubicBezTo>
                    <a:pt x="74" y="591"/>
                    <a:pt x="103" y="614"/>
                    <a:pt x="142" y="631"/>
                  </a:cubicBezTo>
                  <a:cubicBezTo>
                    <a:pt x="180" y="647"/>
                    <a:pt x="227" y="657"/>
                    <a:pt x="286" y="657"/>
                  </a:cubicBezTo>
                  <a:lnTo>
                    <a:pt x="286" y="640"/>
                  </a:lnTo>
                  <a:lnTo>
                    <a:pt x="285" y="657"/>
                  </a:lnTo>
                  <a:cubicBezTo>
                    <a:pt x="285" y="657"/>
                    <a:pt x="293" y="657"/>
                    <a:pt x="307" y="657"/>
                  </a:cubicBezTo>
                  <a:cubicBezTo>
                    <a:pt x="345" y="657"/>
                    <a:pt x="421" y="653"/>
                    <a:pt x="490" y="623"/>
                  </a:cubicBezTo>
                  <a:cubicBezTo>
                    <a:pt x="525" y="608"/>
                    <a:pt x="558" y="586"/>
                    <a:pt x="582" y="553"/>
                  </a:cubicBezTo>
                  <a:cubicBezTo>
                    <a:pt x="607" y="521"/>
                    <a:pt x="622" y="479"/>
                    <a:pt x="622" y="426"/>
                  </a:cubicBezTo>
                  <a:cubicBezTo>
                    <a:pt x="622" y="418"/>
                    <a:pt x="622" y="409"/>
                    <a:pt x="621" y="401"/>
                  </a:cubicBezTo>
                  <a:lnTo>
                    <a:pt x="604" y="402"/>
                  </a:lnTo>
                  <a:lnTo>
                    <a:pt x="621" y="402"/>
                  </a:lnTo>
                  <a:lnTo>
                    <a:pt x="621" y="328"/>
                  </a:lnTo>
                  <a:lnTo>
                    <a:pt x="604" y="328"/>
                  </a:lnTo>
                  <a:lnTo>
                    <a:pt x="604" y="345"/>
                  </a:lnTo>
                  <a:lnTo>
                    <a:pt x="606" y="345"/>
                  </a:lnTo>
                  <a:cubicBezTo>
                    <a:pt x="645" y="345"/>
                    <a:pt x="677" y="313"/>
                    <a:pt x="677" y="273"/>
                  </a:cubicBezTo>
                  <a:cubicBezTo>
                    <a:pt x="677" y="234"/>
                    <a:pt x="645" y="202"/>
                    <a:pt x="606" y="202"/>
                  </a:cubicBezTo>
                  <a:lnTo>
                    <a:pt x="590" y="202"/>
                  </a:lnTo>
                  <a:lnTo>
                    <a:pt x="590" y="219"/>
                  </a:lnTo>
                  <a:lnTo>
                    <a:pt x="607" y="220"/>
                  </a:lnTo>
                  <a:cubicBezTo>
                    <a:pt x="607" y="220"/>
                    <a:pt x="608" y="206"/>
                    <a:pt x="608" y="185"/>
                  </a:cubicBezTo>
                  <a:cubicBezTo>
                    <a:pt x="608" y="162"/>
                    <a:pt x="607" y="131"/>
                    <a:pt x="600" y="100"/>
                  </a:cubicBezTo>
                  <a:cubicBezTo>
                    <a:pt x="594" y="68"/>
                    <a:pt x="583" y="37"/>
                    <a:pt x="561" y="13"/>
                  </a:cubicBezTo>
                  <a:lnTo>
                    <a:pt x="537" y="36"/>
                  </a:lnTo>
                  <a:cubicBezTo>
                    <a:pt x="552" y="52"/>
                    <a:pt x="562" y="78"/>
                    <a:pt x="568" y="106"/>
                  </a:cubicBezTo>
                  <a:cubicBezTo>
                    <a:pt x="573" y="135"/>
                    <a:pt x="575" y="164"/>
                    <a:pt x="575" y="185"/>
                  </a:cubicBezTo>
                  <a:cubicBezTo>
                    <a:pt x="575" y="195"/>
                    <a:pt x="574" y="203"/>
                    <a:pt x="574" y="209"/>
                  </a:cubicBezTo>
                  <a:cubicBezTo>
                    <a:pt x="574" y="211"/>
                    <a:pt x="574" y="214"/>
                    <a:pt x="574" y="215"/>
                  </a:cubicBezTo>
                  <a:lnTo>
                    <a:pt x="574" y="217"/>
                  </a:lnTo>
                  <a:lnTo>
                    <a:pt x="572" y="235"/>
                  </a:lnTo>
                  <a:lnTo>
                    <a:pt x="606" y="235"/>
                  </a:lnTo>
                  <a:cubicBezTo>
                    <a:pt x="627" y="235"/>
                    <a:pt x="644" y="252"/>
                    <a:pt x="644" y="273"/>
                  </a:cubicBezTo>
                  <a:cubicBezTo>
                    <a:pt x="644" y="294"/>
                    <a:pt x="627" y="311"/>
                    <a:pt x="606" y="311"/>
                  </a:cubicBezTo>
                  <a:lnTo>
                    <a:pt x="604" y="311"/>
                  </a:lnTo>
                  <a:lnTo>
                    <a:pt x="588" y="311"/>
                  </a:lnTo>
                  <a:lnTo>
                    <a:pt x="588" y="403"/>
                  </a:lnTo>
                  <a:lnTo>
                    <a:pt x="588" y="404"/>
                  </a:lnTo>
                  <a:cubicBezTo>
                    <a:pt x="588" y="411"/>
                    <a:pt x="589" y="419"/>
                    <a:pt x="589" y="426"/>
                  </a:cubicBezTo>
                  <a:cubicBezTo>
                    <a:pt x="588" y="473"/>
                    <a:pt x="576" y="507"/>
                    <a:pt x="556" y="533"/>
                  </a:cubicBezTo>
                  <a:cubicBezTo>
                    <a:pt x="525" y="573"/>
                    <a:pt x="477" y="596"/>
                    <a:pt x="429" y="609"/>
                  </a:cubicBezTo>
                  <a:cubicBezTo>
                    <a:pt x="381" y="622"/>
                    <a:pt x="333" y="624"/>
                    <a:pt x="307" y="624"/>
                  </a:cubicBezTo>
                  <a:cubicBezTo>
                    <a:pt x="301" y="624"/>
                    <a:pt x="296" y="624"/>
                    <a:pt x="292" y="624"/>
                  </a:cubicBezTo>
                  <a:cubicBezTo>
                    <a:pt x="290" y="623"/>
                    <a:pt x="289" y="623"/>
                    <a:pt x="288" y="623"/>
                  </a:cubicBezTo>
                  <a:lnTo>
                    <a:pt x="287" y="623"/>
                  </a:lnTo>
                  <a:lnTo>
                    <a:pt x="286" y="623"/>
                  </a:lnTo>
                  <a:lnTo>
                    <a:pt x="286" y="623"/>
                  </a:lnTo>
                  <a:cubicBezTo>
                    <a:pt x="231" y="623"/>
                    <a:pt x="188" y="614"/>
                    <a:pt x="155" y="600"/>
                  </a:cubicBezTo>
                  <a:cubicBezTo>
                    <a:pt x="105" y="578"/>
                    <a:pt x="75" y="545"/>
                    <a:pt x="57" y="506"/>
                  </a:cubicBezTo>
                  <a:cubicBezTo>
                    <a:pt x="39" y="467"/>
                    <a:pt x="33" y="423"/>
                    <a:pt x="33" y="383"/>
                  </a:cubicBezTo>
                  <a:cubicBezTo>
                    <a:pt x="33" y="351"/>
                    <a:pt x="37" y="322"/>
                    <a:pt x="41" y="301"/>
                  </a:cubicBezTo>
                  <a:cubicBezTo>
                    <a:pt x="43" y="290"/>
                    <a:pt x="45" y="282"/>
                    <a:pt x="46" y="276"/>
                  </a:cubicBezTo>
                  <a:cubicBezTo>
                    <a:pt x="47" y="273"/>
                    <a:pt x="47" y="271"/>
                    <a:pt x="48" y="269"/>
                  </a:cubicBezTo>
                  <a:lnTo>
                    <a:pt x="48" y="268"/>
                  </a:lnTo>
                  <a:lnTo>
                    <a:pt x="48" y="267"/>
                  </a:lnTo>
                  <a:lnTo>
                    <a:pt x="49" y="264"/>
                  </a:lnTo>
                  <a:lnTo>
                    <a:pt x="49" y="261"/>
                  </a:lnTo>
                  <a:cubicBezTo>
                    <a:pt x="47" y="236"/>
                    <a:pt x="45" y="213"/>
                    <a:pt x="45" y="191"/>
                  </a:cubicBezTo>
                  <a:cubicBezTo>
                    <a:pt x="45" y="108"/>
                    <a:pt x="62" y="52"/>
                    <a:pt x="80" y="15"/>
                  </a:cubicBezTo>
                  <a:lnTo>
                    <a:pt x="5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9" name="Freeform 1108">
              <a:extLst>
                <a:ext uri="{FF2B5EF4-FFF2-40B4-BE49-F238E27FC236}">
                  <a16:creationId xmlns:a16="http://schemas.microsoft.com/office/drawing/2014/main" id="{6254270F-3A35-8899-F67E-BF07C02FCDD6}"/>
                </a:ext>
              </a:extLst>
            </p:cNvPr>
            <p:cNvSpPr>
              <a:spLocks/>
            </p:cNvSpPr>
            <p:nvPr/>
          </p:nvSpPr>
          <p:spPr bwMode="auto">
            <a:xfrm>
              <a:off x="3656013" y="3462338"/>
              <a:ext cx="11113" cy="23813"/>
            </a:xfrm>
            <a:custGeom>
              <a:avLst/>
              <a:gdLst>
                <a:gd name="T0" fmla="*/ 39 w 57"/>
                <a:gd name="T1" fmla="*/ 0 h 113"/>
                <a:gd name="T2" fmla="*/ 20 w 57"/>
                <a:gd name="T3" fmla="*/ 18 h 113"/>
                <a:gd name="T4" fmla="*/ 0 w 57"/>
                <a:gd name="T5" fmla="*/ 70 h 113"/>
                <a:gd name="T6" fmla="*/ 12 w 57"/>
                <a:gd name="T7" fmla="*/ 113 h 113"/>
                <a:gd name="T8" fmla="*/ 41 w 57"/>
                <a:gd name="T9" fmla="*/ 97 h 113"/>
                <a:gd name="T10" fmla="*/ 34 w 57"/>
                <a:gd name="T11" fmla="*/ 70 h 113"/>
                <a:gd name="T12" fmla="*/ 46 w 57"/>
                <a:gd name="T13" fmla="*/ 39 h 113"/>
                <a:gd name="T14" fmla="*/ 54 w 57"/>
                <a:gd name="T15" fmla="*/ 31 h 113"/>
                <a:gd name="T16" fmla="*/ 57 w 57"/>
                <a:gd name="T17" fmla="*/ 29 h 113"/>
                <a:gd name="T18" fmla="*/ 57 w 57"/>
                <a:gd name="T19" fmla="*/ 28 h 113"/>
                <a:gd name="T20" fmla="*/ 57 w 57"/>
                <a:gd name="T21" fmla="*/ 28 h 113"/>
                <a:gd name="T22" fmla="*/ 57 w 57"/>
                <a:gd name="T23" fmla="*/ 28 h 113"/>
                <a:gd name="T24" fmla="*/ 57 w 57"/>
                <a:gd name="T25" fmla="*/ 28 h 113"/>
                <a:gd name="T26" fmla="*/ 57 w 57"/>
                <a:gd name="T27" fmla="*/ 28 h 113"/>
                <a:gd name="T28" fmla="*/ 57 w 57"/>
                <a:gd name="T29" fmla="*/ 28 h 113"/>
                <a:gd name="T30" fmla="*/ 39 w 57"/>
                <a:gd name="T31"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 h="113">
                  <a:moveTo>
                    <a:pt x="39" y="0"/>
                  </a:moveTo>
                  <a:cubicBezTo>
                    <a:pt x="38" y="1"/>
                    <a:pt x="29" y="7"/>
                    <a:pt x="20" y="18"/>
                  </a:cubicBezTo>
                  <a:cubicBezTo>
                    <a:pt x="10" y="29"/>
                    <a:pt x="0" y="47"/>
                    <a:pt x="0" y="70"/>
                  </a:cubicBezTo>
                  <a:cubicBezTo>
                    <a:pt x="0" y="83"/>
                    <a:pt x="4" y="98"/>
                    <a:pt x="12" y="113"/>
                  </a:cubicBezTo>
                  <a:lnTo>
                    <a:pt x="41" y="97"/>
                  </a:lnTo>
                  <a:cubicBezTo>
                    <a:pt x="36" y="86"/>
                    <a:pt x="34" y="78"/>
                    <a:pt x="34" y="70"/>
                  </a:cubicBezTo>
                  <a:cubicBezTo>
                    <a:pt x="34" y="57"/>
                    <a:pt x="39" y="47"/>
                    <a:pt x="46" y="39"/>
                  </a:cubicBezTo>
                  <a:cubicBezTo>
                    <a:pt x="49" y="36"/>
                    <a:pt x="52" y="33"/>
                    <a:pt x="54" y="31"/>
                  </a:cubicBezTo>
                  <a:lnTo>
                    <a:pt x="57" y="29"/>
                  </a:lnTo>
                  <a:lnTo>
                    <a:pt x="57" y="28"/>
                  </a:lnTo>
                  <a:lnTo>
                    <a:pt x="57" y="28"/>
                  </a:lnTo>
                  <a:lnTo>
                    <a:pt x="57" y="28"/>
                  </a:lnTo>
                  <a:lnTo>
                    <a:pt x="57" y="28"/>
                  </a:lnTo>
                  <a:lnTo>
                    <a:pt x="57" y="28"/>
                  </a:lnTo>
                  <a:lnTo>
                    <a:pt x="57" y="28"/>
                  </a:lnTo>
                  <a:lnTo>
                    <a:pt x="39"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0" name="Freeform 1109">
              <a:extLst>
                <a:ext uri="{FF2B5EF4-FFF2-40B4-BE49-F238E27FC236}">
                  <a16:creationId xmlns:a16="http://schemas.microsoft.com/office/drawing/2014/main" id="{D6D77B48-C81F-B87C-223E-00F16C7FB06F}"/>
                </a:ext>
              </a:extLst>
            </p:cNvPr>
            <p:cNvSpPr>
              <a:spLocks/>
            </p:cNvSpPr>
            <p:nvPr/>
          </p:nvSpPr>
          <p:spPr bwMode="auto">
            <a:xfrm>
              <a:off x="3654426" y="3497263"/>
              <a:ext cx="42863" cy="12700"/>
            </a:xfrm>
            <a:custGeom>
              <a:avLst/>
              <a:gdLst>
                <a:gd name="T0" fmla="*/ 0 w 208"/>
                <a:gd name="T1" fmla="*/ 29 h 56"/>
                <a:gd name="T2" fmla="*/ 108 w 208"/>
                <a:gd name="T3" fmla="*/ 56 h 56"/>
                <a:gd name="T4" fmla="*/ 208 w 208"/>
                <a:gd name="T5" fmla="*/ 29 h 56"/>
                <a:gd name="T6" fmla="*/ 191 w 208"/>
                <a:gd name="T7" fmla="*/ 0 h 56"/>
                <a:gd name="T8" fmla="*/ 108 w 208"/>
                <a:gd name="T9" fmla="*/ 23 h 56"/>
                <a:gd name="T10" fmla="*/ 42 w 208"/>
                <a:gd name="T11" fmla="*/ 12 h 56"/>
                <a:gd name="T12" fmla="*/ 23 w 208"/>
                <a:gd name="T13" fmla="*/ 4 h 56"/>
                <a:gd name="T14" fmla="*/ 18 w 208"/>
                <a:gd name="T15" fmla="*/ 1 h 56"/>
                <a:gd name="T16" fmla="*/ 17 w 208"/>
                <a:gd name="T17" fmla="*/ 1 h 56"/>
                <a:gd name="T18" fmla="*/ 16 w 208"/>
                <a:gd name="T19" fmla="*/ 0 h 56"/>
                <a:gd name="T20" fmla="*/ 15 w 208"/>
                <a:gd name="T21" fmla="*/ 2 h 56"/>
                <a:gd name="T22" fmla="*/ 16 w 208"/>
                <a:gd name="T23" fmla="*/ 0 h 56"/>
                <a:gd name="T24" fmla="*/ 16 w 208"/>
                <a:gd name="T25" fmla="*/ 0 h 56"/>
                <a:gd name="T26" fmla="*/ 15 w 208"/>
                <a:gd name="T27" fmla="*/ 2 h 56"/>
                <a:gd name="T28" fmla="*/ 16 w 208"/>
                <a:gd name="T29" fmla="*/ 0 h 56"/>
                <a:gd name="T30" fmla="*/ 0 w 208"/>
                <a:gd name="T31" fmla="*/ 29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8" h="56">
                  <a:moveTo>
                    <a:pt x="0" y="29"/>
                  </a:moveTo>
                  <a:cubicBezTo>
                    <a:pt x="1" y="30"/>
                    <a:pt x="46" y="56"/>
                    <a:pt x="108" y="56"/>
                  </a:cubicBezTo>
                  <a:cubicBezTo>
                    <a:pt x="138" y="56"/>
                    <a:pt x="173" y="49"/>
                    <a:pt x="208" y="29"/>
                  </a:cubicBezTo>
                  <a:lnTo>
                    <a:pt x="191" y="0"/>
                  </a:lnTo>
                  <a:cubicBezTo>
                    <a:pt x="162" y="17"/>
                    <a:pt x="133" y="23"/>
                    <a:pt x="108" y="23"/>
                  </a:cubicBezTo>
                  <a:cubicBezTo>
                    <a:pt x="82" y="23"/>
                    <a:pt x="58" y="17"/>
                    <a:pt x="42" y="12"/>
                  </a:cubicBezTo>
                  <a:cubicBezTo>
                    <a:pt x="34" y="9"/>
                    <a:pt x="27" y="6"/>
                    <a:pt x="23" y="4"/>
                  </a:cubicBezTo>
                  <a:cubicBezTo>
                    <a:pt x="21" y="3"/>
                    <a:pt x="19" y="2"/>
                    <a:pt x="18" y="1"/>
                  </a:cubicBezTo>
                  <a:lnTo>
                    <a:pt x="17" y="1"/>
                  </a:lnTo>
                  <a:lnTo>
                    <a:pt x="16" y="0"/>
                  </a:lnTo>
                  <a:lnTo>
                    <a:pt x="15" y="2"/>
                  </a:lnTo>
                  <a:lnTo>
                    <a:pt x="16" y="0"/>
                  </a:lnTo>
                  <a:lnTo>
                    <a:pt x="16" y="0"/>
                  </a:lnTo>
                  <a:lnTo>
                    <a:pt x="15" y="2"/>
                  </a:lnTo>
                  <a:lnTo>
                    <a:pt x="16" y="0"/>
                  </a:lnTo>
                  <a:lnTo>
                    <a:pt x="0" y="2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1" name="Rectangle 1110">
              <a:extLst>
                <a:ext uri="{FF2B5EF4-FFF2-40B4-BE49-F238E27FC236}">
                  <a16:creationId xmlns:a16="http://schemas.microsoft.com/office/drawing/2014/main" id="{6CB485FF-6BEF-6885-B274-0C1928F5CD4E}"/>
                </a:ext>
              </a:extLst>
            </p:cNvPr>
            <p:cNvSpPr>
              <a:spLocks noChangeArrowheads="1"/>
            </p:cNvSpPr>
            <p:nvPr/>
          </p:nvSpPr>
          <p:spPr bwMode="auto">
            <a:xfrm>
              <a:off x="3684588"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2" name="Rectangle 1111">
              <a:extLst>
                <a:ext uri="{FF2B5EF4-FFF2-40B4-BE49-F238E27FC236}">
                  <a16:creationId xmlns:a16="http://schemas.microsoft.com/office/drawing/2014/main" id="{E7698441-56D5-EF96-9F42-BA7FF60D5AF9}"/>
                </a:ext>
              </a:extLst>
            </p:cNvPr>
            <p:cNvSpPr>
              <a:spLocks noChangeArrowheads="1"/>
            </p:cNvSpPr>
            <p:nvPr/>
          </p:nvSpPr>
          <p:spPr bwMode="auto">
            <a:xfrm>
              <a:off x="3636963"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3" name="Rectangle 1112">
              <a:extLst>
                <a:ext uri="{FF2B5EF4-FFF2-40B4-BE49-F238E27FC236}">
                  <a16:creationId xmlns:a16="http://schemas.microsoft.com/office/drawing/2014/main" id="{AA054556-3163-87DC-2C43-83C2200725A7}"/>
                </a:ext>
              </a:extLst>
            </p:cNvPr>
            <p:cNvSpPr>
              <a:spLocks noChangeArrowheads="1"/>
            </p:cNvSpPr>
            <p:nvPr/>
          </p:nvSpPr>
          <p:spPr bwMode="auto">
            <a:xfrm>
              <a:off x="3713163" y="3433763"/>
              <a:ext cx="34925"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4" name="Rectangle 1113">
              <a:extLst>
                <a:ext uri="{FF2B5EF4-FFF2-40B4-BE49-F238E27FC236}">
                  <a16:creationId xmlns:a16="http://schemas.microsoft.com/office/drawing/2014/main" id="{76BFBD87-2ADA-B6A0-C828-484C52991F2F}"/>
                </a:ext>
              </a:extLst>
            </p:cNvPr>
            <p:cNvSpPr>
              <a:spLocks noChangeArrowheads="1"/>
            </p:cNvSpPr>
            <p:nvPr/>
          </p:nvSpPr>
          <p:spPr bwMode="auto">
            <a:xfrm>
              <a:off x="3662363" y="3433763"/>
              <a:ext cx="1270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5" name="Rectangle 1114">
              <a:extLst>
                <a:ext uri="{FF2B5EF4-FFF2-40B4-BE49-F238E27FC236}">
                  <a16:creationId xmlns:a16="http://schemas.microsoft.com/office/drawing/2014/main" id="{83D247C3-D379-896F-7A66-18FE8B6C4AE0}"/>
                </a:ext>
              </a:extLst>
            </p:cNvPr>
            <p:cNvSpPr>
              <a:spLocks noChangeArrowheads="1"/>
            </p:cNvSpPr>
            <p:nvPr/>
          </p:nvSpPr>
          <p:spPr bwMode="auto">
            <a:xfrm>
              <a:off x="3657601" y="3400425"/>
              <a:ext cx="36513"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6" name="Freeform 1115">
              <a:extLst>
                <a:ext uri="{FF2B5EF4-FFF2-40B4-BE49-F238E27FC236}">
                  <a16:creationId xmlns:a16="http://schemas.microsoft.com/office/drawing/2014/main" id="{51D22A8D-28AE-33F9-87DA-7F341C2856D0}"/>
                </a:ext>
              </a:extLst>
            </p:cNvPr>
            <p:cNvSpPr>
              <a:spLocks/>
            </p:cNvSpPr>
            <p:nvPr/>
          </p:nvSpPr>
          <p:spPr bwMode="auto">
            <a:xfrm>
              <a:off x="3638551" y="3548063"/>
              <a:ext cx="66675" cy="53975"/>
            </a:xfrm>
            <a:custGeom>
              <a:avLst/>
              <a:gdLst>
                <a:gd name="T0" fmla="*/ 3 w 42"/>
                <a:gd name="T1" fmla="*/ 16 h 34"/>
                <a:gd name="T2" fmla="*/ 2 w 42"/>
                <a:gd name="T3" fmla="*/ 18 h 34"/>
                <a:gd name="T4" fmla="*/ 26 w 42"/>
                <a:gd name="T5" fmla="*/ 34 h 34"/>
                <a:gd name="T6" fmla="*/ 42 w 42"/>
                <a:gd name="T7" fmla="*/ 12 h 34"/>
                <a:gd name="T8" fmla="*/ 13 w 42"/>
                <a:gd name="T9" fmla="*/ 0 h 34"/>
                <a:gd name="T10" fmla="*/ 0 w 42"/>
                <a:gd name="T11" fmla="*/ 17 h 34"/>
                <a:gd name="T12" fmla="*/ 2 w 42"/>
                <a:gd name="T13" fmla="*/ 18 h 34"/>
                <a:gd name="T14" fmla="*/ 3 w 42"/>
                <a:gd name="T15" fmla="*/ 16 h 34"/>
                <a:gd name="T16" fmla="*/ 5 w 42"/>
                <a:gd name="T17" fmla="*/ 17 h 34"/>
                <a:gd name="T18" fmla="*/ 14 w 42"/>
                <a:gd name="T19" fmla="*/ 5 h 34"/>
                <a:gd name="T20" fmla="*/ 35 w 42"/>
                <a:gd name="T21" fmla="*/ 14 h 34"/>
                <a:gd name="T22" fmla="*/ 25 w 42"/>
                <a:gd name="T23" fmla="*/ 28 h 34"/>
                <a:gd name="T24" fmla="*/ 4 w 42"/>
                <a:gd name="T25" fmla="*/ 14 h 34"/>
                <a:gd name="T26" fmla="*/ 3 w 42"/>
                <a:gd name="T27" fmla="*/ 16 h 34"/>
                <a:gd name="T28" fmla="*/ 5 w 42"/>
                <a:gd name="T29" fmla="*/ 17 h 34"/>
                <a:gd name="T30" fmla="*/ 3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 y="16"/>
                  </a:moveTo>
                  <a:lnTo>
                    <a:pt x="2" y="18"/>
                  </a:lnTo>
                  <a:lnTo>
                    <a:pt x="26" y="34"/>
                  </a:lnTo>
                  <a:lnTo>
                    <a:pt x="42" y="12"/>
                  </a:lnTo>
                  <a:lnTo>
                    <a:pt x="13" y="0"/>
                  </a:lnTo>
                  <a:lnTo>
                    <a:pt x="0" y="17"/>
                  </a:lnTo>
                  <a:lnTo>
                    <a:pt x="2" y="18"/>
                  </a:lnTo>
                  <a:lnTo>
                    <a:pt x="3" y="16"/>
                  </a:lnTo>
                  <a:lnTo>
                    <a:pt x="5" y="17"/>
                  </a:lnTo>
                  <a:lnTo>
                    <a:pt x="14" y="5"/>
                  </a:lnTo>
                  <a:lnTo>
                    <a:pt x="35" y="14"/>
                  </a:lnTo>
                  <a:lnTo>
                    <a:pt x="25" y="28"/>
                  </a:lnTo>
                  <a:lnTo>
                    <a:pt x="4" y="14"/>
                  </a:lnTo>
                  <a:lnTo>
                    <a:pt x="3" y="16"/>
                  </a:lnTo>
                  <a:lnTo>
                    <a:pt x="5" y="17"/>
                  </a:lnTo>
                  <a:lnTo>
                    <a:pt x="3"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7" name="Freeform 1116">
              <a:extLst>
                <a:ext uri="{FF2B5EF4-FFF2-40B4-BE49-F238E27FC236}">
                  <a16:creationId xmlns:a16="http://schemas.microsoft.com/office/drawing/2014/main" id="{A3DEB0A6-DCAB-22A8-0EDF-FA21F3AC9209}"/>
                </a:ext>
              </a:extLst>
            </p:cNvPr>
            <p:cNvSpPr>
              <a:spLocks/>
            </p:cNvSpPr>
            <p:nvPr/>
          </p:nvSpPr>
          <p:spPr bwMode="auto">
            <a:xfrm>
              <a:off x="3694113" y="3548063"/>
              <a:ext cx="66675" cy="53975"/>
            </a:xfrm>
            <a:custGeom>
              <a:avLst/>
              <a:gdLst>
                <a:gd name="T0" fmla="*/ 39 w 42"/>
                <a:gd name="T1" fmla="*/ 16 h 34"/>
                <a:gd name="T2" fmla="*/ 38 w 42"/>
                <a:gd name="T3" fmla="*/ 14 h 34"/>
                <a:gd name="T4" fmla="*/ 17 w 42"/>
                <a:gd name="T5" fmla="*/ 28 h 34"/>
                <a:gd name="T6" fmla="*/ 7 w 42"/>
                <a:gd name="T7" fmla="*/ 14 h 34"/>
                <a:gd name="T8" fmla="*/ 28 w 42"/>
                <a:gd name="T9" fmla="*/ 5 h 34"/>
                <a:gd name="T10" fmla="*/ 38 w 42"/>
                <a:gd name="T11" fmla="*/ 17 h 34"/>
                <a:gd name="T12" fmla="*/ 39 w 42"/>
                <a:gd name="T13" fmla="*/ 16 h 34"/>
                <a:gd name="T14" fmla="*/ 38 w 42"/>
                <a:gd name="T15" fmla="*/ 14 h 34"/>
                <a:gd name="T16" fmla="*/ 39 w 42"/>
                <a:gd name="T17" fmla="*/ 16 h 34"/>
                <a:gd name="T18" fmla="*/ 41 w 42"/>
                <a:gd name="T19" fmla="*/ 15 h 34"/>
                <a:gd name="T20" fmla="*/ 30 w 42"/>
                <a:gd name="T21" fmla="*/ 0 h 34"/>
                <a:gd name="T22" fmla="*/ 0 w 42"/>
                <a:gd name="T23" fmla="*/ 12 h 34"/>
                <a:gd name="T24" fmla="*/ 16 w 42"/>
                <a:gd name="T25" fmla="*/ 34 h 34"/>
                <a:gd name="T26" fmla="*/ 42 w 42"/>
                <a:gd name="T27" fmla="*/ 17 h 34"/>
                <a:gd name="T28" fmla="*/ 41 w 42"/>
                <a:gd name="T29" fmla="*/ 15 h 34"/>
                <a:gd name="T30" fmla="*/ 39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9" y="16"/>
                  </a:moveTo>
                  <a:lnTo>
                    <a:pt x="38" y="14"/>
                  </a:lnTo>
                  <a:lnTo>
                    <a:pt x="17" y="28"/>
                  </a:lnTo>
                  <a:lnTo>
                    <a:pt x="7" y="14"/>
                  </a:lnTo>
                  <a:lnTo>
                    <a:pt x="28" y="5"/>
                  </a:lnTo>
                  <a:lnTo>
                    <a:pt x="38" y="17"/>
                  </a:lnTo>
                  <a:lnTo>
                    <a:pt x="39" y="16"/>
                  </a:lnTo>
                  <a:lnTo>
                    <a:pt x="38" y="14"/>
                  </a:lnTo>
                  <a:lnTo>
                    <a:pt x="39" y="16"/>
                  </a:lnTo>
                  <a:lnTo>
                    <a:pt x="41" y="15"/>
                  </a:lnTo>
                  <a:lnTo>
                    <a:pt x="30" y="0"/>
                  </a:lnTo>
                  <a:lnTo>
                    <a:pt x="0" y="12"/>
                  </a:lnTo>
                  <a:lnTo>
                    <a:pt x="16" y="34"/>
                  </a:lnTo>
                  <a:lnTo>
                    <a:pt x="42" y="17"/>
                  </a:lnTo>
                  <a:lnTo>
                    <a:pt x="41" y="15"/>
                  </a:lnTo>
                  <a:lnTo>
                    <a:pt x="39"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8" name="Freeform 1117">
              <a:extLst>
                <a:ext uri="{FF2B5EF4-FFF2-40B4-BE49-F238E27FC236}">
                  <a16:creationId xmlns:a16="http://schemas.microsoft.com/office/drawing/2014/main" id="{F93CA25E-532E-FD7E-9287-82A53F51F1E1}"/>
                </a:ext>
              </a:extLst>
            </p:cNvPr>
            <p:cNvSpPr>
              <a:spLocks/>
            </p:cNvSpPr>
            <p:nvPr/>
          </p:nvSpPr>
          <p:spPr bwMode="auto">
            <a:xfrm>
              <a:off x="3683001" y="3587750"/>
              <a:ext cx="31750" cy="15875"/>
            </a:xfrm>
            <a:custGeom>
              <a:avLst/>
              <a:gdLst>
                <a:gd name="T0" fmla="*/ 0 w 20"/>
                <a:gd name="T1" fmla="*/ 3 h 10"/>
                <a:gd name="T2" fmla="*/ 11 w 20"/>
                <a:gd name="T3" fmla="*/ 10 h 10"/>
                <a:gd name="T4" fmla="*/ 20 w 20"/>
                <a:gd name="T5" fmla="*/ 3 h 10"/>
                <a:gd name="T6" fmla="*/ 18 w 20"/>
                <a:gd name="T7" fmla="*/ 0 h 10"/>
                <a:gd name="T8" fmla="*/ 11 w 20"/>
                <a:gd name="T9" fmla="*/ 5 h 10"/>
                <a:gd name="T10" fmla="*/ 2 w 20"/>
                <a:gd name="T11" fmla="*/ 0 h 10"/>
                <a:gd name="T12" fmla="*/ 0 w 20"/>
                <a:gd name="T13" fmla="*/ 3 h 10"/>
              </a:gdLst>
              <a:ahLst/>
              <a:cxnLst>
                <a:cxn ang="0">
                  <a:pos x="T0" y="T1"/>
                </a:cxn>
                <a:cxn ang="0">
                  <a:pos x="T2" y="T3"/>
                </a:cxn>
                <a:cxn ang="0">
                  <a:pos x="T4" y="T5"/>
                </a:cxn>
                <a:cxn ang="0">
                  <a:pos x="T6" y="T7"/>
                </a:cxn>
                <a:cxn ang="0">
                  <a:pos x="T8" y="T9"/>
                </a:cxn>
                <a:cxn ang="0">
                  <a:pos x="T10" y="T11"/>
                </a:cxn>
                <a:cxn ang="0">
                  <a:pos x="T12" y="T13"/>
                </a:cxn>
              </a:cxnLst>
              <a:rect l="0" t="0" r="r" b="b"/>
              <a:pathLst>
                <a:path w="20" h="10">
                  <a:moveTo>
                    <a:pt x="0" y="3"/>
                  </a:moveTo>
                  <a:lnTo>
                    <a:pt x="11" y="10"/>
                  </a:lnTo>
                  <a:lnTo>
                    <a:pt x="20" y="3"/>
                  </a:lnTo>
                  <a:lnTo>
                    <a:pt x="18" y="0"/>
                  </a:lnTo>
                  <a:lnTo>
                    <a:pt x="11" y="5"/>
                  </a:lnTo>
                  <a:lnTo>
                    <a:pt x="2" y="0"/>
                  </a:lnTo>
                  <a:lnTo>
                    <a:pt x="0" y="3"/>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9" name="Freeform 1118">
              <a:extLst>
                <a:ext uri="{FF2B5EF4-FFF2-40B4-BE49-F238E27FC236}">
                  <a16:creationId xmlns:a16="http://schemas.microsoft.com/office/drawing/2014/main" id="{E6E82DA7-7348-3041-B50A-AE051209F297}"/>
                </a:ext>
              </a:extLst>
            </p:cNvPr>
            <p:cNvSpPr>
              <a:spLocks/>
            </p:cNvSpPr>
            <p:nvPr/>
          </p:nvSpPr>
          <p:spPr bwMode="auto">
            <a:xfrm>
              <a:off x="3675063" y="3590925"/>
              <a:ext cx="17463" cy="46038"/>
            </a:xfrm>
            <a:custGeom>
              <a:avLst/>
              <a:gdLst>
                <a:gd name="T0" fmla="*/ 51 w 84"/>
                <a:gd name="T1" fmla="*/ 0 h 227"/>
                <a:gd name="T2" fmla="*/ 0 w 84"/>
                <a:gd name="T3" fmla="*/ 219 h 227"/>
                <a:gd name="T4" fmla="*/ 33 w 84"/>
                <a:gd name="T5" fmla="*/ 227 h 227"/>
                <a:gd name="T6" fmla="*/ 84 w 84"/>
                <a:gd name="T7" fmla="*/ 7 h 227"/>
              </a:gdLst>
              <a:ahLst/>
              <a:cxnLst>
                <a:cxn ang="0">
                  <a:pos x="T0" y="T1"/>
                </a:cxn>
                <a:cxn ang="0">
                  <a:pos x="T2" y="T3"/>
                </a:cxn>
                <a:cxn ang="0">
                  <a:pos x="T4" y="T5"/>
                </a:cxn>
                <a:cxn ang="0">
                  <a:pos x="T6" y="T7"/>
                </a:cxn>
              </a:cxnLst>
              <a:rect l="0" t="0" r="r" b="b"/>
              <a:pathLst>
                <a:path w="84" h="227">
                  <a:moveTo>
                    <a:pt x="51" y="0"/>
                  </a:moveTo>
                  <a:lnTo>
                    <a:pt x="0" y="219"/>
                  </a:lnTo>
                  <a:lnTo>
                    <a:pt x="33" y="227"/>
                  </a:lnTo>
                  <a:lnTo>
                    <a:pt x="84" y="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0" name="Freeform 1119">
              <a:extLst>
                <a:ext uri="{FF2B5EF4-FFF2-40B4-BE49-F238E27FC236}">
                  <a16:creationId xmlns:a16="http://schemas.microsoft.com/office/drawing/2014/main" id="{7A1618F0-9445-63FF-B182-BFB6C1A69464}"/>
                </a:ext>
              </a:extLst>
            </p:cNvPr>
            <p:cNvSpPr>
              <a:spLocks/>
            </p:cNvSpPr>
            <p:nvPr/>
          </p:nvSpPr>
          <p:spPr bwMode="auto">
            <a:xfrm>
              <a:off x="3708401" y="3590925"/>
              <a:ext cx="17463" cy="46038"/>
            </a:xfrm>
            <a:custGeom>
              <a:avLst/>
              <a:gdLst>
                <a:gd name="T0" fmla="*/ 0 w 83"/>
                <a:gd name="T1" fmla="*/ 7 h 227"/>
                <a:gd name="T2" fmla="*/ 51 w 83"/>
                <a:gd name="T3" fmla="*/ 227 h 227"/>
                <a:gd name="T4" fmla="*/ 83 w 83"/>
                <a:gd name="T5" fmla="*/ 219 h 227"/>
                <a:gd name="T6" fmla="*/ 33 w 83"/>
                <a:gd name="T7" fmla="*/ 0 h 227"/>
              </a:gdLst>
              <a:ahLst/>
              <a:cxnLst>
                <a:cxn ang="0">
                  <a:pos x="T0" y="T1"/>
                </a:cxn>
                <a:cxn ang="0">
                  <a:pos x="T2" y="T3"/>
                </a:cxn>
                <a:cxn ang="0">
                  <a:pos x="T4" y="T5"/>
                </a:cxn>
                <a:cxn ang="0">
                  <a:pos x="T6" y="T7"/>
                </a:cxn>
              </a:cxnLst>
              <a:rect l="0" t="0" r="r" b="b"/>
              <a:pathLst>
                <a:path w="83" h="227">
                  <a:moveTo>
                    <a:pt x="0" y="7"/>
                  </a:moveTo>
                  <a:lnTo>
                    <a:pt x="51" y="227"/>
                  </a:lnTo>
                  <a:lnTo>
                    <a:pt x="83" y="219"/>
                  </a:lnTo>
                  <a:lnTo>
                    <a:pt x="33"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71" name="Team14" descr="{&quot;Key&quot;:&quot;POWER_USER_SHAPE_ICON&quot;,&quot;Value&quot;:&quot;POWER_USER_SHAPE_ICON_STYLE_1&quot;}">
            <a:extLst>
              <a:ext uri="{FF2B5EF4-FFF2-40B4-BE49-F238E27FC236}">
                <a16:creationId xmlns:a16="http://schemas.microsoft.com/office/drawing/2014/main" id="{0FC3259C-09E9-1D3B-4E43-42EFA4A2B0EE}"/>
              </a:ext>
            </a:extLst>
          </p:cNvPr>
          <p:cNvGrpSpPr>
            <a:grpSpLocks noChangeAspect="1"/>
          </p:cNvGrpSpPr>
          <p:nvPr>
            <p:custDataLst>
              <p:tags r:id="rId1"/>
            </p:custDataLst>
          </p:nvPr>
        </p:nvGrpSpPr>
        <p:grpSpPr>
          <a:xfrm>
            <a:off x="392596" y="4115784"/>
            <a:ext cx="396000" cy="368297"/>
            <a:chOff x="8447088" y="3063875"/>
            <a:chExt cx="741362" cy="708025"/>
          </a:xfrm>
        </p:grpSpPr>
        <p:sp>
          <p:nvSpPr>
            <p:cNvPr id="272" name="Oval 87">
              <a:extLst>
                <a:ext uri="{FF2B5EF4-FFF2-40B4-BE49-F238E27FC236}">
                  <a16:creationId xmlns:a16="http://schemas.microsoft.com/office/drawing/2014/main" id="{DFF83773-3220-5E5C-72EF-01BCC95F0936}"/>
                </a:ext>
              </a:extLst>
            </p:cNvPr>
            <p:cNvSpPr>
              <a:spLocks noChangeArrowheads="1"/>
            </p:cNvSpPr>
            <p:nvPr/>
          </p:nvSpPr>
          <p:spPr bwMode="auto">
            <a:xfrm>
              <a:off x="8521700" y="3227388"/>
              <a:ext cx="152400" cy="150813"/>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3" name="Oval 88">
              <a:extLst>
                <a:ext uri="{FF2B5EF4-FFF2-40B4-BE49-F238E27FC236}">
                  <a16:creationId xmlns:a16="http://schemas.microsoft.com/office/drawing/2014/main" id="{9A99A01F-5869-27B9-4D53-3D4D6F47CBFB}"/>
                </a:ext>
              </a:extLst>
            </p:cNvPr>
            <p:cNvSpPr>
              <a:spLocks noChangeArrowheads="1"/>
            </p:cNvSpPr>
            <p:nvPr/>
          </p:nvSpPr>
          <p:spPr bwMode="auto">
            <a:xfrm>
              <a:off x="8623300" y="3063875"/>
              <a:ext cx="146050" cy="14605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4" name="Oval 89">
              <a:extLst>
                <a:ext uri="{FF2B5EF4-FFF2-40B4-BE49-F238E27FC236}">
                  <a16:creationId xmlns:a16="http://schemas.microsoft.com/office/drawing/2014/main" id="{6FFEB00E-3592-B826-723E-061061E3BDC5}"/>
                </a:ext>
              </a:extLst>
            </p:cNvPr>
            <p:cNvSpPr>
              <a:spLocks noChangeArrowheads="1"/>
            </p:cNvSpPr>
            <p:nvPr/>
          </p:nvSpPr>
          <p:spPr bwMode="auto">
            <a:xfrm>
              <a:off x="8874127" y="3063875"/>
              <a:ext cx="147638" cy="14605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5" name="Freeform 90">
              <a:extLst>
                <a:ext uri="{FF2B5EF4-FFF2-40B4-BE49-F238E27FC236}">
                  <a16:creationId xmlns:a16="http://schemas.microsoft.com/office/drawing/2014/main" id="{B87482CE-32E0-F9E3-CBFF-EE65E2F778E4}"/>
                </a:ext>
              </a:extLst>
            </p:cNvPr>
            <p:cNvSpPr>
              <a:spLocks/>
            </p:cNvSpPr>
            <p:nvPr/>
          </p:nvSpPr>
          <p:spPr bwMode="auto">
            <a:xfrm>
              <a:off x="8447088" y="3392488"/>
              <a:ext cx="87313" cy="76200"/>
            </a:xfrm>
            <a:custGeom>
              <a:avLst/>
              <a:gdLst>
                <a:gd name="T0" fmla="*/ 17 w 116"/>
                <a:gd name="T1" fmla="*/ 82 h 102"/>
                <a:gd name="T2" fmla="*/ 59 w 116"/>
                <a:gd name="T3" fmla="*/ 102 h 102"/>
                <a:gd name="T4" fmla="*/ 82 w 116"/>
                <a:gd name="T5" fmla="*/ 97 h 102"/>
                <a:gd name="T6" fmla="*/ 107 w 116"/>
                <a:gd name="T7" fmla="*/ 26 h 102"/>
                <a:gd name="T8" fmla="*/ 82 w 116"/>
                <a:gd name="T9" fmla="*/ 0 h 102"/>
                <a:gd name="T10" fmla="*/ 44 w 116"/>
                <a:gd name="T11" fmla="*/ 13 h 102"/>
                <a:gd name="T12" fmla="*/ 10 w 116"/>
                <a:gd name="T13" fmla="*/ 64 h 102"/>
                <a:gd name="T14" fmla="*/ 17 w 116"/>
                <a:gd name="T15" fmla="*/ 8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102">
                  <a:moveTo>
                    <a:pt x="17" y="82"/>
                  </a:moveTo>
                  <a:cubicBezTo>
                    <a:pt x="27" y="94"/>
                    <a:pt x="42" y="102"/>
                    <a:pt x="59" y="102"/>
                  </a:cubicBezTo>
                  <a:cubicBezTo>
                    <a:pt x="66" y="102"/>
                    <a:pt x="74" y="100"/>
                    <a:pt x="82" y="97"/>
                  </a:cubicBezTo>
                  <a:cubicBezTo>
                    <a:pt x="109" y="85"/>
                    <a:pt x="116" y="54"/>
                    <a:pt x="107" y="26"/>
                  </a:cubicBezTo>
                  <a:cubicBezTo>
                    <a:pt x="102" y="9"/>
                    <a:pt x="96" y="0"/>
                    <a:pt x="82" y="0"/>
                  </a:cubicBezTo>
                  <a:cubicBezTo>
                    <a:pt x="72" y="0"/>
                    <a:pt x="58" y="7"/>
                    <a:pt x="44" y="13"/>
                  </a:cubicBezTo>
                  <a:cubicBezTo>
                    <a:pt x="18" y="26"/>
                    <a:pt x="0" y="33"/>
                    <a:pt x="10" y="64"/>
                  </a:cubicBezTo>
                  <a:cubicBezTo>
                    <a:pt x="11" y="67"/>
                    <a:pt x="12" y="75"/>
                    <a:pt x="17" y="82"/>
                  </a:cubicBez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6" name="Oval 91">
              <a:extLst>
                <a:ext uri="{FF2B5EF4-FFF2-40B4-BE49-F238E27FC236}">
                  <a16:creationId xmlns:a16="http://schemas.microsoft.com/office/drawing/2014/main" id="{E7CD26CC-3465-17D6-605F-E49259BB1D37}"/>
                </a:ext>
              </a:extLst>
            </p:cNvPr>
            <p:cNvSpPr>
              <a:spLocks noChangeArrowheads="1"/>
            </p:cNvSpPr>
            <p:nvPr/>
          </p:nvSpPr>
          <p:spPr bwMode="auto">
            <a:xfrm>
              <a:off x="8742363" y="3208338"/>
              <a:ext cx="152400" cy="15240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7" name="Freeform 92">
              <a:extLst>
                <a:ext uri="{FF2B5EF4-FFF2-40B4-BE49-F238E27FC236}">
                  <a16:creationId xmlns:a16="http://schemas.microsoft.com/office/drawing/2014/main" id="{B08E0536-978B-32DE-1B1D-3253B79F589E}"/>
                </a:ext>
              </a:extLst>
            </p:cNvPr>
            <p:cNvSpPr>
              <a:spLocks/>
            </p:cNvSpPr>
            <p:nvPr/>
          </p:nvSpPr>
          <p:spPr bwMode="auto">
            <a:xfrm>
              <a:off x="8702675" y="3296042"/>
              <a:ext cx="265627" cy="474270"/>
            </a:xfrm>
            <a:custGeom>
              <a:avLst/>
              <a:gdLst>
                <a:gd name="T0" fmla="*/ 268 w 307"/>
                <a:gd name="T1" fmla="*/ 503 h 503"/>
                <a:gd name="T2" fmla="*/ 269 w 307"/>
                <a:gd name="T3" fmla="*/ 130 h 503"/>
                <a:gd name="T4" fmla="*/ 307 w 307"/>
                <a:gd name="T5" fmla="*/ 24 h 503"/>
                <a:gd name="T6" fmla="*/ 212 w 307"/>
                <a:gd name="T7" fmla="*/ 0 h 503"/>
                <a:gd name="T8" fmla="*/ 153 w 307"/>
                <a:gd name="T9" fmla="*/ 59 h 503"/>
                <a:gd name="T10" fmla="*/ 95 w 307"/>
                <a:gd name="T11" fmla="*/ 0 h 503"/>
                <a:gd name="T12" fmla="*/ 0 w 307"/>
                <a:gd name="T13" fmla="*/ 24 h 503"/>
                <a:gd name="T14" fmla="*/ 38 w 307"/>
                <a:gd name="T15" fmla="*/ 130 h 503"/>
                <a:gd name="T16" fmla="*/ 39 w 307"/>
                <a:gd name="T17" fmla="*/ 503 h 503"/>
                <a:gd name="T18" fmla="*/ 268 w 307"/>
                <a:gd name="T19" fmla="*/ 503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7" h="503">
                  <a:moveTo>
                    <a:pt x="268" y="503"/>
                  </a:moveTo>
                  <a:lnTo>
                    <a:pt x="269" y="130"/>
                  </a:lnTo>
                  <a:cubicBezTo>
                    <a:pt x="269" y="75"/>
                    <a:pt x="293" y="44"/>
                    <a:pt x="307" y="24"/>
                  </a:cubicBezTo>
                  <a:cubicBezTo>
                    <a:pt x="284" y="5"/>
                    <a:pt x="255" y="1"/>
                    <a:pt x="212" y="0"/>
                  </a:cubicBezTo>
                  <a:lnTo>
                    <a:pt x="153" y="59"/>
                  </a:lnTo>
                  <a:lnTo>
                    <a:pt x="95" y="0"/>
                  </a:lnTo>
                  <a:cubicBezTo>
                    <a:pt x="52" y="1"/>
                    <a:pt x="22" y="5"/>
                    <a:pt x="0" y="24"/>
                  </a:cubicBezTo>
                  <a:cubicBezTo>
                    <a:pt x="0" y="24"/>
                    <a:pt x="38" y="65"/>
                    <a:pt x="38" y="130"/>
                  </a:cubicBezTo>
                  <a:cubicBezTo>
                    <a:pt x="38" y="267"/>
                    <a:pt x="39" y="503"/>
                    <a:pt x="39" y="503"/>
                  </a:cubicBezTo>
                  <a:lnTo>
                    <a:pt x="268" y="503"/>
                  </a:ln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8" name="Freeform 93">
              <a:extLst>
                <a:ext uri="{FF2B5EF4-FFF2-40B4-BE49-F238E27FC236}">
                  <a16:creationId xmlns:a16="http://schemas.microsoft.com/office/drawing/2014/main" id="{E636B5C3-B4C7-38CE-42FD-BA36B8125E35}"/>
                </a:ext>
              </a:extLst>
            </p:cNvPr>
            <p:cNvSpPr>
              <a:spLocks/>
            </p:cNvSpPr>
            <p:nvPr/>
          </p:nvSpPr>
          <p:spPr bwMode="auto">
            <a:xfrm>
              <a:off x="8528050" y="3409950"/>
              <a:ext cx="184150" cy="42863"/>
            </a:xfrm>
            <a:custGeom>
              <a:avLst/>
              <a:gdLst>
                <a:gd name="T0" fmla="*/ 0 w 246"/>
                <a:gd name="T1" fmla="*/ 6 h 56"/>
                <a:gd name="T2" fmla="*/ 38 w 246"/>
                <a:gd name="T3" fmla="*/ 0 h 56"/>
                <a:gd name="T4" fmla="*/ 93 w 246"/>
                <a:gd name="T5" fmla="*/ 56 h 56"/>
                <a:gd name="T6" fmla="*/ 149 w 246"/>
                <a:gd name="T7" fmla="*/ 0 h 56"/>
                <a:gd name="T8" fmla="*/ 246 w 246"/>
                <a:gd name="T9" fmla="*/ 17 h 56"/>
              </a:gdLst>
              <a:ahLst/>
              <a:cxnLst>
                <a:cxn ang="0">
                  <a:pos x="T0" y="T1"/>
                </a:cxn>
                <a:cxn ang="0">
                  <a:pos x="T2" y="T3"/>
                </a:cxn>
                <a:cxn ang="0">
                  <a:pos x="T4" y="T5"/>
                </a:cxn>
                <a:cxn ang="0">
                  <a:pos x="T6" y="T7"/>
                </a:cxn>
                <a:cxn ang="0">
                  <a:pos x="T8" y="T9"/>
                </a:cxn>
              </a:cxnLst>
              <a:rect l="0" t="0" r="r" b="b"/>
              <a:pathLst>
                <a:path w="246" h="56">
                  <a:moveTo>
                    <a:pt x="0" y="6"/>
                  </a:moveTo>
                  <a:cubicBezTo>
                    <a:pt x="12" y="2"/>
                    <a:pt x="24" y="0"/>
                    <a:pt x="38" y="0"/>
                  </a:cubicBezTo>
                  <a:lnTo>
                    <a:pt x="93" y="56"/>
                  </a:lnTo>
                  <a:lnTo>
                    <a:pt x="149" y="0"/>
                  </a:lnTo>
                  <a:cubicBezTo>
                    <a:pt x="186" y="0"/>
                    <a:pt x="228" y="3"/>
                    <a:pt x="246" y="17"/>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9" name="Freeform 94">
              <a:extLst>
                <a:ext uri="{FF2B5EF4-FFF2-40B4-BE49-F238E27FC236}">
                  <a16:creationId xmlns:a16="http://schemas.microsoft.com/office/drawing/2014/main" id="{AF04433E-F094-BB52-9E9F-60298FF2A397}"/>
                </a:ext>
              </a:extLst>
            </p:cNvPr>
            <p:cNvSpPr>
              <a:spLocks/>
            </p:cNvSpPr>
            <p:nvPr/>
          </p:nvSpPr>
          <p:spPr bwMode="auto">
            <a:xfrm>
              <a:off x="8462963" y="3463925"/>
              <a:ext cx="268288" cy="307975"/>
            </a:xfrm>
            <a:custGeom>
              <a:avLst/>
              <a:gdLst>
                <a:gd name="T0" fmla="*/ 12 w 358"/>
                <a:gd name="T1" fmla="*/ 0 h 409"/>
                <a:gd name="T2" fmla="*/ 6 w 358"/>
                <a:gd name="T3" fmla="*/ 17 h 409"/>
                <a:gd name="T4" fmla="*/ 0 w 358"/>
                <a:gd name="T5" fmla="*/ 62 h 409"/>
                <a:gd name="T6" fmla="*/ 1 w 358"/>
                <a:gd name="T7" fmla="*/ 258 h 409"/>
                <a:gd name="T8" fmla="*/ 60 w 358"/>
                <a:gd name="T9" fmla="*/ 311 h 409"/>
                <a:gd name="T10" fmla="*/ 60 w 358"/>
                <a:gd name="T11" fmla="*/ 409 h 409"/>
                <a:gd name="T12" fmla="*/ 290 w 358"/>
                <a:gd name="T13" fmla="*/ 408 h 409"/>
                <a:gd name="T14" fmla="*/ 291 w 358"/>
                <a:gd name="T15" fmla="*/ 77 h 409"/>
                <a:gd name="T16" fmla="*/ 358 w 358"/>
                <a:gd name="T17" fmla="*/ 95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8" h="409">
                  <a:moveTo>
                    <a:pt x="12" y="0"/>
                  </a:moveTo>
                  <a:cubicBezTo>
                    <a:pt x="9" y="7"/>
                    <a:pt x="7" y="13"/>
                    <a:pt x="6" y="17"/>
                  </a:cubicBezTo>
                  <a:cubicBezTo>
                    <a:pt x="2" y="31"/>
                    <a:pt x="0" y="46"/>
                    <a:pt x="0" y="62"/>
                  </a:cubicBezTo>
                  <a:cubicBezTo>
                    <a:pt x="0" y="62"/>
                    <a:pt x="1" y="258"/>
                    <a:pt x="1" y="258"/>
                  </a:cubicBezTo>
                  <a:cubicBezTo>
                    <a:pt x="1" y="288"/>
                    <a:pt x="23" y="311"/>
                    <a:pt x="60" y="311"/>
                  </a:cubicBezTo>
                  <a:lnTo>
                    <a:pt x="60" y="409"/>
                  </a:lnTo>
                  <a:lnTo>
                    <a:pt x="290" y="408"/>
                  </a:lnTo>
                  <a:lnTo>
                    <a:pt x="291" y="77"/>
                  </a:lnTo>
                  <a:cubicBezTo>
                    <a:pt x="309" y="83"/>
                    <a:pt x="358" y="95"/>
                    <a:pt x="358" y="95"/>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0" name="Oval 95">
              <a:extLst>
                <a:ext uri="{FF2B5EF4-FFF2-40B4-BE49-F238E27FC236}">
                  <a16:creationId xmlns:a16="http://schemas.microsoft.com/office/drawing/2014/main" id="{578AAF30-70B1-42D4-913F-17FC54B3D778}"/>
                </a:ext>
              </a:extLst>
            </p:cNvPr>
            <p:cNvSpPr>
              <a:spLocks noChangeArrowheads="1"/>
            </p:cNvSpPr>
            <p:nvPr/>
          </p:nvSpPr>
          <p:spPr bwMode="auto">
            <a:xfrm>
              <a:off x="8961438" y="3227388"/>
              <a:ext cx="152400" cy="150813"/>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1" name="Freeform 96">
              <a:extLst>
                <a:ext uri="{FF2B5EF4-FFF2-40B4-BE49-F238E27FC236}">
                  <a16:creationId xmlns:a16="http://schemas.microsoft.com/office/drawing/2014/main" id="{94F01846-6723-B39A-858F-227EDF0FFA40}"/>
                </a:ext>
              </a:extLst>
            </p:cNvPr>
            <p:cNvSpPr>
              <a:spLocks/>
            </p:cNvSpPr>
            <p:nvPr/>
          </p:nvSpPr>
          <p:spPr bwMode="auto">
            <a:xfrm>
              <a:off x="9102725" y="3392488"/>
              <a:ext cx="85725" cy="76200"/>
            </a:xfrm>
            <a:custGeom>
              <a:avLst/>
              <a:gdLst>
                <a:gd name="T0" fmla="*/ 99 w 116"/>
                <a:gd name="T1" fmla="*/ 82 h 102"/>
                <a:gd name="T2" fmla="*/ 57 w 116"/>
                <a:gd name="T3" fmla="*/ 102 h 102"/>
                <a:gd name="T4" fmla="*/ 34 w 116"/>
                <a:gd name="T5" fmla="*/ 97 h 102"/>
                <a:gd name="T6" fmla="*/ 9 w 116"/>
                <a:gd name="T7" fmla="*/ 26 h 102"/>
                <a:gd name="T8" fmla="*/ 34 w 116"/>
                <a:gd name="T9" fmla="*/ 0 h 102"/>
                <a:gd name="T10" fmla="*/ 72 w 116"/>
                <a:gd name="T11" fmla="*/ 13 h 102"/>
                <a:gd name="T12" fmla="*/ 106 w 116"/>
                <a:gd name="T13" fmla="*/ 64 h 102"/>
                <a:gd name="T14" fmla="*/ 99 w 116"/>
                <a:gd name="T15" fmla="*/ 8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102">
                  <a:moveTo>
                    <a:pt x="99" y="82"/>
                  </a:moveTo>
                  <a:cubicBezTo>
                    <a:pt x="89" y="94"/>
                    <a:pt x="74" y="102"/>
                    <a:pt x="57" y="102"/>
                  </a:cubicBezTo>
                  <a:cubicBezTo>
                    <a:pt x="50" y="102"/>
                    <a:pt x="42" y="100"/>
                    <a:pt x="34" y="97"/>
                  </a:cubicBezTo>
                  <a:cubicBezTo>
                    <a:pt x="7" y="85"/>
                    <a:pt x="0" y="54"/>
                    <a:pt x="9" y="26"/>
                  </a:cubicBezTo>
                  <a:cubicBezTo>
                    <a:pt x="14" y="9"/>
                    <a:pt x="20" y="0"/>
                    <a:pt x="34" y="0"/>
                  </a:cubicBezTo>
                  <a:cubicBezTo>
                    <a:pt x="44" y="0"/>
                    <a:pt x="58" y="7"/>
                    <a:pt x="72" y="13"/>
                  </a:cubicBezTo>
                  <a:cubicBezTo>
                    <a:pt x="98" y="26"/>
                    <a:pt x="116" y="33"/>
                    <a:pt x="106" y="64"/>
                  </a:cubicBezTo>
                  <a:cubicBezTo>
                    <a:pt x="105" y="67"/>
                    <a:pt x="104" y="75"/>
                    <a:pt x="99" y="82"/>
                  </a:cubicBez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2" name="Freeform 97">
              <a:extLst>
                <a:ext uri="{FF2B5EF4-FFF2-40B4-BE49-F238E27FC236}">
                  <a16:creationId xmlns:a16="http://schemas.microsoft.com/office/drawing/2014/main" id="{9FA1BA0C-50FE-F7C5-A447-B45FB4A33C59}"/>
                </a:ext>
              </a:extLst>
            </p:cNvPr>
            <p:cNvSpPr>
              <a:spLocks/>
            </p:cNvSpPr>
            <p:nvPr/>
          </p:nvSpPr>
          <p:spPr bwMode="auto">
            <a:xfrm>
              <a:off x="8923338" y="3409950"/>
              <a:ext cx="184150" cy="42863"/>
            </a:xfrm>
            <a:custGeom>
              <a:avLst/>
              <a:gdLst>
                <a:gd name="T0" fmla="*/ 246 w 246"/>
                <a:gd name="T1" fmla="*/ 6 h 56"/>
                <a:gd name="T2" fmla="*/ 208 w 246"/>
                <a:gd name="T3" fmla="*/ 0 h 56"/>
                <a:gd name="T4" fmla="*/ 153 w 246"/>
                <a:gd name="T5" fmla="*/ 56 h 56"/>
                <a:gd name="T6" fmla="*/ 97 w 246"/>
                <a:gd name="T7" fmla="*/ 0 h 56"/>
                <a:gd name="T8" fmla="*/ 0 w 246"/>
                <a:gd name="T9" fmla="*/ 17 h 56"/>
              </a:gdLst>
              <a:ahLst/>
              <a:cxnLst>
                <a:cxn ang="0">
                  <a:pos x="T0" y="T1"/>
                </a:cxn>
                <a:cxn ang="0">
                  <a:pos x="T2" y="T3"/>
                </a:cxn>
                <a:cxn ang="0">
                  <a:pos x="T4" y="T5"/>
                </a:cxn>
                <a:cxn ang="0">
                  <a:pos x="T6" y="T7"/>
                </a:cxn>
                <a:cxn ang="0">
                  <a:pos x="T8" y="T9"/>
                </a:cxn>
              </a:cxnLst>
              <a:rect l="0" t="0" r="r" b="b"/>
              <a:pathLst>
                <a:path w="246" h="56">
                  <a:moveTo>
                    <a:pt x="246" y="6"/>
                  </a:moveTo>
                  <a:cubicBezTo>
                    <a:pt x="234" y="2"/>
                    <a:pt x="222" y="0"/>
                    <a:pt x="208" y="0"/>
                  </a:cubicBezTo>
                  <a:lnTo>
                    <a:pt x="153" y="56"/>
                  </a:lnTo>
                  <a:lnTo>
                    <a:pt x="97" y="0"/>
                  </a:lnTo>
                  <a:cubicBezTo>
                    <a:pt x="61" y="0"/>
                    <a:pt x="18" y="3"/>
                    <a:pt x="0" y="17"/>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3" name="Freeform 98">
              <a:extLst>
                <a:ext uri="{FF2B5EF4-FFF2-40B4-BE49-F238E27FC236}">
                  <a16:creationId xmlns:a16="http://schemas.microsoft.com/office/drawing/2014/main" id="{11553C94-4416-8E7F-BD1E-DC3498861305}"/>
                </a:ext>
              </a:extLst>
            </p:cNvPr>
            <p:cNvSpPr>
              <a:spLocks/>
            </p:cNvSpPr>
            <p:nvPr/>
          </p:nvSpPr>
          <p:spPr bwMode="auto">
            <a:xfrm>
              <a:off x="8904288" y="3463925"/>
              <a:ext cx="269875" cy="307975"/>
            </a:xfrm>
            <a:custGeom>
              <a:avLst/>
              <a:gdLst>
                <a:gd name="T0" fmla="*/ 0 w 358"/>
                <a:gd name="T1" fmla="*/ 95 h 409"/>
                <a:gd name="T2" fmla="*/ 67 w 358"/>
                <a:gd name="T3" fmla="*/ 77 h 409"/>
                <a:gd name="T4" fmla="*/ 68 w 358"/>
                <a:gd name="T5" fmla="*/ 408 h 409"/>
                <a:gd name="T6" fmla="*/ 298 w 358"/>
                <a:gd name="T7" fmla="*/ 409 h 409"/>
                <a:gd name="T8" fmla="*/ 298 w 358"/>
                <a:gd name="T9" fmla="*/ 311 h 409"/>
                <a:gd name="T10" fmla="*/ 357 w 358"/>
                <a:gd name="T11" fmla="*/ 258 h 409"/>
                <a:gd name="T12" fmla="*/ 358 w 358"/>
                <a:gd name="T13" fmla="*/ 62 h 409"/>
                <a:gd name="T14" fmla="*/ 352 w 358"/>
                <a:gd name="T15" fmla="*/ 17 h 409"/>
                <a:gd name="T16" fmla="*/ 346 w 358"/>
                <a:gd name="T17" fmla="*/ 0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8" h="409">
                  <a:moveTo>
                    <a:pt x="0" y="95"/>
                  </a:moveTo>
                  <a:cubicBezTo>
                    <a:pt x="0" y="95"/>
                    <a:pt x="49" y="83"/>
                    <a:pt x="67" y="77"/>
                  </a:cubicBezTo>
                  <a:lnTo>
                    <a:pt x="68" y="408"/>
                  </a:lnTo>
                  <a:lnTo>
                    <a:pt x="298" y="409"/>
                  </a:lnTo>
                  <a:lnTo>
                    <a:pt x="298" y="311"/>
                  </a:lnTo>
                  <a:cubicBezTo>
                    <a:pt x="335" y="311"/>
                    <a:pt x="357" y="288"/>
                    <a:pt x="357" y="258"/>
                  </a:cubicBezTo>
                  <a:cubicBezTo>
                    <a:pt x="357" y="258"/>
                    <a:pt x="358" y="62"/>
                    <a:pt x="358" y="62"/>
                  </a:cubicBezTo>
                  <a:cubicBezTo>
                    <a:pt x="358" y="46"/>
                    <a:pt x="356" y="31"/>
                    <a:pt x="352" y="17"/>
                  </a:cubicBezTo>
                  <a:cubicBezTo>
                    <a:pt x="351" y="13"/>
                    <a:pt x="349" y="7"/>
                    <a:pt x="346" y="0"/>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84" name="Presentation9" descr="{&quot;Key&quot;:&quot;POWER_USER_SHAPE_ICON&quot;,&quot;Value&quot;:&quot;POWER_USER_SHAPE_ICON_STYLE_1&quot;}">
            <a:extLst>
              <a:ext uri="{FF2B5EF4-FFF2-40B4-BE49-F238E27FC236}">
                <a16:creationId xmlns:a16="http://schemas.microsoft.com/office/drawing/2014/main" id="{9AC8C918-29CD-083F-7B6A-DFD24C9F44A3}"/>
              </a:ext>
            </a:extLst>
          </p:cNvPr>
          <p:cNvGrpSpPr>
            <a:grpSpLocks noChangeAspect="1"/>
          </p:cNvGrpSpPr>
          <p:nvPr>
            <p:custDataLst>
              <p:tags r:id="rId2"/>
            </p:custDataLst>
          </p:nvPr>
        </p:nvGrpSpPr>
        <p:grpSpPr>
          <a:xfrm>
            <a:off x="384964" y="5458621"/>
            <a:ext cx="396000" cy="295633"/>
            <a:chOff x="6796088" y="1851026"/>
            <a:chExt cx="884238" cy="677862"/>
          </a:xfrm>
          <a:noFill/>
        </p:grpSpPr>
        <p:sp>
          <p:nvSpPr>
            <p:cNvPr id="285" name="Freeform 157">
              <a:extLst>
                <a:ext uri="{FF2B5EF4-FFF2-40B4-BE49-F238E27FC236}">
                  <a16:creationId xmlns:a16="http://schemas.microsoft.com/office/drawing/2014/main" id="{01386BE5-1EA5-0BC7-24BD-EC784C63EAC6}"/>
                </a:ext>
              </a:extLst>
            </p:cNvPr>
            <p:cNvSpPr>
              <a:spLocks/>
            </p:cNvSpPr>
            <p:nvPr/>
          </p:nvSpPr>
          <p:spPr bwMode="auto">
            <a:xfrm>
              <a:off x="7018338" y="1851026"/>
              <a:ext cx="661988" cy="512763"/>
            </a:xfrm>
            <a:custGeom>
              <a:avLst/>
              <a:gdLst>
                <a:gd name="T0" fmla="*/ 54 w 870"/>
                <a:gd name="T1" fmla="*/ 54 h 673"/>
                <a:gd name="T2" fmla="*/ 816 w 870"/>
                <a:gd name="T3" fmla="*/ 54 h 673"/>
                <a:gd name="T4" fmla="*/ 816 w 870"/>
                <a:gd name="T5" fmla="*/ 619 h 673"/>
                <a:gd name="T6" fmla="*/ 394 w 870"/>
                <a:gd name="T7" fmla="*/ 619 h 673"/>
                <a:gd name="T8" fmla="*/ 295 w 870"/>
                <a:gd name="T9" fmla="*/ 673 h 673"/>
                <a:gd name="T10" fmla="*/ 817 w 870"/>
                <a:gd name="T11" fmla="*/ 673 h 673"/>
                <a:gd name="T12" fmla="*/ 870 w 870"/>
                <a:gd name="T13" fmla="*/ 620 h 673"/>
                <a:gd name="T14" fmla="*/ 870 w 870"/>
                <a:gd name="T15" fmla="*/ 53 h 673"/>
                <a:gd name="T16" fmla="*/ 817 w 870"/>
                <a:gd name="T17" fmla="*/ 0 h 673"/>
                <a:gd name="T18" fmla="*/ 53 w 870"/>
                <a:gd name="T19" fmla="*/ 0 h 673"/>
                <a:gd name="T20" fmla="*/ 0 w 870"/>
                <a:gd name="T21" fmla="*/ 53 h 673"/>
                <a:gd name="T22" fmla="*/ 0 w 870"/>
                <a:gd name="T23" fmla="*/ 185 h 673"/>
                <a:gd name="T24" fmla="*/ 54 w 870"/>
                <a:gd name="T25" fmla="*/ 215 h 673"/>
                <a:gd name="T26" fmla="*/ 54 w 870"/>
                <a:gd name="T27" fmla="*/ 54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0" h="673">
                  <a:moveTo>
                    <a:pt x="54" y="54"/>
                  </a:moveTo>
                  <a:lnTo>
                    <a:pt x="816" y="54"/>
                  </a:lnTo>
                  <a:lnTo>
                    <a:pt x="816" y="619"/>
                  </a:lnTo>
                  <a:lnTo>
                    <a:pt x="394" y="619"/>
                  </a:lnTo>
                  <a:cubicBezTo>
                    <a:pt x="363" y="638"/>
                    <a:pt x="330" y="656"/>
                    <a:pt x="295" y="673"/>
                  </a:cubicBezTo>
                  <a:lnTo>
                    <a:pt x="817" y="673"/>
                  </a:lnTo>
                  <a:cubicBezTo>
                    <a:pt x="846" y="673"/>
                    <a:pt x="870" y="650"/>
                    <a:pt x="870" y="620"/>
                  </a:cubicBezTo>
                  <a:lnTo>
                    <a:pt x="870" y="53"/>
                  </a:lnTo>
                  <a:cubicBezTo>
                    <a:pt x="870" y="23"/>
                    <a:pt x="846" y="0"/>
                    <a:pt x="817" y="0"/>
                  </a:cubicBezTo>
                  <a:lnTo>
                    <a:pt x="53" y="0"/>
                  </a:lnTo>
                  <a:cubicBezTo>
                    <a:pt x="24" y="0"/>
                    <a:pt x="0" y="23"/>
                    <a:pt x="0" y="53"/>
                  </a:cubicBezTo>
                  <a:lnTo>
                    <a:pt x="0" y="185"/>
                  </a:lnTo>
                  <a:cubicBezTo>
                    <a:pt x="20" y="192"/>
                    <a:pt x="38" y="202"/>
                    <a:pt x="54" y="215"/>
                  </a:cubicBezTo>
                  <a:lnTo>
                    <a:pt x="54" y="54"/>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6" name="Freeform 158">
              <a:extLst>
                <a:ext uri="{FF2B5EF4-FFF2-40B4-BE49-F238E27FC236}">
                  <a16:creationId xmlns:a16="http://schemas.microsoft.com/office/drawing/2014/main" id="{2209B064-CFC0-A46A-C432-AFB3AD25FAFC}"/>
                </a:ext>
              </a:extLst>
            </p:cNvPr>
            <p:cNvSpPr>
              <a:spLocks/>
            </p:cNvSpPr>
            <p:nvPr/>
          </p:nvSpPr>
          <p:spPr bwMode="auto">
            <a:xfrm>
              <a:off x="6796088" y="2162175"/>
              <a:ext cx="573088" cy="366713"/>
            </a:xfrm>
            <a:custGeom>
              <a:avLst/>
              <a:gdLst>
                <a:gd name="T0" fmla="*/ 122 w 753"/>
                <a:gd name="T1" fmla="*/ 359 h 482"/>
                <a:gd name="T2" fmla="*/ 154 w 753"/>
                <a:gd name="T3" fmla="*/ 359 h 482"/>
                <a:gd name="T4" fmla="*/ 164 w 753"/>
                <a:gd name="T5" fmla="*/ 482 h 482"/>
                <a:gd name="T6" fmla="*/ 399 w 753"/>
                <a:gd name="T7" fmla="*/ 482 h 482"/>
                <a:gd name="T8" fmla="*/ 399 w 753"/>
                <a:gd name="T9" fmla="*/ 279 h 482"/>
                <a:gd name="T10" fmla="*/ 716 w 753"/>
                <a:gd name="T11" fmla="*/ 121 h 482"/>
                <a:gd name="T12" fmla="*/ 727 w 753"/>
                <a:gd name="T13" fmla="*/ 23 h 482"/>
                <a:gd name="T14" fmla="*/ 679 w 753"/>
                <a:gd name="T15" fmla="*/ 0 h 482"/>
                <a:gd name="T16" fmla="*/ 653 w 753"/>
                <a:gd name="T17" fmla="*/ 7 h 482"/>
                <a:gd name="T18" fmla="*/ 317 w 753"/>
                <a:gd name="T19" fmla="*/ 123 h 482"/>
                <a:gd name="T20" fmla="*/ 230 w 753"/>
                <a:gd name="T21" fmla="*/ 190 h 482"/>
                <a:gd name="T22" fmla="*/ 149 w 753"/>
                <a:gd name="T23" fmla="*/ 129 h 482"/>
                <a:gd name="T24" fmla="*/ 0 w 753"/>
                <a:gd name="T25" fmla="*/ 309 h 482"/>
                <a:gd name="T26" fmla="*/ 0 w 753"/>
                <a:gd name="T27" fmla="*/ 482 h 482"/>
                <a:gd name="T28" fmla="*/ 122 w 753"/>
                <a:gd name="T29" fmla="*/ 482 h 482"/>
                <a:gd name="T30" fmla="*/ 122 w 753"/>
                <a:gd name="T31" fmla="*/ 359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3" h="482">
                  <a:moveTo>
                    <a:pt x="122" y="359"/>
                  </a:moveTo>
                  <a:lnTo>
                    <a:pt x="154" y="359"/>
                  </a:lnTo>
                  <a:lnTo>
                    <a:pt x="164" y="482"/>
                  </a:lnTo>
                  <a:lnTo>
                    <a:pt x="399" y="482"/>
                  </a:lnTo>
                  <a:lnTo>
                    <a:pt x="399" y="279"/>
                  </a:lnTo>
                  <a:cubicBezTo>
                    <a:pt x="529" y="237"/>
                    <a:pt x="643" y="176"/>
                    <a:pt x="716" y="121"/>
                  </a:cubicBezTo>
                  <a:cubicBezTo>
                    <a:pt x="747" y="98"/>
                    <a:pt x="753" y="55"/>
                    <a:pt x="727" y="23"/>
                  </a:cubicBezTo>
                  <a:cubicBezTo>
                    <a:pt x="715" y="9"/>
                    <a:pt x="697" y="0"/>
                    <a:pt x="679" y="0"/>
                  </a:cubicBezTo>
                  <a:cubicBezTo>
                    <a:pt x="670" y="0"/>
                    <a:pt x="661" y="3"/>
                    <a:pt x="653" y="7"/>
                  </a:cubicBezTo>
                  <a:cubicBezTo>
                    <a:pt x="488" y="100"/>
                    <a:pt x="404" y="119"/>
                    <a:pt x="317" y="123"/>
                  </a:cubicBezTo>
                  <a:lnTo>
                    <a:pt x="230" y="190"/>
                  </a:lnTo>
                  <a:lnTo>
                    <a:pt x="149" y="129"/>
                  </a:lnTo>
                  <a:cubicBezTo>
                    <a:pt x="60" y="145"/>
                    <a:pt x="0" y="199"/>
                    <a:pt x="0" y="309"/>
                  </a:cubicBezTo>
                  <a:lnTo>
                    <a:pt x="0" y="482"/>
                  </a:lnTo>
                  <a:lnTo>
                    <a:pt x="122" y="482"/>
                  </a:lnTo>
                  <a:lnTo>
                    <a:pt x="122" y="359"/>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7" name="Oval 159">
              <a:extLst>
                <a:ext uri="{FF2B5EF4-FFF2-40B4-BE49-F238E27FC236}">
                  <a16:creationId xmlns:a16="http://schemas.microsoft.com/office/drawing/2014/main" id="{C1B1D117-C9E7-6EFD-944C-74BE85E8128D}"/>
                </a:ext>
              </a:extLst>
            </p:cNvPr>
            <p:cNvSpPr>
              <a:spLocks noChangeArrowheads="1"/>
            </p:cNvSpPr>
            <p:nvPr/>
          </p:nvSpPr>
          <p:spPr bwMode="auto">
            <a:xfrm>
              <a:off x="6867526" y="2022475"/>
              <a:ext cx="206375" cy="204788"/>
            </a:xfrm>
            <a:prstGeom prst="ellipse">
              <a:avLst/>
            </a:pr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8" name="Freeform 160">
              <a:extLst>
                <a:ext uri="{FF2B5EF4-FFF2-40B4-BE49-F238E27FC236}">
                  <a16:creationId xmlns:a16="http://schemas.microsoft.com/office/drawing/2014/main" id="{E718AD22-5F2A-830A-2FDE-8ED7A977DE78}"/>
                </a:ext>
              </a:extLst>
            </p:cNvPr>
            <p:cNvSpPr>
              <a:spLocks/>
            </p:cNvSpPr>
            <p:nvPr/>
          </p:nvSpPr>
          <p:spPr bwMode="auto">
            <a:xfrm>
              <a:off x="7173913" y="1997075"/>
              <a:ext cx="382588" cy="165100"/>
            </a:xfrm>
            <a:custGeom>
              <a:avLst/>
              <a:gdLst>
                <a:gd name="T0" fmla="*/ 489 w 503"/>
                <a:gd name="T1" fmla="*/ 117 h 216"/>
                <a:gd name="T2" fmla="*/ 494 w 503"/>
                <a:gd name="T3" fmla="*/ 111 h 216"/>
                <a:gd name="T4" fmla="*/ 502 w 503"/>
                <a:gd name="T5" fmla="*/ 8 h 216"/>
                <a:gd name="T6" fmla="*/ 500 w 503"/>
                <a:gd name="T7" fmla="*/ 2 h 216"/>
                <a:gd name="T8" fmla="*/ 494 w 503"/>
                <a:gd name="T9" fmla="*/ 0 h 216"/>
                <a:gd name="T10" fmla="*/ 391 w 503"/>
                <a:gd name="T11" fmla="*/ 9 h 216"/>
                <a:gd name="T12" fmla="*/ 385 w 503"/>
                <a:gd name="T13" fmla="*/ 14 h 216"/>
                <a:gd name="T14" fmla="*/ 387 w 503"/>
                <a:gd name="T15" fmla="*/ 21 h 216"/>
                <a:gd name="T16" fmla="*/ 416 w 503"/>
                <a:gd name="T17" fmla="*/ 50 h 216"/>
                <a:gd name="T18" fmla="*/ 292 w 503"/>
                <a:gd name="T19" fmla="*/ 152 h 216"/>
                <a:gd name="T20" fmla="*/ 190 w 503"/>
                <a:gd name="T21" fmla="*/ 73 h 216"/>
                <a:gd name="T22" fmla="*/ 161 w 503"/>
                <a:gd name="T23" fmla="*/ 72 h 216"/>
                <a:gd name="T24" fmla="*/ 0 w 503"/>
                <a:gd name="T25" fmla="*/ 174 h 216"/>
                <a:gd name="T26" fmla="*/ 27 w 503"/>
                <a:gd name="T27" fmla="*/ 216 h 216"/>
                <a:gd name="T28" fmla="*/ 173 w 503"/>
                <a:gd name="T29" fmla="*/ 124 h 216"/>
                <a:gd name="T30" fmla="*/ 278 w 503"/>
                <a:gd name="T31" fmla="*/ 205 h 216"/>
                <a:gd name="T32" fmla="*/ 309 w 503"/>
                <a:gd name="T33" fmla="*/ 204 h 216"/>
                <a:gd name="T34" fmla="*/ 452 w 503"/>
                <a:gd name="T35" fmla="*/ 86 h 216"/>
                <a:gd name="T36" fmla="*/ 482 w 503"/>
                <a:gd name="T37" fmla="*/ 116 h 216"/>
                <a:gd name="T38" fmla="*/ 489 w 503"/>
                <a:gd name="T39" fmla="*/ 11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3" h="216">
                  <a:moveTo>
                    <a:pt x="489" y="117"/>
                  </a:moveTo>
                  <a:cubicBezTo>
                    <a:pt x="492" y="116"/>
                    <a:pt x="494" y="114"/>
                    <a:pt x="494" y="111"/>
                  </a:cubicBezTo>
                  <a:lnTo>
                    <a:pt x="502" y="8"/>
                  </a:lnTo>
                  <a:cubicBezTo>
                    <a:pt x="503" y="6"/>
                    <a:pt x="502" y="4"/>
                    <a:pt x="500" y="2"/>
                  </a:cubicBezTo>
                  <a:cubicBezTo>
                    <a:pt x="499" y="0"/>
                    <a:pt x="497" y="0"/>
                    <a:pt x="494" y="0"/>
                  </a:cubicBezTo>
                  <a:lnTo>
                    <a:pt x="391" y="9"/>
                  </a:lnTo>
                  <a:cubicBezTo>
                    <a:pt x="388" y="9"/>
                    <a:pt x="386" y="11"/>
                    <a:pt x="385" y="14"/>
                  </a:cubicBezTo>
                  <a:cubicBezTo>
                    <a:pt x="384" y="16"/>
                    <a:pt x="385" y="19"/>
                    <a:pt x="387" y="21"/>
                  </a:cubicBezTo>
                  <a:lnTo>
                    <a:pt x="416" y="50"/>
                  </a:lnTo>
                  <a:lnTo>
                    <a:pt x="292" y="152"/>
                  </a:lnTo>
                  <a:lnTo>
                    <a:pt x="190" y="73"/>
                  </a:lnTo>
                  <a:cubicBezTo>
                    <a:pt x="182" y="67"/>
                    <a:pt x="170" y="66"/>
                    <a:pt x="161" y="72"/>
                  </a:cubicBezTo>
                  <a:lnTo>
                    <a:pt x="0" y="174"/>
                  </a:lnTo>
                  <a:lnTo>
                    <a:pt x="27" y="216"/>
                  </a:lnTo>
                  <a:lnTo>
                    <a:pt x="173" y="124"/>
                  </a:lnTo>
                  <a:lnTo>
                    <a:pt x="278" y="205"/>
                  </a:lnTo>
                  <a:cubicBezTo>
                    <a:pt x="287" y="212"/>
                    <a:pt x="300" y="212"/>
                    <a:pt x="309" y="204"/>
                  </a:cubicBezTo>
                  <a:lnTo>
                    <a:pt x="452" y="86"/>
                  </a:lnTo>
                  <a:lnTo>
                    <a:pt x="482" y="116"/>
                  </a:lnTo>
                  <a:cubicBezTo>
                    <a:pt x="485" y="119"/>
                    <a:pt x="488" y="118"/>
                    <a:pt x="489" y="117"/>
                  </a:cubicBez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29" name="Arc 328">
            <a:extLst>
              <a:ext uri="{FF2B5EF4-FFF2-40B4-BE49-F238E27FC236}">
                <a16:creationId xmlns:a16="http://schemas.microsoft.com/office/drawing/2014/main" id="{4C5689E7-63E3-ED96-4367-C6C3BB1A43AE}"/>
              </a:ext>
            </a:extLst>
          </p:cNvPr>
          <p:cNvSpPr>
            <a:spLocks noChangeAspect="1"/>
          </p:cNvSpPr>
          <p:nvPr/>
        </p:nvSpPr>
        <p:spPr>
          <a:xfrm flipV="1">
            <a:off x="5213009" y="1597527"/>
            <a:ext cx="2326690" cy="2038792"/>
          </a:xfrm>
          <a:prstGeom prst="arc">
            <a:avLst>
              <a:gd name="adj1" fmla="val 10766083"/>
              <a:gd name="adj2" fmla="val 69372"/>
            </a:avLst>
          </a:prstGeom>
          <a:noFill/>
          <a:ln w="285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solidFill>
                <a:schemeClr val="lt1"/>
              </a:solidFill>
            </a:endParaRPr>
          </a:p>
        </p:txBody>
      </p:sp>
      <p:sp>
        <p:nvSpPr>
          <p:cNvPr id="323" name="Oval 322">
            <a:extLst>
              <a:ext uri="{FF2B5EF4-FFF2-40B4-BE49-F238E27FC236}">
                <a16:creationId xmlns:a16="http://schemas.microsoft.com/office/drawing/2014/main" id="{70B3A99B-50E8-7180-BA91-14C6CE17FA8A}"/>
              </a:ext>
            </a:extLst>
          </p:cNvPr>
          <p:cNvSpPr>
            <a:spLocks noChangeAspect="1"/>
          </p:cNvSpPr>
          <p:nvPr/>
        </p:nvSpPr>
        <p:spPr>
          <a:xfrm>
            <a:off x="3924673" y="3076341"/>
            <a:ext cx="1080000" cy="1080000"/>
          </a:xfrm>
          <a:prstGeom prst="ellipse">
            <a:avLst/>
          </a:prstGeom>
          <a:solidFill>
            <a:schemeClr val="accent3">
              <a:lumMod val="20000"/>
              <a:lumOff val="80000"/>
            </a:schemeClr>
          </a:solidFill>
          <a:ln w="28575">
            <a:solidFill>
              <a:srgbClr val="D4E5F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324" name="Oval 323">
            <a:extLst>
              <a:ext uri="{FF2B5EF4-FFF2-40B4-BE49-F238E27FC236}">
                <a16:creationId xmlns:a16="http://schemas.microsoft.com/office/drawing/2014/main" id="{3A9FFA87-861F-5255-B8B6-2F791D7765C8}"/>
              </a:ext>
            </a:extLst>
          </p:cNvPr>
          <p:cNvSpPr>
            <a:spLocks noChangeAspect="1"/>
          </p:cNvSpPr>
          <p:nvPr/>
        </p:nvSpPr>
        <p:spPr>
          <a:xfrm>
            <a:off x="5877296" y="4102137"/>
            <a:ext cx="1080000" cy="1080000"/>
          </a:xfrm>
          <a:prstGeom prst="ellipse">
            <a:avLst/>
          </a:prstGeom>
          <a:solidFill>
            <a:schemeClr val="accent3">
              <a:lumMod val="60000"/>
              <a:lumOff val="40000"/>
            </a:schemeClr>
          </a:solidFill>
          <a:ln w="28575">
            <a:solidFill>
              <a:srgbClr val="7EB2E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325" name="Oval 324">
            <a:extLst>
              <a:ext uri="{FF2B5EF4-FFF2-40B4-BE49-F238E27FC236}">
                <a16:creationId xmlns:a16="http://schemas.microsoft.com/office/drawing/2014/main" id="{36B84716-073E-00D0-BCA0-F63985B79840}"/>
              </a:ext>
            </a:extLst>
          </p:cNvPr>
          <p:cNvSpPr>
            <a:spLocks noChangeAspect="1"/>
          </p:cNvSpPr>
          <p:nvPr/>
        </p:nvSpPr>
        <p:spPr>
          <a:xfrm>
            <a:off x="7687557" y="3131945"/>
            <a:ext cx="1080000" cy="1080000"/>
          </a:xfrm>
          <a:prstGeom prst="ellipse">
            <a:avLst/>
          </a:prstGeom>
          <a:solidFill>
            <a:srgbClr val="0070C0"/>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328" name="TextBox 327">
            <a:extLst>
              <a:ext uri="{FF2B5EF4-FFF2-40B4-BE49-F238E27FC236}">
                <a16:creationId xmlns:a16="http://schemas.microsoft.com/office/drawing/2014/main" id="{8DBF1994-D330-C13E-D5E4-A6CF3C556AE1}"/>
              </a:ext>
            </a:extLst>
          </p:cNvPr>
          <p:cNvSpPr txBox="1"/>
          <p:nvPr/>
        </p:nvSpPr>
        <p:spPr>
          <a:xfrm>
            <a:off x="7563253" y="3472968"/>
            <a:ext cx="1328609" cy="355580"/>
          </a:xfrm>
          <a:prstGeom prst="rect">
            <a:avLst/>
          </a:prstGeom>
          <a:noFill/>
        </p:spPr>
        <p:txBody>
          <a:bodyPr wrap="square" rtlCol="0" anchor="ctr">
            <a:noAutofit/>
          </a:bodyPr>
          <a:lstStyle/>
          <a:p>
            <a:pPr algn="ctr"/>
            <a:r>
              <a:rPr lang="en-GB" sz="1200" b="1">
                <a:solidFill>
                  <a:schemeClr val="bg1"/>
                </a:solidFill>
              </a:rPr>
              <a:t>3. Synthesize</a:t>
            </a:r>
          </a:p>
        </p:txBody>
      </p:sp>
      <p:sp>
        <p:nvSpPr>
          <p:cNvPr id="330" name="TextBox 329">
            <a:extLst>
              <a:ext uri="{FF2B5EF4-FFF2-40B4-BE49-F238E27FC236}">
                <a16:creationId xmlns:a16="http://schemas.microsoft.com/office/drawing/2014/main" id="{DE4FA4D3-47D5-4341-2423-E120A21EE408}"/>
              </a:ext>
            </a:extLst>
          </p:cNvPr>
          <p:cNvSpPr txBox="1"/>
          <p:nvPr/>
        </p:nvSpPr>
        <p:spPr>
          <a:xfrm>
            <a:off x="5279352" y="3147791"/>
            <a:ext cx="2207173" cy="251650"/>
          </a:xfrm>
          <a:prstGeom prst="rect">
            <a:avLst/>
          </a:prstGeom>
          <a:noFill/>
        </p:spPr>
        <p:txBody>
          <a:bodyPr wrap="square" rtlCol="0" anchor="ctr">
            <a:noAutofit/>
          </a:bodyPr>
          <a:lstStyle/>
          <a:p>
            <a:pPr algn="ctr"/>
            <a:r>
              <a:rPr lang="en-GB" sz="1200" b="1">
                <a:solidFill>
                  <a:schemeClr val="accent1"/>
                </a:solidFill>
              </a:rPr>
              <a:t>Inception Workshops</a:t>
            </a:r>
          </a:p>
        </p:txBody>
      </p:sp>
      <p:sp>
        <p:nvSpPr>
          <p:cNvPr id="331" name="Arrow: Right 330">
            <a:extLst>
              <a:ext uri="{FF2B5EF4-FFF2-40B4-BE49-F238E27FC236}">
                <a16:creationId xmlns:a16="http://schemas.microsoft.com/office/drawing/2014/main" id="{03C7F44F-8A1C-6141-D195-151079C4C339}"/>
              </a:ext>
            </a:extLst>
          </p:cNvPr>
          <p:cNvSpPr/>
          <p:nvPr/>
        </p:nvSpPr>
        <p:spPr>
          <a:xfrm rot="16200000">
            <a:off x="6220523" y="3612400"/>
            <a:ext cx="396000" cy="504000"/>
          </a:xfrm>
          <a:prstGeom prst="rightArrow">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332" name="Arrow: Right 331">
            <a:extLst>
              <a:ext uri="{FF2B5EF4-FFF2-40B4-BE49-F238E27FC236}">
                <a16:creationId xmlns:a16="http://schemas.microsoft.com/office/drawing/2014/main" id="{559DB452-F403-FEC4-0AC2-6DBD97F0CA48}"/>
              </a:ext>
            </a:extLst>
          </p:cNvPr>
          <p:cNvSpPr/>
          <p:nvPr/>
        </p:nvSpPr>
        <p:spPr>
          <a:xfrm rot="19570833">
            <a:off x="4917527" y="2948732"/>
            <a:ext cx="396000" cy="504000"/>
          </a:xfrm>
          <a:prstGeom prst="rightArrow">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333" name="Arrow: Right 332">
            <a:extLst>
              <a:ext uri="{FF2B5EF4-FFF2-40B4-BE49-F238E27FC236}">
                <a16:creationId xmlns:a16="http://schemas.microsoft.com/office/drawing/2014/main" id="{375840BE-8910-D902-239D-5DA5012A246E}"/>
              </a:ext>
            </a:extLst>
          </p:cNvPr>
          <p:cNvSpPr/>
          <p:nvPr/>
        </p:nvSpPr>
        <p:spPr>
          <a:xfrm rot="2029167" flipH="1">
            <a:off x="7393304" y="2982400"/>
            <a:ext cx="396000" cy="504000"/>
          </a:xfrm>
          <a:prstGeom prst="rightArrow">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335" name="TextBox 334">
            <a:extLst>
              <a:ext uri="{FF2B5EF4-FFF2-40B4-BE49-F238E27FC236}">
                <a16:creationId xmlns:a16="http://schemas.microsoft.com/office/drawing/2014/main" id="{24D8C812-ECF2-E564-D2DA-475B093F3698}"/>
              </a:ext>
            </a:extLst>
          </p:cNvPr>
          <p:cNvSpPr txBox="1"/>
          <p:nvPr/>
        </p:nvSpPr>
        <p:spPr>
          <a:xfrm>
            <a:off x="3799680" y="3455664"/>
            <a:ext cx="1328609" cy="355580"/>
          </a:xfrm>
          <a:prstGeom prst="rect">
            <a:avLst/>
          </a:prstGeom>
          <a:noFill/>
        </p:spPr>
        <p:txBody>
          <a:bodyPr wrap="square" rtlCol="0" anchor="ctr">
            <a:noAutofit/>
          </a:bodyPr>
          <a:lstStyle/>
          <a:p>
            <a:pPr algn="ctr"/>
            <a:r>
              <a:rPr lang="en-GB" sz="1200" b="1"/>
              <a:t>1. Strategize</a:t>
            </a:r>
          </a:p>
        </p:txBody>
      </p:sp>
      <p:sp>
        <p:nvSpPr>
          <p:cNvPr id="336" name="TextBox 335">
            <a:extLst>
              <a:ext uri="{FF2B5EF4-FFF2-40B4-BE49-F238E27FC236}">
                <a16:creationId xmlns:a16="http://schemas.microsoft.com/office/drawing/2014/main" id="{8577B840-CE4A-00F4-3DEA-BA1D2F95F771}"/>
              </a:ext>
            </a:extLst>
          </p:cNvPr>
          <p:cNvSpPr txBox="1"/>
          <p:nvPr/>
        </p:nvSpPr>
        <p:spPr>
          <a:xfrm>
            <a:off x="5752991" y="4460980"/>
            <a:ext cx="1328609" cy="355580"/>
          </a:xfrm>
          <a:prstGeom prst="rect">
            <a:avLst/>
          </a:prstGeom>
          <a:noFill/>
        </p:spPr>
        <p:txBody>
          <a:bodyPr wrap="square" rtlCol="0" anchor="ctr">
            <a:noAutofit/>
          </a:bodyPr>
          <a:lstStyle/>
          <a:p>
            <a:pPr algn="ctr"/>
            <a:r>
              <a:rPr lang="en-GB" sz="1200" b="1">
                <a:solidFill>
                  <a:schemeClr val="bg1"/>
                </a:solidFill>
              </a:rPr>
              <a:t>2. Conduct</a:t>
            </a:r>
          </a:p>
        </p:txBody>
      </p:sp>
      <p:sp>
        <p:nvSpPr>
          <p:cNvPr id="339" name="Rounded Rectangle 67">
            <a:extLst>
              <a:ext uri="{FF2B5EF4-FFF2-40B4-BE49-F238E27FC236}">
                <a16:creationId xmlns:a16="http://schemas.microsoft.com/office/drawing/2014/main" id="{63ABD8B7-E904-DC47-FA71-09809D9033EA}"/>
              </a:ext>
            </a:extLst>
          </p:cNvPr>
          <p:cNvSpPr>
            <a:spLocks/>
          </p:cNvSpPr>
          <p:nvPr/>
        </p:nvSpPr>
        <p:spPr>
          <a:xfrm>
            <a:off x="1268765" y="1220267"/>
            <a:ext cx="2082609" cy="1508143"/>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340" name="TextBox 196">
            <a:extLst>
              <a:ext uri="{FF2B5EF4-FFF2-40B4-BE49-F238E27FC236}">
                <a16:creationId xmlns:a16="http://schemas.microsoft.com/office/drawing/2014/main" id="{9440A5D0-88DE-543E-EE7D-789416361ADE}"/>
              </a:ext>
            </a:extLst>
          </p:cNvPr>
          <p:cNvSpPr txBox="1">
            <a:spLocks/>
          </p:cNvSpPr>
          <p:nvPr/>
        </p:nvSpPr>
        <p:spPr>
          <a:xfrm>
            <a:off x="1350954" y="1102732"/>
            <a:ext cx="1917715" cy="313624"/>
          </a:xfrm>
          <a:prstGeom prst="roundRect">
            <a:avLst>
              <a:gd name="adj" fmla="val 50000"/>
            </a:avLst>
          </a:prstGeom>
          <a:solidFill>
            <a:srgbClr val="12ABDB"/>
          </a:solidFill>
          <a:ln w="25400" cap="flat" cmpd="sng" algn="ctr">
            <a:solidFill>
              <a:srgbClr val="12ABDB"/>
            </a:solid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chemeClr val="tx1"/>
                </a:solidFill>
                <a:effectLst/>
                <a:uLnTx/>
                <a:uFillTx/>
                <a:latin typeface="+mj-lt"/>
                <a:ea typeface="Verdana" panose="020B0604030504040204" pitchFamily="34" charset="0"/>
                <a:cs typeface="Verdana" panose="020B0604030504040204" pitchFamily="34" charset="0"/>
              </a:rPr>
              <a:t>Inception </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chemeClr val="tx1"/>
                </a:solidFill>
                <a:effectLst/>
                <a:uLnTx/>
                <a:uFillTx/>
                <a:latin typeface="+mj-lt"/>
                <a:ea typeface="Verdana" panose="020B0604030504040204" pitchFamily="34" charset="0"/>
                <a:cs typeface="Verdana" panose="020B0604030504040204" pitchFamily="34" charset="0"/>
              </a:rPr>
              <a:t>readiness</a:t>
            </a:r>
          </a:p>
        </p:txBody>
      </p:sp>
      <p:sp>
        <p:nvSpPr>
          <p:cNvPr id="381" name="Rounded Rectangle 67">
            <a:extLst>
              <a:ext uri="{FF2B5EF4-FFF2-40B4-BE49-F238E27FC236}">
                <a16:creationId xmlns:a16="http://schemas.microsoft.com/office/drawing/2014/main" id="{5AAC2F1D-F2C4-C46D-AC52-06A69CD27AF6}"/>
              </a:ext>
            </a:extLst>
          </p:cNvPr>
          <p:cNvSpPr>
            <a:spLocks/>
          </p:cNvSpPr>
          <p:nvPr/>
        </p:nvSpPr>
        <p:spPr>
          <a:xfrm>
            <a:off x="1275789" y="3234892"/>
            <a:ext cx="2082609" cy="1581667"/>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382" name="TextBox 196">
            <a:extLst>
              <a:ext uri="{FF2B5EF4-FFF2-40B4-BE49-F238E27FC236}">
                <a16:creationId xmlns:a16="http://schemas.microsoft.com/office/drawing/2014/main" id="{5CADE226-5DEC-D2C5-960A-FBD6E65F8497}"/>
              </a:ext>
            </a:extLst>
          </p:cNvPr>
          <p:cNvSpPr txBox="1">
            <a:spLocks/>
          </p:cNvSpPr>
          <p:nvPr/>
        </p:nvSpPr>
        <p:spPr>
          <a:xfrm>
            <a:off x="1357978" y="3117356"/>
            <a:ext cx="1917715" cy="313624"/>
          </a:xfrm>
          <a:prstGeom prst="roundRect">
            <a:avLst>
              <a:gd name="adj" fmla="val 50000"/>
            </a:avLst>
          </a:prstGeom>
          <a:solidFill>
            <a:srgbClr val="D763C6"/>
          </a:solidFill>
          <a:ln w="25400" cap="flat" cmpd="sng" algn="ctr">
            <a:no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GB" sz="1000" b="0" kern="0">
                <a:latin typeface="+mj-lt"/>
                <a:ea typeface="Verdana" panose="020B0604030504040204" pitchFamily="34" charset="0"/>
                <a:cs typeface="Verdana" panose="020B0604030504040204" pitchFamily="34" charset="0"/>
              </a:rPr>
              <a:t>Inception</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effectLst/>
                <a:uLnTx/>
                <a:uFillTx/>
                <a:latin typeface="+mj-lt"/>
                <a:ea typeface="Verdana" panose="020B0604030504040204" pitchFamily="34" charset="0"/>
                <a:cs typeface="Verdana" panose="020B0604030504040204" pitchFamily="34" charset="0"/>
              </a:rPr>
              <a:t>readiness</a:t>
            </a:r>
            <a:endParaRPr kumimoji="0" lang="en-US" sz="1000" b="0" i="0" u="none" strike="noStrike" kern="0" cap="none" spc="0" normalizeH="0" baseline="0" noProof="0">
              <a:ln>
                <a:noFill/>
              </a:ln>
              <a:effectLst/>
              <a:uLnTx/>
              <a:uFillTx/>
              <a:latin typeface="+mj-lt"/>
              <a:ea typeface="Verdana" panose="020B0604030504040204" pitchFamily="34" charset="0"/>
              <a:cs typeface="Verdana" panose="020B0604030504040204" pitchFamily="34" charset="0"/>
            </a:endParaRPr>
          </a:p>
        </p:txBody>
      </p:sp>
      <p:cxnSp>
        <p:nvCxnSpPr>
          <p:cNvPr id="385" name="Connector: Curved 384">
            <a:extLst>
              <a:ext uri="{FF2B5EF4-FFF2-40B4-BE49-F238E27FC236}">
                <a16:creationId xmlns:a16="http://schemas.microsoft.com/office/drawing/2014/main" id="{92D2C73A-5352-D5AD-F201-E8C8533ECE20}"/>
              </a:ext>
            </a:extLst>
          </p:cNvPr>
          <p:cNvCxnSpPr>
            <a:cxnSpLocks/>
            <a:stCxn id="335" idx="1"/>
            <a:endCxn id="339" idx="3"/>
          </p:cNvCxnSpPr>
          <p:nvPr/>
        </p:nvCxnSpPr>
        <p:spPr>
          <a:xfrm rot="10800000">
            <a:off x="3351374" y="1974340"/>
            <a:ext cx="448306" cy="1659115"/>
          </a:xfrm>
          <a:prstGeom prst="curved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387" name="Connector: Curved 386">
            <a:extLst>
              <a:ext uri="{FF2B5EF4-FFF2-40B4-BE49-F238E27FC236}">
                <a16:creationId xmlns:a16="http://schemas.microsoft.com/office/drawing/2014/main" id="{0E746434-3947-D3DF-B261-0A99A5BDFBCA}"/>
              </a:ext>
            </a:extLst>
          </p:cNvPr>
          <p:cNvCxnSpPr>
            <a:cxnSpLocks/>
            <a:stCxn id="335" idx="1"/>
            <a:endCxn id="381" idx="3"/>
          </p:cNvCxnSpPr>
          <p:nvPr/>
        </p:nvCxnSpPr>
        <p:spPr>
          <a:xfrm rot="10800000" flipV="1">
            <a:off x="3358398" y="3633454"/>
            <a:ext cx="441282" cy="392272"/>
          </a:xfrm>
          <a:prstGeom prst="curvedConnector3">
            <a:avLst>
              <a:gd name="adj1" fmla="val 50000"/>
            </a:avLst>
          </a:prstGeom>
        </p:spPr>
        <p:style>
          <a:lnRef idx="1">
            <a:schemeClr val="accent1"/>
          </a:lnRef>
          <a:fillRef idx="0">
            <a:schemeClr val="accent1"/>
          </a:fillRef>
          <a:effectRef idx="0">
            <a:schemeClr val="accent1"/>
          </a:effectRef>
          <a:fontRef idx="minor">
            <a:schemeClr val="tx1"/>
          </a:fontRef>
        </p:style>
      </p:cxnSp>
      <p:grpSp>
        <p:nvGrpSpPr>
          <p:cNvPr id="388" name="Teacher7" descr="{&quot;Key&quot;:&quot;POWER_USER_SHAPE_ICON&quot;,&quot;Value&quot;:&quot;POWER_USER_SHAPE_ICON_STYLE_1&quot;}">
            <a:extLst>
              <a:ext uri="{FF2B5EF4-FFF2-40B4-BE49-F238E27FC236}">
                <a16:creationId xmlns:a16="http://schemas.microsoft.com/office/drawing/2014/main" id="{3E7A985F-435E-C47D-52F6-E6B068BD8F25}"/>
              </a:ext>
            </a:extLst>
          </p:cNvPr>
          <p:cNvGrpSpPr>
            <a:grpSpLocks noChangeAspect="1"/>
          </p:cNvGrpSpPr>
          <p:nvPr/>
        </p:nvGrpSpPr>
        <p:grpSpPr>
          <a:xfrm>
            <a:off x="1455643" y="2896880"/>
            <a:ext cx="332705" cy="324000"/>
            <a:chOff x="6302376" y="1846263"/>
            <a:chExt cx="479425" cy="479425"/>
          </a:xfrm>
          <a:solidFill>
            <a:schemeClr val="accent1"/>
          </a:solidFill>
        </p:grpSpPr>
        <p:sp>
          <p:nvSpPr>
            <p:cNvPr id="389" name="Rectangle 495">
              <a:extLst>
                <a:ext uri="{FF2B5EF4-FFF2-40B4-BE49-F238E27FC236}">
                  <a16:creationId xmlns:a16="http://schemas.microsoft.com/office/drawing/2014/main" id="{05F36F61-D705-1D34-D653-47D9334B23C8}"/>
                </a:ext>
              </a:extLst>
            </p:cNvPr>
            <p:cNvSpPr>
              <a:spLocks noChangeArrowheads="1"/>
            </p:cNvSpPr>
            <p:nvPr/>
          </p:nvSpPr>
          <p:spPr bwMode="auto">
            <a:xfrm>
              <a:off x="6586539" y="2144713"/>
              <a:ext cx="12700" cy="34925"/>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0" name="Freeform 496">
              <a:extLst>
                <a:ext uri="{FF2B5EF4-FFF2-40B4-BE49-F238E27FC236}">
                  <a16:creationId xmlns:a16="http://schemas.microsoft.com/office/drawing/2014/main" id="{AAFBC98F-760A-9B9B-00DC-BFD2E3FE2FD9}"/>
                </a:ext>
              </a:extLst>
            </p:cNvPr>
            <p:cNvSpPr>
              <a:spLocks/>
            </p:cNvSpPr>
            <p:nvPr/>
          </p:nvSpPr>
          <p:spPr bwMode="auto">
            <a:xfrm>
              <a:off x="6623051" y="2206626"/>
              <a:ext cx="158750" cy="117475"/>
            </a:xfrm>
            <a:custGeom>
              <a:avLst/>
              <a:gdLst>
                <a:gd name="T0" fmla="*/ 196 w 196"/>
                <a:gd name="T1" fmla="*/ 146 h 146"/>
                <a:gd name="T2" fmla="*/ 180 w 196"/>
                <a:gd name="T3" fmla="*/ 146 h 146"/>
                <a:gd name="T4" fmla="*/ 106 w 196"/>
                <a:gd name="T5" fmla="*/ 48 h 146"/>
                <a:gd name="T6" fmla="*/ 0 w 196"/>
                <a:gd name="T7" fmla="*/ 15 h 146"/>
                <a:gd name="T8" fmla="*/ 5 w 196"/>
                <a:gd name="T9" fmla="*/ 0 h 146"/>
                <a:gd name="T10" fmla="*/ 111 w 196"/>
                <a:gd name="T11" fmla="*/ 32 h 146"/>
                <a:gd name="T12" fmla="*/ 19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96" y="146"/>
                  </a:moveTo>
                  <a:lnTo>
                    <a:pt x="180" y="146"/>
                  </a:lnTo>
                  <a:cubicBezTo>
                    <a:pt x="180" y="101"/>
                    <a:pt x="150" y="61"/>
                    <a:pt x="106" y="48"/>
                  </a:cubicBezTo>
                  <a:lnTo>
                    <a:pt x="0" y="15"/>
                  </a:lnTo>
                  <a:lnTo>
                    <a:pt x="5" y="0"/>
                  </a:lnTo>
                  <a:lnTo>
                    <a:pt x="111" y="32"/>
                  </a:lnTo>
                  <a:cubicBezTo>
                    <a:pt x="162" y="47"/>
                    <a:pt x="196" y="93"/>
                    <a:pt x="19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1" name="Rectangle 497">
              <a:extLst>
                <a:ext uri="{FF2B5EF4-FFF2-40B4-BE49-F238E27FC236}">
                  <a16:creationId xmlns:a16="http://schemas.microsoft.com/office/drawing/2014/main" id="{BA952271-51CD-1001-BC77-1EE9B0CB479C}"/>
                </a:ext>
              </a:extLst>
            </p:cNvPr>
            <p:cNvSpPr>
              <a:spLocks noChangeArrowheads="1"/>
            </p:cNvSpPr>
            <p:nvPr/>
          </p:nvSpPr>
          <p:spPr bwMode="auto">
            <a:xfrm>
              <a:off x="6483351" y="2144713"/>
              <a:ext cx="12700" cy="39688"/>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2" name="Freeform 498">
              <a:extLst>
                <a:ext uri="{FF2B5EF4-FFF2-40B4-BE49-F238E27FC236}">
                  <a16:creationId xmlns:a16="http://schemas.microsoft.com/office/drawing/2014/main" id="{086791D5-B121-935C-0747-B1926324C12C}"/>
                </a:ext>
              </a:extLst>
            </p:cNvPr>
            <p:cNvSpPr>
              <a:spLocks/>
            </p:cNvSpPr>
            <p:nvPr/>
          </p:nvSpPr>
          <p:spPr bwMode="auto">
            <a:xfrm>
              <a:off x="6302376" y="2206626"/>
              <a:ext cx="157163" cy="117475"/>
            </a:xfrm>
            <a:custGeom>
              <a:avLst/>
              <a:gdLst>
                <a:gd name="T0" fmla="*/ 16 w 196"/>
                <a:gd name="T1" fmla="*/ 146 h 146"/>
                <a:gd name="T2" fmla="*/ 0 w 196"/>
                <a:gd name="T3" fmla="*/ 146 h 146"/>
                <a:gd name="T4" fmla="*/ 85 w 196"/>
                <a:gd name="T5" fmla="*/ 32 h 146"/>
                <a:gd name="T6" fmla="*/ 191 w 196"/>
                <a:gd name="T7" fmla="*/ 0 h 146"/>
                <a:gd name="T8" fmla="*/ 196 w 196"/>
                <a:gd name="T9" fmla="*/ 15 h 146"/>
                <a:gd name="T10" fmla="*/ 90 w 196"/>
                <a:gd name="T11" fmla="*/ 48 h 146"/>
                <a:gd name="T12" fmla="*/ 1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6" y="146"/>
                  </a:moveTo>
                  <a:lnTo>
                    <a:pt x="0" y="146"/>
                  </a:lnTo>
                  <a:cubicBezTo>
                    <a:pt x="0" y="93"/>
                    <a:pt x="34" y="47"/>
                    <a:pt x="85" y="32"/>
                  </a:cubicBezTo>
                  <a:lnTo>
                    <a:pt x="191" y="0"/>
                  </a:lnTo>
                  <a:lnTo>
                    <a:pt x="196" y="15"/>
                  </a:lnTo>
                  <a:lnTo>
                    <a:pt x="90" y="48"/>
                  </a:lnTo>
                  <a:cubicBezTo>
                    <a:pt x="46" y="61"/>
                    <a:pt x="16" y="101"/>
                    <a:pt x="1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3" name="Freeform 499">
              <a:extLst>
                <a:ext uri="{FF2B5EF4-FFF2-40B4-BE49-F238E27FC236}">
                  <a16:creationId xmlns:a16="http://schemas.microsoft.com/office/drawing/2014/main" id="{EB88F148-0359-0CEE-21C1-B8396D883435}"/>
                </a:ext>
              </a:extLst>
            </p:cNvPr>
            <p:cNvSpPr>
              <a:spLocks noEditPoints="1"/>
            </p:cNvSpPr>
            <p:nvPr/>
          </p:nvSpPr>
          <p:spPr bwMode="auto">
            <a:xfrm>
              <a:off x="6443664" y="1927226"/>
              <a:ext cx="195263" cy="250825"/>
            </a:xfrm>
            <a:custGeom>
              <a:avLst/>
              <a:gdLst>
                <a:gd name="T0" fmla="*/ 48 w 243"/>
                <a:gd name="T1" fmla="*/ 44 h 311"/>
                <a:gd name="T2" fmla="*/ 17 w 243"/>
                <a:gd name="T3" fmla="*/ 108 h 311"/>
                <a:gd name="T4" fmla="*/ 17 w 243"/>
                <a:gd name="T5" fmla="*/ 200 h 311"/>
                <a:gd name="T6" fmla="*/ 88 w 243"/>
                <a:gd name="T7" fmla="*/ 285 h 311"/>
                <a:gd name="T8" fmla="*/ 155 w 243"/>
                <a:gd name="T9" fmla="*/ 285 h 311"/>
                <a:gd name="T10" fmla="*/ 226 w 243"/>
                <a:gd name="T11" fmla="*/ 200 h 311"/>
                <a:gd name="T12" fmla="*/ 226 w 243"/>
                <a:gd name="T13" fmla="*/ 81 h 311"/>
                <a:gd name="T14" fmla="*/ 197 w 243"/>
                <a:gd name="T15" fmla="*/ 32 h 311"/>
                <a:gd name="T16" fmla="*/ 175 w 243"/>
                <a:gd name="T17" fmla="*/ 18 h 311"/>
                <a:gd name="T18" fmla="*/ 175 w 243"/>
                <a:gd name="T19" fmla="*/ 19 h 311"/>
                <a:gd name="T20" fmla="*/ 160 w 243"/>
                <a:gd name="T21" fmla="*/ 59 h 311"/>
                <a:gd name="T22" fmla="*/ 84 w 243"/>
                <a:gd name="T23" fmla="*/ 52 h 311"/>
                <a:gd name="T24" fmla="*/ 48 w 243"/>
                <a:gd name="T25" fmla="*/ 44 h 311"/>
                <a:gd name="T26" fmla="*/ 121 w 243"/>
                <a:gd name="T27" fmla="*/ 311 h 311"/>
                <a:gd name="T28" fmla="*/ 79 w 243"/>
                <a:gd name="T29" fmla="*/ 299 h 311"/>
                <a:gd name="T30" fmla="*/ 0 w 243"/>
                <a:gd name="T31" fmla="*/ 200 h 311"/>
                <a:gd name="T32" fmla="*/ 0 w 243"/>
                <a:gd name="T33" fmla="*/ 108 h 311"/>
                <a:gd name="T34" fmla="*/ 48 w 243"/>
                <a:gd name="T35" fmla="*/ 27 h 311"/>
                <a:gd name="T36" fmla="*/ 88 w 243"/>
                <a:gd name="T37" fmla="*/ 36 h 311"/>
                <a:gd name="T38" fmla="*/ 152 w 243"/>
                <a:gd name="T39" fmla="*/ 44 h 311"/>
                <a:gd name="T40" fmla="*/ 159 w 243"/>
                <a:gd name="T41" fmla="*/ 23 h 311"/>
                <a:gd name="T42" fmla="*/ 160 w 243"/>
                <a:gd name="T43" fmla="*/ 6 h 311"/>
                <a:gd name="T44" fmla="*/ 171 w 243"/>
                <a:gd name="T45" fmla="*/ 1 h 311"/>
                <a:gd name="T46" fmla="*/ 171 w 243"/>
                <a:gd name="T47" fmla="*/ 1 h 311"/>
                <a:gd name="T48" fmla="*/ 209 w 243"/>
                <a:gd name="T49" fmla="*/ 20 h 311"/>
                <a:gd name="T50" fmla="*/ 243 w 243"/>
                <a:gd name="T51" fmla="*/ 81 h 311"/>
                <a:gd name="T52" fmla="*/ 243 w 243"/>
                <a:gd name="T53" fmla="*/ 200 h 311"/>
                <a:gd name="T54" fmla="*/ 164 w 243"/>
                <a:gd name="T55" fmla="*/ 299 h 311"/>
                <a:gd name="T56" fmla="*/ 121 w 243"/>
                <a:gd name="T57" fmla="*/ 311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3" h="311">
                  <a:moveTo>
                    <a:pt x="48" y="44"/>
                  </a:moveTo>
                  <a:cubicBezTo>
                    <a:pt x="22" y="44"/>
                    <a:pt x="17" y="69"/>
                    <a:pt x="17" y="108"/>
                  </a:cubicBezTo>
                  <a:lnTo>
                    <a:pt x="17" y="200"/>
                  </a:lnTo>
                  <a:cubicBezTo>
                    <a:pt x="17" y="235"/>
                    <a:pt x="62" y="268"/>
                    <a:pt x="88" y="285"/>
                  </a:cubicBezTo>
                  <a:cubicBezTo>
                    <a:pt x="109" y="298"/>
                    <a:pt x="134" y="298"/>
                    <a:pt x="155" y="285"/>
                  </a:cubicBezTo>
                  <a:cubicBezTo>
                    <a:pt x="181" y="268"/>
                    <a:pt x="226" y="235"/>
                    <a:pt x="226" y="200"/>
                  </a:cubicBezTo>
                  <a:lnTo>
                    <a:pt x="226" y="81"/>
                  </a:lnTo>
                  <a:cubicBezTo>
                    <a:pt x="226" y="70"/>
                    <a:pt x="213" y="47"/>
                    <a:pt x="197" y="32"/>
                  </a:cubicBezTo>
                  <a:cubicBezTo>
                    <a:pt x="188" y="23"/>
                    <a:pt x="180" y="19"/>
                    <a:pt x="175" y="18"/>
                  </a:cubicBezTo>
                  <a:cubicBezTo>
                    <a:pt x="175" y="18"/>
                    <a:pt x="175" y="18"/>
                    <a:pt x="175" y="19"/>
                  </a:cubicBezTo>
                  <a:cubicBezTo>
                    <a:pt x="178" y="28"/>
                    <a:pt x="184" y="47"/>
                    <a:pt x="160" y="59"/>
                  </a:cubicBezTo>
                  <a:cubicBezTo>
                    <a:pt x="142" y="68"/>
                    <a:pt x="112" y="60"/>
                    <a:pt x="84" y="52"/>
                  </a:cubicBezTo>
                  <a:cubicBezTo>
                    <a:pt x="69" y="48"/>
                    <a:pt x="56" y="44"/>
                    <a:pt x="48" y="44"/>
                  </a:cubicBezTo>
                  <a:close/>
                  <a:moveTo>
                    <a:pt x="121" y="311"/>
                  </a:moveTo>
                  <a:cubicBezTo>
                    <a:pt x="107" y="311"/>
                    <a:pt x="92" y="307"/>
                    <a:pt x="79" y="299"/>
                  </a:cubicBezTo>
                  <a:cubicBezTo>
                    <a:pt x="43" y="276"/>
                    <a:pt x="0" y="241"/>
                    <a:pt x="0" y="200"/>
                  </a:cubicBezTo>
                  <a:lnTo>
                    <a:pt x="0" y="108"/>
                  </a:lnTo>
                  <a:cubicBezTo>
                    <a:pt x="0" y="84"/>
                    <a:pt x="0" y="27"/>
                    <a:pt x="48" y="27"/>
                  </a:cubicBezTo>
                  <a:cubicBezTo>
                    <a:pt x="58" y="27"/>
                    <a:pt x="72" y="31"/>
                    <a:pt x="88" y="36"/>
                  </a:cubicBezTo>
                  <a:cubicBezTo>
                    <a:pt x="111" y="42"/>
                    <a:pt x="140" y="50"/>
                    <a:pt x="152" y="44"/>
                  </a:cubicBezTo>
                  <a:cubicBezTo>
                    <a:pt x="164" y="39"/>
                    <a:pt x="162" y="33"/>
                    <a:pt x="159" y="23"/>
                  </a:cubicBezTo>
                  <a:cubicBezTo>
                    <a:pt x="158" y="18"/>
                    <a:pt x="156" y="12"/>
                    <a:pt x="160" y="6"/>
                  </a:cubicBezTo>
                  <a:cubicBezTo>
                    <a:pt x="162" y="3"/>
                    <a:pt x="166" y="1"/>
                    <a:pt x="171" y="1"/>
                  </a:cubicBezTo>
                  <a:lnTo>
                    <a:pt x="171" y="1"/>
                  </a:lnTo>
                  <a:cubicBezTo>
                    <a:pt x="185" y="0"/>
                    <a:pt x="199" y="11"/>
                    <a:pt x="209" y="20"/>
                  </a:cubicBezTo>
                  <a:cubicBezTo>
                    <a:pt x="225" y="36"/>
                    <a:pt x="243" y="63"/>
                    <a:pt x="243" y="81"/>
                  </a:cubicBezTo>
                  <a:lnTo>
                    <a:pt x="243" y="200"/>
                  </a:lnTo>
                  <a:cubicBezTo>
                    <a:pt x="243" y="241"/>
                    <a:pt x="200" y="276"/>
                    <a:pt x="164" y="299"/>
                  </a:cubicBezTo>
                  <a:cubicBezTo>
                    <a:pt x="151" y="307"/>
                    <a:pt x="136" y="311"/>
                    <a:pt x="121" y="311"/>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4" name="Freeform 500">
              <a:extLst>
                <a:ext uri="{FF2B5EF4-FFF2-40B4-BE49-F238E27FC236}">
                  <a16:creationId xmlns:a16="http://schemas.microsoft.com/office/drawing/2014/main" id="{0FB9500B-4309-8FEF-C068-3926AFE04D91}"/>
                </a:ext>
              </a:extLst>
            </p:cNvPr>
            <p:cNvSpPr>
              <a:spLocks noEditPoints="1"/>
            </p:cNvSpPr>
            <p:nvPr/>
          </p:nvSpPr>
          <p:spPr bwMode="auto">
            <a:xfrm>
              <a:off x="6413501" y="2011363"/>
              <a:ext cx="44450" cy="85725"/>
            </a:xfrm>
            <a:custGeom>
              <a:avLst/>
              <a:gdLst>
                <a:gd name="T0" fmla="*/ 27 w 55"/>
                <a:gd name="T1" fmla="*/ 17 h 107"/>
                <a:gd name="T2" fmla="*/ 16 w 55"/>
                <a:gd name="T3" fmla="*/ 27 h 107"/>
                <a:gd name="T4" fmla="*/ 16 w 55"/>
                <a:gd name="T5" fmla="*/ 30 h 107"/>
                <a:gd name="T6" fmla="*/ 26 w 55"/>
                <a:gd name="T7" fmla="*/ 75 h 107"/>
                <a:gd name="T8" fmla="*/ 39 w 55"/>
                <a:gd name="T9" fmla="*/ 89 h 107"/>
                <a:gd name="T10" fmla="*/ 38 w 55"/>
                <a:gd name="T11" fmla="*/ 17 h 107"/>
                <a:gd name="T12" fmla="*/ 27 w 55"/>
                <a:gd name="T13" fmla="*/ 17 h 107"/>
                <a:gd name="T14" fmla="*/ 55 w 55"/>
                <a:gd name="T15" fmla="*/ 107 h 107"/>
                <a:gd name="T16" fmla="*/ 47 w 55"/>
                <a:gd name="T17" fmla="*/ 107 h 107"/>
                <a:gd name="T18" fmla="*/ 12 w 55"/>
                <a:gd name="T19" fmla="*/ 82 h 107"/>
                <a:gd name="T20" fmla="*/ 0 w 55"/>
                <a:gd name="T21" fmla="*/ 30 h 107"/>
                <a:gd name="T22" fmla="*/ 0 w 55"/>
                <a:gd name="T23" fmla="*/ 27 h 107"/>
                <a:gd name="T24" fmla="*/ 27 w 55"/>
                <a:gd name="T25" fmla="*/ 0 h 107"/>
                <a:gd name="T26" fmla="*/ 55 w 55"/>
                <a:gd name="T27" fmla="*/ 0 h 107"/>
                <a:gd name="T28" fmla="*/ 55 w 55"/>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 h="107">
                  <a:moveTo>
                    <a:pt x="27" y="17"/>
                  </a:moveTo>
                  <a:cubicBezTo>
                    <a:pt x="21" y="17"/>
                    <a:pt x="16" y="21"/>
                    <a:pt x="16" y="27"/>
                  </a:cubicBezTo>
                  <a:lnTo>
                    <a:pt x="16" y="30"/>
                  </a:lnTo>
                  <a:cubicBezTo>
                    <a:pt x="16" y="46"/>
                    <a:pt x="20" y="62"/>
                    <a:pt x="26" y="75"/>
                  </a:cubicBezTo>
                  <a:cubicBezTo>
                    <a:pt x="31" y="83"/>
                    <a:pt x="34" y="87"/>
                    <a:pt x="39" y="89"/>
                  </a:cubicBezTo>
                  <a:lnTo>
                    <a:pt x="38" y="17"/>
                  </a:lnTo>
                  <a:lnTo>
                    <a:pt x="27" y="17"/>
                  </a:lnTo>
                  <a:close/>
                  <a:moveTo>
                    <a:pt x="55" y="107"/>
                  </a:moveTo>
                  <a:lnTo>
                    <a:pt x="47" y="107"/>
                  </a:lnTo>
                  <a:cubicBezTo>
                    <a:pt x="28" y="107"/>
                    <a:pt x="19" y="98"/>
                    <a:pt x="12" y="82"/>
                  </a:cubicBezTo>
                  <a:cubicBezTo>
                    <a:pt x="4" y="67"/>
                    <a:pt x="0" y="49"/>
                    <a:pt x="0" y="30"/>
                  </a:cubicBezTo>
                  <a:lnTo>
                    <a:pt x="0" y="27"/>
                  </a:lnTo>
                  <a:cubicBezTo>
                    <a:pt x="0" y="12"/>
                    <a:pt x="12" y="0"/>
                    <a:pt x="27" y="0"/>
                  </a:cubicBezTo>
                  <a:lnTo>
                    <a:pt x="55" y="0"/>
                  </a:lnTo>
                  <a:lnTo>
                    <a:pt x="55" y="10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5" name="Freeform 501">
              <a:extLst>
                <a:ext uri="{FF2B5EF4-FFF2-40B4-BE49-F238E27FC236}">
                  <a16:creationId xmlns:a16="http://schemas.microsoft.com/office/drawing/2014/main" id="{66B80A62-7E99-4E39-4D22-FA92B05C3609}"/>
                </a:ext>
              </a:extLst>
            </p:cNvPr>
            <p:cNvSpPr>
              <a:spLocks/>
            </p:cNvSpPr>
            <p:nvPr/>
          </p:nvSpPr>
          <p:spPr bwMode="auto">
            <a:xfrm>
              <a:off x="6411914" y="1846263"/>
              <a:ext cx="260350" cy="174625"/>
            </a:xfrm>
            <a:custGeom>
              <a:avLst/>
              <a:gdLst>
                <a:gd name="T0" fmla="*/ 9 w 323"/>
                <a:gd name="T1" fmla="*/ 217 h 217"/>
                <a:gd name="T2" fmla="*/ 4 w 323"/>
                <a:gd name="T3" fmla="*/ 186 h 217"/>
                <a:gd name="T4" fmla="*/ 11 w 323"/>
                <a:gd name="T5" fmla="*/ 105 h 217"/>
                <a:gd name="T6" fmla="*/ 161 w 323"/>
                <a:gd name="T7" fmla="*/ 2 h 217"/>
                <a:gd name="T8" fmla="*/ 312 w 323"/>
                <a:gd name="T9" fmla="*/ 105 h 217"/>
                <a:gd name="T10" fmla="*/ 318 w 323"/>
                <a:gd name="T11" fmla="*/ 186 h 217"/>
                <a:gd name="T12" fmla="*/ 313 w 323"/>
                <a:gd name="T13" fmla="*/ 217 h 217"/>
                <a:gd name="T14" fmla="*/ 297 w 323"/>
                <a:gd name="T15" fmla="*/ 214 h 217"/>
                <a:gd name="T16" fmla="*/ 302 w 323"/>
                <a:gd name="T17" fmla="*/ 184 h 217"/>
                <a:gd name="T18" fmla="*/ 296 w 323"/>
                <a:gd name="T19" fmla="*/ 111 h 217"/>
                <a:gd name="T20" fmla="*/ 161 w 323"/>
                <a:gd name="T21" fmla="*/ 18 h 217"/>
                <a:gd name="T22" fmla="*/ 26 w 323"/>
                <a:gd name="T23" fmla="*/ 111 h 217"/>
                <a:gd name="T24" fmla="*/ 21 w 323"/>
                <a:gd name="T25" fmla="*/ 184 h 217"/>
                <a:gd name="T26" fmla="*/ 26 w 323"/>
                <a:gd name="T27" fmla="*/ 214 h 217"/>
                <a:gd name="T28" fmla="*/ 9 w 323"/>
                <a:gd name="T29" fmla="*/ 21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3" h="217">
                  <a:moveTo>
                    <a:pt x="9" y="217"/>
                  </a:moveTo>
                  <a:lnTo>
                    <a:pt x="4" y="186"/>
                  </a:lnTo>
                  <a:cubicBezTo>
                    <a:pt x="0" y="157"/>
                    <a:pt x="2" y="129"/>
                    <a:pt x="11" y="105"/>
                  </a:cubicBezTo>
                  <a:cubicBezTo>
                    <a:pt x="34" y="41"/>
                    <a:pt x="95" y="0"/>
                    <a:pt x="161" y="2"/>
                  </a:cubicBezTo>
                  <a:cubicBezTo>
                    <a:pt x="228" y="0"/>
                    <a:pt x="288" y="41"/>
                    <a:pt x="312" y="105"/>
                  </a:cubicBezTo>
                  <a:cubicBezTo>
                    <a:pt x="321" y="129"/>
                    <a:pt x="323" y="157"/>
                    <a:pt x="318" y="186"/>
                  </a:cubicBezTo>
                  <a:lnTo>
                    <a:pt x="313" y="217"/>
                  </a:lnTo>
                  <a:lnTo>
                    <a:pt x="297" y="214"/>
                  </a:lnTo>
                  <a:lnTo>
                    <a:pt x="302" y="184"/>
                  </a:lnTo>
                  <a:cubicBezTo>
                    <a:pt x="306" y="157"/>
                    <a:pt x="304" y="132"/>
                    <a:pt x="296" y="111"/>
                  </a:cubicBezTo>
                  <a:cubicBezTo>
                    <a:pt x="275" y="54"/>
                    <a:pt x="222" y="17"/>
                    <a:pt x="161" y="18"/>
                  </a:cubicBezTo>
                  <a:cubicBezTo>
                    <a:pt x="102" y="17"/>
                    <a:pt x="47" y="54"/>
                    <a:pt x="26" y="111"/>
                  </a:cubicBezTo>
                  <a:cubicBezTo>
                    <a:pt x="18" y="132"/>
                    <a:pt x="16" y="157"/>
                    <a:pt x="21" y="184"/>
                  </a:cubicBezTo>
                  <a:lnTo>
                    <a:pt x="26" y="214"/>
                  </a:lnTo>
                  <a:lnTo>
                    <a:pt x="9" y="21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6" name="Freeform 502">
              <a:extLst>
                <a:ext uri="{FF2B5EF4-FFF2-40B4-BE49-F238E27FC236}">
                  <a16:creationId xmlns:a16="http://schemas.microsoft.com/office/drawing/2014/main" id="{79AED08E-50FB-6CC5-1D47-0F6839CADBE5}"/>
                </a:ext>
              </a:extLst>
            </p:cNvPr>
            <p:cNvSpPr>
              <a:spLocks noEditPoints="1"/>
            </p:cNvSpPr>
            <p:nvPr/>
          </p:nvSpPr>
          <p:spPr bwMode="auto">
            <a:xfrm>
              <a:off x="6626226" y="2011363"/>
              <a:ext cx="44450" cy="85725"/>
            </a:xfrm>
            <a:custGeom>
              <a:avLst/>
              <a:gdLst>
                <a:gd name="T0" fmla="*/ 17 w 56"/>
                <a:gd name="T1" fmla="*/ 17 h 107"/>
                <a:gd name="T2" fmla="*/ 17 w 56"/>
                <a:gd name="T3" fmla="*/ 89 h 107"/>
                <a:gd name="T4" fmla="*/ 29 w 56"/>
                <a:gd name="T5" fmla="*/ 75 h 107"/>
                <a:gd name="T6" fmla="*/ 40 w 56"/>
                <a:gd name="T7" fmla="*/ 30 h 107"/>
                <a:gd name="T8" fmla="*/ 40 w 56"/>
                <a:gd name="T9" fmla="*/ 27 h 107"/>
                <a:gd name="T10" fmla="*/ 29 w 56"/>
                <a:gd name="T11" fmla="*/ 17 h 107"/>
                <a:gd name="T12" fmla="*/ 17 w 56"/>
                <a:gd name="T13" fmla="*/ 17 h 107"/>
                <a:gd name="T14" fmla="*/ 9 w 56"/>
                <a:gd name="T15" fmla="*/ 107 h 107"/>
                <a:gd name="T16" fmla="*/ 0 w 56"/>
                <a:gd name="T17" fmla="*/ 107 h 107"/>
                <a:gd name="T18" fmla="*/ 1 w 56"/>
                <a:gd name="T19" fmla="*/ 0 h 107"/>
                <a:gd name="T20" fmla="*/ 29 w 56"/>
                <a:gd name="T21" fmla="*/ 0 h 107"/>
                <a:gd name="T22" fmla="*/ 56 w 56"/>
                <a:gd name="T23" fmla="*/ 27 h 107"/>
                <a:gd name="T24" fmla="*/ 56 w 56"/>
                <a:gd name="T25" fmla="*/ 30 h 107"/>
                <a:gd name="T26" fmla="*/ 44 w 56"/>
                <a:gd name="T27" fmla="*/ 82 h 107"/>
                <a:gd name="T28" fmla="*/ 9 w 56"/>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107">
                  <a:moveTo>
                    <a:pt x="17" y="17"/>
                  </a:moveTo>
                  <a:lnTo>
                    <a:pt x="17" y="89"/>
                  </a:lnTo>
                  <a:cubicBezTo>
                    <a:pt x="22" y="87"/>
                    <a:pt x="25" y="83"/>
                    <a:pt x="29" y="75"/>
                  </a:cubicBezTo>
                  <a:cubicBezTo>
                    <a:pt x="36" y="62"/>
                    <a:pt x="40" y="46"/>
                    <a:pt x="40" y="30"/>
                  </a:cubicBezTo>
                  <a:lnTo>
                    <a:pt x="40" y="27"/>
                  </a:lnTo>
                  <a:cubicBezTo>
                    <a:pt x="40" y="21"/>
                    <a:pt x="35" y="17"/>
                    <a:pt x="29" y="17"/>
                  </a:cubicBezTo>
                  <a:lnTo>
                    <a:pt x="17" y="17"/>
                  </a:lnTo>
                  <a:close/>
                  <a:moveTo>
                    <a:pt x="9" y="107"/>
                  </a:moveTo>
                  <a:lnTo>
                    <a:pt x="0" y="107"/>
                  </a:lnTo>
                  <a:lnTo>
                    <a:pt x="1" y="0"/>
                  </a:lnTo>
                  <a:lnTo>
                    <a:pt x="29" y="0"/>
                  </a:lnTo>
                  <a:cubicBezTo>
                    <a:pt x="44" y="0"/>
                    <a:pt x="56" y="12"/>
                    <a:pt x="56" y="27"/>
                  </a:cubicBezTo>
                  <a:lnTo>
                    <a:pt x="56" y="30"/>
                  </a:lnTo>
                  <a:cubicBezTo>
                    <a:pt x="56" y="49"/>
                    <a:pt x="52" y="67"/>
                    <a:pt x="44" y="82"/>
                  </a:cubicBezTo>
                  <a:cubicBezTo>
                    <a:pt x="36" y="98"/>
                    <a:pt x="28" y="107"/>
                    <a:pt x="9" y="107"/>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7" name="Freeform 503">
              <a:extLst>
                <a:ext uri="{FF2B5EF4-FFF2-40B4-BE49-F238E27FC236}">
                  <a16:creationId xmlns:a16="http://schemas.microsoft.com/office/drawing/2014/main" id="{56A22040-9F9F-6835-5C57-E0E2B1780ED4}"/>
                </a:ext>
              </a:extLst>
            </p:cNvPr>
            <p:cNvSpPr>
              <a:spLocks noEditPoints="1"/>
            </p:cNvSpPr>
            <p:nvPr/>
          </p:nvSpPr>
          <p:spPr bwMode="auto">
            <a:xfrm>
              <a:off x="6530976" y="2166938"/>
              <a:ext cx="103188" cy="103188"/>
            </a:xfrm>
            <a:custGeom>
              <a:avLst/>
              <a:gdLst>
                <a:gd name="T0" fmla="*/ 25 w 128"/>
                <a:gd name="T1" fmla="*/ 72 h 127"/>
                <a:gd name="T2" fmla="*/ 56 w 128"/>
                <a:gd name="T3" fmla="*/ 104 h 127"/>
                <a:gd name="T4" fmla="*/ 106 w 128"/>
                <a:gd name="T5" fmla="*/ 56 h 127"/>
                <a:gd name="T6" fmla="*/ 81 w 128"/>
                <a:gd name="T7" fmla="*/ 24 h 127"/>
                <a:gd name="T8" fmla="*/ 25 w 128"/>
                <a:gd name="T9" fmla="*/ 72 h 127"/>
                <a:gd name="T10" fmla="*/ 55 w 128"/>
                <a:gd name="T11" fmla="*/ 127 h 127"/>
                <a:gd name="T12" fmla="*/ 0 w 128"/>
                <a:gd name="T13" fmla="*/ 71 h 127"/>
                <a:gd name="T14" fmla="*/ 84 w 128"/>
                <a:gd name="T15" fmla="*/ 0 h 127"/>
                <a:gd name="T16" fmla="*/ 128 w 128"/>
                <a:gd name="T17" fmla="*/ 57 h 127"/>
                <a:gd name="T18" fmla="*/ 55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5" y="72"/>
                  </a:moveTo>
                  <a:lnTo>
                    <a:pt x="56" y="104"/>
                  </a:lnTo>
                  <a:lnTo>
                    <a:pt x="106" y="56"/>
                  </a:lnTo>
                  <a:lnTo>
                    <a:pt x="81" y="24"/>
                  </a:lnTo>
                  <a:lnTo>
                    <a:pt x="25" y="72"/>
                  </a:lnTo>
                  <a:close/>
                  <a:moveTo>
                    <a:pt x="55" y="127"/>
                  </a:moveTo>
                  <a:lnTo>
                    <a:pt x="0" y="71"/>
                  </a:lnTo>
                  <a:lnTo>
                    <a:pt x="84" y="0"/>
                  </a:lnTo>
                  <a:lnTo>
                    <a:pt x="128" y="57"/>
                  </a:lnTo>
                  <a:lnTo>
                    <a:pt x="55"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8" name="Freeform 504">
              <a:extLst>
                <a:ext uri="{FF2B5EF4-FFF2-40B4-BE49-F238E27FC236}">
                  <a16:creationId xmlns:a16="http://schemas.microsoft.com/office/drawing/2014/main" id="{7704F8A2-220F-7C43-4128-B199539299CD}"/>
                </a:ext>
              </a:extLst>
            </p:cNvPr>
            <p:cNvSpPr>
              <a:spLocks noEditPoints="1"/>
            </p:cNvSpPr>
            <p:nvPr/>
          </p:nvSpPr>
          <p:spPr bwMode="auto">
            <a:xfrm>
              <a:off x="6448426" y="2166938"/>
              <a:ext cx="103188" cy="103188"/>
            </a:xfrm>
            <a:custGeom>
              <a:avLst/>
              <a:gdLst>
                <a:gd name="T0" fmla="*/ 22 w 128"/>
                <a:gd name="T1" fmla="*/ 56 h 127"/>
                <a:gd name="T2" fmla="*/ 72 w 128"/>
                <a:gd name="T3" fmla="*/ 104 h 127"/>
                <a:gd name="T4" fmla="*/ 103 w 128"/>
                <a:gd name="T5" fmla="*/ 72 h 127"/>
                <a:gd name="T6" fmla="*/ 47 w 128"/>
                <a:gd name="T7" fmla="*/ 24 h 127"/>
                <a:gd name="T8" fmla="*/ 22 w 128"/>
                <a:gd name="T9" fmla="*/ 56 h 127"/>
                <a:gd name="T10" fmla="*/ 73 w 128"/>
                <a:gd name="T11" fmla="*/ 127 h 127"/>
                <a:gd name="T12" fmla="*/ 0 w 128"/>
                <a:gd name="T13" fmla="*/ 57 h 127"/>
                <a:gd name="T14" fmla="*/ 44 w 128"/>
                <a:gd name="T15" fmla="*/ 0 h 127"/>
                <a:gd name="T16" fmla="*/ 128 w 128"/>
                <a:gd name="T17" fmla="*/ 71 h 127"/>
                <a:gd name="T18" fmla="*/ 73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2" y="56"/>
                  </a:moveTo>
                  <a:lnTo>
                    <a:pt x="72" y="104"/>
                  </a:lnTo>
                  <a:lnTo>
                    <a:pt x="103" y="72"/>
                  </a:lnTo>
                  <a:lnTo>
                    <a:pt x="47" y="24"/>
                  </a:lnTo>
                  <a:lnTo>
                    <a:pt x="22" y="56"/>
                  </a:lnTo>
                  <a:close/>
                  <a:moveTo>
                    <a:pt x="73" y="127"/>
                  </a:moveTo>
                  <a:lnTo>
                    <a:pt x="0" y="57"/>
                  </a:lnTo>
                  <a:lnTo>
                    <a:pt x="44" y="0"/>
                  </a:lnTo>
                  <a:lnTo>
                    <a:pt x="128" y="71"/>
                  </a:lnTo>
                  <a:lnTo>
                    <a:pt x="73"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9" name="Freeform 505">
              <a:extLst>
                <a:ext uri="{FF2B5EF4-FFF2-40B4-BE49-F238E27FC236}">
                  <a16:creationId xmlns:a16="http://schemas.microsoft.com/office/drawing/2014/main" id="{C2B0227C-7B01-2E3F-FD97-1CBA49892025}"/>
                </a:ext>
              </a:extLst>
            </p:cNvPr>
            <p:cNvSpPr>
              <a:spLocks/>
            </p:cNvSpPr>
            <p:nvPr/>
          </p:nvSpPr>
          <p:spPr bwMode="auto">
            <a:xfrm>
              <a:off x="6508751" y="2249488"/>
              <a:ext cx="66675" cy="31750"/>
            </a:xfrm>
            <a:custGeom>
              <a:avLst/>
              <a:gdLst>
                <a:gd name="T0" fmla="*/ 41 w 83"/>
                <a:gd name="T1" fmla="*/ 40 h 40"/>
                <a:gd name="T2" fmla="*/ 20 w 83"/>
                <a:gd name="T3" fmla="*/ 31 h 40"/>
                <a:gd name="T4" fmla="*/ 0 w 83"/>
                <a:gd name="T5" fmla="*/ 12 h 40"/>
                <a:gd name="T6" fmla="*/ 12 w 83"/>
                <a:gd name="T7" fmla="*/ 0 h 40"/>
                <a:gd name="T8" fmla="*/ 32 w 83"/>
                <a:gd name="T9" fmla="*/ 19 h 40"/>
                <a:gd name="T10" fmla="*/ 51 w 83"/>
                <a:gd name="T11" fmla="*/ 19 h 40"/>
                <a:gd name="T12" fmla="*/ 71 w 83"/>
                <a:gd name="T13" fmla="*/ 0 h 40"/>
                <a:gd name="T14" fmla="*/ 83 w 83"/>
                <a:gd name="T15" fmla="*/ 12 h 40"/>
                <a:gd name="T16" fmla="*/ 63 w 83"/>
                <a:gd name="T17" fmla="*/ 31 h 40"/>
                <a:gd name="T18" fmla="*/ 41 w 83"/>
                <a:gd name="T1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40">
                  <a:moveTo>
                    <a:pt x="41" y="40"/>
                  </a:moveTo>
                  <a:cubicBezTo>
                    <a:pt x="34" y="40"/>
                    <a:pt x="26" y="37"/>
                    <a:pt x="20" y="31"/>
                  </a:cubicBezTo>
                  <a:lnTo>
                    <a:pt x="0" y="12"/>
                  </a:lnTo>
                  <a:lnTo>
                    <a:pt x="12" y="0"/>
                  </a:lnTo>
                  <a:lnTo>
                    <a:pt x="32" y="19"/>
                  </a:lnTo>
                  <a:cubicBezTo>
                    <a:pt x="37" y="24"/>
                    <a:pt x="46" y="24"/>
                    <a:pt x="51" y="19"/>
                  </a:cubicBezTo>
                  <a:lnTo>
                    <a:pt x="71" y="0"/>
                  </a:lnTo>
                  <a:lnTo>
                    <a:pt x="83" y="12"/>
                  </a:lnTo>
                  <a:lnTo>
                    <a:pt x="63" y="31"/>
                  </a:lnTo>
                  <a:cubicBezTo>
                    <a:pt x="57" y="37"/>
                    <a:pt x="49" y="40"/>
                    <a:pt x="41" y="40"/>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0" name="Freeform 506">
              <a:extLst>
                <a:ext uri="{FF2B5EF4-FFF2-40B4-BE49-F238E27FC236}">
                  <a16:creationId xmlns:a16="http://schemas.microsoft.com/office/drawing/2014/main" id="{B17DA233-C3A7-041A-724C-54488FEDF3D1}"/>
                </a:ext>
              </a:extLst>
            </p:cNvPr>
            <p:cNvSpPr>
              <a:spLocks/>
            </p:cNvSpPr>
            <p:nvPr/>
          </p:nvSpPr>
          <p:spPr bwMode="auto">
            <a:xfrm>
              <a:off x="6508751" y="2268538"/>
              <a:ext cx="25400" cy="57150"/>
            </a:xfrm>
            <a:custGeom>
              <a:avLst/>
              <a:gdLst>
                <a:gd name="T0" fmla="*/ 8 w 16"/>
                <a:gd name="T1" fmla="*/ 36 h 36"/>
                <a:gd name="T2" fmla="*/ 0 w 16"/>
                <a:gd name="T3" fmla="*/ 34 h 36"/>
                <a:gd name="T4" fmla="*/ 8 w 16"/>
                <a:gd name="T5" fmla="*/ 0 h 36"/>
                <a:gd name="T6" fmla="*/ 16 w 16"/>
                <a:gd name="T7" fmla="*/ 2 h 36"/>
                <a:gd name="T8" fmla="*/ 8 w 16"/>
                <a:gd name="T9" fmla="*/ 36 h 36"/>
              </a:gdLst>
              <a:ahLst/>
              <a:cxnLst>
                <a:cxn ang="0">
                  <a:pos x="T0" y="T1"/>
                </a:cxn>
                <a:cxn ang="0">
                  <a:pos x="T2" y="T3"/>
                </a:cxn>
                <a:cxn ang="0">
                  <a:pos x="T4" y="T5"/>
                </a:cxn>
                <a:cxn ang="0">
                  <a:pos x="T6" y="T7"/>
                </a:cxn>
                <a:cxn ang="0">
                  <a:pos x="T8" y="T9"/>
                </a:cxn>
              </a:cxnLst>
              <a:rect l="0" t="0" r="r" b="b"/>
              <a:pathLst>
                <a:path w="16" h="36">
                  <a:moveTo>
                    <a:pt x="8" y="36"/>
                  </a:moveTo>
                  <a:lnTo>
                    <a:pt x="0" y="34"/>
                  </a:lnTo>
                  <a:lnTo>
                    <a:pt x="8" y="0"/>
                  </a:lnTo>
                  <a:lnTo>
                    <a:pt x="16" y="2"/>
                  </a:lnTo>
                  <a:lnTo>
                    <a:pt x="8"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1" name="Freeform 507">
              <a:extLst>
                <a:ext uri="{FF2B5EF4-FFF2-40B4-BE49-F238E27FC236}">
                  <a16:creationId xmlns:a16="http://schemas.microsoft.com/office/drawing/2014/main" id="{5A505037-F4EF-05A4-5AEA-5202B320753F}"/>
                </a:ext>
              </a:extLst>
            </p:cNvPr>
            <p:cNvSpPr>
              <a:spLocks/>
            </p:cNvSpPr>
            <p:nvPr/>
          </p:nvSpPr>
          <p:spPr bwMode="auto">
            <a:xfrm>
              <a:off x="6548439" y="2268538"/>
              <a:ext cx="26988" cy="57150"/>
            </a:xfrm>
            <a:custGeom>
              <a:avLst/>
              <a:gdLst>
                <a:gd name="T0" fmla="*/ 9 w 17"/>
                <a:gd name="T1" fmla="*/ 36 h 36"/>
                <a:gd name="T2" fmla="*/ 0 w 17"/>
                <a:gd name="T3" fmla="*/ 2 h 36"/>
                <a:gd name="T4" fmla="*/ 9 w 17"/>
                <a:gd name="T5" fmla="*/ 0 h 36"/>
                <a:gd name="T6" fmla="*/ 17 w 17"/>
                <a:gd name="T7" fmla="*/ 34 h 36"/>
                <a:gd name="T8" fmla="*/ 9 w 17"/>
                <a:gd name="T9" fmla="*/ 36 h 36"/>
              </a:gdLst>
              <a:ahLst/>
              <a:cxnLst>
                <a:cxn ang="0">
                  <a:pos x="T0" y="T1"/>
                </a:cxn>
                <a:cxn ang="0">
                  <a:pos x="T2" y="T3"/>
                </a:cxn>
                <a:cxn ang="0">
                  <a:pos x="T4" y="T5"/>
                </a:cxn>
                <a:cxn ang="0">
                  <a:pos x="T6" y="T7"/>
                </a:cxn>
                <a:cxn ang="0">
                  <a:pos x="T8" y="T9"/>
                </a:cxn>
              </a:cxnLst>
              <a:rect l="0" t="0" r="r" b="b"/>
              <a:pathLst>
                <a:path w="17" h="36">
                  <a:moveTo>
                    <a:pt x="9" y="36"/>
                  </a:moveTo>
                  <a:lnTo>
                    <a:pt x="0" y="2"/>
                  </a:lnTo>
                  <a:lnTo>
                    <a:pt x="9" y="0"/>
                  </a:lnTo>
                  <a:lnTo>
                    <a:pt x="17" y="34"/>
                  </a:lnTo>
                  <a:lnTo>
                    <a:pt x="9"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02" name="Presentation9" descr="{&quot;Key&quot;:&quot;POWER_USER_SHAPE_ICON&quot;,&quot;Value&quot;:&quot;POWER_USER_SHAPE_ICON_STYLE_1&quot;}">
            <a:extLst>
              <a:ext uri="{FF2B5EF4-FFF2-40B4-BE49-F238E27FC236}">
                <a16:creationId xmlns:a16="http://schemas.microsoft.com/office/drawing/2014/main" id="{339AD63D-A32C-8050-4B6B-5A1AAA71414D}"/>
              </a:ext>
            </a:extLst>
          </p:cNvPr>
          <p:cNvGrpSpPr>
            <a:grpSpLocks noChangeAspect="1"/>
          </p:cNvGrpSpPr>
          <p:nvPr>
            <p:custDataLst>
              <p:tags r:id="rId3"/>
            </p:custDataLst>
          </p:nvPr>
        </p:nvGrpSpPr>
        <p:grpSpPr>
          <a:xfrm>
            <a:off x="1385738" y="1006600"/>
            <a:ext cx="433996" cy="324000"/>
            <a:chOff x="6796088" y="1851026"/>
            <a:chExt cx="884238" cy="677862"/>
          </a:xfrm>
          <a:noFill/>
        </p:grpSpPr>
        <p:sp>
          <p:nvSpPr>
            <p:cNvPr id="403" name="Freeform 157">
              <a:extLst>
                <a:ext uri="{FF2B5EF4-FFF2-40B4-BE49-F238E27FC236}">
                  <a16:creationId xmlns:a16="http://schemas.microsoft.com/office/drawing/2014/main" id="{BA18D2E2-2246-D2EB-A83D-8955236335C2}"/>
                </a:ext>
              </a:extLst>
            </p:cNvPr>
            <p:cNvSpPr>
              <a:spLocks/>
            </p:cNvSpPr>
            <p:nvPr/>
          </p:nvSpPr>
          <p:spPr bwMode="auto">
            <a:xfrm>
              <a:off x="7018338" y="1851026"/>
              <a:ext cx="661988" cy="512763"/>
            </a:xfrm>
            <a:custGeom>
              <a:avLst/>
              <a:gdLst>
                <a:gd name="T0" fmla="*/ 54 w 870"/>
                <a:gd name="T1" fmla="*/ 54 h 673"/>
                <a:gd name="T2" fmla="*/ 816 w 870"/>
                <a:gd name="T3" fmla="*/ 54 h 673"/>
                <a:gd name="T4" fmla="*/ 816 w 870"/>
                <a:gd name="T5" fmla="*/ 619 h 673"/>
                <a:gd name="T6" fmla="*/ 394 w 870"/>
                <a:gd name="T7" fmla="*/ 619 h 673"/>
                <a:gd name="T8" fmla="*/ 295 w 870"/>
                <a:gd name="T9" fmla="*/ 673 h 673"/>
                <a:gd name="T10" fmla="*/ 817 w 870"/>
                <a:gd name="T11" fmla="*/ 673 h 673"/>
                <a:gd name="T12" fmla="*/ 870 w 870"/>
                <a:gd name="T13" fmla="*/ 620 h 673"/>
                <a:gd name="T14" fmla="*/ 870 w 870"/>
                <a:gd name="T15" fmla="*/ 53 h 673"/>
                <a:gd name="T16" fmla="*/ 817 w 870"/>
                <a:gd name="T17" fmla="*/ 0 h 673"/>
                <a:gd name="T18" fmla="*/ 53 w 870"/>
                <a:gd name="T19" fmla="*/ 0 h 673"/>
                <a:gd name="T20" fmla="*/ 0 w 870"/>
                <a:gd name="T21" fmla="*/ 53 h 673"/>
                <a:gd name="T22" fmla="*/ 0 w 870"/>
                <a:gd name="T23" fmla="*/ 185 h 673"/>
                <a:gd name="T24" fmla="*/ 54 w 870"/>
                <a:gd name="T25" fmla="*/ 215 h 673"/>
                <a:gd name="T26" fmla="*/ 54 w 870"/>
                <a:gd name="T27" fmla="*/ 54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0" h="673">
                  <a:moveTo>
                    <a:pt x="54" y="54"/>
                  </a:moveTo>
                  <a:lnTo>
                    <a:pt x="816" y="54"/>
                  </a:lnTo>
                  <a:lnTo>
                    <a:pt x="816" y="619"/>
                  </a:lnTo>
                  <a:lnTo>
                    <a:pt x="394" y="619"/>
                  </a:lnTo>
                  <a:cubicBezTo>
                    <a:pt x="363" y="638"/>
                    <a:pt x="330" y="656"/>
                    <a:pt x="295" y="673"/>
                  </a:cubicBezTo>
                  <a:lnTo>
                    <a:pt x="817" y="673"/>
                  </a:lnTo>
                  <a:cubicBezTo>
                    <a:pt x="846" y="673"/>
                    <a:pt x="870" y="650"/>
                    <a:pt x="870" y="620"/>
                  </a:cubicBezTo>
                  <a:lnTo>
                    <a:pt x="870" y="53"/>
                  </a:lnTo>
                  <a:cubicBezTo>
                    <a:pt x="870" y="23"/>
                    <a:pt x="846" y="0"/>
                    <a:pt x="817" y="0"/>
                  </a:cubicBezTo>
                  <a:lnTo>
                    <a:pt x="53" y="0"/>
                  </a:lnTo>
                  <a:cubicBezTo>
                    <a:pt x="24" y="0"/>
                    <a:pt x="0" y="23"/>
                    <a:pt x="0" y="53"/>
                  </a:cubicBezTo>
                  <a:lnTo>
                    <a:pt x="0" y="185"/>
                  </a:lnTo>
                  <a:cubicBezTo>
                    <a:pt x="20" y="192"/>
                    <a:pt x="38" y="202"/>
                    <a:pt x="54" y="215"/>
                  </a:cubicBezTo>
                  <a:lnTo>
                    <a:pt x="54" y="54"/>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4" name="Freeform 158">
              <a:extLst>
                <a:ext uri="{FF2B5EF4-FFF2-40B4-BE49-F238E27FC236}">
                  <a16:creationId xmlns:a16="http://schemas.microsoft.com/office/drawing/2014/main" id="{89BCC149-0158-1E40-B222-2A5AFE09AFA7}"/>
                </a:ext>
              </a:extLst>
            </p:cNvPr>
            <p:cNvSpPr>
              <a:spLocks/>
            </p:cNvSpPr>
            <p:nvPr/>
          </p:nvSpPr>
          <p:spPr bwMode="auto">
            <a:xfrm>
              <a:off x="6796088" y="2162175"/>
              <a:ext cx="573088" cy="366713"/>
            </a:xfrm>
            <a:custGeom>
              <a:avLst/>
              <a:gdLst>
                <a:gd name="T0" fmla="*/ 122 w 753"/>
                <a:gd name="T1" fmla="*/ 359 h 482"/>
                <a:gd name="T2" fmla="*/ 154 w 753"/>
                <a:gd name="T3" fmla="*/ 359 h 482"/>
                <a:gd name="T4" fmla="*/ 164 w 753"/>
                <a:gd name="T5" fmla="*/ 482 h 482"/>
                <a:gd name="T6" fmla="*/ 399 w 753"/>
                <a:gd name="T7" fmla="*/ 482 h 482"/>
                <a:gd name="T8" fmla="*/ 399 w 753"/>
                <a:gd name="T9" fmla="*/ 279 h 482"/>
                <a:gd name="T10" fmla="*/ 716 w 753"/>
                <a:gd name="T11" fmla="*/ 121 h 482"/>
                <a:gd name="T12" fmla="*/ 727 w 753"/>
                <a:gd name="T13" fmla="*/ 23 h 482"/>
                <a:gd name="T14" fmla="*/ 679 w 753"/>
                <a:gd name="T15" fmla="*/ 0 h 482"/>
                <a:gd name="T16" fmla="*/ 653 w 753"/>
                <a:gd name="T17" fmla="*/ 7 h 482"/>
                <a:gd name="T18" fmla="*/ 317 w 753"/>
                <a:gd name="T19" fmla="*/ 123 h 482"/>
                <a:gd name="T20" fmla="*/ 230 w 753"/>
                <a:gd name="T21" fmla="*/ 190 h 482"/>
                <a:gd name="T22" fmla="*/ 149 w 753"/>
                <a:gd name="T23" fmla="*/ 129 h 482"/>
                <a:gd name="T24" fmla="*/ 0 w 753"/>
                <a:gd name="T25" fmla="*/ 309 h 482"/>
                <a:gd name="T26" fmla="*/ 0 w 753"/>
                <a:gd name="T27" fmla="*/ 482 h 482"/>
                <a:gd name="T28" fmla="*/ 122 w 753"/>
                <a:gd name="T29" fmla="*/ 482 h 482"/>
                <a:gd name="T30" fmla="*/ 122 w 753"/>
                <a:gd name="T31" fmla="*/ 359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3" h="482">
                  <a:moveTo>
                    <a:pt x="122" y="359"/>
                  </a:moveTo>
                  <a:lnTo>
                    <a:pt x="154" y="359"/>
                  </a:lnTo>
                  <a:lnTo>
                    <a:pt x="164" y="482"/>
                  </a:lnTo>
                  <a:lnTo>
                    <a:pt x="399" y="482"/>
                  </a:lnTo>
                  <a:lnTo>
                    <a:pt x="399" y="279"/>
                  </a:lnTo>
                  <a:cubicBezTo>
                    <a:pt x="529" y="237"/>
                    <a:pt x="643" y="176"/>
                    <a:pt x="716" y="121"/>
                  </a:cubicBezTo>
                  <a:cubicBezTo>
                    <a:pt x="747" y="98"/>
                    <a:pt x="753" y="55"/>
                    <a:pt x="727" y="23"/>
                  </a:cubicBezTo>
                  <a:cubicBezTo>
                    <a:pt x="715" y="9"/>
                    <a:pt x="697" y="0"/>
                    <a:pt x="679" y="0"/>
                  </a:cubicBezTo>
                  <a:cubicBezTo>
                    <a:pt x="670" y="0"/>
                    <a:pt x="661" y="3"/>
                    <a:pt x="653" y="7"/>
                  </a:cubicBezTo>
                  <a:cubicBezTo>
                    <a:pt x="488" y="100"/>
                    <a:pt x="404" y="119"/>
                    <a:pt x="317" y="123"/>
                  </a:cubicBezTo>
                  <a:lnTo>
                    <a:pt x="230" y="190"/>
                  </a:lnTo>
                  <a:lnTo>
                    <a:pt x="149" y="129"/>
                  </a:lnTo>
                  <a:cubicBezTo>
                    <a:pt x="60" y="145"/>
                    <a:pt x="0" y="199"/>
                    <a:pt x="0" y="309"/>
                  </a:cubicBezTo>
                  <a:lnTo>
                    <a:pt x="0" y="482"/>
                  </a:lnTo>
                  <a:lnTo>
                    <a:pt x="122" y="482"/>
                  </a:lnTo>
                  <a:lnTo>
                    <a:pt x="122" y="359"/>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5" name="Oval 159">
              <a:extLst>
                <a:ext uri="{FF2B5EF4-FFF2-40B4-BE49-F238E27FC236}">
                  <a16:creationId xmlns:a16="http://schemas.microsoft.com/office/drawing/2014/main" id="{E4E539A0-BCD1-BDB8-039D-4B8B02BF2787}"/>
                </a:ext>
              </a:extLst>
            </p:cNvPr>
            <p:cNvSpPr>
              <a:spLocks noChangeArrowheads="1"/>
            </p:cNvSpPr>
            <p:nvPr/>
          </p:nvSpPr>
          <p:spPr bwMode="auto">
            <a:xfrm>
              <a:off x="6867526" y="2022475"/>
              <a:ext cx="206375" cy="204788"/>
            </a:xfrm>
            <a:prstGeom prst="ellipse">
              <a:avLst/>
            </a:pr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6" name="Freeform 160">
              <a:extLst>
                <a:ext uri="{FF2B5EF4-FFF2-40B4-BE49-F238E27FC236}">
                  <a16:creationId xmlns:a16="http://schemas.microsoft.com/office/drawing/2014/main" id="{DE1BB796-2E12-B9DF-5203-24EBA99A6888}"/>
                </a:ext>
              </a:extLst>
            </p:cNvPr>
            <p:cNvSpPr>
              <a:spLocks/>
            </p:cNvSpPr>
            <p:nvPr/>
          </p:nvSpPr>
          <p:spPr bwMode="auto">
            <a:xfrm>
              <a:off x="7173913" y="1997075"/>
              <a:ext cx="382588" cy="165100"/>
            </a:xfrm>
            <a:custGeom>
              <a:avLst/>
              <a:gdLst>
                <a:gd name="T0" fmla="*/ 489 w 503"/>
                <a:gd name="T1" fmla="*/ 117 h 216"/>
                <a:gd name="T2" fmla="*/ 494 w 503"/>
                <a:gd name="T3" fmla="*/ 111 h 216"/>
                <a:gd name="T4" fmla="*/ 502 w 503"/>
                <a:gd name="T5" fmla="*/ 8 h 216"/>
                <a:gd name="T6" fmla="*/ 500 w 503"/>
                <a:gd name="T7" fmla="*/ 2 h 216"/>
                <a:gd name="T8" fmla="*/ 494 w 503"/>
                <a:gd name="T9" fmla="*/ 0 h 216"/>
                <a:gd name="T10" fmla="*/ 391 w 503"/>
                <a:gd name="T11" fmla="*/ 9 h 216"/>
                <a:gd name="T12" fmla="*/ 385 w 503"/>
                <a:gd name="T13" fmla="*/ 14 h 216"/>
                <a:gd name="T14" fmla="*/ 387 w 503"/>
                <a:gd name="T15" fmla="*/ 21 h 216"/>
                <a:gd name="T16" fmla="*/ 416 w 503"/>
                <a:gd name="T17" fmla="*/ 50 h 216"/>
                <a:gd name="T18" fmla="*/ 292 w 503"/>
                <a:gd name="T19" fmla="*/ 152 h 216"/>
                <a:gd name="T20" fmla="*/ 190 w 503"/>
                <a:gd name="T21" fmla="*/ 73 h 216"/>
                <a:gd name="T22" fmla="*/ 161 w 503"/>
                <a:gd name="T23" fmla="*/ 72 h 216"/>
                <a:gd name="T24" fmla="*/ 0 w 503"/>
                <a:gd name="T25" fmla="*/ 174 h 216"/>
                <a:gd name="T26" fmla="*/ 27 w 503"/>
                <a:gd name="T27" fmla="*/ 216 h 216"/>
                <a:gd name="T28" fmla="*/ 173 w 503"/>
                <a:gd name="T29" fmla="*/ 124 h 216"/>
                <a:gd name="T30" fmla="*/ 278 w 503"/>
                <a:gd name="T31" fmla="*/ 205 h 216"/>
                <a:gd name="T32" fmla="*/ 309 w 503"/>
                <a:gd name="T33" fmla="*/ 204 h 216"/>
                <a:gd name="T34" fmla="*/ 452 w 503"/>
                <a:gd name="T35" fmla="*/ 86 h 216"/>
                <a:gd name="T36" fmla="*/ 482 w 503"/>
                <a:gd name="T37" fmla="*/ 116 h 216"/>
                <a:gd name="T38" fmla="*/ 489 w 503"/>
                <a:gd name="T39" fmla="*/ 11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3" h="216">
                  <a:moveTo>
                    <a:pt x="489" y="117"/>
                  </a:moveTo>
                  <a:cubicBezTo>
                    <a:pt x="492" y="116"/>
                    <a:pt x="494" y="114"/>
                    <a:pt x="494" y="111"/>
                  </a:cubicBezTo>
                  <a:lnTo>
                    <a:pt x="502" y="8"/>
                  </a:lnTo>
                  <a:cubicBezTo>
                    <a:pt x="503" y="6"/>
                    <a:pt x="502" y="4"/>
                    <a:pt x="500" y="2"/>
                  </a:cubicBezTo>
                  <a:cubicBezTo>
                    <a:pt x="499" y="0"/>
                    <a:pt x="497" y="0"/>
                    <a:pt x="494" y="0"/>
                  </a:cubicBezTo>
                  <a:lnTo>
                    <a:pt x="391" y="9"/>
                  </a:lnTo>
                  <a:cubicBezTo>
                    <a:pt x="388" y="9"/>
                    <a:pt x="386" y="11"/>
                    <a:pt x="385" y="14"/>
                  </a:cubicBezTo>
                  <a:cubicBezTo>
                    <a:pt x="384" y="16"/>
                    <a:pt x="385" y="19"/>
                    <a:pt x="387" y="21"/>
                  </a:cubicBezTo>
                  <a:lnTo>
                    <a:pt x="416" y="50"/>
                  </a:lnTo>
                  <a:lnTo>
                    <a:pt x="292" y="152"/>
                  </a:lnTo>
                  <a:lnTo>
                    <a:pt x="190" y="73"/>
                  </a:lnTo>
                  <a:cubicBezTo>
                    <a:pt x="182" y="67"/>
                    <a:pt x="170" y="66"/>
                    <a:pt x="161" y="72"/>
                  </a:cubicBezTo>
                  <a:lnTo>
                    <a:pt x="0" y="174"/>
                  </a:lnTo>
                  <a:lnTo>
                    <a:pt x="27" y="216"/>
                  </a:lnTo>
                  <a:lnTo>
                    <a:pt x="173" y="124"/>
                  </a:lnTo>
                  <a:lnTo>
                    <a:pt x="278" y="205"/>
                  </a:lnTo>
                  <a:cubicBezTo>
                    <a:pt x="287" y="212"/>
                    <a:pt x="300" y="212"/>
                    <a:pt x="309" y="204"/>
                  </a:cubicBezTo>
                  <a:lnTo>
                    <a:pt x="452" y="86"/>
                  </a:lnTo>
                  <a:lnTo>
                    <a:pt x="482" y="116"/>
                  </a:lnTo>
                  <a:cubicBezTo>
                    <a:pt x="485" y="119"/>
                    <a:pt x="488" y="118"/>
                    <a:pt x="489" y="117"/>
                  </a:cubicBez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07" name="Groupe 303">
            <a:extLst>
              <a:ext uri="{FF2B5EF4-FFF2-40B4-BE49-F238E27FC236}">
                <a16:creationId xmlns:a16="http://schemas.microsoft.com/office/drawing/2014/main" id="{BFDF5E2C-2CA6-5DF7-3FDE-E6B7D4D1B7E5}"/>
              </a:ext>
            </a:extLst>
          </p:cNvPr>
          <p:cNvGrpSpPr>
            <a:grpSpLocks noChangeAspect="1"/>
          </p:cNvGrpSpPr>
          <p:nvPr/>
        </p:nvGrpSpPr>
        <p:grpSpPr>
          <a:xfrm>
            <a:off x="10519094" y="2584735"/>
            <a:ext cx="304203" cy="264784"/>
            <a:chOff x="5053013" y="5526088"/>
            <a:chExt cx="420688" cy="384176"/>
          </a:xfrm>
        </p:grpSpPr>
        <p:sp>
          <p:nvSpPr>
            <p:cNvPr id="408" name="Freeform 149">
              <a:extLst>
                <a:ext uri="{FF2B5EF4-FFF2-40B4-BE49-F238E27FC236}">
                  <a16:creationId xmlns:a16="http://schemas.microsoft.com/office/drawing/2014/main" id="{C7D07B8C-2989-8F5D-6111-BD1A2A36F681}"/>
                </a:ext>
              </a:extLst>
            </p:cNvPr>
            <p:cNvSpPr>
              <a:spLocks/>
            </p:cNvSpPr>
            <p:nvPr/>
          </p:nvSpPr>
          <p:spPr bwMode="auto">
            <a:xfrm>
              <a:off x="5429251" y="5526088"/>
              <a:ext cx="44450" cy="384175"/>
            </a:xfrm>
            <a:custGeom>
              <a:avLst/>
              <a:gdLst>
                <a:gd name="T0" fmla="*/ 12 w 12"/>
                <a:gd name="T1" fmla="*/ 102 h 102"/>
                <a:gd name="T2" fmla="*/ 0 w 12"/>
                <a:gd name="T3" fmla="*/ 102 h 102"/>
                <a:gd name="T4" fmla="*/ 0 w 12"/>
                <a:gd name="T5" fmla="*/ 0 h 102"/>
                <a:gd name="T6" fmla="*/ 9 w 12"/>
                <a:gd name="T7" fmla="*/ 0 h 102"/>
                <a:gd name="T8" fmla="*/ 12 w 12"/>
                <a:gd name="T9" fmla="*/ 4 h 102"/>
                <a:gd name="T10" fmla="*/ 12 w 12"/>
                <a:gd name="T11" fmla="*/ 102 h 102"/>
              </a:gdLst>
              <a:ahLst/>
              <a:cxnLst>
                <a:cxn ang="0">
                  <a:pos x="T0" y="T1"/>
                </a:cxn>
                <a:cxn ang="0">
                  <a:pos x="T2" y="T3"/>
                </a:cxn>
                <a:cxn ang="0">
                  <a:pos x="T4" y="T5"/>
                </a:cxn>
                <a:cxn ang="0">
                  <a:pos x="T6" y="T7"/>
                </a:cxn>
                <a:cxn ang="0">
                  <a:pos x="T8" y="T9"/>
                </a:cxn>
                <a:cxn ang="0">
                  <a:pos x="T10" y="T11"/>
                </a:cxn>
              </a:cxnLst>
              <a:rect l="0" t="0" r="r" b="b"/>
              <a:pathLst>
                <a:path w="12" h="102">
                  <a:moveTo>
                    <a:pt x="12" y="102"/>
                  </a:moveTo>
                  <a:cubicBezTo>
                    <a:pt x="0" y="102"/>
                    <a:pt x="0" y="102"/>
                    <a:pt x="0" y="102"/>
                  </a:cubicBezTo>
                  <a:cubicBezTo>
                    <a:pt x="0" y="102"/>
                    <a:pt x="0" y="20"/>
                    <a:pt x="0" y="0"/>
                  </a:cubicBezTo>
                  <a:cubicBezTo>
                    <a:pt x="1" y="1"/>
                    <a:pt x="9" y="0"/>
                    <a:pt x="9" y="0"/>
                  </a:cubicBezTo>
                  <a:cubicBezTo>
                    <a:pt x="10" y="0"/>
                    <a:pt x="12" y="2"/>
                    <a:pt x="12" y="4"/>
                  </a:cubicBezTo>
                  <a:lnTo>
                    <a:pt x="12" y="102"/>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09" name="Freeform 150">
              <a:extLst>
                <a:ext uri="{FF2B5EF4-FFF2-40B4-BE49-F238E27FC236}">
                  <a16:creationId xmlns:a16="http://schemas.microsoft.com/office/drawing/2014/main" id="{5BE55E81-37F9-7099-5ADF-949A6F8BE412}"/>
                </a:ext>
              </a:extLst>
            </p:cNvPr>
            <p:cNvSpPr>
              <a:spLocks/>
            </p:cNvSpPr>
            <p:nvPr/>
          </p:nvSpPr>
          <p:spPr bwMode="auto">
            <a:xfrm>
              <a:off x="5365751" y="5632451"/>
              <a:ext cx="44450" cy="277813"/>
            </a:xfrm>
            <a:custGeom>
              <a:avLst/>
              <a:gdLst>
                <a:gd name="T0" fmla="*/ 12 w 12"/>
                <a:gd name="T1" fmla="*/ 74 h 74"/>
                <a:gd name="T2" fmla="*/ 0 w 12"/>
                <a:gd name="T3" fmla="*/ 74 h 74"/>
                <a:gd name="T4" fmla="*/ 0 w 12"/>
                <a:gd name="T5" fmla="*/ 0 h 74"/>
                <a:gd name="T6" fmla="*/ 9 w 12"/>
                <a:gd name="T7" fmla="*/ 0 h 74"/>
                <a:gd name="T8" fmla="*/ 12 w 12"/>
                <a:gd name="T9" fmla="*/ 2 h 74"/>
                <a:gd name="T10" fmla="*/ 12 w 12"/>
                <a:gd name="T11" fmla="*/ 74 h 74"/>
              </a:gdLst>
              <a:ahLst/>
              <a:cxnLst>
                <a:cxn ang="0">
                  <a:pos x="T0" y="T1"/>
                </a:cxn>
                <a:cxn ang="0">
                  <a:pos x="T2" y="T3"/>
                </a:cxn>
                <a:cxn ang="0">
                  <a:pos x="T4" y="T5"/>
                </a:cxn>
                <a:cxn ang="0">
                  <a:pos x="T6" y="T7"/>
                </a:cxn>
                <a:cxn ang="0">
                  <a:pos x="T8" y="T9"/>
                </a:cxn>
                <a:cxn ang="0">
                  <a:pos x="T10" y="T11"/>
                </a:cxn>
              </a:cxnLst>
              <a:rect l="0" t="0" r="r" b="b"/>
              <a:pathLst>
                <a:path w="12" h="74">
                  <a:moveTo>
                    <a:pt x="12" y="74"/>
                  </a:moveTo>
                  <a:cubicBezTo>
                    <a:pt x="0" y="74"/>
                    <a:pt x="0" y="74"/>
                    <a:pt x="0" y="74"/>
                  </a:cubicBezTo>
                  <a:cubicBezTo>
                    <a:pt x="0" y="74"/>
                    <a:pt x="0" y="14"/>
                    <a:pt x="0" y="0"/>
                  </a:cubicBezTo>
                  <a:cubicBezTo>
                    <a:pt x="1" y="0"/>
                    <a:pt x="9" y="0"/>
                    <a:pt x="9" y="0"/>
                  </a:cubicBezTo>
                  <a:cubicBezTo>
                    <a:pt x="11" y="0"/>
                    <a:pt x="12" y="1"/>
                    <a:pt x="12" y="2"/>
                  </a:cubicBezTo>
                  <a:lnTo>
                    <a:pt x="12" y="74"/>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0" name="Freeform 151">
              <a:extLst>
                <a:ext uri="{FF2B5EF4-FFF2-40B4-BE49-F238E27FC236}">
                  <a16:creationId xmlns:a16="http://schemas.microsoft.com/office/drawing/2014/main" id="{E6778B4D-DF22-48BA-7F25-A4C246B52E99}"/>
                </a:ext>
              </a:extLst>
            </p:cNvPr>
            <p:cNvSpPr>
              <a:spLocks/>
            </p:cNvSpPr>
            <p:nvPr/>
          </p:nvSpPr>
          <p:spPr bwMode="auto">
            <a:xfrm>
              <a:off x="5300663" y="5688013"/>
              <a:ext cx="46038" cy="222250"/>
            </a:xfrm>
            <a:custGeom>
              <a:avLst/>
              <a:gdLst>
                <a:gd name="T0" fmla="*/ 12 w 12"/>
                <a:gd name="T1" fmla="*/ 59 h 59"/>
                <a:gd name="T2" fmla="*/ 0 w 12"/>
                <a:gd name="T3" fmla="*/ 59 h 59"/>
                <a:gd name="T4" fmla="*/ 0 w 12"/>
                <a:gd name="T5" fmla="*/ 0 h 59"/>
                <a:gd name="T6" fmla="*/ 9 w 12"/>
                <a:gd name="T7" fmla="*/ 0 h 59"/>
                <a:gd name="T8" fmla="*/ 12 w 12"/>
                <a:gd name="T9" fmla="*/ 2 h 59"/>
                <a:gd name="T10" fmla="*/ 12 w 12"/>
                <a:gd name="T11" fmla="*/ 59 h 59"/>
              </a:gdLst>
              <a:ahLst/>
              <a:cxnLst>
                <a:cxn ang="0">
                  <a:pos x="T0" y="T1"/>
                </a:cxn>
                <a:cxn ang="0">
                  <a:pos x="T2" y="T3"/>
                </a:cxn>
                <a:cxn ang="0">
                  <a:pos x="T4" y="T5"/>
                </a:cxn>
                <a:cxn ang="0">
                  <a:pos x="T6" y="T7"/>
                </a:cxn>
                <a:cxn ang="0">
                  <a:pos x="T8" y="T9"/>
                </a:cxn>
                <a:cxn ang="0">
                  <a:pos x="T10" y="T11"/>
                </a:cxn>
              </a:cxnLst>
              <a:rect l="0" t="0" r="r" b="b"/>
              <a:pathLst>
                <a:path w="12" h="59">
                  <a:moveTo>
                    <a:pt x="12" y="59"/>
                  </a:moveTo>
                  <a:cubicBezTo>
                    <a:pt x="0" y="59"/>
                    <a:pt x="0" y="59"/>
                    <a:pt x="0" y="59"/>
                  </a:cubicBezTo>
                  <a:cubicBezTo>
                    <a:pt x="0" y="59"/>
                    <a:pt x="0" y="11"/>
                    <a:pt x="0" y="0"/>
                  </a:cubicBezTo>
                  <a:cubicBezTo>
                    <a:pt x="2" y="0"/>
                    <a:pt x="9" y="0"/>
                    <a:pt x="9" y="0"/>
                  </a:cubicBezTo>
                  <a:cubicBezTo>
                    <a:pt x="11" y="0"/>
                    <a:pt x="12" y="1"/>
                    <a:pt x="12" y="2"/>
                  </a:cubicBezTo>
                  <a:lnTo>
                    <a:pt x="12" y="59"/>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1" name="Freeform 152">
              <a:extLst>
                <a:ext uri="{FF2B5EF4-FFF2-40B4-BE49-F238E27FC236}">
                  <a16:creationId xmlns:a16="http://schemas.microsoft.com/office/drawing/2014/main" id="{F23ECB59-52E6-2CD9-5234-145D3102BBDF}"/>
                </a:ext>
              </a:extLst>
            </p:cNvPr>
            <p:cNvSpPr>
              <a:spLocks/>
            </p:cNvSpPr>
            <p:nvPr/>
          </p:nvSpPr>
          <p:spPr bwMode="auto">
            <a:xfrm>
              <a:off x="5241926" y="5748338"/>
              <a:ext cx="44450" cy="161925"/>
            </a:xfrm>
            <a:custGeom>
              <a:avLst/>
              <a:gdLst>
                <a:gd name="T0" fmla="*/ 12 w 12"/>
                <a:gd name="T1" fmla="*/ 43 h 43"/>
                <a:gd name="T2" fmla="*/ 0 w 12"/>
                <a:gd name="T3" fmla="*/ 43 h 43"/>
                <a:gd name="T4" fmla="*/ 0 w 12"/>
                <a:gd name="T5" fmla="*/ 0 h 43"/>
                <a:gd name="T6" fmla="*/ 9 w 12"/>
                <a:gd name="T7" fmla="*/ 0 h 43"/>
                <a:gd name="T8" fmla="*/ 12 w 12"/>
                <a:gd name="T9" fmla="*/ 2 h 43"/>
                <a:gd name="T10" fmla="*/ 12 w 12"/>
                <a:gd name="T11" fmla="*/ 43 h 43"/>
              </a:gdLst>
              <a:ahLst/>
              <a:cxnLst>
                <a:cxn ang="0">
                  <a:pos x="T0" y="T1"/>
                </a:cxn>
                <a:cxn ang="0">
                  <a:pos x="T2" y="T3"/>
                </a:cxn>
                <a:cxn ang="0">
                  <a:pos x="T4" y="T5"/>
                </a:cxn>
                <a:cxn ang="0">
                  <a:pos x="T6" y="T7"/>
                </a:cxn>
                <a:cxn ang="0">
                  <a:pos x="T8" y="T9"/>
                </a:cxn>
                <a:cxn ang="0">
                  <a:pos x="T10" y="T11"/>
                </a:cxn>
              </a:cxnLst>
              <a:rect l="0" t="0" r="r" b="b"/>
              <a:pathLst>
                <a:path w="12" h="43">
                  <a:moveTo>
                    <a:pt x="12" y="43"/>
                  </a:moveTo>
                  <a:cubicBezTo>
                    <a:pt x="0" y="43"/>
                    <a:pt x="0" y="43"/>
                    <a:pt x="0" y="43"/>
                  </a:cubicBezTo>
                  <a:cubicBezTo>
                    <a:pt x="0" y="43"/>
                    <a:pt x="0" y="11"/>
                    <a:pt x="0" y="0"/>
                  </a:cubicBezTo>
                  <a:cubicBezTo>
                    <a:pt x="1" y="0"/>
                    <a:pt x="9" y="0"/>
                    <a:pt x="9" y="0"/>
                  </a:cubicBezTo>
                  <a:cubicBezTo>
                    <a:pt x="11" y="0"/>
                    <a:pt x="12" y="1"/>
                    <a:pt x="12" y="2"/>
                  </a:cubicBezTo>
                  <a:lnTo>
                    <a:pt x="12" y="43"/>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2" name="Freeform 153">
              <a:extLst>
                <a:ext uri="{FF2B5EF4-FFF2-40B4-BE49-F238E27FC236}">
                  <a16:creationId xmlns:a16="http://schemas.microsoft.com/office/drawing/2014/main" id="{EB346E18-3A4C-E0A2-BB3A-60ADFD386F88}"/>
                </a:ext>
              </a:extLst>
            </p:cNvPr>
            <p:cNvSpPr>
              <a:spLocks/>
            </p:cNvSpPr>
            <p:nvPr/>
          </p:nvSpPr>
          <p:spPr bwMode="auto">
            <a:xfrm>
              <a:off x="5181601" y="5792788"/>
              <a:ext cx="44450" cy="117475"/>
            </a:xfrm>
            <a:custGeom>
              <a:avLst/>
              <a:gdLst>
                <a:gd name="T0" fmla="*/ 12 w 12"/>
                <a:gd name="T1" fmla="*/ 31 h 31"/>
                <a:gd name="T2" fmla="*/ 0 w 12"/>
                <a:gd name="T3" fmla="*/ 31 h 31"/>
                <a:gd name="T4" fmla="*/ 0 w 12"/>
                <a:gd name="T5" fmla="*/ 0 h 31"/>
                <a:gd name="T6" fmla="*/ 9 w 12"/>
                <a:gd name="T7" fmla="*/ 0 h 31"/>
                <a:gd name="T8" fmla="*/ 12 w 12"/>
                <a:gd name="T9" fmla="*/ 2 h 31"/>
                <a:gd name="T10" fmla="*/ 12 w 12"/>
                <a:gd name="T11" fmla="*/ 31 h 31"/>
              </a:gdLst>
              <a:ahLst/>
              <a:cxnLst>
                <a:cxn ang="0">
                  <a:pos x="T0" y="T1"/>
                </a:cxn>
                <a:cxn ang="0">
                  <a:pos x="T2" y="T3"/>
                </a:cxn>
                <a:cxn ang="0">
                  <a:pos x="T4" y="T5"/>
                </a:cxn>
                <a:cxn ang="0">
                  <a:pos x="T6" y="T7"/>
                </a:cxn>
                <a:cxn ang="0">
                  <a:pos x="T8" y="T9"/>
                </a:cxn>
                <a:cxn ang="0">
                  <a:pos x="T10" y="T11"/>
                </a:cxn>
              </a:cxnLst>
              <a:rect l="0" t="0" r="r" b="b"/>
              <a:pathLst>
                <a:path w="12" h="31">
                  <a:moveTo>
                    <a:pt x="12" y="31"/>
                  </a:moveTo>
                  <a:cubicBezTo>
                    <a:pt x="0" y="31"/>
                    <a:pt x="0" y="31"/>
                    <a:pt x="0" y="31"/>
                  </a:cubicBezTo>
                  <a:cubicBezTo>
                    <a:pt x="0" y="31"/>
                    <a:pt x="0" y="12"/>
                    <a:pt x="0" y="0"/>
                  </a:cubicBezTo>
                  <a:cubicBezTo>
                    <a:pt x="1" y="1"/>
                    <a:pt x="9" y="0"/>
                    <a:pt x="9" y="0"/>
                  </a:cubicBezTo>
                  <a:cubicBezTo>
                    <a:pt x="11" y="0"/>
                    <a:pt x="12" y="1"/>
                    <a:pt x="12" y="2"/>
                  </a:cubicBezTo>
                  <a:lnTo>
                    <a:pt x="12" y="31"/>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3" name="Freeform 154">
              <a:extLst>
                <a:ext uri="{FF2B5EF4-FFF2-40B4-BE49-F238E27FC236}">
                  <a16:creationId xmlns:a16="http://schemas.microsoft.com/office/drawing/2014/main" id="{E5290AAF-C480-911E-1252-E1F60DAB4BFC}"/>
                </a:ext>
              </a:extLst>
            </p:cNvPr>
            <p:cNvSpPr>
              <a:spLocks/>
            </p:cNvSpPr>
            <p:nvPr/>
          </p:nvSpPr>
          <p:spPr bwMode="auto">
            <a:xfrm>
              <a:off x="5116513" y="5822951"/>
              <a:ext cx="46038" cy="87313"/>
            </a:xfrm>
            <a:custGeom>
              <a:avLst/>
              <a:gdLst>
                <a:gd name="T0" fmla="*/ 12 w 12"/>
                <a:gd name="T1" fmla="*/ 23 h 23"/>
                <a:gd name="T2" fmla="*/ 0 w 12"/>
                <a:gd name="T3" fmla="*/ 23 h 23"/>
                <a:gd name="T4" fmla="*/ 0 w 12"/>
                <a:gd name="T5" fmla="*/ 0 h 23"/>
                <a:gd name="T6" fmla="*/ 9 w 12"/>
                <a:gd name="T7" fmla="*/ 0 h 23"/>
                <a:gd name="T8" fmla="*/ 12 w 12"/>
                <a:gd name="T9" fmla="*/ 1 h 23"/>
                <a:gd name="T10" fmla="*/ 12 w 12"/>
                <a:gd name="T11" fmla="*/ 23 h 23"/>
              </a:gdLst>
              <a:ahLst/>
              <a:cxnLst>
                <a:cxn ang="0">
                  <a:pos x="T0" y="T1"/>
                </a:cxn>
                <a:cxn ang="0">
                  <a:pos x="T2" y="T3"/>
                </a:cxn>
                <a:cxn ang="0">
                  <a:pos x="T4" y="T5"/>
                </a:cxn>
                <a:cxn ang="0">
                  <a:pos x="T6" y="T7"/>
                </a:cxn>
                <a:cxn ang="0">
                  <a:pos x="T8" y="T9"/>
                </a:cxn>
                <a:cxn ang="0">
                  <a:pos x="T10" y="T11"/>
                </a:cxn>
              </a:cxnLst>
              <a:rect l="0" t="0" r="r" b="b"/>
              <a:pathLst>
                <a:path w="12" h="23">
                  <a:moveTo>
                    <a:pt x="12" y="23"/>
                  </a:moveTo>
                  <a:cubicBezTo>
                    <a:pt x="0" y="23"/>
                    <a:pt x="0" y="23"/>
                    <a:pt x="0" y="23"/>
                  </a:cubicBezTo>
                  <a:cubicBezTo>
                    <a:pt x="0" y="23"/>
                    <a:pt x="0" y="11"/>
                    <a:pt x="0" y="0"/>
                  </a:cubicBezTo>
                  <a:cubicBezTo>
                    <a:pt x="2" y="0"/>
                    <a:pt x="9" y="0"/>
                    <a:pt x="9" y="0"/>
                  </a:cubicBezTo>
                  <a:cubicBezTo>
                    <a:pt x="11" y="0"/>
                    <a:pt x="12" y="0"/>
                    <a:pt x="12" y="1"/>
                  </a:cubicBezTo>
                  <a:lnTo>
                    <a:pt x="12" y="23"/>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4" name="Freeform 155">
              <a:extLst>
                <a:ext uri="{FF2B5EF4-FFF2-40B4-BE49-F238E27FC236}">
                  <a16:creationId xmlns:a16="http://schemas.microsoft.com/office/drawing/2014/main" id="{F06BDD9F-7FFB-7DAE-68AB-C178450CC267}"/>
                </a:ext>
              </a:extLst>
            </p:cNvPr>
            <p:cNvSpPr>
              <a:spLocks/>
            </p:cNvSpPr>
            <p:nvPr/>
          </p:nvSpPr>
          <p:spPr bwMode="auto">
            <a:xfrm>
              <a:off x="5053013" y="5853113"/>
              <a:ext cx="46038" cy="57150"/>
            </a:xfrm>
            <a:custGeom>
              <a:avLst/>
              <a:gdLst>
                <a:gd name="T0" fmla="*/ 12 w 12"/>
                <a:gd name="T1" fmla="*/ 15 h 15"/>
                <a:gd name="T2" fmla="*/ 0 w 12"/>
                <a:gd name="T3" fmla="*/ 15 h 15"/>
                <a:gd name="T4" fmla="*/ 0 w 12"/>
                <a:gd name="T5" fmla="*/ 0 h 15"/>
                <a:gd name="T6" fmla="*/ 9 w 12"/>
                <a:gd name="T7" fmla="*/ 0 h 15"/>
                <a:gd name="T8" fmla="*/ 12 w 12"/>
                <a:gd name="T9" fmla="*/ 1 h 15"/>
                <a:gd name="T10" fmla="*/ 12 w 12"/>
                <a:gd name="T11" fmla="*/ 15 h 15"/>
              </a:gdLst>
              <a:ahLst/>
              <a:cxnLst>
                <a:cxn ang="0">
                  <a:pos x="T0" y="T1"/>
                </a:cxn>
                <a:cxn ang="0">
                  <a:pos x="T2" y="T3"/>
                </a:cxn>
                <a:cxn ang="0">
                  <a:pos x="T4" y="T5"/>
                </a:cxn>
                <a:cxn ang="0">
                  <a:pos x="T6" y="T7"/>
                </a:cxn>
                <a:cxn ang="0">
                  <a:pos x="T8" y="T9"/>
                </a:cxn>
                <a:cxn ang="0">
                  <a:pos x="T10" y="T11"/>
                </a:cxn>
              </a:cxnLst>
              <a:rect l="0" t="0" r="r" b="b"/>
              <a:pathLst>
                <a:path w="12" h="15">
                  <a:moveTo>
                    <a:pt x="12" y="15"/>
                  </a:moveTo>
                  <a:cubicBezTo>
                    <a:pt x="0" y="15"/>
                    <a:pt x="0" y="15"/>
                    <a:pt x="0" y="15"/>
                  </a:cubicBezTo>
                  <a:cubicBezTo>
                    <a:pt x="0" y="15"/>
                    <a:pt x="0" y="11"/>
                    <a:pt x="0" y="0"/>
                  </a:cubicBezTo>
                  <a:cubicBezTo>
                    <a:pt x="1" y="0"/>
                    <a:pt x="9" y="0"/>
                    <a:pt x="9" y="0"/>
                  </a:cubicBezTo>
                  <a:cubicBezTo>
                    <a:pt x="11" y="0"/>
                    <a:pt x="12" y="0"/>
                    <a:pt x="12" y="1"/>
                  </a:cubicBezTo>
                  <a:lnTo>
                    <a:pt x="12" y="15"/>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5" name="Freeform 156">
              <a:extLst>
                <a:ext uri="{FF2B5EF4-FFF2-40B4-BE49-F238E27FC236}">
                  <a16:creationId xmlns:a16="http://schemas.microsoft.com/office/drawing/2014/main" id="{43592698-AA1A-D5DC-B0E2-86720D42D3E4}"/>
                </a:ext>
              </a:extLst>
            </p:cNvPr>
            <p:cNvSpPr>
              <a:spLocks/>
            </p:cNvSpPr>
            <p:nvPr/>
          </p:nvSpPr>
          <p:spPr bwMode="auto">
            <a:xfrm>
              <a:off x="5099051" y="5575301"/>
              <a:ext cx="160338" cy="236538"/>
            </a:xfrm>
            <a:custGeom>
              <a:avLst/>
              <a:gdLst>
                <a:gd name="T0" fmla="*/ 6 w 43"/>
                <a:gd name="T1" fmla="*/ 63 h 63"/>
                <a:gd name="T2" fmla="*/ 11 w 43"/>
                <a:gd name="T3" fmla="*/ 63 h 63"/>
                <a:gd name="T4" fmla="*/ 14 w 43"/>
                <a:gd name="T5" fmla="*/ 46 h 63"/>
                <a:gd name="T6" fmla="*/ 12 w 43"/>
                <a:gd name="T7" fmla="*/ 33 h 63"/>
                <a:gd name="T8" fmla="*/ 24 w 43"/>
                <a:gd name="T9" fmla="*/ 36 h 63"/>
                <a:gd name="T10" fmla="*/ 28 w 43"/>
                <a:gd name="T11" fmla="*/ 54 h 63"/>
                <a:gd name="T12" fmla="*/ 34 w 43"/>
                <a:gd name="T13" fmla="*/ 54 h 63"/>
                <a:gd name="T14" fmla="*/ 32 w 43"/>
                <a:gd name="T15" fmla="*/ 35 h 63"/>
                <a:gd name="T16" fmla="*/ 27 w 43"/>
                <a:gd name="T17" fmla="*/ 30 h 63"/>
                <a:gd name="T18" fmla="*/ 15 w 43"/>
                <a:gd name="T19" fmla="*/ 26 h 63"/>
                <a:gd name="T20" fmla="*/ 19 w 43"/>
                <a:gd name="T21" fmla="*/ 17 h 63"/>
                <a:gd name="T22" fmla="*/ 26 w 43"/>
                <a:gd name="T23" fmla="*/ 22 h 63"/>
                <a:gd name="T24" fmla="*/ 43 w 43"/>
                <a:gd name="T25" fmla="*/ 26 h 63"/>
                <a:gd name="T26" fmla="*/ 43 w 43"/>
                <a:gd name="T27" fmla="*/ 22 h 63"/>
                <a:gd name="T28" fmla="*/ 29 w 43"/>
                <a:gd name="T29" fmla="*/ 18 h 63"/>
                <a:gd name="T30" fmla="*/ 22 w 43"/>
                <a:gd name="T31" fmla="*/ 9 h 63"/>
                <a:gd name="T32" fmla="*/ 5 w 43"/>
                <a:gd name="T33" fmla="*/ 7 h 63"/>
                <a:gd name="T34" fmla="*/ 2 w 43"/>
                <a:gd name="T35" fmla="*/ 21 h 63"/>
                <a:gd name="T36" fmla="*/ 1 w 43"/>
                <a:gd name="T37" fmla="*/ 31 h 63"/>
                <a:gd name="T38" fmla="*/ 6 w 43"/>
                <a:gd name="T39" fmla="*/ 45 h 63"/>
                <a:gd name="T40" fmla="*/ 6 w 43"/>
                <a:gd name="T41" fmla="*/ 6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3" h="63">
                  <a:moveTo>
                    <a:pt x="6" y="63"/>
                  </a:moveTo>
                  <a:cubicBezTo>
                    <a:pt x="11" y="63"/>
                    <a:pt x="11" y="63"/>
                    <a:pt x="11" y="63"/>
                  </a:cubicBezTo>
                  <a:cubicBezTo>
                    <a:pt x="14" y="46"/>
                    <a:pt x="14" y="46"/>
                    <a:pt x="14" y="46"/>
                  </a:cubicBezTo>
                  <a:cubicBezTo>
                    <a:pt x="12" y="33"/>
                    <a:pt x="12" y="33"/>
                    <a:pt x="12" y="33"/>
                  </a:cubicBezTo>
                  <a:cubicBezTo>
                    <a:pt x="24" y="36"/>
                    <a:pt x="24" y="36"/>
                    <a:pt x="24" y="36"/>
                  </a:cubicBezTo>
                  <a:cubicBezTo>
                    <a:pt x="28" y="54"/>
                    <a:pt x="28" y="54"/>
                    <a:pt x="28" y="54"/>
                  </a:cubicBezTo>
                  <a:cubicBezTo>
                    <a:pt x="34" y="54"/>
                    <a:pt x="34" y="54"/>
                    <a:pt x="34" y="54"/>
                  </a:cubicBezTo>
                  <a:cubicBezTo>
                    <a:pt x="32" y="35"/>
                    <a:pt x="32" y="35"/>
                    <a:pt x="32" y="35"/>
                  </a:cubicBezTo>
                  <a:cubicBezTo>
                    <a:pt x="32" y="32"/>
                    <a:pt x="28" y="31"/>
                    <a:pt x="27" y="30"/>
                  </a:cubicBezTo>
                  <a:cubicBezTo>
                    <a:pt x="15" y="26"/>
                    <a:pt x="15" y="26"/>
                    <a:pt x="15" y="26"/>
                  </a:cubicBezTo>
                  <a:cubicBezTo>
                    <a:pt x="19" y="17"/>
                    <a:pt x="19" y="17"/>
                    <a:pt x="19" y="17"/>
                  </a:cubicBezTo>
                  <a:cubicBezTo>
                    <a:pt x="26" y="22"/>
                    <a:pt x="26" y="22"/>
                    <a:pt x="26" y="22"/>
                  </a:cubicBezTo>
                  <a:cubicBezTo>
                    <a:pt x="43" y="26"/>
                    <a:pt x="43" y="26"/>
                    <a:pt x="43" y="26"/>
                  </a:cubicBezTo>
                  <a:cubicBezTo>
                    <a:pt x="43" y="22"/>
                    <a:pt x="43" y="22"/>
                    <a:pt x="43" y="22"/>
                  </a:cubicBezTo>
                  <a:cubicBezTo>
                    <a:pt x="29" y="18"/>
                    <a:pt x="29" y="18"/>
                    <a:pt x="29" y="18"/>
                  </a:cubicBezTo>
                  <a:cubicBezTo>
                    <a:pt x="22" y="9"/>
                    <a:pt x="22" y="9"/>
                    <a:pt x="22" y="9"/>
                  </a:cubicBezTo>
                  <a:cubicBezTo>
                    <a:pt x="19" y="6"/>
                    <a:pt x="7" y="0"/>
                    <a:pt x="5" y="7"/>
                  </a:cubicBezTo>
                  <a:cubicBezTo>
                    <a:pt x="2" y="21"/>
                    <a:pt x="2" y="21"/>
                    <a:pt x="2" y="21"/>
                  </a:cubicBezTo>
                  <a:cubicBezTo>
                    <a:pt x="1" y="25"/>
                    <a:pt x="0" y="28"/>
                    <a:pt x="1" y="31"/>
                  </a:cubicBezTo>
                  <a:cubicBezTo>
                    <a:pt x="6" y="45"/>
                    <a:pt x="6" y="45"/>
                    <a:pt x="6" y="45"/>
                  </a:cubicBezTo>
                  <a:cubicBezTo>
                    <a:pt x="6" y="60"/>
                    <a:pt x="6" y="60"/>
                    <a:pt x="6" y="60"/>
                  </a:cubicBezTo>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6" name="Freeform 157">
              <a:extLst>
                <a:ext uri="{FF2B5EF4-FFF2-40B4-BE49-F238E27FC236}">
                  <a16:creationId xmlns:a16="http://schemas.microsoft.com/office/drawing/2014/main" id="{45E0303F-74AA-F323-D9D5-7BD0F3432DA2}"/>
                </a:ext>
              </a:extLst>
            </p:cNvPr>
            <p:cNvSpPr>
              <a:spLocks/>
            </p:cNvSpPr>
            <p:nvPr/>
          </p:nvSpPr>
          <p:spPr bwMode="auto">
            <a:xfrm>
              <a:off x="5124451" y="5545138"/>
              <a:ext cx="52388" cy="49213"/>
            </a:xfrm>
            <a:custGeom>
              <a:avLst/>
              <a:gdLst>
                <a:gd name="T0" fmla="*/ 1 w 14"/>
                <a:gd name="T1" fmla="*/ 5 h 13"/>
                <a:gd name="T2" fmla="*/ 9 w 14"/>
                <a:gd name="T3" fmla="*/ 1 h 13"/>
                <a:gd name="T4" fmla="*/ 9 w 14"/>
                <a:gd name="T5" fmla="*/ 1 h 13"/>
                <a:gd name="T6" fmla="*/ 9 w 14"/>
                <a:gd name="T7" fmla="*/ 1 h 13"/>
                <a:gd name="T8" fmla="*/ 13 w 14"/>
                <a:gd name="T9" fmla="*/ 8 h 13"/>
                <a:gd name="T10" fmla="*/ 13 w 14"/>
                <a:gd name="T11" fmla="*/ 8 h 13"/>
                <a:gd name="T12" fmla="*/ 13 w 14"/>
                <a:gd name="T13" fmla="*/ 8 h 13"/>
                <a:gd name="T14" fmla="*/ 5 w 14"/>
                <a:gd name="T15" fmla="*/ 12 h 13"/>
                <a:gd name="T16" fmla="*/ 5 w 14"/>
                <a:gd name="T17" fmla="*/ 12 h 13"/>
                <a:gd name="T18" fmla="*/ 5 w 14"/>
                <a:gd name="T19" fmla="*/ 12 h 13"/>
                <a:gd name="T20" fmla="*/ 1 w 14"/>
                <a:gd name="T21" fmla="*/ 5 h 13"/>
                <a:gd name="T22" fmla="*/ 1 w 14"/>
                <a:gd name="T23" fmla="*/ 5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 h="13">
                  <a:moveTo>
                    <a:pt x="1" y="5"/>
                  </a:moveTo>
                  <a:cubicBezTo>
                    <a:pt x="2" y="2"/>
                    <a:pt x="5" y="0"/>
                    <a:pt x="9" y="1"/>
                  </a:cubicBezTo>
                  <a:cubicBezTo>
                    <a:pt x="9" y="1"/>
                    <a:pt x="9" y="1"/>
                    <a:pt x="9" y="1"/>
                  </a:cubicBezTo>
                  <a:cubicBezTo>
                    <a:pt x="9" y="1"/>
                    <a:pt x="9" y="1"/>
                    <a:pt x="9" y="1"/>
                  </a:cubicBezTo>
                  <a:cubicBezTo>
                    <a:pt x="12" y="1"/>
                    <a:pt x="14" y="5"/>
                    <a:pt x="13" y="8"/>
                  </a:cubicBezTo>
                  <a:cubicBezTo>
                    <a:pt x="13" y="8"/>
                    <a:pt x="13" y="8"/>
                    <a:pt x="13" y="8"/>
                  </a:cubicBezTo>
                  <a:cubicBezTo>
                    <a:pt x="13" y="8"/>
                    <a:pt x="13" y="8"/>
                    <a:pt x="13" y="8"/>
                  </a:cubicBezTo>
                  <a:cubicBezTo>
                    <a:pt x="12" y="11"/>
                    <a:pt x="9" y="13"/>
                    <a:pt x="5" y="12"/>
                  </a:cubicBezTo>
                  <a:cubicBezTo>
                    <a:pt x="5" y="12"/>
                    <a:pt x="5" y="12"/>
                    <a:pt x="5" y="12"/>
                  </a:cubicBezTo>
                  <a:cubicBezTo>
                    <a:pt x="5" y="12"/>
                    <a:pt x="5" y="12"/>
                    <a:pt x="5" y="12"/>
                  </a:cubicBezTo>
                  <a:cubicBezTo>
                    <a:pt x="2" y="11"/>
                    <a:pt x="0" y="8"/>
                    <a:pt x="1" y="5"/>
                  </a:cubicBezTo>
                  <a:cubicBezTo>
                    <a:pt x="1" y="5"/>
                    <a:pt x="1" y="5"/>
                    <a:pt x="1" y="5"/>
                  </a:cubicBezTo>
                  <a:close/>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grpSp>
      <p:sp>
        <p:nvSpPr>
          <p:cNvPr id="417" name="Gleichschenkliges Dreieck 2">
            <a:extLst>
              <a:ext uri="{FF2B5EF4-FFF2-40B4-BE49-F238E27FC236}">
                <a16:creationId xmlns:a16="http://schemas.microsoft.com/office/drawing/2014/main" id="{4983DF9E-3A76-8C69-EDF0-EB85CC91C525}"/>
              </a:ext>
            </a:extLst>
          </p:cNvPr>
          <p:cNvSpPr/>
          <p:nvPr/>
        </p:nvSpPr>
        <p:spPr bwMode="auto">
          <a:xfrm>
            <a:off x="10863262" y="2597636"/>
            <a:ext cx="1229237" cy="252000"/>
          </a:xfrm>
          <a:prstGeom prst="rect">
            <a:avLst/>
          </a:prstGeom>
          <a:solidFill>
            <a:srgbClr val="00B05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rPr>
              <a:t>Best Practices</a:t>
            </a:r>
          </a:p>
        </p:txBody>
      </p:sp>
      <p:sp>
        <p:nvSpPr>
          <p:cNvPr id="419" name="TextBox 418">
            <a:extLst>
              <a:ext uri="{FF2B5EF4-FFF2-40B4-BE49-F238E27FC236}">
                <a16:creationId xmlns:a16="http://schemas.microsoft.com/office/drawing/2014/main" id="{AD693A82-66F6-B7D4-4838-F4F945283413}"/>
              </a:ext>
            </a:extLst>
          </p:cNvPr>
          <p:cNvSpPr txBox="1"/>
          <p:nvPr/>
        </p:nvSpPr>
        <p:spPr>
          <a:xfrm>
            <a:off x="10464154" y="2880193"/>
            <a:ext cx="1588444" cy="2113399"/>
          </a:xfrm>
          <a:prstGeom prst="rect">
            <a:avLst/>
          </a:prstGeom>
          <a:noFill/>
          <a:ln>
            <a:noFill/>
          </a:ln>
        </p:spPr>
        <p:txBody>
          <a:bodyPr wrap="square" rtlCol="0">
            <a:spAutoFit/>
          </a:bodyPr>
          <a:lstStyle/>
          <a:p>
            <a:pPr marL="171450" marR="0" lvl="0" indent="-171450" fontAlgn="auto">
              <a:spcBef>
                <a:spcPts val="200"/>
              </a:spcBef>
              <a:spcAft>
                <a:spcPts val="200"/>
              </a:spcAft>
              <a:buClr>
                <a:schemeClr val="accent1"/>
              </a:buClr>
              <a:buSzTx/>
              <a:buFont typeface="Wingdings" panose="05000000000000000000" pitchFamily="2" charset="2"/>
              <a:buChar char="§"/>
              <a:tabLst/>
              <a:defRPr/>
            </a:pPr>
            <a:r>
              <a:rPr lang="en-US" sz="700">
                <a:cs typeface="Calibri" pitchFamily="34" charset="0"/>
              </a:rPr>
              <a:t>Focus on ‘What’ not ‘How’</a:t>
            </a:r>
          </a:p>
          <a:p>
            <a:pPr marL="171450" indent="-171450">
              <a:spcBef>
                <a:spcPts val="200"/>
              </a:spcBef>
              <a:spcAft>
                <a:spcPts val="200"/>
              </a:spcAft>
              <a:buClr>
                <a:schemeClr val="accent1"/>
              </a:buClr>
              <a:buFont typeface="Wingdings" panose="05000000000000000000" pitchFamily="2" charset="2"/>
              <a:buChar char="§"/>
              <a:defRPr/>
            </a:pPr>
            <a:r>
              <a:rPr lang="en-US" sz="700">
                <a:cs typeface="Calibri" pitchFamily="34" charset="0"/>
              </a:rPr>
              <a:t>Demonstrate OOTB capabilities</a:t>
            </a:r>
          </a:p>
          <a:p>
            <a:pPr marL="171450" marR="0" lvl="0" indent="-171450" fontAlgn="auto">
              <a:spcBef>
                <a:spcPts val="200"/>
              </a:spcBef>
              <a:spcAft>
                <a:spcPts val="200"/>
              </a:spcAft>
              <a:buClr>
                <a:schemeClr val="accent1"/>
              </a:buClr>
              <a:buSzTx/>
              <a:buFont typeface="Wingdings" panose="05000000000000000000" pitchFamily="2" charset="2"/>
              <a:buChar char="§"/>
              <a:tabLst/>
              <a:defRPr/>
            </a:pPr>
            <a:r>
              <a:rPr lang="en-US" sz="700">
                <a:cs typeface="Calibri" pitchFamily="34" charset="0"/>
              </a:rPr>
              <a:t>Leverage Workshop tools</a:t>
            </a:r>
          </a:p>
          <a:p>
            <a:pPr marL="171450" marR="0" lvl="0" indent="-171450" fontAlgn="auto">
              <a:spcBef>
                <a:spcPts val="200"/>
              </a:spcBef>
              <a:spcAft>
                <a:spcPts val="200"/>
              </a:spcAft>
              <a:buClr>
                <a:schemeClr val="accent1"/>
              </a:buClr>
              <a:buSzTx/>
              <a:buFont typeface="Wingdings" panose="05000000000000000000" pitchFamily="2" charset="2"/>
              <a:buChar char="§"/>
              <a:tabLst/>
              <a:defRPr/>
            </a:pPr>
            <a:r>
              <a:rPr lang="en-US" sz="700">
                <a:cs typeface="Calibri" pitchFamily="34" charset="0"/>
              </a:rPr>
              <a:t>Confine to Scope</a:t>
            </a:r>
          </a:p>
          <a:p>
            <a:pPr marL="171450" indent="-171450">
              <a:spcBef>
                <a:spcPts val="200"/>
              </a:spcBef>
              <a:spcAft>
                <a:spcPts val="200"/>
              </a:spcAft>
              <a:buClr>
                <a:schemeClr val="accent1"/>
              </a:buClr>
              <a:buFont typeface="Wingdings" panose="05000000000000000000" pitchFamily="2" charset="2"/>
              <a:buChar char="§"/>
              <a:defRPr/>
            </a:pPr>
            <a:r>
              <a:rPr lang="en-US" sz="700">
                <a:cs typeface="Calibri" pitchFamily="34" charset="0"/>
              </a:rPr>
              <a:t>Maximize Product Value</a:t>
            </a:r>
          </a:p>
          <a:p>
            <a:pPr marL="171450" indent="-171450">
              <a:spcBef>
                <a:spcPts val="200"/>
              </a:spcBef>
              <a:spcAft>
                <a:spcPts val="200"/>
              </a:spcAft>
              <a:buClr>
                <a:schemeClr val="accent1"/>
              </a:buClr>
              <a:buFont typeface="Wingdings" panose="05000000000000000000" pitchFamily="2" charset="2"/>
              <a:buChar char="§"/>
              <a:defRPr/>
            </a:pPr>
            <a:r>
              <a:rPr lang="en-US" sz="700">
                <a:cs typeface="Calibri" pitchFamily="34" charset="0"/>
              </a:rPr>
              <a:t>Think holistically (‘Big Picture’)</a:t>
            </a:r>
          </a:p>
          <a:p>
            <a:pPr marL="171450" indent="-171450">
              <a:spcBef>
                <a:spcPts val="200"/>
              </a:spcBef>
              <a:spcAft>
                <a:spcPts val="200"/>
              </a:spcAft>
              <a:buClr>
                <a:schemeClr val="accent1"/>
              </a:buClr>
              <a:buFont typeface="Wingdings" panose="05000000000000000000" pitchFamily="2" charset="2"/>
              <a:buChar char="§"/>
              <a:defRPr/>
            </a:pPr>
            <a:r>
              <a:rPr lang="en-US" sz="700">
                <a:cs typeface="Calibri" pitchFamily="34" charset="0"/>
              </a:rPr>
              <a:t>Bring on board all relevant Workstreams to the sessions</a:t>
            </a:r>
          </a:p>
          <a:p>
            <a:pPr marL="171450" indent="-171450">
              <a:spcBef>
                <a:spcPts val="200"/>
              </a:spcBef>
              <a:spcAft>
                <a:spcPts val="200"/>
              </a:spcAft>
              <a:buClr>
                <a:schemeClr val="accent1"/>
              </a:buClr>
              <a:buFont typeface="Wingdings" panose="05000000000000000000" pitchFamily="2" charset="2"/>
              <a:buChar char="§"/>
              <a:defRPr/>
            </a:pPr>
            <a:r>
              <a:rPr lang="en-US" sz="700">
                <a:cs typeface="Calibri" pitchFamily="34" charset="0"/>
              </a:rPr>
              <a:t>80:20 rule</a:t>
            </a:r>
          </a:p>
          <a:p>
            <a:pPr marL="171450" indent="-171450">
              <a:spcBef>
                <a:spcPts val="200"/>
              </a:spcBef>
              <a:spcAft>
                <a:spcPts val="200"/>
              </a:spcAft>
              <a:buClr>
                <a:schemeClr val="accent1"/>
              </a:buClr>
              <a:buFont typeface="Wingdings" panose="05000000000000000000" pitchFamily="2" charset="2"/>
              <a:buChar char="§"/>
              <a:defRPr/>
            </a:pPr>
            <a:r>
              <a:rPr lang="en-US" sz="700">
                <a:cs typeface="Calibri" pitchFamily="34" charset="0"/>
              </a:rPr>
              <a:t>Minimize distractions</a:t>
            </a:r>
          </a:p>
          <a:p>
            <a:pPr marL="171450" indent="-171450">
              <a:spcBef>
                <a:spcPts val="200"/>
              </a:spcBef>
              <a:spcAft>
                <a:spcPts val="200"/>
              </a:spcAft>
              <a:buClr>
                <a:schemeClr val="accent1"/>
              </a:buClr>
              <a:buFont typeface="Wingdings" panose="05000000000000000000" pitchFamily="2" charset="2"/>
              <a:buChar char="§"/>
              <a:defRPr/>
            </a:pPr>
            <a:r>
              <a:rPr lang="en-US" sz="700">
                <a:cs typeface="Calibri" pitchFamily="34" charset="0"/>
              </a:rPr>
              <a:t>Challenge Current Process</a:t>
            </a:r>
          </a:p>
          <a:p>
            <a:pPr marL="171450" indent="-171450">
              <a:spcBef>
                <a:spcPts val="200"/>
              </a:spcBef>
              <a:spcAft>
                <a:spcPts val="200"/>
              </a:spcAft>
              <a:buClr>
                <a:schemeClr val="accent1"/>
              </a:buClr>
              <a:buFont typeface="Wingdings" panose="05000000000000000000" pitchFamily="2" charset="2"/>
              <a:buChar char="§"/>
              <a:defRPr/>
            </a:pPr>
            <a:r>
              <a:rPr lang="en-US" sz="700">
                <a:cs typeface="Calibri" pitchFamily="34" charset="0"/>
              </a:rPr>
              <a:t>Be tough on Ideas, not on each other</a:t>
            </a:r>
          </a:p>
        </p:txBody>
      </p:sp>
      <p:sp>
        <p:nvSpPr>
          <p:cNvPr id="424" name="Rounded Rectangle 67">
            <a:extLst>
              <a:ext uri="{FF2B5EF4-FFF2-40B4-BE49-F238E27FC236}">
                <a16:creationId xmlns:a16="http://schemas.microsoft.com/office/drawing/2014/main" id="{56E6359D-9E16-71FC-DAAF-6DC4F95B2C6E}"/>
              </a:ext>
            </a:extLst>
          </p:cNvPr>
          <p:cNvSpPr>
            <a:spLocks/>
          </p:cNvSpPr>
          <p:nvPr/>
        </p:nvSpPr>
        <p:spPr>
          <a:xfrm>
            <a:off x="10477580" y="5385273"/>
            <a:ext cx="1614920" cy="1116135"/>
          </a:xfrm>
          <a:prstGeom prst="roundRect">
            <a:avLst>
              <a:gd name="adj" fmla="val 5380"/>
            </a:avLst>
          </a:prstGeom>
          <a:noFill/>
          <a:ln w="19050" cap="flat" cmpd="sng" algn="ctr">
            <a:solidFill>
              <a:schemeClr val="bg1">
                <a:lumMod val="7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435" name="Gleichschenkliges Dreieck 2">
            <a:extLst>
              <a:ext uri="{FF2B5EF4-FFF2-40B4-BE49-F238E27FC236}">
                <a16:creationId xmlns:a16="http://schemas.microsoft.com/office/drawing/2014/main" id="{E0797AE8-F805-4867-6293-45B2BB4993B3}"/>
              </a:ext>
            </a:extLst>
          </p:cNvPr>
          <p:cNvSpPr/>
          <p:nvPr/>
        </p:nvSpPr>
        <p:spPr bwMode="auto">
          <a:xfrm>
            <a:off x="10866827" y="5132351"/>
            <a:ext cx="1225672" cy="252000"/>
          </a:xfrm>
          <a:prstGeom prst="rect">
            <a:avLst/>
          </a:prstGeom>
          <a:solidFill>
            <a:srgbClr val="FFC00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rPr>
              <a:t>Challenges</a:t>
            </a:r>
          </a:p>
        </p:txBody>
      </p:sp>
      <p:pic>
        <p:nvPicPr>
          <p:cNvPr id="436" name="Picture 2" descr="Image result for requirement workshop icon">
            <a:extLst>
              <a:ext uri="{FF2B5EF4-FFF2-40B4-BE49-F238E27FC236}">
                <a16:creationId xmlns:a16="http://schemas.microsoft.com/office/drawing/2014/main" id="{58E836BE-ACB2-B48F-BDBF-8B43AEB1EDFA}"/>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795655" y="2568352"/>
            <a:ext cx="1224717" cy="597831"/>
          </a:xfrm>
          <a:prstGeom prst="rect">
            <a:avLst/>
          </a:prstGeom>
          <a:noFill/>
          <a:extLst>
            <a:ext uri="{909E8E84-426E-40DD-AFC4-6F175D3DCCD1}">
              <a14:hiddenFill xmlns:a14="http://schemas.microsoft.com/office/drawing/2010/main">
                <a:solidFill>
                  <a:srgbClr val="FFFFFF"/>
                </a:solidFill>
              </a14:hiddenFill>
            </a:ext>
          </a:extLst>
        </p:spPr>
      </p:pic>
      <p:grpSp>
        <p:nvGrpSpPr>
          <p:cNvPr id="437" name="Group 436">
            <a:extLst>
              <a:ext uri="{FF2B5EF4-FFF2-40B4-BE49-F238E27FC236}">
                <a16:creationId xmlns:a16="http://schemas.microsoft.com/office/drawing/2014/main" id="{FC5E9492-D418-987F-2704-450445C0C317}"/>
              </a:ext>
            </a:extLst>
          </p:cNvPr>
          <p:cNvGrpSpPr>
            <a:grpSpLocks noChangeAspect="1"/>
          </p:cNvGrpSpPr>
          <p:nvPr/>
        </p:nvGrpSpPr>
        <p:grpSpPr>
          <a:xfrm>
            <a:off x="10541512" y="5087781"/>
            <a:ext cx="280916" cy="303133"/>
            <a:chOff x="9910960" y="2281694"/>
            <a:chExt cx="590557" cy="558400"/>
          </a:xfrm>
        </p:grpSpPr>
        <p:sp>
          <p:nvSpPr>
            <p:cNvPr id="438" name="Freeform 39">
              <a:extLst>
                <a:ext uri="{FF2B5EF4-FFF2-40B4-BE49-F238E27FC236}">
                  <a16:creationId xmlns:a16="http://schemas.microsoft.com/office/drawing/2014/main" id="{69732489-D9F2-F6A8-78D2-15E08E060E51}"/>
                </a:ext>
              </a:extLst>
            </p:cNvPr>
            <p:cNvSpPr>
              <a:spLocks noEditPoints="1"/>
            </p:cNvSpPr>
            <p:nvPr/>
          </p:nvSpPr>
          <p:spPr bwMode="auto">
            <a:xfrm>
              <a:off x="9910960" y="2397747"/>
              <a:ext cx="445479" cy="378434"/>
            </a:xfrm>
            <a:custGeom>
              <a:avLst/>
              <a:gdLst>
                <a:gd name="T0" fmla="*/ 102 w 110"/>
                <a:gd name="T1" fmla="*/ 30 h 95"/>
                <a:gd name="T2" fmla="*/ 101 w 110"/>
                <a:gd name="T3" fmla="*/ 29 h 95"/>
                <a:gd name="T4" fmla="*/ 81 w 110"/>
                <a:gd name="T5" fmla="*/ 15 h 95"/>
                <a:gd name="T6" fmla="*/ 32 w 110"/>
                <a:gd name="T7" fmla="*/ 1 h 95"/>
                <a:gd name="T8" fmla="*/ 29 w 110"/>
                <a:gd name="T9" fmla="*/ 0 h 95"/>
                <a:gd name="T10" fmla="*/ 0 w 110"/>
                <a:gd name="T11" fmla="*/ 34 h 95"/>
                <a:gd name="T12" fmla="*/ 16 w 110"/>
                <a:gd name="T13" fmla="*/ 50 h 95"/>
                <a:gd name="T14" fmla="*/ 55 w 110"/>
                <a:gd name="T15" fmla="*/ 95 h 95"/>
                <a:gd name="T16" fmla="*/ 66 w 110"/>
                <a:gd name="T17" fmla="*/ 89 h 95"/>
                <a:gd name="T18" fmla="*/ 87 w 110"/>
                <a:gd name="T19" fmla="*/ 76 h 95"/>
                <a:gd name="T20" fmla="*/ 95 w 110"/>
                <a:gd name="T21" fmla="*/ 66 h 95"/>
                <a:gd name="T22" fmla="*/ 108 w 110"/>
                <a:gd name="T23" fmla="*/ 55 h 95"/>
                <a:gd name="T24" fmla="*/ 109 w 110"/>
                <a:gd name="T25" fmla="*/ 51 h 95"/>
                <a:gd name="T26" fmla="*/ 55 w 110"/>
                <a:gd name="T27" fmla="*/ 87 h 95"/>
                <a:gd name="T28" fmla="*/ 45 w 110"/>
                <a:gd name="T29" fmla="*/ 78 h 95"/>
                <a:gd name="T30" fmla="*/ 51 w 110"/>
                <a:gd name="T31" fmla="*/ 72 h 95"/>
                <a:gd name="T32" fmla="*/ 58 w 110"/>
                <a:gd name="T33" fmla="*/ 86 h 95"/>
                <a:gd name="T34" fmla="*/ 66 w 110"/>
                <a:gd name="T35" fmla="*/ 81 h 95"/>
                <a:gd name="T36" fmla="*/ 54 w 110"/>
                <a:gd name="T37" fmla="*/ 70 h 95"/>
                <a:gd name="T38" fmla="*/ 61 w 110"/>
                <a:gd name="T39" fmla="*/ 64 h 95"/>
                <a:gd name="T40" fmla="*/ 69 w 110"/>
                <a:gd name="T41" fmla="*/ 80 h 95"/>
                <a:gd name="T42" fmla="*/ 77 w 110"/>
                <a:gd name="T43" fmla="*/ 75 h 95"/>
                <a:gd name="T44" fmla="*/ 64 w 110"/>
                <a:gd name="T45" fmla="*/ 62 h 95"/>
                <a:gd name="T46" fmla="*/ 70 w 110"/>
                <a:gd name="T47" fmla="*/ 56 h 95"/>
                <a:gd name="T48" fmla="*/ 80 w 110"/>
                <a:gd name="T49" fmla="*/ 74 h 95"/>
                <a:gd name="T50" fmla="*/ 85 w 110"/>
                <a:gd name="T51" fmla="*/ 64 h 95"/>
                <a:gd name="T52" fmla="*/ 74 w 110"/>
                <a:gd name="T53" fmla="*/ 53 h 95"/>
                <a:gd name="T54" fmla="*/ 80 w 110"/>
                <a:gd name="T55" fmla="*/ 48 h 95"/>
                <a:gd name="T56" fmla="*/ 88 w 110"/>
                <a:gd name="T57" fmla="*/ 63 h 95"/>
                <a:gd name="T58" fmla="*/ 87 w 110"/>
                <a:gd name="T59" fmla="*/ 44 h 95"/>
                <a:gd name="T60" fmla="*/ 52 w 110"/>
                <a:gd name="T61" fmla="*/ 43 h 95"/>
                <a:gd name="T62" fmla="*/ 24 w 110"/>
                <a:gd name="T63" fmla="*/ 48 h 95"/>
                <a:gd name="T64" fmla="*/ 23 w 110"/>
                <a:gd name="T65" fmla="*/ 46 h 95"/>
                <a:gd name="T66" fmla="*/ 29 w 110"/>
                <a:gd name="T67" fmla="*/ 9 h 95"/>
                <a:gd name="T68" fmla="*/ 45 w 110"/>
                <a:gd name="T69" fmla="*/ 22 h 95"/>
                <a:gd name="T70" fmla="*/ 78 w 110"/>
                <a:gd name="T71" fmla="*/ 22 h 95"/>
                <a:gd name="T72" fmla="*/ 101 w 110"/>
                <a:gd name="T73"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0" h="95">
                  <a:moveTo>
                    <a:pt x="109" y="51"/>
                  </a:moveTo>
                  <a:cubicBezTo>
                    <a:pt x="108" y="46"/>
                    <a:pt x="104" y="34"/>
                    <a:pt x="102" y="30"/>
                  </a:cubicBezTo>
                  <a:cubicBezTo>
                    <a:pt x="101" y="29"/>
                    <a:pt x="101" y="29"/>
                    <a:pt x="101" y="29"/>
                  </a:cubicBezTo>
                  <a:cubicBezTo>
                    <a:pt x="101" y="29"/>
                    <a:pt x="101" y="29"/>
                    <a:pt x="101" y="29"/>
                  </a:cubicBezTo>
                  <a:cubicBezTo>
                    <a:pt x="96" y="25"/>
                    <a:pt x="84" y="16"/>
                    <a:pt x="82" y="15"/>
                  </a:cubicBezTo>
                  <a:cubicBezTo>
                    <a:pt x="81" y="15"/>
                    <a:pt x="81" y="15"/>
                    <a:pt x="81" y="15"/>
                  </a:cubicBezTo>
                  <a:cubicBezTo>
                    <a:pt x="70" y="12"/>
                    <a:pt x="59" y="11"/>
                    <a:pt x="47" y="13"/>
                  </a:cubicBezTo>
                  <a:cubicBezTo>
                    <a:pt x="43" y="10"/>
                    <a:pt x="37" y="6"/>
                    <a:pt x="32" y="1"/>
                  </a:cubicBezTo>
                  <a:cubicBezTo>
                    <a:pt x="30" y="0"/>
                    <a:pt x="30" y="0"/>
                    <a:pt x="30" y="0"/>
                  </a:cubicBezTo>
                  <a:cubicBezTo>
                    <a:pt x="29" y="0"/>
                    <a:pt x="29" y="0"/>
                    <a:pt x="29" y="0"/>
                  </a:cubicBezTo>
                  <a:cubicBezTo>
                    <a:pt x="21" y="2"/>
                    <a:pt x="3" y="16"/>
                    <a:pt x="1" y="32"/>
                  </a:cubicBezTo>
                  <a:cubicBezTo>
                    <a:pt x="0" y="34"/>
                    <a:pt x="0" y="34"/>
                    <a:pt x="0" y="34"/>
                  </a:cubicBezTo>
                  <a:cubicBezTo>
                    <a:pt x="2" y="36"/>
                    <a:pt x="2" y="36"/>
                    <a:pt x="2" y="36"/>
                  </a:cubicBezTo>
                  <a:cubicBezTo>
                    <a:pt x="6" y="39"/>
                    <a:pt x="13" y="46"/>
                    <a:pt x="16" y="50"/>
                  </a:cubicBezTo>
                  <a:cubicBezTo>
                    <a:pt x="17" y="56"/>
                    <a:pt x="20" y="66"/>
                    <a:pt x="31" y="77"/>
                  </a:cubicBezTo>
                  <a:cubicBezTo>
                    <a:pt x="43" y="89"/>
                    <a:pt x="49" y="95"/>
                    <a:pt x="55" y="95"/>
                  </a:cubicBezTo>
                  <a:cubicBezTo>
                    <a:pt x="56" y="95"/>
                    <a:pt x="57" y="94"/>
                    <a:pt x="58" y="94"/>
                  </a:cubicBezTo>
                  <a:cubicBezTo>
                    <a:pt x="62" y="93"/>
                    <a:pt x="65" y="91"/>
                    <a:pt x="66" y="89"/>
                  </a:cubicBezTo>
                  <a:cubicBezTo>
                    <a:pt x="70" y="88"/>
                    <a:pt x="74" y="86"/>
                    <a:pt x="76" y="82"/>
                  </a:cubicBezTo>
                  <a:cubicBezTo>
                    <a:pt x="80" y="81"/>
                    <a:pt x="84" y="79"/>
                    <a:pt x="87" y="76"/>
                  </a:cubicBezTo>
                  <a:cubicBezTo>
                    <a:pt x="88" y="75"/>
                    <a:pt x="89" y="73"/>
                    <a:pt x="89" y="72"/>
                  </a:cubicBezTo>
                  <a:cubicBezTo>
                    <a:pt x="92" y="71"/>
                    <a:pt x="94" y="69"/>
                    <a:pt x="95" y="66"/>
                  </a:cubicBezTo>
                  <a:cubicBezTo>
                    <a:pt x="97" y="64"/>
                    <a:pt x="97" y="63"/>
                    <a:pt x="97" y="61"/>
                  </a:cubicBezTo>
                  <a:cubicBezTo>
                    <a:pt x="101" y="60"/>
                    <a:pt x="105" y="59"/>
                    <a:pt x="108" y="55"/>
                  </a:cubicBezTo>
                  <a:cubicBezTo>
                    <a:pt x="110" y="54"/>
                    <a:pt x="110" y="54"/>
                    <a:pt x="110" y="54"/>
                  </a:cubicBezTo>
                  <a:lnTo>
                    <a:pt x="109" y="51"/>
                  </a:lnTo>
                  <a:close/>
                  <a:moveTo>
                    <a:pt x="58" y="86"/>
                  </a:moveTo>
                  <a:cubicBezTo>
                    <a:pt x="57" y="87"/>
                    <a:pt x="56" y="87"/>
                    <a:pt x="55" y="87"/>
                  </a:cubicBezTo>
                  <a:cubicBezTo>
                    <a:pt x="54" y="87"/>
                    <a:pt x="52" y="87"/>
                    <a:pt x="52" y="86"/>
                  </a:cubicBezTo>
                  <a:cubicBezTo>
                    <a:pt x="45" y="78"/>
                    <a:pt x="45" y="78"/>
                    <a:pt x="45" y="78"/>
                  </a:cubicBezTo>
                  <a:cubicBezTo>
                    <a:pt x="44" y="76"/>
                    <a:pt x="44" y="73"/>
                    <a:pt x="46" y="72"/>
                  </a:cubicBezTo>
                  <a:cubicBezTo>
                    <a:pt x="47" y="70"/>
                    <a:pt x="50" y="71"/>
                    <a:pt x="51" y="72"/>
                  </a:cubicBezTo>
                  <a:cubicBezTo>
                    <a:pt x="58" y="80"/>
                    <a:pt x="58" y="80"/>
                    <a:pt x="58" y="80"/>
                  </a:cubicBezTo>
                  <a:cubicBezTo>
                    <a:pt x="60" y="82"/>
                    <a:pt x="59" y="85"/>
                    <a:pt x="58" y="86"/>
                  </a:cubicBezTo>
                  <a:close/>
                  <a:moveTo>
                    <a:pt x="69" y="80"/>
                  </a:moveTo>
                  <a:cubicBezTo>
                    <a:pt x="68" y="81"/>
                    <a:pt x="67" y="81"/>
                    <a:pt x="66" y="81"/>
                  </a:cubicBezTo>
                  <a:cubicBezTo>
                    <a:pt x="65" y="81"/>
                    <a:pt x="64" y="81"/>
                    <a:pt x="63" y="80"/>
                  </a:cubicBezTo>
                  <a:cubicBezTo>
                    <a:pt x="54" y="70"/>
                    <a:pt x="54" y="70"/>
                    <a:pt x="54" y="70"/>
                  </a:cubicBezTo>
                  <a:cubicBezTo>
                    <a:pt x="53" y="68"/>
                    <a:pt x="53" y="65"/>
                    <a:pt x="55" y="63"/>
                  </a:cubicBezTo>
                  <a:cubicBezTo>
                    <a:pt x="57" y="62"/>
                    <a:pt x="60" y="62"/>
                    <a:pt x="61" y="64"/>
                  </a:cubicBezTo>
                  <a:cubicBezTo>
                    <a:pt x="69" y="74"/>
                    <a:pt x="69" y="74"/>
                    <a:pt x="69" y="74"/>
                  </a:cubicBezTo>
                  <a:cubicBezTo>
                    <a:pt x="71" y="76"/>
                    <a:pt x="71" y="79"/>
                    <a:pt x="69" y="80"/>
                  </a:cubicBezTo>
                  <a:close/>
                  <a:moveTo>
                    <a:pt x="80" y="74"/>
                  </a:moveTo>
                  <a:cubicBezTo>
                    <a:pt x="79" y="75"/>
                    <a:pt x="78" y="75"/>
                    <a:pt x="77" y="75"/>
                  </a:cubicBezTo>
                  <a:cubicBezTo>
                    <a:pt x="76" y="75"/>
                    <a:pt x="74" y="75"/>
                    <a:pt x="73" y="74"/>
                  </a:cubicBezTo>
                  <a:cubicBezTo>
                    <a:pt x="64" y="62"/>
                    <a:pt x="64" y="62"/>
                    <a:pt x="64" y="62"/>
                  </a:cubicBezTo>
                  <a:cubicBezTo>
                    <a:pt x="62" y="60"/>
                    <a:pt x="62" y="57"/>
                    <a:pt x="64" y="56"/>
                  </a:cubicBezTo>
                  <a:cubicBezTo>
                    <a:pt x="66" y="54"/>
                    <a:pt x="69" y="55"/>
                    <a:pt x="70" y="56"/>
                  </a:cubicBezTo>
                  <a:cubicBezTo>
                    <a:pt x="80" y="68"/>
                    <a:pt x="80" y="68"/>
                    <a:pt x="80" y="68"/>
                  </a:cubicBezTo>
                  <a:cubicBezTo>
                    <a:pt x="82" y="70"/>
                    <a:pt x="82" y="73"/>
                    <a:pt x="80" y="74"/>
                  </a:cubicBezTo>
                  <a:close/>
                  <a:moveTo>
                    <a:pt x="88" y="63"/>
                  </a:moveTo>
                  <a:cubicBezTo>
                    <a:pt x="87" y="64"/>
                    <a:pt x="86" y="64"/>
                    <a:pt x="85" y="64"/>
                  </a:cubicBezTo>
                  <a:cubicBezTo>
                    <a:pt x="84" y="64"/>
                    <a:pt x="83" y="64"/>
                    <a:pt x="82" y="63"/>
                  </a:cubicBezTo>
                  <a:cubicBezTo>
                    <a:pt x="74" y="53"/>
                    <a:pt x="74" y="53"/>
                    <a:pt x="74" y="53"/>
                  </a:cubicBezTo>
                  <a:cubicBezTo>
                    <a:pt x="72" y="52"/>
                    <a:pt x="72" y="49"/>
                    <a:pt x="74" y="47"/>
                  </a:cubicBezTo>
                  <a:cubicBezTo>
                    <a:pt x="76" y="46"/>
                    <a:pt x="79" y="46"/>
                    <a:pt x="80" y="48"/>
                  </a:cubicBezTo>
                  <a:cubicBezTo>
                    <a:pt x="88" y="57"/>
                    <a:pt x="88" y="57"/>
                    <a:pt x="88" y="57"/>
                  </a:cubicBezTo>
                  <a:cubicBezTo>
                    <a:pt x="90" y="59"/>
                    <a:pt x="90" y="62"/>
                    <a:pt x="88" y="63"/>
                  </a:cubicBezTo>
                  <a:close/>
                  <a:moveTo>
                    <a:pt x="99" y="52"/>
                  </a:moveTo>
                  <a:cubicBezTo>
                    <a:pt x="94" y="53"/>
                    <a:pt x="89" y="50"/>
                    <a:pt x="87" y="44"/>
                  </a:cubicBezTo>
                  <a:cubicBezTo>
                    <a:pt x="84" y="44"/>
                    <a:pt x="79" y="42"/>
                    <a:pt x="76" y="38"/>
                  </a:cubicBezTo>
                  <a:cubicBezTo>
                    <a:pt x="71" y="40"/>
                    <a:pt x="62" y="45"/>
                    <a:pt x="52" y="43"/>
                  </a:cubicBezTo>
                  <a:cubicBezTo>
                    <a:pt x="31" y="65"/>
                    <a:pt x="31" y="65"/>
                    <a:pt x="31" y="65"/>
                  </a:cubicBezTo>
                  <a:cubicBezTo>
                    <a:pt x="25" y="57"/>
                    <a:pt x="24" y="51"/>
                    <a:pt x="24" y="48"/>
                  </a:cubicBezTo>
                  <a:cubicBezTo>
                    <a:pt x="24" y="47"/>
                    <a:pt x="24" y="47"/>
                    <a:pt x="24" y="47"/>
                  </a:cubicBezTo>
                  <a:cubicBezTo>
                    <a:pt x="23" y="46"/>
                    <a:pt x="23" y="46"/>
                    <a:pt x="23" y="46"/>
                  </a:cubicBezTo>
                  <a:cubicBezTo>
                    <a:pt x="21" y="43"/>
                    <a:pt x="14" y="36"/>
                    <a:pt x="9" y="31"/>
                  </a:cubicBezTo>
                  <a:cubicBezTo>
                    <a:pt x="12" y="21"/>
                    <a:pt x="23" y="11"/>
                    <a:pt x="29" y="9"/>
                  </a:cubicBezTo>
                  <a:cubicBezTo>
                    <a:pt x="34" y="13"/>
                    <a:pt x="39" y="17"/>
                    <a:pt x="44" y="21"/>
                  </a:cubicBezTo>
                  <a:cubicBezTo>
                    <a:pt x="45" y="22"/>
                    <a:pt x="45" y="22"/>
                    <a:pt x="45" y="22"/>
                  </a:cubicBezTo>
                  <a:cubicBezTo>
                    <a:pt x="47" y="21"/>
                    <a:pt x="47" y="21"/>
                    <a:pt x="47" y="21"/>
                  </a:cubicBezTo>
                  <a:cubicBezTo>
                    <a:pt x="57" y="19"/>
                    <a:pt x="68" y="19"/>
                    <a:pt x="78" y="22"/>
                  </a:cubicBezTo>
                  <a:cubicBezTo>
                    <a:pt x="81" y="24"/>
                    <a:pt x="91" y="31"/>
                    <a:pt x="95" y="34"/>
                  </a:cubicBezTo>
                  <a:cubicBezTo>
                    <a:pt x="96" y="38"/>
                    <a:pt x="99" y="46"/>
                    <a:pt x="101" y="51"/>
                  </a:cubicBezTo>
                  <a:cubicBezTo>
                    <a:pt x="100" y="52"/>
                    <a:pt x="100" y="52"/>
                    <a:pt x="99" y="52"/>
                  </a:cubicBezTo>
                  <a:close/>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39" name="Freeform 40">
              <a:extLst>
                <a:ext uri="{FF2B5EF4-FFF2-40B4-BE49-F238E27FC236}">
                  <a16:creationId xmlns:a16="http://schemas.microsoft.com/office/drawing/2014/main" id="{25D8CBD0-2361-2AC6-D0D9-D965E8614888}"/>
                </a:ext>
              </a:extLst>
            </p:cNvPr>
            <p:cNvSpPr>
              <a:spLocks noEditPoints="1"/>
            </p:cNvSpPr>
            <p:nvPr/>
          </p:nvSpPr>
          <p:spPr bwMode="auto">
            <a:xfrm>
              <a:off x="9939975" y="2281694"/>
              <a:ext cx="561542" cy="558400"/>
            </a:xfrm>
            <a:custGeom>
              <a:avLst/>
              <a:gdLst>
                <a:gd name="T0" fmla="*/ 134 w 139"/>
                <a:gd name="T1" fmla="*/ 18 h 140"/>
                <a:gd name="T2" fmla="*/ 134 w 139"/>
                <a:gd name="T3" fmla="*/ 18 h 140"/>
                <a:gd name="T4" fmla="*/ 116 w 139"/>
                <a:gd name="T5" fmla="*/ 35 h 140"/>
                <a:gd name="T6" fmla="*/ 116 w 139"/>
                <a:gd name="T7" fmla="*/ 35 h 140"/>
                <a:gd name="T8" fmla="*/ 104 w 139"/>
                <a:gd name="T9" fmla="*/ 23 h 140"/>
                <a:gd name="T10" fmla="*/ 104 w 139"/>
                <a:gd name="T11" fmla="*/ 23 h 140"/>
                <a:gd name="T12" fmla="*/ 122 w 139"/>
                <a:gd name="T13" fmla="*/ 5 h 140"/>
                <a:gd name="T14" fmla="*/ 122 w 139"/>
                <a:gd name="T15" fmla="*/ 5 h 140"/>
                <a:gd name="T16" fmla="*/ 93 w 139"/>
                <a:gd name="T17" fmla="*/ 9 h 140"/>
                <a:gd name="T18" fmla="*/ 88 w 139"/>
                <a:gd name="T19" fmla="*/ 13 h 140"/>
                <a:gd name="T20" fmla="*/ 82 w 139"/>
                <a:gd name="T21" fmla="*/ 37 h 140"/>
                <a:gd name="T22" fmla="*/ 82 w 139"/>
                <a:gd name="T23" fmla="*/ 37 h 140"/>
                <a:gd name="T24" fmla="*/ 71 w 139"/>
                <a:gd name="T25" fmla="*/ 48 h 140"/>
                <a:gd name="T26" fmla="*/ 79 w 139"/>
                <a:gd name="T27" fmla="*/ 53 h 140"/>
                <a:gd name="T28" fmla="*/ 94 w 139"/>
                <a:gd name="T29" fmla="*/ 66 h 140"/>
                <a:gd name="T30" fmla="*/ 102 w 139"/>
                <a:gd name="T31" fmla="*/ 58 h 140"/>
                <a:gd name="T32" fmla="*/ 102 w 139"/>
                <a:gd name="T33" fmla="*/ 58 h 140"/>
                <a:gd name="T34" fmla="*/ 126 w 139"/>
                <a:gd name="T35" fmla="*/ 51 h 140"/>
                <a:gd name="T36" fmla="*/ 130 w 139"/>
                <a:gd name="T37" fmla="*/ 47 h 140"/>
                <a:gd name="T38" fmla="*/ 134 w 139"/>
                <a:gd name="T39" fmla="*/ 18 h 140"/>
                <a:gd name="T40" fmla="*/ 6 w 139"/>
                <a:gd name="T41" fmla="*/ 113 h 140"/>
                <a:gd name="T42" fmla="*/ 6 w 139"/>
                <a:gd name="T43" fmla="*/ 134 h 140"/>
                <a:gd name="T44" fmla="*/ 27 w 139"/>
                <a:gd name="T45" fmla="*/ 133 h 140"/>
                <a:gd name="T46" fmla="*/ 43 w 139"/>
                <a:gd name="T47" fmla="*/ 117 h 140"/>
                <a:gd name="T48" fmla="*/ 22 w 139"/>
                <a:gd name="T49" fmla="*/ 97 h 140"/>
                <a:gd name="T50" fmla="*/ 6 w 139"/>
                <a:gd name="T51" fmla="*/ 113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9" h="140">
                  <a:moveTo>
                    <a:pt x="134" y="18"/>
                  </a:moveTo>
                  <a:cubicBezTo>
                    <a:pt x="134" y="17"/>
                    <a:pt x="134" y="17"/>
                    <a:pt x="134" y="18"/>
                  </a:cubicBezTo>
                  <a:cubicBezTo>
                    <a:pt x="116" y="35"/>
                    <a:pt x="116" y="35"/>
                    <a:pt x="116" y="35"/>
                  </a:cubicBezTo>
                  <a:cubicBezTo>
                    <a:pt x="116" y="35"/>
                    <a:pt x="116" y="35"/>
                    <a:pt x="116" y="35"/>
                  </a:cubicBezTo>
                  <a:cubicBezTo>
                    <a:pt x="104" y="23"/>
                    <a:pt x="104" y="23"/>
                    <a:pt x="104" y="23"/>
                  </a:cubicBezTo>
                  <a:cubicBezTo>
                    <a:pt x="104" y="23"/>
                    <a:pt x="104" y="23"/>
                    <a:pt x="104" y="23"/>
                  </a:cubicBezTo>
                  <a:cubicBezTo>
                    <a:pt x="122" y="5"/>
                    <a:pt x="122" y="5"/>
                    <a:pt x="122" y="5"/>
                  </a:cubicBezTo>
                  <a:cubicBezTo>
                    <a:pt x="122" y="5"/>
                    <a:pt x="122" y="5"/>
                    <a:pt x="122" y="5"/>
                  </a:cubicBezTo>
                  <a:cubicBezTo>
                    <a:pt x="112" y="0"/>
                    <a:pt x="100" y="1"/>
                    <a:pt x="93" y="9"/>
                  </a:cubicBezTo>
                  <a:cubicBezTo>
                    <a:pt x="88" y="13"/>
                    <a:pt x="88" y="13"/>
                    <a:pt x="88" y="13"/>
                  </a:cubicBezTo>
                  <a:cubicBezTo>
                    <a:pt x="81" y="20"/>
                    <a:pt x="77" y="26"/>
                    <a:pt x="82" y="37"/>
                  </a:cubicBezTo>
                  <a:cubicBezTo>
                    <a:pt x="82" y="37"/>
                    <a:pt x="82" y="37"/>
                    <a:pt x="82" y="37"/>
                  </a:cubicBezTo>
                  <a:cubicBezTo>
                    <a:pt x="71" y="48"/>
                    <a:pt x="71" y="48"/>
                    <a:pt x="71" y="48"/>
                  </a:cubicBezTo>
                  <a:cubicBezTo>
                    <a:pt x="79" y="53"/>
                    <a:pt x="79" y="53"/>
                    <a:pt x="79" y="53"/>
                  </a:cubicBezTo>
                  <a:cubicBezTo>
                    <a:pt x="94" y="66"/>
                    <a:pt x="94" y="66"/>
                    <a:pt x="94" y="66"/>
                  </a:cubicBezTo>
                  <a:cubicBezTo>
                    <a:pt x="102" y="58"/>
                    <a:pt x="102" y="58"/>
                    <a:pt x="102" y="58"/>
                  </a:cubicBezTo>
                  <a:cubicBezTo>
                    <a:pt x="102" y="58"/>
                    <a:pt x="102" y="58"/>
                    <a:pt x="102" y="58"/>
                  </a:cubicBezTo>
                  <a:cubicBezTo>
                    <a:pt x="113" y="62"/>
                    <a:pt x="119" y="58"/>
                    <a:pt x="126" y="51"/>
                  </a:cubicBezTo>
                  <a:cubicBezTo>
                    <a:pt x="130" y="47"/>
                    <a:pt x="130" y="47"/>
                    <a:pt x="130" y="47"/>
                  </a:cubicBezTo>
                  <a:cubicBezTo>
                    <a:pt x="138" y="39"/>
                    <a:pt x="139" y="27"/>
                    <a:pt x="134" y="18"/>
                  </a:cubicBezTo>
                  <a:close/>
                  <a:moveTo>
                    <a:pt x="6" y="113"/>
                  </a:moveTo>
                  <a:cubicBezTo>
                    <a:pt x="0" y="119"/>
                    <a:pt x="0" y="129"/>
                    <a:pt x="6" y="134"/>
                  </a:cubicBezTo>
                  <a:cubicBezTo>
                    <a:pt x="12" y="140"/>
                    <a:pt x="21" y="139"/>
                    <a:pt x="27" y="133"/>
                  </a:cubicBezTo>
                  <a:cubicBezTo>
                    <a:pt x="43" y="117"/>
                    <a:pt x="43" y="117"/>
                    <a:pt x="43" y="117"/>
                  </a:cubicBezTo>
                  <a:cubicBezTo>
                    <a:pt x="22" y="97"/>
                    <a:pt x="22" y="97"/>
                    <a:pt x="22" y="97"/>
                  </a:cubicBezTo>
                  <a:lnTo>
                    <a:pt x="6" y="113"/>
                  </a:lnTo>
                  <a:close/>
                </a:path>
              </a:pathLst>
            </a:custGeom>
            <a:solidFill>
              <a:srgbClr val="46106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grpSp>
      <p:sp>
        <p:nvSpPr>
          <p:cNvPr id="441" name="TextBox 440">
            <a:extLst>
              <a:ext uri="{FF2B5EF4-FFF2-40B4-BE49-F238E27FC236}">
                <a16:creationId xmlns:a16="http://schemas.microsoft.com/office/drawing/2014/main" id="{E2324D32-69C2-CF49-6472-731C1E718259}"/>
              </a:ext>
            </a:extLst>
          </p:cNvPr>
          <p:cNvSpPr txBox="1"/>
          <p:nvPr/>
        </p:nvSpPr>
        <p:spPr>
          <a:xfrm>
            <a:off x="10474014" y="5431971"/>
            <a:ext cx="1618485" cy="943848"/>
          </a:xfrm>
          <a:prstGeom prst="rect">
            <a:avLst/>
          </a:prstGeom>
          <a:noFill/>
          <a:ln>
            <a:noFill/>
          </a:ln>
        </p:spPr>
        <p:txBody>
          <a:bodyPr wrap="square" rtlCol="0">
            <a:spAutoFit/>
          </a:bodyPr>
          <a:lstStyle/>
          <a:p>
            <a:pPr marL="171450" marR="0" lvl="0" indent="-171450" fontAlgn="auto">
              <a:spcBef>
                <a:spcPts val="200"/>
              </a:spcBef>
              <a:spcAft>
                <a:spcPts val="200"/>
              </a:spcAft>
              <a:buClr>
                <a:schemeClr val="accent1"/>
              </a:buClr>
              <a:buSzTx/>
              <a:buFont typeface="Wingdings" panose="05000000000000000000" pitchFamily="2" charset="2"/>
              <a:buChar char="§"/>
              <a:tabLst/>
              <a:defRPr/>
            </a:pPr>
            <a:r>
              <a:rPr lang="en-US" sz="700">
                <a:cs typeface="Calibri" pitchFamily="34" charset="0"/>
              </a:rPr>
              <a:t>Thinking inside of Legacy box</a:t>
            </a:r>
          </a:p>
          <a:p>
            <a:pPr marL="171450" marR="0" lvl="0" indent="-171450" fontAlgn="auto">
              <a:spcBef>
                <a:spcPts val="200"/>
              </a:spcBef>
              <a:spcAft>
                <a:spcPts val="200"/>
              </a:spcAft>
              <a:buClr>
                <a:schemeClr val="accent1"/>
              </a:buClr>
              <a:buSzTx/>
              <a:buFont typeface="Wingdings" panose="05000000000000000000" pitchFamily="2" charset="2"/>
              <a:buChar char="§"/>
              <a:tabLst/>
              <a:defRPr/>
            </a:pPr>
            <a:r>
              <a:rPr lang="en-US" sz="700">
                <a:cs typeface="Calibri" pitchFamily="34" charset="0"/>
              </a:rPr>
              <a:t>Trying to create Perfect Solution</a:t>
            </a:r>
          </a:p>
          <a:p>
            <a:pPr marL="171450" marR="0" lvl="0" indent="-171450" fontAlgn="auto">
              <a:spcBef>
                <a:spcPts val="200"/>
              </a:spcBef>
              <a:spcAft>
                <a:spcPts val="200"/>
              </a:spcAft>
              <a:buClr>
                <a:schemeClr val="accent1"/>
              </a:buClr>
              <a:buSzTx/>
              <a:buFont typeface="Wingdings" panose="05000000000000000000" pitchFamily="2" charset="2"/>
              <a:buChar char="§"/>
              <a:tabLst/>
              <a:defRPr/>
            </a:pPr>
            <a:r>
              <a:rPr lang="en-US" sz="700">
                <a:cs typeface="Calibri" pitchFamily="34" charset="0"/>
              </a:rPr>
              <a:t>Unclear Requirements</a:t>
            </a:r>
          </a:p>
          <a:p>
            <a:pPr marL="171450" indent="-171450">
              <a:spcBef>
                <a:spcPts val="200"/>
              </a:spcBef>
              <a:spcAft>
                <a:spcPts val="200"/>
              </a:spcAft>
              <a:buClr>
                <a:schemeClr val="accent1"/>
              </a:buClr>
              <a:buFont typeface="Wingdings" panose="05000000000000000000" pitchFamily="2" charset="2"/>
              <a:buChar char="§"/>
              <a:defRPr/>
            </a:pPr>
            <a:r>
              <a:rPr lang="en-US" sz="700">
                <a:cs typeface="Calibri" pitchFamily="34" charset="0"/>
              </a:rPr>
              <a:t>Over customization</a:t>
            </a:r>
          </a:p>
          <a:p>
            <a:pPr marL="171450" indent="-171450">
              <a:spcBef>
                <a:spcPts val="200"/>
              </a:spcBef>
              <a:spcAft>
                <a:spcPts val="200"/>
              </a:spcAft>
              <a:buClr>
                <a:schemeClr val="accent1"/>
              </a:buClr>
              <a:buFont typeface="Wingdings" panose="05000000000000000000" pitchFamily="2" charset="2"/>
              <a:buChar char="§"/>
              <a:defRPr/>
            </a:pPr>
            <a:r>
              <a:rPr lang="en-US" sz="700">
                <a:cs typeface="Calibri" pitchFamily="34" charset="0"/>
              </a:rPr>
              <a:t>Need Vs Want</a:t>
            </a:r>
          </a:p>
        </p:txBody>
      </p:sp>
      <p:sp>
        <p:nvSpPr>
          <p:cNvPr id="442" name="Rounded Rectangle 67">
            <a:extLst>
              <a:ext uri="{FF2B5EF4-FFF2-40B4-BE49-F238E27FC236}">
                <a16:creationId xmlns:a16="http://schemas.microsoft.com/office/drawing/2014/main" id="{CC701B64-F701-644C-24EE-BCE48AF1DA76}"/>
              </a:ext>
            </a:extLst>
          </p:cNvPr>
          <p:cNvSpPr>
            <a:spLocks/>
          </p:cNvSpPr>
          <p:nvPr/>
        </p:nvSpPr>
        <p:spPr>
          <a:xfrm>
            <a:off x="3527662" y="5383053"/>
            <a:ext cx="2027860" cy="1340217"/>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443" name="TextBox 196">
            <a:extLst>
              <a:ext uri="{FF2B5EF4-FFF2-40B4-BE49-F238E27FC236}">
                <a16:creationId xmlns:a16="http://schemas.microsoft.com/office/drawing/2014/main" id="{E6F33CAC-E7AA-7629-56E6-DD05FA9B9FC2}"/>
              </a:ext>
            </a:extLst>
          </p:cNvPr>
          <p:cNvSpPr txBox="1">
            <a:spLocks/>
          </p:cNvSpPr>
          <p:nvPr/>
        </p:nvSpPr>
        <p:spPr>
          <a:xfrm>
            <a:off x="3609850" y="5189374"/>
            <a:ext cx="1917715" cy="301795"/>
          </a:xfrm>
          <a:prstGeom prst="roundRect">
            <a:avLst>
              <a:gd name="adj" fmla="val 50000"/>
            </a:avLst>
          </a:prstGeom>
          <a:solidFill>
            <a:srgbClr val="12ABDB"/>
          </a:solidFill>
          <a:ln w="25400" cap="flat" cmpd="sng" algn="ctr">
            <a:no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GB" sz="1000" b="0" kern="0">
                <a:solidFill>
                  <a:schemeClr val="tx1"/>
                </a:solidFill>
                <a:latin typeface="+mj-lt"/>
                <a:ea typeface="Verdana" panose="020B0604030504040204" pitchFamily="34" charset="0"/>
                <a:cs typeface="Verdana" panose="020B0604030504040204" pitchFamily="34" charset="0"/>
              </a:rPr>
              <a:t>            Tasks / Ownership</a:t>
            </a:r>
            <a:endParaRPr kumimoji="0" lang="en-US" sz="1000" b="0" i="0" u="none" strike="noStrike" kern="0" cap="none" spc="0" normalizeH="0" baseline="0" noProof="0">
              <a:ln>
                <a:noFill/>
              </a:ln>
              <a:solidFill>
                <a:schemeClr val="tx1"/>
              </a:solidFill>
              <a:effectLst/>
              <a:uLnTx/>
              <a:uFillTx/>
              <a:latin typeface="+mj-lt"/>
              <a:ea typeface="Verdana" panose="020B0604030504040204" pitchFamily="34" charset="0"/>
              <a:cs typeface="Verdana" panose="020B0604030504040204" pitchFamily="34" charset="0"/>
            </a:endParaRPr>
          </a:p>
        </p:txBody>
      </p:sp>
      <p:sp>
        <p:nvSpPr>
          <p:cNvPr id="444" name="Rounded Rectangle 67">
            <a:extLst>
              <a:ext uri="{FF2B5EF4-FFF2-40B4-BE49-F238E27FC236}">
                <a16:creationId xmlns:a16="http://schemas.microsoft.com/office/drawing/2014/main" id="{99901A0F-332E-9DEC-BBB9-E919FCC074EC}"/>
              </a:ext>
            </a:extLst>
          </p:cNvPr>
          <p:cNvSpPr>
            <a:spLocks/>
          </p:cNvSpPr>
          <p:nvPr/>
        </p:nvSpPr>
        <p:spPr>
          <a:xfrm>
            <a:off x="5901758" y="5383053"/>
            <a:ext cx="2027860" cy="1340217"/>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445" name="TextBox 196">
            <a:extLst>
              <a:ext uri="{FF2B5EF4-FFF2-40B4-BE49-F238E27FC236}">
                <a16:creationId xmlns:a16="http://schemas.microsoft.com/office/drawing/2014/main" id="{6795C9E9-1E1E-3C8F-0D79-29A571C2CD9C}"/>
              </a:ext>
            </a:extLst>
          </p:cNvPr>
          <p:cNvSpPr txBox="1">
            <a:spLocks/>
          </p:cNvSpPr>
          <p:nvPr/>
        </p:nvSpPr>
        <p:spPr>
          <a:xfrm>
            <a:off x="5983946" y="5221874"/>
            <a:ext cx="1917715" cy="301795"/>
          </a:xfrm>
          <a:prstGeom prst="roundRect">
            <a:avLst>
              <a:gd name="adj" fmla="val 50000"/>
            </a:avLst>
          </a:prstGeom>
          <a:solidFill>
            <a:srgbClr val="D763C6"/>
          </a:solidFill>
          <a:ln w="25400" cap="flat" cmpd="sng" algn="ctr">
            <a:no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effectLst/>
                <a:uLnTx/>
                <a:uFillTx/>
                <a:latin typeface="+mj-lt"/>
                <a:ea typeface="Verdana" panose="020B0604030504040204" pitchFamily="34" charset="0"/>
                <a:cs typeface="Verdana" panose="020B0604030504040204" pitchFamily="34" charset="0"/>
              </a:rPr>
              <a:t>       Tasks / Ownership</a:t>
            </a:r>
            <a:endParaRPr kumimoji="0" lang="en-US" sz="1000" b="0" i="0" u="none" strike="noStrike" kern="0" cap="none" spc="0" normalizeH="0" baseline="0" noProof="0">
              <a:ln>
                <a:noFill/>
              </a:ln>
              <a:effectLst/>
              <a:uLnTx/>
              <a:uFillTx/>
              <a:latin typeface="+mj-lt"/>
              <a:ea typeface="Verdana" panose="020B0604030504040204" pitchFamily="34" charset="0"/>
              <a:cs typeface="Verdana" panose="020B0604030504040204" pitchFamily="34" charset="0"/>
            </a:endParaRPr>
          </a:p>
        </p:txBody>
      </p:sp>
      <p:sp>
        <p:nvSpPr>
          <p:cNvPr id="446" name="Rounded Rectangle 67">
            <a:extLst>
              <a:ext uri="{FF2B5EF4-FFF2-40B4-BE49-F238E27FC236}">
                <a16:creationId xmlns:a16="http://schemas.microsoft.com/office/drawing/2014/main" id="{8736889A-8B07-E59F-F17A-D4731E51B2FC}"/>
              </a:ext>
            </a:extLst>
          </p:cNvPr>
          <p:cNvSpPr>
            <a:spLocks/>
          </p:cNvSpPr>
          <p:nvPr/>
        </p:nvSpPr>
        <p:spPr>
          <a:xfrm>
            <a:off x="8144234" y="5389889"/>
            <a:ext cx="2027860" cy="1333381"/>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447" name="TextBox 196">
            <a:extLst>
              <a:ext uri="{FF2B5EF4-FFF2-40B4-BE49-F238E27FC236}">
                <a16:creationId xmlns:a16="http://schemas.microsoft.com/office/drawing/2014/main" id="{D6FF5ECE-61E5-9B22-7AA9-38F6B3E8FCBB}"/>
              </a:ext>
            </a:extLst>
          </p:cNvPr>
          <p:cNvSpPr txBox="1">
            <a:spLocks/>
          </p:cNvSpPr>
          <p:nvPr/>
        </p:nvSpPr>
        <p:spPr>
          <a:xfrm>
            <a:off x="8215912" y="5263193"/>
            <a:ext cx="1917715" cy="301795"/>
          </a:xfrm>
          <a:prstGeom prst="roundRect">
            <a:avLst>
              <a:gd name="adj" fmla="val 50000"/>
            </a:avLst>
          </a:prstGeom>
          <a:solidFill>
            <a:srgbClr val="D763C6"/>
          </a:solidFill>
          <a:ln w="25400" cap="flat" cmpd="sng" algn="ctr">
            <a:solidFill>
              <a:schemeClr val="accent6">
                <a:lumMod val="40000"/>
                <a:lumOff val="60000"/>
              </a:schemeClr>
            </a:solid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effectLst/>
                <a:uLnTx/>
                <a:uFillTx/>
                <a:latin typeface="+mj-lt"/>
                <a:ea typeface="Verdana" panose="020B0604030504040204" pitchFamily="34" charset="0"/>
                <a:cs typeface="Verdana" panose="020B0604030504040204" pitchFamily="34" charset="0"/>
              </a:rPr>
              <a:t>                  Tasks / Ownership</a:t>
            </a:r>
            <a:endParaRPr kumimoji="0" lang="en-US" sz="1000" b="0" i="0" u="none" strike="noStrike" kern="0" cap="none" spc="0" normalizeH="0" baseline="0" noProof="0">
              <a:ln>
                <a:noFill/>
              </a:ln>
              <a:effectLst/>
              <a:uLnTx/>
              <a:uFillTx/>
              <a:latin typeface="+mj-lt"/>
              <a:ea typeface="Verdana" panose="020B0604030504040204" pitchFamily="34" charset="0"/>
              <a:cs typeface="Verdana" panose="020B0604030504040204" pitchFamily="34" charset="0"/>
            </a:endParaRPr>
          </a:p>
        </p:txBody>
      </p:sp>
      <p:grpSp>
        <p:nvGrpSpPr>
          <p:cNvPr id="448" name="Woman29" descr="{&quot;Key&quot;:&quot;POWER_USER_SHAPE_ICON&quot;,&quot;Value&quot;:&quot;POWER_USER_SHAPE_ICON_STYLE_1&quot;}">
            <a:extLst>
              <a:ext uri="{FF2B5EF4-FFF2-40B4-BE49-F238E27FC236}">
                <a16:creationId xmlns:a16="http://schemas.microsoft.com/office/drawing/2014/main" id="{790B3B70-2B16-BBBD-BF3B-C6828B9D671D}"/>
              </a:ext>
            </a:extLst>
          </p:cNvPr>
          <p:cNvGrpSpPr>
            <a:grpSpLocks noChangeAspect="1"/>
          </p:cNvGrpSpPr>
          <p:nvPr/>
        </p:nvGrpSpPr>
        <p:grpSpPr>
          <a:xfrm>
            <a:off x="8234678" y="5064585"/>
            <a:ext cx="288000" cy="346700"/>
            <a:chOff x="3049573" y="285562"/>
            <a:chExt cx="588025" cy="755384"/>
          </a:xfrm>
        </p:grpSpPr>
        <p:sp>
          <p:nvSpPr>
            <p:cNvPr id="449" name="Freeform: Shape 448">
              <a:extLst>
                <a:ext uri="{FF2B5EF4-FFF2-40B4-BE49-F238E27FC236}">
                  <a16:creationId xmlns:a16="http://schemas.microsoft.com/office/drawing/2014/main" id="{A5BD09C8-89CD-D9FD-C6D1-50E7D07F8D4C}"/>
                </a:ext>
              </a:extLst>
            </p:cNvPr>
            <p:cNvSpPr/>
            <p:nvPr/>
          </p:nvSpPr>
          <p:spPr>
            <a:xfrm>
              <a:off x="3209793" y="747246"/>
              <a:ext cx="37681" cy="292030"/>
            </a:xfrm>
            <a:custGeom>
              <a:avLst/>
              <a:gdLst>
                <a:gd name="connsiteX0" fmla="*/ 38981 w 37681"/>
                <a:gd name="connsiteY0" fmla="*/ 293902 h 292030"/>
                <a:gd name="connsiteX1" fmla="*/ 0 w 37681"/>
                <a:gd name="connsiteY1" fmla="*/ 0 h 292030"/>
              </a:gdLst>
              <a:ahLst/>
              <a:cxnLst>
                <a:cxn ang="0">
                  <a:pos x="connsiteX0" y="connsiteY0"/>
                </a:cxn>
                <a:cxn ang="0">
                  <a:pos x="connsiteX1" y="connsiteY1"/>
                </a:cxn>
              </a:cxnLst>
              <a:rect l="l" t="t" r="r" b="b"/>
              <a:pathLst>
                <a:path w="37681" h="292030">
                  <a:moveTo>
                    <a:pt x="38981" y="293902"/>
                  </a:moveTo>
                  <a:cubicBezTo>
                    <a:pt x="38981" y="153702"/>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0" name="Freeform: Shape 449">
              <a:extLst>
                <a:ext uri="{FF2B5EF4-FFF2-40B4-BE49-F238E27FC236}">
                  <a16:creationId xmlns:a16="http://schemas.microsoft.com/office/drawing/2014/main" id="{D2522697-345F-75A7-DB24-5F29FCE7E44E}"/>
                </a:ext>
              </a:extLst>
            </p:cNvPr>
            <p:cNvSpPr/>
            <p:nvPr/>
          </p:nvSpPr>
          <p:spPr>
            <a:xfrm>
              <a:off x="3445840" y="747246"/>
              <a:ext cx="37681" cy="292030"/>
            </a:xfrm>
            <a:custGeom>
              <a:avLst/>
              <a:gdLst>
                <a:gd name="connsiteX0" fmla="*/ 0 w 37681"/>
                <a:gd name="connsiteY0" fmla="*/ 293902 h 292030"/>
                <a:gd name="connsiteX1" fmla="*/ 38981 w 37681"/>
                <a:gd name="connsiteY1" fmla="*/ 0 h 292030"/>
              </a:gdLst>
              <a:ahLst/>
              <a:cxnLst>
                <a:cxn ang="0">
                  <a:pos x="connsiteX0" y="connsiteY0"/>
                </a:cxn>
                <a:cxn ang="0">
                  <a:pos x="connsiteX1" y="connsiteY1"/>
                </a:cxn>
              </a:cxnLst>
              <a:rect l="l" t="t" r="r" b="b"/>
              <a:pathLst>
                <a:path w="37681" h="292030">
                  <a:moveTo>
                    <a:pt x="0" y="293902"/>
                  </a:moveTo>
                  <a:cubicBezTo>
                    <a:pt x="0" y="153702"/>
                    <a:pt x="38981" y="0"/>
                    <a:pt x="38981"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1" name="Freeform: Shape 450">
              <a:extLst>
                <a:ext uri="{FF2B5EF4-FFF2-40B4-BE49-F238E27FC236}">
                  <a16:creationId xmlns:a16="http://schemas.microsoft.com/office/drawing/2014/main" id="{A68D4F8D-BF66-FB3E-E90D-AA90F2266310}"/>
                </a:ext>
              </a:extLst>
            </p:cNvPr>
            <p:cNvSpPr/>
            <p:nvPr/>
          </p:nvSpPr>
          <p:spPr>
            <a:xfrm>
              <a:off x="3229595" y="847629"/>
              <a:ext cx="226088" cy="37681"/>
            </a:xfrm>
            <a:custGeom>
              <a:avLst/>
              <a:gdLst>
                <a:gd name="connsiteX0" fmla="*/ 0 w 226087"/>
                <a:gd name="connsiteY0" fmla="*/ 0 h 37681"/>
                <a:gd name="connsiteX1" fmla="*/ 117705 w 226087"/>
                <a:gd name="connsiteY1" fmla="*/ 39629 h 37681"/>
                <a:gd name="connsiteX2" fmla="*/ 235415 w 226087"/>
                <a:gd name="connsiteY2" fmla="*/ 0 h 37681"/>
              </a:gdLst>
              <a:ahLst/>
              <a:cxnLst>
                <a:cxn ang="0">
                  <a:pos x="connsiteX0" y="connsiteY0"/>
                </a:cxn>
                <a:cxn ang="0">
                  <a:pos x="connsiteX1" y="connsiteY1"/>
                </a:cxn>
                <a:cxn ang="0">
                  <a:pos x="connsiteX2" y="connsiteY2"/>
                </a:cxn>
              </a:cxnLst>
              <a:rect l="l" t="t" r="r" b="b"/>
              <a:pathLst>
                <a:path w="226087" h="37681">
                  <a:moveTo>
                    <a:pt x="0" y="0"/>
                  </a:moveTo>
                  <a:cubicBezTo>
                    <a:pt x="23527" y="23677"/>
                    <a:pt x="67370" y="39629"/>
                    <a:pt x="117705" y="39629"/>
                  </a:cubicBezTo>
                  <a:cubicBezTo>
                    <a:pt x="168040" y="39629"/>
                    <a:pt x="211888" y="23677"/>
                    <a:pt x="235415" y="0"/>
                  </a:cubicBezTo>
                </a:path>
              </a:pathLst>
            </a:custGeom>
            <a:noFill/>
            <a:ln w="19050" cap="flat">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2" name="Freeform: Shape 451">
              <a:extLst>
                <a:ext uri="{FF2B5EF4-FFF2-40B4-BE49-F238E27FC236}">
                  <a16:creationId xmlns:a16="http://schemas.microsoft.com/office/drawing/2014/main" id="{92091459-E29A-5791-E553-382F2158AF59}"/>
                </a:ext>
              </a:extLst>
            </p:cNvPr>
            <p:cNvSpPr/>
            <p:nvPr/>
          </p:nvSpPr>
          <p:spPr>
            <a:xfrm>
              <a:off x="3049573" y="466306"/>
              <a:ext cx="405074" cy="574640"/>
            </a:xfrm>
            <a:custGeom>
              <a:avLst/>
              <a:gdLst>
                <a:gd name="connsiteX0" fmla="*/ 7668 w 405074"/>
                <a:gd name="connsiteY0" fmla="*/ 574841 h 574640"/>
                <a:gd name="connsiteX1" fmla="*/ 0 w 405074"/>
                <a:gd name="connsiteY1" fmla="*/ 427884 h 574640"/>
                <a:gd name="connsiteX2" fmla="*/ 160220 w 405074"/>
                <a:gd name="connsiteY2" fmla="*/ 280939 h 574640"/>
                <a:gd name="connsiteX3" fmla="*/ 223296 w 405074"/>
                <a:gd name="connsiteY3" fmla="*/ 264310 h 574640"/>
                <a:gd name="connsiteX4" fmla="*/ 220838 w 405074"/>
                <a:gd name="connsiteY4" fmla="*/ 199937 h 574640"/>
                <a:gd name="connsiteX5" fmla="*/ 189393 w 405074"/>
                <a:gd name="connsiteY5" fmla="*/ 0 h 574640"/>
                <a:gd name="connsiteX6" fmla="*/ 412242 w 405074"/>
                <a:gd name="connsiteY6" fmla="*/ 21667 h 57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5074" h="574640">
                  <a:moveTo>
                    <a:pt x="7668" y="574841"/>
                  </a:moveTo>
                  <a:lnTo>
                    <a:pt x="0" y="427884"/>
                  </a:lnTo>
                  <a:cubicBezTo>
                    <a:pt x="0" y="352283"/>
                    <a:pt x="75579" y="308886"/>
                    <a:pt x="160220" y="280939"/>
                  </a:cubicBezTo>
                  <a:cubicBezTo>
                    <a:pt x="176734" y="275488"/>
                    <a:pt x="223296" y="264310"/>
                    <a:pt x="223296" y="264310"/>
                  </a:cubicBezTo>
                  <a:cubicBezTo>
                    <a:pt x="223983" y="247604"/>
                    <a:pt x="223233" y="219645"/>
                    <a:pt x="220838" y="199937"/>
                  </a:cubicBezTo>
                  <a:cubicBezTo>
                    <a:pt x="170420" y="131972"/>
                    <a:pt x="174300" y="35848"/>
                    <a:pt x="189393" y="0"/>
                  </a:cubicBezTo>
                  <a:cubicBezTo>
                    <a:pt x="225352" y="22006"/>
                    <a:pt x="314663" y="46047"/>
                    <a:pt x="412242" y="21667"/>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3" name="Freeform: Shape 452">
              <a:extLst>
                <a:ext uri="{FF2B5EF4-FFF2-40B4-BE49-F238E27FC236}">
                  <a16:creationId xmlns:a16="http://schemas.microsoft.com/office/drawing/2014/main" id="{1F55CAAF-97D0-13FF-B750-F3596BB82C35}"/>
                </a:ext>
              </a:extLst>
            </p:cNvPr>
            <p:cNvSpPr/>
            <p:nvPr/>
          </p:nvSpPr>
          <p:spPr>
            <a:xfrm>
              <a:off x="3383249" y="443836"/>
              <a:ext cx="254349" cy="593481"/>
            </a:xfrm>
            <a:custGeom>
              <a:avLst/>
              <a:gdLst>
                <a:gd name="connsiteX0" fmla="*/ 254119 w 254348"/>
                <a:gd name="connsiteY0" fmla="*/ 597312 h 593480"/>
                <a:gd name="connsiteX1" fmla="*/ 261792 w 254348"/>
                <a:gd name="connsiteY1" fmla="*/ 450355 h 593480"/>
                <a:gd name="connsiteX2" fmla="*/ 101573 w 254348"/>
                <a:gd name="connsiteY2" fmla="*/ 303410 h 593480"/>
                <a:gd name="connsiteX3" fmla="*/ 38456 w 254348"/>
                <a:gd name="connsiteY3" fmla="*/ 286730 h 593480"/>
                <a:gd name="connsiteX4" fmla="*/ 40806 w 254348"/>
                <a:gd name="connsiteY4" fmla="*/ 223601 h 593480"/>
                <a:gd name="connsiteX5" fmla="*/ 78567 w 254348"/>
                <a:gd name="connsiteY5" fmla="*/ 44138 h 593480"/>
                <a:gd name="connsiteX6" fmla="*/ 0 w 254348"/>
                <a:gd name="connsiteY6" fmla="*/ 0 h 59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348" h="593480">
                  <a:moveTo>
                    <a:pt x="254119" y="597312"/>
                  </a:moveTo>
                  <a:lnTo>
                    <a:pt x="261792" y="450355"/>
                  </a:lnTo>
                  <a:cubicBezTo>
                    <a:pt x="261792" y="374754"/>
                    <a:pt x="192421" y="327174"/>
                    <a:pt x="101573" y="303410"/>
                  </a:cubicBezTo>
                  <a:cubicBezTo>
                    <a:pt x="85779" y="299278"/>
                    <a:pt x="38456" y="286730"/>
                    <a:pt x="38456" y="286730"/>
                  </a:cubicBezTo>
                  <a:cubicBezTo>
                    <a:pt x="37774" y="270363"/>
                    <a:pt x="38466" y="242756"/>
                    <a:pt x="40806" y="223601"/>
                  </a:cubicBezTo>
                  <a:cubicBezTo>
                    <a:pt x="93099" y="152522"/>
                    <a:pt x="96465" y="83929"/>
                    <a:pt x="78567" y="44138"/>
                  </a:cubicBezTo>
                  <a:cubicBezTo>
                    <a:pt x="39315" y="31703"/>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4" name="Freeform: Shape 453">
              <a:extLst>
                <a:ext uri="{FF2B5EF4-FFF2-40B4-BE49-F238E27FC236}">
                  <a16:creationId xmlns:a16="http://schemas.microsoft.com/office/drawing/2014/main" id="{2AFB458A-E8A2-3D6C-5AF0-56D02B233E84}"/>
                </a:ext>
              </a:extLst>
            </p:cNvPr>
            <p:cNvSpPr/>
            <p:nvPr/>
          </p:nvSpPr>
          <p:spPr>
            <a:xfrm>
              <a:off x="3152851" y="285562"/>
              <a:ext cx="386234" cy="480437"/>
            </a:xfrm>
            <a:custGeom>
              <a:avLst/>
              <a:gdLst>
                <a:gd name="connsiteX0" fmla="*/ 383695 w 386233"/>
                <a:gd name="connsiteY0" fmla="*/ 479344 h 480436"/>
                <a:gd name="connsiteX1" fmla="*/ 388714 w 386233"/>
                <a:gd name="connsiteY1" fmla="*/ 209470 h 480436"/>
                <a:gd name="connsiteX2" fmla="*/ 194444 w 386233"/>
                <a:gd name="connsiteY2" fmla="*/ 0 h 480436"/>
                <a:gd name="connsiteX3" fmla="*/ 107 w 386233"/>
                <a:gd name="connsiteY3" fmla="*/ 209646 h 480436"/>
                <a:gd name="connsiteX4" fmla="*/ 792 w 386233"/>
                <a:gd name="connsiteY4" fmla="*/ 483062 h 480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33" h="480436">
                  <a:moveTo>
                    <a:pt x="383695" y="479344"/>
                  </a:moveTo>
                  <a:cubicBezTo>
                    <a:pt x="334827" y="447063"/>
                    <a:pt x="391221" y="320103"/>
                    <a:pt x="388714" y="209470"/>
                  </a:cubicBezTo>
                  <a:cubicBezTo>
                    <a:pt x="388837" y="102141"/>
                    <a:pt x="307022" y="0"/>
                    <a:pt x="194444" y="0"/>
                  </a:cubicBezTo>
                  <a:cubicBezTo>
                    <a:pt x="83073" y="0"/>
                    <a:pt x="107" y="102292"/>
                    <a:pt x="107" y="209646"/>
                  </a:cubicBezTo>
                  <a:cubicBezTo>
                    <a:pt x="-2593" y="321949"/>
                    <a:pt x="47325" y="453168"/>
                    <a:pt x="792" y="483062"/>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55" name="Employee6" descr="{&quot;Key&quot;:&quot;POWER_USER_SHAPE_ICON&quot;,&quot;Value&quot;:&quot;POWER_USER_SHAPE_ICON_STYLE_1&quot;}">
            <a:extLst>
              <a:ext uri="{FF2B5EF4-FFF2-40B4-BE49-F238E27FC236}">
                <a16:creationId xmlns:a16="http://schemas.microsoft.com/office/drawing/2014/main" id="{68DA5E2A-F19B-3161-CAF5-D60DEBD536EE}"/>
              </a:ext>
            </a:extLst>
          </p:cNvPr>
          <p:cNvGrpSpPr>
            <a:grpSpLocks noChangeAspect="1"/>
          </p:cNvGrpSpPr>
          <p:nvPr/>
        </p:nvGrpSpPr>
        <p:grpSpPr>
          <a:xfrm>
            <a:off x="8538982" y="5045163"/>
            <a:ext cx="288000" cy="342474"/>
            <a:chOff x="3584576" y="3348038"/>
            <a:chExt cx="230188" cy="292100"/>
          </a:xfrm>
          <a:solidFill>
            <a:schemeClr val="accent1"/>
          </a:solidFill>
        </p:grpSpPr>
        <p:sp>
          <p:nvSpPr>
            <p:cNvPr id="456" name="Freeform 1099">
              <a:extLst>
                <a:ext uri="{FF2B5EF4-FFF2-40B4-BE49-F238E27FC236}">
                  <a16:creationId xmlns:a16="http://schemas.microsoft.com/office/drawing/2014/main" id="{35661EA0-F875-25B8-7A42-BF50B4B1410D}"/>
                </a:ext>
              </a:extLst>
            </p:cNvPr>
            <p:cNvSpPr>
              <a:spLocks/>
            </p:cNvSpPr>
            <p:nvPr/>
          </p:nvSpPr>
          <p:spPr bwMode="auto">
            <a:xfrm>
              <a:off x="3621088" y="3433763"/>
              <a:ext cx="44450" cy="36513"/>
            </a:xfrm>
            <a:custGeom>
              <a:avLst/>
              <a:gdLst>
                <a:gd name="T0" fmla="*/ 109 w 218"/>
                <a:gd name="T1" fmla="*/ 159 h 176"/>
                <a:gd name="T2" fmla="*/ 109 w 218"/>
                <a:gd name="T3" fmla="*/ 143 h 176"/>
                <a:gd name="T4" fmla="*/ 55 w 218"/>
                <a:gd name="T5" fmla="*/ 120 h 176"/>
                <a:gd name="T6" fmla="*/ 33 w 218"/>
                <a:gd name="T7" fmla="*/ 67 h 176"/>
                <a:gd name="T8" fmla="*/ 33 w 218"/>
                <a:gd name="T9" fmla="*/ 33 h 176"/>
                <a:gd name="T10" fmla="*/ 185 w 218"/>
                <a:gd name="T11" fmla="*/ 33 h 176"/>
                <a:gd name="T12" fmla="*/ 185 w 218"/>
                <a:gd name="T13" fmla="*/ 67 h 176"/>
                <a:gd name="T14" fmla="*/ 163 w 218"/>
                <a:gd name="T15" fmla="*/ 120 h 176"/>
                <a:gd name="T16" fmla="*/ 109 w 218"/>
                <a:gd name="T17" fmla="*/ 143 h 176"/>
                <a:gd name="T18" fmla="*/ 109 w 218"/>
                <a:gd name="T19" fmla="*/ 159 h 176"/>
                <a:gd name="T20" fmla="*/ 109 w 218"/>
                <a:gd name="T21" fmla="*/ 176 h 176"/>
                <a:gd name="T22" fmla="*/ 218 w 218"/>
                <a:gd name="T23" fmla="*/ 67 h 176"/>
                <a:gd name="T24" fmla="*/ 218 w 218"/>
                <a:gd name="T25" fmla="*/ 0 h 176"/>
                <a:gd name="T26" fmla="*/ 0 w 218"/>
                <a:gd name="T27" fmla="*/ 0 h 176"/>
                <a:gd name="T28" fmla="*/ 0 w 218"/>
                <a:gd name="T29" fmla="*/ 67 h 176"/>
                <a:gd name="T30" fmla="*/ 109 w 218"/>
                <a:gd name="T31" fmla="*/ 176 h 176"/>
                <a:gd name="T32" fmla="*/ 109 w 218"/>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8" h="176">
                  <a:moveTo>
                    <a:pt x="109" y="159"/>
                  </a:moveTo>
                  <a:lnTo>
                    <a:pt x="109" y="143"/>
                  </a:lnTo>
                  <a:cubicBezTo>
                    <a:pt x="88" y="143"/>
                    <a:pt x="69" y="134"/>
                    <a:pt x="55" y="120"/>
                  </a:cubicBezTo>
                  <a:cubicBezTo>
                    <a:pt x="41" y="107"/>
                    <a:pt x="33" y="88"/>
                    <a:pt x="33" y="67"/>
                  </a:cubicBezTo>
                  <a:lnTo>
                    <a:pt x="33" y="33"/>
                  </a:lnTo>
                  <a:lnTo>
                    <a:pt x="185" y="33"/>
                  </a:lnTo>
                  <a:lnTo>
                    <a:pt x="185" y="67"/>
                  </a:lnTo>
                  <a:cubicBezTo>
                    <a:pt x="185" y="88"/>
                    <a:pt x="176" y="107"/>
                    <a:pt x="163" y="120"/>
                  </a:cubicBezTo>
                  <a:cubicBezTo>
                    <a:pt x="149" y="134"/>
                    <a:pt x="130" y="143"/>
                    <a:pt x="109" y="143"/>
                  </a:cubicBezTo>
                  <a:lnTo>
                    <a:pt x="109" y="159"/>
                  </a:lnTo>
                  <a:lnTo>
                    <a:pt x="109" y="176"/>
                  </a:lnTo>
                  <a:cubicBezTo>
                    <a:pt x="169" y="176"/>
                    <a:pt x="218" y="127"/>
                    <a:pt x="218" y="67"/>
                  </a:cubicBezTo>
                  <a:lnTo>
                    <a:pt x="218" y="0"/>
                  </a:lnTo>
                  <a:lnTo>
                    <a:pt x="0" y="0"/>
                  </a:lnTo>
                  <a:lnTo>
                    <a:pt x="0" y="67"/>
                  </a:lnTo>
                  <a:cubicBezTo>
                    <a:pt x="0" y="127"/>
                    <a:pt x="48" y="176"/>
                    <a:pt x="109" y="176"/>
                  </a:cubicBezTo>
                  <a:lnTo>
                    <a:pt x="109" y="159"/>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7" name="Freeform 1100">
              <a:extLst>
                <a:ext uri="{FF2B5EF4-FFF2-40B4-BE49-F238E27FC236}">
                  <a16:creationId xmlns:a16="http://schemas.microsoft.com/office/drawing/2014/main" id="{7D7C623C-5CA1-E8BE-F6E9-4996376C74BB}"/>
                </a:ext>
              </a:extLst>
            </p:cNvPr>
            <p:cNvSpPr>
              <a:spLocks/>
            </p:cNvSpPr>
            <p:nvPr/>
          </p:nvSpPr>
          <p:spPr bwMode="auto">
            <a:xfrm>
              <a:off x="3671888" y="3433763"/>
              <a:ext cx="44450" cy="36513"/>
            </a:xfrm>
            <a:custGeom>
              <a:avLst/>
              <a:gdLst>
                <a:gd name="T0" fmla="*/ 109 w 219"/>
                <a:gd name="T1" fmla="*/ 159 h 176"/>
                <a:gd name="T2" fmla="*/ 109 w 219"/>
                <a:gd name="T3" fmla="*/ 143 h 176"/>
                <a:gd name="T4" fmla="*/ 56 w 219"/>
                <a:gd name="T5" fmla="*/ 120 h 176"/>
                <a:gd name="T6" fmla="*/ 33 w 219"/>
                <a:gd name="T7" fmla="*/ 67 h 176"/>
                <a:gd name="T8" fmla="*/ 33 w 219"/>
                <a:gd name="T9" fmla="*/ 33 h 176"/>
                <a:gd name="T10" fmla="*/ 185 w 219"/>
                <a:gd name="T11" fmla="*/ 33 h 176"/>
                <a:gd name="T12" fmla="*/ 185 w 219"/>
                <a:gd name="T13" fmla="*/ 67 h 176"/>
                <a:gd name="T14" fmla="*/ 163 w 219"/>
                <a:gd name="T15" fmla="*/ 120 h 176"/>
                <a:gd name="T16" fmla="*/ 109 w 219"/>
                <a:gd name="T17" fmla="*/ 143 h 176"/>
                <a:gd name="T18" fmla="*/ 109 w 219"/>
                <a:gd name="T19" fmla="*/ 159 h 176"/>
                <a:gd name="T20" fmla="*/ 109 w 219"/>
                <a:gd name="T21" fmla="*/ 176 h 176"/>
                <a:gd name="T22" fmla="*/ 219 w 219"/>
                <a:gd name="T23" fmla="*/ 67 h 176"/>
                <a:gd name="T24" fmla="*/ 219 w 219"/>
                <a:gd name="T25" fmla="*/ 0 h 176"/>
                <a:gd name="T26" fmla="*/ 0 w 219"/>
                <a:gd name="T27" fmla="*/ 0 h 176"/>
                <a:gd name="T28" fmla="*/ 0 w 219"/>
                <a:gd name="T29" fmla="*/ 67 h 176"/>
                <a:gd name="T30" fmla="*/ 109 w 219"/>
                <a:gd name="T31" fmla="*/ 176 h 176"/>
                <a:gd name="T32" fmla="*/ 109 w 219"/>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9" h="176">
                  <a:moveTo>
                    <a:pt x="109" y="159"/>
                  </a:moveTo>
                  <a:lnTo>
                    <a:pt x="109" y="143"/>
                  </a:lnTo>
                  <a:cubicBezTo>
                    <a:pt x="88" y="143"/>
                    <a:pt x="69" y="134"/>
                    <a:pt x="56" y="120"/>
                  </a:cubicBezTo>
                  <a:cubicBezTo>
                    <a:pt x="42" y="107"/>
                    <a:pt x="33" y="88"/>
                    <a:pt x="33" y="67"/>
                  </a:cubicBezTo>
                  <a:lnTo>
                    <a:pt x="33" y="33"/>
                  </a:lnTo>
                  <a:lnTo>
                    <a:pt x="185" y="33"/>
                  </a:lnTo>
                  <a:lnTo>
                    <a:pt x="185" y="67"/>
                  </a:lnTo>
                  <a:cubicBezTo>
                    <a:pt x="185" y="88"/>
                    <a:pt x="177" y="107"/>
                    <a:pt x="163" y="120"/>
                  </a:cubicBezTo>
                  <a:cubicBezTo>
                    <a:pt x="149" y="134"/>
                    <a:pt x="130" y="143"/>
                    <a:pt x="109" y="143"/>
                  </a:cubicBezTo>
                  <a:lnTo>
                    <a:pt x="109" y="159"/>
                  </a:lnTo>
                  <a:lnTo>
                    <a:pt x="109" y="176"/>
                  </a:lnTo>
                  <a:cubicBezTo>
                    <a:pt x="170" y="176"/>
                    <a:pt x="219" y="127"/>
                    <a:pt x="219" y="67"/>
                  </a:cubicBezTo>
                  <a:lnTo>
                    <a:pt x="219" y="0"/>
                  </a:lnTo>
                  <a:lnTo>
                    <a:pt x="0" y="0"/>
                  </a:lnTo>
                  <a:lnTo>
                    <a:pt x="0" y="67"/>
                  </a:lnTo>
                  <a:cubicBezTo>
                    <a:pt x="0" y="127"/>
                    <a:pt x="49" y="176"/>
                    <a:pt x="109" y="176"/>
                  </a:cubicBezTo>
                  <a:lnTo>
                    <a:pt x="109" y="15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8" name="Freeform 1101">
              <a:extLst>
                <a:ext uri="{FF2B5EF4-FFF2-40B4-BE49-F238E27FC236}">
                  <a16:creationId xmlns:a16="http://schemas.microsoft.com/office/drawing/2014/main" id="{15ADDA8A-D64A-5CFC-7D09-E7F267DB0210}"/>
                </a:ext>
              </a:extLst>
            </p:cNvPr>
            <p:cNvSpPr>
              <a:spLocks/>
            </p:cNvSpPr>
            <p:nvPr/>
          </p:nvSpPr>
          <p:spPr bwMode="auto">
            <a:xfrm>
              <a:off x="3584576" y="3570288"/>
              <a:ext cx="60325" cy="69850"/>
            </a:xfrm>
            <a:custGeom>
              <a:avLst/>
              <a:gdLst>
                <a:gd name="T0" fmla="*/ 280 w 290"/>
                <a:gd name="T1" fmla="*/ 0 h 339"/>
                <a:gd name="T2" fmla="*/ 142 w 290"/>
                <a:gd name="T3" fmla="*/ 43 h 339"/>
                <a:gd name="T4" fmla="*/ 142 w 290"/>
                <a:gd name="T5" fmla="*/ 43 h 339"/>
                <a:gd name="T6" fmla="*/ 0 w 290"/>
                <a:gd name="T7" fmla="*/ 248 h 339"/>
                <a:gd name="T8" fmla="*/ 0 w 290"/>
                <a:gd name="T9" fmla="*/ 339 h 339"/>
                <a:gd name="T10" fmla="*/ 33 w 290"/>
                <a:gd name="T11" fmla="*/ 339 h 339"/>
                <a:gd name="T12" fmla="*/ 33 w 290"/>
                <a:gd name="T13" fmla="*/ 248 h 339"/>
                <a:gd name="T14" fmla="*/ 153 w 290"/>
                <a:gd name="T15" fmla="*/ 75 h 339"/>
                <a:gd name="T16" fmla="*/ 148 w 290"/>
                <a:gd name="T17" fmla="*/ 59 h 339"/>
                <a:gd name="T18" fmla="*/ 153 w 290"/>
                <a:gd name="T19" fmla="*/ 75 h 339"/>
                <a:gd name="T20" fmla="*/ 290 w 290"/>
                <a:gd name="T21" fmla="*/ 32 h 339"/>
                <a:gd name="T22" fmla="*/ 280 w 290"/>
                <a:gd name="T2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280" y="0"/>
                  </a:moveTo>
                  <a:lnTo>
                    <a:pt x="142" y="43"/>
                  </a:lnTo>
                  <a:lnTo>
                    <a:pt x="142" y="43"/>
                  </a:lnTo>
                  <a:cubicBezTo>
                    <a:pt x="56" y="75"/>
                    <a:pt x="0" y="157"/>
                    <a:pt x="0" y="248"/>
                  </a:cubicBezTo>
                  <a:lnTo>
                    <a:pt x="0" y="339"/>
                  </a:lnTo>
                  <a:lnTo>
                    <a:pt x="33" y="339"/>
                  </a:lnTo>
                  <a:lnTo>
                    <a:pt x="33" y="248"/>
                  </a:lnTo>
                  <a:cubicBezTo>
                    <a:pt x="33" y="170"/>
                    <a:pt x="81" y="101"/>
                    <a:pt x="153" y="75"/>
                  </a:cubicBezTo>
                  <a:lnTo>
                    <a:pt x="148" y="59"/>
                  </a:lnTo>
                  <a:lnTo>
                    <a:pt x="153" y="75"/>
                  </a:lnTo>
                  <a:lnTo>
                    <a:pt x="290" y="32"/>
                  </a:lnTo>
                  <a:lnTo>
                    <a:pt x="28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9" name="Freeform 1102">
              <a:extLst>
                <a:ext uri="{FF2B5EF4-FFF2-40B4-BE49-F238E27FC236}">
                  <a16:creationId xmlns:a16="http://schemas.microsoft.com/office/drawing/2014/main" id="{4D47D768-1400-5780-417A-8B307726CCEE}"/>
                </a:ext>
              </a:extLst>
            </p:cNvPr>
            <p:cNvSpPr>
              <a:spLocks/>
            </p:cNvSpPr>
            <p:nvPr/>
          </p:nvSpPr>
          <p:spPr bwMode="auto">
            <a:xfrm>
              <a:off x="3660776" y="3530600"/>
              <a:ext cx="12700" cy="25400"/>
            </a:xfrm>
            <a:custGeom>
              <a:avLst/>
              <a:gdLst>
                <a:gd name="T0" fmla="*/ 27 w 60"/>
                <a:gd name="T1" fmla="*/ 2 h 124"/>
                <a:gd name="T2" fmla="*/ 27 w 60"/>
                <a:gd name="T3" fmla="*/ 2 h 124"/>
                <a:gd name="T4" fmla="*/ 27 w 60"/>
                <a:gd name="T5" fmla="*/ 5 h 124"/>
                <a:gd name="T6" fmla="*/ 0 w 60"/>
                <a:gd name="T7" fmla="*/ 108 h 124"/>
                <a:gd name="T8" fmla="*/ 29 w 60"/>
                <a:gd name="T9" fmla="*/ 124 h 124"/>
                <a:gd name="T10" fmla="*/ 60 w 60"/>
                <a:gd name="T11" fmla="*/ 5 h 124"/>
                <a:gd name="T12" fmla="*/ 60 w 60"/>
                <a:gd name="T13" fmla="*/ 0 h 124"/>
                <a:gd name="T14" fmla="*/ 27 w 60"/>
                <a:gd name="T15" fmla="*/ 2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124">
                  <a:moveTo>
                    <a:pt x="27" y="2"/>
                  </a:moveTo>
                  <a:lnTo>
                    <a:pt x="27" y="2"/>
                  </a:lnTo>
                  <a:cubicBezTo>
                    <a:pt x="27" y="3"/>
                    <a:pt x="27" y="4"/>
                    <a:pt x="27" y="5"/>
                  </a:cubicBezTo>
                  <a:cubicBezTo>
                    <a:pt x="27" y="17"/>
                    <a:pt x="25" y="60"/>
                    <a:pt x="0" y="108"/>
                  </a:cubicBezTo>
                  <a:lnTo>
                    <a:pt x="29" y="124"/>
                  </a:lnTo>
                  <a:cubicBezTo>
                    <a:pt x="58" y="69"/>
                    <a:pt x="60" y="21"/>
                    <a:pt x="60" y="5"/>
                  </a:cubicBezTo>
                  <a:cubicBezTo>
                    <a:pt x="60" y="2"/>
                    <a:pt x="60" y="1"/>
                    <a:pt x="60" y="0"/>
                  </a:cubicBezTo>
                  <a:lnTo>
                    <a:pt x="27" y="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0" name="Freeform 1103">
              <a:extLst>
                <a:ext uri="{FF2B5EF4-FFF2-40B4-BE49-F238E27FC236}">
                  <a16:creationId xmlns:a16="http://schemas.microsoft.com/office/drawing/2014/main" id="{A8CACD4F-3C2F-BC68-F5B1-85EE10A87078}"/>
                </a:ext>
              </a:extLst>
            </p:cNvPr>
            <p:cNvSpPr>
              <a:spLocks/>
            </p:cNvSpPr>
            <p:nvPr/>
          </p:nvSpPr>
          <p:spPr bwMode="auto">
            <a:xfrm>
              <a:off x="3756026" y="3570288"/>
              <a:ext cx="58738" cy="69850"/>
            </a:xfrm>
            <a:custGeom>
              <a:avLst/>
              <a:gdLst>
                <a:gd name="T0" fmla="*/ 0 w 290"/>
                <a:gd name="T1" fmla="*/ 32 h 339"/>
                <a:gd name="T2" fmla="*/ 137 w 290"/>
                <a:gd name="T3" fmla="*/ 75 h 339"/>
                <a:gd name="T4" fmla="*/ 142 w 290"/>
                <a:gd name="T5" fmla="*/ 59 h 339"/>
                <a:gd name="T6" fmla="*/ 136 w 290"/>
                <a:gd name="T7" fmla="*/ 75 h 339"/>
                <a:gd name="T8" fmla="*/ 257 w 290"/>
                <a:gd name="T9" fmla="*/ 248 h 339"/>
                <a:gd name="T10" fmla="*/ 257 w 290"/>
                <a:gd name="T11" fmla="*/ 339 h 339"/>
                <a:gd name="T12" fmla="*/ 290 w 290"/>
                <a:gd name="T13" fmla="*/ 339 h 339"/>
                <a:gd name="T14" fmla="*/ 290 w 290"/>
                <a:gd name="T15" fmla="*/ 248 h 339"/>
                <a:gd name="T16" fmla="*/ 148 w 290"/>
                <a:gd name="T17" fmla="*/ 43 h 339"/>
                <a:gd name="T18" fmla="*/ 148 w 290"/>
                <a:gd name="T19" fmla="*/ 43 h 339"/>
                <a:gd name="T20" fmla="*/ 10 w 290"/>
                <a:gd name="T21" fmla="*/ 0 h 339"/>
                <a:gd name="T22" fmla="*/ 0 w 290"/>
                <a:gd name="T23" fmla="*/ 32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0" y="32"/>
                  </a:moveTo>
                  <a:lnTo>
                    <a:pt x="137" y="75"/>
                  </a:lnTo>
                  <a:lnTo>
                    <a:pt x="142" y="59"/>
                  </a:lnTo>
                  <a:lnTo>
                    <a:pt x="136" y="75"/>
                  </a:lnTo>
                  <a:cubicBezTo>
                    <a:pt x="209" y="101"/>
                    <a:pt x="257" y="170"/>
                    <a:pt x="257" y="248"/>
                  </a:cubicBezTo>
                  <a:lnTo>
                    <a:pt x="257" y="339"/>
                  </a:lnTo>
                  <a:lnTo>
                    <a:pt x="290" y="339"/>
                  </a:lnTo>
                  <a:lnTo>
                    <a:pt x="290" y="248"/>
                  </a:lnTo>
                  <a:cubicBezTo>
                    <a:pt x="290" y="157"/>
                    <a:pt x="233" y="75"/>
                    <a:pt x="148" y="43"/>
                  </a:cubicBezTo>
                  <a:lnTo>
                    <a:pt x="148" y="43"/>
                  </a:lnTo>
                  <a:lnTo>
                    <a:pt x="10" y="0"/>
                  </a:lnTo>
                  <a:lnTo>
                    <a:pt x="0" y="3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1" name="Freeform 1104">
              <a:extLst>
                <a:ext uri="{FF2B5EF4-FFF2-40B4-BE49-F238E27FC236}">
                  <a16:creationId xmlns:a16="http://schemas.microsoft.com/office/drawing/2014/main" id="{434048A0-CD0C-16C2-330A-89E8AB125893}"/>
                </a:ext>
              </a:extLst>
            </p:cNvPr>
            <p:cNvSpPr>
              <a:spLocks/>
            </p:cNvSpPr>
            <p:nvPr/>
          </p:nvSpPr>
          <p:spPr bwMode="auto">
            <a:xfrm>
              <a:off x="3727451" y="3522663"/>
              <a:ext cx="11113" cy="33338"/>
            </a:xfrm>
            <a:custGeom>
              <a:avLst/>
              <a:gdLst>
                <a:gd name="T0" fmla="*/ 0 w 58"/>
                <a:gd name="T1" fmla="*/ 0 h 163"/>
                <a:gd name="T2" fmla="*/ 0 w 58"/>
                <a:gd name="T3" fmla="*/ 19 h 163"/>
                <a:gd name="T4" fmla="*/ 5 w 58"/>
                <a:gd name="T5" fmla="*/ 84 h 163"/>
                <a:gd name="T6" fmla="*/ 28 w 58"/>
                <a:gd name="T7" fmla="*/ 163 h 163"/>
                <a:gd name="T8" fmla="*/ 58 w 58"/>
                <a:gd name="T9" fmla="*/ 147 h 163"/>
                <a:gd name="T10" fmla="*/ 38 w 58"/>
                <a:gd name="T11" fmla="*/ 79 h 163"/>
                <a:gd name="T12" fmla="*/ 33 w 58"/>
                <a:gd name="T13" fmla="*/ 19 h 163"/>
                <a:gd name="T14" fmla="*/ 34 w 58"/>
                <a:gd name="T15" fmla="*/ 7 h 163"/>
                <a:gd name="T16" fmla="*/ 34 w 58"/>
                <a:gd name="T17" fmla="*/ 3 h 163"/>
                <a:gd name="T18" fmla="*/ 34 w 58"/>
                <a:gd name="T19" fmla="*/ 2 h 163"/>
                <a:gd name="T20" fmla="*/ 0 w 58"/>
                <a:gd name="T2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163">
                  <a:moveTo>
                    <a:pt x="0" y="0"/>
                  </a:moveTo>
                  <a:cubicBezTo>
                    <a:pt x="0" y="0"/>
                    <a:pt x="0" y="7"/>
                    <a:pt x="0" y="19"/>
                  </a:cubicBezTo>
                  <a:cubicBezTo>
                    <a:pt x="0" y="34"/>
                    <a:pt x="1" y="58"/>
                    <a:pt x="5" y="84"/>
                  </a:cubicBezTo>
                  <a:cubicBezTo>
                    <a:pt x="9" y="109"/>
                    <a:pt x="15" y="138"/>
                    <a:pt x="28" y="163"/>
                  </a:cubicBezTo>
                  <a:lnTo>
                    <a:pt x="58" y="147"/>
                  </a:lnTo>
                  <a:cubicBezTo>
                    <a:pt x="48" y="127"/>
                    <a:pt x="41" y="102"/>
                    <a:pt x="38" y="79"/>
                  </a:cubicBezTo>
                  <a:cubicBezTo>
                    <a:pt x="34" y="55"/>
                    <a:pt x="33" y="33"/>
                    <a:pt x="33" y="19"/>
                  </a:cubicBezTo>
                  <a:cubicBezTo>
                    <a:pt x="33" y="14"/>
                    <a:pt x="33" y="9"/>
                    <a:pt x="34" y="7"/>
                  </a:cubicBezTo>
                  <a:lnTo>
                    <a:pt x="34" y="3"/>
                  </a:lnTo>
                  <a:lnTo>
                    <a:pt x="34" y="2"/>
                  </a:lnTo>
                  <a:lnTo>
                    <a:pt x="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2" name="Freeform 1105">
              <a:extLst>
                <a:ext uri="{FF2B5EF4-FFF2-40B4-BE49-F238E27FC236}">
                  <a16:creationId xmlns:a16="http://schemas.microsoft.com/office/drawing/2014/main" id="{994D2B40-5BD0-34CE-8017-C5B574DE108B}"/>
                </a:ext>
              </a:extLst>
            </p:cNvPr>
            <p:cNvSpPr>
              <a:spLocks/>
            </p:cNvSpPr>
            <p:nvPr/>
          </p:nvSpPr>
          <p:spPr bwMode="auto">
            <a:xfrm>
              <a:off x="3611563" y="3348038"/>
              <a:ext cx="117475" cy="80963"/>
            </a:xfrm>
            <a:custGeom>
              <a:avLst/>
              <a:gdLst>
                <a:gd name="T0" fmla="*/ 543 w 573"/>
                <a:gd name="T1" fmla="*/ 8 h 389"/>
                <a:gd name="T2" fmla="*/ 419 w 573"/>
                <a:gd name="T3" fmla="*/ 0 h 389"/>
                <a:gd name="T4" fmla="*/ 162 w 573"/>
                <a:gd name="T5" fmla="*/ 46 h 389"/>
                <a:gd name="T6" fmla="*/ 53 w 573"/>
                <a:gd name="T7" fmla="*/ 128 h 389"/>
                <a:gd name="T8" fmla="*/ 1 w 573"/>
                <a:gd name="T9" fmla="*/ 269 h 389"/>
                <a:gd name="T10" fmla="*/ 0 w 573"/>
                <a:gd name="T11" fmla="*/ 287 h 389"/>
                <a:gd name="T12" fmla="*/ 221 w 573"/>
                <a:gd name="T13" fmla="*/ 287 h 389"/>
                <a:gd name="T14" fmla="*/ 221 w 573"/>
                <a:gd name="T15" fmla="*/ 270 h 389"/>
                <a:gd name="T16" fmla="*/ 206 w 573"/>
                <a:gd name="T17" fmla="*/ 277 h 389"/>
                <a:gd name="T18" fmla="*/ 261 w 573"/>
                <a:gd name="T19" fmla="*/ 335 h 389"/>
                <a:gd name="T20" fmla="*/ 476 w 573"/>
                <a:gd name="T21" fmla="*/ 389 h 389"/>
                <a:gd name="T22" fmla="*/ 573 w 573"/>
                <a:gd name="T23" fmla="*/ 389 h 389"/>
                <a:gd name="T24" fmla="*/ 573 w 573"/>
                <a:gd name="T25" fmla="*/ 356 h 389"/>
                <a:gd name="T26" fmla="*/ 476 w 573"/>
                <a:gd name="T27" fmla="*/ 356 h 389"/>
                <a:gd name="T28" fmla="*/ 280 w 573"/>
                <a:gd name="T29" fmla="*/ 308 h 389"/>
                <a:gd name="T30" fmla="*/ 244 w 573"/>
                <a:gd name="T31" fmla="*/ 276 h 389"/>
                <a:gd name="T32" fmla="*/ 237 w 573"/>
                <a:gd name="T33" fmla="*/ 266 h 389"/>
                <a:gd name="T34" fmla="*/ 236 w 573"/>
                <a:gd name="T35" fmla="*/ 263 h 389"/>
                <a:gd name="T36" fmla="*/ 236 w 573"/>
                <a:gd name="T37" fmla="*/ 263 h 389"/>
                <a:gd name="T38" fmla="*/ 236 w 573"/>
                <a:gd name="T39" fmla="*/ 263 h 389"/>
                <a:gd name="T40" fmla="*/ 226 w 573"/>
                <a:gd name="T41" fmla="*/ 267 h 389"/>
                <a:gd name="T42" fmla="*/ 236 w 573"/>
                <a:gd name="T43" fmla="*/ 263 h 389"/>
                <a:gd name="T44" fmla="*/ 236 w 573"/>
                <a:gd name="T45" fmla="*/ 263 h 389"/>
                <a:gd name="T46" fmla="*/ 226 w 573"/>
                <a:gd name="T47" fmla="*/ 267 h 389"/>
                <a:gd name="T48" fmla="*/ 236 w 573"/>
                <a:gd name="T49" fmla="*/ 263 h 389"/>
                <a:gd name="T50" fmla="*/ 231 w 573"/>
                <a:gd name="T51" fmla="*/ 253 h 389"/>
                <a:gd name="T52" fmla="*/ 18 w 573"/>
                <a:gd name="T53" fmla="*/ 253 h 389"/>
                <a:gd name="T54" fmla="*/ 18 w 573"/>
                <a:gd name="T55" fmla="*/ 270 h 389"/>
                <a:gd name="T56" fmla="*/ 35 w 573"/>
                <a:gd name="T57" fmla="*/ 271 h 389"/>
                <a:gd name="T58" fmla="*/ 80 w 573"/>
                <a:gd name="T59" fmla="*/ 148 h 389"/>
                <a:gd name="T60" fmla="*/ 235 w 573"/>
                <a:gd name="T61" fmla="*/ 55 h 389"/>
                <a:gd name="T62" fmla="*/ 419 w 573"/>
                <a:gd name="T63" fmla="*/ 33 h 389"/>
                <a:gd name="T64" fmla="*/ 505 w 573"/>
                <a:gd name="T65" fmla="*/ 37 h 389"/>
                <a:gd name="T66" fmla="*/ 529 w 573"/>
                <a:gd name="T67" fmla="*/ 39 h 389"/>
                <a:gd name="T68" fmla="*/ 536 w 573"/>
                <a:gd name="T69" fmla="*/ 40 h 389"/>
                <a:gd name="T70" fmla="*/ 538 w 573"/>
                <a:gd name="T71" fmla="*/ 41 h 389"/>
                <a:gd name="T72" fmla="*/ 543 w 573"/>
                <a:gd name="T73" fmla="*/ 8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73" h="389">
                  <a:moveTo>
                    <a:pt x="543" y="8"/>
                  </a:moveTo>
                  <a:cubicBezTo>
                    <a:pt x="542" y="7"/>
                    <a:pt x="491" y="0"/>
                    <a:pt x="419" y="0"/>
                  </a:cubicBezTo>
                  <a:cubicBezTo>
                    <a:pt x="343" y="0"/>
                    <a:pt x="245" y="8"/>
                    <a:pt x="162" y="46"/>
                  </a:cubicBezTo>
                  <a:cubicBezTo>
                    <a:pt x="120" y="65"/>
                    <a:pt x="82" y="91"/>
                    <a:pt x="53" y="128"/>
                  </a:cubicBezTo>
                  <a:cubicBezTo>
                    <a:pt x="25" y="164"/>
                    <a:pt x="6" y="211"/>
                    <a:pt x="1" y="269"/>
                  </a:cubicBezTo>
                  <a:lnTo>
                    <a:pt x="0" y="287"/>
                  </a:lnTo>
                  <a:lnTo>
                    <a:pt x="221" y="287"/>
                  </a:lnTo>
                  <a:lnTo>
                    <a:pt x="221" y="270"/>
                  </a:lnTo>
                  <a:lnTo>
                    <a:pt x="206" y="277"/>
                  </a:lnTo>
                  <a:cubicBezTo>
                    <a:pt x="207" y="279"/>
                    <a:pt x="220" y="307"/>
                    <a:pt x="261" y="335"/>
                  </a:cubicBezTo>
                  <a:cubicBezTo>
                    <a:pt x="302" y="363"/>
                    <a:pt x="370" y="389"/>
                    <a:pt x="476" y="389"/>
                  </a:cubicBezTo>
                  <a:lnTo>
                    <a:pt x="573" y="389"/>
                  </a:lnTo>
                  <a:lnTo>
                    <a:pt x="573" y="356"/>
                  </a:lnTo>
                  <a:lnTo>
                    <a:pt x="476" y="356"/>
                  </a:lnTo>
                  <a:cubicBezTo>
                    <a:pt x="375" y="356"/>
                    <a:pt x="315" y="331"/>
                    <a:pt x="280" y="308"/>
                  </a:cubicBezTo>
                  <a:cubicBezTo>
                    <a:pt x="262" y="296"/>
                    <a:pt x="251" y="284"/>
                    <a:pt x="244" y="276"/>
                  </a:cubicBezTo>
                  <a:cubicBezTo>
                    <a:pt x="241" y="271"/>
                    <a:pt x="239" y="268"/>
                    <a:pt x="237" y="266"/>
                  </a:cubicBezTo>
                  <a:lnTo>
                    <a:pt x="236" y="263"/>
                  </a:lnTo>
                  <a:lnTo>
                    <a:pt x="236" y="263"/>
                  </a:lnTo>
                  <a:lnTo>
                    <a:pt x="236" y="263"/>
                  </a:lnTo>
                  <a:lnTo>
                    <a:pt x="226" y="267"/>
                  </a:lnTo>
                  <a:lnTo>
                    <a:pt x="236" y="263"/>
                  </a:lnTo>
                  <a:lnTo>
                    <a:pt x="236" y="263"/>
                  </a:lnTo>
                  <a:lnTo>
                    <a:pt x="226" y="267"/>
                  </a:lnTo>
                  <a:lnTo>
                    <a:pt x="236" y="263"/>
                  </a:lnTo>
                  <a:lnTo>
                    <a:pt x="231" y="253"/>
                  </a:lnTo>
                  <a:lnTo>
                    <a:pt x="18" y="253"/>
                  </a:lnTo>
                  <a:lnTo>
                    <a:pt x="18" y="270"/>
                  </a:lnTo>
                  <a:lnTo>
                    <a:pt x="35" y="271"/>
                  </a:lnTo>
                  <a:cubicBezTo>
                    <a:pt x="39" y="219"/>
                    <a:pt x="55" y="180"/>
                    <a:pt x="80" y="148"/>
                  </a:cubicBezTo>
                  <a:cubicBezTo>
                    <a:pt x="117" y="101"/>
                    <a:pt x="173" y="72"/>
                    <a:pt x="235" y="55"/>
                  </a:cubicBezTo>
                  <a:cubicBezTo>
                    <a:pt x="297" y="38"/>
                    <a:pt x="364" y="33"/>
                    <a:pt x="419" y="33"/>
                  </a:cubicBezTo>
                  <a:cubicBezTo>
                    <a:pt x="454" y="33"/>
                    <a:pt x="484" y="35"/>
                    <a:pt x="505" y="37"/>
                  </a:cubicBezTo>
                  <a:cubicBezTo>
                    <a:pt x="515" y="38"/>
                    <a:pt x="524" y="39"/>
                    <a:pt x="529" y="39"/>
                  </a:cubicBezTo>
                  <a:cubicBezTo>
                    <a:pt x="532" y="40"/>
                    <a:pt x="534" y="40"/>
                    <a:pt x="536" y="40"/>
                  </a:cubicBezTo>
                  <a:lnTo>
                    <a:pt x="538" y="41"/>
                  </a:lnTo>
                  <a:lnTo>
                    <a:pt x="543" y="8"/>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3" name="Freeform 1106">
              <a:extLst>
                <a:ext uri="{FF2B5EF4-FFF2-40B4-BE49-F238E27FC236}">
                  <a16:creationId xmlns:a16="http://schemas.microsoft.com/office/drawing/2014/main" id="{6390EC1C-1201-A3DA-6239-705EA4976178}"/>
                </a:ext>
              </a:extLst>
            </p:cNvPr>
            <p:cNvSpPr>
              <a:spLocks/>
            </p:cNvSpPr>
            <p:nvPr/>
          </p:nvSpPr>
          <p:spPr bwMode="auto">
            <a:xfrm>
              <a:off x="3716338" y="3362325"/>
              <a:ext cx="61913" cy="98425"/>
            </a:xfrm>
            <a:custGeom>
              <a:avLst/>
              <a:gdLst>
                <a:gd name="T0" fmla="*/ 4 w 297"/>
                <a:gd name="T1" fmla="*/ 34 h 483"/>
                <a:gd name="T2" fmla="*/ 4 w 297"/>
                <a:gd name="T3" fmla="*/ 34 h 483"/>
                <a:gd name="T4" fmla="*/ 19 w 297"/>
                <a:gd name="T5" fmla="*/ 34 h 483"/>
                <a:gd name="T6" fmla="*/ 163 w 297"/>
                <a:gd name="T7" fmla="*/ 79 h 483"/>
                <a:gd name="T8" fmla="*/ 233 w 297"/>
                <a:gd name="T9" fmla="*/ 170 h 483"/>
                <a:gd name="T10" fmla="*/ 264 w 297"/>
                <a:gd name="T11" fmla="*/ 341 h 483"/>
                <a:gd name="T12" fmla="*/ 261 w 297"/>
                <a:gd name="T13" fmla="*/ 398 h 483"/>
                <a:gd name="T14" fmla="*/ 206 w 297"/>
                <a:gd name="T15" fmla="*/ 450 h 483"/>
                <a:gd name="T16" fmla="*/ 206 w 297"/>
                <a:gd name="T17" fmla="*/ 483 h 483"/>
                <a:gd name="T18" fmla="*/ 295 w 297"/>
                <a:gd name="T19" fmla="*/ 401 h 483"/>
                <a:gd name="T20" fmla="*/ 297 w 297"/>
                <a:gd name="T21" fmla="*/ 341 h 483"/>
                <a:gd name="T22" fmla="*/ 263 w 297"/>
                <a:gd name="T23" fmla="*/ 157 h 483"/>
                <a:gd name="T24" fmla="*/ 136 w 297"/>
                <a:gd name="T25" fmla="*/ 25 h 483"/>
                <a:gd name="T26" fmla="*/ 19 w 297"/>
                <a:gd name="T27" fmla="*/ 0 h 483"/>
                <a:gd name="T28" fmla="*/ 0 w 297"/>
                <a:gd name="T29" fmla="*/ 1 h 483"/>
                <a:gd name="T30" fmla="*/ 4 w 297"/>
                <a:gd name="T31" fmla="*/ 34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7" h="483">
                  <a:moveTo>
                    <a:pt x="4" y="34"/>
                  </a:moveTo>
                  <a:lnTo>
                    <a:pt x="4" y="34"/>
                  </a:lnTo>
                  <a:cubicBezTo>
                    <a:pt x="5" y="34"/>
                    <a:pt x="10" y="34"/>
                    <a:pt x="19" y="34"/>
                  </a:cubicBezTo>
                  <a:cubicBezTo>
                    <a:pt x="48" y="34"/>
                    <a:pt x="110" y="39"/>
                    <a:pt x="163" y="79"/>
                  </a:cubicBezTo>
                  <a:cubicBezTo>
                    <a:pt x="189" y="100"/>
                    <a:pt x="214" y="128"/>
                    <a:pt x="233" y="170"/>
                  </a:cubicBezTo>
                  <a:cubicBezTo>
                    <a:pt x="251" y="212"/>
                    <a:pt x="264" y="267"/>
                    <a:pt x="264" y="341"/>
                  </a:cubicBezTo>
                  <a:cubicBezTo>
                    <a:pt x="264" y="359"/>
                    <a:pt x="263" y="378"/>
                    <a:pt x="261" y="398"/>
                  </a:cubicBezTo>
                  <a:cubicBezTo>
                    <a:pt x="259" y="428"/>
                    <a:pt x="235" y="450"/>
                    <a:pt x="206" y="450"/>
                  </a:cubicBezTo>
                  <a:lnTo>
                    <a:pt x="206" y="483"/>
                  </a:lnTo>
                  <a:cubicBezTo>
                    <a:pt x="253" y="483"/>
                    <a:pt x="291" y="447"/>
                    <a:pt x="295" y="401"/>
                  </a:cubicBezTo>
                  <a:cubicBezTo>
                    <a:pt x="296" y="380"/>
                    <a:pt x="297" y="360"/>
                    <a:pt x="297" y="341"/>
                  </a:cubicBezTo>
                  <a:cubicBezTo>
                    <a:pt x="297" y="264"/>
                    <a:pt x="284" y="204"/>
                    <a:pt x="263" y="157"/>
                  </a:cubicBezTo>
                  <a:cubicBezTo>
                    <a:pt x="232" y="86"/>
                    <a:pt x="183" y="46"/>
                    <a:pt x="136" y="25"/>
                  </a:cubicBezTo>
                  <a:cubicBezTo>
                    <a:pt x="89" y="4"/>
                    <a:pt x="44" y="0"/>
                    <a:pt x="19" y="0"/>
                  </a:cubicBezTo>
                  <a:cubicBezTo>
                    <a:pt x="8" y="0"/>
                    <a:pt x="0" y="1"/>
                    <a:pt x="0" y="1"/>
                  </a:cubicBezTo>
                  <a:lnTo>
                    <a:pt x="4" y="34"/>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4" name="Freeform 1107">
              <a:extLst>
                <a:ext uri="{FF2B5EF4-FFF2-40B4-BE49-F238E27FC236}">
                  <a16:creationId xmlns:a16="http://schemas.microsoft.com/office/drawing/2014/main" id="{33B63D74-629C-00CD-FEAF-A5A8B78778D2}"/>
                </a:ext>
              </a:extLst>
            </p:cNvPr>
            <p:cNvSpPr>
              <a:spLocks/>
            </p:cNvSpPr>
            <p:nvPr/>
          </p:nvSpPr>
          <p:spPr bwMode="auto">
            <a:xfrm>
              <a:off x="3625851" y="3400425"/>
              <a:ext cx="139700" cy="136525"/>
            </a:xfrm>
            <a:custGeom>
              <a:avLst/>
              <a:gdLst>
                <a:gd name="T0" fmla="*/ 12 w 677"/>
                <a:gd name="T1" fmla="*/ 191 h 657"/>
                <a:gd name="T2" fmla="*/ 32 w 677"/>
                <a:gd name="T3" fmla="*/ 263 h 657"/>
                <a:gd name="T4" fmla="*/ 0 w 677"/>
                <a:gd name="T5" fmla="*/ 383 h 657"/>
                <a:gd name="T6" fmla="*/ 142 w 677"/>
                <a:gd name="T7" fmla="*/ 631 h 657"/>
                <a:gd name="T8" fmla="*/ 286 w 677"/>
                <a:gd name="T9" fmla="*/ 640 h 657"/>
                <a:gd name="T10" fmla="*/ 307 w 677"/>
                <a:gd name="T11" fmla="*/ 657 h 657"/>
                <a:gd name="T12" fmla="*/ 582 w 677"/>
                <a:gd name="T13" fmla="*/ 553 h 657"/>
                <a:gd name="T14" fmla="*/ 621 w 677"/>
                <a:gd name="T15" fmla="*/ 401 h 657"/>
                <a:gd name="T16" fmla="*/ 621 w 677"/>
                <a:gd name="T17" fmla="*/ 402 h 657"/>
                <a:gd name="T18" fmla="*/ 604 w 677"/>
                <a:gd name="T19" fmla="*/ 328 h 657"/>
                <a:gd name="T20" fmla="*/ 606 w 677"/>
                <a:gd name="T21" fmla="*/ 345 h 657"/>
                <a:gd name="T22" fmla="*/ 606 w 677"/>
                <a:gd name="T23" fmla="*/ 202 h 657"/>
                <a:gd name="T24" fmla="*/ 590 w 677"/>
                <a:gd name="T25" fmla="*/ 219 h 657"/>
                <a:gd name="T26" fmla="*/ 608 w 677"/>
                <a:gd name="T27" fmla="*/ 185 h 657"/>
                <a:gd name="T28" fmla="*/ 561 w 677"/>
                <a:gd name="T29" fmla="*/ 13 h 657"/>
                <a:gd name="T30" fmla="*/ 568 w 677"/>
                <a:gd name="T31" fmla="*/ 106 h 657"/>
                <a:gd name="T32" fmla="*/ 574 w 677"/>
                <a:gd name="T33" fmla="*/ 209 h 657"/>
                <a:gd name="T34" fmla="*/ 574 w 677"/>
                <a:gd name="T35" fmla="*/ 217 h 657"/>
                <a:gd name="T36" fmla="*/ 606 w 677"/>
                <a:gd name="T37" fmla="*/ 235 h 657"/>
                <a:gd name="T38" fmla="*/ 606 w 677"/>
                <a:gd name="T39" fmla="*/ 311 h 657"/>
                <a:gd name="T40" fmla="*/ 588 w 677"/>
                <a:gd name="T41" fmla="*/ 311 h 657"/>
                <a:gd name="T42" fmla="*/ 588 w 677"/>
                <a:gd name="T43" fmla="*/ 404 h 657"/>
                <a:gd name="T44" fmla="*/ 556 w 677"/>
                <a:gd name="T45" fmla="*/ 533 h 657"/>
                <a:gd name="T46" fmla="*/ 307 w 677"/>
                <a:gd name="T47" fmla="*/ 624 h 657"/>
                <a:gd name="T48" fmla="*/ 288 w 677"/>
                <a:gd name="T49" fmla="*/ 623 h 657"/>
                <a:gd name="T50" fmla="*/ 286 w 677"/>
                <a:gd name="T51" fmla="*/ 623 h 657"/>
                <a:gd name="T52" fmla="*/ 155 w 677"/>
                <a:gd name="T53" fmla="*/ 600 h 657"/>
                <a:gd name="T54" fmla="*/ 33 w 677"/>
                <a:gd name="T55" fmla="*/ 383 h 657"/>
                <a:gd name="T56" fmla="*/ 46 w 677"/>
                <a:gd name="T57" fmla="*/ 276 h 657"/>
                <a:gd name="T58" fmla="*/ 48 w 677"/>
                <a:gd name="T59" fmla="*/ 268 h 657"/>
                <a:gd name="T60" fmla="*/ 49 w 677"/>
                <a:gd name="T61" fmla="*/ 264 h 657"/>
                <a:gd name="T62" fmla="*/ 45 w 677"/>
                <a:gd name="T63" fmla="*/ 191 h 657"/>
                <a:gd name="T64" fmla="*/ 50 w 677"/>
                <a:gd name="T65"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7" h="657">
                  <a:moveTo>
                    <a:pt x="50" y="0"/>
                  </a:moveTo>
                  <a:cubicBezTo>
                    <a:pt x="30" y="42"/>
                    <a:pt x="12" y="104"/>
                    <a:pt x="12" y="191"/>
                  </a:cubicBezTo>
                  <a:cubicBezTo>
                    <a:pt x="12" y="214"/>
                    <a:pt x="13" y="238"/>
                    <a:pt x="16" y="264"/>
                  </a:cubicBezTo>
                  <a:lnTo>
                    <a:pt x="32" y="263"/>
                  </a:lnTo>
                  <a:lnTo>
                    <a:pt x="16" y="258"/>
                  </a:lnTo>
                  <a:cubicBezTo>
                    <a:pt x="16" y="259"/>
                    <a:pt x="0" y="314"/>
                    <a:pt x="0" y="383"/>
                  </a:cubicBezTo>
                  <a:cubicBezTo>
                    <a:pt x="0" y="441"/>
                    <a:pt x="11" y="508"/>
                    <a:pt x="53" y="563"/>
                  </a:cubicBezTo>
                  <a:cubicBezTo>
                    <a:pt x="74" y="591"/>
                    <a:pt x="103" y="614"/>
                    <a:pt x="142" y="631"/>
                  </a:cubicBezTo>
                  <a:cubicBezTo>
                    <a:pt x="180" y="647"/>
                    <a:pt x="227" y="657"/>
                    <a:pt x="286" y="657"/>
                  </a:cubicBezTo>
                  <a:lnTo>
                    <a:pt x="286" y="640"/>
                  </a:lnTo>
                  <a:lnTo>
                    <a:pt x="285" y="657"/>
                  </a:lnTo>
                  <a:cubicBezTo>
                    <a:pt x="285" y="657"/>
                    <a:pt x="293" y="657"/>
                    <a:pt x="307" y="657"/>
                  </a:cubicBezTo>
                  <a:cubicBezTo>
                    <a:pt x="345" y="657"/>
                    <a:pt x="421" y="653"/>
                    <a:pt x="490" y="623"/>
                  </a:cubicBezTo>
                  <a:cubicBezTo>
                    <a:pt x="525" y="608"/>
                    <a:pt x="558" y="586"/>
                    <a:pt x="582" y="553"/>
                  </a:cubicBezTo>
                  <a:cubicBezTo>
                    <a:pt x="607" y="521"/>
                    <a:pt x="622" y="479"/>
                    <a:pt x="622" y="426"/>
                  </a:cubicBezTo>
                  <a:cubicBezTo>
                    <a:pt x="622" y="418"/>
                    <a:pt x="622" y="409"/>
                    <a:pt x="621" y="401"/>
                  </a:cubicBezTo>
                  <a:lnTo>
                    <a:pt x="604" y="402"/>
                  </a:lnTo>
                  <a:lnTo>
                    <a:pt x="621" y="402"/>
                  </a:lnTo>
                  <a:lnTo>
                    <a:pt x="621" y="328"/>
                  </a:lnTo>
                  <a:lnTo>
                    <a:pt x="604" y="328"/>
                  </a:lnTo>
                  <a:lnTo>
                    <a:pt x="604" y="345"/>
                  </a:lnTo>
                  <a:lnTo>
                    <a:pt x="606" y="345"/>
                  </a:lnTo>
                  <a:cubicBezTo>
                    <a:pt x="645" y="345"/>
                    <a:pt x="677" y="313"/>
                    <a:pt x="677" y="273"/>
                  </a:cubicBezTo>
                  <a:cubicBezTo>
                    <a:pt x="677" y="234"/>
                    <a:pt x="645" y="202"/>
                    <a:pt x="606" y="202"/>
                  </a:cubicBezTo>
                  <a:lnTo>
                    <a:pt x="590" y="202"/>
                  </a:lnTo>
                  <a:lnTo>
                    <a:pt x="590" y="219"/>
                  </a:lnTo>
                  <a:lnTo>
                    <a:pt x="607" y="220"/>
                  </a:lnTo>
                  <a:cubicBezTo>
                    <a:pt x="607" y="220"/>
                    <a:pt x="608" y="206"/>
                    <a:pt x="608" y="185"/>
                  </a:cubicBezTo>
                  <a:cubicBezTo>
                    <a:pt x="608" y="162"/>
                    <a:pt x="607" y="131"/>
                    <a:pt x="600" y="100"/>
                  </a:cubicBezTo>
                  <a:cubicBezTo>
                    <a:pt x="594" y="68"/>
                    <a:pt x="583" y="37"/>
                    <a:pt x="561" y="13"/>
                  </a:cubicBezTo>
                  <a:lnTo>
                    <a:pt x="537" y="36"/>
                  </a:lnTo>
                  <a:cubicBezTo>
                    <a:pt x="552" y="52"/>
                    <a:pt x="562" y="78"/>
                    <a:pt x="568" y="106"/>
                  </a:cubicBezTo>
                  <a:cubicBezTo>
                    <a:pt x="573" y="135"/>
                    <a:pt x="575" y="164"/>
                    <a:pt x="575" y="185"/>
                  </a:cubicBezTo>
                  <a:cubicBezTo>
                    <a:pt x="575" y="195"/>
                    <a:pt x="574" y="203"/>
                    <a:pt x="574" y="209"/>
                  </a:cubicBezTo>
                  <a:cubicBezTo>
                    <a:pt x="574" y="211"/>
                    <a:pt x="574" y="214"/>
                    <a:pt x="574" y="215"/>
                  </a:cubicBezTo>
                  <a:lnTo>
                    <a:pt x="574" y="217"/>
                  </a:lnTo>
                  <a:lnTo>
                    <a:pt x="572" y="235"/>
                  </a:lnTo>
                  <a:lnTo>
                    <a:pt x="606" y="235"/>
                  </a:lnTo>
                  <a:cubicBezTo>
                    <a:pt x="627" y="235"/>
                    <a:pt x="644" y="252"/>
                    <a:pt x="644" y="273"/>
                  </a:cubicBezTo>
                  <a:cubicBezTo>
                    <a:pt x="644" y="294"/>
                    <a:pt x="627" y="311"/>
                    <a:pt x="606" y="311"/>
                  </a:cubicBezTo>
                  <a:lnTo>
                    <a:pt x="604" y="311"/>
                  </a:lnTo>
                  <a:lnTo>
                    <a:pt x="588" y="311"/>
                  </a:lnTo>
                  <a:lnTo>
                    <a:pt x="588" y="403"/>
                  </a:lnTo>
                  <a:lnTo>
                    <a:pt x="588" y="404"/>
                  </a:lnTo>
                  <a:cubicBezTo>
                    <a:pt x="588" y="411"/>
                    <a:pt x="589" y="419"/>
                    <a:pt x="589" y="426"/>
                  </a:cubicBezTo>
                  <a:cubicBezTo>
                    <a:pt x="588" y="473"/>
                    <a:pt x="576" y="507"/>
                    <a:pt x="556" y="533"/>
                  </a:cubicBezTo>
                  <a:cubicBezTo>
                    <a:pt x="525" y="573"/>
                    <a:pt x="477" y="596"/>
                    <a:pt x="429" y="609"/>
                  </a:cubicBezTo>
                  <a:cubicBezTo>
                    <a:pt x="381" y="622"/>
                    <a:pt x="333" y="624"/>
                    <a:pt x="307" y="624"/>
                  </a:cubicBezTo>
                  <a:cubicBezTo>
                    <a:pt x="301" y="624"/>
                    <a:pt x="296" y="624"/>
                    <a:pt x="292" y="624"/>
                  </a:cubicBezTo>
                  <a:cubicBezTo>
                    <a:pt x="290" y="623"/>
                    <a:pt x="289" y="623"/>
                    <a:pt x="288" y="623"/>
                  </a:cubicBezTo>
                  <a:lnTo>
                    <a:pt x="287" y="623"/>
                  </a:lnTo>
                  <a:lnTo>
                    <a:pt x="286" y="623"/>
                  </a:lnTo>
                  <a:lnTo>
                    <a:pt x="286" y="623"/>
                  </a:lnTo>
                  <a:cubicBezTo>
                    <a:pt x="231" y="623"/>
                    <a:pt x="188" y="614"/>
                    <a:pt x="155" y="600"/>
                  </a:cubicBezTo>
                  <a:cubicBezTo>
                    <a:pt x="105" y="578"/>
                    <a:pt x="75" y="545"/>
                    <a:pt x="57" y="506"/>
                  </a:cubicBezTo>
                  <a:cubicBezTo>
                    <a:pt x="39" y="467"/>
                    <a:pt x="33" y="423"/>
                    <a:pt x="33" y="383"/>
                  </a:cubicBezTo>
                  <a:cubicBezTo>
                    <a:pt x="33" y="351"/>
                    <a:pt x="37" y="322"/>
                    <a:pt x="41" y="301"/>
                  </a:cubicBezTo>
                  <a:cubicBezTo>
                    <a:pt x="43" y="290"/>
                    <a:pt x="45" y="282"/>
                    <a:pt x="46" y="276"/>
                  </a:cubicBezTo>
                  <a:cubicBezTo>
                    <a:pt x="47" y="273"/>
                    <a:pt x="47" y="271"/>
                    <a:pt x="48" y="269"/>
                  </a:cubicBezTo>
                  <a:lnTo>
                    <a:pt x="48" y="268"/>
                  </a:lnTo>
                  <a:lnTo>
                    <a:pt x="48" y="267"/>
                  </a:lnTo>
                  <a:lnTo>
                    <a:pt x="49" y="264"/>
                  </a:lnTo>
                  <a:lnTo>
                    <a:pt x="49" y="261"/>
                  </a:lnTo>
                  <a:cubicBezTo>
                    <a:pt x="47" y="236"/>
                    <a:pt x="45" y="213"/>
                    <a:pt x="45" y="191"/>
                  </a:cubicBezTo>
                  <a:cubicBezTo>
                    <a:pt x="45" y="108"/>
                    <a:pt x="62" y="52"/>
                    <a:pt x="80" y="15"/>
                  </a:cubicBezTo>
                  <a:lnTo>
                    <a:pt x="5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5" name="Freeform 1108">
              <a:extLst>
                <a:ext uri="{FF2B5EF4-FFF2-40B4-BE49-F238E27FC236}">
                  <a16:creationId xmlns:a16="http://schemas.microsoft.com/office/drawing/2014/main" id="{0055B111-D709-099D-A5DB-09D0A13F2E39}"/>
                </a:ext>
              </a:extLst>
            </p:cNvPr>
            <p:cNvSpPr>
              <a:spLocks/>
            </p:cNvSpPr>
            <p:nvPr/>
          </p:nvSpPr>
          <p:spPr bwMode="auto">
            <a:xfrm>
              <a:off x="3656013" y="3462338"/>
              <a:ext cx="11113" cy="23813"/>
            </a:xfrm>
            <a:custGeom>
              <a:avLst/>
              <a:gdLst>
                <a:gd name="T0" fmla="*/ 39 w 57"/>
                <a:gd name="T1" fmla="*/ 0 h 113"/>
                <a:gd name="T2" fmla="*/ 20 w 57"/>
                <a:gd name="T3" fmla="*/ 18 h 113"/>
                <a:gd name="T4" fmla="*/ 0 w 57"/>
                <a:gd name="T5" fmla="*/ 70 h 113"/>
                <a:gd name="T6" fmla="*/ 12 w 57"/>
                <a:gd name="T7" fmla="*/ 113 h 113"/>
                <a:gd name="T8" fmla="*/ 41 w 57"/>
                <a:gd name="T9" fmla="*/ 97 h 113"/>
                <a:gd name="T10" fmla="*/ 34 w 57"/>
                <a:gd name="T11" fmla="*/ 70 h 113"/>
                <a:gd name="T12" fmla="*/ 46 w 57"/>
                <a:gd name="T13" fmla="*/ 39 h 113"/>
                <a:gd name="T14" fmla="*/ 54 w 57"/>
                <a:gd name="T15" fmla="*/ 31 h 113"/>
                <a:gd name="T16" fmla="*/ 57 w 57"/>
                <a:gd name="T17" fmla="*/ 29 h 113"/>
                <a:gd name="T18" fmla="*/ 57 w 57"/>
                <a:gd name="T19" fmla="*/ 28 h 113"/>
                <a:gd name="T20" fmla="*/ 57 w 57"/>
                <a:gd name="T21" fmla="*/ 28 h 113"/>
                <a:gd name="T22" fmla="*/ 57 w 57"/>
                <a:gd name="T23" fmla="*/ 28 h 113"/>
                <a:gd name="T24" fmla="*/ 57 w 57"/>
                <a:gd name="T25" fmla="*/ 28 h 113"/>
                <a:gd name="T26" fmla="*/ 57 w 57"/>
                <a:gd name="T27" fmla="*/ 28 h 113"/>
                <a:gd name="T28" fmla="*/ 57 w 57"/>
                <a:gd name="T29" fmla="*/ 28 h 113"/>
                <a:gd name="T30" fmla="*/ 39 w 57"/>
                <a:gd name="T31"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 h="113">
                  <a:moveTo>
                    <a:pt x="39" y="0"/>
                  </a:moveTo>
                  <a:cubicBezTo>
                    <a:pt x="38" y="1"/>
                    <a:pt x="29" y="7"/>
                    <a:pt x="20" y="18"/>
                  </a:cubicBezTo>
                  <a:cubicBezTo>
                    <a:pt x="10" y="29"/>
                    <a:pt x="0" y="47"/>
                    <a:pt x="0" y="70"/>
                  </a:cubicBezTo>
                  <a:cubicBezTo>
                    <a:pt x="0" y="83"/>
                    <a:pt x="4" y="98"/>
                    <a:pt x="12" y="113"/>
                  </a:cubicBezTo>
                  <a:lnTo>
                    <a:pt x="41" y="97"/>
                  </a:lnTo>
                  <a:cubicBezTo>
                    <a:pt x="36" y="86"/>
                    <a:pt x="34" y="78"/>
                    <a:pt x="34" y="70"/>
                  </a:cubicBezTo>
                  <a:cubicBezTo>
                    <a:pt x="34" y="57"/>
                    <a:pt x="39" y="47"/>
                    <a:pt x="46" y="39"/>
                  </a:cubicBezTo>
                  <a:cubicBezTo>
                    <a:pt x="49" y="36"/>
                    <a:pt x="52" y="33"/>
                    <a:pt x="54" y="31"/>
                  </a:cubicBezTo>
                  <a:lnTo>
                    <a:pt x="57" y="29"/>
                  </a:lnTo>
                  <a:lnTo>
                    <a:pt x="57" y="28"/>
                  </a:lnTo>
                  <a:lnTo>
                    <a:pt x="57" y="28"/>
                  </a:lnTo>
                  <a:lnTo>
                    <a:pt x="57" y="28"/>
                  </a:lnTo>
                  <a:lnTo>
                    <a:pt x="57" y="28"/>
                  </a:lnTo>
                  <a:lnTo>
                    <a:pt x="57" y="28"/>
                  </a:lnTo>
                  <a:lnTo>
                    <a:pt x="57" y="28"/>
                  </a:lnTo>
                  <a:lnTo>
                    <a:pt x="39"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6" name="Freeform 1109">
              <a:extLst>
                <a:ext uri="{FF2B5EF4-FFF2-40B4-BE49-F238E27FC236}">
                  <a16:creationId xmlns:a16="http://schemas.microsoft.com/office/drawing/2014/main" id="{77867C94-7AA3-5CF3-A37C-B19DD860A2A7}"/>
                </a:ext>
              </a:extLst>
            </p:cNvPr>
            <p:cNvSpPr>
              <a:spLocks/>
            </p:cNvSpPr>
            <p:nvPr/>
          </p:nvSpPr>
          <p:spPr bwMode="auto">
            <a:xfrm>
              <a:off x="3654426" y="3497263"/>
              <a:ext cx="42863" cy="12700"/>
            </a:xfrm>
            <a:custGeom>
              <a:avLst/>
              <a:gdLst>
                <a:gd name="T0" fmla="*/ 0 w 208"/>
                <a:gd name="T1" fmla="*/ 29 h 56"/>
                <a:gd name="T2" fmla="*/ 108 w 208"/>
                <a:gd name="T3" fmla="*/ 56 h 56"/>
                <a:gd name="T4" fmla="*/ 208 w 208"/>
                <a:gd name="T5" fmla="*/ 29 h 56"/>
                <a:gd name="T6" fmla="*/ 191 w 208"/>
                <a:gd name="T7" fmla="*/ 0 h 56"/>
                <a:gd name="T8" fmla="*/ 108 w 208"/>
                <a:gd name="T9" fmla="*/ 23 h 56"/>
                <a:gd name="T10" fmla="*/ 42 w 208"/>
                <a:gd name="T11" fmla="*/ 12 h 56"/>
                <a:gd name="T12" fmla="*/ 23 w 208"/>
                <a:gd name="T13" fmla="*/ 4 h 56"/>
                <a:gd name="T14" fmla="*/ 18 w 208"/>
                <a:gd name="T15" fmla="*/ 1 h 56"/>
                <a:gd name="T16" fmla="*/ 17 w 208"/>
                <a:gd name="T17" fmla="*/ 1 h 56"/>
                <a:gd name="T18" fmla="*/ 16 w 208"/>
                <a:gd name="T19" fmla="*/ 0 h 56"/>
                <a:gd name="T20" fmla="*/ 15 w 208"/>
                <a:gd name="T21" fmla="*/ 2 h 56"/>
                <a:gd name="T22" fmla="*/ 16 w 208"/>
                <a:gd name="T23" fmla="*/ 0 h 56"/>
                <a:gd name="T24" fmla="*/ 16 w 208"/>
                <a:gd name="T25" fmla="*/ 0 h 56"/>
                <a:gd name="T26" fmla="*/ 15 w 208"/>
                <a:gd name="T27" fmla="*/ 2 h 56"/>
                <a:gd name="T28" fmla="*/ 16 w 208"/>
                <a:gd name="T29" fmla="*/ 0 h 56"/>
                <a:gd name="T30" fmla="*/ 0 w 208"/>
                <a:gd name="T31" fmla="*/ 29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8" h="56">
                  <a:moveTo>
                    <a:pt x="0" y="29"/>
                  </a:moveTo>
                  <a:cubicBezTo>
                    <a:pt x="1" y="30"/>
                    <a:pt x="46" y="56"/>
                    <a:pt x="108" y="56"/>
                  </a:cubicBezTo>
                  <a:cubicBezTo>
                    <a:pt x="138" y="56"/>
                    <a:pt x="173" y="49"/>
                    <a:pt x="208" y="29"/>
                  </a:cubicBezTo>
                  <a:lnTo>
                    <a:pt x="191" y="0"/>
                  </a:lnTo>
                  <a:cubicBezTo>
                    <a:pt x="162" y="17"/>
                    <a:pt x="133" y="23"/>
                    <a:pt x="108" y="23"/>
                  </a:cubicBezTo>
                  <a:cubicBezTo>
                    <a:pt x="82" y="23"/>
                    <a:pt x="58" y="17"/>
                    <a:pt x="42" y="12"/>
                  </a:cubicBezTo>
                  <a:cubicBezTo>
                    <a:pt x="34" y="9"/>
                    <a:pt x="27" y="6"/>
                    <a:pt x="23" y="4"/>
                  </a:cubicBezTo>
                  <a:cubicBezTo>
                    <a:pt x="21" y="3"/>
                    <a:pt x="19" y="2"/>
                    <a:pt x="18" y="1"/>
                  </a:cubicBezTo>
                  <a:lnTo>
                    <a:pt x="17" y="1"/>
                  </a:lnTo>
                  <a:lnTo>
                    <a:pt x="16" y="0"/>
                  </a:lnTo>
                  <a:lnTo>
                    <a:pt x="15" y="2"/>
                  </a:lnTo>
                  <a:lnTo>
                    <a:pt x="16" y="0"/>
                  </a:lnTo>
                  <a:lnTo>
                    <a:pt x="16" y="0"/>
                  </a:lnTo>
                  <a:lnTo>
                    <a:pt x="15" y="2"/>
                  </a:lnTo>
                  <a:lnTo>
                    <a:pt x="16" y="0"/>
                  </a:lnTo>
                  <a:lnTo>
                    <a:pt x="0" y="2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7" name="Rectangle 1110">
              <a:extLst>
                <a:ext uri="{FF2B5EF4-FFF2-40B4-BE49-F238E27FC236}">
                  <a16:creationId xmlns:a16="http://schemas.microsoft.com/office/drawing/2014/main" id="{00E12FAF-88B5-A6E2-32EF-C34D55EF1E4E}"/>
                </a:ext>
              </a:extLst>
            </p:cNvPr>
            <p:cNvSpPr>
              <a:spLocks noChangeArrowheads="1"/>
            </p:cNvSpPr>
            <p:nvPr/>
          </p:nvSpPr>
          <p:spPr bwMode="auto">
            <a:xfrm>
              <a:off x="3684588"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8" name="Rectangle 1111">
              <a:extLst>
                <a:ext uri="{FF2B5EF4-FFF2-40B4-BE49-F238E27FC236}">
                  <a16:creationId xmlns:a16="http://schemas.microsoft.com/office/drawing/2014/main" id="{56AAB07B-C0DC-B262-7A6D-E147DEB69B8E}"/>
                </a:ext>
              </a:extLst>
            </p:cNvPr>
            <p:cNvSpPr>
              <a:spLocks noChangeArrowheads="1"/>
            </p:cNvSpPr>
            <p:nvPr/>
          </p:nvSpPr>
          <p:spPr bwMode="auto">
            <a:xfrm>
              <a:off x="3636963"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9" name="Rectangle 1112">
              <a:extLst>
                <a:ext uri="{FF2B5EF4-FFF2-40B4-BE49-F238E27FC236}">
                  <a16:creationId xmlns:a16="http://schemas.microsoft.com/office/drawing/2014/main" id="{A8349328-1592-E92D-0AE7-7E8536C9C870}"/>
                </a:ext>
              </a:extLst>
            </p:cNvPr>
            <p:cNvSpPr>
              <a:spLocks noChangeArrowheads="1"/>
            </p:cNvSpPr>
            <p:nvPr/>
          </p:nvSpPr>
          <p:spPr bwMode="auto">
            <a:xfrm>
              <a:off x="3713163" y="3433763"/>
              <a:ext cx="34925"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0" name="Rectangle 1113">
              <a:extLst>
                <a:ext uri="{FF2B5EF4-FFF2-40B4-BE49-F238E27FC236}">
                  <a16:creationId xmlns:a16="http://schemas.microsoft.com/office/drawing/2014/main" id="{7BDAE77A-EB7E-21C7-A020-607DF5A412AF}"/>
                </a:ext>
              </a:extLst>
            </p:cNvPr>
            <p:cNvSpPr>
              <a:spLocks noChangeArrowheads="1"/>
            </p:cNvSpPr>
            <p:nvPr/>
          </p:nvSpPr>
          <p:spPr bwMode="auto">
            <a:xfrm>
              <a:off x="3662363" y="3433763"/>
              <a:ext cx="1270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1" name="Rectangle 1114">
              <a:extLst>
                <a:ext uri="{FF2B5EF4-FFF2-40B4-BE49-F238E27FC236}">
                  <a16:creationId xmlns:a16="http://schemas.microsoft.com/office/drawing/2014/main" id="{11930CF2-AB85-D9AD-B5F0-CF86ECAE8FF6}"/>
                </a:ext>
              </a:extLst>
            </p:cNvPr>
            <p:cNvSpPr>
              <a:spLocks noChangeArrowheads="1"/>
            </p:cNvSpPr>
            <p:nvPr/>
          </p:nvSpPr>
          <p:spPr bwMode="auto">
            <a:xfrm>
              <a:off x="3657601" y="3400425"/>
              <a:ext cx="36513"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2" name="Freeform 1115">
              <a:extLst>
                <a:ext uri="{FF2B5EF4-FFF2-40B4-BE49-F238E27FC236}">
                  <a16:creationId xmlns:a16="http://schemas.microsoft.com/office/drawing/2014/main" id="{50434A05-9692-0FE4-D024-CB903C5E4352}"/>
                </a:ext>
              </a:extLst>
            </p:cNvPr>
            <p:cNvSpPr>
              <a:spLocks/>
            </p:cNvSpPr>
            <p:nvPr/>
          </p:nvSpPr>
          <p:spPr bwMode="auto">
            <a:xfrm>
              <a:off x="3638551" y="3548063"/>
              <a:ext cx="66675" cy="53975"/>
            </a:xfrm>
            <a:custGeom>
              <a:avLst/>
              <a:gdLst>
                <a:gd name="T0" fmla="*/ 3 w 42"/>
                <a:gd name="T1" fmla="*/ 16 h 34"/>
                <a:gd name="T2" fmla="*/ 2 w 42"/>
                <a:gd name="T3" fmla="*/ 18 h 34"/>
                <a:gd name="T4" fmla="*/ 26 w 42"/>
                <a:gd name="T5" fmla="*/ 34 h 34"/>
                <a:gd name="T6" fmla="*/ 42 w 42"/>
                <a:gd name="T7" fmla="*/ 12 h 34"/>
                <a:gd name="T8" fmla="*/ 13 w 42"/>
                <a:gd name="T9" fmla="*/ 0 h 34"/>
                <a:gd name="T10" fmla="*/ 0 w 42"/>
                <a:gd name="T11" fmla="*/ 17 h 34"/>
                <a:gd name="T12" fmla="*/ 2 w 42"/>
                <a:gd name="T13" fmla="*/ 18 h 34"/>
                <a:gd name="T14" fmla="*/ 3 w 42"/>
                <a:gd name="T15" fmla="*/ 16 h 34"/>
                <a:gd name="T16" fmla="*/ 5 w 42"/>
                <a:gd name="T17" fmla="*/ 17 h 34"/>
                <a:gd name="T18" fmla="*/ 14 w 42"/>
                <a:gd name="T19" fmla="*/ 5 h 34"/>
                <a:gd name="T20" fmla="*/ 35 w 42"/>
                <a:gd name="T21" fmla="*/ 14 h 34"/>
                <a:gd name="T22" fmla="*/ 25 w 42"/>
                <a:gd name="T23" fmla="*/ 28 h 34"/>
                <a:gd name="T24" fmla="*/ 4 w 42"/>
                <a:gd name="T25" fmla="*/ 14 h 34"/>
                <a:gd name="T26" fmla="*/ 3 w 42"/>
                <a:gd name="T27" fmla="*/ 16 h 34"/>
                <a:gd name="T28" fmla="*/ 5 w 42"/>
                <a:gd name="T29" fmla="*/ 17 h 34"/>
                <a:gd name="T30" fmla="*/ 3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 y="16"/>
                  </a:moveTo>
                  <a:lnTo>
                    <a:pt x="2" y="18"/>
                  </a:lnTo>
                  <a:lnTo>
                    <a:pt x="26" y="34"/>
                  </a:lnTo>
                  <a:lnTo>
                    <a:pt x="42" y="12"/>
                  </a:lnTo>
                  <a:lnTo>
                    <a:pt x="13" y="0"/>
                  </a:lnTo>
                  <a:lnTo>
                    <a:pt x="0" y="17"/>
                  </a:lnTo>
                  <a:lnTo>
                    <a:pt x="2" y="18"/>
                  </a:lnTo>
                  <a:lnTo>
                    <a:pt x="3" y="16"/>
                  </a:lnTo>
                  <a:lnTo>
                    <a:pt x="5" y="17"/>
                  </a:lnTo>
                  <a:lnTo>
                    <a:pt x="14" y="5"/>
                  </a:lnTo>
                  <a:lnTo>
                    <a:pt x="35" y="14"/>
                  </a:lnTo>
                  <a:lnTo>
                    <a:pt x="25" y="28"/>
                  </a:lnTo>
                  <a:lnTo>
                    <a:pt x="4" y="14"/>
                  </a:lnTo>
                  <a:lnTo>
                    <a:pt x="3" y="16"/>
                  </a:lnTo>
                  <a:lnTo>
                    <a:pt x="5" y="17"/>
                  </a:lnTo>
                  <a:lnTo>
                    <a:pt x="3"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3" name="Freeform 1116">
              <a:extLst>
                <a:ext uri="{FF2B5EF4-FFF2-40B4-BE49-F238E27FC236}">
                  <a16:creationId xmlns:a16="http://schemas.microsoft.com/office/drawing/2014/main" id="{11B800D1-4513-851B-70BD-9C29B6BA7345}"/>
                </a:ext>
              </a:extLst>
            </p:cNvPr>
            <p:cNvSpPr>
              <a:spLocks/>
            </p:cNvSpPr>
            <p:nvPr/>
          </p:nvSpPr>
          <p:spPr bwMode="auto">
            <a:xfrm>
              <a:off x="3694113" y="3548063"/>
              <a:ext cx="66675" cy="53975"/>
            </a:xfrm>
            <a:custGeom>
              <a:avLst/>
              <a:gdLst>
                <a:gd name="T0" fmla="*/ 39 w 42"/>
                <a:gd name="T1" fmla="*/ 16 h 34"/>
                <a:gd name="T2" fmla="*/ 38 w 42"/>
                <a:gd name="T3" fmla="*/ 14 h 34"/>
                <a:gd name="T4" fmla="*/ 17 w 42"/>
                <a:gd name="T5" fmla="*/ 28 h 34"/>
                <a:gd name="T6" fmla="*/ 7 w 42"/>
                <a:gd name="T7" fmla="*/ 14 h 34"/>
                <a:gd name="T8" fmla="*/ 28 w 42"/>
                <a:gd name="T9" fmla="*/ 5 h 34"/>
                <a:gd name="T10" fmla="*/ 38 w 42"/>
                <a:gd name="T11" fmla="*/ 17 h 34"/>
                <a:gd name="T12" fmla="*/ 39 w 42"/>
                <a:gd name="T13" fmla="*/ 16 h 34"/>
                <a:gd name="T14" fmla="*/ 38 w 42"/>
                <a:gd name="T15" fmla="*/ 14 h 34"/>
                <a:gd name="T16" fmla="*/ 39 w 42"/>
                <a:gd name="T17" fmla="*/ 16 h 34"/>
                <a:gd name="T18" fmla="*/ 41 w 42"/>
                <a:gd name="T19" fmla="*/ 15 h 34"/>
                <a:gd name="T20" fmla="*/ 30 w 42"/>
                <a:gd name="T21" fmla="*/ 0 h 34"/>
                <a:gd name="T22" fmla="*/ 0 w 42"/>
                <a:gd name="T23" fmla="*/ 12 h 34"/>
                <a:gd name="T24" fmla="*/ 16 w 42"/>
                <a:gd name="T25" fmla="*/ 34 h 34"/>
                <a:gd name="T26" fmla="*/ 42 w 42"/>
                <a:gd name="T27" fmla="*/ 17 h 34"/>
                <a:gd name="T28" fmla="*/ 41 w 42"/>
                <a:gd name="T29" fmla="*/ 15 h 34"/>
                <a:gd name="T30" fmla="*/ 39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9" y="16"/>
                  </a:moveTo>
                  <a:lnTo>
                    <a:pt x="38" y="14"/>
                  </a:lnTo>
                  <a:lnTo>
                    <a:pt x="17" y="28"/>
                  </a:lnTo>
                  <a:lnTo>
                    <a:pt x="7" y="14"/>
                  </a:lnTo>
                  <a:lnTo>
                    <a:pt x="28" y="5"/>
                  </a:lnTo>
                  <a:lnTo>
                    <a:pt x="38" y="17"/>
                  </a:lnTo>
                  <a:lnTo>
                    <a:pt x="39" y="16"/>
                  </a:lnTo>
                  <a:lnTo>
                    <a:pt x="38" y="14"/>
                  </a:lnTo>
                  <a:lnTo>
                    <a:pt x="39" y="16"/>
                  </a:lnTo>
                  <a:lnTo>
                    <a:pt x="41" y="15"/>
                  </a:lnTo>
                  <a:lnTo>
                    <a:pt x="30" y="0"/>
                  </a:lnTo>
                  <a:lnTo>
                    <a:pt x="0" y="12"/>
                  </a:lnTo>
                  <a:lnTo>
                    <a:pt x="16" y="34"/>
                  </a:lnTo>
                  <a:lnTo>
                    <a:pt x="42" y="17"/>
                  </a:lnTo>
                  <a:lnTo>
                    <a:pt x="41" y="15"/>
                  </a:lnTo>
                  <a:lnTo>
                    <a:pt x="39"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4" name="Freeform 1117">
              <a:extLst>
                <a:ext uri="{FF2B5EF4-FFF2-40B4-BE49-F238E27FC236}">
                  <a16:creationId xmlns:a16="http://schemas.microsoft.com/office/drawing/2014/main" id="{0EDBD26E-1FD0-15A5-6406-9AC95F922B4D}"/>
                </a:ext>
              </a:extLst>
            </p:cNvPr>
            <p:cNvSpPr>
              <a:spLocks/>
            </p:cNvSpPr>
            <p:nvPr/>
          </p:nvSpPr>
          <p:spPr bwMode="auto">
            <a:xfrm>
              <a:off x="3683001" y="3587750"/>
              <a:ext cx="31750" cy="15875"/>
            </a:xfrm>
            <a:custGeom>
              <a:avLst/>
              <a:gdLst>
                <a:gd name="T0" fmla="*/ 0 w 20"/>
                <a:gd name="T1" fmla="*/ 3 h 10"/>
                <a:gd name="T2" fmla="*/ 11 w 20"/>
                <a:gd name="T3" fmla="*/ 10 h 10"/>
                <a:gd name="T4" fmla="*/ 20 w 20"/>
                <a:gd name="T5" fmla="*/ 3 h 10"/>
                <a:gd name="T6" fmla="*/ 18 w 20"/>
                <a:gd name="T7" fmla="*/ 0 h 10"/>
                <a:gd name="T8" fmla="*/ 11 w 20"/>
                <a:gd name="T9" fmla="*/ 5 h 10"/>
                <a:gd name="T10" fmla="*/ 2 w 20"/>
                <a:gd name="T11" fmla="*/ 0 h 10"/>
                <a:gd name="T12" fmla="*/ 0 w 20"/>
                <a:gd name="T13" fmla="*/ 3 h 10"/>
              </a:gdLst>
              <a:ahLst/>
              <a:cxnLst>
                <a:cxn ang="0">
                  <a:pos x="T0" y="T1"/>
                </a:cxn>
                <a:cxn ang="0">
                  <a:pos x="T2" y="T3"/>
                </a:cxn>
                <a:cxn ang="0">
                  <a:pos x="T4" y="T5"/>
                </a:cxn>
                <a:cxn ang="0">
                  <a:pos x="T6" y="T7"/>
                </a:cxn>
                <a:cxn ang="0">
                  <a:pos x="T8" y="T9"/>
                </a:cxn>
                <a:cxn ang="0">
                  <a:pos x="T10" y="T11"/>
                </a:cxn>
                <a:cxn ang="0">
                  <a:pos x="T12" y="T13"/>
                </a:cxn>
              </a:cxnLst>
              <a:rect l="0" t="0" r="r" b="b"/>
              <a:pathLst>
                <a:path w="20" h="10">
                  <a:moveTo>
                    <a:pt x="0" y="3"/>
                  </a:moveTo>
                  <a:lnTo>
                    <a:pt x="11" y="10"/>
                  </a:lnTo>
                  <a:lnTo>
                    <a:pt x="20" y="3"/>
                  </a:lnTo>
                  <a:lnTo>
                    <a:pt x="18" y="0"/>
                  </a:lnTo>
                  <a:lnTo>
                    <a:pt x="11" y="5"/>
                  </a:lnTo>
                  <a:lnTo>
                    <a:pt x="2" y="0"/>
                  </a:lnTo>
                  <a:lnTo>
                    <a:pt x="0" y="3"/>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5" name="Freeform 1118">
              <a:extLst>
                <a:ext uri="{FF2B5EF4-FFF2-40B4-BE49-F238E27FC236}">
                  <a16:creationId xmlns:a16="http://schemas.microsoft.com/office/drawing/2014/main" id="{F9EC5514-CA4B-4EF1-A0E7-3A969D1FD142}"/>
                </a:ext>
              </a:extLst>
            </p:cNvPr>
            <p:cNvSpPr>
              <a:spLocks/>
            </p:cNvSpPr>
            <p:nvPr/>
          </p:nvSpPr>
          <p:spPr bwMode="auto">
            <a:xfrm>
              <a:off x="3675063" y="3590925"/>
              <a:ext cx="17463" cy="46038"/>
            </a:xfrm>
            <a:custGeom>
              <a:avLst/>
              <a:gdLst>
                <a:gd name="T0" fmla="*/ 51 w 84"/>
                <a:gd name="T1" fmla="*/ 0 h 227"/>
                <a:gd name="T2" fmla="*/ 0 w 84"/>
                <a:gd name="T3" fmla="*/ 219 h 227"/>
                <a:gd name="T4" fmla="*/ 33 w 84"/>
                <a:gd name="T5" fmla="*/ 227 h 227"/>
                <a:gd name="T6" fmla="*/ 84 w 84"/>
                <a:gd name="T7" fmla="*/ 7 h 227"/>
              </a:gdLst>
              <a:ahLst/>
              <a:cxnLst>
                <a:cxn ang="0">
                  <a:pos x="T0" y="T1"/>
                </a:cxn>
                <a:cxn ang="0">
                  <a:pos x="T2" y="T3"/>
                </a:cxn>
                <a:cxn ang="0">
                  <a:pos x="T4" y="T5"/>
                </a:cxn>
                <a:cxn ang="0">
                  <a:pos x="T6" y="T7"/>
                </a:cxn>
              </a:cxnLst>
              <a:rect l="0" t="0" r="r" b="b"/>
              <a:pathLst>
                <a:path w="84" h="227">
                  <a:moveTo>
                    <a:pt x="51" y="0"/>
                  </a:moveTo>
                  <a:lnTo>
                    <a:pt x="0" y="219"/>
                  </a:lnTo>
                  <a:lnTo>
                    <a:pt x="33" y="227"/>
                  </a:lnTo>
                  <a:lnTo>
                    <a:pt x="84" y="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6" name="Freeform 1119">
              <a:extLst>
                <a:ext uri="{FF2B5EF4-FFF2-40B4-BE49-F238E27FC236}">
                  <a16:creationId xmlns:a16="http://schemas.microsoft.com/office/drawing/2014/main" id="{162D89FE-BFC3-D541-8BB6-32DC04DE601A}"/>
                </a:ext>
              </a:extLst>
            </p:cNvPr>
            <p:cNvSpPr>
              <a:spLocks/>
            </p:cNvSpPr>
            <p:nvPr/>
          </p:nvSpPr>
          <p:spPr bwMode="auto">
            <a:xfrm>
              <a:off x="3708401" y="3590925"/>
              <a:ext cx="17463" cy="46038"/>
            </a:xfrm>
            <a:custGeom>
              <a:avLst/>
              <a:gdLst>
                <a:gd name="T0" fmla="*/ 0 w 83"/>
                <a:gd name="T1" fmla="*/ 7 h 227"/>
                <a:gd name="T2" fmla="*/ 51 w 83"/>
                <a:gd name="T3" fmla="*/ 227 h 227"/>
                <a:gd name="T4" fmla="*/ 83 w 83"/>
                <a:gd name="T5" fmla="*/ 219 h 227"/>
                <a:gd name="T6" fmla="*/ 33 w 83"/>
                <a:gd name="T7" fmla="*/ 0 h 227"/>
              </a:gdLst>
              <a:ahLst/>
              <a:cxnLst>
                <a:cxn ang="0">
                  <a:pos x="T0" y="T1"/>
                </a:cxn>
                <a:cxn ang="0">
                  <a:pos x="T2" y="T3"/>
                </a:cxn>
                <a:cxn ang="0">
                  <a:pos x="T4" y="T5"/>
                </a:cxn>
                <a:cxn ang="0">
                  <a:pos x="T6" y="T7"/>
                </a:cxn>
              </a:cxnLst>
              <a:rect l="0" t="0" r="r" b="b"/>
              <a:pathLst>
                <a:path w="83" h="227">
                  <a:moveTo>
                    <a:pt x="0" y="7"/>
                  </a:moveTo>
                  <a:lnTo>
                    <a:pt x="51" y="227"/>
                  </a:lnTo>
                  <a:lnTo>
                    <a:pt x="83" y="219"/>
                  </a:lnTo>
                  <a:lnTo>
                    <a:pt x="33"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77" name="Teacher7" descr="{&quot;Key&quot;:&quot;POWER_USER_SHAPE_ICON&quot;,&quot;Value&quot;:&quot;POWER_USER_SHAPE_ICON_STYLE_1&quot;}">
            <a:extLst>
              <a:ext uri="{FF2B5EF4-FFF2-40B4-BE49-F238E27FC236}">
                <a16:creationId xmlns:a16="http://schemas.microsoft.com/office/drawing/2014/main" id="{D83A145F-3460-D19C-BE68-F5152BCB8C85}"/>
              </a:ext>
            </a:extLst>
          </p:cNvPr>
          <p:cNvGrpSpPr>
            <a:grpSpLocks noChangeAspect="1"/>
          </p:cNvGrpSpPr>
          <p:nvPr/>
        </p:nvGrpSpPr>
        <p:grpSpPr>
          <a:xfrm>
            <a:off x="7472657" y="5022167"/>
            <a:ext cx="332705" cy="311779"/>
            <a:chOff x="6302376" y="1846263"/>
            <a:chExt cx="479425" cy="479425"/>
          </a:xfrm>
          <a:solidFill>
            <a:schemeClr val="accent1"/>
          </a:solidFill>
        </p:grpSpPr>
        <p:sp>
          <p:nvSpPr>
            <p:cNvPr id="478" name="Rectangle 495">
              <a:extLst>
                <a:ext uri="{FF2B5EF4-FFF2-40B4-BE49-F238E27FC236}">
                  <a16:creationId xmlns:a16="http://schemas.microsoft.com/office/drawing/2014/main" id="{22012B9E-7BAD-60A9-6AA2-DF08D7A41E7E}"/>
                </a:ext>
              </a:extLst>
            </p:cNvPr>
            <p:cNvSpPr>
              <a:spLocks noChangeArrowheads="1"/>
            </p:cNvSpPr>
            <p:nvPr/>
          </p:nvSpPr>
          <p:spPr bwMode="auto">
            <a:xfrm>
              <a:off x="6586539" y="2144713"/>
              <a:ext cx="12700" cy="34925"/>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9" name="Freeform 496">
              <a:extLst>
                <a:ext uri="{FF2B5EF4-FFF2-40B4-BE49-F238E27FC236}">
                  <a16:creationId xmlns:a16="http://schemas.microsoft.com/office/drawing/2014/main" id="{A0B378B5-2E15-D657-7877-C8FD761E79A4}"/>
                </a:ext>
              </a:extLst>
            </p:cNvPr>
            <p:cNvSpPr>
              <a:spLocks/>
            </p:cNvSpPr>
            <p:nvPr/>
          </p:nvSpPr>
          <p:spPr bwMode="auto">
            <a:xfrm>
              <a:off x="6623051" y="2206626"/>
              <a:ext cx="158750" cy="117475"/>
            </a:xfrm>
            <a:custGeom>
              <a:avLst/>
              <a:gdLst>
                <a:gd name="T0" fmla="*/ 196 w 196"/>
                <a:gd name="T1" fmla="*/ 146 h 146"/>
                <a:gd name="T2" fmla="*/ 180 w 196"/>
                <a:gd name="T3" fmla="*/ 146 h 146"/>
                <a:gd name="T4" fmla="*/ 106 w 196"/>
                <a:gd name="T5" fmla="*/ 48 h 146"/>
                <a:gd name="T6" fmla="*/ 0 w 196"/>
                <a:gd name="T7" fmla="*/ 15 h 146"/>
                <a:gd name="T8" fmla="*/ 5 w 196"/>
                <a:gd name="T9" fmla="*/ 0 h 146"/>
                <a:gd name="T10" fmla="*/ 111 w 196"/>
                <a:gd name="T11" fmla="*/ 32 h 146"/>
                <a:gd name="T12" fmla="*/ 19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96" y="146"/>
                  </a:moveTo>
                  <a:lnTo>
                    <a:pt x="180" y="146"/>
                  </a:lnTo>
                  <a:cubicBezTo>
                    <a:pt x="180" y="101"/>
                    <a:pt x="150" y="61"/>
                    <a:pt x="106" y="48"/>
                  </a:cubicBezTo>
                  <a:lnTo>
                    <a:pt x="0" y="15"/>
                  </a:lnTo>
                  <a:lnTo>
                    <a:pt x="5" y="0"/>
                  </a:lnTo>
                  <a:lnTo>
                    <a:pt x="111" y="32"/>
                  </a:lnTo>
                  <a:cubicBezTo>
                    <a:pt x="162" y="47"/>
                    <a:pt x="196" y="93"/>
                    <a:pt x="19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0" name="Rectangle 497">
              <a:extLst>
                <a:ext uri="{FF2B5EF4-FFF2-40B4-BE49-F238E27FC236}">
                  <a16:creationId xmlns:a16="http://schemas.microsoft.com/office/drawing/2014/main" id="{994A182E-EE08-C9EB-28A0-9FF1E8C94B7F}"/>
                </a:ext>
              </a:extLst>
            </p:cNvPr>
            <p:cNvSpPr>
              <a:spLocks noChangeArrowheads="1"/>
            </p:cNvSpPr>
            <p:nvPr/>
          </p:nvSpPr>
          <p:spPr bwMode="auto">
            <a:xfrm>
              <a:off x="6483351" y="2144713"/>
              <a:ext cx="12700" cy="39688"/>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1" name="Freeform 498">
              <a:extLst>
                <a:ext uri="{FF2B5EF4-FFF2-40B4-BE49-F238E27FC236}">
                  <a16:creationId xmlns:a16="http://schemas.microsoft.com/office/drawing/2014/main" id="{4CCA37A6-E1E9-C4ED-0A05-85B66CB623BE}"/>
                </a:ext>
              </a:extLst>
            </p:cNvPr>
            <p:cNvSpPr>
              <a:spLocks/>
            </p:cNvSpPr>
            <p:nvPr/>
          </p:nvSpPr>
          <p:spPr bwMode="auto">
            <a:xfrm>
              <a:off x="6302376" y="2206626"/>
              <a:ext cx="157163" cy="117475"/>
            </a:xfrm>
            <a:custGeom>
              <a:avLst/>
              <a:gdLst>
                <a:gd name="T0" fmla="*/ 16 w 196"/>
                <a:gd name="T1" fmla="*/ 146 h 146"/>
                <a:gd name="T2" fmla="*/ 0 w 196"/>
                <a:gd name="T3" fmla="*/ 146 h 146"/>
                <a:gd name="T4" fmla="*/ 85 w 196"/>
                <a:gd name="T5" fmla="*/ 32 h 146"/>
                <a:gd name="T6" fmla="*/ 191 w 196"/>
                <a:gd name="T7" fmla="*/ 0 h 146"/>
                <a:gd name="T8" fmla="*/ 196 w 196"/>
                <a:gd name="T9" fmla="*/ 15 h 146"/>
                <a:gd name="T10" fmla="*/ 90 w 196"/>
                <a:gd name="T11" fmla="*/ 48 h 146"/>
                <a:gd name="T12" fmla="*/ 1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6" y="146"/>
                  </a:moveTo>
                  <a:lnTo>
                    <a:pt x="0" y="146"/>
                  </a:lnTo>
                  <a:cubicBezTo>
                    <a:pt x="0" y="93"/>
                    <a:pt x="34" y="47"/>
                    <a:pt x="85" y="32"/>
                  </a:cubicBezTo>
                  <a:lnTo>
                    <a:pt x="191" y="0"/>
                  </a:lnTo>
                  <a:lnTo>
                    <a:pt x="196" y="15"/>
                  </a:lnTo>
                  <a:lnTo>
                    <a:pt x="90" y="48"/>
                  </a:lnTo>
                  <a:cubicBezTo>
                    <a:pt x="46" y="61"/>
                    <a:pt x="16" y="101"/>
                    <a:pt x="1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2" name="Freeform 499">
              <a:extLst>
                <a:ext uri="{FF2B5EF4-FFF2-40B4-BE49-F238E27FC236}">
                  <a16:creationId xmlns:a16="http://schemas.microsoft.com/office/drawing/2014/main" id="{E1BB327C-1504-CC5C-F0FF-5019A710D16D}"/>
                </a:ext>
              </a:extLst>
            </p:cNvPr>
            <p:cNvSpPr>
              <a:spLocks noEditPoints="1"/>
            </p:cNvSpPr>
            <p:nvPr/>
          </p:nvSpPr>
          <p:spPr bwMode="auto">
            <a:xfrm>
              <a:off x="6443664" y="1927226"/>
              <a:ext cx="195263" cy="250825"/>
            </a:xfrm>
            <a:custGeom>
              <a:avLst/>
              <a:gdLst>
                <a:gd name="T0" fmla="*/ 48 w 243"/>
                <a:gd name="T1" fmla="*/ 44 h 311"/>
                <a:gd name="T2" fmla="*/ 17 w 243"/>
                <a:gd name="T3" fmla="*/ 108 h 311"/>
                <a:gd name="T4" fmla="*/ 17 w 243"/>
                <a:gd name="T5" fmla="*/ 200 h 311"/>
                <a:gd name="T6" fmla="*/ 88 w 243"/>
                <a:gd name="T7" fmla="*/ 285 h 311"/>
                <a:gd name="T8" fmla="*/ 155 w 243"/>
                <a:gd name="T9" fmla="*/ 285 h 311"/>
                <a:gd name="T10" fmla="*/ 226 w 243"/>
                <a:gd name="T11" fmla="*/ 200 h 311"/>
                <a:gd name="T12" fmla="*/ 226 w 243"/>
                <a:gd name="T13" fmla="*/ 81 h 311"/>
                <a:gd name="T14" fmla="*/ 197 w 243"/>
                <a:gd name="T15" fmla="*/ 32 h 311"/>
                <a:gd name="T16" fmla="*/ 175 w 243"/>
                <a:gd name="T17" fmla="*/ 18 h 311"/>
                <a:gd name="T18" fmla="*/ 175 w 243"/>
                <a:gd name="T19" fmla="*/ 19 h 311"/>
                <a:gd name="T20" fmla="*/ 160 w 243"/>
                <a:gd name="T21" fmla="*/ 59 h 311"/>
                <a:gd name="T22" fmla="*/ 84 w 243"/>
                <a:gd name="T23" fmla="*/ 52 h 311"/>
                <a:gd name="T24" fmla="*/ 48 w 243"/>
                <a:gd name="T25" fmla="*/ 44 h 311"/>
                <a:gd name="T26" fmla="*/ 121 w 243"/>
                <a:gd name="T27" fmla="*/ 311 h 311"/>
                <a:gd name="T28" fmla="*/ 79 w 243"/>
                <a:gd name="T29" fmla="*/ 299 h 311"/>
                <a:gd name="T30" fmla="*/ 0 w 243"/>
                <a:gd name="T31" fmla="*/ 200 h 311"/>
                <a:gd name="T32" fmla="*/ 0 w 243"/>
                <a:gd name="T33" fmla="*/ 108 h 311"/>
                <a:gd name="T34" fmla="*/ 48 w 243"/>
                <a:gd name="T35" fmla="*/ 27 h 311"/>
                <a:gd name="T36" fmla="*/ 88 w 243"/>
                <a:gd name="T37" fmla="*/ 36 h 311"/>
                <a:gd name="T38" fmla="*/ 152 w 243"/>
                <a:gd name="T39" fmla="*/ 44 h 311"/>
                <a:gd name="T40" fmla="*/ 159 w 243"/>
                <a:gd name="T41" fmla="*/ 23 h 311"/>
                <a:gd name="T42" fmla="*/ 160 w 243"/>
                <a:gd name="T43" fmla="*/ 6 h 311"/>
                <a:gd name="T44" fmla="*/ 171 w 243"/>
                <a:gd name="T45" fmla="*/ 1 h 311"/>
                <a:gd name="T46" fmla="*/ 171 w 243"/>
                <a:gd name="T47" fmla="*/ 1 h 311"/>
                <a:gd name="T48" fmla="*/ 209 w 243"/>
                <a:gd name="T49" fmla="*/ 20 h 311"/>
                <a:gd name="T50" fmla="*/ 243 w 243"/>
                <a:gd name="T51" fmla="*/ 81 h 311"/>
                <a:gd name="T52" fmla="*/ 243 w 243"/>
                <a:gd name="T53" fmla="*/ 200 h 311"/>
                <a:gd name="T54" fmla="*/ 164 w 243"/>
                <a:gd name="T55" fmla="*/ 299 h 311"/>
                <a:gd name="T56" fmla="*/ 121 w 243"/>
                <a:gd name="T57" fmla="*/ 311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3" h="311">
                  <a:moveTo>
                    <a:pt x="48" y="44"/>
                  </a:moveTo>
                  <a:cubicBezTo>
                    <a:pt x="22" y="44"/>
                    <a:pt x="17" y="69"/>
                    <a:pt x="17" y="108"/>
                  </a:cubicBezTo>
                  <a:lnTo>
                    <a:pt x="17" y="200"/>
                  </a:lnTo>
                  <a:cubicBezTo>
                    <a:pt x="17" y="235"/>
                    <a:pt x="62" y="268"/>
                    <a:pt x="88" y="285"/>
                  </a:cubicBezTo>
                  <a:cubicBezTo>
                    <a:pt x="109" y="298"/>
                    <a:pt x="134" y="298"/>
                    <a:pt x="155" y="285"/>
                  </a:cubicBezTo>
                  <a:cubicBezTo>
                    <a:pt x="181" y="268"/>
                    <a:pt x="226" y="235"/>
                    <a:pt x="226" y="200"/>
                  </a:cubicBezTo>
                  <a:lnTo>
                    <a:pt x="226" y="81"/>
                  </a:lnTo>
                  <a:cubicBezTo>
                    <a:pt x="226" y="70"/>
                    <a:pt x="213" y="47"/>
                    <a:pt x="197" y="32"/>
                  </a:cubicBezTo>
                  <a:cubicBezTo>
                    <a:pt x="188" y="23"/>
                    <a:pt x="180" y="19"/>
                    <a:pt x="175" y="18"/>
                  </a:cubicBezTo>
                  <a:cubicBezTo>
                    <a:pt x="175" y="18"/>
                    <a:pt x="175" y="18"/>
                    <a:pt x="175" y="19"/>
                  </a:cubicBezTo>
                  <a:cubicBezTo>
                    <a:pt x="178" y="28"/>
                    <a:pt x="184" y="47"/>
                    <a:pt x="160" y="59"/>
                  </a:cubicBezTo>
                  <a:cubicBezTo>
                    <a:pt x="142" y="68"/>
                    <a:pt x="112" y="60"/>
                    <a:pt x="84" y="52"/>
                  </a:cubicBezTo>
                  <a:cubicBezTo>
                    <a:pt x="69" y="48"/>
                    <a:pt x="56" y="44"/>
                    <a:pt x="48" y="44"/>
                  </a:cubicBezTo>
                  <a:close/>
                  <a:moveTo>
                    <a:pt x="121" y="311"/>
                  </a:moveTo>
                  <a:cubicBezTo>
                    <a:pt x="107" y="311"/>
                    <a:pt x="92" y="307"/>
                    <a:pt x="79" y="299"/>
                  </a:cubicBezTo>
                  <a:cubicBezTo>
                    <a:pt x="43" y="276"/>
                    <a:pt x="0" y="241"/>
                    <a:pt x="0" y="200"/>
                  </a:cubicBezTo>
                  <a:lnTo>
                    <a:pt x="0" y="108"/>
                  </a:lnTo>
                  <a:cubicBezTo>
                    <a:pt x="0" y="84"/>
                    <a:pt x="0" y="27"/>
                    <a:pt x="48" y="27"/>
                  </a:cubicBezTo>
                  <a:cubicBezTo>
                    <a:pt x="58" y="27"/>
                    <a:pt x="72" y="31"/>
                    <a:pt x="88" y="36"/>
                  </a:cubicBezTo>
                  <a:cubicBezTo>
                    <a:pt x="111" y="42"/>
                    <a:pt x="140" y="50"/>
                    <a:pt x="152" y="44"/>
                  </a:cubicBezTo>
                  <a:cubicBezTo>
                    <a:pt x="164" y="39"/>
                    <a:pt x="162" y="33"/>
                    <a:pt x="159" y="23"/>
                  </a:cubicBezTo>
                  <a:cubicBezTo>
                    <a:pt x="158" y="18"/>
                    <a:pt x="156" y="12"/>
                    <a:pt x="160" y="6"/>
                  </a:cubicBezTo>
                  <a:cubicBezTo>
                    <a:pt x="162" y="3"/>
                    <a:pt x="166" y="1"/>
                    <a:pt x="171" y="1"/>
                  </a:cubicBezTo>
                  <a:lnTo>
                    <a:pt x="171" y="1"/>
                  </a:lnTo>
                  <a:cubicBezTo>
                    <a:pt x="185" y="0"/>
                    <a:pt x="199" y="11"/>
                    <a:pt x="209" y="20"/>
                  </a:cubicBezTo>
                  <a:cubicBezTo>
                    <a:pt x="225" y="36"/>
                    <a:pt x="243" y="63"/>
                    <a:pt x="243" y="81"/>
                  </a:cubicBezTo>
                  <a:lnTo>
                    <a:pt x="243" y="200"/>
                  </a:lnTo>
                  <a:cubicBezTo>
                    <a:pt x="243" y="241"/>
                    <a:pt x="200" y="276"/>
                    <a:pt x="164" y="299"/>
                  </a:cubicBezTo>
                  <a:cubicBezTo>
                    <a:pt x="151" y="307"/>
                    <a:pt x="136" y="311"/>
                    <a:pt x="121" y="311"/>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3" name="Freeform 500">
              <a:extLst>
                <a:ext uri="{FF2B5EF4-FFF2-40B4-BE49-F238E27FC236}">
                  <a16:creationId xmlns:a16="http://schemas.microsoft.com/office/drawing/2014/main" id="{7621125E-6568-DD31-B396-97C688496F5A}"/>
                </a:ext>
              </a:extLst>
            </p:cNvPr>
            <p:cNvSpPr>
              <a:spLocks noEditPoints="1"/>
            </p:cNvSpPr>
            <p:nvPr/>
          </p:nvSpPr>
          <p:spPr bwMode="auto">
            <a:xfrm>
              <a:off x="6413501" y="2011363"/>
              <a:ext cx="44450" cy="85725"/>
            </a:xfrm>
            <a:custGeom>
              <a:avLst/>
              <a:gdLst>
                <a:gd name="T0" fmla="*/ 27 w 55"/>
                <a:gd name="T1" fmla="*/ 17 h 107"/>
                <a:gd name="T2" fmla="*/ 16 w 55"/>
                <a:gd name="T3" fmla="*/ 27 h 107"/>
                <a:gd name="T4" fmla="*/ 16 w 55"/>
                <a:gd name="T5" fmla="*/ 30 h 107"/>
                <a:gd name="T6" fmla="*/ 26 w 55"/>
                <a:gd name="T7" fmla="*/ 75 h 107"/>
                <a:gd name="T8" fmla="*/ 39 w 55"/>
                <a:gd name="T9" fmla="*/ 89 h 107"/>
                <a:gd name="T10" fmla="*/ 38 w 55"/>
                <a:gd name="T11" fmla="*/ 17 h 107"/>
                <a:gd name="T12" fmla="*/ 27 w 55"/>
                <a:gd name="T13" fmla="*/ 17 h 107"/>
                <a:gd name="T14" fmla="*/ 55 w 55"/>
                <a:gd name="T15" fmla="*/ 107 h 107"/>
                <a:gd name="T16" fmla="*/ 47 w 55"/>
                <a:gd name="T17" fmla="*/ 107 h 107"/>
                <a:gd name="T18" fmla="*/ 12 w 55"/>
                <a:gd name="T19" fmla="*/ 82 h 107"/>
                <a:gd name="T20" fmla="*/ 0 w 55"/>
                <a:gd name="T21" fmla="*/ 30 h 107"/>
                <a:gd name="T22" fmla="*/ 0 w 55"/>
                <a:gd name="T23" fmla="*/ 27 h 107"/>
                <a:gd name="T24" fmla="*/ 27 w 55"/>
                <a:gd name="T25" fmla="*/ 0 h 107"/>
                <a:gd name="T26" fmla="*/ 55 w 55"/>
                <a:gd name="T27" fmla="*/ 0 h 107"/>
                <a:gd name="T28" fmla="*/ 55 w 55"/>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 h="107">
                  <a:moveTo>
                    <a:pt x="27" y="17"/>
                  </a:moveTo>
                  <a:cubicBezTo>
                    <a:pt x="21" y="17"/>
                    <a:pt x="16" y="21"/>
                    <a:pt x="16" y="27"/>
                  </a:cubicBezTo>
                  <a:lnTo>
                    <a:pt x="16" y="30"/>
                  </a:lnTo>
                  <a:cubicBezTo>
                    <a:pt x="16" y="46"/>
                    <a:pt x="20" y="62"/>
                    <a:pt x="26" y="75"/>
                  </a:cubicBezTo>
                  <a:cubicBezTo>
                    <a:pt x="31" y="83"/>
                    <a:pt x="34" y="87"/>
                    <a:pt x="39" y="89"/>
                  </a:cubicBezTo>
                  <a:lnTo>
                    <a:pt x="38" y="17"/>
                  </a:lnTo>
                  <a:lnTo>
                    <a:pt x="27" y="17"/>
                  </a:lnTo>
                  <a:close/>
                  <a:moveTo>
                    <a:pt x="55" y="107"/>
                  </a:moveTo>
                  <a:lnTo>
                    <a:pt x="47" y="107"/>
                  </a:lnTo>
                  <a:cubicBezTo>
                    <a:pt x="28" y="107"/>
                    <a:pt x="19" y="98"/>
                    <a:pt x="12" y="82"/>
                  </a:cubicBezTo>
                  <a:cubicBezTo>
                    <a:pt x="4" y="67"/>
                    <a:pt x="0" y="49"/>
                    <a:pt x="0" y="30"/>
                  </a:cubicBezTo>
                  <a:lnTo>
                    <a:pt x="0" y="27"/>
                  </a:lnTo>
                  <a:cubicBezTo>
                    <a:pt x="0" y="12"/>
                    <a:pt x="12" y="0"/>
                    <a:pt x="27" y="0"/>
                  </a:cubicBezTo>
                  <a:lnTo>
                    <a:pt x="55" y="0"/>
                  </a:lnTo>
                  <a:lnTo>
                    <a:pt x="55" y="10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4" name="Freeform 501">
              <a:extLst>
                <a:ext uri="{FF2B5EF4-FFF2-40B4-BE49-F238E27FC236}">
                  <a16:creationId xmlns:a16="http://schemas.microsoft.com/office/drawing/2014/main" id="{7C12DF20-288A-2C8D-9696-F3430EEAB727}"/>
                </a:ext>
              </a:extLst>
            </p:cNvPr>
            <p:cNvSpPr>
              <a:spLocks/>
            </p:cNvSpPr>
            <p:nvPr/>
          </p:nvSpPr>
          <p:spPr bwMode="auto">
            <a:xfrm>
              <a:off x="6411914" y="1846263"/>
              <a:ext cx="260350" cy="174625"/>
            </a:xfrm>
            <a:custGeom>
              <a:avLst/>
              <a:gdLst>
                <a:gd name="T0" fmla="*/ 9 w 323"/>
                <a:gd name="T1" fmla="*/ 217 h 217"/>
                <a:gd name="T2" fmla="*/ 4 w 323"/>
                <a:gd name="T3" fmla="*/ 186 h 217"/>
                <a:gd name="T4" fmla="*/ 11 w 323"/>
                <a:gd name="T5" fmla="*/ 105 h 217"/>
                <a:gd name="T6" fmla="*/ 161 w 323"/>
                <a:gd name="T7" fmla="*/ 2 h 217"/>
                <a:gd name="T8" fmla="*/ 312 w 323"/>
                <a:gd name="T9" fmla="*/ 105 h 217"/>
                <a:gd name="T10" fmla="*/ 318 w 323"/>
                <a:gd name="T11" fmla="*/ 186 h 217"/>
                <a:gd name="T12" fmla="*/ 313 w 323"/>
                <a:gd name="T13" fmla="*/ 217 h 217"/>
                <a:gd name="T14" fmla="*/ 297 w 323"/>
                <a:gd name="T15" fmla="*/ 214 h 217"/>
                <a:gd name="T16" fmla="*/ 302 w 323"/>
                <a:gd name="T17" fmla="*/ 184 h 217"/>
                <a:gd name="T18" fmla="*/ 296 w 323"/>
                <a:gd name="T19" fmla="*/ 111 h 217"/>
                <a:gd name="T20" fmla="*/ 161 w 323"/>
                <a:gd name="T21" fmla="*/ 18 h 217"/>
                <a:gd name="T22" fmla="*/ 26 w 323"/>
                <a:gd name="T23" fmla="*/ 111 h 217"/>
                <a:gd name="T24" fmla="*/ 21 w 323"/>
                <a:gd name="T25" fmla="*/ 184 h 217"/>
                <a:gd name="T26" fmla="*/ 26 w 323"/>
                <a:gd name="T27" fmla="*/ 214 h 217"/>
                <a:gd name="T28" fmla="*/ 9 w 323"/>
                <a:gd name="T29" fmla="*/ 21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3" h="217">
                  <a:moveTo>
                    <a:pt x="9" y="217"/>
                  </a:moveTo>
                  <a:lnTo>
                    <a:pt x="4" y="186"/>
                  </a:lnTo>
                  <a:cubicBezTo>
                    <a:pt x="0" y="157"/>
                    <a:pt x="2" y="129"/>
                    <a:pt x="11" y="105"/>
                  </a:cubicBezTo>
                  <a:cubicBezTo>
                    <a:pt x="34" y="41"/>
                    <a:pt x="95" y="0"/>
                    <a:pt x="161" y="2"/>
                  </a:cubicBezTo>
                  <a:cubicBezTo>
                    <a:pt x="228" y="0"/>
                    <a:pt x="288" y="41"/>
                    <a:pt x="312" y="105"/>
                  </a:cubicBezTo>
                  <a:cubicBezTo>
                    <a:pt x="321" y="129"/>
                    <a:pt x="323" y="157"/>
                    <a:pt x="318" y="186"/>
                  </a:cubicBezTo>
                  <a:lnTo>
                    <a:pt x="313" y="217"/>
                  </a:lnTo>
                  <a:lnTo>
                    <a:pt x="297" y="214"/>
                  </a:lnTo>
                  <a:lnTo>
                    <a:pt x="302" y="184"/>
                  </a:lnTo>
                  <a:cubicBezTo>
                    <a:pt x="306" y="157"/>
                    <a:pt x="304" y="132"/>
                    <a:pt x="296" y="111"/>
                  </a:cubicBezTo>
                  <a:cubicBezTo>
                    <a:pt x="275" y="54"/>
                    <a:pt x="222" y="17"/>
                    <a:pt x="161" y="18"/>
                  </a:cubicBezTo>
                  <a:cubicBezTo>
                    <a:pt x="102" y="17"/>
                    <a:pt x="47" y="54"/>
                    <a:pt x="26" y="111"/>
                  </a:cubicBezTo>
                  <a:cubicBezTo>
                    <a:pt x="18" y="132"/>
                    <a:pt x="16" y="157"/>
                    <a:pt x="21" y="184"/>
                  </a:cubicBezTo>
                  <a:lnTo>
                    <a:pt x="26" y="214"/>
                  </a:lnTo>
                  <a:lnTo>
                    <a:pt x="9" y="21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5" name="Freeform 502">
              <a:extLst>
                <a:ext uri="{FF2B5EF4-FFF2-40B4-BE49-F238E27FC236}">
                  <a16:creationId xmlns:a16="http://schemas.microsoft.com/office/drawing/2014/main" id="{3205EF30-CAF3-79C2-9F43-180594114F79}"/>
                </a:ext>
              </a:extLst>
            </p:cNvPr>
            <p:cNvSpPr>
              <a:spLocks noEditPoints="1"/>
            </p:cNvSpPr>
            <p:nvPr/>
          </p:nvSpPr>
          <p:spPr bwMode="auto">
            <a:xfrm>
              <a:off x="6626226" y="2011363"/>
              <a:ext cx="44450" cy="85725"/>
            </a:xfrm>
            <a:custGeom>
              <a:avLst/>
              <a:gdLst>
                <a:gd name="T0" fmla="*/ 17 w 56"/>
                <a:gd name="T1" fmla="*/ 17 h 107"/>
                <a:gd name="T2" fmla="*/ 17 w 56"/>
                <a:gd name="T3" fmla="*/ 89 h 107"/>
                <a:gd name="T4" fmla="*/ 29 w 56"/>
                <a:gd name="T5" fmla="*/ 75 h 107"/>
                <a:gd name="T6" fmla="*/ 40 w 56"/>
                <a:gd name="T7" fmla="*/ 30 h 107"/>
                <a:gd name="T8" fmla="*/ 40 w 56"/>
                <a:gd name="T9" fmla="*/ 27 h 107"/>
                <a:gd name="T10" fmla="*/ 29 w 56"/>
                <a:gd name="T11" fmla="*/ 17 h 107"/>
                <a:gd name="T12" fmla="*/ 17 w 56"/>
                <a:gd name="T13" fmla="*/ 17 h 107"/>
                <a:gd name="T14" fmla="*/ 9 w 56"/>
                <a:gd name="T15" fmla="*/ 107 h 107"/>
                <a:gd name="T16" fmla="*/ 0 w 56"/>
                <a:gd name="T17" fmla="*/ 107 h 107"/>
                <a:gd name="T18" fmla="*/ 1 w 56"/>
                <a:gd name="T19" fmla="*/ 0 h 107"/>
                <a:gd name="T20" fmla="*/ 29 w 56"/>
                <a:gd name="T21" fmla="*/ 0 h 107"/>
                <a:gd name="T22" fmla="*/ 56 w 56"/>
                <a:gd name="T23" fmla="*/ 27 h 107"/>
                <a:gd name="T24" fmla="*/ 56 w 56"/>
                <a:gd name="T25" fmla="*/ 30 h 107"/>
                <a:gd name="T26" fmla="*/ 44 w 56"/>
                <a:gd name="T27" fmla="*/ 82 h 107"/>
                <a:gd name="T28" fmla="*/ 9 w 56"/>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107">
                  <a:moveTo>
                    <a:pt x="17" y="17"/>
                  </a:moveTo>
                  <a:lnTo>
                    <a:pt x="17" y="89"/>
                  </a:lnTo>
                  <a:cubicBezTo>
                    <a:pt x="22" y="87"/>
                    <a:pt x="25" y="83"/>
                    <a:pt x="29" y="75"/>
                  </a:cubicBezTo>
                  <a:cubicBezTo>
                    <a:pt x="36" y="62"/>
                    <a:pt x="40" y="46"/>
                    <a:pt x="40" y="30"/>
                  </a:cubicBezTo>
                  <a:lnTo>
                    <a:pt x="40" y="27"/>
                  </a:lnTo>
                  <a:cubicBezTo>
                    <a:pt x="40" y="21"/>
                    <a:pt x="35" y="17"/>
                    <a:pt x="29" y="17"/>
                  </a:cubicBezTo>
                  <a:lnTo>
                    <a:pt x="17" y="17"/>
                  </a:lnTo>
                  <a:close/>
                  <a:moveTo>
                    <a:pt x="9" y="107"/>
                  </a:moveTo>
                  <a:lnTo>
                    <a:pt x="0" y="107"/>
                  </a:lnTo>
                  <a:lnTo>
                    <a:pt x="1" y="0"/>
                  </a:lnTo>
                  <a:lnTo>
                    <a:pt x="29" y="0"/>
                  </a:lnTo>
                  <a:cubicBezTo>
                    <a:pt x="44" y="0"/>
                    <a:pt x="56" y="12"/>
                    <a:pt x="56" y="27"/>
                  </a:cubicBezTo>
                  <a:lnTo>
                    <a:pt x="56" y="30"/>
                  </a:lnTo>
                  <a:cubicBezTo>
                    <a:pt x="56" y="49"/>
                    <a:pt x="52" y="67"/>
                    <a:pt x="44" y="82"/>
                  </a:cubicBezTo>
                  <a:cubicBezTo>
                    <a:pt x="36" y="98"/>
                    <a:pt x="28" y="107"/>
                    <a:pt x="9" y="107"/>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6" name="Freeform 503">
              <a:extLst>
                <a:ext uri="{FF2B5EF4-FFF2-40B4-BE49-F238E27FC236}">
                  <a16:creationId xmlns:a16="http://schemas.microsoft.com/office/drawing/2014/main" id="{81EC7BA6-E17E-2821-8FFE-DA48FB7D25C3}"/>
                </a:ext>
              </a:extLst>
            </p:cNvPr>
            <p:cNvSpPr>
              <a:spLocks noEditPoints="1"/>
            </p:cNvSpPr>
            <p:nvPr/>
          </p:nvSpPr>
          <p:spPr bwMode="auto">
            <a:xfrm>
              <a:off x="6530976" y="2166938"/>
              <a:ext cx="103188" cy="103188"/>
            </a:xfrm>
            <a:custGeom>
              <a:avLst/>
              <a:gdLst>
                <a:gd name="T0" fmla="*/ 25 w 128"/>
                <a:gd name="T1" fmla="*/ 72 h 127"/>
                <a:gd name="T2" fmla="*/ 56 w 128"/>
                <a:gd name="T3" fmla="*/ 104 h 127"/>
                <a:gd name="T4" fmla="*/ 106 w 128"/>
                <a:gd name="T5" fmla="*/ 56 h 127"/>
                <a:gd name="T6" fmla="*/ 81 w 128"/>
                <a:gd name="T7" fmla="*/ 24 h 127"/>
                <a:gd name="T8" fmla="*/ 25 w 128"/>
                <a:gd name="T9" fmla="*/ 72 h 127"/>
                <a:gd name="T10" fmla="*/ 55 w 128"/>
                <a:gd name="T11" fmla="*/ 127 h 127"/>
                <a:gd name="T12" fmla="*/ 0 w 128"/>
                <a:gd name="T13" fmla="*/ 71 h 127"/>
                <a:gd name="T14" fmla="*/ 84 w 128"/>
                <a:gd name="T15" fmla="*/ 0 h 127"/>
                <a:gd name="T16" fmla="*/ 128 w 128"/>
                <a:gd name="T17" fmla="*/ 57 h 127"/>
                <a:gd name="T18" fmla="*/ 55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5" y="72"/>
                  </a:moveTo>
                  <a:lnTo>
                    <a:pt x="56" y="104"/>
                  </a:lnTo>
                  <a:lnTo>
                    <a:pt x="106" y="56"/>
                  </a:lnTo>
                  <a:lnTo>
                    <a:pt x="81" y="24"/>
                  </a:lnTo>
                  <a:lnTo>
                    <a:pt x="25" y="72"/>
                  </a:lnTo>
                  <a:close/>
                  <a:moveTo>
                    <a:pt x="55" y="127"/>
                  </a:moveTo>
                  <a:lnTo>
                    <a:pt x="0" y="71"/>
                  </a:lnTo>
                  <a:lnTo>
                    <a:pt x="84" y="0"/>
                  </a:lnTo>
                  <a:lnTo>
                    <a:pt x="128" y="57"/>
                  </a:lnTo>
                  <a:lnTo>
                    <a:pt x="55"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7" name="Freeform 504">
              <a:extLst>
                <a:ext uri="{FF2B5EF4-FFF2-40B4-BE49-F238E27FC236}">
                  <a16:creationId xmlns:a16="http://schemas.microsoft.com/office/drawing/2014/main" id="{27C38C3A-B40F-ACD8-9689-AE31DC077A00}"/>
                </a:ext>
              </a:extLst>
            </p:cNvPr>
            <p:cNvSpPr>
              <a:spLocks noEditPoints="1"/>
            </p:cNvSpPr>
            <p:nvPr/>
          </p:nvSpPr>
          <p:spPr bwMode="auto">
            <a:xfrm>
              <a:off x="6448426" y="2166938"/>
              <a:ext cx="103188" cy="103188"/>
            </a:xfrm>
            <a:custGeom>
              <a:avLst/>
              <a:gdLst>
                <a:gd name="T0" fmla="*/ 22 w 128"/>
                <a:gd name="T1" fmla="*/ 56 h 127"/>
                <a:gd name="T2" fmla="*/ 72 w 128"/>
                <a:gd name="T3" fmla="*/ 104 h 127"/>
                <a:gd name="T4" fmla="*/ 103 w 128"/>
                <a:gd name="T5" fmla="*/ 72 h 127"/>
                <a:gd name="T6" fmla="*/ 47 w 128"/>
                <a:gd name="T7" fmla="*/ 24 h 127"/>
                <a:gd name="T8" fmla="*/ 22 w 128"/>
                <a:gd name="T9" fmla="*/ 56 h 127"/>
                <a:gd name="T10" fmla="*/ 73 w 128"/>
                <a:gd name="T11" fmla="*/ 127 h 127"/>
                <a:gd name="T12" fmla="*/ 0 w 128"/>
                <a:gd name="T13" fmla="*/ 57 h 127"/>
                <a:gd name="T14" fmla="*/ 44 w 128"/>
                <a:gd name="T15" fmla="*/ 0 h 127"/>
                <a:gd name="T16" fmla="*/ 128 w 128"/>
                <a:gd name="T17" fmla="*/ 71 h 127"/>
                <a:gd name="T18" fmla="*/ 73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2" y="56"/>
                  </a:moveTo>
                  <a:lnTo>
                    <a:pt x="72" y="104"/>
                  </a:lnTo>
                  <a:lnTo>
                    <a:pt x="103" y="72"/>
                  </a:lnTo>
                  <a:lnTo>
                    <a:pt x="47" y="24"/>
                  </a:lnTo>
                  <a:lnTo>
                    <a:pt x="22" y="56"/>
                  </a:lnTo>
                  <a:close/>
                  <a:moveTo>
                    <a:pt x="73" y="127"/>
                  </a:moveTo>
                  <a:lnTo>
                    <a:pt x="0" y="57"/>
                  </a:lnTo>
                  <a:lnTo>
                    <a:pt x="44" y="0"/>
                  </a:lnTo>
                  <a:lnTo>
                    <a:pt x="128" y="71"/>
                  </a:lnTo>
                  <a:lnTo>
                    <a:pt x="73"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8" name="Freeform 505">
              <a:extLst>
                <a:ext uri="{FF2B5EF4-FFF2-40B4-BE49-F238E27FC236}">
                  <a16:creationId xmlns:a16="http://schemas.microsoft.com/office/drawing/2014/main" id="{2CC1E00A-2DC1-96A7-5671-362E6D9EB736}"/>
                </a:ext>
              </a:extLst>
            </p:cNvPr>
            <p:cNvSpPr>
              <a:spLocks/>
            </p:cNvSpPr>
            <p:nvPr/>
          </p:nvSpPr>
          <p:spPr bwMode="auto">
            <a:xfrm>
              <a:off x="6508751" y="2249488"/>
              <a:ext cx="66675" cy="31750"/>
            </a:xfrm>
            <a:custGeom>
              <a:avLst/>
              <a:gdLst>
                <a:gd name="T0" fmla="*/ 41 w 83"/>
                <a:gd name="T1" fmla="*/ 40 h 40"/>
                <a:gd name="T2" fmla="*/ 20 w 83"/>
                <a:gd name="T3" fmla="*/ 31 h 40"/>
                <a:gd name="T4" fmla="*/ 0 w 83"/>
                <a:gd name="T5" fmla="*/ 12 h 40"/>
                <a:gd name="T6" fmla="*/ 12 w 83"/>
                <a:gd name="T7" fmla="*/ 0 h 40"/>
                <a:gd name="T8" fmla="*/ 32 w 83"/>
                <a:gd name="T9" fmla="*/ 19 h 40"/>
                <a:gd name="T10" fmla="*/ 51 w 83"/>
                <a:gd name="T11" fmla="*/ 19 h 40"/>
                <a:gd name="T12" fmla="*/ 71 w 83"/>
                <a:gd name="T13" fmla="*/ 0 h 40"/>
                <a:gd name="T14" fmla="*/ 83 w 83"/>
                <a:gd name="T15" fmla="*/ 12 h 40"/>
                <a:gd name="T16" fmla="*/ 63 w 83"/>
                <a:gd name="T17" fmla="*/ 31 h 40"/>
                <a:gd name="T18" fmla="*/ 41 w 83"/>
                <a:gd name="T1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40">
                  <a:moveTo>
                    <a:pt x="41" y="40"/>
                  </a:moveTo>
                  <a:cubicBezTo>
                    <a:pt x="34" y="40"/>
                    <a:pt x="26" y="37"/>
                    <a:pt x="20" y="31"/>
                  </a:cubicBezTo>
                  <a:lnTo>
                    <a:pt x="0" y="12"/>
                  </a:lnTo>
                  <a:lnTo>
                    <a:pt x="12" y="0"/>
                  </a:lnTo>
                  <a:lnTo>
                    <a:pt x="32" y="19"/>
                  </a:lnTo>
                  <a:cubicBezTo>
                    <a:pt x="37" y="24"/>
                    <a:pt x="46" y="24"/>
                    <a:pt x="51" y="19"/>
                  </a:cubicBezTo>
                  <a:lnTo>
                    <a:pt x="71" y="0"/>
                  </a:lnTo>
                  <a:lnTo>
                    <a:pt x="83" y="12"/>
                  </a:lnTo>
                  <a:lnTo>
                    <a:pt x="63" y="31"/>
                  </a:lnTo>
                  <a:cubicBezTo>
                    <a:pt x="57" y="37"/>
                    <a:pt x="49" y="40"/>
                    <a:pt x="41" y="40"/>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9" name="Freeform 506">
              <a:extLst>
                <a:ext uri="{FF2B5EF4-FFF2-40B4-BE49-F238E27FC236}">
                  <a16:creationId xmlns:a16="http://schemas.microsoft.com/office/drawing/2014/main" id="{5E481F2F-1486-D22B-B2B9-26BFB56E3CD9}"/>
                </a:ext>
              </a:extLst>
            </p:cNvPr>
            <p:cNvSpPr>
              <a:spLocks/>
            </p:cNvSpPr>
            <p:nvPr/>
          </p:nvSpPr>
          <p:spPr bwMode="auto">
            <a:xfrm>
              <a:off x="6508751" y="2268538"/>
              <a:ext cx="25400" cy="57150"/>
            </a:xfrm>
            <a:custGeom>
              <a:avLst/>
              <a:gdLst>
                <a:gd name="T0" fmla="*/ 8 w 16"/>
                <a:gd name="T1" fmla="*/ 36 h 36"/>
                <a:gd name="T2" fmla="*/ 0 w 16"/>
                <a:gd name="T3" fmla="*/ 34 h 36"/>
                <a:gd name="T4" fmla="*/ 8 w 16"/>
                <a:gd name="T5" fmla="*/ 0 h 36"/>
                <a:gd name="T6" fmla="*/ 16 w 16"/>
                <a:gd name="T7" fmla="*/ 2 h 36"/>
                <a:gd name="T8" fmla="*/ 8 w 16"/>
                <a:gd name="T9" fmla="*/ 36 h 36"/>
              </a:gdLst>
              <a:ahLst/>
              <a:cxnLst>
                <a:cxn ang="0">
                  <a:pos x="T0" y="T1"/>
                </a:cxn>
                <a:cxn ang="0">
                  <a:pos x="T2" y="T3"/>
                </a:cxn>
                <a:cxn ang="0">
                  <a:pos x="T4" y="T5"/>
                </a:cxn>
                <a:cxn ang="0">
                  <a:pos x="T6" y="T7"/>
                </a:cxn>
                <a:cxn ang="0">
                  <a:pos x="T8" y="T9"/>
                </a:cxn>
              </a:cxnLst>
              <a:rect l="0" t="0" r="r" b="b"/>
              <a:pathLst>
                <a:path w="16" h="36">
                  <a:moveTo>
                    <a:pt x="8" y="36"/>
                  </a:moveTo>
                  <a:lnTo>
                    <a:pt x="0" y="34"/>
                  </a:lnTo>
                  <a:lnTo>
                    <a:pt x="8" y="0"/>
                  </a:lnTo>
                  <a:lnTo>
                    <a:pt x="16" y="2"/>
                  </a:lnTo>
                  <a:lnTo>
                    <a:pt x="8"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0" name="Freeform 507">
              <a:extLst>
                <a:ext uri="{FF2B5EF4-FFF2-40B4-BE49-F238E27FC236}">
                  <a16:creationId xmlns:a16="http://schemas.microsoft.com/office/drawing/2014/main" id="{EED53AA6-85FC-588F-7E68-4DB15A26834B}"/>
                </a:ext>
              </a:extLst>
            </p:cNvPr>
            <p:cNvSpPr>
              <a:spLocks/>
            </p:cNvSpPr>
            <p:nvPr/>
          </p:nvSpPr>
          <p:spPr bwMode="auto">
            <a:xfrm>
              <a:off x="6548439" y="2268538"/>
              <a:ext cx="26988" cy="57150"/>
            </a:xfrm>
            <a:custGeom>
              <a:avLst/>
              <a:gdLst>
                <a:gd name="T0" fmla="*/ 9 w 17"/>
                <a:gd name="T1" fmla="*/ 36 h 36"/>
                <a:gd name="T2" fmla="*/ 0 w 17"/>
                <a:gd name="T3" fmla="*/ 2 h 36"/>
                <a:gd name="T4" fmla="*/ 9 w 17"/>
                <a:gd name="T5" fmla="*/ 0 h 36"/>
                <a:gd name="T6" fmla="*/ 17 w 17"/>
                <a:gd name="T7" fmla="*/ 34 h 36"/>
                <a:gd name="T8" fmla="*/ 9 w 17"/>
                <a:gd name="T9" fmla="*/ 36 h 36"/>
              </a:gdLst>
              <a:ahLst/>
              <a:cxnLst>
                <a:cxn ang="0">
                  <a:pos x="T0" y="T1"/>
                </a:cxn>
                <a:cxn ang="0">
                  <a:pos x="T2" y="T3"/>
                </a:cxn>
                <a:cxn ang="0">
                  <a:pos x="T4" y="T5"/>
                </a:cxn>
                <a:cxn ang="0">
                  <a:pos x="T6" y="T7"/>
                </a:cxn>
                <a:cxn ang="0">
                  <a:pos x="T8" y="T9"/>
                </a:cxn>
              </a:cxnLst>
              <a:rect l="0" t="0" r="r" b="b"/>
              <a:pathLst>
                <a:path w="17" h="36">
                  <a:moveTo>
                    <a:pt x="9" y="36"/>
                  </a:moveTo>
                  <a:lnTo>
                    <a:pt x="0" y="2"/>
                  </a:lnTo>
                  <a:lnTo>
                    <a:pt x="9" y="0"/>
                  </a:lnTo>
                  <a:lnTo>
                    <a:pt x="17" y="34"/>
                  </a:lnTo>
                  <a:lnTo>
                    <a:pt x="9"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91" name="Presentation9" descr="{&quot;Key&quot;:&quot;POWER_USER_SHAPE_ICON&quot;,&quot;Value&quot;:&quot;POWER_USER_SHAPE_ICON_STYLE_1&quot;}">
            <a:extLst>
              <a:ext uri="{FF2B5EF4-FFF2-40B4-BE49-F238E27FC236}">
                <a16:creationId xmlns:a16="http://schemas.microsoft.com/office/drawing/2014/main" id="{C2CD6E59-0CF9-15D5-2AB1-69A61188D20C}"/>
              </a:ext>
            </a:extLst>
          </p:cNvPr>
          <p:cNvGrpSpPr>
            <a:grpSpLocks noChangeAspect="1"/>
          </p:cNvGrpSpPr>
          <p:nvPr>
            <p:custDataLst>
              <p:tags r:id="rId4"/>
            </p:custDataLst>
          </p:nvPr>
        </p:nvGrpSpPr>
        <p:grpSpPr>
          <a:xfrm>
            <a:off x="3660972" y="5109274"/>
            <a:ext cx="433996" cy="311779"/>
            <a:chOff x="6796088" y="1851026"/>
            <a:chExt cx="884238" cy="677862"/>
          </a:xfrm>
          <a:noFill/>
        </p:grpSpPr>
        <p:sp>
          <p:nvSpPr>
            <p:cNvPr id="492" name="Freeform 157">
              <a:extLst>
                <a:ext uri="{FF2B5EF4-FFF2-40B4-BE49-F238E27FC236}">
                  <a16:creationId xmlns:a16="http://schemas.microsoft.com/office/drawing/2014/main" id="{42647B48-86A1-3539-023D-A03ED6B4E914}"/>
                </a:ext>
              </a:extLst>
            </p:cNvPr>
            <p:cNvSpPr>
              <a:spLocks/>
            </p:cNvSpPr>
            <p:nvPr/>
          </p:nvSpPr>
          <p:spPr bwMode="auto">
            <a:xfrm>
              <a:off x="7018338" y="1851026"/>
              <a:ext cx="661988" cy="512763"/>
            </a:xfrm>
            <a:custGeom>
              <a:avLst/>
              <a:gdLst>
                <a:gd name="T0" fmla="*/ 54 w 870"/>
                <a:gd name="T1" fmla="*/ 54 h 673"/>
                <a:gd name="T2" fmla="*/ 816 w 870"/>
                <a:gd name="T3" fmla="*/ 54 h 673"/>
                <a:gd name="T4" fmla="*/ 816 w 870"/>
                <a:gd name="T5" fmla="*/ 619 h 673"/>
                <a:gd name="T6" fmla="*/ 394 w 870"/>
                <a:gd name="T7" fmla="*/ 619 h 673"/>
                <a:gd name="T8" fmla="*/ 295 w 870"/>
                <a:gd name="T9" fmla="*/ 673 h 673"/>
                <a:gd name="T10" fmla="*/ 817 w 870"/>
                <a:gd name="T11" fmla="*/ 673 h 673"/>
                <a:gd name="T12" fmla="*/ 870 w 870"/>
                <a:gd name="T13" fmla="*/ 620 h 673"/>
                <a:gd name="T14" fmla="*/ 870 w 870"/>
                <a:gd name="T15" fmla="*/ 53 h 673"/>
                <a:gd name="T16" fmla="*/ 817 w 870"/>
                <a:gd name="T17" fmla="*/ 0 h 673"/>
                <a:gd name="T18" fmla="*/ 53 w 870"/>
                <a:gd name="T19" fmla="*/ 0 h 673"/>
                <a:gd name="T20" fmla="*/ 0 w 870"/>
                <a:gd name="T21" fmla="*/ 53 h 673"/>
                <a:gd name="T22" fmla="*/ 0 w 870"/>
                <a:gd name="T23" fmla="*/ 185 h 673"/>
                <a:gd name="T24" fmla="*/ 54 w 870"/>
                <a:gd name="T25" fmla="*/ 215 h 673"/>
                <a:gd name="T26" fmla="*/ 54 w 870"/>
                <a:gd name="T27" fmla="*/ 54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0" h="673">
                  <a:moveTo>
                    <a:pt x="54" y="54"/>
                  </a:moveTo>
                  <a:lnTo>
                    <a:pt x="816" y="54"/>
                  </a:lnTo>
                  <a:lnTo>
                    <a:pt x="816" y="619"/>
                  </a:lnTo>
                  <a:lnTo>
                    <a:pt x="394" y="619"/>
                  </a:lnTo>
                  <a:cubicBezTo>
                    <a:pt x="363" y="638"/>
                    <a:pt x="330" y="656"/>
                    <a:pt x="295" y="673"/>
                  </a:cubicBezTo>
                  <a:lnTo>
                    <a:pt x="817" y="673"/>
                  </a:lnTo>
                  <a:cubicBezTo>
                    <a:pt x="846" y="673"/>
                    <a:pt x="870" y="650"/>
                    <a:pt x="870" y="620"/>
                  </a:cubicBezTo>
                  <a:lnTo>
                    <a:pt x="870" y="53"/>
                  </a:lnTo>
                  <a:cubicBezTo>
                    <a:pt x="870" y="23"/>
                    <a:pt x="846" y="0"/>
                    <a:pt x="817" y="0"/>
                  </a:cubicBezTo>
                  <a:lnTo>
                    <a:pt x="53" y="0"/>
                  </a:lnTo>
                  <a:cubicBezTo>
                    <a:pt x="24" y="0"/>
                    <a:pt x="0" y="23"/>
                    <a:pt x="0" y="53"/>
                  </a:cubicBezTo>
                  <a:lnTo>
                    <a:pt x="0" y="185"/>
                  </a:lnTo>
                  <a:cubicBezTo>
                    <a:pt x="20" y="192"/>
                    <a:pt x="38" y="202"/>
                    <a:pt x="54" y="215"/>
                  </a:cubicBezTo>
                  <a:lnTo>
                    <a:pt x="54" y="54"/>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3" name="Freeform 158">
              <a:extLst>
                <a:ext uri="{FF2B5EF4-FFF2-40B4-BE49-F238E27FC236}">
                  <a16:creationId xmlns:a16="http://schemas.microsoft.com/office/drawing/2014/main" id="{D2EBB919-8A7D-36AE-856A-E0E7C7DF6F09}"/>
                </a:ext>
              </a:extLst>
            </p:cNvPr>
            <p:cNvSpPr>
              <a:spLocks/>
            </p:cNvSpPr>
            <p:nvPr/>
          </p:nvSpPr>
          <p:spPr bwMode="auto">
            <a:xfrm>
              <a:off x="6796088" y="2162175"/>
              <a:ext cx="573088" cy="366713"/>
            </a:xfrm>
            <a:custGeom>
              <a:avLst/>
              <a:gdLst>
                <a:gd name="T0" fmla="*/ 122 w 753"/>
                <a:gd name="T1" fmla="*/ 359 h 482"/>
                <a:gd name="T2" fmla="*/ 154 w 753"/>
                <a:gd name="T3" fmla="*/ 359 h 482"/>
                <a:gd name="T4" fmla="*/ 164 w 753"/>
                <a:gd name="T5" fmla="*/ 482 h 482"/>
                <a:gd name="T6" fmla="*/ 399 w 753"/>
                <a:gd name="T7" fmla="*/ 482 h 482"/>
                <a:gd name="T8" fmla="*/ 399 w 753"/>
                <a:gd name="T9" fmla="*/ 279 h 482"/>
                <a:gd name="T10" fmla="*/ 716 w 753"/>
                <a:gd name="T11" fmla="*/ 121 h 482"/>
                <a:gd name="T12" fmla="*/ 727 w 753"/>
                <a:gd name="T13" fmla="*/ 23 h 482"/>
                <a:gd name="T14" fmla="*/ 679 w 753"/>
                <a:gd name="T15" fmla="*/ 0 h 482"/>
                <a:gd name="T16" fmla="*/ 653 w 753"/>
                <a:gd name="T17" fmla="*/ 7 h 482"/>
                <a:gd name="T18" fmla="*/ 317 w 753"/>
                <a:gd name="T19" fmla="*/ 123 h 482"/>
                <a:gd name="T20" fmla="*/ 230 w 753"/>
                <a:gd name="T21" fmla="*/ 190 h 482"/>
                <a:gd name="T22" fmla="*/ 149 w 753"/>
                <a:gd name="T23" fmla="*/ 129 h 482"/>
                <a:gd name="T24" fmla="*/ 0 w 753"/>
                <a:gd name="T25" fmla="*/ 309 h 482"/>
                <a:gd name="T26" fmla="*/ 0 w 753"/>
                <a:gd name="T27" fmla="*/ 482 h 482"/>
                <a:gd name="T28" fmla="*/ 122 w 753"/>
                <a:gd name="T29" fmla="*/ 482 h 482"/>
                <a:gd name="T30" fmla="*/ 122 w 753"/>
                <a:gd name="T31" fmla="*/ 359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3" h="482">
                  <a:moveTo>
                    <a:pt x="122" y="359"/>
                  </a:moveTo>
                  <a:lnTo>
                    <a:pt x="154" y="359"/>
                  </a:lnTo>
                  <a:lnTo>
                    <a:pt x="164" y="482"/>
                  </a:lnTo>
                  <a:lnTo>
                    <a:pt x="399" y="482"/>
                  </a:lnTo>
                  <a:lnTo>
                    <a:pt x="399" y="279"/>
                  </a:lnTo>
                  <a:cubicBezTo>
                    <a:pt x="529" y="237"/>
                    <a:pt x="643" y="176"/>
                    <a:pt x="716" y="121"/>
                  </a:cubicBezTo>
                  <a:cubicBezTo>
                    <a:pt x="747" y="98"/>
                    <a:pt x="753" y="55"/>
                    <a:pt x="727" y="23"/>
                  </a:cubicBezTo>
                  <a:cubicBezTo>
                    <a:pt x="715" y="9"/>
                    <a:pt x="697" y="0"/>
                    <a:pt x="679" y="0"/>
                  </a:cubicBezTo>
                  <a:cubicBezTo>
                    <a:pt x="670" y="0"/>
                    <a:pt x="661" y="3"/>
                    <a:pt x="653" y="7"/>
                  </a:cubicBezTo>
                  <a:cubicBezTo>
                    <a:pt x="488" y="100"/>
                    <a:pt x="404" y="119"/>
                    <a:pt x="317" y="123"/>
                  </a:cubicBezTo>
                  <a:lnTo>
                    <a:pt x="230" y="190"/>
                  </a:lnTo>
                  <a:lnTo>
                    <a:pt x="149" y="129"/>
                  </a:lnTo>
                  <a:cubicBezTo>
                    <a:pt x="60" y="145"/>
                    <a:pt x="0" y="199"/>
                    <a:pt x="0" y="309"/>
                  </a:cubicBezTo>
                  <a:lnTo>
                    <a:pt x="0" y="482"/>
                  </a:lnTo>
                  <a:lnTo>
                    <a:pt x="122" y="482"/>
                  </a:lnTo>
                  <a:lnTo>
                    <a:pt x="122" y="359"/>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4" name="Oval 159">
              <a:extLst>
                <a:ext uri="{FF2B5EF4-FFF2-40B4-BE49-F238E27FC236}">
                  <a16:creationId xmlns:a16="http://schemas.microsoft.com/office/drawing/2014/main" id="{E3878BA2-F33F-1225-2288-508B5E4559FE}"/>
                </a:ext>
              </a:extLst>
            </p:cNvPr>
            <p:cNvSpPr>
              <a:spLocks noChangeArrowheads="1"/>
            </p:cNvSpPr>
            <p:nvPr/>
          </p:nvSpPr>
          <p:spPr bwMode="auto">
            <a:xfrm>
              <a:off x="6867526" y="2022475"/>
              <a:ext cx="206375" cy="204788"/>
            </a:xfrm>
            <a:prstGeom prst="ellipse">
              <a:avLst/>
            </a:pr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5" name="Freeform 160">
              <a:extLst>
                <a:ext uri="{FF2B5EF4-FFF2-40B4-BE49-F238E27FC236}">
                  <a16:creationId xmlns:a16="http://schemas.microsoft.com/office/drawing/2014/main" id="{23615C53-31F8-9B53-6483-E66A79546B71}"/>
                </a:ext>
              </a:extLst>
            </p:cNvPr>
            <p:cNvSpPr>
              <a:spLocks/>
            </p:cNvSpPr>
            <p:nvPr/>
          </p:nvSpPr>
          <p:spPr bwMode="auto">
            <a:xfrm>
              <a:off x="7173913" y="1997075"/>
              <a:ext cx="382588" cy="165100"/>
            </a:xfrm>
            <a:custGeom>
              <a:avLst/>
              <a:gdLst>
                <a:gd name="T0" fmla="*/ 489 w 503"/>
                <a:gd name="T1" fmla="*/ 117 h 216"/>
                <a:gd name="T2" fmla="*/ 494 w 503"/>
                <a:gd name="T3" fmla="*/ 111 h 216"/>
                <a:gd name="T4" fmla="*/ 502 w 503"/>
                <a:gd name="T5" fmla="*/ 8 h 216"/>
                <a:gd name="T6" fmla="*/ 500 w 503"/>
                <a:gd name="T7" fmla="*/ 2 h 216"/>
                <a:gd name="T8" fmla="*/ 494 w 503"/>
                <a:gd name="T9" fmla="*/ 0 h 216"/>
                <a:gd name="T10" fmla="*/ 391 w 503"/>
                <a:gd name="T11" fmla="*/ 9 h 216"/>
                <a:gd name="T12" fmla="*/ 385 w 503"/>
                <a:gd name="T13" fmla="*/ 14 h 216"/>
                <a:gd name="T14" fmla="*/ 387 w 503"/>
                <a:gd name="T15" fmla="*/ 21 h 216"/>
                <a:gd name="T16" fmla="*/ 416 w 503"/>
                <a:gd name="T17" fmla="*/ 50 h 216"/>
                <a:gd name="T18" fmla="*/ 292 w 503"/>
                <a:gd name="T19" fmla="*/ 152 h 216"/>
                <a:gd name="T20" fmla="*/ 190 w 503"/>
                <a:gd name="T21" fmla="*/ 73 h 216"/>
                <a:gd name="T22" fmla="*/ 161 w 503"/>
                <a:gd name="T23" fmla="*/ 72 h 216"/>
                <a:gd name="T24" fmla="*/ 0 w 503"/>
                <a:gd name="T25" fmla="*/ 174 h 216"/>
                <a:gd name="T26" fmla="*/ 27 w 503"/>
                <a:gd name="T27" fmla="*/ 216 h 216"/>
                <a:gd name="T28" fmla="*/ 173 w 503"/>
                <a:gd name="T29" fmla="*/ 124 h 216"/>
                <a:gd name="T30" fmla="*/ 278 w 503"/>
                <a:gd name="T31" fmla="*/ 205 h 216"/>
                <a:gd name="T32" fmla="*/ 309 w 503"/>
                <a:gd name="T33" fmla="*/ 204 h 216"/>
                <a:gd name="T34" fmla="*/ 452 w 503"/>
                <a:gd name="T35" fmla="*/ 86 h 216"/>
                <a:gd name="T36" fmla="*/ 482 w 503"/>
                <a:gd name="T37" fmla="*/ 116 h 216"/>
                <a:gd name="T38" fmla="*/ 489 w 503"/>
                <a:gd name="T39" fmla="*/ 11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3" h="216">
                  <a:moveTo>
                    <a:pt x="489" y="117"/>
                  </a:moveTo>
                  <a:cubicBezTo>
                    <a:pt x="492" y="116"/>
                    <a:pt x="494" y="114"/>
                    <a:pt x="494" y="111"/>
                  </a:cubicBezTo>
                  <a:lnTo>
                    <a:pt x="502" y="8"/>
                  </a:lnTo>
                  <a:cubicBezTo>
                    <a:pt x="503" y="6"/>
                    <a:pt x="502" y="4"/>
                    <a:pt x="500" y="2"/>
                  </a:cubicBezTo>
                  <a:cubicBezTo>
                    <a:pt x="499" y="0"/>
                    <a:pt x="497" y="0"/>
                    <a:pt x="494" y="0"/>
                  </a:cubicBezTo>
                  <a:lnTo>
                    <a:pt x="391" y="9"/>
                  </a:lnTo>
                  <a:cubicBezTo>
                    <a:pt x="388" y="9"/>
                    <a:pt x="386" y="11"/>
                    <a:pt x="385" y="14"/>
                  </a:cubicBezTo>
                  <a:cubicBezTo>
                    <a:pt x="384" y="16"/>
                    <a:pt x="385" y="19"/>
                    <a:pt x="387" y="21"/>
                  </a:cubicBezTo>
                  <a:lnTo>
                    <a:pt x="416" y="50"/>
                  </a:lnTo>
                  <a:lnTo>
                    <a:pt x="292" y="152"/>
                  </a:lnTo>
                  <a:lnTo>
                    <a:pt x="190" y="73"/>
                  </a:lnTo>
                  <a:cubicBezTo>
                    <a:pt x="182" y="67"/>
                    <a:pt x="170" y="66"/>
                    <a:pt x="161" y="72"/>
                  </a:cubicBezTo>
                  <a:lnTo>
                    <a:pt x="0" y="174"/>
                  </a:lnTo>
                  <a:lnTo>
                    <a:pt x="27" y="216"/>
                  </a:lnTo>
                  <a:lnTo>
                    <a:pt x="173" y="124"/>
                  </a:lnTo>
                  <a:lnTo>
                    <a:pt x="278" y="205"/>
                  </a:lnTo>
                  <a:cubicBezTo>
                    <a:pt x="287" y="212"/>
                    <a:pt x="300" y="212"/>
                    <a:pt x="309" y="204"/>
                  </a:cubicBezTo>
                  <a:lnTo>
                    <a:pt x="452" y="86"/>
                  </a:lnTo>
                  <a:lnTo>
                    <a:pt x="482" y="116"/>
                  </a:lnTo>
                  <a:cubicBezTo>
                    <a:pt x="485" y="119"/>
                    <a:pt x="488" y="118"/>
                    <a:pt x="489" y="117"/>
                  </a:cubicBez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96" name="Rounded Rectangle 67">
            <a:extLst>
              <a:ext uri="{FF2B5EF4-FFF2-40B4-BE49-F238E27FC236}">
                <a16:creationId xmlns:a16="http://schemas.microsoft.com/office/drawing/2014/main" id="{D2CBF254-21B2-0BEA-B5D4-433AE427D352}"/>
              </a:ext>
            </a:extLst>
          </p:cNvPr>
          <p:cNvSpPr>
            <a:spLocks/>
          </p:cNvSpPr>
          <p:nvPr/>
        </p:nvSpPr>
        <p:spPr>
          <a:xfrm>
            <a:off x="5585624" y="1137552"/>
            <a:ext cx="4564512" cy="1071421"/>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497" name="TextBox 196">
            <a:extLst>
              <a:ext uri="{FF2B5EF4-FFF2-40B4-BE49-F238E27FC236}">
                <a16:creationId xmlns:a16="http://schemas.microsoft.com/office/drawing/2014/main" id="{BE19419A-2893-AF2E-052E-D69A0B722C0F}"/>
              </a:ext>
            </a:extLst>
          </p:cNvPr>
          <p:cNvSpPr txBox="1">
            <a:spLocks/>
          </p:cNvSpPr>
          <p:nvPr/>
        </p:nvSpPr>
        <p:spPr>
          <a:xfrm>
            <a:off x="5667813" y="1017324"/>
            <a:ext cx="1917715" cy="313624"/>
          </a:xfrm>
          <a:prstGeom prst="roundRect">
            <a:avLst>
              <a:gd name="adj" fmla="val 50000"/>
            </a:avLst>
          </a:prstGeom>
          <a:solidFill>
            <a:srgbClr val="12ABDB"/>
          </a:solidFill>
          <a:ln w="25400" cap="flat" cmpd="sng" algn="ctr">
            <a:no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chemeClr val="tx1"/>
                </a:solidFill>
                <a:effectLst/>
                <a:uLnTx/>
                <a:uFillTx/>
                <a:latin typeface="+mj-lt"/>
                <a:ea typeface="Verdana" panose="020B0604030504040204" pitchFamily="34" charset="0"/>
                <a:cs typeface="Verdana" panose="020B0604030504040204" pitchFamily="34" charset="0"/>
              </a:rPr>
              <a:t>Output</a:t>
            </a:r>
            <a:endParaRPr kumimoji="0" lang="en-US" sz="1000" b="0" i="0" u="none" strike="noStrike" kern="0" cap="none" spc="0" normalizeH="0" baseline="0" noProof="0">
              <a:ln>
                <a:noFill/>
              </a:ln>
              <a:solidFill>
                <a:schemeClr val="tx1"/>
              </a:solidFill>
              <a:effectLst/>
              <a:uLnTx/>
              <a:uFillTx/>
              <a:latin typeface="+mj-lt"/>
              <a:ea typeface="Verdana" panose="020B0604030504040204" pitchFamily="34" charset="0"/>
              <a:cs typeface="Verdana" panose="020B0604030504040204" pitchFamily="34" charset="0"/>
            </a:endParaRPr>
          </a:p>
        </p:txBody>
      </p:sp>
      <p:grpSp>
        <p:nvGrpSpPr>
          <p:cNvPr id="516" name="Presentation9" descr="{&quot;Key&quot;:&quot;POWER_USER_SHAPE_ICON&quot;,&quot;Value&quot;:&quot;POWER_USER_SHAPE_ICON_STYLE_1&quot;}">
            <a:extLst>
              <a:ext uri="{FF2B5EF4-FFF2-40B4-BE49-F238E27FC236}">
                <a16:creationId xmlns:a16="http://schemas.microsoft.com/office/drawing/2014/main" id="{FE2F3296-7EF6-C4B1-A288-B50990DAA629}"/>
              </a:ext>
            </a:extLst>
          </p:cNvPr>
          <p:cNvGrpSpPr>
            <a:grpSpLocks noChangeAspect="1"/>
          </p:cNvGrpSpPr>
          <p:nvPr>
            <p:custDataLst>
              <p:tags r:id="rId5"/>
            </p:custDataLst>
          </p:nvPr>
        </p:nvGrpSpPr>
        <p:grpSpPr>
          <a:xfrm>
            <a:off x="5724525" y="871507"/>
            <a:ext cx="433996" cy="324000"/>
            <a:chOff x="6796088" y="1851026"/>
            <a:chExt cx="884238" cy="677862"/>
          </a:xfrm>
          <a:noFill/>
        </p:grpSpPr>
        <p:sp>
          <p:nvSpPr>
            <p:cNvPr id="517" name="Freeform 157">
              <a:extLst>
                <a:ext uri="{FF2B5EF4-FFF2-40B4-BE49-F238E27FC236}">
                  <a16:creationId xmlns:a16="http://schemas.microsoft.com/office/drawing/2014/main" id="{52E64A46-48DB-11EA-7D63-79D69FE4F51E}"/>
                </a:ext>
              </a:extLst>
            </p:cNvPr>
            <p:cNvSpPr>
              <a:spLocks/>
            </p:cNvSpPr>
            <p:nvPr/>
          </p:nvSpPr>
          <p:spPr bwMode="auto">
            <a:xfrm>
              <a:off x="7018338" y="1851026"/>
              <a:ext cx="661988" cy="512763"/>
            </a:xfrm>
            <a:custGeom>
              <a:avLst/>
              <a:gdLst>
                <a:gd name="T0" fmla="*/ 54 w 870"/>
                <a:gd name="T1" fmla="*/ 54 h 673"/>
                <a:gd name="T2" fmla="*/ 816 w 870"/>
                <a:gd name="T3" fmla="*/ 54 h 673"/>
                <a:gd name="T4" fmla="*/ 816 w 870"/>
                <a:gd name="T5" fmla="*/ 619 h 673"/>
                <a:gd name="T6" fmla="*/ 394 w 870"/>
                <a:gd name="T7" fmla="*/ 619 h 673"/>
                <a:gd name="T8" fmla="*/ 295 w 870"/>
                <a:gd name="T9" fmla="*/ 673 h 673"/>
                <a:gd name="T10" fmla="*/ 817 w 870"/>
                <a:gd name="T11" fmla="*/ 673 h 673"/>
                <a:gd name="T12" fmla="*/ 870 w 870"/>
                <a:gd name="T13" fmla="*/ 620 h 673"/>
                <a:gd name="T14" fmla="*/ 870 w 870"/>
                <a:gd name="T15" fmla="*/ 53 h 673"/>
                <a:gd name="T16" fmla="*/ 817 w 870"/>
                <a:gd name="T17" fmla="*/ 0 h 673"/>
                <a:gd name="T18" fmla="*/ 53 w 870"/>
                <a:gd name="T19" fmla="*/ 0 h 673"/>
                <a:gd name="T20" fmla="*/ 0 w 870"/>
                <a:gd name="T21" fmla="*/ 53 h 673"/>
                <a:gd name="T22" fmla="*/ 0 w 870"/>
                <a:gd name="T23" fmla="*/ 185 h 673"/>
                <a:gd name="T24" fmla="*/ 54 w 870"/>
                <a:gd name="T25" fmla="*/ 215 h 673"/>
                <a:gd name="T26" fmla="*/ 54 w 870"/>
                <a:gd name="T27" fmla="*/ 54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0" h="673">
                  <a:moveTo>
                    <a:pt x="54" y="54"/>
                  </a:moveTo>
                  <a:lnTo>
                    <a:pt x="816" y="54"/>
                  </a:lnTo>
                  <a:lnTo>
                    <a:pt x="816" y="619"/>
                  </a:lnTo>
                  <a:lnTo>
                    <a:pt x="394" y="619"/>
                  </a:lnTo>
                  <a:cubicBezTo>
                    <a:pt x="363" y="638"/>
                    <a:pt x="330" y="656"/>
                    <a:pt x="295" y="673"/>
                  </a:cubicBezTo>
                  <a:lnTo>
                    <a:pt x="817" y="673"/>
                  </a:lnTo>
                  <a:cubicBezTo>
                    <a:pt x="846" y="673"/>
                    <a:pt x="870" y="650"/>
                    <a:pt x="870" y="620"/>
                  </a:cubicBezTo>
                  <a:lnTo>
                    <a:pt x="870" y="53"/>
                  </a:lnTo>
                  <a:cubicBezTo>
                    <a:pt x="870" y="23"/>
                    <a:pt x="846" y="0"/>
                    <a:pt x="817" y="0"/>
                  </a:cubicBezTo>
                  <a:lnTo>
                    <a:pt x="53" y="0"/>
                  </a:lnTo>
                  <a:cubicBezTo>
                    <a:pt x="24" y="0"/>
                    <a:pt x="0" y="23"/>
                    <a:pt x="0" y="53"/>
                  </a:cubicBezTo>
                  <a:lnTo>
                    <a:pt x="0" y="185"/>
                  </a:lnTo>
                  <a:cubicBezTo>
                    <a:pt x="20" y="192"/>
                    <a:pt x="38" y="202"/>
                    <a:pt x="54" y="215"/>
                  </a:cubicBezTo>
                  <a:lnTo>
                    <a:pt x="54" y="54"/>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8" name="Freeform 158">
              <a:extLst>
                <a:ext uri="{FF2B5EF4-FFF2-40B4-BE49-F238E27FC236}">
                  <a16:creationId xmlns:a16="http://schemas.microsoft.com/office/drawing/2014/main" id="{BC693EDF-9E2A-3A09-87D3-AF8F9B3F987B}"/>
                </a:ext>
              </a:extLst>
            </p:cNvPr>
            <p:cNvSpPr>
              <a:spLocks/>
            </p:cNvSpPr>
            <p:nvPr/>
          </p:nvSpPr>
          <p:spPr bwMode="auto">
            <a:xfrm>
              <a:off x="6796088" y="2162175"/>
              <a:ext cx="573088" cy="366713"/>
            </a:xfrm>
            <a:custGeom>
              <a:avLst/>
              <a:gdLst>
                <a:gd name="T0" fmla="*/ 122 w 753"/>
                <a:gd name="T1" fmla="*/ 359 h 482"/>
                <a:gd name="T2" fmla="*/ 154 w 753"/>
                <a:gd name="T3" fmla="*/ 359 h 482"/>
                <a:gd name="T4" fmla="*/ 164 w 753"/>
                <a:gd name="T5" fmla="*/ 482 h 482"/>
                <a:gd name="T6" fmla="*/ 399 w 753"/>
                <a:gd name="T7" fmla="*/ 482 h 482"/>
                <a:gd name="T8" fmla="*/ 399 w 753"/>
                <a:gd name="T9" fmla="*/ 279 h 482"/>
                <a:gd name="T10" fmla="*/ 716 w 753"/>
                <a:gd name="T11" fmla="*/ 121 h 482"/>
                <a:gd name="T12" fmla="*/ 727 w 753"/>
                <a:gd name="T13" fmla="*/ 23 h 482"/>
                <a:gd name="T14" fmla="*/ 679 w 753"/>
                <a:gd name="T15" fmla="*/ 0 h 482"/>
                <a:gd name="T16" fmla="*/ 653 w 753"/>
                <a:gd name="T17" fmla="*/ 7 h 482"/>
                <a:gd name="T18" fmla="*/ 317 w 753"/>
                <a:gd name="T19" fmla="*/ 123 h 482"/>
                <a:gd name="T20" fmla="*/ 230 w 753"/>
                <a:gd name="T21" fmla="*/ 190 h 482"/>
                <a:gd name="T22" fmla="*/ 149 w 753"/>
                <a:gd name="T23" fmla="*/ 129 h 482"/>
                <a:gd name="T24" fmla="*/ 0 w 753"/>
                <a:gd name="T25" fmla="*/ 309 h 482"/>
                <a:gd name="T26" fmla="*/ 0 w 753"/>
                <a:gd name="T27" fmla="*/ 482 h 482"/>
                <a:gd name="T28" fmla="*/ 122 w 753"/>
                <a:gd name="T29" fmla="*/ 482 h 482"/>
                <a:gd name="T30" fmla="*/ 122 w 753"/>
                <a:gd name="T31" fmla="*/ 359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3" h="482">
                  <a:moveTo>
                    <a:pt x="122" y="359"/>
                  </a:moveTo>
                  <a:lnTo>
                    <a:pt x="154" y="359"/>
                  </a:lnTo>
                  <a:lnTo>
                    <a:pt x="164" y="482"/>
                  </a:lnTo>
                  <a:lnTo>
                    <a:pt x="399" y="482"/>
                  </a:lnTo>
                  <a:lnTo>
                    <a:pt x="399" y="279"/>
                  </a:lnTo>
                  <a:cubicBezTo>
                    <a:pt x="529" y="237"/>
                    <a:pt x="643" y="176"/>
                    <a:pt x="716" y="121"/>
                  </a:cubicBezTo>
                  <a:cubicBezTo>
                    <a:pt x="747" y="98"/>
                    <a:pt x="753" y="55"/>
                    <a:pt x="727" y="23"/>
                  </a:cubicBezTo>
                  <a:cubicBezTo>
                    <a:pt x="715" y="9"/>
                    <a:pt x="697" y="0"/>
                    <a:pt x="679" y="0"/>
                  </a:cubicBezTo>
                  <a:cubicBezTo>
                    <a:pt x="670" y="0"/>
                    <a:pt x="661" y="3"/>
                    <a:pt x="653" y="7"/>
                  </a:cubicBezTo>
                  <a:cubicBezTo>
                    <a:pt x="488" y="100"/>
                    <a:pt x="404" y="119"/>
                    <a:pt x="317" y="123"/>
                  </a:cubicBezTo>
                  <a:lnTo>
                    <a:pt x="230" y="190"/>
                  </a:lnTo>
                  <a:lnTo>
                    <a:pt x="149" y="129"/>
                  </a:lnTo>
                  <a:cubicBezTo>
                    <a:pt x="60" y="145"/>
                    <a:pt x="0" y="199"/>
                    <a:pt x="0" y="309"/>
                  </a:cubicBezTo>
                  <a:lnTo>
                    <a:pt x="0" y="482"/>
                  </a:lnTo>
                  <a:lnTo>
                    <a:pt x="122" y="482"/>
                  </a:lnTo>
                  <a:lnTo>
                    <a:pt x="122" y="359"/>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9" name="Oval 159">
              <a:extLst>
                <a:ext uri="{FF2B5EF4-FFF2-40B4-BE49-F238E27FC236}">
                  <a16:creationId xmlns:a16="http://schemas.microsoft.com/office/drawing/2014/main" id="{AB8561EE-E389-2441-8BB1-6C6C5BD2089D}"/>
                </a:ext>
              </a:extLst>
            </p:cNvPr>
            <p:cNvSpPr>
              <a:spLocks noChangeArrowheads="1"/>
            </p:cNvSpPr>
            <p:nvPr/>
          </p:nvSpPr>
          <p:spPr bwMode="auto">
            <a:xfrm>
              <a:off x="6867526" y="2022475"/>
              <a:ext cx="206375" cy="204788"/>
            </a:xfrm>
            <a:prstGeom prst="ellipse">
              <a:avLst/>
            </a:pr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0" name="Freeform 160">
              <a:extLst>
                <a:ext uri="{FF2B5EF4-FFF2-40B4-BE49-F238E27FC236}">
                  <a16:creationId xmlns:a16="http://schemas.microsoft.com/office/drawing/2014/main" id="{46BA6FF2-6B81-C10C-CD28-FE91255690D0}"/>
                </a:ext>
              </a:extLst>
            </p:cNvPr>
            <p:cNvSpPr>
              <a:spLocks/>
            </p:cNvSpPr>
            <p:nvPr/>
          </p:nvSpPr>
          <p:spPr bwMode="auto">
            <a:xfrm>
              <a:off x="7173913" y="1997075"/>
              <a:ext cx="382588" cy="165100"/>
            </a:xfrm>
            <a:custGeom>
              <a:avLst/>
              <a:gdLst>
                <a:gd name="T0" fmla="*/ 489 w 503"/>
                <a:gd name="T1" fmla="*/ 117 h 216"/>
                <a:gd name="T2" fmla="*/ 494 w 503"/>
                <a:gd name="T3" fmla="*/ 111 h 216"/>
                <a:gd name="T4" fmla="*/ 502 w 503"/>
                <a:gd name="T5" fmla="*/ 8 h 216"/>
                <a:gd name="T6" fmla="*/ 500 w 503"/>
                <a:gd name="T7" fmla="*/ 2 h 216"/>
                <a:gd name="T8" fmla="*/ 494 w 503"/>
                <a:gd name="T9" fmla="*/ 0 h 216"/>
                <a:gd name="T10" fmla="*/ 391 w 503"/>
                <a:gd name="T11" fmla="*/ 9 h 216"/>
                <a:gd name="T12" fmla="*/ 385 w 503"/>
                <a:gd name="T13" fmla="*/ 14 h 216"/>
                <a:gd name="T14" fmla="*/ 387 w 503"/>
                <a:gd name="T15" fmla="*/ 21 h 216"/>
                <a:gd name="T16" fmla="*/ 416 w 503"/>
                <a:gd name="T17" fmla="*/ 50 h 216"/>
                <a:gd name="T18" fmla="*/ 292 w 503"/>
                <a:gd name="T19" fmla="*/ 152 h 216"/>
                <a:gd name="T20" fmla="*/ 190 w 503"/>
                <a:gd name="T21" fmla="*/ 73 h 216"/>
                <a:gd name="T22" fmla="*/ 161 w 503"/>
                <a:gd name="T23" fmla="*/ 72 h 216"/>
                <a:gd name="T24" fmla="*/ 0 w 503"/>
                <a:gd name="T25" fmla="*/ 174 h 216"/>
                <a:gd name="T26" fmla="*/ 27 w 503"/>
                <a:gd name="T27" fmla="*/ 216 h 216"/>
                <a:gd name="T28" fmla="*/ 173 w 503"/>
                <a:gd name="T29" fmla="*/ 124 h 216"/>
                <a:gd name="T30" fmla="*/ 278 w 503"/>
                <a:gd name="T31" fmla="*/ 205 h 216"/>
                <a:gd name="T32" fmla="*/ 309 w 503"/>
                <a:gd name="T33" fmla="*/ 204 h 216"/>
                <a:gd name="T34" fmla="*/ 452 w 503"/>
                <a:gd name="T35" fmla="*/ 86 h 216"/>
                <a:gd name="T36" fmla="*/ 482 w 503"/>
                <a:gd name="T37" fmla="*/ 116 h 216"/>
                <a:gd name="T38" fmla="*/ 489 w 503"/>
                <a:gd name="T39" fmla="*/ 11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3" h="216">
                  <a:moveTo>
                    <a:pt x="489" y="117"/>
                  </a:moveTo>
                  <a:cubicBezTo>
                    <a:pt x="492" y="116"/>
                    <a:pt x="494" y="114"/>
                    <a:pt x="494" y="111"/>
                  </a:cubicBezTo>
                  <a:lnTo>
                    <a:pt x="502" y="8"/>
                  </a:lnTo>
                  <a:cubicBezTo>
                    <a:pt x="503" y="6"/>
                    <a:pt x="502" y="4"/>
                    <a:pt x="500" y="2"/>
                  </a:cubicBezTo>
                  <a:cubicBezTo>
                    <a:pt x="499" y="0"/>
                    <a:pt x="497" y="0"/>
                    <a:pt x="494" y="0"/>
                  </a:cubicBezTo>
                  <a:lnTo>
                    <a:pt x="391" y="9"/>
                  </a:lnTo>
                  <a:cubicBezTo>
                    <a:pt x="388" y="9"/>
                    <a:pt x="386" y="11"/>
                    <a:pt x="385" y="14"/>
                  </a:cubicBezTo>
                  <a:cubicBezTo>
                    <a:pt x="384" y="16"/>
                    <a:pt x="385" y="19"/>
                    <a:pt x="387" y="21"/>
                  </a:cubicBezTo>
                  <a:lnTo>
                    <a:pt x="416" y="50"/>
                  </a:lnTo>
                  <a:lnTo>
                    <a:pt x="292" y="152"/>
                  </a:lnTo>
                  <a:lnTo>
                    <a:pt x="190" y="73"/>
                  </a:lnTo>
                  <a:cubicBezTo>
                    <a:pt x="182" y="67"/>
                    <a:pt x="170" y="66"/>
                    <a:pt x="161" y="72"/>
                  </a:cubicBezTo>
                  <a:lnTo>
                    <a:pt x="0" y="174"/>
                  </a:lnTo>
                  <a:lnTo>
                    <a:pt x="27" y="216"/>
                  </a:lnTo>
                  <a:lnTo>
                    <a:pt x="173" y="124"/>
                  </a:lnTo>
                  <a:lnTo>
                    <a:pt x="278" y="205"/>
                  </a:lnTo>
                  <a:cubicBezTo>
                    <a:pt x="287" y="212"/>
                    <a:pt x="300" y="212"/>
                    <a:pt x="309" y="204"/>
                  </a:cubicBezTo>
                  <a:lnTo>
                    <a:pt x="452" y="86"/>
                  </a:lnTo>
                  <a:lnTo>
                    <a:pt x="482" y="116"/>
                  </a:lnTo>
                  <a:cubicBezTo>
                    <a:pt x="485" y="119"/>
                    <a:pt x="488" y="118"/>
                    <a:pt x="489" y="117"/>
                  </a:cubicBez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23" name="TextBox 522">
            <a:extLst>
              <a:ext uri="{FF2B5EF4-FFF2-40B4-BE49-F238E27FC236}">
                <a16:creationId xmlns:a16="http://schemas.microsoft.com/office/drawing/2014/main" id="{4CA824D3-7B47-CE0F-4C3C-913D6B15A89A}"/>
              </a:ext>
            </a:extLst>
          </p:cNvPr>
          <p:cNvSpPr txBox="1"/>
          <p:nvPr/>
        </p:nvSpPr>
        <p:spPr>
          <a:xfrm>
            <a:off x="3526011" y="5532619"/>
            <a:ext cx="2082610" cy="1277273"/>
          </a:xfrm>
          <a:prstGeom prst="rect">
            <a:avLst/>
          </a:prstGeom>
          <a:noFill/>
        </p:spPr>
        <p:txBody>
          <a:bodyPr wrap="square" rtlCol="0">
            <a:spAutoFit/>
          </a:bodyPr>
          <a:lstStyle/>
          <a:p>
            <a:pPr marL="171450" marR="0" lvl="0" indent="-171450" fontAlgn="auto">
              <a:buClr>
                <a:schemeClr val="accent1"/>
              </a:buClr>
              <a:buSzTx/>
              <a:buFont typeface="Arial" panose="020B0604020202020204" pitchFamily="34" charset="0"/>
              <a:buChar char="•"/>
              <a:tabLst/>
              <a:defRPr/>
            </a:pPr>
            <a:r>
              <a:rPr lang="en-US" sz="700"/>
              <a:t>Context setting &amp; Facilitate</a:t>
            </a:r>
          </a:p>
          <a:p>
            <a:pPr marL="171450" marR="0" lvl="0" indent="-171450" fontAlgn="auto">
              <a:buClr>
                <a:schemeClr val="accent1"/>
              </a:buClr>
              <a:buSzTx/>
              <a:buFont typeface="Arial" panose="020B0604020202020204" pitchFamily="34" charset="0"/>
              <a:buChar char="•"/>
              <a:tabLst/>
              <a:defRPr/>
            </a:pPr>
            <a:r>
              <a:rPr lang="en-US" sz="700"/>
              <a:t>Gather Business Requirements</a:t>
            </a:r>
          </a:p>
          <a:p>
            <a:pPr marL="171450" marR="0" lvl="0" indent="-171450" fontAlgn="auto">
              <a:buClr>
                <a:schemeClr val="accent1"/>
              </a:buClr>
              <a:buSzTx/>
              <a:buFont typeface="Arial" panose="020B0604020202020204" pitchFamily="34" charset="0"/>
              <a:buChar char="•"/>
              <a:tabLst/>
              <a:defRPr/>
            </a:pPr>
            <a:r>
              <a:rPr lang="en-US" sz="700"/>
              <a:t>Understand business need for Sys change</a:t>
            </a:r>
          </a:p>
          <a:p>
            <a:pPr marL="171450" indent="-171450">
              <a:buClr>
                <a:schemeClr val="accent1"/>
              </a:buClr>
              <a:buFont typeface="Arial" panose="020B0604020202020204" pitchFamily="34" charset="0"/>
              <a:buChar char="•"/>
              <a:defRPr/>
            </a:pPr>
            <a:r>
              <a:rPr lang="en-US" sz="700"/>
              <a:t>Demo GW Application, Process flows</a:t>
            </a:r>
          </a:p>
          <a:p>
            <a:pPr marL="171450" marR="0" lvl="0" indent="-171450" fontAlgn="auto">
              <a:buClr>
                <a:schemeClr val="accent1"/>
              </a:buClr>
              <a:buSzTx/>
              <a:buFont typeface="Arial" panose="020B0604020202020204" pitchFamily="34" charset="0"/>
              <a:buChar char="•"/>
              <a:tabLst/>
              <a:defRPr/>
            </a:pPr>
            <a:r>
              <a:rPr lang="en-US" sz="700"/>
              <a:t>Identify areas of change</a:t>
            </a:r>
          </a:p>
          <a:p>
            <a:pPr marL="171450" marR="0" lvl="0" indent="-171450" fontAlgn="auto">
              <a:buClr>
                <a:schemeClr val="accent1"/>
              </a:buClr>
              <a:buSzTx/>
              <a:buFont typeface="Arial" panose="020B0604020202020204" pitchFamily="34" charset="0"/>
              <a:buChar char="•"/>
              <a:tabLst/>
              <a:defRPr/>
            </a:pPr>
            <a:r>
              <a:rPr lang="en-US" sz="700"/>
              <a:t>Identify dependencies &amp; impacted systems</a:t>
            </a:r>
          </a:p>
          <a:p>
            <a:pPr marL="171450" marR="0" lvl="0" indent="-171450" fontAlgn="auto">
              <a:buClr>
                <a:schemeClr val="accent1"/>
              </a:buClr>
              <a:buSzTx/>
              <a:buFont typeface="Arial" panose="020B0604020202020204" pitchFamily="34" charset="0"/>
              <a:buChar char="•"/>
              <a:tabLst/>
              <a:defRPr/>
            </a:pPr>
            <a:r>
              <a:rPr lang="en-US" sz="700"/>
              <a:t>Capture requirements;, Key decision, Actions &amp; Parking lot items</a:t>
            </a:r>
          </a:p>
          <a:p>
            <a:pPr marL="171450" marR="0" lvl="0" indent="-171450" fontAlgn="auto">
              <a:buClr>
                <a:schemeClr val="accent1"/>
              </a:buClr>
              <a:buSzTx/>
              <a:buFont typeface="Arial" panose="020B0604020202020204" pitchFamily="34" charset="0"/>
              <a:buChar char="•"/>
              <a:tabLst/>
              <a:defRPr/>
            </a:pPr>
            <a:r>
              <a:rPr lang="en-US" sz="700"/>
              <a:t>Own and close assigned actions in time</a:t>
            </a:r>
          </a:p>
          <a:p>
            <a:pPr marL="171450" marR="0" lvl="0" indent="-171450" fontAlgn="auto">
              <a:buClr>
                <a:schemeClr val="accent1"/>
              </a:buClr>
              <a:buSzTx/>
              <a:buFont typeface="Arial" panose="020B0604020202020204" pitchFamily="34" charset="0"/>
              <a:buChar char="•"/>
              <a:tabLst/>
              <a:defRPr/>
            </a:pPr>
            <a:r>
              <a:rPr lang="en-US" sz="700"/>
              <a:t>Send Workshop minutes</a:t>
            </a:r>
          </a:p>
          <a:p>
            <a:pPr marL="171450" marR="0" lvl="0" indent="-171450" fontAlgn="auto">
              <a:buClr>
                <a:schemeClr val="accent1"/>
              </a:buClr>
              <a:buSzTx/>
              <a:buFont typeface="Arial" panose="020B0604020202020204" pitchFamily="34" charset="0"/>
              <a:buChar char="•"/>
              <a:tabLst/>
              <a:defRPr/>
            </a:pPr>
            <a:r>
              <a:rPr lang="en-US" sz="700"/>
              <a:t>Create Feature mapping to User Stories</a:t>
            </a:r>
          </a:p>
        </p:txBody>
      </p:sp>
      <p:sp>
        <p:nvSpPr>
          <p:cNvPr id="531" name="TextBox 530">
            <a:extLst>
              <a:ext uri="{FF2B5EF4-FFF2-40B4-BE49-F238E27FC236}">
                <a16:creationId xmlns:a16="http://schemas.microsoft.com/office/drawing/2014/main" id="{7F4BC8BA-D2CD-1DF3-6078-FD0753F4BFEE}"/>
              </a:ext>
            </a:extLst>
          </p:cNvPr>
          <p:cNvSpPr txBox="1"/>
          <p:nvPr/>
        </p:nvSpPr>
        <p:spPr>
          <a:xfrm>
            <a:off x="8128632" y="5606438"/>
            <a:ext cx="2200174" cy="1061829"/>
          </a:xfrm>
          <a:prstGeom prst="rect">
            <a:avLst/>
          </a:prstGeom>
          <a:noFill/>
        </p:spPr>
        <p:txBody>
          <a:bodyPr wrap="square" rtlCol="0">
            <a:spAutoFit/>
          </a:bodyPr>
          <a:lstStyle/>
          <a:p>
            <a:pPr marL="171450" indent="-171450">
              <a:buFont typeface="Arial" panose="020B0604020202020204" pitchFamily="34" charset="0"/>
              <a:buChar char="•"/>
            </a:pPr>
            <a:r>
              <a:rPr lang="en-GB" sz="700"/>
              <a:t>Preparedness to Workshop</a:t>
            </a:r>
          </a:p>
          <a:p>
            <a:pPr marL="171450" indent="-171450">
              <a:buFont typeface="Arial" panose="020B0604020202020204" pitchFamily="34" charset="0"/>
              <a:buChar char="•"/>
            </a:pPr>
            <a:r>
              <a:rPr lang="en-GB" sz="700"/>
              <a:t>Active Participation</a:t>
            </a:r>
          </a:p>
          <a:p>
            <a:pPr marL="171450" indent="-171450">
              <a:buFont typeface="Arial" panose="020B0604020202020204" pitchFamily="34" charset="0"/>
              <a:buChar char="•"/>
            </a:pPr>
            <a:r>
              <a:rPr lang="en-GB" sz="700"/>
              <a:t>Provide Business Requirements</a:t>
            </a:r>
          </a:p>
          <a:p>
            <a:pPr marL="171450" indent="-171450">
              <a:buFont typeface="Arial" panose="020B0604020202020204" pitchFamily="34" charset="0"/>
              <a:buChar char="•"/>
            </a:pPr>
            <a:r>
              <a:rPr lang="en-GB" sz="700"/>
              <a:t>Elaborate Current State Process / rationale</a:t>
            </a:r>
          </a:p>
          <a:p>
            <a:pPr marL="171450" indent="-171450">
              <a:buFont typeface="Arial" panose="020B0604020202020204" pitchFamily="34" charset="0"/>
              <a:buChar char="•"/>
            </a:pPr>
            <a:r>
              <a:rPr lang="en-GB" sz="700"/>
              <a:t>Make decisions quickly</a:t>
            </a:r>
          </a:p>
          <a:p>
            <a:pPr marL="171450" indent="-171450">
              <a:buFont typeface="Arial" panose="020B0604020202020204" pitchFamily="34" charset="0"/>
              <a:buChar char="•"/>
            </a:pPr>
            <a:r>
              <a:rPr lang="en-GB" sz="700"/>
              <a:t>Own actions end to end</a:t>
            </a:r>
          </a:p>
          <a:p>
            <a:pPr marL="171450" indent="-171450">
              <a:buFont typeface="Arial" panose="020B0604020202020204" pitchFamily="34" charset="0"/>
              <a:buChar char="•"/>
            </a:pPr>
            <a:r>
              <a:rPr lang="en-GB" sz="700"/>
              <a:t>Close actions in time</a:t>
            </a:r>
          </a:p>
          <a:p>
            <a:pPr marL="171450" indent="-171450">
              <a:buFont typeface="Arial" panose="020B0604020202020204" pitchFamily="34" charset="0"/>
              <a:buChar char="•"/>
            </a:pPr>
            <a:r>
              <a:rPr lang="en-GB" sz="700"/>
              <a:t>80:20 rule</a:t>
            </a:r>
          </a:p>
          <a:p>
            <a:pPr marL="171450" indent="-171450">
              <a:buFont typeface="Arial" panose="020B0604020202020204" pitchFamily="34" charset="0"/>
              <a:buChar char="•"/>
            </a:pPr>
            <a:r>
              <a:rPr lang="en-GB" sz="700"/>
              <a:t>Adapt vs Adopt</a:t>
            </a:r>
          </a:p>
        </p:txBody>
      </p:sp>
      <p:sp>
        <p:nvSpPr>
          <p:cNvPr id="535" name="TextBox 534">
            <a:extLst>
              <a:ext uri="{FF2B5EF4-FFF2-40B4-BE49-F238E27FC236}">
                <a16:creationId xmlns:a16="http://schemas.microsoft.com/office/drawing/2014/main" id="{1C54E378-68EB-ED9B-E833-6A8354A23E3D}"/>
              </a:ext>
            </a:extLst>
          </p:cNvPr>
          <p:cNvSpPr txBox="1"/>
          <p:nvPr/>
        </p:nvSpPr>
        <p:spPr>
          <a:xfrm>
            <a:off x="5894428" y="5570707"/>
            <a:ext cx="2082610" cy="954107"/>
          </a:xfrm>
          <a:prstGeom prst="rect">
            <a:avLst/>
          </a:prstGeom>
          <a:noFill/>
        </p:spPr>
        <p:txBody>
          <a:bodyPr wrap="square" rtlCol="0">
            <a:spAutoFit/>
          </a:bodyPr>
          <a:lstStyle/>
          <a:p>
            <a:pPr marL="171450" marR="0" lvl="0" indent="-171450" fontAlgn="auto">
              <a:buClr>
                <a:schemeClr val="accent1"/>
              </a:buClr>
              <a:buSzTx/>
              <a:buFont typeface="Arial" panose="020B0604020202020204" pitchFamily="34" charset="0"/>
              <a:buChar char="•"/>
              <a:tabLst/>
              <a:defRPr/>
            </a:pPr>
            <a:r>
              <a:rPr lang="en-US" sz="700"/>
              <a:t>Moderate workshops</a:t>
            </a:r>
          </a:p>
          <a:p>
            <a:pPr marL="171450" marR="0" lvl="0" indent="-171450" fontAlgn="auto">
              <a:buClr>
                <a:schemeClr val="accent1"/>
              </a:buClr>
              <a:buSzTx/>
              <a:buFont typeface="Arial" panose="020B0604020202020204" pitchFamily="34" charset="0"/>
              <a:buChar char="•"/>
              <a:tabLst/>
              <a:defRPr/>
            </a:pPr>
            <a:r>
              <a:rPr lang="en-US" sz="700"/>
              <a:t>Bring in Right participants</a:t>
            </a:r>
          </a:p>
          <a:p>
            <a:pPr marL="171450" marR="0" lvl="0" indent="-171450" fontAlgn="auto">
              <a:buClr>
                <a:schemeClr val="accent1"/>
              </a:buClr>
              <a:buSzTx/>
              <a:buFont typeface="Arial" panose="020B0604020202020204" pitchFamily="34" charset="0"/>
              <a:buChar char="•"/>
              <a:tabLst/>
              <a:defRPr/>
            </a:pPr>
            <a:r>
              <a:rPr lang="en-US" sz="700"/>
              <a:t>Make decisions quickly</a:t>
            </a:r>
          </a:p>
          <a:p>
            <a:pPr marL="171450" marR="0" lvl="0" indent="-171450" fontAlgn="auto">
              <a:buClr>
                <a:schemeClr val="accent1"/>
              </a:buClr>
              <a:buSzTx/>
              <a:buFont typeface="Arial" panose="020B0604020202020204" pitchFamily="34" charset="0"/>
              <a:buChar char="•"/>
              <a:tabLst/>
              <a:defRPr/>
            </a:pPr>
            <a:r>
              <a:rPr lang="en-US" sz="700"/>
              <a:t>Identify Owners to resolve dependencies</a:t>
            </a:r>
          </a:p>
          <a:p>
            <a:pPr marL="171450" marR="0" lvl="0" indent="-171450" fontAlgn="auto">
              <a:buClr>
                <a:schemeClr val="accent1"/>
              </a:buClr>
              <a:buSzTx/>
              <a:buFont typeface="Arial" panose="020B0604020202020204" pitchFamily="34" charset="0"/>
              <a:buChar char="•"/>
              <a:tabLst/>
              <a:defRPr/>
            </a:pPr>
            <a:r>
              <a:rPr lang="en-US" sz="700"/>
              <a:t>Own &amp;/or Assign actions</a:t>
            </a:r>
          </a:p>
          <a:p>
            <a:pPr marL="171450" marR="0" lvl="0" indent="-171450" fontAlgn="auto">
              <a:buClr>
                <a:schemeClr val="accent1"/>
              </a:buClr>
              <a:buSzTx/>
              <a:buFont typeface="Arial" panose="020B0604020202020204" pitchFamily="34" charset="0"/>
              <a:buChar char="•"/>
              <a:tabLst/>
              <a:defRPr/>
            </a:pPr>
            <a:r>
              <a:rPr lang="en-US" sz="700"/>
              <a:t>Drive actions to closure</a:t>
            </a:r>
          </a:p>
          <a:p>
            <a:pPr marL="171450" marR="0" lvl="0" indent="-171450" fontAlgn="auto">
              <a:buClr>
                <a:schemeClr val="accent1"/>
              </a:buClr>
              <a:buSzTx/>
              <a:buFont typeface="Arial" panose="020B0604020202020204" pitchFamily="34" charset="0"/>
              <a:buChar char="•"/>
              <a:tabLst/>
              <a:defRPr/>
            </a:pPr>
            <a:r>
              <a:rPr lang="en-US" sz="700"/>
              <a:t>Ensure workshop alignment with ‘Big Picture’</a:t>
            </a:r>
          </a:p>
        </p:txBody>
      </p:sp>
      <p:cxnSp>
        <p:nvCxnSpPr>
          <p:cNvPr id="537" name="Connector: Curved 536">
            <a:extLst>
              <a:ext uri="{FF2B5EF4-FFF2-40B4-BE49-F238E27FC236}">
                <a16:creationId xmlns:a16="http://schemas.microsoft.com/office/drawing/2014/main" id="{7350C6CF-0944-F831-FAF5-19B222F16971}"/>
              </a:ext>
            </a:extLst>
          </p:cNvPr>
          <p:cNvCxnSpPr>
            <a:stCxn id="336" idx="1"/>
            <a:endCxn id="443" idx="0"/>
          </p:cNvCxnSpPr>
          <p:nvPr/>
        </p:nvCxnSpPr>
        <p:spPr>
          <a:xfrm rot="10800000" flipV="1">
            <a:off x="4568709" y="4638770"/>
            <a:ext cx="1184283" cy="550604"/>
          </a:xfrm>
          <a:prstGeom prst="curvedConnector2">
            <a:avLst/>
          </a:prstGeom>
        </p:spPr>
        <p:style>
          <a:lnRef idx="1">
            <a:schemeClr val="accent1"/>
          </a:lnRef>
          <a:fillRef idx="0">
            <a:schemeClr val="accent1"/>
          </a:fillRef>
          <a:effectRef idx="0">
            <a:schemeClr val="accent1"/>
          </a:effectRef>
          <a:fontRef idx="minor">
            <a:schemeClr val="tx1"/>
          </a:fontRef>
        </p:style>
      </p:cxnSp>
      <p:cxnSp>
        <p:nvCxnSpPr>
          <p:cNvPr id="539" name="Connector: Curved 538">
            <a:extLst>
              <a:ext uri="{FF2B5EF4-FFF2-40B4-BE49-F238E27FC236}">
                <a16:creationId xmlns:a16="http://schemas.microsoft.com/office/drawing/2014/main" id="{377D292E-37A7-BAFA-F519-7CCC816832B3}"/>
              </a:ext>
            </a:extLst>
          </p:cNvPr>
          <p:cNvCxnSpPr>
            <a:cxnSpLocks/>
            <a:stCxn id="336" idx="3"/>
            <a:endCxn id="447" idx="0"/>
          </p:cNvCxnSpPr>
          <p:nvPr/>
        </p:nvCxnSpPr>
        <p:spPr>
          <a:xfrm>
            <a:off x="7081600" y="4638770"/>
            <a:ext cx="2093170" cy="624423"/>
          </a:xfrm>
          <a:prstGeom prst="curvedConnector2">
            <a:avLst/>
          </a:prstGeom>
        </p:spPr>
        <p:style>
          <a:lnRef idx="1">
            <a:schemeClr val="accent1"/>
          </a:lnRef>
          <a:fillRef idx="0">
            <a:schemeClr val="accent1"/>
          </a:fillRef>
          <a:effectRef idx="0">
            <a:schemeClr val="accent1"/>
          </a:effectRef>
          <a:fontRef idx="minor">
            <a:schemeClr val="tx1"/>
          </a:fontRef>
        </p:style>
      </p:cxnSp>
      <p:cxnSp>
        <p:nvCxnSpPr>
          <p:cNvPr id="543" name="Connector: Curved 542">
            <a:extLst>
              <a:ext uri="{FF2B5EF4-FFF2-40B4-BE49-F238E27FC236}">
                <a16:creationId xmlns:a16="http://schemas.microsoft.com/office/drawing/2014/main" id="{EDBC27EE-FAA4-304D-FEC5-C55130970246}"/>
              </a:ext>
            </a:extLst>
          </p:cNvPr>
          <p:cNvCxnSpPr>
            <a:stCxn id="336" idx="3"/>
            <a:endCxn id="445" idx="0"/>
          </p:cNvCxnSpPr>
          <p:nvPr/>
        </p:nvCxnSpPr>
        <p:spPr>
          <a:xfrm flipH="1">
            <a:off x="6942804" y="4638770"/>
            <a:ext cx="138796" cy="583104"/>
          </a:xfrm>
          <a:prstGeom prst="curvedConnector4">
            <a:avLst>
              <a:gd name="adj1" fmla="val -164702"/>
              <a:gd name="adj2" fmla="val 65245"/>
            </a:avLst>
          </a:prstGeom>
        </p:spPr>
        <p:style>
          <a:lnRef idx="1">
            <a:schemeClr val="accent1"/>
          </a:lnRef>
          <a:fillRef idx="0">
            <a:schemeClr val="accent1"/>
          </a:fillRef>
          <a:effectRef idx="0">
            <a:schemeClr val="accent1"/>
          </a:effectRef>
          <a:fontRef idx="minor">
            <a:schemeClr val="tx1"/>
          </a:fontRef>
        </p:style>
      </p:cxnSp>
      <p:sp>
        <p:nvSpPr>
          <p:cNvPr id="547" name="TextBox 546">
            <a:extLst>
              <a:ext uri="{FF2B5EF4-FFF2-40B4-BE49-F238E27FC236}">
                <a16:creationId xmlns:a16="http://schemas.microsoft.com/office/drawing/2014/main" id="{51214C08-475B-7D48-90C6-AA991A3508E8}"/>
              </a:ext>
            </a:extLst>
          </p:cNvPr>
          <p:cNvSpPr txBox="1"/>
          <p:nvPr/>
        </p:nvSpPr>
        <p:spPr>
          <a:xfrm>
            <a:off x="5652446" y="1365363"/>
            <a:ext cx="4570610" cy="1277273"/>
          </a:xfrm>
          <a:prstGeom prst="rect">
            <a:avLst/>
          </a:prstGeom>
          <a:noFill/>
        </p:spPr>
        <p:txBody>
          <a:bodyPr wrap="square" numCol="2" rtlCol="0">
            <a:spAutoFit/>
          </a:bodyPr>
          <a:lstStyle/>
          <a:p>
            <a:pPr marL="171450" indent="-171450">
              <a:buFont typeface="Arial" panose="020B0604020202020204" pitchFamily="34" charset="0"/>
              <a:buChar char="•"/>
            </a:pPr>
            <a:r>
              <a:rPr lang="en-GB" sz="700"/>
              <a:t>Signed off Product / Release Backlog with Epic-Feature-Story mappings</a:t>
            </a:r>
          </a:p>
          <a:p>
            <a:pPr marL="171450" indent="-171450">
              <a:buFont typeface="Arial" panose="020B0604020202020204" pitchFamily="34" charset="0"/>
              <a:buChar char="•"/>
            </a:pPr>
            <a:r>
              <a:rPr lang="en-GB" sz="700"/>
              <a:t>Product Rationalization – definition &amp; approach</a:t>
            </a:r>
          </a:p>
          <a:p>
            <a:pPr marL="171450" indent="-171450">
              <a:buFont typeface="Arial" panose="020B0604020202020204" pitchFamily="34" charset="0"/>
              <a:buChar char="•"/>
            </a:pPr>
            <a:r>
              <a:rPr lang="en-GB" sz="700"/>
              <a:t>Integration Inventory</a:t>
            </a:r>
          </a:p>
          <a:p>
            <a:pPr marL="171450" indent="-171450">
              <a:buFont typeface="Arial" panose="020B0604020202020204" pitchFamily="34" charset="0"/>
              <a:buChar char="•"/>
            </a:pPr>
            <a:r>
              <a:rPr lang="en-GB" sz="700"/>
              <a:t>Key Decisions, Pending Actions, Parked items Log</a:t>
            </a:r>
          </a:p>
          <a:p>
            <a:pPr marL="171450" indent="-171450">
              <a:buFont typeface="Arial" panose="020B0604020202020204" pitchFamily="34" charset="0"/>
              <a:buChar char="•"/>
            </a:pPr>
            <a:r>
              <a:rPr lang="en-GB" sz="700"/>
              <a:t>Future State process flows</a:t>
            </a:r>
          </a:p>
          <a:p>
            <a:pPr marL="171450" indent="-171450">
              <a:buFont typeface="Arial" panose="020B0604020202020204" pitchFamily="34" charset="0"/>
              <a:buChar char="•"/>
            </a:pPr>
            <a:endParaRPr lang="en-GB" sz="700"/>
          </a:p>
          <a:p>
            <a:pPr marL="171450" indent="-171450">
              <a:buFont typeface="Arial" panose="020B0604020202020204" pitchFamily="34" charset="0"/>
              <a:buChar char="•"/>
            </a:pPr>
            <a:endParaRPr lang="en-GB" sz="700"/>
          </a:p>
          <a:p>
            <a:pPr marL="171450" indent="-171450">
              <a:buFont typeface="Arial" panose="020B0604020202020204" pitchFamily="34" charset="0"/>
              <a:buChar char="•"/>
            </a:pPr>
            <a:endParaRPr lang="en-GB" sz="700"/>
          </a:p>
          <a:p>
            <a:pPr marL="171450" indent="-171450">
              <a:buFont typeface="Arial" panose="020B0604020202020204" pitchFamily="34" charset="0"/>
              <a:buChar char="•"/>
            </a:pPr>
            <a:endParaRPr lang="en-GB" sz="700"/>
          </a:p>
          <a:p>
            <a:endParaRPr lang="en-GB" sz="700"/>
          </a:p>
          <a:p>
            <a:pPr marL="171450" indent="-171450">
              <a:buFont typeface="Arial" panose="020B0604020202020204" pitchFamily="34" charset="0"/>
              <a:buChar char="•"/>
            </a:pPr>
            <a:r>
              <a:rPr lang="en-GB" sz="700"/>
              <a:t>Draft Sprint Plan</a:t>
            </a:r>
          </a:p>
          <a:p>
            <a:pPr marL="171450" indent="-171450">
              <a:buFont typeface="Arial" panose="020B0604020202020204" pitchFamily="34" charset="0"/>
              <a:buChar char="•"/>
            </a:pPr>
            <a:r>
              <a:rPr lang="en-GB" sz="700"/>
              <a:t>High level Designs</a:t>
            </a:r>
          </a:p>
          <a:p>
            <a:pPr marL="171450" indent="-171450">
              <a:buFont typeface="Arial" panose="020B0604020202020204" pitchFamily="34" charset="0"/>
              <a:buChar char="•"/>
            </a:pPr>
            <a:r>
              <a:rPr lang="en-GB" sz="700"/>
              <a:t>Architectural Decision log</a:t>
            </a:r>
          </a:p>
          <a:p>
            <a:pPr marL="171450" indent="-171450">
              <a:buFont typeface="Arial" panose="020B0604020202020204" pitchFamily="34" charset="0"/>
              <a:buChar char="•"/>
            </a:pPr>
            <a:r>
              <a:rPr lang="en-GB" sz="700"/>
              <a:t>Updated Dependencies Tracker</a:t>
            </a:r>
          </a:p>
          <a:p>
            <a:pPr marL="171450" indent="-171450">
              <a:buFont typeface="Arial" panose="020B0604020202020204" pitchFamily="34" charset="0"/>
              <a:buChar char="•"/>
            </a:pPr>
            <a:endParaRPr lang="en-GB" sz="700"/>
          </a:p>
          <a:p>
            <a:pPr marL="171450" indent="-171450">
              <a:buFont typeface="Arial" panose="020B0604020202020204" pitchFamily="34" charset="0"/>
              <a:buChar char="•"/>
            </a:pPr>
            <a:endParaRPr lang="en-GB" sz="700"/>
          </a:p>
          <a:p>
            <a:pPr marL="171450" indent="-171450">
              <a:buFont typeface="Arial" panose="020B0604020202020204" pitchFamily="34" charset="0"/>
              <a:buChar char="•"/>
            </a:pPr>
            <a:endParaRPr lang="en-GB" sz="700"/>
          </a:p>
          <a:p>
            <a:pPr marL="171450" indent="-171450">
              <a:buFont typeface="Arial" panose="020B0604020202020204" pitchFamily="34" charset="0"/>
              <a:buChar char="•"/>
            </a:pPr>
            <a:endParaRPr lang="en-GB" sz="700"/>
          </a:p>
          <a:p>
            <a:pPr marL="171450" indent="-171450">
              <a:buFont typeface="Arial" panose="020B0604020202020204" pitchFamily="34" charset="0"/>
              <a:buChar char="•"/>
            </a:pPr>
            <a:endParaRPr lang="en-GB" sz="700"/>
          </a:p>
        </p:txBody>
      </p:sp>
      <p:sp>
        <p:nvSpPr>
          <p:cNvPr id="549" name="Freeform 402">
            <a:extLst>
              <a:ext uri="{FF2B5EF4-FFF2-40B4-BE49-F238E27FC236}">
                <a16:creationId xmlns:a16="http://schemas.microsoft.com/office/drawing/2014/main" id="{17D5E50A-5B7B-F5AA-C5B7-CF0B784B256C}"/>
              </a:ext>
            </a:extLst>
          </p:cNvPr>
          <p:cNvSpPr>
            <a:spLocks noEditPoints="1"/>
          </p:cNvSpPr>
          <p:nvPr/>
        </p:nvSpPr>
        <p:spPr bwMode="auto">
          <a:xfrm>
            <a:off x="10398288" y="831317"/>
            <a:ext cx="408938" cy="328738"/>
          </a:xfrm>
          <a:custGeom>
            <a:avLst/>
            <a:gdLst/>
            <a:ahLst/>
            <a:cxnLst>
              <a:cxn ang="0">
                <a:pos x="149" y="45"/>
              </a:cxn>
              <a:cxn ang="0">
                <a:pos x="169" y="94"/>
              </a:cxn>
              <a:cxn ang="0">
                <a:pos x="151" y="96"/>
              </a:cxn>
              <a:cxn ang="0">
                <a:pos x="176" y="48"/>
              </a:cxn>
              <a:cxn ang="0">
                <a:pos x="191" y="44"/>
              </a:cxn>
              <a:cxn ang="0">
                <a:pos x="179" y="29"/>
              </a:cxn>
              <a:cxn ang="0">
                <a:pos x="172" y="19"/>
              </a:cxn>
              <a:cxn ang="0">
                <a:pos x="164" y="0"/>
              </a:cxn>
              <a:cxn ang="0">
                <a:pos x="146" y="1"/>
              </a:cxn>
              <a:cxn ang="0">
                <a:pos x="139" y="20"/>
              </a:cxn>
              <a:cxn ang="0">
                <a:pos x="134" y="30"/>
              </a:cxn>
              <a:cxn ang="0">
                <a:pos x="122" y="46"/>
              </a:cxn>
              <a:cxn ang="0">
                <a:pos x="132" y="61"/>
              </a:cxn>
              <a:cxn ang="0">
                <a:pos x="151" y="58"/>
              </a:cxn>
              <a:cxn ang="0">
                <a:pos x="165" y="60"/>
              </a:cxn>
              <a:cxn ang="0">
                <a:pos x="177" y="76"/>
              </a:cxn>
              <a:cxn ang="0">
                <a:pos x="186" y="83"/>
              </a:cxn>
              <a:cxn ang="0">
                <a:pos x="204" y="92"/>
              </a:cxn>
              <a:cxn ang="0">
                <a:pos x="205" y="108"/>
              </a:cxn>
              <a:cxn ang="0">
                <a:pos x="189" y="120"/>
              </a:cxn>
              <a:cxn ang="0">
                <a:pos x="181" y="128"/>
              </a:cxn>
              <a:cxn ang="0">
                <a:pos x="173" y="146"/>
              </a:cxn>
              <a:cxn ang="0">
                <a:pos x="157" y="148"/>
              </a:cxn>
              <a:cxn ang="0">
                <a:pos x="145" y="132"/>
              </a:cxn>
              <a:cxn ang="0">
                <a:pos x="136" y="124"/>
              </a:cxn>
              <a:cxn ang="0">
                <a:pos x="118" y="115"/>
              </a:cxn>
              <a:cxn ang="0">
                <a:pos x="117" y="99"/>
              </a:cxn>
              <a:cxn ang="0">
                <a:pos x="132" y="86"/>
              </a:cxn>
              <a:cxn ang="0">
                <a:pos x="128" y="64"/>
              </a:cxn>
              <a:cxn ang="0">
                <a:pos x="105" y="47"/>
              </a:cxn>
              <a:cxn ang="0">
                <a:pos x="95" y="33"/>
              </a:cxn>
              <a:cxn ang="0">
                <a:pos x="82" y="7"/>
              </a:cxn>
              <a:cxn ang="0">
                <a:pos x="59" y="5"/>
              </a:cxn>
              <a:cxn ang="0">
                <a:pos x="42" y="28"/>
              </a:cxn>
              <a:cxn ang="0">
                <a:pos x="29" y="39"/>
              </a:cxn>
              <a:cxn ang="0">
                <a:pos x="2" y="51"/>
              </a:cxn>
              <a:cxn ang="0">
                <a:pos x="0" y="74"/>
              </a:cxn>
              <a:cxn ang="0">
                <a:pos x="23" y="91"/>
              </a:cxn>
              <a:cxn ang="0">
                <a:pos x="34" y="104"/>
              </a:cxn>
              <a:cxn ang="0">
                <a:pos x="46" y="131"/>
              </a:cxn>
              <a:cxn ang="0">
                <a:pos x="69" y="133"/>
              </a:cxn>
              <a:cxn ang="0">
                <a:pos x="87" y="110"/>
              </a:cxn>
              <a:cxn ang="0">
                <a:pos x="100" y="99"/>
              </a:cxn>
              <a:cxn ang="0">
                <a:pos x="61" y="51"/>
              </a:cxn>
            </a:cxnLst>
            <a:rect l="0" t="0" r="r" b="b"/>
            <a:pathLst>
              <a:path w="205" h="148">
                <a:moveTo>
                  <a:pt x="164" y="27"/>
                </a:moveTo>
                <a:cubicBezTo>
                  <a:pt x="169" y="31"/>
                  <a:pt x="169" y="38"/>
                  <a:pt x="165" y="43"/>
                </a:cubicBezTo>
                <a:cubicBezTo>
                  <a:pt x="161" y="48"/>
                  <a:pt x="154" y="49"/>
                  <a:pt x="149" y="45"/>
                </a:cubicBezTo>
                <a:cubicBezTo>
                  <a:pt x="144" y="41"/>
                  <a:pt x="143" y="33"/>
                  <a:pt x="147" y="28"/>
                </a:cubicBezTo>
                <a:cubicBezTo>
                  <a:pt x="152" y="23"/>
                  <a:pt x="159" y="23"/>
                  <a:pt x="164" y="27"/>
                </a:cubicBezTo>
                <a:close/>
                <a:moveTo>
                  <a:pt x="169" y="94"/>
                </a:moveTo>
                <a:cubicBezTo>
                  <a:pt x="174" y="98"/>
                  <a:pt x="175" y="106"/>
                  <a:pt x="171" y="112"/>
                </a:cubicBezTo>
                <a:cubicBezTo>
                  <a:pt x="166" y="117"/>
                  <a:pt x="158" y="118"/>
                  <a:pt x="153" y="113"/>
                </a:cubicBezTo>
                <a:cubicBezTo>
                  <a:pt x="147" y="109"/>
                  <a:pt x="147" y="101"/>
                  <a:pt x="151" y="96"/>
                </a:cubicBezTo>
                <a:cubicBezTo>
                  <a:pt x="156" y="90"/>
                  <a:pt x="164" y="89"/>
                  <a:pt x="169" y="94"/>
                </a:cubicBezTo>
                <a:close/>
                <a:moveTo>
                  <a:pt x="183" y="60"/>
                </a:moveTo>
                <a:cubicBezTo>
                  <a:pt x="176" y="48"/>
                  <a:pt x="176" y="48"/>
                  <a:pt x="176" y="48"/>
                </a:cubicBezTo>
                <a:cubicBezTo>
                  <a:pt x="176" y="48"/>
                  <a:pt x="177" y="47"/>
                  <a:pt x="177" y="46"/>
                </a:cubicBezTo>
                <a:cubicBezTo>
                  <a:pt x="178" y="46"/>
                  <a:pt x="178" y="45"/>
                  <a:pt x="178" y="44"/>
                </a:cubicBezTo>
                <a:cubicBezTo>
                  <a:pt x="191" y="44"/>
                  <a:pt x="191" y="44"/>
                  <a:pt x="191" y="44"/>
                </a:cubicBezTo>
                <a:cubicBezTo>
                  <a:pt x="192" y="37"/>
                  <a:pt x="192" y="37"/>
                  <a:pt x="192" y="37"/>
                </a:cubicBezTo>
                <a:cubicBezTo>
                  <a:pt x="180" y="33"/>
                  <a:pt x="180" y="33"/>
                  <a:pt x="180" y="33"/>
                </a:cubicBezTo>
                <a:cubicBezTo>
                  <a:pt x="180" y="31"/>
                  <a:pt x="179" y="30"/>
                  <a:pt x="179" y="29"/>
                </a:cubicBezTo>
                <a:cubicBezTo>
                  <a:pt x="189" y="20"/>
                  <a:pt x="189" y="20"/>
                  <a:pt x="189" y="20"/>
                </a:cubicBezTo>
                <a:cubicBezTo>
                  <a:pt x="185" y="14"/>
                  <a:pt x="185" y="14"/>
                  <a:pt x="185" y="14"/>
                </a:cubicBezTo>
                <a:cubicBezTo>
                  <a:pt x="172" y="19"/>
                  <a:pt x="172" y="19"/>
                  <a:pt x="172" y="19"/>
                </a:cubicBezTo>
                <a:cubicBezTo>
                  <a:pt x="171" y="18"/>
                  <a:pt x="170" y="17"/>
                  <a:pt x="169" y="16"/>
                </a:cubicBezTo>
                <a:cubicBezTo>
                  <a:pt x="171" y="3"/>
                  <a:pt x="171" y="3"/>
                  <a:pt x="171" y="3"/>
                </a:cubicBezTo>
                <a:cubicBezTo>
                  <a:pt x="164" y="0"/>
                  <a:pt x="164" y="0"/>
                  <a:pt x="164" y="0"/>
                </a:cubicBezTo>
                <a:cubicBezTo>
                  <a:pt x="158" y="12"/>
                  <a:pt x="158" y="12"/>
                  <a:pt x="158" y="12"/>
                </a:cubicBezTo>
                <a:cubicBezTo>
                  <a:pt x="156" y="12"/>
                  <a:pt x="155" y="12"/>
                  <a:pt x="153" y="12"/>
                </a:cubicBezTo>
                <a:cubicBezTo>
                  <a:pt x="146" y="1"/>
                  <a:pt x="146" y="1"/>
                  <a:pt x="146" y="1"/>
                </a:cubicBezTo>
                <a:cubicBezTo>
                  <a:pt x="140" y="4"/>
                  <a:pt x="140" y="4"/>
                  <a:pt x="140" y="4"/>
                </a:cubicBezTo>
                <a:cubicBezTo>
                  <a:pt x="142" y="17"/>
                  <a:pt x="142" y="17"/>
                  <a:pt x="142" y="17"/>
                </a:cubicBezTo>
                <a:cubicBezTo>
                  <a:pt x="141" y="18"/>
                  <a:pt x="140" y="19"/>
                  <a:pt x="139" y="20"/>
                </a:cubicBezTo>
                <a:cubicBezTo>
                  <a:pt x="127" y="16"/>
                  <a:pt x="127" y="16"/>
                  <a:pt x="127" y="16"/>
                </a:cubicBezTo>
                <a:cubicBezTo>
                  <a:pt x="123" y="22"/>
                  <a:pt x="123" y="22"/>
                  <a:pt x="123" y="22"/>
                </a:cubicBezTo>
                <a:cubicBezTo>
                  <a:pt x="134" y="30"/>
                  <a:pt x="134" y="30"/>
                  <a:pt x="134" y="30"/>
                </a:cubicBezTo>
                <a:cubicBezTo>
                  <a:pt x="133" y="32"/>
                  <a:pt x="133" y="33"/>
                  <a:pt x="133" y="34"/>
                </a:cubicBezTo>
                <a:cubicBezTo>
                  <a:pt x="121" y="39"/>
                  <a:pt x="121" y="39"/>
                  <a:pt x="121" y="39"/>
                </a:cubicBezTo>
                <a:cubicBezTo>
                  <a:pt x="122" y="46"/>
                  <a:pt x="122" y="46"/>
                  <a:pt x="122" y="46"/>
                </a:cubicBezTo>
                <a:cubicBezTo>
                  <a:pt x="136" y="46"/>
                  <a:pt x="136" y="46"/>
                  <a:pt x="136" y="46"/>
                </a:cubicBezTo>
                <a:cubicBezTo>
                  <a:pt x="136" y="47"/>
                  <a:pt x="137" y="49"/>
                  <a:pt x="138" y="50"/>
                </a:cubicBezTo>
                <a:cubicBezTo>
                  <a:pt x="132" y="61"/>
                  <a:pt x="132" y="61"/>
                  <a:pt x="132" y="61"/>
                </a:cubicBezTo>
                <a:cubicBezTo>
                  <a:pt x="137" y="66"/>
                  <a:pt x="137" y="66"/>
                  <a:pt x="137" y="66"/>
                </a:cubicBezTo>
                <a:cubicBezTo>
                  <a:pt x="147" y="57"/>
                  <a:pt x="147" y="57"/>
                  <a:pt x="147" y="57"/>
                </a:cubicBezTo>
                <a:cubicBezTo>
                  <a:pt x="149" y="58"/>
                  <a:pt x="150" y="58"/>
                  <a:pt x="151" y="58"/>
                </a:cubicBezTo>
                <a:cubicBezTo>
                  <a:pt x="155" y="71"/>
                  <a:pt x="155" y="71"/>
                  <a:pt x="155" y="71"/>
                </a:cubicBezTo>
                <a:cubicBezTo>
                  <a:pt x="161" y="72"/>
                  <a:pt x="161" y="72"/>
                  <a:pt x="161" y="72"/>
                </a:cubicBezTo>
                <a:cubicBezTo>
                  <a:pt x="165" y="60"/>
                  <a:pt x="165" y="60"/>
                  <a:pt x="165" y="60"/>
                </a:cubicBezTo>
                <a:cubicBezTo>
                  <a:pt x="172" y="61"/>
                  <a:pt x="172" y="61"/>
                  <a:pt x="172" y="61"/>
                </a:cubicBezTo>
                <a:cubicBezTo>
                  <a:pt x="172" y="74"/>
                  <a:pt x="172" y="74"/>
                  <a:pt x="172" y="74"/>
                </a:cubicBezTo>
                <a:cubicBezTo>
                  <a:pt x="174" y="74"/>
                  <a:pt x="175" y="75"/>
                  <a:pt x="177" y="76"/>
                </a:cubicBezTo>
                <a:cubicBezTo>
                  <a:pt x="187" y="68"/>
                  <a:pt x="187" y="68"/>
                  <a:pt x="187" y="68"/>
                </a:cubicBezTo>
                <a:cubicBezTo>
                  <a:pt x="192" y="72"/>
                  <a:pt x="192" y="72"/>
                  <a:pt x="192" y="72"/>
                </a:cubicBezTo>
                <a:cubicBezTo>
                  <a:pt x="186" y="83"/>
                  <a:pt x="186" y="83"/>
                  <a:pt x="186" y="83"/>
                </a:cubicBezTo>
                <a:cubicBezTo>
                  <a:pt x="187" y="85"/>
                  <a:pt x="188" y="86"/>
                  <a:pt x="189" y="87"/>
                </a:cubicBezTo>
                <a:cubicBezTo>
                  <a:pt x="201" y="85"/>
                  <a:pt x="201" y="85"/>
                  <a:pt x="201" y="85"/>
                </a:cubicBezTo>
                <a:cubicBezTo>
                  <a:pt x="204" y="92"/>
                  <a:pt x="204" y="92"/>
                  <a:pt x="204" y="92"/>
                </a:cubicBezTo>
                <a:cubicBezTo>
                  <a:pt x="193" y="98"/>
                  <a:pt x="193" y="98"/>
                  <a:pt x="193" y="98"/>
                </a:cubicBezTo>
                <a:cubicBezTo>
                  <a:pt x="193" y="100"/>
                  <a:pt x="193" y="102"/>
                  <a:pt x="193" y="103"/>
                </a:cubicBezTo>
                <a:cubicBezTo>
                  <a:pt x="205" y="108"/>
                  <a:pt x="205" y="108"/>
                  <a:pt x="205" y="108"/>
                </a:cubicBezTo>
                <a:cubicBezTo>
                  <a:pt x="204" y="115"/>
                  <a:pt x="204" y="115"/>
                  <a:pt x="204" y="115"/>
                </a:cubicBezTo>
                <a:cubicBezTo>
                  <a:pt x="191" y="115"/>
                  <a:pt x="191" y="115"/>
                  <a:pt x="191" y="115"/>
                </a:cubicBezTo>
                <a:cubicBezTo>
                  <a:pt x="190" y="117"/>
                  <a:pt x="190" y="118"/>
                  <a:pt x="189" y="120"/>
                </a:cubicBezTo>
                <a:cubicBezTo>
                  <a:pt x="197" y="129"/>
                  <a:pt x="197" y="129"/>
                  <a:pt x="197" y="129"/>
                </a:cubicBezTo>
                <a:cubicBezTo>
                  <a:pt x="192" y="135"/>
                  <a:pt x="192" y="135"/>
                  <a:pt x="192" y="135"/>
                </a:cubicBezTo>
                <a:cubicBezTo>
                  <a:pt x="181" y="128"/>
                  <a:pt x="181" y="128"/>
                  <a:pt x="181" y="128"/>
                </a:cubicBezTo>
                <a:cubicBezTo>
                  <a:pt x="180" y="130"/>
                  <a:pt x="179" y="131"/>
                  <a:pt x="177" y="131"/>
                </a:cubicBezTo>
                <a:cubicBezTo>
                  <a:pt x="179" y="144"/>
                  <a:pt x="179" y="144"/>
                  <a:pt x="179" y="144"/>
                </a:cubicBezTo>
                <a:cubicBezTo>
                  <a:pt x="173" y="146"/>
                  <a:pt x="173" y="146"/>
                  <a:pt x="173" y="146"/>
                </a:cubicBezTo>
                <a:cubicBezTo>
                  <a:pt x="166" y="135"/>
                  <a:pt x="166" y="135"/>
                  <a:pt x="166" y="135"/>
                </a:cubicBezTo>
                <a:cubicBezTo>
                  <a:pt x="165" y="136"/>
                  <a:pt x="163" y="136"/>
                  <a:pt x="161" y="136"/>
                </a:cubicBezTo>
                <a:cubicBezTo>
                  <a:pt x="157" y="148"/>
                  <a:pt x="157" y="148"/>
                  <a:pt x="157" y="148"/>
                </a:cubicBezTo>
                <a:cubicBezTo>
                  <a:pt x="150" y="147"/>
                  <a:pt x="150" y="147"/>
                  <a:pt x="150" y="147"/>
                </a:cubicBezTo>
                <a:cubicBezTo>
                  <a:pt x="150" y="134"/>
                  <a:pt x="150" y="134"/>
                  <a:pt x="150" y="134"/>
                </a:cubicBezTo>
                <a:cubicBezTo>
                  <a:pt x="148" y="133"/>
                  <a:pt x="147" y="132"/>
                  <a:pt x="145" y="132"/>
                </a:cubicBezTo>
                <a:cubicBezTo>
                  <a:pt x="135" y="140"/>
                  <a:pt x="135" y="140"/>
                  <a:pt x="135" y="140"/>
                </a:cubicBezTo>
                <a:cubicBezTo>
                  <a:pt x="130" y="135"/>
                  <a:pt x="130" y="135"/>
                  <a:pt x="130" y="135"/>
                </a:cubicBezTo>
                <a:cubicBezTo>
                  <a:pt x="136" y="124"/>
                  <a:pt x="136" y="124"/>
                  <a:pt x="136" y="124"/>
                </a:cubicBezTo>
                <a:cubicBezTo>
                  <a:pt x="135" y="123"/>
                  <a:pt x="134" y="121"/>
                  <a:pt x="133" y="120"/>
                </a:cubicBezTo>
                <a:cubicBezTo>
                  <a:pt x="121" y="122"/>
                  <a:pt x="121" y="122"/>
                  <a:pt x="121" y="122"/>
                </a:cubicBezTo>
                <a:cubicBezTo>
                  <a:pt x="118" y="115"/>
                  <a:pt x="118" y="115"/>
                  <a:pt x="118" y="115"/>
                </a:cubicBezTo>
                <a:cubicBezTo>
                  <a:pt x="129" y="109"/>
                  <a:pt x="129" y="109"/>
                  <a:pt x="129" y="109"/>
                </a:cubicBezTo>
                <a:cubicBezTo>
                  <a:pt x="129" y="107"/>
                  <a:pt x="129" y="106"/>
                  <a:pt x="129" y="104"/>
                </a:cubicBezTo>
                <a:cubicBezTo>
                  <a:pt x="117" y="99"/>
                  <a:pt x="117" y="99"/>
                  <a:pt x="117" y="99"/>
                </a:cubicBezTo>
                <a:cubicBezTo>
                  <a:pt x="118" y="92"/>
                  <a:pt x="118" y="92"/>
                  <a:pt x="118" y="92"/>
                </a:cubicBezTo>
                <a:cubicBezTo>
                  <a:pt x="131" y="92"/>
                  <a:pt x="131" y="92"/>
                  <a:pt x="131" y="92"/>
                </a:cubicBezTo>
                <a:cubicBezTo>
                  <a:pt x="131" y="91"/>
                  <a:pt x="131" y="88"/>
                  <a:pt x="132" y="86"/>
                </a:cubicBezTo>
                <a:cubicBezTo>
                  <a:pt x="111" y="81"/>
                  <a:pt x="111" y="81"/>
                  <a:pt x="111" y="81"/>
                </a:cubicBezTo>
                <a:cubicBezTo>
                  <a:pt x="111" y="81"/>
                  <a:pt x="111" y="73"/>
                  <a:pt x="111" y="70"/>
                </a:cubicBezTo>
                <a:cubicBezTo>
                  <a:pt x="128" y="64"/>
                  <a:pt x="128" y="64"/>
                  <a:pt x="128" y="64"/>
                </a:cubicBezTo>
                <a:cubicBezTo>
                  <a:pt x="127" y="54"/>
                  <a:pt x="127" y="54"/>
                  <a:pt x="127" y="54"/>
                </a:cubicBezTo>
                <a:cubicBezTo>
                  <a:pt x="108" y="53"/>
                  <a:pt x="108" y="53"/>
                  <a:pt x="108" y="53"/>
                </a:cubicBezTo>
                <a:cubicBezTo>
                  <a:pt x="107" y="51"/>
                  <a:pt x="106" y="49"/>
                  <a:pt x="105" y="47"/>
                </a:cubicBezTo>
                <a:cubicBezTo>
                  <a:pt x="117" y="33"/>
                  <a:pt x="117" y="33"/>
                  <a:pt x="117" y="33"/>
                </a:cubicBezTo>
                <a:cubicBezTo>
                  <a:pt x="111" y="25"/>
                  <a:pt x="111" y="25"/>
                  <a:pt x="111" y="25"/>
                </a:cubicBezTo>
                <a:cubicBezTo>
                  <a:pt x="95" y="33"/>
                  <a:pt x="95" y="33"/>
                  <a:pt x="95" y="33"/>
                </a:cubicBezTo>
                <a:cubicBezTo>
                  <a:pt x="93" y="32"/>
                  <a:pt x="91" y="30"/>
                  <a:pt x="89" y="29"/>
                </a:cubicBezTo>
                <a:cubicBezTo>
                  <a:pt x="92" y="11"/>
                  <a:pt x="92" y="11"/>
                  <a:pt x="92" y="11"/>
                </a:cubicBezTo>
                <a:cubicBezTo>
                  <a:pt x="82" y="7"/>
                  <a:pt x="82" y="7"/>
                  <a:pt x="82" y="7"/>
                </a:cubicBezTo>
                <a:cubicBezTo>
                  <a:pt x="73" y="23"/>
                  <a:pt x="73" y="23"/>
                  <a:pt x="73" y="23"/>
                </a:cubicBezTo>
                <a:cubicBezTo>
                  <a:pt x="70" y="23"/>
                  <a:pt x="68" y="22"/>
                  <a:pt x="65" y="22"/>
                </a:cubicBezTo>
                <a:cubicBezTo>
                  <a:pt x="59" y="5"/>
                  <a:pt x="59" y="5"/>
                  <a:pt x="59" y="5"/>
                </a:cubicBezTo>
                <a:cubicBezTo>
                  <a:pt x="49" y="6"/>
                  <a:pt x="49" y="6"/>
                  <a:pt x="49" y="6"/>
                </a:cubicBezTo>
                <a:cubicBezTo>
                  <a:pt x="49" y="25"/>
                  <a:pt x="49" y="25"/>
                  <a:pt x="49" y="25"/>
                </a:cubicBezTo>
                <a:cubicBezTo>
                  <a:pt x="46" y="26"/>
                  <a:pt x="44" y="27"/>
                  <a:pt x="42" y="28"/>
                </a:cubicBezTo>
                <a:cubicBezTo>
                  <a:pt x="28" y="16"/>
                  <a:pt x="28" y="16"/>
                  <a:pt x="28" y="16"/>
                </a:cubicBezTo>
                <a:cubicBezTo>
                  <a:pt x="20" y="22"/>
                  <a:pt x="20" y="22"/>
                  <a:pt x="20" y="22"/>
                </a:cubicBezTo>
                <a:cubicBezTo>
                  <a:pt x="29" y="39"/>
                  <a:pt x="29" y="39"/>
                  <a:pt x="29" y="39"/>
                </a:cubicBezTo>
                <a:cubicBezTo>
                  <a:pt x="27" y="40"/>
                  <a:pt x="26" y="42"/>
                  <a:pt x="24" y="44"/>
                </a:cubicBezTo>
                <a:cubicBezTo>
                  <a:pt x="6" y="41"/>
                  <a:pt x="6" y="41"/>
                  <a:pt x="6" y="41"/>
                </a:cubicBezTo>
                <a:cubicBezTo>
                  <a:pt x="2" y="51"/>
                  <a:pt x="2" y="51"/>
                  <a:pt x="2" y="51"/>
                </a:cubicBezTo>
                <a:cubicBezTo>
                  <a:pt x="18" y="60"/>
                  <a:pt x="18" y="60"/>
                  <a:pt x="18" y="60"/>
                </a:cubicBezTo>
                <a:cubicBezTo>
                  <a:pt x="18" y="63"/>
                  <a:pt x="18" y="65"/>
                  <a:pt x="18" y="68"/>
                </a:cubicBezTo>
                <a:cubicBezTo>
                  <a:pt x="0" y="74"/>
                  <a:pt x="0" y="74"/>
                  <a:pt x="0" y="74"/>
                </a:cubicBezTo>
                <a:cubicBezTo>
                  <a:pt x="2" y="84"/>
                  <a:pt x="2" y="84"/>
                  <a:pt x="2" y="84"/>
                </a:cubicBezTo>
                <a:cubicBezTo>
                  <a:pt x="20" y="84"/>
                  <a:pt x="20" y="84"/>
                  <a:pt x="20" y="84"/>
                </a:cubicBezTo>
                <a:cubicBezTo>
                  <a:pt x="21" y="87"/>
                  <a:pt x="22" y="89"/>
                  <a:pt x="23" y="91"/>
                </a:cubicBezTo>
                <a:cubicBezTo>
                  <a:pt x="11" y="105"/>
                  <a:pt x="11" y="105"/>
                  <a:pt x="11" y="105"/>
                </a:cubicBezTo>
                <a:cubicBezTo>
                  <a:pt x="18" y="113"/>
                  <a:pt x="18" y="113"/>
                  <a:pt x="18" y="113"/>
                </a:cubicBezTo>
                <a:cubicBezTo>
                  <a:pt x="34" y="104"/>
                  <a:pt x="34" y="104"/>
                  <a:pt x="34" y="104"/>
                </a:cubicBezTo>
                <a:cubicBezTo>
                  <a:pt x="36" y="106"/>
                  <a:pt x="38" y="107"/>
                  <a:pt x="40" y="109"/>
                </a:cubicBezTo>
                <a:cubicBezTo>
                  <a:pt x="36" y="127"/>
                  <a:pt x="36" y="127"/>
                  <a:pt x="36" y="127"/>
                </a:cubicBezTo>
                <a:cubicBezTo>
                  <a:pt x="46" y="131"/>
                  <a:pt x="46" y="131"/>
                  <a:pt x="46" y="131"/>
                </a:cubicBezTo>
                <a:cubicBezTo>
                  <a:pt x="56" y="115"/>
                  <a:pt x="56" y="115"/>
                  <a:pt x="56" y="115"/>
                </a:cubicBezTo>
                <a:cubicBezTo>
                  <a:pt x="58" y="115"/>
                  <a:pt x="61" y="115"/>
                  <a:pt x="63" y="115"/>
                </a:cubicBezTo>
                <a:cubicBezTo>
                  <a:pt x="69" y="133"/>
                  <a:pt x="69" y="133"/>
                  <a:pt x="69" y="133"/>
                </a:cubicBezTo>
                <a:cubicBezTo>
                  <a:pt x="79" y="131"/>
                  <a:pt x="79" y="131"/>
                  <a:pt x="79" y="131"/>
                </a:cubicBezTo>
                <a:cubicBezTo>
                  <a:pt x="80" y="113"/>
                  <a:pt x="80" y="113"/>
                  <a:pt x="80" y="113"/>
                </a:cubicBezTo>
                <a:cubicBezTo>
                  <a:pt x="82" y="112"/>
                  <a:pt x="84" y="111"/>
                  <a:pt x="87" y="110"/>
                </a:cubicBezTo>
                <a:cubicBezTo>
                  <a:pt x="101" y="122"/>
                  <a:pt x="101" y="122"/>
                  <a:pt x="101" y="122"/>
                </a:cubicBezTo>
                <a:cubicBezTo>
                  <a:pt x="109" y="116"/>
                  <a:pt x="109" y="116"/>
                  <a:pt x="109" y="116"/>
                </a:cubicBezTo>
                <a:cubicBezTo>
                  <a:pt x="100" y="99"/>
                  <a:pt x="100" y="99"/>
                  <a:pt x="100" y="99"/>
                </a:cubicBezTo>
                <a:moveTo>
                  <a:pt x="67" y="87"/>
                </a:moveTo>
                <a:cubicBezTo>
                  <a:pt x="57" y="89"/>
                  <a:pt x="48" y="82"/>
                  <a:pt x="46" y="72"/>
                </a:cubicBezTo>
                <a:cubicBezTo>
                  <a:pt x="44" y="62"/>
                  <a:pt x="51" y="52"/>
                  <a:pt x="61" y="51"/>
                </a:cubicBezTo>
                <a:cubicBezTo>
                  <a:pt x="71" y="49"/>
                  <a:pt x="81" y="56"/>
                  <a:pt x="82" y="66"/>
                </a:cubicBezTo>
                <a:cubicBezTo>
                  <a:pt x="84" y="76"/>
                  <a:pt x="77" y="85"/>
                  <a:pt x="67" y="87"/>
                </a:cubicBezTo>
                <a:close/>
              </a:path>
            </a:pathLst>
          </a:custGeom>
          <a:noFill/>
          <a:ln w="19050" cap="rnd">
            <a:solidFill>
              <a:schemeClr val="accent3">
                <a:lumMod val="75000"/>
              </a:scheme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a:ln>
                <a:noFill/>
              </a:ln>
              <a:solidFill>
                <a:prstClr val="black"/>
              </a:solidFill>
              <a:effectLst/>
              <a:uLnTx/>
              <a:uFillTx/>
              <a:latin typeface="Ubuntu Medium"/>
              <a:ea typeface="+mn-ea"/>
              <a:cs typeface="Arial" pitchFamily="34" charset="0"/>
            </a:endParaRPr>
          </a:p>
        </p:txBody>
      </p:sp>
      <p:sp>
        <p:nvSpPr>
          <p:cNvPr id="550" name="Rounded Rectangle 67">
            <a:extLst>
              <a:ext uri="{FF2B5EF4-FFF2-40B4-BE49-F238E27FC236}">
                <a16:creationId xmlns:a16="http://schemas.microsoft.com/office/drawing/2014/main" id="{7329D366-6BF8-1AF1-B394-54A75C6D8556}"/>
              </a:ext>
            </a:extLst>
          </p:cNvPr>
          <p:cNvSpPr>
            <a:spLocks/>
          </p:cNvSpPr>
          <p:nvPr/>
        </p:nvSpPr>
        <p:spPr>
          <a:xfrm>
            <a:off x="10448981" y="1147301"/>
            <a:ext cx="1618485" cy="1279891"/>
          </a:xfrm>
          <a:prstGeom prst="roundRect">
            <a:avLst>
              <a:gd name="adj" fmla="val 5380"/>
            </a:avLst>
          </a:prstGeom>
          <a:noFill/>
          <a:ln w="19050" cap="flat" cmpd="sng" algn="ctr">
            <a:solidFill>
              <a:schemeClr val="bg1">
                <a:lumMod val="7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561" name="Gleichschenkliges Dreieck 2">
            <a:extLst>
              <a:ext uri="{FF2B5EF4-FFF2-40B4-BE49-F238E27FC236}">
                <a16:creationId xmlns:a16="http://schemas.microsoft.com/office/drawing/2014/main" id="{15A99339-EFE8-1129-A78E-BBC4B7B4B087}"/>
              </a:ext>
            </a:extLst>
          </p:cNvPr>
          <p:cNvSpPr/>
          <p:nvPr/>
        </p:nvSpPr>
        <p:spPr bwMode="auto">
          <a:xfrm>
            <a:off x="10823361" y="852548"/>
            <a:ext cx="1229237" cy="288000"/>
          </a:xfrm>
          <a:prstGeom prst="rect">
            <a:avLst/>
          </a:prstGeom>
          <a:solidFill>
            <a:srgbClr val="0041C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rPr>
              <a:t>Accelerators / Tools</a:t>
            </a:r>
          </a:p>
        </p:txBody>
      </p:sp>
      <p:sp>
        <p:nvSpPr>
          <p:cNvPr id="562" name="TextBox 561">
            <a:extLst>
              <a:ext uri="{FF2B5EF4-FFF2-40B4-BE49-F238E27FC236}">
                <a16:creationId xmlns:a16="http://schemas.microsoft.com/office/drawing/2014/main" id="{0435C89F-1152-EA9D-CFFE-155AB3CA8520}"/>
              </a:ext>
            </a:extLst>
          </p:cNvPr>
          <p:cNvSpPr txBox="1"/>
          <p:nvPr/>
        </p:nvSpPr>
        <p:spPr>
          <a:xfrm>
            <a:off x="10439121" y="1187146"/>
            <a:ext cx="1588444" cy="1051570"/>
          </a:xfrm>
          <a:prstGeom prst="rect">
            <a:avLst/>
          </a:prstGeom>
          <a:noFill/>
          <a:ln>
            <a:noFill/>
          </a:ln>
        </p:spPr>
        <p:txBody>
          <a:bodyPr wrap="square" rtlCol="0">
            <a:spAutoFit/>
          </a:bodyPr>
          <a:lstStyle/>
          <a:p>
            <a:pPr marL="171450" marR="0" lvl="0" indent="-171450" fontAlgn="auto">
              <a:spcBef>
                <a:spcPts val="200"/>
              </a:spcBef>
              <a:spcAft>
                <a:spcPts val="200"/>
              </a:spcAft>
              <a:buClr>
                <a:schemeClr val="accent1"/>
              </a:buClr>
              <a:buSzTx/>
              <a:buFont typeface="Wingdings" panose="05000000000000000000" pitchFamily="2" charset="2"/>
              <a:buChar char="§"/>
              <a:tabLst/>
              <a:defRPr/>
            </a:pPr>
            <a:r>
              <a:rPr lang="en-US" sz="700">
                <a:cs typeface="Calibri" pitchFamily="34" charset="0"/>
              </a:rPr>
              <a:t>GW OOTB Feature Matrix</a:t>
            </a:r>
          </a:p>
          <a:p>
            <a:pPr marL="171450" marR="0" lvl="0" indent="-171450" fontAlgn="auto">
              <a:spcBef>
                <a:spcPts val="200"/>
              </a:spcBef>
              <a:spcAft>
                <a:spcPts val="200"/>
              </a:spcAft>
              <a:buClr>
                <a:schemeClr val="accent1"/>
              </a:buClr>
              <a:buSzTx/>
              <a:buFont typeface="Wingdings" panose="05000000000000000000" pitchFamily="2" charset="2"/>
              <a:buChar char="§"/>
              <a:tabLst/>
              <a:defRPr/>
            </a:pPr>
            <a:r>
              <a:rPr lang="en-US" sz="700">
                <a:cs typeface="Calibri" pitchFamily="34" charset="0"/>
              </a:rPr>
              <a:t>Decision Log, Action Item tracker</a:t>
            </a:r>
          </a:p>
          <a:p>
            <a:pPr marL="171450" marR="0" lvl="0" indent="-171450" fontAlgn="auto">
              <a:spcBef>
                <a:spcPts val="200"/>
              </a:spcBef>
              <a:spcAft>
                <a:spcPts val="200"/>
              </a:spcAft>
              <a:buClr>
                <a:schemeClr val="accent1"/>
              </a:buClr>
              <a:buSzTx/>
              <a:buFont typeface="Wingdings" panose="05000000000000000000" pitchFamily="2" charset="2"/>
              <a:buChar char="§"/>
              <a:tabLst/>
              <a:defRPr/>
            </a:pPr>
            <a:r>
              <a:rPr lang="en-US" sz="700">
                <a:cs typeface="Calibri" pitchFamily="34" charset="0"/>
              </a:rPr>
              <a:t>Query log</a:t>
            </a:r>
          </a:p>
          <a:p>
            <a:pPr marL="171450" marR="0" lvl="0" indent="-171450" fontAlgn="auto">
              <a:spcBef>
                <a:spcPts val="200"/>
              </a:spcBef>
              <a:spcAft>
                <a:spcPts val="200"/>
              </a:spcAft>
              <a:buClr>
                <a:schemeClr val="accent1"/>
              </a:buClr>
              <a:buSzTx/>
              <a:buFont typeface="Wingdings" panose="05000000000000000000" pitchFamily="2" charset="2"/>
              <a:buChar char="§"/>
              <a:tabLst/>
              <a:defRPr/>
            </a:pPr>
            <a:r>
              <a:rPr lang="en-US" sz="700">
                <a:cs typeface="Calibri" pitchFamily="34" charset="0"/>
              </a:rPr>
              <a:t>Mind map</a:t>
            </a:r>
          </a:p>
          <a:p>
            <a:pPr marL="171450" marR="0" lvl="0" indent="-171450" fontAlgn="auto">
              <a:spcBef>
                <a:spcPts val="200"/>
              </a:spcBef>
              <a:spcAft>
                <a:spcPts val="200"/>
              </a:spcAft>
              <a:buClr>
                <a:schemeClr val="accent1"/>
              </a:buClr>
              <a:buSzTx/>
              <a:buFont typeface="Wingdings" panose="05000000000000000000" pitchFamily="2" charset="2"/>
              <a:buChar char="§"/>
              <a:tabLst/>
              <a:defRPr/>
            </a:pPr>
            <a:r>
              <a:rPr lang="en-US" sz="700">
                <a:cs typeface="Calibri" pitchFamily="34" charset="0"/>
              </a:rPr>
              <a:t>Standards &amp; Best Practices guide</a:t>
            </a:r>
          </a:p>
        </p:txBody>
      </p:sp>
      <p:cxnSp>
        <p:nvCxnSpPr>
          <p:cNvPr id="567" name="Connector: Curved 566">
            <a:extLst>
              <a:ext uri="{FF2B5EF4-FFF2-40B4-BE49-F238E27FC236}">
                <a16:creationId xmlns:a16="http://schemas.microsoft.com/office/drawing/2014/main" id="{DF2CCA85-2990-239E-9A33-0DB69ECF1386}"/>
              </a:ext>
            </a:extLst>
          </p:cNvPr>
          <p:cNvCxnSpPr>
            <a:stCxn id="328" idx="3"/>
          </p:cNvCxnSpPr>
          <p:nvPr/>
        </p:nvCxnSpPr>
        <p:spPr>
          <a:xfrm flipH="1" flipV="1">
            <a:off x="7896060" y="2198476"/>
            <a:ext cx="995802" cy="1452282"/>
          </a:xfrm>
          <a:prstGeom prst="curvedConnector4">
            <a:avLst>
              <a:gd name="adj1" fmla="val -22956"/>
              <a:gd name="adj2" fmla="val 56121"/>
            </a:avLst>
          </a:prstGeom>
        </p:spPr>
        <p:style>
          <a:lnRef idx="1">
            <a:schemeClr val="accent1"/>
          </a:lnRef>
          <a:fillRef idx="0">
            <a:schemeClr val="accent1"/>
          </a:fillRef>
          <a:effectRef idx="0">
            <a:schemeClr val="accent1"/>
          </a:effectRef>
          <a:fontRef idx="minor">
            <a:schemeClr val="tx1"/>
          </a:fontRef>
        </p:style>
      </p:cxnSp>
      <p:sp>
        <p:nvSpPr>
          <p:cNvPr id="570" name="Rounded Rectangle 67">
            <a:extLst>
              <a:ext uri="{FF2B5EF4-FFF2-40B4-BE49-F238E27FC236}">
                <a16:creationId xmlns:a16="http://schemas.microsoft.com/office/drawing/2014/main" id="{0B089B8A-AAF6-D033-423E-C9FCA88A0A65}"/>
              </a:ext>
            </a:extLst>
          </p:cNvPr>
          <p:cNvSpPr>
            <a:spLocks/>
          </p:cNvSpPr>
          <p:nvPr/>
        </p:nvSpPr>
        <p:spPr>
          <a:xfrm>
            <a:off x="1262705" y="5383053"/>
            <a:ext cx="2027860" cy="1340217"/>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571" name="TextBox 196">
            <a:extLst>
              <a:ext uri="{FF2B5EF4-FFF2-40B4-BE49-F238E27FC236}">
                <a16:creationId xmlns:a16="http://schemas.microsoft.com/office/drawing/2014/main" id="{000416FC-451A-3A40-9BCD-47A384C31766}"/>
              </a:ext>
            </a:extLst>
          </p:cNvPr>
          <p:cNvSpPr txBox="1">
            <a:spLocks/>
          </p:cNvSpPr>
          <p:nvPr/>
        </p:nvSpPr>
        <p:spPr>
          <a:xfrm>
            <a:off x="1344893" y="5194219"/>
            <a:ext cx="1917715" cy="301795"/>
          </a:xfrm>
          <a:prstGeom prst="roundRect">
            <a:avLst>
              <a:gd name="adj" fmla="val 50000"/>
            </a:avLst>
          </a:prstGeom>
          <a:solidFill>
            <a:srgbClr val="12ABDB"/>
          </a:solidFill>
          <a:ln w="25400" cap="flat" cmpd="sng" algn="ctr">
            <a:no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GB" sz="1000" b="0" kern="0">
                <a:solidFill>
                  <a:schemeClr val="tx1"/>
                </a:solidFill>
                <a:latin typeface="+mj-lt"/>
                <a:ea typeface="Verdana" panose="020B0604030504040204" pitchFamily="34" charset="0"/>
                <a:cs typeface="Verdana" panose="020B0604030504040204" pitchFamily="34" charset="0"/>
              </a:rPr>
              <a:t>        Tasks / Ownership</a:t>
            </a:r>
            <a:endParaRPr kumimoji="0" lang="en-US" sz="1000" b="0" i="0" u="none" strike="noStrike" kern="0" cap="none" spc="0" normalizeH="0" baseline="0" noProof="0">
              <a:ln>
                <a:noFill/>
              </a:ln>
              <a:solidFill>
                <a:schemeClr val="tx1"/>
              </a:solidFill>
              <a:effectLst/>
              <a:uLnTx/>
              <a:uFillTx/>
              <a:latin typeface="+mj-lt"/>
              <a:ea typeface="Verdana" panose="020B0604030504040204" pitchFamily="34" charset="0"/>
              <a:cs typeface="Verdana" panose="020B0604030504040204" pitchFamily="34" charset="0"/>
            </a:endParaRPr>
          </a:p>
        </p:txBody>
      </p:sp>
      <p:sp>
        <p:nvSpPr>
          <p:cNvPr id="577" name="TextBox 576">
            <a:extLst>
              <a:ext uri="{FF2B5EF4-FFF2-40B4-BE49-F238E27FC236}">
                <a16:creationId xmlns:a16="http://schemas.microsoft.com/office/drawing/2014/main" id="{AD1EFDB4-6B3E-9390-441D-0A8BCA7EAB02}"/>
              </a:ext>
            </a:extLst>
          </p:cNvPr>
          <p:cNvSpPr txBox="1"/>
          <p:nvPr/>
        </p:nvSpPr>
        <p:spPr>
          <a:xfrm>
            <a:off x="1261054" y="5537464"/>
            <a:ext cx="1978663" cy="846386"/>
          </a:xfrm>
          <a:prstGeom prst="rect">
            <a:avLst/>
          </a:prstGeom>
          <a:noFill/>
        </p:spPr>
        <p:txBody>
          <a:bodyPr wrap="square" rtlCol="0">
            <a:spAutoFit/>
          </a:bodyPr>
          <a:lstStyle/>
          <a:p>
            <a:pPr marL="171450" indent="-171450">
              <a:buClr>
                <a:schemeClr val="accent1"/>
              </a:buClr>
              <a:buFont typeface="Arial" panose="020B0604020202020204" pitchFamily="34" charset="0"/>
              <a:buChar char="•"/>
              <a:defRPr/>
            </a:pPr>
            <a:r>
              <a:rPr lang="en-US" sz="700"/>
              <a:t>Architectural Solution  Design</a:t>
            </a:r>
          </a:p>
          <a:p>
            <a:pPr marL="171450" marR="0" lvl="0" indent="-171450" fontAlgn="auto">
              <a:buClr>
                <a:schemeClr val="accent1"/>
              </a:buClr>
              <a:buSzTx/>
              <a:buFont typeface="Arial" panose="020B0604020202020204" pitchFamily="34" charset="0"/>
              <a:buChar char="•"/>
              <a:tabLst/>
              <a:defRPr/>
            </a:pPr>
            <a:r>
              <a:rPr lang="en-US" sz="700"/>
              <a:t>and recommendations</a:t>
            </a:r>
          </a:p>
          <a:p>
            <a:pPr marL="171450" marR="0" lvl="0" indent="-171450" fontAlgn="auto">
              <a:buClr>
                <a:schemeClr val="accent1"/>
              </a:buClr>
              <a:buSzTx/>
              <a:buFont typeface="Arial" panose="020B0604020202020204" pitchFamily="34" charset="0"/>
              <a:buChar char="•"/>
              <a:tabLst/>
              <a:defRPr/>
            </a:pPr>
            <a:r>
              <a:rPr lang="en-US" sz="700"/>
              <a:t>High level Integration Design</a:t>
            </a:r>
          </a:p>
          <a:p>
            <a:pPr marL="171450" marR="0" lvl="0" indent="-171450" fontAlgn="auto">
              <a:buClr>
                <a:schemeClr val="accent1"/>
              </a:buClr>
              <a:buSzTx/>
              <a:buFont typeface="Arial" panose="020B0604020202020204" pitchFamily="34" charset="0"/>
              <a:buChar char="•"/>
              <a:tabLst/>
              <a:defRPr/>
            </a:pPr>
            <a:r>
              <a:rPr lang="en-US" sz="700"/>
              <a:t>Data Structure &amp; Data model</a:t>
            </a:r>
          </a:p>
          <a:p>
            <a:pPr marL="171450" marR="0" lvl="0" indent="-171450" fontAlgn="auto">
              <a:buClr>
                <a:schemeClr val="accent1"/>
              </a:buClr>
              <a:buSzTx/>
              <a:buFont typeface="Arial" panose="020B0604020202020204" pitchFamily="34" charset="0"/>
              <a:buChar char="•"/>
              <a:tabLst/>
              <a:defRPr/>
            </a:pPr>
            <a:r>
              <a:rPr lang="en-US" sz="700"/>
              <a:t>Third Party Dependencies</a:t>
            </a:r>
          </a:p>
          <a:p>
            <a:pPr marL="171450" marR="0" lvl="0" indent="-171450" fontAlgn="auto">
              <a:buClr>
                <a:schemeClr val="accent1"/>
              </a:buClr>
              <a:buSzTx/>
              <a:buFont typeface="Arial" panose="020B0604020202020204" pitchFamily="34" charset="0"/>
              <a:buChar char="•"/>
              <a:tabLst/>
              <a:defRPr/>
            </a:pPr>
            <a:endParaRPr lang="en-US" sz="700"/>
          </a:p>
          <a:p>
            <a:pPr marL="171450" marR="0" lvl="0" indent="-171450" fontAlgn="auto">
              <a:buClr>
                <a:schemeClr val="accent1"/>
              </a:buClr>
              <a:buSzTx/>
              <a:buFont typeface="Arial" panose="020B0604020202020204" pitchFamily="34" charset="0"/>
              <a:buChar char="•"/>
              <a:tabLst/>
              <a:defRPr/>
            </a:pPr>
            <a:endParaRPr lang="en-US" sz="700"/>
          </a:p>
        </p:txBody>
      </p:sp>
      <p:grpSp>
        <p:nvGrpSpPr>
          <p:cNvPr id="578" name="Plan5" descr="{&quot;Key&quot;:&quot;POWER_USER_SHAPE_ICON&quot;,&quot;Value&quot;:&quot;POWER_USER_SHAPE_ICON_STYLE_1&quot;}">
            <a:extLst>
              <a:ext uri="{FF2B5EF4-FFF2-40B4-BE49-F238E27FC236}">
                <a16:creationId xmlns:a16="http://schemas.microsoft.com/office/drawing/2014/main" id="{134B0E47-23B7-E6F1-1F90-B286E655C217}"/>
              </a:ext>
            </a:extLst>
          </p:cNvPr>
          <p:cNvGrpSpPr>
            <a:grpSpLocks noChangeAspect="1"/>
          </p:cNvGrpSpPr>
          <p:nvPr/>
        </p:nvGrpSpPr>
        <p:grpSpPr>
          <a:xfrm>
            <a:off x="1482090" y="5067764"/>
            <a:ext cx="324000" cy="340341"/>
            <a:chOff x="8462963" y="1682750"/>
            <a:chExt cx="706430" cy="762001"/>
          </a:xfrm>
        </p:grpSpPr>
        <p:sp>
          <p:nvSpPr>
            <p:cNvPr id="579" name="Freeform 55">
              <a:extLst>
                <a:ext uri="{FF2B5EF4-FFF2-40B4-BE49-F238E27FC236}">
                  <a16:creationId xmlns:a16="http://schemas.microsoft.com/office/drawing/2014/main" id="{D2C1A6DD-C47C-0AA0-AB7C-BE8E6B11DC60}"/>
                </a:ext>
              </a:extLst>
            </p:cNvPr>
            <p:cNvSpPr>
              <a:spLocks/>
            </p:cNvSpPr>
            <p:nvPr/>
          </p:nvSpPr>
          <p:spPr bwMode="auto">
            <a:xfrm>
              <a:off x="8462963" y="2109788"/>
              <a:ext cx="317500" cy="244475"/>
            </a:xfrm>
            <a:custGeom>
              <a:avLst/>
              <a:gdLst>
                <a:gd name="T0" fmla="*/ 124 w 424"/>
                <a:gd name="T1" fmla="*/ 325 h 325"/>
                <a:gd name="T2" fmla="*/ 7 w 424"/>
                <a:gd name="T3" fmla="*/ 141 h 325"/>
                <a:gd name="T4" fmla="*/ 14 w 424"/>
                <a:gd name="T5" fmla="*/ 115 h 325"/>
                <a:gd name="T6" fmla="*/ 259 w 424"/>
                <a:gd name="T7" fmla="*/ 5 h 325"/>
                <a:gd name="T8" fmla="*/ 291 w 424"/>
                <a:gd name="T9" fmla="*/ 16 h 325"/>
                <a:gd name="T10" fmla="*/ 424 w 424"/>
                <a:gd name="T11" fmla="*/ 228 h 325"/>
              </a:gdLst>
              <a:ahLst/>
              <a:cxnLst>
                <a:cxn ang="0">
                  <a:pos x="T0" y="T1"/>
                </a:cxn>
                <a:cxn ang="0">
                  <a:pos x="T2" y="T3"/>
                </a:cxn>
                <a:cxn ang="0">
                  <a:pos x="T4" y="T5"/>
                </a:cxn>
                <a:cxn ang="0">
                  <a:pos x="T6" y="T7"/>
                </a:cxn>
                <a:cxn ang="0">
                  <a:pos x="T8" y="T9"/>
                </a:cxn>
                <a:cxn ang="0">
                  <a:pos x="T10" y="T11"/>
                </a:cxn>
              </a:cxnLst>
              <a:rect l="0" t="0" r="r" b="b"/>
              <a:pathLst>
                <a:path w="424" h="325">
                  <a:moveTo>
                    <a:pt x="124" y="325"/>
                  </a:moveTo>
                  <a:lnTo>
                    <a:pt x="7" y="141"/>
                  </a:lnTo>
                  <a:cubicBezTo>
                    <a:pt x="0" y="130"/>
                    <a:pt x="3" y="119"/>
                    <a:pt x="14" y="115"/>
                  </a:cubicBezTo>
                  <a:lnTo>
                    <a:pt x="259" y="5"/>
                  </a:lnTo>
                  <a:cubicBezTo>
                    <a:pt x="273" y="0"/>
                    <a:pt x="282" y="3"/>
                    <a:pt x="291" y="16"/>
                  </a:cubicBezTo>
                  <a:lnTo>
                    <a:pt x="424" y="228"/>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0" name="Freeform 56">
              <a:extLst>
                <a:ext uri="{FF2B5EF4-FFF2-40B4-BE49-F238E27FC236}">
                  <a16:creationId xmlns:a16="http://schemas.microsoft.com/office/drawing/2014/main" id="{D5A52C1E-3E83-B7C6-54AD-E748533C0F8C}"/>
                </a:ext>
              </a:extLst>
            </p:cNvPr>
            <p:cNvSpPr>
              <a:spLocks/>
            </p:cNvSpPr>
            <p:nvPr/>
          </p:nvSpPr>
          <p:spPr bwMode="auto">
            <a:xfrm>
              <a:off x="8547093" y="2035175"/>
              <a:ext cx="622300" cy="409576"/>
            </a:xfrm>
            <a:custGeom>
              <a:avLst/>
              <a:gdLst>
                <a:gd name="T0" fmla="*/ 516 w 828"/>
                <a:gd name="T1" fmla="*/ 518 h 544"/>
                <a:gd name="T2" fmla="*/ 828 w 828"/>
                <a:gd name="T3" fmla="*/ 518 h 544"/>
                <a:gd name="T4" fmla="*/ 784 w 828"/>
                <a:gd name="T5" fmla="*/ 202 h 544"/>
                <a:gd name="T6" fmla="*/ 577 w 828"/>
                <a:gd name="T7" fmla="*/ 0 h 544"/>
                <a:gd name="T8" fmla="*/ 390 w 828"/>
                <a:gd name="T9" fmla="*/ 142 h 544"/>
                <a:gd name="T10" fmla="*/ 292 w 828"/>
                <a:gd name="T11" fmla="*/ 372 h 544"/>
                <a:gd name="T12" fmla="*/ 49 w 828"/>
                <a:gd name="T13" fmla="*/ 397 h 544"/>
                <a:gd name="T14" fmla="*/ 0 w 828"/>
                <a:gd name="T15" fmla="*/ 469 h 544"/>
                <a:gd name="T16" fmla="*/ 86 w 828"/>
                <a:gd name="T17" fmla="*/ 544 h 544"/>
                <a:gd name="T18" fmla="*/ 365 w 828"/>
                <a:gd name="T19" fmla="*/ 544 h 544"/>
                <a:gd name="T20" fmla="*/ 456 w 828"/>
                <a:gd name="T21" fmla="*/ 481 h 544"/>
                <a:gd name="T22" fmla="*/ 559 w 828"/>
                <a:gd name="T23" fmla="*/ 270 h 544"/>
                <a:gd name="T24" fmla="*/ 559 w 828"/>
                <a:gd name="T25" fmla="*/ 27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8" h="544">
                  <a:moveTo>
                    <a:pt x="516" y="518"/>
                  </a:moveTo>
                  <a:lnTo>
                    <a:pt x="828" y="518"/>
                  </a:lnTo>
                  <a:lnTo>
                    <a:pt x="784" y="202"/>
                  </a:lnTo>
                  <a:cubicBezTo>
                    <a:pt x="762" y="62"/>
                    <a:pt x="683" y="0"/>
                    <a:pt x="577" y="0"/>
                  </a:cubicBezTo>
                  <a:cubicBezTo>
                    <a:pt x="501" y="0"/>
                    <a:pt x="430" y="43"/>
                    <a:pt x="390" y="142"/>
                  </a:cubicBezTo>
                  <a:lnTo>
                    <a:pt x="292" y="372"/>
                  </a:lnTo>
                  <a:lnTo>
                    <a:pt x="49" y="397"/>
                  </a:lnTo>
                  <a:cubicBezTo>
                    <a:pt x="20" y="406"/>
                    <a:pt x="0" y="428"/>
                    <a:pt x="0" y="469"/>
                  </a:cubicBezTo>
                  <a:cubicBezTo>
                    <a:pt x="0" y="518"/>
                    <a:pt x="32" y="544"/>
                    <a:pt x="86" y="544"/>
                  </a:cubicBezTo>
                  <a:lnTo>
                    <a:pt x="365" y="544"/>
                  </a:lnTo>
                  <a:cubicBezTo>
                    <a:pt x="405" y="544"/>
                    <a:pt x="436" y="521"/>
                    <a:pt x="456" y="481"/>
                  </a:cubicBezTo>
                  <a:cubicBezTo>
                    <a:pt x="483" y="426"/>
                    <a:pt x="530" y="330"/>
                    <a:pt x="559" y="270"/>
                  </a:cubicBezTo>
                  <a:lnTo>
                    <a:pt x="559" y="270"/>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1" name="Line 57">
              <a:extLst>
                <a:ext uri="{FF2B5EF4-FFF2-40B4-BE49-F238E27FC236}">
                  <a16:creationId xmlns:a16="http://schemas.microsoft.com/office/drawing/2014/main" id="{D482EFE6-0B01-5EB8-E1A6-140F947E32B8}"/>
                </a:ext>
              </a:extLst>
            </p:cNvPr>
            <p:cNvSpPr>
              <a:spLocks noChangeShapeType="1"/>
            </p:cNvSpPr>
            <p:nvPr/>
          </p:nvSpPr>
          <p:spPr bwMode="auto">
            <a:xfrm flipH="1">
              <a:off x="8593138" y="2265363"/>
              <a:ext cx="17463" cy="6667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2" name="Freeform 58">
              <a:extLst>
                <a:ext uri="{FF2B5EF4-FFF2-40B4-BE49-F238E27FC236}">
                  <a16:creationId xmlns:a16="http://schemas.microsoft.com/office/drawing/2014/main" id="{1CD76B00-07CD-EC07-DC64-D80A7E963B51}"/>
                </a:ext>
              </a:extLst>
            </p:cNvPr>
            <p:cNvSpPr>
              <a:spLocks/>
            </p:cNvSpPr>
            <p:nvPr/>
          </p:nvSpPr>
          <p:spPr bwMode="auto">
            <a:xfrm>
              <a:off x="8709025" y="1806575"/>
              <a:ext cx="279400" cy="204788"/>
            </a:xfrm>
            <a:custGeom>
              <a:avLst/>
              <a:gdLst>
                <a:gd name="T0" fmla="*/ 351 w 372"/>
                <a:gd name="T1" fmla="*/ 0 h 273"/>
                <a:gd name="T2" fmla="*/ 372 w 372"/>
                <a:gd name="T3" fmla="*/ 85 h 273"/>
                <a:gd name="T4" fmla="*/ 186 w 372"/>
                <a:gd name="T5" fmla="*/ 273 h 273"/>
                <a:gd name="T6" fmla="*/ 0 w 372"/>
                <a:gd name="T7" fmla="*/ 113 h 273"/>
              </a:gdLst>
              <a:ahLst/>
              <a:cxnLst>
                <a:cxn ang="0">
                  <a:pos x="T0" y="T1"/>
                </a:cxn>
                <a:cxn ang="0">
                  <a:pos x="T2" y="T3"/>
                </a:cxn>
                <a:cxn ang="0">
                  <a:pos x="T4" y="T5"/>
                </a:cxn>
                <a:cxn ang="0">
                  <a:pos x="T6" y="T7"/>
                </a:cxn>
              </a:cxnLst>
              <a:rect l="0" t="0" r="r" b="b"/>
              <a:pathLst>
                <a:path w="372" h="273">
                  <a:moveTo>
                    <a:pt x="351" y="0"/>
                  </a:moveTo>
                  <a:cubicBezTo>
                    <a:pt x="364" y="26"/>
                    <a:pt x="372" y="55"/>
                    <a:pt x="372" y="85"/>
                  </a:cubicBezTo>
                  <a:cubicBezTo>
                    <a:pt x="372" y="188"/>
                    <a:pt x="289" y="272"/>
                    <a:pt x="186" y="273"/>
                  </a:cubicBezTo>
                  <a:cubicBezTo>
                    <a:pt x="91" y="273"/>
                    <a:pt x="14" y="203"/>
                    <a:pt x="0" y="113"/>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3" name="Freeform 59">
              <a:extLst>
                <a:ext uri="{FF2B5EF4-FFF2-40B4-BE49-F238E27FC236}">
                  <a16:creationId xmlns:a16="http://schemas.microsoft.com/office/drawing/2014/main" id="{C4F53FBF-82E0-01B4-FF6B-C126472CFE7E}"/>
                </a:ext>
              </a:extLst>
            </p:cNvPr>
            <p:cNvSpPr>
              <a:spLocks/>
            </p:cNvSpPr>
            <p:nvPr/>
          </p:nvSpPr>
          <p:spPr bwMode="auto">
            <a:xfrm>
              <a:off x="8667750" y="1682750"/>
              <a:ext cx="312738" cy="206375"/>
            </a:xfrm>
            <a:custGeom>
              <a:avLst/>
              <a:gdLst>
                <a:gd name="T0" fmla="*/ 418 w 418"/>
                <a:gd name="T1" fmla="*/ 145 h 274"/>
                <a:gd name="T2" fmla="*/ 222 w 418"/>
                <a:gd name="T3" fmla="*/ 0 h 274"/>
                <a:gd name="T4" fmla="*/ 165 w 418"/>
                <a:gd name="T5" fmla="*/ 9 h 274"/>
                <a:gd name="T6" fmla="*/ 37 w 418"/>
                <a:gd name="T7" fmla="*/ 274 h 274"/>
              </a:gdLst>
              <a:ahLst/>
              <a:cxnLst>
                <a:cxn ang="0">
                  <a:pos x="T0" y="T1"/>
                </a:cxn>
                <a:cxn ang="0">
                  <a:pos x="T2" y="T3"/>
                </a:cxn>
                <a:cxn ang="0">
                  <a:pos x="T4" y="T5"/>
                </a:cxn>
                <a:cxn ang="0">
                  <a:pos x="T6" y="T7"/>
                </a:cxn>
              </a:cxnLst>
              <a:rect l="0" t="0" r="r" b="b"/>
              <a:pathLst>
                <a:path w="418" h="274">
                  <a:moveTo>
                    <a:pt x="418" y="145"/>
                  </a:moveTo>
                  <a:cubicBezTo>
                    <a:pt x="396" y="67"/>
                    <a:pt x="314" y="0"/>
                    <a:pt x="222" y="0"/>
                  </a:cubicBezTo>
                  <a:cubicBezTo>
                    <a:pt x="203" y="0"/>
                    <a:pt x="184" y="3"/>
                    <a:pt x="165" y="9"/>
                  </a:cubicBezTo>
                  <a:cubicBezTo>
                    <a:pt x="61" y="43"/>
                    <a:pt x="0" y="154"/>
                    <a:pt x="37" y="274"/>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4" name="Line 60">
              <a:extLst>
                <a:ext uri="{FF2B5EF4-FFF2-40B4-BE49-F238E27FC236}">
                  <a16:creationId xmlns:a16="http://schemas.microsoft.com/office/drawing/2014/main" id="{F30BA62D-08E1-6F44-6990-47D098546B81}"/>
                </a:ext>
              </a:extLst>
            </p:cNvPr>
            <p:cNvSpPr>
              <a:spLocks noChangeShapeType="1"/>
            </p:cNvSpPr>
            <p:nvPr/>
          </p:nvSpPr>
          <p:spPr bwMode="auto">
            <a:xfrm flipH="1">
              <a:off x="8645525" y="1792288"/>
              <a:ext cx="347663" cy="11112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587" name="Connector: Curved 586">
            <a:extLst>
              <a:ext uri="{FF2B5EF4-FFF2-40B4-BE49-F238E27FC236}">
                <a16:creationId xmlns:a16="http://schemas.microsoft.com/office/drawing/2014/main" id="{BDF969E9-7948-3E63-1750-7EEBE825A567}"/>
              </a:ext>
            </a:extLst>
          </p:cNvPr>
          <p:cNvCxnSpPr>
            <a:stCxn id="336" idx="1"/>
            <a:endCxn id="571" idx="0"/>
          </p:cNvCxnSpPr>
          <p:nvPr/>
        </p:nvCxnSpPr>
        <p:spPr>
          <a:xfrm rot="10800000" flipV="1">
            <a:off x="2303751" y="4638769"/>
            <a:ext cx="3449240" cy="555449"/>
          </a:xfrm>
          <a:prstGeom prst="curvedConnector2">
            <a:avLst/>
          </a:prstGeom>
        </p:spPr>
        <p:style>
          <a:lnRef idx="1">
            <a:schemeClr val="accent1"/>
          </a:lnRef>
          <a:fillRef idx="0">
            <a:schemeClr val="accent1"/>
          </a:fillRef>
          <a:effectRef idx="0">
            <a:schemeClr val="accent1"/>
          </a:effectRef>
          <a:fontRef idx="minor">
            <a:schemeClr val="tx1"/>
          </a:fontRef>
        </p:style>
      </p:cxnSp>
      <p:sp>
        <p:nvSpPr>
          <p:cNvPr id="589" name="TextBox 588">
            <a:extLst>
              <a:ext uri="{FF2B5EF4-FFF2-40B4-BE49-F238E27FC236}">
                <a16:creationId xmlns:a16="http://schemas.microsoft.com/office/drawing/2014/main" id="{BB71CF6D-AF8F-4F48-CC29-82A7C3C71941}"/>
              </a:ext>
            </a:extLst>
          </p:cNvPr>
          <p:cNvSpPr txBox="1"/>
          <p:nvPr/>
        </p:nvSpPr>
        <p:spPr>
          <a:xfrm>
            <a:off x="1226720" y="1466390"/>
            <a:ext cx="2082610" cy="1061829"/>
          </a:xfrm>
          <a:prstGeom prst="rect">
            <a:avLst/>
          </a:prstGeom>
          <a:noFill/>
        </p:spPr>
        <p:txBody>
          <a:bodyPr wrap="square" rtlCol="0">
            <a:spAutoFit/>
          </a:bodyPr>
          <a:lstStyle/>
          <a:p>
            <a:pPr marL="171450" marR="0" lvl="0" indent="-171450" fontAlgn="auto">
              <a:buClr>
                <a:schemeClr val="accent1"/>
              </a:buClr>
              <a:buSzTx/>
              <a:buFont typeface="Arial" panose="020B0604020202020204" pitchFamily="34" charset="0"/>
              <a:buChar char="•"/>
              <a:tabLst/>
              <a:defRPr/>
            </a:pPr>
            <a:r>
              <a:rPr lang="en-US" sz="700"/>
              <a:t>Inception Plan</a:t>
            </a:r>
          </a:p>
          <a:p>
            <a:pPr marL="171450" marR="0" lvl="0" indent="-171450" fontAlgn="auto">
              <a:buClr>
                <a:schemeClr val="accent1"/>
              </a:buClr>
              <a:buSzTx/>
              <a:buFont typeface="Arial" panose="020B0604020202020204" pitchFamily="34" charset="0"/>
              <a:buChar char="•"/>
              <a:tabLst/>
              <a:defRPr/>
            </a:pPr>
            <a:r>
              <a:rPr lang="en-US" sz="700"/>
              <a:t>Inception session Guardrails</a:t>
            </a:r>
          </a:p>
          <a:p>
            <a:pPr marL="171450" marR="0" lvl="0" indent="-171450" fontAlgn="auto">
              <a:buClr>
                <a:schemeClr val="accent1"/>
              </a:buClr>
              <a:buSzTx/>
              <a:buFont typeface="Arial" panose="020B0604020202020204" pitchFamily="34" charset="0"/>
              <a:buChar char="•"/>
              <a:tabLst/>
              <a:defRPr/>
            </a:pPr>
            <a:r>
              <a:rPr lang="en-US" sz="700"/>
              <a:t>Right Tools  –  High level Backlog, Functional accelerators </a:t>
            </a:r>
          </a:p>
          <a:p>
            <a:pPr marL="171450" marR="0" lvl="0" indent="-171450" fontAlgn="auto">
              <a:buClr>
                <a:schemeClr val="accent1"/>
              </a:buClr>
              <a:buSzTx/>
              <a:buFont typeface="Arial" panose="020B0604020202020204" pitchFamily="34" charset="0"/>
              <a:buChar char="•"/>
              <a:tabLst/>
              <a:defRPr/>
            </a:pPr>
            <a:r>
              <a:rPr lang="en-US" sz="700"/>
              <a:t>Preparedness to Workshop topics</a:t>
            </a:r>
          </a:p>
          <a:p>
            <a:pPr marL="171450" marR="0" lvl="0" indent="-171450" fontAlgn="auto">
              <a:buClr>
                <a:schemeClr val="accent1"/>
              </a:buClr>
              <a:buSzTx/>
              <a:buFont typeface="Arial" panose="020B0604020202020204" pitchFamily="34" charset="0"/>
              <a:buChar char="•"/>
              <a:tabLst/>
              <a:defRPr/>
            </a:pPr>
            <a:r>
              <a:rPr lang="en-US" sz="700"/>
              <a:t>Guidewire OOTB Cloud Instance for demo</a:t>
            </a:r>
          </a:p>
          <a:p>
            <a:pPr marL="171450" marR="0" lvl="0" indent="-171450" fontAlgn="auto">
              <a:buClr>
                <a:schemeClr val="accent1"/>
              </a:buClr>
              <a:buSzTx/>
              <a:buFont typeface="Arial" panose="020B0604020202020204" pitchFamily="34" charset="0"/>
              <a:buChar char="•"/>
              <a:tabLst/>
              <a:defRPr/>
            </a:pPr>
            <a:r>
              <a:rPr lang="en-US" sz="700"/>
              <a:t>Understanding Client’s Business process at high level</a:t>
            </a:r>
          </a:p>
          <a:p>
            <a:pPr marL="171450" marR="0" lvl="0" indent="-171450" fontAlgn="auto">
              <a:buClr>
                <a:schemeClr val="accent1"/>
              </a:buClr>
              <a:buSzTx/>
              <a:buFont typeface="Arial" panose="020B0604020202020204" pitchFamily="34" charset="0"/>
              <a:buChar char="•"/>
              <a:tabLst/>
              <a:defRPr/>
            </a:pPr>
            <a:r>
              <a:rPr lang="en-US" sz="700"/>
              <a:t>As-is Process flows</a:t>
            </a:r>
          </a:p>
        </p:txBody>
      </p:sp>
      <p:grpSp>
        <p:nvGrpSpPr>
          <p:cNvPr id="591" name="Woman29" descr="{&quot;Key&quot;:&quot;POWER_USER_SHAPE_ICON&quot;,&quot;Value&quot;:&quot;POWER_USER_SHAPE_ICON_STYLE_1&quot;}">
            <a:extLst>
              <a:ext uri="{FF2B5EF4-FFF2-40B4-BE49-F238E27FC236}">
                <a16:creationId xmlns:a16="http://schemas.microsoft.com/office/drawing/2014/main" id="{D05122A3-CC1B-1DCF-345A-D0719D93D058}"/>
              </a:ext>
            </a:extLst>
          </p:cNvPr>
          <p:cNvGrpSpPr>
            <a:grpSpLocks noChangeAspect="1"/>
          </p:cNvGrpSpPr>
          <p:nvPr/>
        </p:nvGrpSpPr>
        <p:grpSpPr>
          <a:xfrm>
            <a:off x="2678212" y="2919141"/>
            <a:ext cx="288000" cy="346700"/>
            <a:chOff x="3049573" y="285562"/>
            <a:chExt cx="588025" cy="755384"/>
          </a:xfrm>
        </p:grpSpPr>
        <p:sp>
          <p:nvSpPr>
            <p:cNvPr id="592" name="Freeform: Shape 591">
              <a:extLst>
                <a:ext uri="{FF2B5EF4-FFF2-40B4-BE49-F238E27FC236}">
                  <a16:creationId xmlns:a16="http://schemas.microsoft.com/office/drawing/2014/main" id="{B0CA100C-E26B-288F-6238-D56402329088}"/>
                </a:ext>
              </a:extLst>
            </p:cNvPr>
            <p:cNvSpPr/>
            <p:nvPr/>
          </p:nvSpPr>
          <p:spPr>
            <a:xfrm>
              <a:off x="3209793" y="747246"/>
              <a:ext cx="37681" cy="292030"/>
            </a:xfrm>
            <a:custGeom>
              <a:avLst/>
              <a:gdLst>
                <a:gd name="connsiteX0" fmla="*/ 38981 w 37681"/>
                <a:gd name="connsiteY0" fmla="*/ 293902 h 292030"/>
                <a:gd name="connsiteX1" fmla="*/ 0 w 37681"/>
                <a:gd name="connsiteY1" fmla="*/ 0 h 292030"/>
              </a:gdLst>
              <a:ahLst/>
              <a:cxnLst>
                <a:cxn ang="0">
                  <a:pos x="connsiteX0" y="connsiteY0"/>
                </a:cxn>
                <a:cxn ang="0">
                  <a:pos x="connsiteX1" y="connsiteY1"/>
                </a:cxn>
              </a:cxnLst>
              <a:rect l="l" t="t" r="r" b="b"/>
              <a:pathLst>
                <a:path w="37681" h="292030">
                  <a:moveTo>
                    <a:pt x="38981" y="293902"/>
                  </a:moveTo>
                  <a:cubicBezTo>
                    <a:pt x="38981" y="153702"/>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3" name="Freeform: Shape 592">
              <a:extLst>
                <a:ext uri="{FF2B5EF4-FFF2-40B4-BE49-F238E27FC236}">
                  <a16:creationId xmlns:a16="http://schemas.microsoft.com/office/drawing/2014/main" id="{E66AB2DA-22DA-C8EE-7591-8E812208F7F4}"/>
                </a:ext>
              </a:extLst>
            </p:cNvPr>
            <p:cNvSpPr/>
            <p:nvPr/>
          </p:nvSpPr>
          <p:spPr>
            <a:xfrm>
              <a:off x="3445840" y="747246"/>
              <a:ext cx="37681" cy="292030"/>
            </a:xfrm>
            <a:custGeom>
              <a:avLst/>
              <a:gdLst>
                <a:gd name="connsiteX0" fmla="*/ 0 w 37681"/>
                <a:gd name="connsiteY0" fmla="*/ 293902 h 292030"/>
                <a:gd name="connsiteX1" fmla="*/ 38981 w 37681"/>
                <a:gd name="connsiteY1" fmla="*/ 0 h 292030"/>
              </a:gdLst>
              <a:ahLst/>
              <a:cxnLst>
                <a:cxn ang="0">
                  <a:pos x="connsiteX0" y="connsiteY0"/>
                </a:cxn>
                <a:cxn ang="0">
                  <a:pos x="connsiteX1" y="connsiteY1"/>
                </a:cxn>
              </a:cxnLst>
              <a:rect l="l" t="t" r="r" b="b"/>
              <a:pathLst>
                <a:path w="37681" h="292030">
                  <a:moveTo>
                    <a:pt x="0" y="293902"/>
                  </a:moveTo>
                  <a:cubicBezTo>
                    <a:pt x="0" y="153702"/>
                    <a:pt x="38981" y="0"/>
                    <a:pt x="38981"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4" name="Freeform: Shape 593">
              <a:extLst>
                <a:ext uri="{FF2B5EF4-FFF2-40B4-BE49-F238E27FC236}">
                  <a16:creationId xmlns:a16="http://schemas.microsoft.com/office/drawing/2014/main" id="{2FB95299-3E2B-61BF-8BE1-8028B7B6E924}"/>
                </a:ext>
              </a:extLst>
            </p:cNvPr>
            <p:cNvSpPr/>
            <p:nvPr/>
          </p:nvSpPr>
          <p:spPr>
            <a:xfrm>
              <a:off x="3229595" y="847629"/>
              <a:ext cx="226088" cy="37681"/>
            </a:xfrm>
            <a:custGeom>
              <a:avLst/>
              <a:gdLst>
                <a:gd name="connsiteX0" fmla="*/ 0 w 226087"/>
                <a:gd name="connsiteY0" fmla="*/ 0 h 37681"/>
                <a:gd name="connsiteX1" fmla="*/ 117705 w 226087"/>
                <a:gd name="connsiteY1" fmla="*/ 39629 h 37681"/>
                <a:gd name="connsiteX2" fmla="*/ 235415 w 226087"/>
                <a:gd name="connsiteY2" fmla="*/ 0 h 37681"/>
              </a:gdLst>
              <a:ahLst/>
              <a:cxnLst>
                <a:cxn ang="0">
                  <a:pos x="connsiteX0" y="connsiteY0"/>
                </a:cxn>
                <a:cxn ang="0">
                  <a:pos x="connsiteX1" y="connsiteY1"/>
                </a:cxn>
                <a:cxn ang="0">
                  <a:pos x="connsiteX2" y="connsiteY2"/>
                </a:cxn>
              </a:cxnLst>
              <a:rect l="l" t="t" r="r" b="b"/>
              <a:pathLst>
                <a:path w="226087" h="37681">
                  <a:moveTo>
                    <a:pt x="0" y="0"/>
                  </a:moveTo>
                  <a:cubicBezTo>
                    <a:pt x="23527" y="23677"/>
                    <a:pt x="67370" y="39629"/>
                    <a:pt x="117705" y="39629"/>
                  </a:cubicBezTo>
                  <a:cubicBezTo>
                    <a:pt x="168040" y="39629"/>
                    <a:pt x="211888" y="23677"/>
                    <a:pt x="235415" y="0"/>
                  </a:cubicBezTo>
                </a:path>
              </a:pathLst>
            </a:custGeom>
            <a:noFill/>
            <a:ln w="19050" cap="flat">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5" name="Freeform: Shape 594">
              <a:extLst>
                <a:ext uri="{FF2B5EF4-FFF2-40B4-BE49-F238E27FC236}">
                  <a16:creationId xmlns:a16="http://schemas.microsoft.com/office/drawing/2014/main" id="{809E3699-73F8-0554-F17E-965BCD1EB598}"/>
                </a:ext>
              </a:extLst>
            </p:cNvPr>
            <p:cNvSpPr/>
            <p:nvPr/>
          </p:nvSpPr>
          <p:spPr>
            <a:xfrm>
              <a:off x="3049573" y="466306"/>
              <a:ext cx="405074" cy="574640"/>
            </a:xfrm>
            <a:custGeom>
              <a:avLst/>
              <a:gdLst>
                <a:gd name="connsiteX0" fmla="*/ 7668 w 405074"/>
                <a:gd name="connsiteY0" fmla="*/ 574841 h 574640"/>
                <a:gd name="connsiteX1" fmla="*/ 0 w 405074"/>
                <a:gd name="connsiteY1" fmla="*/ 427884 h 574640"/>
                <a:gd name="connsiteX2" fmla="*/ 160220 w 405074"/>
                <a:gd name="connsiteY2" fmla="*/ 280939 h 574640"/>
                <a:gd name="connsiteX3" fmla="*/ 223296 w 405074"/>
                <a:gd name="connsiteY3" fmla="*/ 264310 h 574640"/>
                <a:gd name="connsiteX4" fmla="*/ 220838 w 405074"/>
                <a:gd name="connsiteY4" fmla="*/ 199937 h 574640"/>
                <a:gd name="connsiteX5" fmla="*/ 189393 w 405074"/>
                <a:gd name="connsiteY5" fmla="*/ 0 h 574640"/>
                <a:gd name="connsiteX6" fmla="*/ 412242 w 405074"/>
                <a:gd name="connsiteY6" fmla="*/ 21667 h 57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5074" h="574640">
                  <a:moveTo>
                    <a:pt x="7668" y="574841"/>
                  </a:moveTo>
                  <a:lnTo>
                    <a:pt x="0" y="427884"/>
                  </a:lnTo>
                  <a:cubicBezTo>
                    <a:pt x="0" y="352283"/>
                    <a:pt x="75579" y="308886"/>
                    <a:pt x="160220" y="280939"/>
                  </a:cubicBezTo>
                  <a:cubicBezTo>
                    <a:pt x="176734" y="275488"/>
                    <a:pt x="223296" y="264310"/>
                    <a:pt x="223296" y="264310"/>
                  </a:cubicBezTo>
                  <a:cubicBezTo>
                    <a:pt x="223983" y="247604"/>
                    <a:pt x="223233" y="219645"/>
                    <a:pt x="220838" y="199937"/>
                  </a:cubicBezTo>
                  <a:cubicBezTo>
                    <a:pt x="170420" y="131972"/>
                    <a:pt x="174300" y="35848"/>
                    <a:pt x="189393" y="0"/>
                  </a:cubicBezTo>
                  <a:cubicBezTo>
                    <a:pt x="225352" y="22006"/>
                    <a:pt x="314663" y="46047"/>
                    <a:pt x="412242" y="21667"/>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6" name="Freeform: Shape 595">
              <a:extLst>
                <a:ext uri="{FF2B5EF4-FFF2-40B4-BE49-F238E27FC236}">
                  <a16:creationId xmlns:a16="http://schemas.microsoft.com/office/drawing/2014/main" id="{2EB1A45B-4984-7C56-134C-9989C0B9FD58}"/>
                </a:ext>
              </a:extLst>
            </p:cNvPr>
            <p:cNvSpPr/>
            <p:nvPr/>
          </p:nvSpPr>
          <p:spPr>
            <a:xfrm>
              <a:off x="3383249" y="443836"/>
              <a:ext cx="254349" cy="593481"/>
            </a:xfrm>
            <a:custGeom>
              <a:avLst/>
              <a:gdLst>
                <a:gd name="connsiteX0" fmla="*/ 254119 w 254348"/>
                <a:gd name="connsiteY0" fmla="*/ 597312 h 593480"/>
                <a:gd name="connsiteX1" fmla="*/ 261792 w 254348"/>
                <a:gd name="connsiteY1" fmla="*/ 450355 h 593480"/>
                <a:gd name="connsiteX2" fmla="*/ 101573 w 254348"/>
                <a:gd name="connsiteY2" fmla="*/ 303410 h 593480"/>
                <a:gd name="connsiteX3" fmla="*/ 38456 w 254348"/>
                <a:gd name="connsiteY3" fmla="*/ 286730 h 593480"/>
                <a:gd name="connsiteX4" fmla="*/ 40806 w 254348"/>
                <a:gd name="connsiteY4" fmla="*/ 223601 h 593480"/>
                <a:gd name="connsiteX5" fmla="*/ 78567 w 254348"/>
                <a:gd name="connsiteY5" fmla="*/ 44138 h 593480"/>
                <a:gd name="connsiteX6" fmla="*/ 0 w 254348"/>
                <a:gd name="connsiteY6" fmla="*/ 0 h 59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348" h="593480">
                  <a:moveTo>
                    <a:pt x="254119" y="597312"/>
                  </a:moveTo>
                  <a:lnTo>
                    <a:pt x="261792" y="450355"/>
                  </a:lnTo>
                  <a:cubicBezTo>
                    <a:pt x="261792" y="374754"/>
                    <a:pt x="192421" y="327174"/>
                    <a:pt x="101573" y="303410"/>
                  </a:cubicBezTo>
                  <a:cubicBezTo>
                    <a:pt x="85779" y="299278"/>
                    <a:pt x="38456" y="286730"/>
                    <a:pt x="38456" y="286730"/>
                  </a:cubicBezTo>
                  <a:cubicBezTo>
                    <a:pt x="37774" y="270363"/>
                    <a:pt x="38466" y="242756"/>
                    <a:pt x="40806" y="223601"/>
                  </a:cubicBezTo>
                  <a:cubicBezTo>
                    <a:pt x="93099" y="152522"/>
                    <a:pt x="96465" y="83929"/>
                    <a:pt x="78567" y="44138"/>
                  </a:cubicBezTo>
                  <a:cubicBezTo>
                    <a:pt x="39315" y="31703"/>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7" name="Freeform: Shape 596">
              <a:extLst>
                <a:ext uri="{FF2B5EF4-FFF2-40B4-BE49-F238E27FC236}">
                  <a16:creationId xmlns:a16="http://schemas.microsoft.com/office/drawing/2014/main" id="{CEB8D5D9-825F-2791-CCB2-B099E3078AEB}"/>
                </a:ext>
              </a:extLst>
            </p:cNvPr>
            <p:cNvSpPr/>
            <p:nvPr/>
          </p:nvSpPr>
          <p:spPr>
            <a:xfrm>
              <a:off x="3152851" y="285562"/>
              <a:ext cx="386234" cy="480437"/>
            </a:xfrm>
            <a:custGeom>
              <a:avLst/>
              <a:gdLst>
                <a:gd name="connsiteX0" fmla="*/ 383695 w 386233"/>
                <a:gd name="connsiteY0" fmla="*/ 479344 h 480436"/>
                <a:gd name="connsiteX1" fmla="*/ 388714 w 386233"/>
                <a:gd name="connsiteY1" fmla="*/ 209470 h 480436"/>
                <a:gd name="connsiteX2" fmla="*/ 194444 w 386233"/>
                <a:gd name="connsiteY2" fmla="*/ 0 h 480436"/>
                <a:gd name="connsiteX3" fmla="*/ 107 w 386233"/>
                <a:gd name="connsiteY3" fmla="*/ 209646 h 480436"/>
                <a:gd name="connsiteX4" fmla="*/ 792 w 386233"/>
                <a:gd name="connsiteY4" fmla="*/ 483062 h 480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33" h="480436">
                  <a:moveTo>
                    <a:pt x="383695" y="479344"/>
                  </a:moveTo>
                  <a:cubicBezTo>
                    <a:pt x="334827" y="447063"/>
                    <a:pt x="391221" y="320103"/>
                    <a:pt x="388714" y="209470"/>
                  </a:cubicBezTo>
                  <a:cubicBezTo>
                    <a:pt x="388837" y="102141"/>
                    <a:pt x="307022" y="0"/>
                    <a:pt x="194444" y="0"/>
                  </a:cubicBezTo>
                  <a:cubicBezTo>
                    <a:pt x="83073" y="0"/>
                    <a:pt x="107" y="102292"/>
                    <a:pt x="107" y="209646"/>
                  </a:cubicBezTo>
                  <a:cubicBezTo>
                    <a:pt x="-2593" y="321949"/>
                    <a:pt x="47325" y="453168"/>
                    <a:pt x="792" y="483062"/>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598" name="Employee6" descr="{&quot;Key&quot;:&quot;POWER_USER_SHAPE_ICON&quot;,&quot;Value&quot;:&quot;POWER_USER_SHAPE_ICON_STYLE_1&quot;}">
            <a:extLst>
              <a:ext uri="{FF2B5EF4-FFF2-40B4-BE49-F238E27FC236}">
                <a16:creationId xmlns:a16="http://schemas.microsoft.com/office/drawing/2014/main" id="{F7E2A569-5D94-4CD7-DA77-6A5A31593425}"/>
              </a:ext>
            </a:extLst>
          </p:cNvPr>
          <p:cNvGrpSpPr>
            <a:grpSpLocks noChangeAspect="1"/>
          </p:cNvGrpSpPr>
          <p:nvPr/>
        </p:nvGrpSpPr>
        <p:grpSpPr>
          <a:xfrm>
            <a:off x="2982516" y="2919312"/>
            <a:ext cx="288000" cy="342474"/>
            <a:chOff x="3584576" y="3348038"/>
            <a:chExt cx="230188" cy="292100"/>
          </a:xfrm>
          <a:solidFill>
            <a:schemeClr val="accent1"/>
          </a:solidFill>
        </p:grpSpPr>
        <p:sp>
          <p:nvSpPr>
            <p:cNvPr id="599" name="Freeform 1099">
              <a:extLst>
                <a:ext uri="{FF2B5EF4-FFF2-40B4-BE49-F238E27FC236}">
                  <a16:creationId xmlns:a16="http://schemas.microsoft.com/office/drawing/2014/main" id="{B137182B-B12F-E76B-7B3C-D5E24033B6D4}"/>
                </a:ext>
              </a:extLst>
            </p:cNvPr>
            <p:cNvSpPr>
              <a:spLocks/>
            </p:cNvSpPr>
            <p:nvPr/>
          </p:nvSpPr>
          <p:spPr bwMode="auto">
            <a:xfrm>
              <a:off x="3621088" y="3433763"/>
              <a:ext cx="44450" cy="36513"/>
            </a:xfrm>
            <a:custGeom>
              <a:avLst/>
              <a:gdLst>
                <a:gd name="T0" fmla="*/ 109 w 218"/>
                <a:gd name="T1" fmla="*/ 159 h 176"/>
                <a:gd name="T2" fmla="*/ 109 w 218"/>
                <a:gd name="T3" fmla="*/ 143 h 176"/>
                <a:gd name="T4" fmla="*/ 55 w 218"/>
                <a:gd name="T5" fmla="*/ 120 h 176"/>
                <a:gd name="T6" fmla="*/ 33 w 218"/>
                <a:gd name="T7" fmla="*/ 67 h 176"/>
                <a:gd name="T8" fmla="*/ 33 w 218"/>
                <a:gd name="T9" fmla="*/ 33 h 176"/>
                <a:gd name="T10" fmla="*/ 185 w 218"/>
                <a:gd name="T11" fmla="*/ 33 h 176"/>
                <a:gd name="T12" fmla="*/ 185 w 218"/>
                <a:gd name="T13" fmla="*/ 67 h 176"/>
                <a:gd name="T14" fmla="*/ 163 w 218"/>
                <a:gd name="T15" fmla="*/ 120 h 176"/>
                <a:gd name="T16" fmla="*/ 109 w 218"/>
                <a:gd name="T17" fmla="*/ 143 h 176"/>
                <a:gd name="T18" fmla="*/ 109 w 218"/>
                <a:gd name="T19" fmla="*/ 159 h 176"/>
                <a:gd name="T20" fmla="*/ 109 w 218"/>
                <a:gd name="T21" fmla="*/ 176 h 176"/>
                <a:gd name="T22" fmla="*/ 218 w 218"/>
                <a:gd name="T23" fmla="*/ 67 h 176"/>
                <a:gd name="T24" fmla="*/ 218 w 218"/>
                <a:gd name="T25" fmla="*/ 0 h 176"/>
                <a:gd name="T26" fmla="*/ 0 w 218"/>
                <a:gd name="T27" fmla="*/ 0 h 176"/>
                <a:gd name="T28" fmla="*/ 0 w 218"/>
                <a:gd name="T29" fmla="*/ 67 h 176"/>
                <a:gd name="T30" fmla="*/ 109 w 218"/>
                <a:gd name="T31" fmla="*/ 176 h 176"/>
                <a:gd name="T32" fmla="*/ 109 w 218"/>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8" h="176">
                  <a:moveTo>
                    <a:pt x="109" y="159"/>
                  </a:moveTo>
                  <a:lnTo>
                    <a:pt x="109" y="143"/>
                  </a:lnTo>
                  <a:cubicBezTo>
                    <a:pt x="88" y="143"/>
                    <a:pt x="69" y="134"/>
                    <a:pt x="55" y="120"/>
                  </a:cubicBezTo>
                  <a:cubicBezTo>
                    <a:pt x="41" y="107"/>
                    <a:pt x="33" y="88"/>
                    <a:pt x="33" y="67"/>
                  </a:cubicBezTo>
                  <a:lnTo>
                    <a:pt x="33" y="33"/>
                  </a:lnTo>
                  <a:lnTo>
                    <a:pt x="185" y="33"/>
                  </a:lnTo>
                  <a:lnTo>
                    <a:pt x="185" y="67"/>
                  </a:lnTo>
                  <a:cubicBezTo>
                    <a:pt x="185" y="88"/>
                    <a:pt x="176" y="107"/>
                    <a:pt x="163" y="120"/>
                  </a:cubicBezTo>
                  <a:cubicBezTo>
                    <a:pt x="149" y="134"/>
                    <a:pt x="130" y="143"/>
                    <a:pt x="109" y="143"/>
                  </a:cubicBezTo>
                  <a:lnTo>
                    <a:pt x="109" y="159"/>
                  </a:lnTo>
                  <a:lnTo>
                    <a:pt x="109" y="176"/>
                  </a:lnTo>
                  <a:cubicBezTo>
                    <a:pt x="169" y="176"/>
                    <a:pt x="218" y="127"/>
                    <a:pt x="218" y="67"/>
                  </a:cubicBezTo>
                  <a:lnTo>
                    <a:pt x="218" y="0"/>
                  </a:lnTo>
                  <a:lnTo>
                    <a:pt x="0" y="0"/>
                  </a:lnTo>
                  <a:lnTo>
                    <a:pt x="0" y="67"/>
                  </a:lnTo>
                  <a:cubicBezTo>
                    <a:pt x="0" y="127"/>
                    <a:pt x="48" y="176"/>
                    <a:pt x="109" y="176"/>
                  </a:cubicBezTo>
                  <a:lnTo>
                    <a:pt x="109" y="159"/>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0" name="Freeform 1100">
              <a:extLst>
                <a:ext uri="{FF2B5EF4-FFF2-40B4-BE49-F238E27FC236}">
                  <a16:creationId xmlns:a16="http://schemas.microsoft.com/office/drawing/2014/main" id="{4FE45E9B-3FD5-29F3-F9F9-682F66A4795C}"/>
                </a:ext>
              </a:extLst>
            </p:cNvPr>
            <p:cNvSpPr>
              <a:spLocks/>
            </p:cNvSpPr>
            <p:nvPr/>
          </p:nvSpPr>
          <p:spPr bwMode="auto">
            <a:xfrm>
              <a:off x="3671888" y="3433763"/>
              <a:ext cx="44450" cy="36513"/>
            </a:xfrm>
            <a:custGeom>
              <a:avLst/>
              <a:gdLst>
                <a:gd name="T0" fmla="*/ 109 w 219"/>
                <a:gd name="T1" fmla="*/ 159 h 176"/>
                <a:gd name="T2" fmla="*/ 109 w 219"/>
                <a:gd name="T3" fmla="*/ 143 h 176"/>
                <a:gd name="T4" fmla="*/ 56 w 219"/>
                <a:gd name="T5" fmla="*/ 120 h 176"/>
                <a:gd name="T6" fmla="*/ 33 w 219"/>
                <a:gd name="T7" fmla="*/ 67 h 176"/>
                <a:gd name="T8" fmla="*/ 33 w 219"/>
                <a:gd name="T9" fmla="*/ 33 h 176"/>
                <a:gd name="T10" fmla="*/ 185 w 219"/>
                <a:gd name="T11" fmla="*/ 33 h 176"/>
                <a:gd name="T12" fmla="*/ 185 w 219"/>
                <a:gd name="T13" fmla="*/ 67 h 176"/>
                <a:gd name="T14" fmla="*/ 163 w 219"/>
                <a:gd name="T15" fmla="*/ 120 h 176"/>
                <a:gd name="T16" fmla="*/ 109 w 219"/>
                <a:gd name="T17" fmla="*/ 143 h 176"/>
                <a:gd name="T18" fmla="*/ 109 w 219"/>
                <a:gd name="T19" fmla="*/ 159 h 176"/>
                <a:gd name="T20" fmla="*/ 109 w 219"/>
                <a:gd name="T21" fmla="*/ 176 h 176"/>
                <a:gd name="T22" fmla="*/ 219 w 219"/>
                <a:gd name="T23" fmla="*/ 67 h 176"/>
                <a:gd name="T24" fmla="*/ 219 w 219"/>
                <a:gd name="T25" fmla="*/ 0 h 176"/>
                <a:gd name="T26" fmla="*/ 0 w 219"/>
                <a:gd name="T27" fmla="*/ 0 h 176"/>
                <a:gd name="T28" fmla="*/ 0 w 219"/>
                <a:gd name="T29" fmla="*/ 67 h 176"/>
                <a:gd name="T30" fmla="*/ 109 w 219"/>
                <a:gd name="T31" fmla="*/ 176 h 176"/>
                <a:gd name="T32" fmla="*/ 109 w 219"/>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9" h="176">
                  <a:moveTo>
                    <a:pt x="109" y="159"/>
                  </a:moveTo>
                  <a:lnTo>
                    <a:pt x="109" y="143"/>
                  </a:lnTo>
                  <a:cubicBezTo>
                    <a:pt x="88" y="143"/>
                    <a:pt x="69" y="134"/>
                    <a:pt x="56" y="120"/>
                  </a:cubicBezTo>
                  <a:cubicBezTo>
                    <a:pt x="42" y="107"/>
                    <a:pt x="33" y="88"/>
                    <a:pt x="33" y="67"/>
                  </a:cubicBezTo>
                  <a:lnTo>
                    <a:pt x="33" y="33"/>
                  </a:lnTo>
                  <a:lnTo>
                    <a:pt x="185" y="33"/>
                  </a:lnTo>
                  <a:lnTo>
                    <a:pt x="185" y="67"/>
                  </a:lnTo>
                  <a:cubicBezTo>
                    <a:pt x="185" y="88"/>
                    <a:pt x="177" y="107"/>
                    <a:pt x="163" y="120"/>
                  </a:cubicBezTo>
                  <a:cubicBezTo>
                    <a:pt x="149" y="134"/>
                    <a:pt x="130" y="143"/>
                    <a:pt x="109" y="143"/>
                  </a:cubicBezTo>
                  <a:lnTo>
                    <a:pt x="109" y="159"/>
                  </a:lnTo>
                  <a:lnTo>
                    <a:pt x="109" y="176"/>
                  </a:lnTo>
                  <a:cubicBezTo>
                    <a:pt x="170" y="176"/>
                    <a:pt x="219" y="127"/>
                    <a:pt x="219" y="67"/>
                  </a:cubicBezTo>
                  <a:lnTo>
                    <a:pt x="219" y="0"/>
                  </a:lnTo>
                  <a:lnTo>
                    <a:pt x="0" y="0"/>
                  </a:lnTo>
                  <a:lnTo>
                    <a:pt x="0" y="67"/>
                  </a:lnTo>
                  <a:cubicBezTo>
                    <a:pt x="0" y="127"/>
                    <a:pt x="49" y="176"/>
                    <a:pt x="109" y="176"/>
                  </a:cubicBezTo>
                  <a:lnTo>
                    <a:pt x="109" y="15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1" name="Freeform 1101">
              <a:extLst>
                <a:ext uri="{FF2B5EF4-FFF2-40B4-BE49-F238E27FC236}">
                  <a16:creationId xmlns:a16="http://schemas.microsoft.com/office/drawing/2014/main" id="{63615EB1-B6BF-480F-C62C-BA9140035AFA}"/>
                </a:ext>
              </a:extLst>
            </p:cNvPr>
            <p:cNvSpPr>
              <a:spLocks/>
            </p:cNvSpPr>
            <p:nvPr/>
          </p:nvSpPr>
          <p:spPr bwMode="auto">
            <a:xfrm>
              <a:off x="3584576" y="3570288"/>
              <a:ext cx="60325" cy="69850"/>
            </a:xfrm>
            <a:custGeom>
              <a:avLst/>
              <a:gdLst>
                <a:gd name="T0" fmla="*/ 280 w 290"/>
                <a:gd name="T1" fmla="*/ 0 h 339"/>
                <a:gd name="T2" fmla="*/ 142 w 290"/>
                <a:gd name="T3" fmla="*/ 43 h 339"/>
                <a:gd name="T4" fmla="*/ 142 w 290"/>
                <a:gd name="T5" fmla="*/ 43 h 339"/>
                <a:gd name="T6" fmla="*/ 0 w 290"/>
                <a:gd name="T7" fmla="*/ 248 h 339"/>
                <a:gd name="T8" fmla="*/ 0 w 290"/>
                <a:gd name="T9" fmla="*/ 339 h 339"/>
                <a:gd name="T10" fmla="*/ 33 w 290"/>
                <a:gd name="T11" fmla="*/ 339 h 339"/>
                <a:gd name="T12" fmla="*/ 33 w 290"/>
                <a:gd name="T13" fmla="*/ 248 h 339"/>
                <a:gd name="T14" fmla="*/ 153 w 290"/>
                <a:gd name="T15" fmla="*/ 75 h 339"/>
                <a:gd name="T16" fmla="*/ 148 w 290"/>
                <a:gd name="T17" fmla="*/ 59 h 339"/>
                <a:gd name="T18" fmla="*/ 153 w 290"/>
                <a:gd name="T19" fmla="*/ 75 h 339"/>
                <a:gd name="T20" fmla="*/ 290 w 290"/>
                <a:gd name="T21" fmla="*/ 32 h 339"/>
                <a:gd name="T22" fmla="*/ 280 w 290"/>
                <a:gd name="T2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280" y="0"/>
                  </a:moveTo>
                  <a:lnTo>
                    <a:pt x="142" y="43"/>
                  </a:lnTo>
                  <a:lnTo>
                    <a:pt x="142" y="43"/>
                  </a:lnTo>
                  <a:cubicBezTo>
                    <a:pt x="56" y="75"/>
                    <a:pt x="0" y="157"/>
                    <a:pt x="0" y="248"/>
                  </a:cubicBezTo>
                  <a:lnTo>
                    <a:pt x="0" y="339"/>
                  </a:lnTo>
                  <a:lnTo>
                    <a:pt x="33" y="339"/>
                  </a:lnTo>
                  <a:lnTo>
                    <a:pt x="33" y="248"/>
                  </a:lnTo>
                  <a:cubicBezTo>
                    <a:pt x="33" y="170"/>
                    <a:pt x="81" y="101"/>
                    <a:pt x="153" y="75"/>
                  </a:cubicBezTo>
                  <a:lnTo>
                    <a:pt x="148" y="59"/>
                  </a:lnTo>
                  <a:lnTo>
                    <a:pt x="153" y="75"/>
                  </a:lnTo>
                  <a:lnTo>
                    <a:pt x="290" y="32"/>
                  </a:lnTo>
                  <a:lnTo>
                    <a:pt x="28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2" name="Freeform 1102">
              <a:extLst>
                <a:ext uri="{FF2B5EF4-FFF2-40B4-BE49-F238E27FC236}">
                  <a16:creationId xmlns:a16="http://schemas.microsoft.com/office/drawing/2014/main" id="{62DF398A-1AB4-FCDE-FEF7-FBDDDD4A1982}"/>
                </a:ext>
              </a:extLst>
            </p:cNvPr>
            <p:cNvSpPr>
              <a:spLocks/>
            </p:cNvSpPr>
            <p:nvPr/>
          </p:nvSpPr>
          <p:spPr bwMode="auto">
            <a:xfrm>
              <a:off x="3660776" y="3530600"/>
              <a:ext cx="12700" cy="25400"/>
            </a:xfrm>
            <a:custGeom>
              <a:avLst/>
              <a:gdLst>
                <a:gd name="T0" fmla="*/ 27 w 60"/>
                <a:gd name="T1" fmla="*/ 2 h 124"/>
                <a:gd name="T2" fmla="*/ 27 w 60"/>
                <a:gd name="T3" fmla="*/ 2 h 124"/>
                <a:gd name="T4" fmla="*/ 27 w 60"/>
                <a:gd name="T5" fmla="*/ 5 h 124"/>
                <a:gd name="T6" fmla="*/ 0 w 60"/>
                <a:gd name="T7" fmla="*/ 108 h 124"/>
                <a:gd name="T8" fmla="*/ 29 w 60"/>
                <a:gd name="T9" fmla="*/ 124 h 124"/>
                <a:gd name="T10" fmla="*/ 60 w 60"/>
                <a:gd name="T11" fmla="*/ 5 h 124"/>
                <a:gd name="T12" fmla="*/ 60 w 60"/>
                <a:gd name="T13" fmla="*/ 0 h 124"/>
                <a:gd name="T14" fmla="*/ 27 w 60"/>
                <a:gd name="T15" fmla="*/ 2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124">
                  <a:moveTo>
                    <a:pt x="27" y="2"/>
                  </a:moveTo>
                  <a:lnTo>
                    <a:pt x="27" y="2"/>
                  </a:lnTo>
                  <a:cubicBezTo>
                    <a:pt x="27" y="3"/>
                    <a:pt x="27" y="4"/>
                    <a:pt x="27" y="5"/>
                  </a:cubicBezTo>
                  <a:cubicBezTo>
                    <a:pt x="27" y="17"/>
                    <a:pt x="25" y="60"/>
                    <a:pt x="0" y="108"/>
                  </a:cubicBezTo>
                  <a:lnTo>
                    <a:pt x="29" y="124"/>
                  </a:lnTo>
                  <a:cubicBezTo>
                    <a:pt x="58" y="69"/>
                    <a:pt x="60" y="21"/>
                    <a:pt x="60" y="5"/>
                  </a:cubicBezTo>
                  <a:cubicBezTo>
                    <a:pt x="60" y="2"/>
                    <a:pt x="60" y="1"/>
                    <a:pt x="60" y="0"/>
                  </a:cubicBezTo>
                  <a:lnTo>
                    <a:pt x="27" y="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3" name="Freeform 1103">
              <a:extLst>
                <a:ext uri="{FF2B5EF4-FFF2-40B4-BE49-F238E27FC236}">
                  <a16:creationId xmlns:a16="http://schemas.microsoft.com/office/drawing/2014/main" id="{6D52203E-78DF-1FBB-8996-6BDF997FE5BF}"/>
                </a:ext>
              </a:extLst>
            </p:cNvPr>
            <p:cNvSpPr>
              <a:spLocks/>
            </p:cNvSpPr>
            <p:nvPr/>
          </p:nvSpPr>
          <p:spPr bwMode="auto">
            <a:xfrm>
              <a:off x="3756026" y="3570288"/>
              <a:ext cx="58738" cy="69850"/>
            </a:xfrm>
            <a:custGeom>
              <a:avLst/>
              <a:gdLst>
                <a:gd name="T0" fmla="*/ 0 w 290"/>
                <a:gd name="T1" fmla="*/ 32 h 339"/>
                <a:gd name="T2" fmla="*/ 137 w 290"/>
                <a:gd name="T3" fmla="*/ 75 h 339"/>
                <a:gd name="T4" fmla="*/ 142 w 290"/>
                <a:gd name="T5" fmla="*/ 59 h 339"/>
                <a:gd name="T6" fmla="*/ 136 w 290"/>
                <a:gd name="T7" fmla="*/ 75 h 339"/>
                <a:gd name="T8" fmla="*/ 257 w 290"/>
                <a:gd name="T9" fmla="*/ 248 h 339"/>
                <a:gd name="T10" fmla="*/ 257 w 290"/>
                <a:gd name="T11" fmla="*/ 339 h 339"/>
                <a:gd name="T12" fmla="*/ 290 w 290"/>
                <a:gd name="T13" fmla="*/ 339 h 339"/>
                <a:gd name="T14" fmla="*/ 290 w 290"/>
                <a:gd name="T15" fmla="*/ 248 h 339"/>
                <a:gd name="T16" fmla="*/ 148 w 290"/>
                <a:gd name="T17" fmla="*/ 43 h 339"/>
                <a:gd name="T18" fmla="*/ 148 w 290"/>
                <a:gd name="T19" fmla="*/ 43 h 339"/>
                <a:gd name="T20" fmla="*/ 10 w 290"/>
                <a:gd name="T21" fmla="*/ 0 h 339"/>
                <a:gd name="T22" fmla="*/ 0 w 290"/>
                <a:gd name="T23" fmla="*/ 32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0" y="32"/>
                  </a:moveTo>
                  <a:lnTo>
                    <a:pt x="137" y="75"/>
                  </a:lnTo>
                  <a:lnTo>
                    <a:pt x="142" y="59"/>
                  </a:lnTo>
                  <a:lnTo>
                    <a:pt x="136" y="75"/>
                  </a:lnTo>
                  <a:cubicBezTo>
                    <a:pt x="209" y="101"/>
                    <a:pt x="257" y="170"/>
                    <a:pt x="257" y="248"/>
                  </a:cubicBezTo>
                  <a:lnTo>
                    <a:pt x="257" y="339"/>
                  </a:lnTo>
                  <a:lnTo>
                    <a:pt x="290" y="339"/>
                  </a:lnTo>
                  <a:lnTo>
                    <a:pt x="290" y="248"/>
                  </a:lnTo>
                  <a:cubicBezTo>
                    <a:pt x="290" y="157"/>
                    <a:pt x="233" y="75"/>
                    <a:pt x="148" y="43"/>
                  </a:cubicBezTo>
                  <a:lnTo>
                    <a:pt x="148" y="43"/>
                  </a:lnTo>
                  <a:lnTo>
                    <a:pt x="10" y="0"/>
                  </a:lnTo>
                  <a:lnTo>
                    <a:pt x="0" y="3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4" name="Freeform 1104">
              <a:extLst>
                <a:ext uri="{FF2B5EF4-FFF2-40B4-BE49-F238E27FC236}">
                  <a16:creationId xmlns:a16="http://schemas.microsoft.com/office/drawing/2014/main" id="{C190ABAB-0905-A884-79D2-D7F8636AAB95}"/>
                </a:ext>
              </a:extLst>
            </p:cNvPr>
            <p:cNvSpPr>
              <a:spLocks/>
            </p:cNvSpPr>
            <p:nvPr/>
          </p:nvSpPr>
          <p:spPr bwMode="auto">
            <a:xfrm>
              <a:off x="3727451" y="3522663"/>
              <a:ext cx="11113" cy="33338"/>
            </a:xfrm>
            <a:custGeom>
              <a:avLst/>
              <a:gdLst>
                <a:gd name="T0" fmla="*/ 0 w 58"/>
                <a:gd name="T1" fmla="*/ 0 h 163"/>
                <a:gd name="T2" fmla="*/ 0 w 58"/>
                <a:gd name="T3" fmla="*/ 19 h 163"/>
                <a:gd name="T4" fmla="*/ 5 w 58"/>
                <a:gd name="T5" fmla="*/ 84 h 163"/>
                <a:gd name="T6" fmla="*/ 28 w 58"/>
                <a:gd name="T7" fmla="*/ 163 h 163"/>
                <a:gd name="T8" fmla="*/ 58 w 58"/>
                <a:gd name="T9" fmla="*/ 147 h 163"/>
                <a:gd name="T10" fmla="*/ 38 w 58"/>
                <a:gd name="T11" fmla="*/ 79 h 163"/>
                <a:gd name="T12" fmla="*/ 33 w 58"/>
                <a:gd name="T13" fmla="*/ 19 h 163"/>
                <a:gd name="T14" fmla="*/ 34 w 58"/>
                <a:gd name="T15" fmla="*/ 7 h 163"/>
                <a:gd name="T16" fmla="*/ 34 w 58"/>
                <a:gd name="T17" fmla="*/ 3 h 163"/>
                <a:gd name="T18" fmla="*/ 34 w 58"/>
                <a:gd name="T19" fmla="*/ 2 h 163"/>
                <a:gd name="T20" fmla="*/ 0 w 58"/>
                <a:gd name="T2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163">
                  <a:moveTo>
                    <a:pt x="0" y="0"/>
                  </a:moveTo>
                  <a:cubicBezTo>
                    <a:pt x="0" y="0"/>
                    <a:pt x="0" y="7"/>
                    <a:pt x="0" y="19"/>
                  </a:cubicBezTo>
                  <a:cubicBezTo>
                    <a:pt x="0" y="34"/>
                    <a:pt x="1" y="58"/>
                    <a:pt x="5" y="84"/>
                  </a:cubicBezTo>
                  <a:cubicBezTo>
                    <a:pt x="9" y="109"/>
                    <a:pt x="15" y="138"/>
                    <a:pt x="28" y="163"/>
                  </a:cubicBezTo>
                  <a:lnTo>
                    <a:pt x="58" y="147"/>
                  </a:lnTo>
                  <a:cubicBezTo>
                    <a:pt x="48" y="127"/>
                    <a:pt x="41" y="102"/>
                    <a:pt x="38" y="79"/>
                  </a:cubicBezTo>
                  <a:cubicBezTo>
                    <a:pt x="34" y="55"/>
                    <a:pt x="33" y="33"/>
                    <a:pt x="33" y="19"/>
                  </a:cubicBezTo>
                  <a:cubicBezTo>
                    <a:pt x="33" y="14"/>
                    <a:pt x="33" y="9"/>
                    <a:pt x="34" y="7"/>
                  </a:cubicBezTo>
                  <a:lnTo>
                    <a:pt x="34" y="3"/>
                  </a:lnTo>
                  <a:lnTo>
                    <a:pt x="34" y="2"/>
                  </a:lnTo>
                  <a:lnTo>
                    <a:pt x="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5" name="Freeform 1105">
              <a:extLst>
                <a:ext uri="{FF2B5EF4-FFF2-40B4-BE49-F238E27FC236}">
                  <a16:creationId xmlns:a16="http://schemas.microsoft.com/office/drawing/2014/main" id="{7BF4FAC3-05A7-D81B-D01C-32AA6368571E}"/>
                </a:ext>
              </a:extLst>
            </p:cNvPr>
            <p:cNvSpPr>
              <a:spLocks/>
            </p:cNvSpPr>
            <p:nvPr/>
          </p:nvSpPr>
          <p:spPr bwMode="auto">
            <a:xfrm>
              <a:off x="3611563" y="3348038"/>
              <a:ext cx="117475" cy="80963"/>
            </a:xfrm>
            <a:custGeom>
              <a:avLst/>
              <a:gdLst>
                <a:gd name="T0" fmla="*/ 543 w 573"/>
                <a:gd name="T1" fmla="*/ 8 h 389"/>
                <a:gd name="T2" fmla="*/ 419 w 573"/>
                <a:gd name="T3" fmla="*/ 0 h 389"/>
                <a:gd name="T4" fmla="*/ 162 w 573"/>
                <a:gd name="T5" fmla="*/ 46 h 389"/>
                <a:gd name="T6" fmla="*/ 53 w 573"/>
                <a:gd name="T7" fmla="*/ 128 h 389"/>
                <a:gd name="T8" fmla="*/ 1 w 573"/>
                <a:gd name="T9" fmla="*/ 269 h 389"/>
                <a:gd name="T10" fmla="*/ 0 w 573"/>
                <a:gd name="T11" fmla="*/ 287 h 389"/>
                <a:gd name="T12" fmla="*/ 221 w 573"/>
                <a:gd name="T13" fmla="*/ 287 h 389"/>
                <a:gd name="T14" fmla="*/ 221 w 573"/>
                <a:gd name="T15" fmla="*/ 270 h 389"/>
                <a:gd name="T16" fmla="*/ 206 w 573"/>
                <a:gd name="T17" fmla="*/ 277 h 389"/>
                <a:gd name="T18" fmla="*/ 261 w 573"/>
                <a:gd name="T19" fmla="*/ 335 h 389"/>
                <a:gd name="T20" fmla="*/ 476 w 573"/>
                <a:gd name="T21" fmla="*/ 389 h 389"/>
                <a:gd name="T22" fmla="*/ 573 w 573"/>
                <a:gd name="T23" fmla="*/ 389 h 389"/>
                <a:gd name="T24" fmla="*/ 573 w 573"/>
                <a:gd name="T25" fmla="*/ 356 h 389"/>
                <a:gd name="T26" fmla="*/ 476 w 573"/>
                <a:gd name="T27" fmla="*/ 356 h 389"/>
                <a:gd name="T28" fmla="*/ 280 w 573"/>
                <a:gd name="T29" fmla="*/ 308 h 389"/>
                <a:gd name="T30" fmla="*/ 244 w 573"/>
                <a:gd name="T31" fmla="*/ 276 h 389"/>
                <a:gd name="T32" fmla="*/ 237 w 573"/>
                <a:gd name="T33" fmla="*/ 266 h 389"/>
                <a:gd name="T34" fmla="*/ 236 w 573"/>
                <a:gd name="T35" fmla="*/ 263 h 389"/>
                <a:gd name="T36" fmla="*/ 236 w 573"/>
                <a:gd name="T37" fmla="*/ 263 h 389"/>
                <a:gd name="T38" fmla="*/ 236 w 573"/>
                <a:gd name="T39" fmla="*/ 263 h 389"/>
                <a:gd name="T40" fmla="*/ 226 w 573"/>
                <a:gd name="T41" fmla="*/ 267 h 389"/>
                <a:gd name="T42" fmla="*/ 236 w 573"/>
                <a:gd name="T43" fmla="*/ 263 h 389"/>
                <a:gd name="T44" fmla="*/ 236 w 573"/>
                <a:gd name="T45" fmla="*/ 263 h 389"/>
                <a:gd name="T46" fmla="*/ 226 w 573"/>
                <a:gd name="T47" fmla="*/ 267 h 389"/>
                <a:gd name="T48" fmla="*/ 236 w 573"/>
                <a:gd name="T49" fmla="*/ 263 h 389"/>
                <a:gd name="T50" fmla="*/ 231 w 573"/>
                <a:gd name="T51" fmla="*/ 253 h 389"/>
                <a:gd name="T52" fmla="*/ 18 w 573"/>
                <a:gd name="T53" fmla="*/ 253 h 389"/>
                <a:gd name="T54" fmla="*/ 18 w 573"/>
                <a:gd name="T55" fmla="*/ 270 h 389"/>
                <a:gd name="T56" fmla="*/ 35 w 573"/>
                <a:gd name="T57" fmla="*/ 271 h 389"/>
                <a:gd name="T58" fmla="*/ 80 w 573"/>
                <a:gd name="T59" fmla="*/ 148 h 389"/>
                <a:gd name="T60" fmla="*/ 235 w 573"/>
                <a:gd name="T61" fmla="*/ 55 h 389"/>
                <a:gd name="T62" fmla="*/ 419 w 573"/>
                <a:gd name="T63" fmla="*/ 33 h 389"/>
                <a:gd name="T64" fmla="*/ 505 w 573"/>
                <a:gd name="T65" fmla="*/ 37 h 389"/>
                <a:gd name="T66" fmla="*/ 529 w 573"/>
                <a:gd name="T67" fmla="*/ 39 h 389"/>
                <a:gd name="T68" fmla="*/ 536 w 573"/>
                <a:gd name="T69" fmla="*/ 40 h 389"/>
                <a:gd name="T70" fmla="*/ 538 w 573"/>
                <a:gd name="T71" fmla="*/ 41 h 389"/>
                <a:gd name="T72" fmla="*/ 543 w 573"/>
                <a:gd name="T73" fmla="*/ 8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73" h="389">
                  <a:moveTo>
                    <a:pt x="543" y="8"/>
                  </a:moveTo>
                  <a:cubicBezTo>
                    <a:pt x="542" y="7"/>
                    <a:pt x="491" y="0"/>
                    <a:pt x="419" y="0"/>
                  </a:cubicBezTo>
                  <a:cubicBezTo>
                    <a:pt x="343" y="0"/>
                    <a:pt x="245" y="8"/>
                    <a:pt x="162" y="46"/>
                  </a:cubicBezTo>
                  <a:cubicBezTo>
                    <a:pt x="120" y="65"/>
                    <a:pt x="82" y="91"/>
                    <a:pt x="53" y="128"/>
                  </a:cubicBezTo>
                  <a:cubicBezTo>
                    <a:pt x="25" y="164"/>
                    <a:pt x="6" y="211"/>
                    <a:pt x="1" y="269"/>
                  </a:cubicBezTo>
                  <a:lnTo>
                    <a:pt x="0" y="287"/>
                  </a:lnTo>
                  <a:lnTo>
                    <a:pt x="221" y="287"/>
                  </a:lnTo>
                  <a:lnTo>
                    <a:pt x="221" y="270"/>
                  </a:lnTo>
                  <a:lnTo>
                    <a:pt x="206" y="277"/>
                  </a:lnTo>
                  <a:cubicBezTo>
                    <a:pt x="207" y="279"/>
                    <a:pt x="220" y="307"/>
                    <a:pt x="261" y="335"/>
                  </a:cubicBezTo>
                  <a:cubicBezTo>
                    <a:pt x="302" y="363"/>
                    <a:pt x="370" y="389"/>
                    <a:pt x="476" y="389"/>
                  </a:cubicBezTo>
                  <a:lnTo>
                    <a:pt x="573" y="389"/>
                  </a:lnTo>
                  <a:lnTo>
                    <a:pt x="573" y="356"/>
                  </a:lnTo>
                  <a:lnTo>
                    <a:pt x="476" y="356"/>
                  </a:lnTo>
                  <a:cubicBezTo>
                    <a:pt x="375" y="356"/>
                    <a:pt x="315" y="331"/>
                    <a:pt x="280" y="308"/>
                  </a:cubicBezTo>
                  <a:cubicBezTo>
                    <a:pt x="262" y="296"/>
                    <a:pt x="251" y="284"/>
                    <a:pt x="244" y="276"/>
                  </a:cubicBezTo>
                  <a:cubicBezTo>
                    <a:pt x="241" y="271"/>
                    <a:pt x="239" y="268"/>
                    <a:pt x="237" y="266"/>
                  </a:cubicBezTo>
                  <a:lnTo>
                    <a:pt x="236" y="263"/>
                  </a:lnTo>
                  <a:lnTo>
                    <a:pt x="236" y="263"/>
                  </a:lnTo>
                  <a:lnTo>
                    <a:pt x="236" y="263"/>
                  </a:lnTo>
                  <a:lnTo>
                    <a:pt x="226" y="267"/>
                  </a:lnTo>
                  <a:lnTo>
                    <a:pt x="236" y="263"/>
                  </a:lnTo>
                  <a:lnTo>
                    <a:pt x="236" y="263"/>
                  </a:lnTo>
                  <a:lnTo>
                    <a:pt x="226" y="267"/>
                  </a:lnTo>
                  <a:lnTo>
                    <a:pt x="236" y="263"/>
                  </a:lnTo>
                  <a:lnTo>
                    <a:pt x="231" y="253"/>
                  </a:lnTo>
                  <a:lnTo>
                    <a:pt x="18" y="253"/>
                  </a:lnTo>
                  <a:lnTo>
                    <a:pt x="18" y="270"/>
                  </a:lnTo>
                  <a:lnTo>
                    <a:pt x="35" y="271"/>
                  </a:lnTo>
                  <a:cubicBezTo>
                    <a:pt x="39" y="219"/>
                    <a:pt x="55" y="180"/>
                    <a:pt x="80" y="148"/>
                  </a:cubicBezTo>
                  <a:cubicBezTo>
                    <a:pt x="117" y="101"/>
                    <a:pt x="173" y="72"/>
                    <a:pt x="235" y="55"/>
                  </a:cubicBezTo>
                  <a:cubicBezTo>
                    <a:pt x="297" y="38"/>
                    <a:pt x="364" y="33"/>
                    <a:pt x="419" y="33"/>
                  </a:cubicBezTo>
                  <a:cubicBezTo>
                    <a:pt x="454" y="33"/>
                    <a:pt x="484" y="35"/>
                    <a:pt x="505" y="37"/>
                  </a:cubicBezTo>
                  <a:cubicBezTo>
                    <a:pt x="515" y="38"/>
                    <a:pt x="524" y="39"/>
                    <a:pt x="529" y="39"/>
                  </a:cubicBezTo>
                  <a:cubicBezTo>
                    <a:pt x="532" y="40"/>
                    <a:pt x="534" y="40"/>
                    <a:pt x="536" y="40"/>
                  </a:cubicBezTo>
                  <a:lnTo>
                    <a:pt x="538" y="41"/>
                  </a:lnTo>
                  <a:lnTo>
                    <a:pt x="543" y="8"/>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6" name="Freeform 1106">
              <a:extLst>
                <a:ext uri="{FF2B5EF4-FFF2-40B4-BE49-F238E27FC236}">
                  <a16:creationId xmlns:a16="http://schemas.microsoft.com/office/drawing/2014/main" id="{ACD8C4E7-19E5-A866-1ED2-714FF015A277}"/>
                </a:ext>
              </a:extLst>
            </p:cNvPr>
            <p:cNvSpPr>
              <a:spLocks/>
            </p:cNvSpPr>
            <p:nvPr/>
          </p:nvSpPr>
          <p:spPr bwMode="auto">
            <a:xfrm>
              <a:off x="3716338" y="3362325"/>
              <a:ext cx="61913" cy="98425"/>
            </a:xfrm>
            <a:custGeom>
              <a:avLst/>
              <a:gdLst>
                <a:gd name="T0" fmla="*/ 4 w 297"/>
                <a:gd name="T1" fmla="*/ 34 h 483"/>
                <a:gd name="T2" fmla="*/ 4 w 297"/>
                <a:gd name="T3" fmla="*/ 34 h 483"/>
                <a:gd name="T4" fmla="*/ 19 w 297"/>
                <a:gd name="T5" fmla="*/ 34 h 483"/>
                <a:gd name="T6" fmla="*/ 163 w 297"/>
                <a:gd name="T7" fmla="*/ 79 h 483"/>
                <a:gd name="T8" fmla="*/ 233 w 297"/>
                <a:gd name="T9" fmla="*/ 170 h 483"/>
                <a:gd name="T10" fmla="*/ 264 w 297"/>
                <a:gd name="T11" fmla="*/ 341 h 483"/>
                <a:gd name="T12" fmla="*/ 261 w 297"/>
                <a:gd name="T13" fmla="*/ 398 h 483"/>
                <a:gd name="T14" fmla="*/ 206 w 297"/>
                <a:gd name="T15" fmla="*/ 450 h 483"/>
                <a:gd name="T16" fmla="*/ 206 w 297"/>
                <a:gd name="T17" fmla="*/ 483 h 483"/>
                <a:gd name="T18" fmla="*/ 295 w 297"/>
                <a:gd name="T19" fmla="*/ 401 h 483"/>
                <a:gd name="T20" fmla="*/ 297 w 297"/>
                <a:gd name="T21" fmla="*/ 341 h 483"/>
                <a:gd name="T22" fmla="*/ 263 w 297"/>
                <a:gd name="T23" fmla="*/ 157 h 483"/>
                <a:gd name="T24" fmla="*/ 136 w 297"/>
                <a:gd name="T25" fmla="*/ 25 h 483"/>
                <a:gd name="T26" fmla="*/ 19 w 297"/>
                <a:gd name="T27" fmla="*/ 0 h 483"/>
                <a:gd name="T28" fmla="*/ 0 w 297"/>
                <a:gd name="T29" fmla="*/ 1 h 483"/>
                <a:gd name="T30" fmla="*/ 4 w 297"/>
                <a:gd name="T31" fmla="*/ 34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7" h="483">
                  <a:moveTo>
                    <a:pt x="4" y="34"/>
                  </a:moveTo>
                  <a:lnTo>
                    <a:pt x="4" y="34"/>
                  </a:lnTo>
                  <a:cubicBezTo>
                    <a:pt x="5" y="34"/>
                    <a:pt x="10" y="34"/>
                    <a:pt x="19" y="34"/>
                  </a:cubicBezTo>
                  <a:cubicBezTo>
                    <a:pt x="48" y="34"/>
                    <a:pt x="110" y="39"/>
                    <a:pt x="163" y="79"/>
                  </a:cubicBezTo>
                  <a:cubicBezTo>
                    <a:pt x="189" y="100"/>
                    <a:pt x="214" y="128"/>
                    <a:pt x="233" y="170"/>
                  </a:cubicBezTo>
                  <a:cubicBezTo>
                    <a:pt x="251" y="212"/>
                    <a:pt x="264" y="267"/>
                    <a:pt x="264" y="341"/>
                  </a:cubicBezTo>
                  <a:cubicBezTo>
                    <a:pt x="264" y="359"/>
                    <a:pt x="263" y="378"/>
                    <a:pt x="261" y="398"/>
                  </a:cubicBezTo>
                  <a:cubicBezTo>
                    <a:pt x="259" y="428"/>
                    <a:pt x="235" y="450"/>
                    <a:pt x="206" y="450"/>
                  </a:cubicBezTo>
                  <a:lnTo>
                    <a:pt x="206" y="483"/>
                  </a:lnTo>
                  <a:cubicBezTo>
                    <a:pt x="253" y="483"/>
                    <a:pt x="291" y="447"/>
                    <a:pt x="295" y="401"/>
                  </a:cubicBezTo>
                  <a:cubicBezTo>
                    <a:pt x="296" y="380"/>
                    <a:pt x="297" y="360"/>
                    <a:pt x="297" y="341"/>
                  </a:cubicBezTo>
                  <a:cubicBezTo>
                    <a:pt x="297" y="264"/>
                    <a:pt x="284" y="204"/>
                    <a:pt x="263" y="157"/>
                  </a:cubicBezTo>
                  <a:cubicBezTo>
                    <a:pt x="232" y="86"/>
                    <a:pt x="183" y="46"/>
                    <a:pt x="136" y="25"/>
                  </a:cubicBezTo>
                  <a:cubicBezTo>
                    <a:pt x="89" y="4"/>
                    <a:pt x="44" y="0"/>
                    <a:pt x="19" y="0"/>
                  </a:cubicBezTo>
                  <a:cubicBezTo>
                    <a:pt x="8" y="0"/>
                    <a:pt x="0" y="1"/>
                    <a:pt x="0" y="1"/>
                  </a:cubicBezTo>
                  <a:lnTo>
                    <a:pt x="4" y="34"/>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7" name="Freeform 1107">
              <a:extLst>
                <a:ext uri="{FF2B5EF4-FFF2-40B4-BE49-F238E27FC236}">
                  <a16:creationId xmlns:a16="http://schemas.microsoft.com/office/drawing/2014/main" id="{19ACBDF4-3269-2802-BDCB-536BDF954B51}"/>
                </a:ext>
              </a:extLst>
            </p:cNvPr>
            <p:cNvSpPr>
              <a:spLocks/>
            </p:cNvSpPr>
            <p:nvPr/>
          </p:nvSpPr>
          <p:spPr bwMode="auto">
            <a:xfrm>
              <a:off x="3625851" y="3400425"/>
              <a:ext cx="139700" cy="136525"/>
            </a:xfrm>
            <a:custGeom>
              <a:avLst/>
              <a:gdLst>
                <a:gd name="T0" fmla="*/ 12 w 677"/>
                <a:gd name="T1" fmla="*/ 191 h 657"/>
                <a:gd name="T2" fmla="*/ 32 w 677"/>
                <a:gd name="T3" fmla="*/ 263 h 657"/>
                <a:gd name="T4" fmla="*/ 0 w 677"/>
                <a:gd name="T5" fmla="*/ 383 h 657"/>
                <a:gd name="T6" fmla="*/ 142 w 677"/>
                <a:gd name="T7" fmla="*/ 631 h 657"/>
                <a:gd name="T8" fmla="*/ 286 w 677"/>
                <a:gd name="T9" fmla="*/ 640 h 657"/>
                <a:gd name="T10" fmla="*/ 307 w 677"/>
                <a:gd name="T11" fmla="*/ 657 h 657"/>
                <a:gd name="T12" fmla="*/ 582 w 677"/>
                <a:gd name="T13" fmla="*/ 553 h 657"/>
                <a:gd name="T14" fmla="*/ 621 w 677"/>
                <a:gd name="T15" fmla="*/ 401 h 657"/>
                <a:gd name="T16" fmla="*/ 621 w 677"/>
                <a:gd name="T17" fmla="*/ 402 h 657"/>
                <a:gd name="T18" fmla="*/ 604 w 677"/>
                <a:gd name="T19" fmla="*/ 328 h 657"/>
                <a:gd name="T20" fmla="*/ 606 w 677"/>
                <a:gd name="T21" fmla="*/ 345 h 657"/>
                <a:gd name="T22" fmla="*/ 606 w 677"/>
                <a:gd name="T23" fmla="*/ 202 h 657"/>
                <a:gd name="T24" fmla="*/ 590 w 677"/>
                <a:gd name="T25" fmla="*/ 219 h 657"/>
                <a:gd name="T26" fmla="*/ 608 w 677"/>
                <a:gd name="T27" fmla="*/ 185 h 657"/>
                <a:gd name="T28" fmla="*/ 561 w 677"/>
                <a:gd name="T29" fmla="*/ 13 h 657"/>
                <a:gd name="T30" fmla="*/ 568 w 677"/>
                <a:gd name="T31" fmla="*/ 106 h 657"/>
                <a:gd name="T32" fmla="*/ 574 w 677"/>
                <a:gd name="T33" fmla="*/ 209 h 657"/>
                <a:gd name="T34" fmla="*/ 574 w 677"/>
                <a:gd name="T35" fmla="*/ 217 h 657"/>
                <a:gd name="T36" fmla="*/ 606 w 677"/>
                <a:gd name="T37" fmla="*/ 235 h 657"/>
                <a:gd name="T38" fmla="*/ 606 w 677"/>
                <a:gd name="T39" fmla="*/ 311 h 657"/>
                <a:gd name="T40" fmla="*/ 588 w 677"/>
                <a:gd name="T41" fmla="*/ 311 h 657"/>
                <a:gd name="T42" fmla="*/ 588 w 677"/>
                <a:gd name="T43" fmla="*/ 404 h 657"/>
                <a:gd name="T44" fmla="*/ 556 w 677"/>
                <a:gd name="T45" fmla="*/ 533 h 657"/>
                <a:gd name="T46" fmla="*/ 307 w 677"/>
                <a:gd name="T47" fmla="*/ 624 h 657"/>
                <a:gd name="T48" fmla="*/ 288 w 677"/>
                <a:gd name="T49" fmla="*/ 623 h 657"/>
                <a:gd name="T50" fmla="*/ 286 w 677"/>
                <a:gd name="T51" fmla="*/ 623 h 657"/>
                <a:gd name="T52" fmla="*/ 155 w 677"/>
                <a:gd name="T53" fmla="*/ 600 h 657"/>
                <a:gd name="T54" fmla="*/ 33 w 677"/>
                <a:gd name="T55" fmla="*/ 383 h 657"/>
                <a:gd name="T56" fmla="*/ 46 w 677"/>
                <a:gd name="T57" fmla="*/ 276 h 657"/>
                <a:gd name="T58" fmla="*/ 48 w 677"/>
                <a:gd name="T59" fmla="*/ 268 h 657"/>
                <a:gd name="T60" fmla="*/ 49 w 677"/>
                <a:gd name="T61" fmla="*/ 264 h 657"/>
                <a:gd name="T62" fmla="*/ 45 w 677"/>
                <a:gd name="T63" fmla="*/ 191 h 657"/>
                <a:gd name="T64" fmla="*/ 50 w 677"/>
                <a:gd name="T65"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7" h="657">
                  <a:moveTo>
                    <a:pt x="50" y="0"/>
                  </a:moveTo>
                  <a:cubicBezTo>
                    <a:pt x="30" y="42"/>
                    <a:pt x="12" y="104"/>
                    <a:pt x="12" y="191"/>
                  </a:cubicBezTo>
                  <a:cubicBezTo>
                    <a:pt x="12" y="214"/>
                    <a:pt x="13" y="238"/>
                    <a:pt x="16" y="264"/>
                  </a:cubicBezTo>
                  <a:lnTo>
                    <a:pt x="32" y="263"/>
                  </a:lnTo>
                  <a:lnTo>
                    <a:pt x="16" y="258"/>
                  </a:lnTo>
                  <a:cubicBezTo>
                    <a:pt x="16" y="259"/>
                    <a:pt x="0" y="314"/>
                    <a:pt x="0" y="383"/>
                  </a:cubicBezTo>
                  <a:cubicBezTo>
                    <a:pt x="0" y="441"/>
                    <a:pt x="11" y="508"/>
                    <a:pt x="53" y="563"/>
                  </a:cubicBezTo>
                  <a:cubicBezTo>
                    <a:pt x="74" y="591"/>
                    <a:pt x="103" y="614"/>
                    <a:pt x="142" y="631"/>
                  </a:cubicBezTo>
                  <a:cubicBezTo>
                    <a:pt x="180" y="647"/>
                    <a:pt x="227" y="657"/>
                    <a:pt x="286" y="657"/>
                  </a:cubicBezTo>
                  <a:lnTo>
                    <a:pt x="286" y="640"/>
                  </a:lnTo>
                  <a:lnTo>
                    <a:pt x="285" y="657"/>
                  </a:lnTo>
                  <a:cubicBezTo>
                    <a:pt x="285" y="657"/>
                    <a:pt x="293" y="657"/>
                    <a:pt x="307" y="657"/>
                  </a:cubicBezTo>
                  <a:cubicBezTo>
                    <a:pt x="345" y="657"/>
                    <a:pt x="421" y="653"/>
                    <a:pt x="490" y="623"/>
                  </a:cubicBezTo>
                  <a:cubicBezTo>
                    <a:pt x="525" y="608"/>
                    <a:pt x="558" y="586"/>
                    <a:pt x="582" y="553"/>
                  </a:cubicBezTo>
                  <a:cubicBezTo>
                    <a:pt x="607" y="521"/>
                    <a:pt x="622" y="479"/>
                    <a:pt x="622" y="426"/>
                  </a:cubicBezTo>
                  <a:cubicBezTo>
                    <a:pt x="622" y="418"/>
                    <a:pt x="622" y="409"/>
                    <a:pt x="621" y="401"/>
                  </a:cubicBezTo>
                  <a:lnTo>
                    <a:pt x="604" y="402"/>
                  </a:lnTo>
                  <a:lnTo>
                    <a:pt x="621" y="402"/>
                  </a:lnTo>
                  <a:lnTo>
                    <a:pt x="621" y="328"/>
                  </a:lnTo>
                  <a:lnTo>
                    <a:pt x="604" y="328"/>
                  </a:lnTo>
                  <a:lnTo>
                    <a:pt x="604" y="345"/>
                  </a:lnTo>
                  <a:lnTo>
                    <a:pt x="606" y="345"/>
                  </a:lnTo>
                  <a:cubicBezTo>
                    <a:pt x="645" y="345"/>
                    <a:pt x="677" y="313"/>
                    <a:pt x="677" y="273"/>
                  </a:cubicBezTo>
                  <a:cubicBezTo>
                    <a:pt x="677" y="234"/>
                    <a:pt x="645" y="202"/>
                    <a:pt x="606" y="202"/>
                  </a:cubicBezTo>
                  <a:lnTo>
                    <a:pt x="590" y="202"/>
                  </a:lnTo>
                  <a:lnTo>
                    <a:pt x="590" y="219"/>
                  </a:lnTo>
                  <a:lnTo>
                    <a:pt x="607" y="220"/>
                  </a:lnTo>
                  <a:cubicBezTo>
                    <a:pt x="607" y="220"/>
                    <a:pt x="608" y="206"/>
                    <a:pt x="608" y="185"/>
                  </a:cubicBezTo>
                  <a:cubicBezTo>
                    <a:pt x="608" y="162"/>
                    <a:pt x="607" y="131"/>
                    <a:pt x="600" y="100"/>
                  </a:cubicBezTo>
                  <a:cubicBezTo>
                    <a:pt x="594" y="68"/>
                    <a:pt x="583" y="37"/>
                    <a:pt x="561" y="13"/>
                  </a:cubicBezTo>
                  <a:lnTo>
                    <a:pt x="537" y="36"/>
                  </a:lnTo>
                  <a:cubicBezTo>
                    <a:pt x="552" y="52"/>
                    <a:pt x="562" y="78"/>
                    <a:pt x="568" y="106"/>
                  </a:cubicBezTo>
                  <a:cubicBezTo>
                    <a:pt x="573" y="135"/>
                    <a:pt x="575" y="164"/>
                    <a:pt x="575" y="185"/>
                  </a:cubicBezTo>
                  <a:cubicBezTo>
                    <a:pt x="575" y="195"/>
                    <a:pt x="574" y="203"/>
                    <a:pt x="574" y="209"/>
                  </a:cubicBezTo>
                  <a:cubicBezTo>
                    <a:pt x="574" y="211"/>
                    <a:pt x="574" y="214"/>
                    <a:pt x="574" y="215"/>
                  </a:cubicBezTo>
                  <a:lnTo>
                    <a:pt x="574" y="217"/>
                  </a:lnTo>
                  <a:lnTo>
                    <a:pt x="572" y="235"/>
                  </a:lnTo>
                  <a:lnTo>
                    <a:pt x="606" y="235"/>
                  </a:lnTo>
                  <a:cubicBezTo>
                    <a:pt x="627" y="235"/>
                    <a:pt x="644" y="252"/>
                    <a:pt x="644" y="273"/>
                  </a:cubicBezTo>
                  <a:cubicBezTo>
                    <a:pt x="644" y="294"/>
                    <a:pt x="627" y="311"/>
                    <a:pt x="606" y="311"/>
                  </a:cubicBezTo>
                  <a:lnTo>
                    <a:pt x="604" y="311"/>
                  </a:lnTo>
                  <a:lnTo>
                    <a:pt x="588" y="311"/>
                  </a:lnTo>
                  <a:lnTo>
                    <a:pt x="588" y="403"/>
                  </a:lnTo>
                  <a:lnTo>
                    <a:pt x="588" y="404"/>
                  </a:lnTo>
                  <a:cubicBezTo>
                    <a:pt x="588" y="411"/>
                    <a:pt x="589" y="419"/>
                    <a:pt x="589" y="426"/>
                  </a:cubicBezTo>
                  <a:cubicBezTo>
                    <a:pt x="588" y="473"/>
                    <a:pt x="576" y="507"/>
                    <a:pt x="556" y="533"/>
                  </a:cubicBezTo>
                  <a:cubicBezTo>
                    <a:pt x="525" y="573"/>
                    <a:pt x="477" y="596"/>
                    <a:pt x="429" y="609"/>
                  </a:cubicBezTo>
                  <a:cubicBezTo>
                    <a:pt x="381" y="622"/>
                    <a:pt x="333" y="624"/>
                    <a:pt x="307" y="624"/>
                  </a:cubicBezTo>
                  <a:cubicBezTo>
                    <a:pt x="301" y="624"/>
                    <a:pt x="296" y="624"/>
                    <a:pt x="292" y="624"/>
                  </a:cubicBezTo>
                  <a:cubicBezTo>
                    <a:pt x="290" y="623"/>
                    <a:pt x="289" y="623"/>
                    <a:pt x="288" y="623"/>
                  </a:cubicBezTo>
                  <a:lnTo>
                    <a:pt x="287" y="623"/>
                  </a:lnTo>
                  <a:lnTo>
                    <a:pt x="286" y="623"/>
                  </a:lnTo>
                  <a:lnTo>
                    <a:pt x="286" y="623"/>
                  </a:lnTo>
                  <a:cubicBezTo>
                    <a:pt x="231" y="623"/>
                    <a:pt x="188" y="614"/>
                    <a:pt x="155" y="600"/>
                  </a:cubicBezTo>
                  <a:cubicBezTo>
                    <a:pt x="105" y="578"/>
                    <a:pt x="75" y="545"/>
                    <a:pt x="57" y="506"/>
                  </a:cubicBezTo>
                  <a:cubicBezTo>
                    <a:pt x="39" y="467"/>
                    <a:pt x="33" y="423"/>
                    <a:pt x="33" y="383"/>
                  </a:cubicBezTo>
                  <a:cubicBezTo>
                    <a:pt x="33" y="351"/>
                    <a:pt x="37" y="322"/>
                    <a:pt x="41" y="301"/>
                  </a:cubicBezTo>
                  <a:cubicBezTo>
                    <a:pt x="43" y="290"/>
                    <a:pt x="45" y="282"/>
                    <a:pt x="46" y="276"/>
                  </a:cubicBezTo>
                  <a:cubicBezTo>
                    <a:pt x="47" y="273"/>
                    <a:pt x="47" y="271"/>
                    <a:pt x="48" y="269"/>
                  </a:cubicBezTo>
                  <a:lnTo>
                    <a:pt x="48" y="268"/>
                  </a:lnTo>
                  <a:lnTo>
                    <a:pt x="48" y="267"/>
                  </a:lnTo>
                  <a:lnTo>
                    <a:pt x="49" y="264"/>
                  </a:lnTo>
                  <a:lnTo>
                    <a:pt x="49" y="261"/>
                  </a:lnTo>
                  <a:cubicBezTo>
                    <a:pt x="47" y="236"/>
                    <a:pt x="45" y="213"/>
                    <a:pt x="45" y="191"/>
                  </a:cubicBezTo>
                  <a:cubicBezTo>
                    <a:pt x="45" y="108"/>
                    <a:pt x="62" y="52"/>
                    <a:pt x="80" y="15"/>
                  </a:cubicBezTo>
                  <a:lnTo>
                    <a:pt x="5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8" name="Freeform 1108">
              <a:extLst>
                <a:ext uri="{FF2B5EF4-FFF2-40B4-BE49-F238E27FC236}">
                  <a16:creationId xmlns:a16="http://schemas.microsoft.com/office/drawing/2014/main" id="{5F87B64F-454F-9A5D-9D82-D95501B8CD09}"/>
                </a:ext>
              </a:extLst>
            </p:cNvPr>
            <p:cNvSpPr>
              <a:spLocks/>
            </p:cNvSpPr>
            <p:nvPr/>
          </p:nvSpPr>
          <p:spPr bwMode="auto">
            <a:xfrm>
              <a:off x="3656013" y="3462338"/>
              <a:ext cx="11113" cy="23813"/>
            </a:xfrm>
            <a:custGeom>
              <a:avLst/>
              <a:gdLst>
                <a:gd name="T0" fmla="*/ 39 w 57"/>
                <a:gd name="T1" fmla="*/ 0 h 113"/>
                <a:gd name="T2" fmla="*/ 20 w 57"/>
                <a:gd name="T3" fmla="*/ 18 h 113"/>
                <a:gd name="T4" fmla="*/ 0 w 57"/>
                <a:gd name="T5" fmla="*/ 70 h 113"/>
                <a:gd name="T6" fmla="*/ 12 w 57"/>
                <a:gd name="T7" fmla="*/ 113 h 113"/>
                <a:gd name="T8" fmla="*/ 41 w 57"/>
                <a:gd name="T9" fmla="*/ 97 h 113"/>
                <a:gd name="T10" fmla="*/ 34 w 57"/>
                <a:gd name="T11" fmla="*/ 70 h 113"/>
                <a:gd name="T12" fmla="*/ 46 w 57"/>
                <a:gd name="T13" fmla="*/ 39 h 113"/>
                <a:gd name="T14" fmla="*/ 54 w 57"/>
                <a:gd name="T15" fmla="*/ 31 h 113"/>
                <a:gd name="T16" fmla="*/ 57 w 57"/>
                <a:gd name="T17" fmla="*/ 29 h 113"/>
                <a:gd name="T18" fmla="*/ 57 w 57"/>
                <a:gd name="T19" fmla="*/ 28 h 113"/>
                <a:gd name="T20" fmla="*/ 57 w 57"/>
                <a:gd name="T21" fmla="*/ 28 h 113"/>
                <a:gd name="T22" fmla="*/ 57 w 57"/>
                <a:gd name="T23" fmla="*/ 28 h 113"/>
                <a:gd name="T24" fmla="*/ 57 w 57"/>
                <a:gd name="T25" fmla="*/ 28 h 113"/>
                <a:gd name="T26" fmla="*/ 57 w 57"/>
                <a:gd name="T27" fmla="*/ 28 h 113"/>
                <a:gd name="T28" fmla="*/ 57 w 57"/>
                <a:gd name="T29" fmla="*/ 28 h 113"/>
                <a:gd name="T30" fmla="*/ 39 w 57"/>
                <a:gd name="T31"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 h="113">
                  <a:moveTo>
                    <a:pt x="39" y="0"/>
                  </a:moveTo>
                  <a:cubicBezTo>
                    <a:pt x="38" y="1"/>
                    <a:pt x="29" y="7"/>
                    <a:pt x="20" y="18"/>
                  </a:cubicBezTo>
                  <a:cubicBezTo>
                    <a:pt x="10" y="29"/>
                    <a:pt x="0" y="47"/>
                    <a:pt x="0" y="70"/>
                  </a:cubicBezTo>
                  <a:cubicBezTo>
                    <a:pt x="0" y="83"/>
                    <a:pt x="4" y="98"/>
                    <a:pt x="12" y="113"/>
                  </a:cubicBezTo>
                  <a:lnTo>
                    <a:pt x="41" y="97"/>
                  </a:lnTo>
                  <a:cubicBezTo>
                    <a:pt x="36" y="86"/>
                    <a:pt x="34" y="78"/>
                    <a:pt x="34" y="70"/>
                  </a:cubicBezTo>
                  <a:cubicBezTo>
                    <a:pt x="34" y="57"/>
                    <a:pt x="39" y="47"/>
                    <a:pt x="46" y="39"/>
                  </a:cubicBezTo>
                  <a:cubicBezTo>
                    <a:pt x="49" y="36"/>
                    <a:pt x="52" y="33"/>
                    <a:pt x="54" y="31"/>
                  </a:cubicBezTo>
                  <a:lnTo>
                    <a:pt x="57" y="29"/>
                  </a:lnTo>
                  <a:lnTo>
                    <a:pt x="57" y="28"/>
                  </a:lnTo>
                  <a:lnTo>
                    <a:pt x="57" y="28"/>
                  </a:lnTo>
                  <a:lnTo>
                    <a:pt x="57" y="28"/>
                  </a:lnTo>
                  <a:lnTo>
                    <a:pt x="57" y="28"/>
                  </a:lnTo>
                  <a:lnTo>
                    <a:pt x="57" y="28"/>
                  </a:lnTo>
                  <a:lnTo>
                    <a:pt x="57" y="28"/>
                  </a:lnTo>
                  <a:lnTo>
                    <a:pt x="39"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9" name="Freeform 1109">
              <a:extLst>
                <a:ext uri="{FF2B5EF4-FFF2-40B4-BE49-F238E27FC236}">
                  <a16:creationId xmlns:a16="http://schemas.microsoft.com/office/drawing/2014/main" id="{6A924FB4-0F6D-1B14-316D-C8B2687C233F}"/>
                </a:ext>
              </a:extLst>
            </p:cNvPr>
            <p:cNvSpPr>
              <a:spLocks/>
            </p:cNvSpPr>
            <p:nvPr/>
          </p:nvSpPr>
          <p:spPr bwMode="auto">
            <a:xfrm>
              <a:off x="3654426" y="3497263"/>
              <a:ext cx="42863" cy="12700"/>
            </a:xfrm>
            <a:custGeom>
              <a:avLst/>
              <a:gdLst>
                <a:gd name="T0" fmla="*/ 0 w 208"/>
                <a:gd name="T1" fmla="*/ 29 h 56"/>
                <a:gd name="T2" fmla="*/ 108 w 208"/>
                <a:gd name="T3" fmla="*/ 56 h 56"/>
                <a:gd name="T4" fmla="*/ 208 w 208"/>
                <a:gd name="T5" fmla="*/ 29 h 56"/>
                <a:gd name="T6" fmla="*/ 191 w 208"/>
                <a:gd name="T7" fmla="*/ 0 h 56"/>
                <a:gd name="T8" fmla="*/ 108 w 208"/>
                <a:gd name="T9" fmla="*/ 23 h 56"/>
                <a:gd name="T10" fmla="*/ 42 w 208"/>
                <a:gd name="T11" fmla="*/ 12 h 56"/>
                <a:gd name="T12" fmla="*/ 23 w 208"/>
                <a:gd name="T13" fmla="*/ 4 h 56"/>
                <a:gd name="T14" fmla="*/ 18 w 208"/>
                <a:gd name="T15" fmla="*/ 1 h 56"/>
                <a:gd name="T16" fmla="*/ 17 w 208"/>
                <a:gd name="T17" fmla="*/ 1 h 56"/>
                <a:gd name="T18" fmla="*/ 16 w 208"/>
                <a:gd name="T19" fmla="*/ 0 h 56"/>
                <a:gd name="T20" fmla="*/ 15 w 208"/>
                <a:gd name="T21" fmla="*/ 2 h 56"/>
                <a:gd name="T22" fmla="*/ 16 w 208"/>
                <a:gd name="T23" fmla="*/ 0 h 56"/>
                <a:gd name="T24" fmla="*/ 16 w 208"/>
                <a:gd name="T25" fmla="*/ 0 h 56"/>
                <a:gd name="T26" fmla="*/ 15 w 208"/>
                <a:gd name="T27" fmla="*/ 2 h 56"/>
                <a:gd name="T28" fmla="*/ 16 w 208"/>
                <a:gd name="T29" fmla="*/ 0 h 56"/>
                <a:gd name="T30" fmla="*/ 0 w 208"/>
                <a:gd name="T31" fmla="*/ 29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8" h="56">
                  <a:moveTo>
                    <a:pt x="0" y="29"/>
                  </a:moveTo>
                  <a:cubicBezTo>
                    <a:pt x="1" y="30"/>
                    <a:pt x="46" y="56"/>
                    <a:pt x="108" y="56"/>
                  </a:cubicBezTo>
                  <a:cubicBezTo>
                    <a:pt x="138" y="56"/>
                    <a:pt x="173" y="49"/>
                    <a:pt x="208" y="29"/>
                  </a:cubicBezTo>
                  <a:lnTo>
                    <a:pt x="191" y="0"/>
                  </a:lnTo>
                  <a:cubicBezTo>
                    <a:pt x="162" y="17"/>
                    <a:pt x="133" y="23"/>
                    <a:pt x="108" y="23"/>
                  </a:cubicBezTo>
                  <a:cubicBezTo>
                    <a:pt x="82" y="23"/>
                    <a:pt x="58" y="17"/>
                    <a:pt x="42" y="12"/>
                  </a:cubicBezTo>
                  <a:cubicBezTo>
                    <a:pt x="34" y="9"/>
                    <a:pt x="27" y="6"/>
                    <a:pt x="23" y="4"/>
                  </a:cubicBezTo>
                  <a:cubicBezTo>
                    <a:pt x="21" y="3"/>
                    <a:pt x="19" y="2"/>
                    <a:pt x="18" y="1"/>
                  </a:cubicBezTo>
                  <a:lnTo>
                    <a:pt x="17" y="1"/>
                  </a:lnTo>
                  <a:lnTo>
                    <a:pt x="16" y="0"/>
                  </a:lnTo>
                  <a:lnTo>
                    <a:pt x="15" y="2"/>
                  </a:lnTo>
                  <a:lnTo>
                    <a:pt x="16" y="0"/>
                  </a:lnTo>
                  <a:lnTo>
                    <a:pt x="16" y="0"/>
                  </a:lnTo>
                  <a:lnTo>
                    <a:pt x="15" y="2"/>
                  </a:lnTo>
                  <a:lnTo>
                    <a:pt x="16" y="0"/>
                  </a:lnTo>
                  <a:lnTo>
                    <a:pt x="0" y="2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0" name="Rectangle 1110">
              <a:extLst>
                <a:ext uri="{FF2B5EF4-FFF2-40B4-BE49-F238E27FC236}">
                  <a16:creationId xmlns:a16="http://schemas.microsoft.com/office/drawing/2014/main" id="{BB9B56F6-6A0A-228A-0EDA-11E23677EC52}"/>
                </a:ext>
              </a:extLst>
            </p:cNvPr>
            <p:cNvSpPr>
              <a:spLocks noChangeArrowheads="1"/>
            </p:cNvSpPr>
            <p:nvPr/>
          </p:nvSpPr>
          <p:spPr bwMode="auto">
            <a:xfrm>
              <a:off x="3684588"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1" name="Rectangle 1111">
              <a:extLst>
                <a:ext uri="{FF2B5EF4-FFF2-40B4-BE49-F238E27FC236}">
                  <a16:creationId xmlns:a16="http://schemas.microsoft.com/office/drawing/2014/main" id="{70DE412A-51E2-CF46-AED8-10F2A34DCB86}"/>
                </a:ext>
              </a:extLst>
            </p:cNvPr>
            <p:cNvSpPr>
              <a:spLocks noChangeArrowheads="1"/>
            </p:cNvSpPr>
            <p:nvPr/>
          </p:nvSpPr>
          <p:spPr bwMode="auto">
            <a:xfrm>
              <a:off x="3636963"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2" name="Rectangle 1112">
              <a:extLst>
                <a:ext uri="{FF2B5EF4-FFF2-40B4-BE49-F238E27FC236}">
                  <a16:creationId xmlns:a16="http://schemas.microsoft.com/office/drawing/2014/main" id="{4DB37F5D-A0C7-6D4F-01B1-5E60BE611CA8}"/>
                </a:ext>
              </a:extLst>
            </p:cNvPr>
            <p:cNvSpPr>
              <a:spLocks noChangeArrowheads="1"/>
            </p:cNvSpPr>
            <p:nvPr/>
          </p:nvSpPr>
          <p:spPr bwMode="auto">
            <a:xfrm>
              <a:off x="3713163" y="3433763"/>
              <a:ext cx="34925"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3" name="Rectangle 1113">
              <a:extLst>
                <a:ext uri="{FF2B5EF4-FFF2-40B4-BE49-F238E27FC236}">
                  <a16:creationId xmlns:a16="http://schemas.microsoft.com/office/drawing/2014/main" id="{9AD3CFE6-8183-0910-A6CE-AAE31C7E3063}"/>
                </a:ext>
              </a:extLst>
            </p:cNvPr>
            <p:cNvSpPr>
              <a:spLocks noChangeArrowheads="1"/>
            </p:cNvSpPr>
            <p:nvPr/>
          </p:nvSpPr>
          <p:spPr bwMode="auto">
            <a:xfrm>
              <a:off x="3662363" y="3433763"/>
              <a:ext cx="1270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4" name="Rectangle 1114">
              <a:extLst>
                <a:ext uri="{FF2B5EF4-FFF2-40B4-BE49-F238E27FC236}">
                  <a16:creationId xmlns:a16="http://schemas.microsoft.com/office/drawing/2014/main" id="{27C4A39A-FAA6-982B-7142-8096F99E9495}"/>
                </a:ext>
              </a:extLst>
            </p:cNvPr>
            <p:cNvSpPr>
              <a:spLocks noChangeArrowheads="1"/>
            </p:cNvSpPr>
            <p:nvPr/>
          </p:nvSpPr>
          <p:spPr bwMode="auto">
            <a:xfrm>
              <a:off x="3657601" y="3400425"/>
              <a:ext cx="36513"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5" name="Freeform 1115">
              <a:extLst>
                <a:ext uri="{FF2B5EF4-FFF2-40B4-BE49-F238E27FC236}">
                  <a16:creationId xmlns:a16="http://schemas.microsoft.com/office/drawing/2014/main" id="{B53C679C-5FA0-3980-317A-7CDE470A8290}"/>
                </a:ext>
              </a:extLst>
            </p:cNvPr>
            <p:cNvSpPr>
              <a:spLocks/>
            </p:cNvSpPr>
            <p:nvPr/>
          </p:nvSpPr>
          <p:spPr bwMode="auto">
            <a:xfrm>
              <a:off x="3638551" y="3548063"/>
              <a:ext cx="66675" cy="53975"/>
            </a:xfrm>
            <a:custGeom>
              <a:avLst/>
              <a:gdLst>
                <a:gd name="T0" fmla="*/ 3 w 42"/>
                <a:gd name="T1" fmla="*/ 16 h 34"/>
                <a:gd name="T2" fmla="*/ 2 w 42"/>
                <a:gd name="T3" fmla="*/ 18 h 34"/>
                <a:gd name="T4" fmla="*/ 26 w 42"/>
                <a:gd name="T5" fmla="*/ 34 h 34"/>
                <a:gd name="T6" fmla="*/ 42 w 42"/>
                <a:gd name="T7" fmla="*/ 12 h 34"/>
                <a:gd name="T8" fmla="*/ 13 w 42"/>
                <a:gd name="T9" fmla="*/ 0 h 34"/>
                <a:gd name="T10" fmla="*/ 0 w 42"/>
                <a:gd name="T11" fmla="*/ 17 h 34"/>
                <a:gd name="T12" fmla="*/ 2 w 42"/>
                <a:gd name="T13" fmla="*/ 18 h 34"/>
                <a:gd name="T14" fmla="*/ 3 w 42"/>
                <a:gd name="T15" fmla="*/ 16 h 34"/>
                <a:gd name="T16" fmla="*/ 5 w 42"/>
                <a:gd name="T17" fmla="*/ 17 h 34"/>
                <a:gd name="T18" fmla="*/ 14 w 42"/>
                <a:gd name="T19" fmla="*/ 5 h 34"/>
                <a:gd name="T20" fmla="*/ 35 w 42"/>
                <a:gd name="T21" fmla="*/ 14 h 34"/>
                <a:gd name="T22" fmla="*/ 25 w 42"/>
                <a:gd name="T23" fmla="*/ 28 h 34"/>
                <a:gd name="T24" fmla="*/ 4 w 42"/>
                <a:gd name="T25" fmla="*/ 14 h 34"/>
                <a:gd name="T26" fmla="*/ 3 w 42"/>
                <a:gd name="T27" fmla="*/ 16 h 34"/>
                <a:gd name="T28" fmla="*/ 5 w 42"/>
                <a:gd name="T29" fmla="*/ 17 h 34"/>
                <a:gd name="T30" fmla="*/ 3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 y="16"/>
                  </a:moveTo>
                  <a:lnTo>
                    <a:pt x="2" y="18"/>
                  </a:lnTo>
                  <a:lnTo>
                    <a:pt x="26" y="34"/>
                  </a:lnTo>
                  <a:lnTo>
                    <a:pt x="42" y="12"/>
                  </a:lnTo>
                  <a:lnTo>
                    <a:pt x="13" y="0"/>
                  </a:lnTo>
                  <a:lnTo>
                    <a:pt x="0" y="17"/>
                  </a:lnTo>
                  <a:lnTo>
                    <a:pt x="2" y="18"/>
                  </a:lnTo>
                  <a:lnTo>
                    <a:pt x="3" y="16"/>
                  </a:lnTo>
                  <a:lnTo>
                    <a:pt x="5" y="17"/>
                  </a:lnTo>
                  <a:lnTo>
                    <a:pt x="14" y="5"/>
                  </a:lnTo>
                  <a:lnTo>
                    <a:pt x="35" y="14"/>
                  </a:lnTo>
                  <a:lnTo>
                    <a:pt x="25" y="28"/>
                  </a:lnTo>
                  <a:lnTo>
                    <a:pt x="4" y="14"/>
                  </a:lnTo>
                  <a:lnTo>
                    <a:pt x="3" y="16"/>
                  </a:lnTo>
                  <a:lnTo>
                    <a:pt x="5" y="17"/>
                  </a:lnTo>
                  <a:lnTo>
                    <a:pt x="3"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6" name="Freeform 1116">
              <a:extLst>
                <a:ext uri="{FF2B5EF4-FFF2-40B4-BE49-F238E27FC236}">
                  <a16:creationId xmlns:a16="http://schemas.microsoft.com/office/drawing/2014/main" id="{FBAE2F84-3A15-73DF-B590-28C959C95524}"/>
                </a:ext>
              </a:extLst>
            </p:cNvPr>
            <p:cNvSpPr>
              <a:spLocks/>
            </p:cNvSpPr>
            <p:nvPr/>
          </p:nvSpPr>
          <p:spPr bwMode="auto">
            <a:xfrm>
              <a:off x="3694113" y="3548063"/>
              <a:ext cx="66675" cy="53975"/>
            </a:xfrm>
            <a:custGeom>
              <a:avLst/>
              <a:gdLst>
                <a:gd name="T0" fmla="*/ 39 w 42"/>
                <a:gd name="T1" fmla="*/ 16 h 34"/>
                <a:gd name="T2" fmla="*/ 38 w 42"/>
                <a:gd name="T3" fmla="*/ 14 h 34"/>
                <a:gd name="T4" fmla="*/ 17 w 42"/>
                <a:gd name="T5" fmla="*/ 28 h 34"/>
                <a:gd name="T6" fmla="*/ 7 w 42"/>
                <a:gd name="T7" fmla="*/ 14 h 34"/>
                <a:gd name="T8" fmla="*/ 28 w 42"/>
                <a:gd name="T9" fmla="*/ 5 h 34"/>
                <a:gd name="T10" fmla="*/ 38 w 42"/>
                <a:gd name="T11" fmla="*/ 17 h 34"/>
                <a:gd name="T12" fmla="*/ 39 w 42"/>
                <a:gd name="T13" fmla="*/ 16 h 34"/>
                <a:gd name="T14" fmla="*/ 38 w 42"/>
                <a:gd name="T15" fmla="*/ 14 h 34"/>
                <a:gd name="T16" fmla="*/ 39 w 42"/>
                <a:gd name="T17" fmla="*/ 16 h 34"/>
                <a:gd name="T18" fmla="*/ 41 w 42"/>
                <a:gd name="T19" fmla="*/ 15 h 34"/>
                <a:gd name="T20" fmla="*/ 30 w 42"/>
                <a:gd name="T21" fmla="*/ 0 h 34"/>
                <a:gd name="T22" fmla="*/ 0 w 42"/>
                <a:gd name="T23" fmla="*/ 12 h 34"/>
                <a:gd name="T24" fmla="*/ 16 w 42"/>
                <a:gd name="T25" fmla="*/ 34 h 34"/>
                <a:gd name="T26" fmla="*/ 42 w 42"/>
                <a:gd name="T27" fmla="*/ 17 h 34"/>
                <a:gd name="T28" fmla="*/ 41 w 42"/>
                <a:gd name="T29" fmla="*/ 15 h 34"/>
                <a:gd name="T30" fmla="*/ 39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9" y="16"/>
                  </a:moveTo>
                  <a:lnTo>
                    <a:pt x="38" y="14"/>
                  </a:lnTo>
                  <a:lnTo>
                    <a:pt x="17" y="28"/>
                  </a:lnTo>
                  <a:lnTo>
                    <a:pt x="7" y="14"/>
                  </a:lnTo>
                  <a:lnTo>
                    <a:pt x="28" y="5"/>
                  </a:lnTo>
                  <a:lnTo>
                    <a:pt x="38" y="17"/>
                  </a:lnTo>
                  <a:lnTo>
                    <a:pt x="39" y="16"/>
                  </a:lnTo>
                  <a:lnTo>
                    <a:pt x="38" y="14"/>
                  </a:lnTo>
                  <a:lnTo>
                    <a:pt x="39" y="16"/>
                  </a:lnTo>
                  <a:lnTo>
                    <a:pt x="41" y="15"/>
                  </a:lnTo>
                  <a:lnTo>
                    <a:pt x="30" y="0"/>
                  </a:lnTo>
                  <a:lnTo>
                    <a:pt x="0" y="12"/>
                  </a:lnTo>
                  <a:lnTo>
                    <a:pt x="16" y="34"/>
                  </a:lnTo>
                  <a:lnTo>
                    <a:pt x="42" y="17"/>
                  </a:lnTo>
                  <a:lnTo>
                    <a:pt x="41" y="15"/>
                  </a:lnTo>
                  <a:lnTo>
                    <a:pt x="39"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7" name="Freeform 1117">
              <a:extLst>
                <a:ext uri="{FF2B5EF4-FFF2-40B4-BE49-F238E27FC236}">
                  <a16:creationId xmlns:a16="http://schemas.microsoft.com/office/drawing/2014/main" id="{B75FA920-8343-519A-8E80-9FCFE55D288E}"/>
                </a:ext>
              </a:extLst>
            </p:cNvPr>
            <p:cNvSpPr>
              <a:spLocks/>
            </p:cNvSpPr>
            <p:nvPr/>
          </p:nvSpPr>
          <p:spPr bwMode="auto">
            <a:xfrm>
              <a:off x="3683001" y="3587750"/>
              <a:ext cx="31750" cy="15875"/>
            </a:xfrm>
            <a:custGeom>
              <a:avLst/>
              <a:gdLst>
                <a:gd name="T0" fmla="*/ 0 w 20"/>
                <a:gd name="T1" fmla="*/ 3 h 10"/>
                <a:gd name="T2" fmla="*/ 11 w 20"/>
                <a:gd name="T3" fmla="*/ 10 h 10"/>
                <a:gd name="T4" fmla="*/ 20 w 20"/>
                <a:gd name="T5" fmla="*/ 3 h 10"/>
                <a:gd name="T6" fmla="*/ 18 w 20"/>
                <a:gd name="T7" fmla="*/ 0 h 10"/>
                <a:gd name="T8" fmla="*/ 11 w 20"/>
                <a:gd name="T9" fmla="*/ 5 h 10"/>
                <a:gd name="T10" fmla="*/ 2 w 20"/>
                <a:gd name="T11" fmla="*/ 0 h 10"/>
                <a:gd name="T12" fmla="*/ 0 w 20"/>
                <a:gd name="T13" fmla="*/ 3 h 10"/>
              </a:gdLst>
              <a:ahLst/>
              <a:cxnLst>
                <a:cxn ang="0">
                  <a:pos x="T0" y="T1"/>
                </a:cxn>
                <a:cxn ang="0">
                  <a:pos x="T2" y="T3"/>
                </a:cxn>
                <a:cxn ang="0">
                  <a:pos x="T4" y="T5"/>
                </a:cxn>
                <a:cxn ang="0">
                  <a:pos x="T6" y="T7"/>
                </a:cxn>
                <a:cxn ang="0">
                  <a:pos x="T8" y="T9"/>
                </a:cxn>
                <a:cxn ang="0">
                  <a:pos x="T10" y="T11"/>
                </a:cxn>
                <a:cxn ang="0">
                  <a:pos x="T12" y="T13"/>
                </a:cxn>
              </a:cxnLst>
              <a:rect l="0" t="0" r="r" b="b"/>
              <a:pathLst>
                <a:path w="20" h="10">
                  <a:moveTo>
                    <a:pt x="0" y="3"/>
                  </a:moveTo>
                  <a:lnTo>
                    <a:pt x="11" y="10"/>
                  </a:lnTo>
                  <a:lnTo>
                    <a:pt x="20" y="3"/>
                  </a:lnTo>
                  <a:lnTo>
                    <a:pt x="18" y="0"/>
                  </a:lnTo>
                  <a:lnTo>
                    <a:pt x="11" y="5"/>
                  </a:lnTo>
                  <a:lnTo>
                    <a:pt x="2" y="0"/>
                  </a:lnTo>
                  <a:lnTo>
                    <a:pt x="0" y="3"/>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8" name="Freeform 1118">
              <a:extLst>
                <a:ext uri="{FF2B5EF4-FFF2-40B4-BE49-F238E27FC236}">
                  <a16:creationId xmlns:a16="http://schemas.microsoft.com/office/drawing/2014/main" id="{92735659-87F8-E307-9550-AC106004C517}"/>
                </a:ext>
              </a:extLst>
            </p:cNvPr>
            <p:cNvSpPr>
              <a:spLocks/>
            </p:cNvSpPr>
            <p:nvPr/>
          </p:nvSpPr>
          <p:spPr bwMode="auto">
            <a:xfrm>
              <a:off x="3675063" y="3590925"/>
              <a:ext cx="17463" cy="46038"/>
            </a:xfrm>
            <a:custGeom>
              <a:avLst/>
              <a:gdLst>
                <a:gd name="T0" fmla="*/ 51 w 84"/>
                <a:gd name="T1" fmla="*/ 0 h 227"/>
                <a:gd name="T2" fmla="*/ 0 w 84"/>
                <a:gd name="T3" fmla="*/ 219 h 227"/>
                <a:gd name="T4" fmla="*/ 33 w 84"/>
                <a:gd name="T5" fmla="*/ 227 h 227"/>
                <a:gd name="T6" fmla="*/ 84 w 84"/>
                <a:gd name="T7" fmla="*/ 7 h 227"/>
              </a:gdLst>
              <a:ahLst/>
              <a:cxnLst>
                <a:cxn ang="0">
                  <a:pos x="T0" y="T1"/>
                </a:cxn>
                <a:cxn ang="0">
                  <a:pos x="T2" y="T3"/>
                </a:cxn>
                <a:cxn ang="0">
                  <a:pos x="T4" y="T5"/>
                </a:cxn>
                <a:cxn ang="0">
                  <a:pos x="T6" y="T7"/>
                </a:cxn>
              </a:cxnLst>
              <a:rect l="0" t="0" r="r" b="b"/>
              <a:pathLst>
                <a:path w="84" h="227">
                  <a:moveTo>
                    <a:pt x="51" y="0"/>
                  </a:moveTo>
                  <a:lnTo>
                    <a:pt x="0" y="219"/>
                  </a:lnTo>
                  <a:lnTo>
                    <a:pt x="33" y="227"/>
                  </a:lnTo>
                  <a:lnTo>
                    <a:pt x="84" y="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9" name="Freeform 1119">
              <a:extLst>
                <a:ext uri="{FF2B5EF4-FFF2-40B4-BE49-F238E27FC236}">
                  <a16:creationId xmlns:a16="http://schemas.microsoft.com/office/drawing/2014/main" id="{244CC1A0-0F14-B998-073A-ACA1410D116E}"/>
                </a:ext>
              </a:extLst>
            </p:cNvPr>
            <p:cNvSpPr>
              <a:spLocks/>
            </p:cNvSpPr>
            <p:nvPr/>
          </p:nvSpPr>
          <p:spPr bwMode="auto">
            <a:xfrm>
              <a:off x="3708401" y="3590925"/>
              <a:ext cx="17463" cy="46038"/>
            </a:xfrm>
            <a:custGeom>
              <a:avLst/>
              <a:gdLst>
                <a:gd name="T0" fmla="*/ 0 w 83"/>
                <a:gd name="T1" fmla="*/ 7 h 227"/>
                <a:gd name="T2" fmla="*/ 51 w 83"/>
                <a:gd name="T3" fmla="*/ 227 h 227"/>
                <a:gd name="T4" fmla="*/ 83 w 83"/>
                <a:gd name="T5" fmla="*/ 219 h 227"/>
                <a:gd name="T6" fmla="*/ 33 w 83"/>
                <a:gd name="T7" fmla="*/ 0 h 227"/>
              </a:gdLst>
              <a:ahLst/>
              <a:cxnLst>
                <a:cxn ang="0">
                  <a:pos x="T0" y="T1"/>
                </a:cxn>
                <a:cxn ang="0">
                  <a:pos x="T2" y="T3"/>
                </a:cxn>
                <a:cxn ang="0">
                  <a:pos x="T4" y="T5"/>
                </a:cxn>
                <a:cxn ang="0">
                  <a:pos x="T6" y="T7"/>
                </a:cxn>
              </a:cxnLst>
              <a:rect l="0" t="0" r="r" b="b"/>
              <a:pathLst>
                <a:path w="83" h="227">
                  <a:moveTo>
                    <a:pt x="0" y="7"/>
                  </a:moveTo>
                  <a:lnTo>
                    <a:pt x="51" y="227"/>
                  </a:lnTo>
                  <a:lnTo>
                    <a:pt x="83" y="219"/>
                  </a:lnTo>
                  <a:lnTo>
                    <a:pt x="33"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26" name="TextBox 625">
            <a:extLst>
              <a:ext uri="{FF2B5EF4-FFF2-40B4-BE49-F238E27FC236}">
                <a16:creationId xmlns:a16="http://schemas.microsoft.com/office/drawing/2014/main" id="{B361F17B-4725-2779-D8E4-DEE3E07FBFAB}"/>
              </a:ext>
            </a:extLst>
          </p:cNvPr>
          <p:cNvSpPr txBox="1"/>
          <p:nvPr/>
        </p:nvSpPr>
        <p:spPr>
          <a:xfrm>
            <a:off x="1260188" y="3473542"/>
            <a:ext cx="2082610" cy="1384995"/>
          </a:xfrm>
          <a:prstGeom prst="rect">
            <a:avLst/>
          </a:prstGeom>
          <a:noFill/>
        </p:spPr>
        <p:txBody>
          <a:bodyPr wrap="square" rtlCol="0">
            <a:spAutoFit/>
          </a:bodyPr>
          <a:lstStyle/>
          <a:p>
            <a:pPr marL="171450" marR="0" lvl="0" indent="-171450" fontAlgn="auto">
              <a:buClr>
                <a:schemeClr val="accent1"/>
              </a:buClr>
              <a:buSzTx/>
              <a:buFont typeface="Arial" panose="020B0604020202020204" pitchFamily="34" charset="0"/>
              <a:buChar char="•"/>
              <a:tabLst/>
              <a:defRPr/>
            </a:pPr>
            <a:r>
              <a:rPr lang="en-US" sz="700"/>
              <a:t>Understand Guidewire Product Capabilities</a:t>
            </a:r>
          </a:p>
          <a:p>
            <a:pPr marL="171450" marR="0" lvl="0" indent="-171450" fontAlgn="auto">
              <a:buClr>
                <a:schemeClr val="accent1"/>
              </a:buClr>
              <a:buSzTx/>
              <a:buFont typeface="Arial" panose="020B0604020202020204" pitchFamily="34" charset="0"/>
              <a:buChar char="•"/>
              <a:tabLst/>
              <a:defRPr/>
            </a:pPr>
            <a:r>
              <a:rPr lang="en-US" sz="700"/>
              <a:t>Undergo Product Training / Product demo</a:t>
            </a:r>
          </a:p>
          <a:p>
            <a:pPr marL="171450" marR="0" lvl="0" indent="-171450" fontAlgn="auto">
              <a:buClr>
                <a:schemeClr val="accent1"/>
              </a:buClr>
              <a:buSzTx/>
              <a:buFont typeface="Arial" panose="020B0604020202020204" pitchFamily="34" charset="0"/>
              <a:buChar char="•"/>
              <a:tabLst/>
              <a:defRPr/>
            </a:pPr>
            <a:r>
              <a:rPr lang="en-US" sz="700"/>
              <a:t>Understand Ways of working, Program methodology etc</a:t>
            </a:r>
          </a:p>
          <a:p>
            <a:pPr marL="171450" marR="0" lvl="0" indent="-171450" fontAlgn="auto">
              <a:buClr>
                <a:schemeClr val="accent1"/>
              </a:buClr>
              <a:buSzTx/>
              <a:buFont typeface="Arial" panose="020B0604020202020204" pitchFamily="34" charset="0"/>
              <a:buChar char="•"/>
              <a:tabLst/>
              <a:defRPr/>
            </a:pPr>
            <a:r>
              <a:rPr lang="en-US" sz="700"/>
              <a:t>Understand Program Scope</a:t>
            </a:r>
          </a:p>
          <a:p>
            <a:pPr marL="171450" marR="0" lvl="0" indent="-171450" fontAlgn="auto">
              <a:buClr>
                <a:schemeClr val="accent1"/>
              </a:buClr>
              <a:buSzTx/>
              <a:buFont typeface="Arial" panose="020B0604020202020204" pitchFamily="34" charset="0"/>
              <a:buChar char="•"/>
              <a:tabLst/>
              <a:defRPr/>
            </a:pPr>
            <a:r>
              <a:rPr lang="en-US" sz="700"/>
              <a:t>Understanding base Architecture (e.g. Headless architecture for PolicyCenter)</a:t>
            </a:r>
          </a:p>
          <a:p>
            <a:pPr marL="171450" marR="0" lvl="0" indent="-171450" fontAlgn="auto">
              <a:buClr>
                <a:schemeClr val="accent1"/>
              </a:buClr>
              <a:buSzTx/>
              <a:buFont typeface="Arial" panose="020B0604020202020204" pitchFamily="34" charset="0"/>
              <a:buChar char="•"/>
              <a:tabLst/>
              <a:defRPr/>
            </a:pPr>
            <a:r>
              <a:rPr lang="en-US" sz="700"/>
              <a:t>Understanding UWWB Scope, capabilities and what has been built &amp; planned</a:t>
            </a:r>
          </a:p>
          <a:p>
            <a:pPr marL="171450" marR="0" lvl="0" indent="-171450" fontAlgn="auto">
              <a:buClr>
                <a:schemeClr val="accent1"/>
              </a:buClr>
              <a:buSzTx/>
              <a:buFont typeface="Arial" panose="020B0604020202020204" pitchFamily="34" charset="0"/>
              <a:buChar char="•"/>
              <a:tabLst/>
              <a:defRPr/>
            </a:pPr>
            <a:r>
              <a:rPr lang="en-US" sz="700"/>
              <a:t>Enabling SMEs with authority to decide</a:t>
            </a:r>
          </a:p>
          <a:p>
            <a:pPr marL="171450" marR="0" lvl="0" indent="-171450" fontAlgn="auto">
              <a:buClr>
                <a:schemeClr val="accent1"/>
              </a:buClr>
              <a:buSzTx/>
              <a:buFont typeface="Arial" panose="020B0604020202020204" pitchFamily="34" charset="0"/>
              <a:buChar char="•"/>
              <a:tabLst/>
              <a:defRPr/>
            </a:pPr>
            <a:r>
              <a:rPr lang="en-US" sz="700"/>
              <a:t>Adapt Vs Adopt</a:t>
            </a:r>
          </a:p>
        </p:txBody>
      </p:sp>
      <p:sp>
        <p:nvSpPr>
          <p:cNvPr id="17" name="Scroll: Vertical 16">
            <a:extLst>
              <a:ext uri="{FF2B5EF4-FFF2-40B4-BE49-F238E27FC236}">
                <a16:creationId xmlns:a16="http://schemas.microsoft.com/office/drawing/2014/main" id="{27FD02A8-CA2D-CCE8-8180-335F21BAAD80}"/>
              </a:ext>
            </a:extLst>
          </p:cNvPr>
          <p:cNvSpPr/>
          <p:nvPr/>
        </p:nvSpPr>
        <p:spPr>
          <a:xfrm>
            <a:off x="3914962" y="1197099"/>
            <a:ext cx="1218288" cy="945888"/>
          </a:xfrm>
          <a:prstGeom prst="verticalScroll">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b="1" i="1">
                <a:solidFill>
                  <a:schemeClr val="tx1"/>
                </a:solidFill>
              </a:rPr>
              <a:t>Inch-deep; Mile wide</a:t>
            </a:r>
            <a:endParaRPr lang="en-US" sz="1000" b="1" i="1" err="1">
              <a:solidFill>
                <a:schemeClr val="tx1"/>
              </a:solidFill>
            </a:endParaRPr>
          </a:p>
        </p:txBody>
      </p:sp>
      <p:sp>
        <p:nvSpPr>
          <p:cNvPr id="18" name="TextBox 17">
            <a:extLst>
              <a:ext uri="{FF2B5EF4-FFF2-40B4-BE49-F238E27FC236}">
                <a16:creationId xmlns:a16="http://schemas.microsoft.com/office/drawing/2014/main" id="{299B37C1-DABF-5AD9-7356-903ED6FD1F63}"/>
              </a:ext>
            </a:extLst>
          </p:cNvPr>
          <p:cNvSpPr txBox="1"/>
          <p:nvPr/>
        </p:nvSpPr>
        <p:spPr>
          <a:xfrm>
            <a:off x="4083986" y="964209"/>
            <a:ext cx="882405" cy="276999"/>
          </a:xfrm>
          <a:prstGeom prst="rect">
            <a:avLst/>
          </a:prstGeom>
          <a:noFill/>
        </p:spPr>
        <p:txBody>
          <a:bodyPr wrap="square" rtlCol="0">
            <a:spAutoFit/>
          </a:bodyPr>
          <a:lstStyle/>
          <a:p>
            <a:r>
              <a:rPr lang="en-GB" sz="1200" b="1"/>
              <a:t>Inception</a:t>
            </a:r>
            <a:endParaRPr lang="en-US" b="1"/>
          </a:p>
        </p:txBody>
      </p:sp>
      <p:sp>
        <p:nvSpPr>
          <p:cNvPr id="19" name="Frame 18">
            <a:extLst>
              <a:ext uri="{FF2B5EF4-FFF2-40B4-BE49-F238E27FC236}">
                <a16:creationId xmlns:a16="http://schemas.microsoft.com/office/drawing/2014/main" id="{603CF9C2-266F-4918-EDFD-3678C83BBC2E}"/>
              </a:ext>
            </a:extLst>
          </p:cNvPr>
          <p:cNvSpPr/>
          <p:nvPr/>
        </p:nvSpPr>
        <p:spPr>
          <a:xfrm>
            <a:off x="3784785" y="940808"/>
            <a:ext cx="1494568" cy="1308008"/>
          </a:xfrm>
          <a:prstGeom prst="frame">
            <a:avLst>
              <a:gd name="adj1" fmla="val 3342"/>
            </a:avLst>
          </a:prstGeom>
          <a:solidFill>
            <a:schemeClr val="bg1">
              <a:lumMod val="95000"/>
            </a:scheme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endParaRPr>
          </a:p>
        </p:txBody>
      </p:sp>
      <p:grpSp>
        <p:nvGrpSpPr>
          <p:cNvPr id="14" name="Plan5" descr="{&quot;Key&quot;:&quot;POWER_USER_SHAPE_ICON&quot;,&quot;Value&quot;:&quot;POWER_USER_SHAPE_ICON_STYLE_1&quot;}">
            <a:extLst>
              <a:ext uri="{FF2B5EF4-FFF2-40B4-BE49-F238E27FC236}">
                <a16:creationId xmlns:a16="http://schemas.microsoft.com/office/drawing/2014/main" id="{1478B5E1-8DD4-894E-69CF-805D376340AC}"/>
              </a:ext>
            </a:extLst>
          </p:cNvPr>
          <p:cNvGrpSpPr>
            <a:grpSpLocks noChangeAspect="1"/>
          </p:cNvGrpSpPr>
          <p:nvPr/>
        </p:nvGrpSpPr>
        <p:grpSpPr>
          <a:xfrm>
            <a:off x="7121622" y="857322"/>
            <a:ext cx="324000" cy="340341"/>
            <a:chOff x="8462963" y="1682750"/>
            <a:chExt cx="706430" cy="762001"/>
          </a:xfrm>
        </p:grpSpPr>
        <p:sp>
          <p:nvSpPr>
            <p:cNvPr id="15" name="Freeform 55">
              <a:extLst>
                <a:ext uri="{FF2B5EF4-FFF2-40B4-BE49-F238E27FC236}">
                  <a16:creationId xmlns:a16="http://schemas.microsoft.com/office/drawing/2014/main" id="{F131B45E-684B-9C13-6837-F2FDA3655130}"/>
                </a:ext>
              </a:extLst>
            </p:cNvPr>
            <p:cNvSpPr>
              <a:spLocks/>
            </p:cNvSpPr>
            <p:nvPr/>
          </p:nvSpPr>
          <p:spPr bwMode="auto">
            <a:xfrm>
              <a:off x="8462963" y="2109788"/>
              <a:ext cx="317500" cy="244475"/>
            </a:xfrm>
            <a:custGeom>
              <a:avLst/>
              <a:gdLst>
                <a:gd name="T0" fmla="*/ 124 w 424"/>
                <a:gd name="T1" fmla="*/ 325 h 325"/>
                <a:gd name="T2" fmla="*/ 7 w 424"/>
                <a:gd name="T3" fmla="*/ 141 h 325"/>
                <a:gd name="T4" fmla="*/ 14 w 424"/>
                <a:gd name="T5" fmla="*/ 115 h 325"/>
                <a:gd name="T6" fmla="*/ 259 w 424"/>
                <a:gd name="T7" fmla="*/ 5 h 325"/>
                <a:gd name="T8" fmla="*/ 291 w 424"/>
                <a:gd name="T9" fmla="*/ 16 h 325"/>
                <a:gd name="T10" fmla="*/ 424 w 424"/>
                <a:gd name="T11" fmla="*/ 228 h 325"/>
              </a:gdLst>
              <a:ahLst/>
              <a:cxnLst>
                <a:cxn ang="0">
                  <a:pos x="T0" y="T1"/>
                </a:cxn>
                <a:cxn ang="0">
                  <a:pos x="T2" y="T3"/>
                </a:cxn>
                <a:cxn ang="0">
                  <a:pos x="T4" y="T5"/>
                </a:cxn>
                <a:cxn ang="0">
                  <a:pos x="T6" y="T7"/>
                </a:cxn>
                <a:cxn ang="0">
                  <a:pos x="T8" y="T9"/>
                </a:cxn>
                <a:cxn ang="0">
                  <a:pos x="T10" y="T11"/>
                </a:cxn>
              </a:cxnLst>
              <a:rect l="0" t="0" r="r" b="b"/>
              <a:pathLst>
                <a:path w="424" h="325">
                  <a:moveTo>
                    <a:pt x="124" y="325"/>
                  </a:moveTo>
                  <a:lnTo>
                    <a:pt x="7" y="141"/>
                  </a:lnTo>
                  <a:cubicBezTo>
                    <a:pt x="0" y="130"/>
                    <a:pt x="3" y="119"/>
                    <a:pt x="14" y="115"/>
                  </a:cubicBezTo>
                  <a:lnTo>
                    <a:pt x="259" y="5"/>
                  </a:lnTo>
                  <a:cubicBezTo>
                    <a:pt x="273" y="0"/>
                    <a:pt x="282" y="3"/>
                    <a:pt x="291" y="16"/>
                  </a:cubicBezTo>
                  <a:lnTo>
                    <a:pt x="424" y="228"/>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56">
              <a:extLst>
                <a:ext uri="{FF2B5EF4-FFF2-40B4-BE49-F238E27FC236}">
                  <a16:creationId xmlns:a16="http://schemas.microsoft.com/office/drawing/2014/main" id="{4CD7DC7D-43D5-80E7-28BB-272D7F7AD1A8}"/>
                </a:ext>
              </a:extLst>
            </p:cNvPr>
            <p:cNvSpPr>
              <a:spLocks/>
            </p:cNvSpPr>
            <p:nvPr/>
          </p:nvSpPr>
          <p:spPr bwMode="auto">
            <a:xfrm>
              <a:off x="8547093" y="2035175"/>
              <a:ext cx="622300" cy="409576"/>
            </a:xfrm>
            <a:custGeom>
              <a:avLst/>
              <a:gdLst>
                <a:gd name="T0" fmla="*/ 516 w 828"/>
                <a:gd name="T1" fmla="*/ 518 h 544"/>
                <a:gd name="T2" fmla="*/ 828 w 828"/>
                <a:gd name="T3" fmla="*/ 518 h 544"/>
                <a:gd name="T4" fmla="*/ 784 w 828"/>
                <a:gd name="T5" fmla="*/ 202 h 544"/>
                <a:gd name="T6" fmla="*/ 577 w 828"/>
                <a:gd name="T7" fmla="*/ 0 h 544"/>
                <a:gd name="T8" fmla="*/ 390 w 828"/>
                <a:gd name="T9" fmla="*/ 142 h 544"/>
                <a:gd name="T10" fmla="*/ 292 w 828"/>
                <a:gd name="T11" fmla="*/ 372 h 544"/>
                <a:gd name="T12" fmla="*/ 49 w 828"/>
                <a:gd name="T13" fmla="*/ 397 h 544"/>
                <a:gd name="T14" fmla="*/ 0 w 828"/>
                <a:gd name="T15" fmla="*/ 469 h 544"/>
                <a:gd name="T16" fmla="*/ 86 w 828"/>
                <a:gd name="T17" fmla="*/ 544 h 544"/>
                <a:gd name="T18" fmla="*/ 365 w 828"/>
                <a:gd name="T19" fmla="*/ 544 h 544"/>
                <a:gd name="T20" fmla="*/ 456 w 828"/>
                <a:gd name="T21" fmla="*/ 481 h 544"/>
                <a:gd name="T22" fmla="*/ 559 w 828"/>
                <a:gd name="T23" fmla="*/ 270 h 544"/>
                <a:gd name="T24" fmla="*/ 559 w 828"/>
                <a:gd name="T25" fmla="*/ 27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8" h="544">
                  <a:moveTo>
                    <a:pt x="516" y="518"/>
                  </a:moveTo>
                  <a:lnTo>
                    <a:pt x="828" y="518"/>
                  </a:lnTo>
                  <a:lnTo>
                    <a:pt x="784" y="202"/>
                  </a:lnTo>
                  <a:cubicBezTo>
                    <a:pt x="762" y="62"/>
                    <a:pt x="683" y="0"/>
                    <a:pt x="577" y="0"/>
                  </a:cubicBezTo>
                  <a:cubicBezTo>
                    <a:pt x="501" y="0"/>
                    <a:pt x="430" y="43"/>
                    <a:pt x="390" y="142"/>
                  </a:cubicBezTo>
                  <a:lnTo>
                    <a:pt x="292" y="372"/>
                  </a:lnTo>
                  <a:lnTo>
                    <a:pt x="49" y="397"/>
                  </a:lnTo>
                  <a:cubicBezTo>
                    <a:pt x="20" y="406"/>
                    <a:pt x="0" y="428"/>
                    <a:pt x="0" y="469"/>
                  </a:cubicBezTo>
                  <a:cubicBezTo>
                    <a:pt x="0" y="518"/>
                    <a:pt x="32" y="544"/>
                    <a:pt x="86" y="544"/>
                  </a:cubicBezTo>
                  <a:lnTo>
                    <a:pt x="365" y="544"/>
                  </a:lnTo>
                  <a:cubicBezTo>
                    <a:pt x="405" y="544"/>
                    <a:pt x="436" y="521"/>
                    <a:pt x="456" y="481"/>
                  </a:cubicBezTo>
                  <a:cubicBezTo>
                    <a:pt x="483" y="426"/>
                    <a:pt x="530" y="330"/>
                    <a:pt x="559" y="270"/>
                  </a:cubicBezTo>
                  <a:lnTo>
                    <a:pt x="559" y="270"/>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Line 57">
              <a:extLst>
                <a:ext uri="{FF2B5EF4-FFF2-40B4-BE49-F238E27FC236}">
                  <a16:creationId xmlns:a16="http://schemas.microsoft.com/office/drawing/2014/main" id="{E4E2F38D-BFC0-ECAA-BDE2-AD96D542A469}"/>
                </a:ext>
              </a:extLst>
            </p:cNvPr>
            <p:cNvSpPr>
              <a:spLocks noChangeShapeType="1"/>
            </p:cNvSpPr>
            <p:nvPr/>
          </p:nvSpPr>
          <p:spPr bwMode="auto">
            <a:xfrm flipH="1">
              <a:off x="8593138" y="2265363"/>
              <a:ext cx="17463" cy="6667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Freeform 58">
              <a:extLst>
                <a:ext uri="{FF2B5EF4-FFF2-40B4-BE49-F238E27FC236}">
                  <a16:creationId xmlns:a16="http://schemas.microsoft.com/office/drawing/2014/main" id="{69C8FDCC-02B9-30D4-4E6E-919350A72B6E}"/>
                </a:ext>
              </a:extLst>
            </p:cNvPr>
            <p:cNvSpPr>
              <a:spLocks/>
            </p:cNvSpPr>
            <p:nvPr/>
          </p:nvSpPr>
          <p:spPr bwMode="auto">
            <a:xfrm>
              <a:off x="8709025" y="1806575"/>
              <a:ext cx="279400" cy="204788"/>
            </a:xfrm>
            <a:custGeom>
              <a:avLst/>
              <a:gdLst>
                <a:gd name="T0" fmla="*/ 351 w 372"/>
                <a:gd name="T1" fmla="*/ 0 h 273"/>
                <a:gd name="T2" fmla="*/ 372 w 372"/>
                <a:gd name="T3" fmla="*/ 85 h 273"/>
                <a:gd name="T4" fmla="*/ 186 w 372"/>
                <a:gd name="T5" fmla="*/ 273 h 273"/>
                <a:gd name="T6" fmla="*/ 0 w 372"/>
                <a:gd name="T7" fmla="*/ 113 h 273"/>
              </a:gdLst>
              <a:ahLst/>
              <a:cxnLst>
                <a:cxn ang="0">
                  <a:pos x="T0" y="T1"/>
                </a:cxn>
                <a:cxn ang="0">
                  <a:pos x="T2" y="T3"/>
                </a:cxn>
                <a:cxn ang="0">
                  <a:pos x="T4" y="T5"/>
                </a:cxn>
                <a:cxn ang="0">
                  <a:pos x="T6" y="T7"/>
                </a:cxn>
              </a:cxnLst>
              <a:rect l="0" t="0" r="r" b="b"/>
              <a:pathLst>
                <a:path w="372" h="273">
                  <a:moveTo>
                    <a:pt x="351" y="0"/>
                  </a:moveTo>
                  <a:cubicBezTo>
                    <a:pt x="364" y="26"/>
                    <a:pt x="372" y="55"/>
                    <a:pt x="372" y="85"/>
                  </a:cubicBezTo>
                  <a:cubicBezTo>
                    <a:pt x="372" y="188"/>
                    <a:pt x="289" y="272"/>
                    <a:pt x="186" y="273"/>
                  </a:cubicBezTo>
                  <a:cubicBezTo>
                    <a:pt x="91" y="273"/>
                    <a:pt x="14" y="203"/>
                    <a:pt x="0" y="113"/>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Freeform 59">
              <a:extLst>
                <a:ext uri="{FF2B5EF4-FFF2-40B4-BE49-F238E27FC236}">
                  <a16:creationId xmlns:a16="http://schemas.microsoft.com/office/drawing/2014/main" id="{EFAC69DB-8D65-C4EE-6234-F2096B29861E}"/>
                </a:ext>
              </a:extLst>
            </p:cNvPr>
            <p:cNvSpPr>
              <a:spLocks/>
            </p:cNvSpPr>
            <p:nvPr/>
          </p:nvSpPr>
          <p:spPr bwMode="auto">
            <a:xfrm>
              <a:off x="8667750" y="1682750"/>
              <a:ext cx="312738" cy="206375"/>
            </a:xfrm>
            <a:custGeom>
              <a:avLst/>
              <a:gdLst>
                <a:gd name="T0" fmla="*/ 418 w 418"/>
                <a:gd name="T1" fmla="*/ 145 h 274"/>
                <a:gd name="T2" fmla="*/ 222 w 418"/>
                <a:gd name="T3" fmla="*/ 0 h 274"/>
                <a:gd name="T4" fmla="*/ 165 w 418"/>
                <a:gd name="T5" fmla="*/ 9 h 274"/>
                <a:gd name="T6" fmla="*/ 37 w 418"/>
                <a:gd name="T7" fmla="*/ 274 h 274"/>
              </a:gdLst>
              <a:ahLst/>
              <a:cxnLst>
                <a:cxn ang="0">
                  <a:pos x="T0" y="T1"/>
                </a:cxn>
                <a:cxn ang="0">
                  <a:pos x="T2" y="T3"/>
                </a:cxn>
                <a:cxn ang="0">
                  <a:pos x="T4" y="T5"/>
                </a:cxn>
                <a:cxn ang="0">
                  <a:pos x="T6" y="T7"/>
                </a:cxn>
              </a:cxnLst>
              <a:rect l="0" t="0" r="r" b="b"/>
              <a:pathLst>
                <a:path w="418" h="274">
                  <a:moveTo>
                    <a:pt x="418" y="145"/>
                  </a:moveTo>
                  <a:cubicBezTo>
                    <a:pt x="396" y="67"/>
                    <a:pt x="314" y="0"/>
                    <a:pt x="222" y="0"/>
                  </a:cubicBezTo>
                  <a:cubicBezTo>
                    <a:pt x="203" y="0"/>
                    <a:pt x="184" y="3"/>
                    <a:pt x="165" y="9"/>
                  </a:cubicBezTo>
                  <a:cubicBezTo>
                    <a:pt x="61" y="43"/>
                    <a:pt x="0" y="154"/>
                    <a:pt x="37" y="274"/>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Line 60">
              <a:extLst>
                <a:ext uri="{FF2B5EF4-FFF2-40B4-BE49-F238E27FC236}">
                  <a16:creationId xmlns:a16="http://schemas.microsoft.com/office/drawing/2014/main" id="{AE7E11B0-BB4D-14A6-417B-9CD9D1FC2BE3}"/>
                </a:ext>
              </a:extLst>
            </p:cNvPr>
            <p:cNvSpPr>
              <a:spLocks noChangeShapeType="1"/>
            </p:cNvSpPr>
            <p:nvPr/>
          </p:nvSpPr>
          <p:spPr bwMode="auto">
            <a:xfrm flipH="1">
              <a:off x="8645525" y="1792288"/>
              <a:ext cx="347663" cy="11112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19438063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4CC214BD-EE0E-73E4-B6DC-019F97C4A828}"/>
              </a:ext>
            </a:extLst>
          </p:cNvPr>
          <p:cNvSpPr txBox="1">
            <a:spLocks/>
          </p:cNvSpPr>
          <p:nvPr/>
        </p:nvSpPr>
        <p:spPr>
          <a:xfrm>
            <a:off x="184149" y="284162"/>
            <a:ext cx="10089787"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ctr">
            <a:normAutofit fontScale="77500" lnSpcReduction="200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r>
              <a:rPr lang="en-GB" sz="2800" cap="none">
                <a:solidFill>
                  <a:schemeClr val="tx1"/>
                </a:solidFill>
              </a:rPr>
              <a:t>Level of requirements discussed </a:t>
            </a:r>
            <a:r>
              <a:rPr lang="en-US" sz="2800" cap="none">
                <a:solidFill>
                  <a:schemeClr val="tx1"/>
                </a:solidFill>
              </a:rPr>
              <a:t>during Inception Vs Elaboration (illustrative)</a:t>
            </a:r>
          </a:p>
        </p:txBody>
      </p:sp>
      <p:sp>
        <p:nvSpPr>
          <p:cNvPr id="6" name="Rectangle 5">
            <a:extLst>
              <a:ext uri="{FF2B5EF4-FFF2-40B4-BE49-F238E27FC236}">
                <a16:creationId xmlns:a16="http://schemas.microsoft.com/office/drawing/2014/main" id="{687D493C-01DF-AB5A-B606-FE01ED32D84B}"/>
              </a:ext>
            </a:extLst>
          </p:cNvPr>
          <p:cNvSpPr/>
          <p:nvPr/>
        </p:nvSpPr>
        <p:spPr>
          <a:xfrm>
            <a:off x="578069" y="1502978"/>
            <a:ext cx="5349765" cy="10800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a:defRPr/>
            </a:pPr>
            <a:endParaRPr lang="en-US" sz="1000">
              <a:solidFill>
                <a:schemeClr val="tx1"/>
              </a:solidFill>
              <a:latin typeface="Calibri" panose="020F0502020204030204" pitchFamily="34" charset="0"/>
            </a:endParaRPr>
          </a:p>
          <a:p>
            <a:pPr marL="228600" indent="-228600">
              <a:defRPr/>
            </a:pPr>
            <a:r>
              <a:rPr lang="en-US" sz="1000">
                <a:solidFill>
                  <a:schemeClr val="tx1"/>
                </a:solidFill>
                <a:latin typeface="Calibri" panose="020F0502020204030204" pitchFamily="34" charset="0"/>
              </a:rPr>
              <a:t>Ability to search for an Account using following fields:</a:t>
            </a:r>
          </a:p>
          <a:p>
            <a:pPr marL="228600" indent="-228600">
              <a:buFontTx/>
              <a:buChar char="-"/>
              <a:defRPr/>
            </a:pPr>
            <a:r>
              <a:rPr lang="en-US" sz="1000">
                <a:solidFill>
                  <a:schemeClr val="tx1"/>
                </a:solidFill>
                <a:latin typeface="Calibri" panose="020F0502020204030204" pitchFamily="34" charset="0"/>
              </a:rPr>
              <a:t>First and Last name</a:t>
            </a:r>
          </a:p>
          <a:p>
            <a:pPr marL="228600" indent="-228600">
              <a:buFontTx/>
              <a:buChar char="-"/>
              <a:defRPr/>
            </a:pPr>
            <a:r>
              <a:rPr lang="en-US" sz="1000">
                <a:solidFill>
                  <a:schemeClr val="tx1"/>
                </a:solidFill>
                <a:latin typeface="Calibri" panose="020F0502020204030204" pitchFamily="34" charset="0"/>
              </a:rPr>
              <a:t>Phone number</a:t>
            </a:r>
          </a:p>
          <a:p>
            <a:pPr marL="228600" indent="-228600">
              <a:buFontTx/>
              <a:buChar char="-"/>
              <a:defRPr/>
            </a:pPr>
            <a:r>
              <a:rPr lang="en-US" sz="1000">
                <a:solidFill>
                  <a:schemeClr val="tx1"/>
                </a:solidFill>
                <a:latin typeface="Calibri" panose="020F0502020204030204" pitchFamily="34" charset="0"/>
              </a:rPr>
              <a:t>Postcode, Country and first/last name</a:t>
            </a:r>
            <a:endParaRPr lang="en-US" sz="1000">
              <a:solidFill>
                <a:schemeClr val="tx1"/>
              </a:solidFill>
              <a:latin typeface="Calibri" pitchFamily="34" charset="0"/>
              <a:cs typeface="Calibri" pitchFamily="34" charset="0"/>
            </a:endParaRPr>
          </a:p>
          <a:p>
            <a:pPr algn="ctr"/>
            <a:endParaRPr lang="en-US" sz="1600" err="1"/>
          </a:p>
        </p:txBody>
      </p:sp>
      <p:sp>
        <p:nvSpPr>
          <p:cNvPr id="7" name="Rectangle 6">
            <a:extLst>
              <a:ext uri="{FF2B5EF4-FFF2-40B4-BE49-F238E27FC236}">
                <a16:creationId xmlns:a16="http://schemas.microsoft.com/office/drawing/2014/main" id="{844979FC-F301-D6BF-E714-E2E6A5D2F8C4}"/>
              </a:ext>
            </a:extLst>
          </p:cNvPr>
          <p:cNvSpPr/>
          <p:nvPr/>
        </p:nvSpPr>
        <p:spPr>
          <a:xfrm>
            <a:off x="6264168" y="1502977"/>
            <a:ext cx="5349765" cy="1080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a:defRPr/>
            </a:pPr>
            <a:endParaRPr lang="en-US" sz="1000">
              <a:solidFill>
                <a:schemeClr val="tx1"/>
              </a:solidFill>
            </a:endParaRPr>
          </a:p>
          <a:p>
            <a:pPr marL="228600" indent="-228600">
              <a:defRPr/>
            </a:pPr>
            <a:r>
              <a:rPr lang="en-US" sz="1000">
                <a:solidFill>
                  <a:schemeClr val="tx1"/>
                </a:solidFill>
              </a:rPr>
              <a:t>Ability to search for an Account using the following fields:</a:t>
            </a:r>
          </a:p>
          <a:p>
            <a:pPr marL="171450" indent="-171450">
              <a:buFontTx/>
              <a:buChar char="-"/>
              <a:defRPr/>
            </a:pPr>
            <a:r>
              <a:rPr lang="en-US" sz="1000">
                <a:solidFill>
                  <a:schemeClr val="tx1"/>
                </a:solidFill>
              </a:rPr>
              <a:t>First and Last Name  – </a:t>
            </a:r>
            <a:r>
              <a:rPr lang="en-US" sz="1000" b="1">
                <a:solidFill>
                  <a:schemeClr val="tx1"/>
                </a:solidFill>
              </a:rPr>
              <a:t>Alphanumeric field 20 bytes long</a:t>
            </a:r>
          </a:p>
          <a:p>
            <a:pPr marL="171450" indent="-171450">
              <a:buFontTx/>
              <a:buChar char="-"/>
              <a:defRPr/>
            </a:pPr>
            <a:r>
              <a:rPr lang="en-US" sz="1000">
                <a:solidFill>
                  <a:schemeClr val="tx1"/>
                </a:solidFill>
              </a:rPr>
              <a:t>Phone number – </a:t>
            </a:r>
            <a:r>
              <a:rPr lang="en-US" sz="1000" b="1">
                <a:solidFill>
                  <a:schemeClr val="tx1"/>
                </a:solidFill>
              </a:rPr>
              <a:t>11 digits, no hyphens</a:t>
            </a:r>
          </a:p>
          <a:p>
            <a:pPr marL="171450" indent="-171450">
              <a:buFontTx/>
              <a:buChar char="-"/>
              <a:defRPr/>
            </a:pPr>
            <a:r>
              <a:rPr lang="en-US" sz="1000">
                <a:solidFill>
                  <a:schemeClr val="tx1"/>
                </a:solidFill>
              </a:rPr>
              <a:t>Postcode, Country – </a:t>
            </a:r>
            <a:r>
              <a:rPr lang="en-US" sz="1000" b="1">
                <a:solidFill>
                  <a:schemeClr val="tx1"/>
                </a:solidFill>
              </a:rPr>
              <a:t>should be able to handle outside UK location</a:t>
            </a:r>
          </a:p>
          <a:p>
            <a:pPr algn="ctr"/>
            <a:endParaRPr lang="en-US" sz="1600" err="1"/>
          </a:p>
        </p:txBody>
      </p:sp>
      <p:sp>
        <p:nvSpPr>
          <p:cNvPr id="8" name="Rectangle 7">
            <a:extLst>
              <a:ext uri="{FF2B5EF4-FFF2-40B4-BE49-F238E27FC236}">
                <a16:creationId xmlns:a16="http://schemas.microsoft.com/office/drawing/2014/main" id="{A58FCA2C-8509-B1C3-118A-B91B7CACE837}"/>
              </a:ext>
            </a:extLst>
          </p:cNvPr>
          <p:cNvSpPr/>
          <p:nvPr/>
        </p:nvSpPr>
        <p:spPr>
          <a:xfrm>
            <a:off x="6264168" y="2779983"/>
            <a:ext cx="5349765" cy="10800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0" indent="0" defTabSz="957756">
              <a:lnSpc>
                <a:spcPct val="100000"/>
              </a:lnSpc>
              <a:buClrTx/>
              <a:buSzTx/>
              <a:buNone/>
              <a:defRPr/>
            </a:pPr>
            <a:endParaRPr lang="en-US" altLang="en-US" sz="1050">
              <a:solidFill>
                <a:schemeClr val="tx1"/>
              </a:solidFill>
            </a:endParaRPr>
          </a:p>
          <a:p>
            <a:pPr marL="0" lvl="0" indent="0" defTabSz="957756">
              <a:lnSpc>
                <a:spcPct val="100000"/>
              </a:lnSpc>
              <a:buClrTx/>
              <a:buSzTx/>
              <a:buNone/>
              <a:defRPr/>
            </a:pPr>
            <a:r>
              <a:rPr lang="en-US" altLang="en-US" sz="1050">
                <a:solidFill>
                  <a:schemeClr val="tx1"/>
                </a:solidFill>
              </a:rPr>
              <a:t>Policy Number must </a:t>
            </a:r>
            <a:r>
              <a:rPr lang="en-US" altLang="en-US" sz="1050" b="1">
                <a:solidFill>
                  <a:schemeClr val="tx1"/>
                </a:solidFill>
              </a:rPr>
              <a:t>be 10 digital alphanumeric field</a:t>
            </a:r>
          </a:p>
          <a:p>
            <a:pPr marL="0" lvl="0" indent="0" defTabSz="957756">
              <a:lnSpc>
                <a:spcPct val="100000"/>
              </a:lnSpc>
              <a:buClrTx/>
              <a:buSzTx/>
              <a:buNone/>
              <a:defRPr/>
            </a:pPr>
            <a:r>
              <a:rPr lang="en-US" altLang="en-US" sz="1050">
                <a:solidFill>
                  <a:schemeClr val="tx1"/>
                </a:solidFill>
              </a:rPr>
              <a:t>Prefix with </a:t>
            </a:r>
            <a:r>
              <a:rPr lang="en-US" altLang="en-US" sz="1050" b="1">
                <a:solidFill>
                  <a:schemeClr val="tx1"/>
                </a:solidFill>
              </a:rPr>
              <a:t>2 letter Country code </a:t>
            </a:r>
            <a:r>
              <a:rPr lang="en-US" altLang="en-US" sz="1050">
                <a:solidFill>
                  <a:schemeClr val="tx1"/>
                </a:solidFill>
              </a:rPr>
              <a:t>( E.g. – GB for United Kingdom)</a:t>
            </a:r>
          </a:p>
          <a:p>
            <a:pPr marL="0" lvl="0" indent="0" defTabSz="957756">
              <a:lnSpc>
                <a:spcPct val="100000"/>
              </a:lnSpc>
              <a:buClrTx/>
              <a:buSzTx/>
              <a:buNone/>
              <a:defRPr/>
            </a:pPr>
            <a:r>
              <a:rPr lang="en-US" altLang="en-US" sz="1050">
                <a:solidFill>
                  <a:schemeClr val="tx1"/>
                </a:solidFill>
              </a:rPr>
              <a:t>Format Must be 2 letter </a:t>
            </a:r>
            <a:r>
              <a:rPr lang="en-US" altLang="en-US" sz="1050" b="1">
                <a:solidFill>
                  <a:schemeClr val="tx1"/>
                </a:solidFill>
              </a:rPr>
              <a:t>Country code</a:t>
            </a:r>
            <a:r>
              <a:rPr lang="en-US" altLang="en-US" sz="1050">
                <a:solidFill>
                  <a:schemeClr val="tx1"/>
                </a:solidFill>
              </a:rPr>
              <a:t>, followed by </a:t>
            </a:r>
            <a:r>
              <a:rPr lang="en-US" altLang="en-US" sz="1050" b="1">
                <a:solidFill>
                  <a:schemeClr val="tx1"/>
                </a:solidFill>
              </a:rPr>
              <a:t>2 letter for LOB code</a:t>
            </a:r>
            <a:r>
              <a:rPr lang="en-US" altLang="en-US" sz="1050">
                <a:solidFill>
                  <a:schemeClr val="tx1"/>
                </a:solidFill>
              </a:rPr>
              <a:t>, followed by number 100000 for the 1</a:t>
            </a:r>
            <a:r>
              <a:rPr lang="en-US" altLang="en-US" sz="1050" baseline="30000">
                <a:solidFill>
                  <a:schemeClr val="tx1"/>
                </a:solidFill>
              </a:rPr>
              <a:t>st</a:t>
            </a:r>
            <a:r>
              <a:rPr lang="en-US" altLang="en-US" sz="1050">
                <a:solidFill>
                  <a:schemeClr val="tx1"/>
                </a:solidFill>
              </a:rPr>
              <a:t> policy. Subsequently increment by 1</a:t>
            </a:r>
            <a:r>
              <a:rPr lang="en-US" altLang="en-US" sz="1050"/>
              <a:t>.</a:t>
            </a:r>
          </a:p>
          <a:p>
            <a:pPr algn="ctr"/>
            <a:endParaRPr lang="en-US" err="1"/>
          </a:p>
        </p:txBody>
      </p:sp>
      <p:sp>
        <p:nvSpPr>
          <p:cNvPr id="9" name="Rectangle 8">
            <a:extLst>
              <a:ext uri="{FF2B5EF4-FFF2-40B4-BE49-F238E27FC236}">
                <a16:creationId xmlns:a16="http://schemas.microsoft.com/office/drawing/2014/main" id="{9054568A-CC32-22A4-E843-64E52F58563F}"/>
              </a:ext>
            </a:extLst>
          </p:cNvPr>
          <p:cNvSpPr/>
          <p:nvPr/>
        </p:nvSpPr>
        <p:spPr>
          <a:xfrm>
            <a:off x="578066" y="3983416"/>
            <a:ext cx="5349765" cy="10800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en-US" sz="1050">
                <a:solidFill>
                  <a:schemeClr val="tx1"/>
                </a:solidFill>
              </a:rPr>
              <a:t>Ability to have multiple Payment plans to facilitate single Payment &amp; Installments</a:t>
            </a:r>
            <a:endParaRPr lang="en-US" sz="1050">
              <a:solidFill>
                <a:schemeClr val="tx1"/>
              </a:solidFill>
            </a:endParaRPr>
          </a:p>
        </p:txBody>
      </p:sp>
      <p:sp>
        <p:nvSpPr>
          <p:cNvPr id="10" name="Rectangle 9">
            <a:extLst>
              <a:ext uri="{FF2B5EF4-FFF2-40B4-BE49-F238E27FC236}">
                <a16:creationId xmlns:a16="http://schemas.microsoft.com/office/drawing/2014/main" id="{03EDA3D6-717E-59D1-203B-66B0E4466A1C}"/>
              </a:ext>
            </a:extLst>
          </p:cNvPr>
          <p:cNvSpPr/>
          <p:nvPr/>
        </p:nvSpPr>
        <p:spPr>
          <a:xfrm>
            <a:off x="578067" y="2779982"/>
            <a:ext cx="5349765" cy="1080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a:defRPr/>
            </a:pPr>
            <a:r>
              <a:rPr lang="en-US" altLang="en-US" sz="1000">
                <a:solidFill>
                  <a:schemeClr val="tx1"/>
                </a:solidFill>
                <a:latin typeface="Calibri" panose="020F0502020204030204" pitchFamily="34" charset="0"/>
              </a:rPr>
              <a:t>Ability to generate a unique policy number at the end of policy issuance process</a:t>
            </a:r>
            <a:endParaRPr lang="en-US" sz="1000">
              <a:solidFill>
                <a:schemeClr val="tx1"/>
              </a:solidFill>
              <a:latin typeface="Calibri" panose="020F0502020204030204" pitchFamily="34" charset="0"/>
            </a:endParaRPr>
          </a:p>
        </p:txBody>
      </p:sp>
      <p:sp>
        <p:nvSpPr>
          <p:cNvPr id="11" name="Rectangle 10">
            <a:extLst>
              <a:ext uri="{FF2B5EF4-FFF2-40B4-BE49-F238E27FC236}">
                <a16:creationId xmlns:a16="http://schemas.microsoft.com/office/drawing/2014/main" id="{9E6E854E-45CC-F867-124F-F3BDD5199926}"/>
              </a:ext>
            </a:extLst>
          </p:cNvPr>
          <p:cNvSpPr/>
          <p:nvPr/>
        </p:nvSpPr>
        <p:spPr>
          <a:xfrm>
            <a:off x="6264168" y="3983416"/>
            <a:ext cx="5349765" cy="1080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altLang="en-US" sz="1050" b="0" i="0" u="none" strike="noStrike" kern="1200" cap="none" spc="0" normalizeH="0" baseline="0" noProof="0">
                <a:ln>
                  <a:noFill/>
                </a:ln>
                <a:solidFill>
                  <a:prstClr val="black"/>
                </a:solidFill>
                <a:effectLst/>
                <a:uLnTx/>
                <a:uFillTx/>
                <a:latin typeface="Ubuntu"/>
                <a:ea typeface="+mn-ea"/>
                <a:cs typeface="+mn-cs"/>
              </a:rPr>
              <a:t>Ability to have 3 Payment Plan options</a:t>
            </a:r>
          </a:p>
          <a:p>
            <a:pPr marL="228600" marR="0" lvl="0" indent="-228600" algn="l" defTabSz="957756" rtl="0" eaLnBrk="1" fontAlgn="auto" latinLnBrk="0" hangingPunct="1">
              <a:lnSpc>
                <a:spcPct val="100000"/>
              </a:lnSpc>
              <a:spcBef>
                <a:spcPts val="0"/>
              </a:spcBef>
              <a:spcAft>
                <a:spcPts val="0"/>
              </a:spcAft>
              <a:buClrTx/>
              <a:buSzTx/>
              <a:buFontTx/>
              <a:buAutoNum type="arabicParenR"/>
              <a:tabLst/>
              <a:defRPr/>
            </a:pPr>
            <a:r>
              <a:rPr kumimoji="0" lang="en-US" altLang="en-US" sz="1050" b="1" i="0" u="none" strike="noStrike" kern="1200" cap="none" spc="0" normalizeH="0" baseline="0" noProof="0">
                <a:ln>
                  <a:noFill/>
                </a:ln>
                <a:solidFill>
                  <a:prstClr val="black"/>
                </a:solidFill>
                <a:effectLst/>
                <a:uLnTx/>
                <a:uFillTx/>
                <a:latin typeface="Ubuntu"/>
                <a:ea typeface="+mn-ea"/>
                <a:cs typeface="+mn-cs"/>
              </a:rPr>
              <a:t>Full Pay</a:t>
            </a:r>
            <a:r>
              <a:rPr kumimoji="0" lang="en-US" altLang="en-US" sz="1050" b="0" i="0" u="none" strike="noStrike" kern="1200" cap="none" spc="0" normalizeH="0" baseline="0" noProof="0">
                <a:ln>
                  <a:noFill/>
                </a:ln>
                <a:solidFill>
                  <a:prstClr val="black"/>
                </a:solidFill>
                <a:effectLst/>
                <a:uLnTx/>
                <a:uFillTx/>
                <a:latin typeface="Ubuntu"/>
                <a:ea typeface="+mn-ea"/>
                <a:cs typeface="+mn-cs"/>
              </a:rPr>
              <a:t> with no instalments</a:t>
            </a:r>
          </a:p>
          <a:p>
            <a:pPr marL="228600" marR="0" lvl="0" indent="-228600" algn="l" defTabSz="957756" rtl="0" eaLnBrk="1" fontAlgn="auto" latinLnBrk="0" hangingPunct="1">
              <a:lnSpc>
                <a:spcPct val="100000"/>
              </a:lnSpc>
              <a:spcBef>
                <a:spcPts val="0"/>
              </a:spcBef>
              <a:spcAft>
                <a:spcPts val="0"/>
              </a:spcAft>
              <a:buClrTx/>
              <a:buSzTx/>
              <a:buFontTx/>
              <a:buAutoNum type="arabicParenR"/>
              <a:tabLst/>
              <a:defRPr/>
            </a:pPr>
            <a:r>
              <a:rPr kumimoji="0" lang="en-US" altLang="en-US" sz="1050" b="1" i="0" u="none" strike="noStrike" kern="1200" cap="none" spc="0" normalizeH="0" baseline="0" noProof="0">
                <a:ln>
                  <a:noFill/>
                </a:ln>
                <a:solidFill>
                  <a:prstClr val="black"/>
                </a:solidFill>
                <a:effectLst/>
                <a:uLnTx/>
                <a:uFillTx/>
                <a:latin typeface="Ubuntu"/>
                <a:ea typeface="+mn-ea"/>
                <a:cs typeface="+mn-cs"/>
              </a:rPr>
              <a:t>Quarterly Plan </a:t>
            </a:r>
            <a:r>
              <a:rPr kumimoji="0" lang="en-US" altLang="en-US" sz="1050" b="0" i="0" u="none" strike="noStrike" kern="1200" cap="none" spc="0" normalizeH="0" baseline="0" noProof="0">
                <a:ln>
                  <a:noFill/>
                </a:ln>
                <a:solidFill>
                  <a:prstClr val="black"/>
                </a:solidFill>
                <a:effectLst/>
                <a:uLnTx/>
                <a:uFillTx/>
                <a:latin typeface="Ubuntu"/>
                <a:ea typeface="+mn-ea"/>
                <a:cs typeface="+mn-cs"/>
              </a:rPr>
              <a:t>with no Instalment fees</a:t>
            </a:r>
          </a:p>
          <a:p>
            <a:pPr marL="228600" marR="0" lvl="0" indent="-228600" algn="l" defTabSz="957756" rtl="0" eaLnBrk="1" fontAlgn="auto" latinLnBrk="0" hangingPunct="1">
              <a:lnSpc>
                <a:spcPct val="100000"/>
              </a:lnSpc>
              <a:spcBef>
                <a:spcPts val="0"/>
              </a:spcBef>
              <a:spcAft>
                <a:spcPts val="0"/>
              </a:spcAft>
              <a:buClrTx/>
              <a:buSzTx/>
              <a:buFontTx/>
              <a:buAutoNum type="arabicParenR"/>
              <a:tabLst/>
              <a:defRPr/>
            </a:pPr>
            <a:r>
              <a:rPr lang="en-US" altLang="en-US" sz="1050" b="1">
                <a:solidFill>
                  <a:prstClr val="black"/>
                </a:solidFill>
                <a:latin typeface="Ubuntu"/>
              </a:rPr>
              <a:t>Monthly Plan </a:t>
            </a:r>
            <a:r>
              <a:rPr lang="en-US" altLang="en-US" sz="1050">
                <a:solidFill>
                  <a:prstClr val="black"/>
                </a:solidFill>
                <a:latin typeface="Ubuntu"/>
              </a:rPr>
              <a:t>with £5 Installment fees on every Installment Invoice</a:t>
            </a:r>
            <a:endParaRPr kumimoji="0" lang="en-US" altLang="en-US" sz="1050" b="0" i="0" u="none" strike="noStrike" kern="1200" cap="none" spc="0" normalizeH="0" baseline="0" noProof="0">
              <a:ln>
                <a:noFill/>
              </a:ln>
              <a:solidFill>
                <a:prstClr val="white"/>
              </a:solidFill>
              <a:effectLst/>
              <a:uLnTx/>
              <a:uFillTx/>
              <a:latin typeface="Ubuntu"/>
              <a:ea typeface="+mn-ea"/>
              <a:cs typeface="+mn-cs"/>
            </a:endParaRPr>
          </a:p>
        </p:txBody>
      </p:sp>
      <p:sp>
        <p:nvSpPr>
          <p:cNvPr id="12" name="Rectangle 11">
            <a:extLst>
              <a:ext uri="{FF2B5EF4-FFF2-40B4-BE49-F238E27FC236}">
                <a16:creationId xmlns:a16="http://schemas.microsoft.com/office/drawing/2014/main" id="{90CB9AE2-42B4-B311-409E-DC69912483AC}"/>
              </a:ext>
            </a:extLst>
          </p:cNvPr>
          <p:cNvSpPr/>
          <p:nvPr/>
        </p:nvSpPr>
        <p:spPr>
          <a:xfrm>
            <a:off x="6264167" y="5186849"/>
            <a:ext cx="5349765" cy="10800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altLang="en-US" sz="1050" b="0" i="0" u="none" strike="noStrike" kern="1200" cap="none" spc="0" normalizeH="0" baseline="0" noProof="0">
                <a:ln>
                  <a:noFill/>
                </a:ln>
                <a:solidFill>
                  <a:prstClr val="black"/>
                </a:solidFill>
                <a:effectLst/>
                <a:uLnTx/>
                <a:uFillTx/>
                <a:latin typeface="Ubuntu"/>
                <a:ea typeface="+mn-ea"/>
                <a:cs typeface="+mn-cs"/>
              </a:rPr>
              <a:t>Ability to automatically Write-off remaining balance when </a:t>
            </a:r>
          </a:p>
          <a:p>
            <a:pPr marL="228600" marR="0" lvl="0" indent="-228600" algn="l" defTabSz="957756" rtl="0" eaLnBrk="1" fontAlgn="auto" latinLnBrk="0" hangingPunct="1">
              <a:lnSpc>
                <a:spcPct val="100000"/>
              </a:lnSpc>
              <a:spcBef>
                <a:spcPts val="0"/>
              </a:spcBef>
              <a:spcAft>
                <a:spcPts val="0"/>
              </a:spcAft>
              <a:buClrTx/>
              <a:buSzTx/>
              <a:buFontTx/>
              <a:buAutoNum type="arabicParenR"/>
              <a:tabLst/>
              <a:defRPr/>
            </a:pPr>
            <a:r>
              <a:rPr kumimoji="0" lang="en-US" altLang="en-US" sz="1050" b="1" i="0" u="none" strike="noStrike" kern="1200" cap="none" spc="0" normalizeH="0" baseline="0" noProof="0">
                <a:ln>
                  <a:noFill/>
                </a:ln>
                <a:solidFill>
                  <a:prstClr val="black"/>
                </a:solidFill>
                <a:effectLst/>
                <a:uLnTx/>
                <a:uFillTx/>
                <a:latin typeface="Ubuntu"/>
                <a:ea typeface="+mn-ea"/>
                <a:cs typeface="+mn-cs"/>
              </a:rPr>
              <a:t>Overdue amount is &lt; £5</a:t>
            </a:r>
          </a:p>
          <a:p>
            <a:pPr marL="228600" marR="0" lvl="0" indent="-228600" algn="l" defTabSz="957756" rtl="0" eaLnBrk="1" fontAlgn="auto" latinLnBrk="0" hangingPunct="1">
              <a:lnSpc>
                <a:spcPct val="100000"/>
              </a:lnSpc>
              <a:spcBef>
                <a:spcPts val="0"/>
              </a:spcBef>
              <a:spcAft>
                <a:spcPts val="0"/>
              </a:spcAft>
              <a:buClrTx/>
              <a:buSzTx/>
              <a:buFontTx/>
              <a:buAutoNum type="arabicParenR"/>
              <a:tabLst/>
              <a:defRPr/>
            </a:pPr>
            <a:r>
              <a:rPr kumimoji="0" lang="en-US" altLang="en-US" sz="1050" b="1" i="0" u="none" strike="noStrike" kern="1200" cap="none" spc="0" normalizeH="0" baseline="0" noProof="0">
                <a:ln>
                  <a:noFill/>
                </a:ln>
                <a:solidFill>
                  <a:prstClr val="black"/>
                </a:solidFill>
                <a:effectLst/>
                <a:uLnTx/>
                <a:uFillTx/>
                <a:latin typeface="Ubuntu"/>
                <a:ea typeface="+mn-ea"/>
                <a:cs typeface="+mn-cs"/>
              </a:rPr>
              <a:t>Current date &lt; 1 day </a:t>
            </a:r>
            <a:r>
              <a:rPr kumimoji="0" lang="en-US" altLang="en-US" sz="1050" i="0" u="none" strike="noStrike" kern="1200" cap="none" spc="0" normalizeH="0" baseline="0" noProof="0">
                <a:ln>
                  <a:noFill/>
                </a:ln>
                <a:solidFill>
                  <a:prstClr val="black"/>
                </a:solidFill>
                <a:effectLst/>
                <a:uLnTx/>
                <a:uFillTx/>
                <a:latin typeface="Ubuntu"/>
                <a:ea typeface="+mn-ea"/>
                <a:cs typeface="+mn-cs"/>
              </a:rPr>
              <a:t>before 1</a:t>
            </a:r>
            <a:r>
              <a:rPr kumimoji="0" lang="en-US" altLang="en-US" sz="1050" i="0" u="none" strike="noStrike" kern="1200" cap="none" spc="0" normalizeH="0" baseline="30000" noProof="0">
                <a:ln>
                  <a:noFill/>
                </a:ln>
                <a:solidFill>
                  <a:prstClr val="black"/>
                </a:solidFill>
                <a:effectLst/>
                <a:uLnTx/>
                <a:uFillTx/>
                <a:latin typeface="Ubuntu"/>
                <a:ea typeface="+mn-ea"/>
                <a:cs typeface="+mn-cs"/>
              </a:rPr>
              <a:t>st</a:t>
            </a:r>
            <a:r>
              <a:rPr kumimoji="0" lang="en-US" altLang="en-US" sz="1050" i="0" u="none" strike="noStrike" kern="1200" cap="none" spc="0" normalizeH="0" baseline="0" noProof="0">
                <a:ln>
                  <a:noFill/>
                </a:ln>
                <a:solidFill>
                  <a:prstClr val="black"/>
                </a:solidFill>
                <a:effectLst/>
                <a:uLnTx/>
                <a:uFillTx/>
                <a:latin typeface="Ubuntu"/>
                <a:ea typeface="+mn-ea"/>
                <a:cs typeface="+mn-cs"/>
              </a:rPr>
              <a:t> Delinquency Event date</a:t>
            </a:r>
          </a:p>
        </p:txBody>
      </p:sp>
      <p:sp>
        <p:nvSpPr>
          <p:cNvPr id="13" name="Rectangle 12">
            <a:extLst>
              <a:ext uri="{FF2B5EF4-FFF2-40B4-BE49-F238E27FC236}">
                <a16:creationId xmlns:a16="http://schemas.microsoft.com/office/drawing/2014/main" id="{0E7ED399-0D2D-D848-1308-2DAAFFBB1AA1}"/>
              </a:ext>
            </a:extLst>
          </p:cNvPr>
          <p:cNvSpPr/>
          <p:nvPr/>
        </p:nvSpPr>
        <p:spPr>
          <a:xfrm>
            <a:off x="578066" y="5186848"/>
            <a:ext cx="5349765" cy="1080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marR="0" lvl="0" indent="-228600" algn="l" defTabSz="914400" rtl="0" eaLnBrk="1" fontAlgn="auto" latinLnBrk="0" hangingPunct="1">
              <a:lnSpc>
                <a:spcPct val="100000"/>
              </a:lnSpc>
              <a:spcBef>
                <a:spcPts val="0"/>
              </a:spcBef>
              <a:spcAft>
                <a:spcPts val="0"/>
              </a:spcAft>
              <a:buClrTx/>
              <a:buSzTx/>
              <a:buFontTx/>
              <a:buNone/>
              <a:tabLst/>
              <a:defRPr/>
            </a:pPr>
            <a:r>
              <a:rPr kumimoji="0" lang="en-US" altLang="en-US" sz="1050" b="0" i="0" u="none" strike="noStrike" kern="1200" cap="none" spc="0" normalizeH="0" baseline="0" noProof="0">
                <a:ln>
                  <a:noFill/>
                </a:ln>
                <a:solidFill>
                  <a:prstClr val="black"/>
                </a:solidFill>
                <a:effectLst/>
                <a:uLnTx/>
                <a:uFillTx/>
                <a:latin typeface="Calibri" panose="020F0502020204030204" pitchFamily="34" charset="0"/>
                <a:ea typeface="+mn-ea"/>
                <a:cs typeface="+mn-cs"/>
              </a:rPr>
              <a:t>Ability to automatically Write off when Overdue amount is &lt; £5</a:t>
            </a:r>
            <a:endParaRPr kumimoji="0" lang="en-US" sz="105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14" name="Rectangle 13">
            <a:extLst>
              <a:ext uri="{FF2B5EF4-FFF2-40B4-BE49-F238E27FC236}">
                <a16:creationId xmlns:a16="http://schemas.microsoft.com/office/drawing/2014/main" id="{F7346189-5A04-B309-E948-0DEF172010F9}"/>
              </a:ext>
            </a:extLst>
          </p:cNvPr>
          <p:cNvSpPr/>
          <p:nvPr/>
        </p:nvSpPr>
        <p:spPr>
          <a:xfrm>
            <a:off x="578068" y="1502979"/>
            <a:ext cx="5349765" cy="10800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a:defRPr/>
            </a:pPr>
            <a:endParaRPr lang="en-US" sz="1050">
              <a:solidFill>
                <a:schemeClr val="tx1"/>
              </a:solidFill>
              <a:latin typeface="Calibri" panose="020F0502020204030204" pitchFamily="34" charset="0"/>
            </a:endParaRPr>
          </a:p>
          <a:p>
            <a:pPr marL="228600" indent="-228600">
              <a:defRPr/>
            </a:pPr>
            <a:r>
              <a:rPr lang="en-US" sz="1050">
                <a:solidFill>
                  <a:schemeClr val="tx1"/>
                </a:solidFill>
                <a:latin typeface="Calibri" panose="020F0502020204030204" pitchFamily="34" charset="0"/>
              </a:rPr>
              <a:t>Ability to search for an Account using following fields:</a:t>
            </a:r>
          </a:p>
          <a:p>
            <a:pPr marL="228600" indent="-228600">
              <a:buFontTx/>
              <a:buChar char="-"/>
              <a:defRPr/>
            </a:pPr>
            <a:r>
              <a:rPr lang="en-US" sz="1050">
                <a:solidFill>
                  <a:schemeClr val="tx1"/>
                </a:solidFill>
                <a:latin typeface="Calibri" panose="020F0502020204030204" pitchFamily="34" charset="0"/>
              </a:rPr>
              <a:t>First and Last name</a:t>
            </a:r>
          </a:p>
          <a:p>
            <a:pPr marL="228600" indent="-228600">
              <a:buFontTx/>
              <a:buChar char="-"/>
              <a:defRPr/>
            </a:pPr>
            <a:r>
              <a:rPr lang="en-US" sz="1050">
                <a:solidFill>
                  <a:schemeClr val="tx1"/>
                </a:solidFill>
                <a:latin typeface="Calibri" panose="020F0502020204030204" pitchFamily="34" charset="0"/>
              </a:rPr>
              <a:t>Phone number</a:t>
            </a:r>
          </a:p>
          <a:p>
            <a:pPr marL="228600" indent="-228600">
              <a:buFontTx/>
              <a:buChar char="-"/>
              <a:defRPr/>
            </a:pPr>
            <a:r>
              <a:rPr lang="en-US" sz="1050">
                <a:solidFill>
                  <a:schemeClr val="tx1"/>
                </a:solidFill>
                <a:latin typeface="Calibri" panose="020F0502020204030204" pitchFamily="34" charset="0"/>
              </a:rPr>
              <a:t>Postcode, Country and first/last name</a:t>
            </a:r>
            <a:endParaRPr lang="en-US" sz="1050">
              <a:solidFill>
                <a:schemeClr val="tx1"/>
              </a:solidFill>
              <a:latin typeface="Calibri" pitchFamily="34" charset="0"/>
              <a:cs typeface="Calibri" pitchFamily="34" charset="0"/>
            </a:endParaRPr>
          </a:p>
          <a:p>
            <a:pPr algn="ctr"/>
            <a:endParaRPr lang="en-US" err="1"/>
          </a:p>
        </p:txBody>
      </p:sp>
      <p:sp>
        <p:nvSpPr>
          <p:cNvPr id="15" name="Rectangle 14">
            <a:extLst>
              <a:ext uri="{FF2B5EF4-FFF2-40B4-BE49-F238E27FC236}">
                <a16:creationId xmlns:a16="http://schemas.microsoft.com/office/drawing/2014/main" id="{C139925D-145F-4EB6-F96D-20CA6A6670C8}"/>
              </a:ext>
            </a:extLst>
          </p:cNvPr>
          <p:cNvSpPr/>
          <p:nvPr/>
        </p:nvSpPr>
        <p:spPr>
          <a:xfrm>
            <a:off x="6264167" y="1502978"/>
            <a:ext cx="5349765" cy="1080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a:defRPr/>
            </a:pPr>
            <a:endParaRPr lang="en-US" sz="1050">
              <a:solidFill>
                <a:schemeClr val="tx1"/>
              </a:solidFill>
            </a:endParaRPr>
          </a:p>
          <a:p>
            <a:pPr marL="228600" indent="-228600">
              <a:defRPr/>
            </a:pPr>
            <a:r>
              <a:rPr lang="en-US" sz="1050">
                <a:solidFill>
                  <a:schemeClr val="tx1"/>
                </a:solidFill>
              </a:rPr>
              <a:t>Ability to search for an Account using the following fields:</a:t>
            </a:r>
          </a:p>
          <a:p>
            <a:pPr marL="171450" indent="-171450">
              <a:buFontTx/>
              <a:buChar char="-"/>
              <a:defRPr/>
            </a:pPr>
            <a:r>
              <a:rPr lang="en-US" sz="1050">
                <a:solidFill>
                  <a:schemeClr val="tx1"/>
                </a:solidFill>
              </a:rPr>
              <a:t>First and Last Name  – </a:t>
            </a:r>
            <a:r>
              <a:rPr lang="en-US" sz="1050" b="1">
                <a:solidFill>
                  <a:schemeClr val="tx1"/>
                </a:solidFill>
              </a:rPr>
              <a:t>Alphanumeric field 20 bytes long</a:t>
            </a:r>
          </a:p>
          <a:p>
            <a:pPr marL="171450" indent="-171450">
              <a:buFontTx/>
              <a:buChar char="-"/>
              <a:defRPr/>
            </a:pPr>
            <a:r>
              <a:rPr lang="en-US" sz="1050">
                <a:solidFill>
                  <a:schemeClr val="tx1"/>
                </a:solidFill>
              </a:rPr>
              <a:t>Phone number – </a:t>
            </a:r>
            <a:r>
              <a:rPr lang="en-US" sz="1050" b="1">
                <a:solidFill>
                  <a:schemeClr val="tx1"/>
                </a:solidFill>
              </a:rPr>
              <a:t>11 digits, no hyphens</a:t>
            </a:r>
          </a:p>
          <a:p>
            <a:pPr marL="171450" indent="-171450">
              <a:buFontTx/>
              <a:buChar char="-"/>
              <a:defRPr/>
            </a:pPr>
            <a:r>
              <a:rPr lang="en-US" sz="1050">
                <a:solidFill>
                  <a:schemeClr val="tx1"/>
                </a:solidFill>
              </a:rPr>
              <a:t>Postcode, Country – </a:t>
            </a:r>
            <a:r>
              <a:rPr lang="en-US" sz="1050" b="1">
                <a:solidFill>
                  <a:schemeClr val="tx1"/>
                </a:solidFill>
              </a:rPr>
              <a:t>should be able to handle outside UK location</a:t>
            </a:r>
          </a:p>
          <a:p>
            <a:pPr algn="ctr"/>
            <a:endParaRPr lang="en-US" err="1"/>
          </a:p>
        </p:txBody>
      </p:sp>
      <p:sp>
        <p:nvSpPr>
          <p:cNvPr id="16" name="Rectangle 15">
            <a:extLst>
              <a:ext uri="{FF2B5EF4-FFF2-40B4-BE49-F238E27FC236}">
                <a16:creationId xmlns:a16="http://schemas.microsoft.com/office/drawing/2014/main" id="{2D0036AF-FD9B-815C-4360-663EA90B378C}"/>
              </a:ext>
            </a:extLst>
          </p:cNvPr>
          <p:cNvSpPr/>
          <p:nvPr/>
        </p:nvSpPr>
        <p:spPr>
          <a:xfrm>
            <a:off x="578066" y="2779983"/>
            <a:ext cx="5349765" cy="1080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a:defRPr/>
            </a:pPr>
            <a:r>
              <a:rPr lang="en-US" altLang="en-US" sz="1050">
                <a:solidFill>
                  <a:schemeClr val="tx1"/>
                </a:solidFill>
                <a:latin typeface="Calibri" panose="020F0502020204030204" pitchFamily="34" charset="0"/>
              </a:rPr>
              <a:t>Ability to generate a unique policy number at the end of policy issuance process</a:t>
            </a:r>
            <a:endParaRPr lang="en-US" sz="1050">
              <a:solidFill>
                <a:schemeClr val="tx1"/>
              </a:solidFill>
              <a:latin typeface="Calibri" panose="020F0502020204030204" pitchFamily="34" charset="0"/>
            </a:endParaRPr>
          </a:p>
        </p:txBody>
      </p:sp>
      <p:sp>
        <p:nvSpPr>
          <p:cNvPr id="17" name="TextBox 16">
            <a:extLst>
              <a:ext uri="{FF2B5EF4-FFF2-40B4-BE49-F238E27FC236}">
                <a16:creationId xmlns:a16="http://schemas.microsoft.com/office/drawing/2014/main" id="{34D60510-21DE-D402-6109-2A4792ADBE08}"/>
              </a:ext>
            </a:extLst>
          </p:cNvPr>
          <p:cNvSpPr txBox="1"/>
          <p:nvPr/>
        </p:nvSpPr>
        <p:spPr>
          <a:xfrm>
            <a:off x="2233447" y="1073527"/>
            <a:ext cx="2039007" cy="369332"/>
          </a:xfrm>
          <a:prstGeom prst="rect">
            <a:avLst/>
          </a:prstGeom>
          <a:noFill/>
        </p:spPr>
        <p:txBody>
          <a:bodyPr wrap="square" rtlCol="0">
            <a:spAutoFit/>
          </a:bodyPr>
          <a:lstStyle/>
          <a:p>
            <a:r>
              <a:rPr lang="en-GB" b="1"/>
              <a:t>Inception Phase</a:t>
            </a:r>
            <a:endParaRPr lang="en-US" b="1"/>
          </a:p>
        </p:txBody>
      </p:sp>
      <p:sp>
        <p:nvSpPr>
          <p:cNvPr id="21" name="TextBox 20">
            <a:extLst>
              <a:ext uri="{FF2B5EF4-FFF2-40B4-BE49-F238E27FC236}">
                <a16:creationId xmlns:a16="http://schemas.microsoft.com/office/drawing/2014/main" id="{A61F1B10-563C-C32F-6FBF-5DFEE9D7028F}"/>
              </a:ext>
            </a:extLst>
          </p:cNvPr>
          <p:cNvSpPr txBox="1"/>
          <p:nvPr/>
        </p:nvSpPr>
        <p:spPr>
          <a:xfrm>
            <a:off x="7796048" y="1073527"/>
            <a:ext cx="2286002" cy="369332"/>
          </a:xfrm>
          <a:prstGeom prst="rect">
            <a:avLst/>
          </a:prstGeom>
          <a:noFill/>
        </p:spPr>
        <p:txBody>
          <a:bodyPr wrap="square" rtlCol="0">
            <a:spAutoFit/>
          </a:bodyPr>
          <a:lstStyle/>
          <a:p>
            <a:r>
              <a:rPr lang="en-GB" b="1"/>
              <a:t>Elaboration Phase</a:t>
            </a:r>
            <a:endParaRPr lang="en-US" b="1"/>
          </a:p>
        </p:txBody>
      </p:sp>
      <p:pic>
        <p:nvPicPr>
          <p:cNvPr id="18" name="Picture 17">
            <a:extLst>
              <a:ext uri="{FF2B5EF4-FFF2-40B4-BE49-F238E27FC236}">
                <a16:creationId xmlns:a16="http://schemas.microsoft.com/office/drawing/2014/main" id="{3A7B15BE-D56D-5C61-3308-3B1CB6832C6E}"/>
              </a:ext>
            </a:extLst>
          </p:cNvPr>
          <p:cNvPicPr>
            <a:picLocks noChangeAspect="1"/>
          </p:cNvPicPr>
          <p:nvPr/>
        </p:nvPicPr>
        <p:blipFill>
          <a:blip r:embed="rId3"/>
          <a:stretch>
            <a:fillRect/>
          </a:stretch>
        </p:blipFill>
        <p:spPr>
          <a:xfrm>
            <a:off x="578066" y="855994"/>
            <a:ext cx="720000" cy="637871"/>
          </a:xfrm>
          <a:prstGeom prst="rect">
            <a:avLst/>
          </a:prstGeom>
        </p:spPr>
      </p:pic>
      <p:pic>
        <p:nvPicPr>
          <p:cNvPr id="19" name="Picture 18">
            <a:extLst>
              <a:ext uri="{FF2B5EF4-FFF2-40B4-BE49-F238E27FC236}">
                <a16:creationId xmlns:a16="http://schemas.microsoft.com/office/drawing/2014/main" id="{7DFA8B5A-0501-09BD-6ECC-3E067C544B23}"/>
              </a:ext>
            </a:extLst>
          </p:cNvPr>
          <p:cNvPicPr>
            <a:picLocks noChangeAspect="1"/>
          </p:cNvPicPr>
          <p:nvPr/>
        </p:nvPicPr>
        <p:blipFill>
          <a:blip r:embed="rId4"/>
          <a:stretch>
            <a:fillRect/>
          </a:stretch>
        </p:blipFill>
        <p:spPr>
          <a:xfrm>
            <a:off x="10893931" y="865105"/>
            <a:ext cx="720000" cy="637871"/>
          </a:xfrm>
          <a:prstGeom prst="rect">
            <a:avLst/>
          </a:prstGeom>
        </p:spPr>
      </p:pic>
    </p:spTree>
    <p:extLst>
      <p:ext uri="{BB962C8B-B14F-4D97-AF65-F5344CB8AC3E}">
        <p14:creationId xmlns:p14="http://schemas.microsoft.com/office/powerpoint/2010/main" val="13552115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 name="Text Placeholder 20">
            <a:extLst>
              <a:ext uri="{FF2B5EF4-FFF2-40B4-BE49-F238E27FC236}">
                <a16:creationId xmlns:a16="http://schemas.microsoft.com/office/drawing/2014/main" id="{63AFAC24-AC01-F738-B736-C4C5742F2302}"/>
              </a:ext>
            </a:extLst>
          </p:cNvPr>
          <p:cNvSpPr txBox="1">
            <a:spLocks/>
          </p:cNvSpPr>
          <p:nvPr/>
        </p:nvSpPr>
        <p:spPr>
          <a:xfrm>
            <a:off x="78374" y="5014793"/>
            <a:ext cx="1043386" cy="1691828"/>
          </a:xfrm>
          <a:prstGeom prst="rect">
            <a:avLst/>
          </a:prstGeom>
          <a:solidFill>
            <a:schemeClr val="accent2">
              <a:lumMod val="20000"/>
              <a:lumOff val="80000"/>
            </a:schemeClr>
          </a:solidFill>
          <a:ln>
            <a:noFill/>
          </a:ln>
        </p:spPr>
        <p:txBody>
          <a:bodyPr wrap="square" lIns="91440" tIns="91440" rIns="91440" bIns="91440" anchor="t" anchorCtr="0">
            <a:noAutofit/>
          </a:bodyPr>
          <a:lstStyle>
            <a:defPPr>
              <a:defRPr lang="pt-PT"/>
            </a:defPPr>
            <a:lvl1pPr marL="0" algn="r"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100"/>
              </a:spcBef>
              <a:spcAft>
                <a:spcPts val="100"/>
              </a:spcAft>
              <a:buClr>
                <a:srgbClr val="ECECEC"/>
              </a:buClr>
              <a:defRPr/>
            </a:pPr>
            <a:endParaRPr lang="en-US" sz="1600" b="1">
              <a:solidFill>
                <a:schemeClr val="accent1"/>
              </a:solidFill>
              <a:latin typeface="Ubuntu" panose="020B0504030602030204" pitchFamily="34" charset="0"/>
            </a:endParaRPr>
          </a:p>
          <a:p>
            <a:pPr algn="l">
              <a:spcBef>
                <a:spcPts val="100"/>
              </a:spcBef>
              <a:spcAft>
                <a:spcPts val="100"/>
              </a:spcAft>
              <a:buClr>
                <a:srgbClr val="ECECEC"/>
              </a:buClr>
              <a:defRPr/>
            </a:pPr>
            <a:endParaRPr lang="en-US" sz="1600" b="1">
              <a:solidFill>
                <a:schemeClr val="accent1"/>
              </a:solidFill>
              <a:latin typeface="Ubuntu" panose="020B0504030602030204" pitchFamily="34" charset="0"/>
            </a:endParaRPr>
          </a:p>
        </p:txBody>
      </p:sp>
      <p:sp>
        <p:nvSpPr>
          <p:cNvPr id="627" name="Text Placeholder 20">
            <a:extLst>
              <a:ext uri="{FF2B5EF4-FFF2-40B4-BE49-F238E27FC236}">
                <a16:creationId xmlns:a16="http://schemas.microsoft.com/office/drawing/2014/main" id="{78BB1F18-60A2-3691-0C96-DF06CA4A536C}"/>
              </a:ext>
            </a:extLst>
          </p:cNvPr>
          <p:cNvSpPr txBox="1">
            <a:spLocks/>
          </p:cNvSpPr>
          <p:nvPr/>
        </p:nvSpPr>
        <p:spPr>
          <a:xfrm>
            <a:off x="10382574" y="695359"/>
            <a:ext cx="1755746" cy="6006811"/>
          </a:xfrm>
          <a:prstGeom prst="rect">
            <a:avLst/>
          </a:prstGeom>
          <a:solidFill>
            <a:schemeClr val="accent2">
              <a:lumMod val="20000"/>
              <a:lumOff val="80000"/>
            </a:schemeClr>
          </a:solidFill>
        </p:spPr>
        <p:txBody>
          <a:bodyPr wrap="square" lIns="91440" tIns="91440" rIns="91440" bIns="91440" anchor="t" anchorCtr="0">
            <a:noAutofit/>
          </a:bodyPr>
          <a:lstStyle>
            <a:defPPr>
              <a:defRPr lang="pt-PT"/>
            </a:defPPr>
            <a:lvl1pPr marL="0" algn="r"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100"/>
              </a:spcBef>
              <a:spcAft>
                <a:spcPts val="100"/>
              </a:spcAft>
              <a:buClr>
                <a:srgbClr val="ECECEC"/>
              </a:buClr>
              <a:defRPr/>
            </a:pPr>
            <a:endParaRPr lang="en-US" sz="1600" b="1">
              <a:solidFill>
                <a:schemeClr val="accent1"/>
              </a:solidFill>
              <a:latin typeface="Ubuntu" panose="020B0504030602030204" pitchFamily="34" charset="0"/>
            </a:endParaRPr>
          </a:p>
        </p:txBody>
      </p:sp>
      <p:sp>
        <p:nvSpPr>
          <p:cNvPr id="418" name="Rounded Rectangle 67">
            <a:extLst>
              <a:ext uri="{FF2B5EF4-FFF2-40B4-BE49-F238E27FC236}">
                <a16:creationId xmlns:a16="http://schemas.microsoft.com/office/drawing/2014/main" id="{CF47D172-5A00-2222-9276-6B84393088EB}"/>
              </a:ext>
            </a:extLst>
          </p:cNvPr>
          <p:cNvSpPr>
            <a:spLocks/>
          </p:cNvSpPr>
          <p:nvPr/>
        </p:nvSpPr>
        <p:spPr>
          <a:xfrm>
            <a:off x="10474014" y="2861065"/>
            <a:ext cx="1618485" cy="2132527"/>
          </a:xfrm>
          <a:prstGeom prst="roundRect">
            <a:avLst>
              <a:gd name="adj" fmla="val 5380"/>
            </a:avLst>
          </a:prstGeom>
          <a:noFill/>
          <a:ln w="19050" cap="flat" cmpd="sng" algn="ctr">
            <a:solidFill>
              <a:schemeClr val="bg1">
                <a:lumMod val="8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3" name="Title 3">
            <a:extLst>
              <a:ext uri="{FF2B5EF4-FFF2-40B4-BE49-F238E27FC236}">
                <a16:creationId xmlns:a16="http://schemas.microsoft.com/office/drawing/2014/main" id="{AA517563-EC26-4A72-6E3A-2F909348303E}"/>
              </a:ext>
            </a:extLst>
          </p:cNvPr>
          <p:cNvSpPr txBox="1">
            <a:spLocks/>
          </p:cNvSpPr>
          <p:nvPr/>
        </p:nvSpPr>
        <p:spPr>
          <a:xfrm>
            <a:off x="212822" y="155830"/>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r>
              <a:rPr lang="en-GB" sz="2800" cap="none">
                <a:solidFill>
                  <a:srgbClr val="0070C0"/>
                </a:solidFill>
              </a:rPr>
              <a:t>‘A day in a life’ during Elaboration Workshops</a:t>
            </a:r>
            <a:endParaRPr lang="en-US" sz="2800" cap="none">
              <a:solidFill>
                <a:srgbClr val="0070C0"/>
              </a:solidFill>
            </a:endParaRPr>
          </a:p>
        </p:txBody>
      </p:sp>
      <p:sp>
        <p:nvSpPr>
          <p:cNvPr id="2" name="Text Placeholder 20">
            <a:extLst>
              <a:ext uri="{FF2B5EF4-FFF2-40B4-BE49-F238E27FC236}">
                <a16:creationId xmlns:a16="http://schemas.microsoft.com/office/drawing/2014/main" id="{663BA533-BA0F-A7F6-69A7-64B8A27BECD9}"/>
              </a:ext>
            </a:extLst>
          </p:cNvPr>
          <p:cNvSpPr txBox="1">
            <a:spLocks/>
          </p:cNvSpPr>
          <p:nvPr/>
        </p:nvSpPr>
        <p:spPr>
          <a:xfrm>
            <a:off x="78374" y="695359"/>
            <a:ext cx="1043386" cy="4291871"/>
          </a:xfrm>
          <a:prstGeom prst="rect">
            <a:avLst/>
          </a:prstGeom>
          <a:solidFill>
            <a:schemeClr val="accent2">
              <a:lumMod val="20000"/>
              <a:lumOff val="80000"/>
            </a:schemeClr>
          </a:solidFill>
          <a:ln>
            <a:noFill/>
          </a:ln>
        </p:spPr>
        <p:txBody>
          <a:bodyPr wrap="square" lIns="91440" tIns="91440" rIns="91440" bIns="91440" anchor="t" anchorCtr="0">
            <a:noAutofit/>
          </a:bodyPr>
          <a:lstStyle>
            <a:defPPr>
              <a:defRPr lang="pt-PT"/>
            </a:defPPr>
            <a:lvl1pPr marL="0" algn="r"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100"/>
              </a:spcBef>
              <a:spcAft>
                <a:spcPts val="100"/>
              </a:spcAft>
              <a:buClr>
                <a:srgbClr val="ECECEC"/>
              </a:buClr>
              <a:defRPr/>
            </a:pPr>
            <a:r>
              <a:rPr lang="en-US" sz="1600" b="1">
                <a:solidFill>
                  <a:schemeClr val="accent1"/>
                </a:solidFill>
                <a:latin typeface="Ubuntu" panose="020B0504030602030204" pitchFamily="34" charset="0"/>
              </a:rPr>
              <a:t>Actors</a:t>
            </a:r>
          </a:p>
          <a:p>
            <a:pPr algn="l">
              <a:spcBef>
                <a:spcPts val="100"/>
              </a:spcBef>
              <a:spcAft>
                <a:spcPts val="100"/>
              </a:spcAft>
              <a:buClr>
                <a:srgbClr val="ECECEC"/>
              </a:buClr>
              <a:defRPr/>
            </a:pPr>
            <a:endParaRPr lang="en-US" sz="1600" b="1">
              <a:solidFill>
                <a:schemeClr val="accent1"/>
              </a:solidFill>
              <a:latin typeface="Ubuntu" panose="020B0504030602030204" pitchFamily="34" charset="0"/>
            </a:endParaRPr>
          </a:p>
          <a:p>
            <a:pPr algn="l">
              <a:spcBef>
                <a:spcPts val="100"/>
              </a:spcBef>
              <a:spcAft>
                <a:spcPts val="100"/>
              </a:spcAft>
              <a:buClr>
                <a:srgbClr val="ECECEC"/>
              </a:buClr>
              <a:defRPr/>
            </a:pPr>
            <a:endParaRPr lang="en-US" sz="1600" b="1">
              <a:solidFill>
                <a:schemeClr val="accent1"/>
              </a:solidFill>
              <a:latin typeface="Ubuntu" panose="020B0504030602030204" pitchFamily="34" charset="0"/>
            </a:endParaRPr>
          </a:p>
          <a:p>
            <a:pPr algn="l">
              <a:spcBef>
                <a:spcPts val="100"/>
              </a:spcBef>
              <a:spcAft>
                <a:spcPts val="100"/>
              </a:spcAft>
              <a:buClr>
                <a:schemeClr val="accent1"/>
              </a:buClr>
              <a:defRPr/>
            </a:pPr>
            <a:endParaRPr lang="en-US" sz="1100">
              <a:solidFill>
                <a:schemeClr val="tx1"/>
              </a:solidFill>
              <a:latin typeface="Ubuntu" panose="020B0504030602030204" pitchFamily="34" charset="0"/>
            </a:endParaRPr>
          </a:p>
          <a:p>
            <a:pPr algn="l">
              <a:spcBef>
                <a:spcPts val="100"/>
              </a:spcBef>
              <a:spcAft>
                <a:spcPts val="100"/>
              </a:spcAft>
              <a:buClr>
                <a:schemeClr val="accent1"/>
              </a:buClr>
              <a:defRPr/>
            </a:pPr>
            <a:r>
              <a:rPr lang="en-US" sz="700" b="1">
                <a:solidFill>
                  <a:schemeClr val="tx1"/>
                </a:solidFill>
                <a:latin typeface="Ubuntu" panose="020B0504030602030204" pitchFamily="34" charset="0"/>
              </a:rPr>
              <a:t>    Product Owner</a:t>
            </a:r>
          </a:p>
          <a:p>
            <a:pPr algn="l">
              <a:spcBef>
                <a:spcPts val="100"/>
              </a:spcBef>
              <a:spcAft>
                <a:spcPts val="100"/>
              </a:spcAft>
              <a:buClr>
                <a:schemeClr val="accent1"/>
              </a:buClr>
              <a:defRPr/>
            </a:pPr>
            <a:endParaRPr lang="en-US" b="1">
              <a:solidFill>
                <a:schemeClr val="tx1"/>
              </a:solidFill>
              <a:latin typeface="Ubuntu" panose="020B0504030602030204" pitchFamily="34" charset="0"/>
            </a:endParaRPr>
          </a:p>
          <a:p>
            <a:pPr algn="l">
              <a:spcBef>
                <a:spcPts val="100"/>
              </a:spcBef>
              <a:spcAft>
                <a:spcPts val="100"/>
              </a:spcAft>
              <a:buClr>
                <a:schemeClr val="accent1"/>
              </a:buClr>
              <a:defRPr/>
            </a:pPr>
            <a:endParaRPr lang="en-US" b="1">
              <a:solidFill>
                <a:schemeClr val="tx1"/>
              </a:solidFill>
              <a:latin typeface="Ubuntu" panose="020B0504030602030204" pitchFamily="34" charset="0"/>
            </a:endParaRPr>
          </a:p>
          <a:p>
            <a:pPr algn="l">
              <a:spcBef>
                <a:spcPts val="100"/>
              </a:spcBef>
              <a:spcAft>
                <a:spcPts val="100"/>
              </a:spcAft>
              <a:buClr>
                <a:schemeClr val="accent1"/>
              </a:buClr>
              <a:defRPr/>
            </a:pPr>
            <a:endParaRPr lang="en-US" b="1">
              <a:solidFill>
                <a:schemeClr val="tx1"/>
              </a:solidFill>
              <a:latin typeface="Ubuntu" panose="020B0504030602030204" pitchFamily="34" charset="0"/>
            </a:endParaRPr>
          </a:p>
          <a:p>
            <a:pPr algn="l">
              <a:spcBef>
                <a:spcPts val="100"/>
              </a:spcBef>
              <a:spcAft>
                <a:spcPts val="100"/>
              </a:spcAft>
              <a:buClr>
                <a:schemeClr val="accent1"/>
              </a:buClr>
              <a:defRPr/>
            </a:pPr>
            <a:endParaRPr lang="en-US" b="1">
              <a:solidFill>
                <a:schemeClr val="tx1"/>
              </a:solidFill>
              <a:latin typeface="Ubuntu" panose="020B0504030602030204" pitchFamily="34" charset="0"/>
            </a:endParaRPr>
          </a:p>
          <a:p>
            <a:pPr algn="l">
              <a:spcBef>
                <a:spcPts val="100"/>
              </a:spcBef>
              <a:spcAft>
                <a:spcPts val="100"/>
              </a:spcAft>
              <a:buClr>
                <a:schemeClr val="accent1"/>
              </a:buClr>
              <a:defRPr/>
            </a:pPr>
            <a:r>
              <a:rPr lang="en-US" b="1">
                <a:solidFill>
                  <a:schemeClr val="tx1"/>
                </a:solidFill>
                <a:latin typeface="Ubuntu" panose="020B0504030602030204" pitchFamily="34" charset="0"/>
              </a:rPr>
              <a:t>         </a:t>
            </a:r>
          </a:p>
          <a:p>
            <a:pPr algn="l">
              <a:spcBef>
                <a:spcPts val="100"/>
              </a:spcBef>
              <a:spcAft>
                <a:spcPts val="100"/>
              </a:spcAft>
              <a:buClr>
                <a:schemeClr val="accent1"/>
              </a:buClr>
              <a:defRPr/>
            </a:pPr>
            <a:r>
              <a:rPr lang="en-US" sz="700" b="1">
                <a:solidFill>
                  <a:schemeClr val="tx1"/>
                </a:solidFill>
                <a:latin typeface="Ubuntu" panose="020B0504030602030204" pitchFamily="34" charset="0"/>
              </a:rPr>
              <a:t>             SMEs</a:t>
            </a:r>
          </a:p>
          <a:p>
            <a:pPr algn="l">
              <a:spcBef>
                <a:spcPts val="100"/>
              </a:spcBef>
              <a:spcAft>
                <a:spcPts val="100"/>
              </a:spcAft>
              <a:buClr>
                <a:schemeClr val="accent1"/>
              </a:buClr>
              <a:defRPr/>
            </a:pPr>
            <a:endParaRPr lang="en-US" b="1">
              <a:solidFill>
                <a:schemeClr val="tx1"/>
              </a:solidFill>
              <a:latin typeface="Ubuntu" panose="020B0504030602030204" pitchFamily="34" charset="0"/>
            </a:endParaRPr>
          </a:p>
          <a:p>
            <a:pPr algn="l">
              <a:spcBef>
                <a:spcPts val="100"/>
              </a:spcBef>
              <a:spcAft>
                <a:spcPts val="100"/>
              </a:spcAft>
              <a:buClr>
                <a:schemeClr val="accent1"/>
              </a:buClr>
              <a:defRPr/>
            </a:pPr>
            <a:endParaRPr lang="en-US" b="1">
              <a:solidFill>
                <a:schemeClr val="tx1"/>
              </a:solidFill>
              <a:latin typeface="Ubuntu" panose="020B0504030602030204" pitchFamily="34" charset="0"/>
            </a:endParaRPr>
          </a:p>
          <a:p>
            <a:pPr algn="l">
              <a:spcBef>
                <a:spcPts val="100"/>
              </a:spcBef>
              <a:spcAft>
                <a:spcPts val="100"/>
              </a:spcAft>
              <a:buClr>
                <a:schemeClr val="accent1"/>
              </a:buClr>
              <a:defRPr/>
            </a:pPr>
            <a:endParaRPr lang="en-US" b="1">
              <a:solidFill>
                <a:schemeClr val="tx1"/>
              </a:solidFill>
              <a:latin typeface="Ubuntu" panose="020B0504030602030204" pitchFamily="34" charset="0"/>
            </a:endParaRPr>
          </a:p>
          <a:p>
            <a:pPr algn="l">
              <a:spcBef>
                <a:spcPts val="100"/>
              </a:spcBef>
              <a:spcAft>
                <a:spcPts val="100"/>
              </a:spcAft>
              <a:buClr>
                <a:schemeClr val="accent1"/>
              </a:buClr>
              <a:defRPr/>
            </a:pPr>
            <a:endParaRPr lang="en-US" b="1">
              <a:solidFill>
                <a:schemeClr val="tx1"/>
              </a:solidFill>
              <a:latin typeface="Ubuntu" panose="020B0504030602030204" pitchFamily="34" charset="0"/>
            </a:endParaRPr>
          </a:p>
          <a:p>
            <a:pPr algn="l">
              <a:spcBef>
                <a:spcPts val="100"/>
              </a:spcBef>
              <a:spcAft>
                <a:spcPts val="100"/>
              </a:spcAft>
              <a:buClr>
                <a:schemeClr val="accent1"/>
              </a:buClr>
              <a:defRPr/>
            </a:pPr>
            <a:r>
              <a:rPr lang="en-US" b="1">
                <a:solidFill>
                  <a:schemeClr val="tx1"/>
                </a:solidFill>
                <a:latin typeface="Ubuntu" panose="020B0504030602030204" pitchFamily="34" charset="0"/>
              </a:rPr>
              <a:t> </a:t>
            </a:r>
          </a:p>
          <a:p>
            <a:pPr algn="l">
              <a:spcBef>
                <a:spcPts val="100"/>
              </a:spcBef>
              <a:spcAft>
                <a:spcPts val="100"/>
              </a:spcAft>
              <a:buClr>
                <a:schemeClr val="accent1"/>
              </a:buClr>
              <a:defRPr/>
            </a:pPr>
            <a:r>
              <a:rPr lang="en-US" sz="700" b="1">
                <a:solidFill>
                  <a:schemeClr val="tx1"/>
                </a:solidFill>
                <a:latin typeface="Ubuntu" panose="020B0504030602030204" pitchFamily="34" charset="0"/>
              </a:rPr>
              <a:t>Solution Architect</a:t>
            </a:r>
          </a:p>
          <a:p>
            <a:pPr algn="l">
              <a:spcBef>
                <a:spcPts val="100"/>
              </a:spcBef>
              <a:spcAft>
                <a:spcPts val="100"/>
              </a:spcAft>
              <a:buClr>
                <a:schemeClr val="accent1"/>
              </a:buClr>
              <a:defRPr/>
            </a:pPr>
            <a:endParaRPr lang="en-US" b="1">
              <a:solidFill>
                <a:schemeClr val="tx1"/>
              </a:solidFill>
              <a:latin typeface="Ubuntu" panose="020B0504030602030204" pitchFamily="34" charset="0"/>
            </a:endParaRPr>
          </a:p>
          <a:p>
            <a:pPr algn="l">
              <a:spcBef>
                <a:spcPts val="100"/>
              </a:spcBef>
              <a:spcAft>
                <a:spcPts val="100"/>
              </a:spcAft>
              <a:buClr>
                <a:schemeClr val="accent1"/>
              </a:buClr>
              <a:defRPr/>
            </a:pPr>
            <a:endParaRPr lang="en-US" b="1">
              <a:solidFill>
                <a:schemeClr val="tx1"/>
              </a:solidFill>
              <a:latin typeface="Ubuntu" panose="020B0504030602030204" pitchFamily="34" charset="0"/>
            </a:endParaRPr>
          </a:p>
          <a:p>
            <a:pPr algn="l">
              <a:spcBef>
                <a:spcPts val="100"/>
              </a:spcBef>
              <a:spcAft>
                <a:spcPts val="100"/>
              </a:spcAft>
              <a:buClr>
                <a:schemeClr val="accent1"/>
              </a:buClr>
              <a:defRPr/>
            </a:pPr>
            <a:endParaRPr lang="en-US" b="1">
              <a:solidFill>
                <a:schemeClr val="tx1"/>
              </a:solidFill>
              <a:latin typeface="Ubuntu" panose="020B0504030602030204" pitchFamily="34" charset="0"/>
            </a:endParaRPr>
          </a:p>
          <a:p>
            <a:pPr algn="l">
              <a:spcBef>
                <a:spcPts val="100"/>
              </a:spcBef>
              <a:spcAft>
                <a:spcPts val="100"/>
              </a:spcAft>
              <a:buClr>
                <a:schemeClr val="accent1"/>
              </a:buClr>
              <a:defRPr/>
            </a:pPr>
            <a:endParaRPr lang="en-US" b="1">
              <a:solidFill>
                <a:schemeClr val="tx1"/>
              </a:solidFill>
              <a:latin typeface="Ubuntu" panose="020B0504030602030204" pitchFamily="34" charset="0"/>
            </a:endParaRPr>
          </a:p>
          <a:p>
            <a:pPr algn="l">
              <a:spcBef>
                <a:spcPts val="100"/>
              </a:spcBef>
              <a:spcAft>
                <a:spcPts val="100"/>
              </a:spcAft>
              <a:buClr>
                <a:schemeClr val="accent1"/>
              </a:buClr>
              <a:defRPr/>
            </a:pPr>
            <a:endParaRPr lang="en-US" b="1">
              <a:solidFill>
                <a:schemeClr val="tx1"/>
              </a:solidFill>
              <a:latin typeface="Ubuntu" panose="020B0504030602030204" pitchFamily="34" charset="0"/>
            </a:endParaRPr>
          </a:p>
          <a:p>
            <a:pPr algn="l">
              <a:spcBef>
                <a:spcPts val="100"/>
              </a:spcBef>
              <a:spcAft>
                <a:spcPts val="100"/>
              </a:spcAft>
              <a:buClr>
                <a:schemeClr val="accent1"/>
              </a:buClr>
              <a:defRPr/>
            </a:pPr>
            <a:r>
              <a:rPr lang="en-US" sz="700" b="1">
                <a:solidFill>
                  <a:schemeClr val="tx1"/>
                </a:solidFill>
                <a:latin typeface="Ubuntu" panose="020B0504030602030204" pitchFamily="34" charset="0"/>
              </a:rPr>
              <a:t>     </a:t>
            </a:r>
          </a:p>
          <a:p>
            <a:pPr algn="l">
              <a:spcBef>
                <a:spcPts val="100"/>
              </a:spcBef>
              <a:spcAft>
                <a:spcPts val="100"/>
              </a:spcAft>
              <a:buClr>
                <a:schemeClr val="accent1"/>
              </a:buClr>
              <a:defRPr/>
            </a:pPr>
            <a:endParaRPr lang="en-US" sz="700" b="1">
              <a:solidFill>
                <a:schemeClr val="tx1"/>
              </a:solidFill>
              <a:latin typeface="Ubuntu" panose="020B0504030602030204" pitchFamily="34" charset="0"/>
            </a:endParaRPr>
          </a:p>
          <a:p>
            <a:pPr algn="l">
              <a:spcBef>
                <a:spcPts val="100"/>
              </a:spcBef>
              <a:spcAft>
                <a:spcPts val="100"/>
              </a:spcAft>
              <a:buClr>
                <a:schemeClr val="accent1"/>
              </a:buClr>
              <a:defRPr/>
            </a:pPr>
            <a:r>
              <a:rPr lang="en-US" sz="700" b="1">
                <a:solidFill>
                  <a:schemeClr val="tx1"/>
                </a:solidFill>
                <a:latin typeface="Ubuntu" panose="020B0504030602030204" pitchFamily="34" charset="0"/>
              </a:rPr>
              <a:t>Team members</a:t>
            </a:r>
          </a:p>
          <a:p>
            <a:pPr algn="l">
              <a:spcBef>
                <a:spcPts val="100"/>
              </a:spcBef>
              <a:spcAft>
                <a:spcPts val="100"/>
              </a:spcAft>
              <a:buClr>
                <a:schemeClr val="accent1"/>
              </a:buClr>
              <a:defRPr/>
            </a:pPr>
            <a:endParaRPr lang="en-US" b="1">
              <a:solidFill>
                <a:schemeClr val="tx1"/>
              </a:solidFill>
              <a:latin typeface="Ubuntu" panose="020B0504030602030204" pitchFamily="34" charset="0"/>
            </a:endParaRPr>
          </a:p>
          <a:p>
            <a:pPr algn="l">
              <a:spcBef>
                <a:spcPts val="100"/>
              </a:spcBef>
              <a:spcAft>
                <a:spcPts val="100"/>
              </a:spcAft>
              <a:buClr>
                <a:schemeClr val="accent1"/>
              </a:buClr>
              <a:defRPr/>
            </a:pPr>
            <a:endParaRPr lang="en-US" b="1">
              <a:solidFill>
                <a:schemeClr val="tx1"/>
              </a:solidFill>
              <a:latin typeface="Ubuntu" panose="020B0504030602030204" pitchFamily="34" charset="0"/>
            </a:endParaRPr>
          </a:p>
          <a:p>
            <a:pPr algn="l">
              <a:spcBef>
                <a:spcPts val="100"/>
              </a:spcBef>
              <a:spcAft>
                <a:spcPts val="100"/>
              </a:spcAft>
              <a:buClr>
                <a:schemeClr val="accent1"/>
              </a:buClr>
              <a:defRPr/>
            </a:pPr>
            <a:endParaRPr lang="en-US" sz="700" b="1">
              <a:solidFill>
                <a:schemeClr val="tx1"/>
              </a:solidFill>
              <a:latin typeface="Ubuntu" panose="020B0504030602030204" pitchFamily="34" charset="0"/>
            </a:endParaRPr>
          </a:p>
          <a:p>
            <a:pPr algn="l">
              <a:spcBef>
                <a:spcPts val="100"/>
              </a:spcBef>
              <a:spcAft>
                <a:spcPts val="100"/>
              </a:spcAft>
              <a:buClr>
                <a:schemeClr val="accent1"/>
              </a:buClr>
              <a:defRPr/>
            </a:pPr>
            <a:endParaRPr lang="en-US" sz="700" b="1">
              <a:solidFill>
                <a:schemeClr val="tx1"/>
              </a:solidFill>
              <a:latin typeface="Ubuntu" panose="020B0504030602030204" pitchFamily="34" charset="0"/>
            </a:endParaRPr>
          </a:p>
          <a:p>
            <a:pPr algn="l">
              <a:spcBef>
                <a:spcPts val="100"/>
              </a:spcBef>
              <a:spcAft>
                <a:spcPts val="100"/>
              </a:spcAft>
              <a:buClr>
                <a:schemeClr val="accent1"/>
              </a:buClr>
              <a:defRPr/>
            </a:pPr>
            <a:endParaRPr lang="en-US" sz="700" b="1">
              <a:solidFill>
                <a:schemeClr val="tx1"/>
              </a:solidFill>
              <a:latin typeface="Ubuntu" panose="020B0504030602030204" pitchFamily="34" charset="0"/>
            </a:endParaRPr>
          </a:p>
          <a:p>
            <a:pPr algn="l">
              <a:spcBef>
                <a:spcPts val="100"/>
              </a:spcBef>
              <a:spcAft>
                <a:spcPts val="100"/>
              </a:spcAft>
              <a:buClr>
                <a:schemeClr val="accent1"/>
              </a:buClr>
              <a:defRPr/>
            </a:pPr>
            <a:endParaRPr lang="en-US" sz="700" b="1">
              <a:solidFill>
                <a:schemeClr val="tx1"/>
              </a:solidFill>
              <a:latin typeface="Ubuntu" panose="020B0504030602030204" pitchFamily="34" charset="0"/>
            </a:endParaRPr>
          </a:p>
          <a:p>
            <a:pPr algn="l">
              <a:spcBef>
                <a:spcPts val="100"/>
              </a:spcBef>
              <a:spcAft>
                <a:spcPts val="100"/>
              </a:spcAft>
              <a:buClr>
                <a:schemeClr val="accent1"/>
              </a:buClr>
              <a:defRPr/>
            </a:pPr>
            <a:endParaRPr lang="en-US" sz="700" b="1">
              <a:solidFill>
                <a:schemeClr val="tx1"/>
              </a:solidFill>
              <a:latin typeface="Ubuntu" panose="020B0504030602030204" pitchFamily="34" charset="0"/>
            </a:endParaRPr>
          </a:p>
          <a:p>
            <a:pPr algn="l">
              <a:spcBef>
                <a:spcPts val="100"/>
              </a:spcBef>
              <a:spcAft>
                <a:spcPts val="100"/>
              </a:spcAft>
              <a:buClr>
                <a:schemeClr val="accent1"/>
              </a:buClr>
              <a:defRPr/>
            </a:pPr>
            <a:endParaRPr lang="en-US" sz="700" b="1">
              <a:solidFill>
                <a:schemeClr val="tx1"/>
              </a:solidFill>
              <a:latin typeface="Ubuntu" panose="020B0504030602030204" pitchFamily="34" charset="0"/>
            </a:endParaRPr>
          </a:p>
          <a:p>
            <a:pPr algn="l">
              <a:spcBef>
                <a:spcPts val="100"/>
              </a:spcBef>
              <a:spcAft>
                <a:spcPts val="100"/>
              </a:spcAft>
              <a:buClr>
                <a:schemeClr val="accent1"/>
              </a:buClr>
              <a:defRPr/>
            </a:pPr>
            <a:r>
              <a:rPr lang="en-US" sz="700" b="1">
                <a:solidFill>
                  <a:schemeClr val="tx1"/>
                </a:solidFill>
                <a:latin typeface="Ubuntu" panose="020B0504030602030204" pitchFamily="34" charset="0"/>
              </a:rPr>
              <a:t>Functional lead / BA</a:t>
            </a:r>
          </a:p>
        </p:txBody>
      </p:sp>
      <p:grpSp>
        <p:nvGrpSpPr>
          <p:cNvPr id="6" name="Teacher7" descr="{&quot;Key&quot;:&quot;POWER_USER_SHAPE_ICON&quot;,&quot;Value&quot;:&quot;POWER_USER_SHAPE_ICON_STYLE_1&quot;}">
            <a:extLst>
              <a:ext uri="{FF2B5EF4-FFF2-40B4-BE49-F238E27FC236}">
                <a16:creationId xmlns:a16="http://schemas.microsoft.com/office/drawing/2014/main" id="{91A7FC1A-F1FC-01B2-D8FE-0616F45E7859}"/>
              </a:ext>
            </a:extLst>
          </p:cNvPr>
          <p:cNvGrpSpPr>
            <a:grpSpLocks noChangeAspect="1"/>
          </p:cNvGrpSpPr>
          <p:nvPr/>
        </p:nvGrpSpPr>
        <p:grpSpPr>
          <a:xfrm>
            <a:off x="387747" y="1288661"/>
            <a:ext cx="360000" cy="350581"/>
            <a:chOff x="6302376" y="1846263"/>
            <a:chExt cx="479425" cy="479425"/>
          </a:xfrm>
          <a:solidFill>
            <a:schemeClr val="accent1"/>
          </a:solidFill>
        </p:grpSpPr>
        <p:sp>
          <p:nvSpPr>
            <p:cNvPr id="7" name="Rectangle 495">
              <a:extLst>
                <a:ext uri="{FF2B5EF4-FFF2-40B4-BE49-F238E27FC236}">
                  <a16:creationId xmlns:a16="http://schemas.microsoft.com/office/drawing/2014/main" id="{A4732C34-FE05-0482-5FA2-E673102B1A97}"/>
                </a:ext>
              </a:extLst>
            </p:cNvPr>
            <p:cNvSpPr>
              <a:spLocks noChangeArrowheads="1"/>
            </p:cNvSpPr>
            <p:nvPr/>
          </p:nvSpPr>
          <p:spPr bwMode="auto">
            <a:xfrm>
              <a:off x="6586539" y="2144713"/>
              <a:ext cx="12700" cy="34925"/>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Freeform 496">
              <a:extLst>
                <a:ext uri="{FF2B5EF4-FFF2-40B4-BE49-F238E27FC236}">
                  <a16:creationId xmlns:a16="http://schemas.microsoft.com/office/drawing/2014/main" id="{E688B714-0AF6-971B-750E-B2BBFB7029C6}"/>
                </a:ext>
              </a:extLst>
            </p:cNvPr>
            <p:cNvSpPr>
              <a:spLocks/>
            </p:cNvSpPr>
            <p:nvPr/>
          </p:nvSpPr>
          <p:spPr bwMode="auto">
            <a:xfrm>
              <a:off x="6623051" y="2206626"/>
              <a:ext cx="158750" cy="117475"/>
            </a:xfrm>
            <a:custGeom>
              <a:avLst/>
              <a:gdLst>
                <a:gd name="T0" fmla="*/ 196 w 196"/>
                <a:gd name="T1" fmla="*/ 146 h 146"/>
                <a:gd name="T2" fmla="*/ 180 w 196"/>
                <a:gd name="T3" fmla="*/ 146 h 146"/>
                <a:gd name="T4" fmla="*/ 106 w 196"/>
                <a:gd name="T5" fmla="*/ 48 h 146"/>
                <a:gd name="T6" fmla="*/ 0 w 196"/>
                <a:gd name="T7" fmla="*/ 15 h 146"/>
                <a:gd name="T8" fmla="*/ 5 w 196"/>
                <a:gd name="T9" fmla="*/ 0 h 146"/>
                <a:gd name="T10" fmla="*/ 111 w 196"/>
                <a:gd name="T11" fmla="*/ 32 h 146"/>
                <a:gd name="T12" fmla="*/ 19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96" y="146"/>
                  </a:moveTo>
                  <a:lnTo>
                    <a:pt x="180" y="146"/>
                  </a:lnTo>
                  <a:cubicBezTo>
                    <a:pt x="180" y="101"/>
                    <a:pt x="150" y="61"/>
                    <a:pt x="106" y="48"/>
                  </a:cubicBezTo>
                  <a:lnTo>
                    <a:pt x="0" y="15"/>
                  </a:lnTo>
                  <a:lnTo>
                    <a:pt x="5" y="0"/>
                  </a:lnTo>
                  <a:lnTo>
                    <a:pt x="111" y="32"/>
                  </a:lnTo>
                  <a:cubicBezTo>
                    <a:pt x="162" y="47"/>
                    <a:pt x="196" y="93"/>
                    <a:pt x="19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Rectangle 497">
              <a:extLst>
                <a:ext uri="{FF2B5EF4-FFF2-40B4-BE49-F238E27FC236}">
                  <a16:creationId xmlns:a16="http://schemas.microsoft.com/office/drawing/2014/main" id="{A9B9C543-03A8-9D18-0383-91A8FF54E3ED}"/>
                </a:ext>
              </a:extLst>
            </p:cNvPr>
            <p:cNvSpPr>
              <a:spLocks noChangeArrowheads="1"/>
            </p:cNvSpPr>
            <p:nvPr/>
          </p:nvSpPr>
          <p:spPr bwMode="auto">
            <a:xfrm>
              <a:off x="6483351" y="2144713"/>
              <a:ext cx="12700" cy="39688"/>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Freeform 498">
              <a:extLst>
                <a:ext uri="{FF2B5EF4-FFF2-40B4-BE49-F238E27FC236}">
                  <a16:creationId xmlns:a16="http://schemas.microsoft.com/office/drawing/2014/main" id="{EB28C401-7A57-83BD-4ED5-6642116876A1}"/>
                </a:ext>
              </a:extLst>
            </p:cNvPr>
            <p:cNvSpPr>
              <a:spLocks/>
            </p:cNvSpPr>
            <p:nvPr/>
          </p:nvSpPr>
          <p:spPr bwMode="auto">
            <a:xfrm>
              <a:off x="6302376" y="2206626"/>
              <a:ext cx="157163" cy="117475"/>
            </a:xfrm>
            <a:custGeom>
              <a:avLst/>
              <a:gdLst>
                <a:gd name="T0" fmla="*/ 16 w 196"/>
                <a:gd name="T1" fmla="*/ 146 h 146"/>
                <a:gd name="T2" fmla="*/ 0 w 196"/>
                <a:gd name="T3" fmla="*/ 146 h 146"/>
                <a:gd name="T4" fmla="*/ 85 w 196"/>
                <a:gd name="T5" fmla="*/ 32 h 146"/>
                <a:gd name="T6" fmla="*/ 191 w 196"/>
                <a:gd name="T7" fmla="*/ 0 h 146"/>
                <a:gd name="T8" fmla="*/ 196 w 196"/>
                <a:gd name="T9" fmla="*/ 15 h 146"/>
                <a:gd name="T10" fmla="*/ 90 w 196"/>
                <a:gd name="T11" fmla="*/ 48 h 146"/>
                <a:gd name="T12" fmla="*/ 1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6" y="146"/>
                  </a:moveTo>
                  <a:lnTo>
                    <a:pt x="0" y="146"/>
                  </a:lnTo>
                  <a:cubicBezTo>
                    <a:pt x="0" y="93"/>
                    <a:pt x="34" y="47"/>
                    <a:pt x="85" y="32"/>
                  </a:cubicBezTo>
                  <a:lnTo>
                    <a:pt x="191" y="0"/>
                  </a:lnTo>
                  <a:lnTo>
                    <a:pt x="196" y="15"/>
                  </a:lnTo>
                  <a:lnTo>
                    <a:pt x="90" y="48"/>
                  </a:lnTo>
                  <a:cubicBezTo>
                    <a:pt x="46" y="61"/>
                    <a:pt x="16" y="101"/>
                    <a:pt x="1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Freeform 499">
              <a:extLst>
                <a:ext uri="{FF2B5EF4-FFF2-40B4-BE49-F238E27FC236}">
                  <a16:creationId xmlns:a16="http://schemas.microsoft.com/office/drawing/2014/main" id="{4965F401-6C7F-19BD-0C3B-ACE16CB20C94}"/>
                </a:ext>
              </a:extLst>
            </p:cNvPr>
            <p:cNvSpPr>
              <a:spLocks noEditPoints="1"/>
            </p:cNvSpPr>
            <p:nvPr/>
          </p:nvSpPr>
          <p:spPr bwMode="auto">
            <a:xfrm>
              <a:off x="6443664" y="1927226"/>
              <a:ext cx="195263" cy="250825"/>
            </a:xfrm>
            <a:custGeom>
              <a:avLst/>
              <a:gdLst>
                <a:gd name="T0" fmla="*/ 48 w 243"/>
                <a:gd name="T1" fmla="*/ 44 h 311"/>
                <a:gd name="T2" fmla="*/ 17 w 243"/>
                <a:gd name="T3" fmla="*/ 108 h 311"/>
                <a:gd name="T4" fmla="*/ 17 w 243"/>
                <a:gd name="T5" fmla="*/ 200 h 311"/>
                <a:gd name="T6" fmla="*/ 88 w 243"/>
                <a:gd name="T7" fmla="*/ 285 h 311"/>
                <a:gd name="T8" fmla="*/ 155 w 243"/>
                <a:gd name="T9" fmla="*/ 285 h 311"/>
                <a:gd name="T10" fmla="*/ 226 w 243"/>
                <a:gd name="T11" fmla="*/ 200 h 311"/>
                <a:gd name="T12" fmla="*/ 226 w 243"/>
                <a:gd name="T13" fmla="*/ 81 h 311"/>
                <a:gd name="T14" fmla="*/ 197 w 243"/>
                <a:gd name="T15" fmla="*/ 32 h 311"/>
                <a:gd name="T16" fmla="*/ 175 w 243"/>
                <a:gd name="T17" fmla="*/ 18 h 311"/>
                <a:gd name="T18" fmla="*/ 175 w 243"/>
                <a:gd name="T19" fmla="*/ 19 h 311"/>
                <a:gd name="T20" fmla="*/ 160 w 243"/>
                <a:gd name="T21" fmla="*/ 59 h 311"/>
                <a:gd name="T22" fmla="*/ 84 w 243"/>
                <a:gd name="T23" fmla="*/ 52 h 311"/>
                <a:gd name="T24" fmla="*/ 48 w 243"/>
                <a:gd name="T25" fmla="*/ 44 h 311"/>
                <a:gd name="T26" fmla="*/ 121 w 243"/>
                <a:gd name="T27" fmla="*/ 311 h 311"/>
                <a:gd name="T28" fmla="*/ 79 w 243"/>
                <a:gd name="T29" fmla="*/ 299 h 311"/>
                <a:gd name="T30" fmla="*/ 0 w 243"/>
                <a:gd name="T31" fmla="*/ 200 h 311"/>
                <a:gd name="T32" fmla="*/ 0 w 243"/>
                <a:gd name="T33" fmla="*/ 108 h 311"/>
                <a:gd name="T34" fmla="*/ 48 w 243"/>
                <a:gd name="T35" fmla="*/ 27 h 311"/>
                <a:gd name="T36" fmla="*/ 88 w 243"/>
                <a:gd name="T37" fmla="*/ 36 h 311"/>
                <a:gd name="T38" fmla="*/ 152 w 243"/>
                <a:gd name="T39" fmla="*/ 44 h 311"/>
                <a:gd name="T40" fmla="*/ 159 w 243"/>
                <a:gd name="T41" fmla="*/ 23 h 311"/>
                <a:gd name="T42" fmla="*/ 160 w 243"/>
                <a:gd name="T43" fmla="*/ 6 h 311"/>
                <a:gd name="T44" fmla="*/ 171 w 243"/>
                <a:gd name="T45" fmla="*/ 1 h 311"/>
                <a:gd name="T46" fmla="*/ 171 w 243"/>
                <a:gd name="T47" fmla="*/ 1 h 311"/>
                <a:gd name="T48" fmla="*/ 209 w 243"/>
                <a:gd name="T49" fmla="*/ 20 h 311"/>
                <a:gd name="T50" fmla="*/ 243 w 243"/>
                <a:gd name="T51" fmla="*/ 81 h 311"/>
                <a:gd name="T52" fmla="*/ 243 w 243"/>
                <a:gd name="T53" fmla="*/ 200 h 311"/>
                <a:gd name="T54" fmla="*/ 164 w 243"/>
                <a:gd name="T55" fmla="*/ 299 h 311"/>
                <a:gd name="T56" fmla="*/ 121 w 243"/>
                <a:gd name="T57" fmla="*/ 311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3" h="311">
                  <a:moveTo>
                    <a:pt x="48" y="44"/>
                  </a:moveTo>
                  <a:cubicBezTo>
                    <a:pt x="22" y="44"/>
                    <a:pt x="17" y="69"/>
                    <a:pt x="17" y="108"/>
                  </a:cubicBezTo>
                  <a:lnTo>
                    <a:pt x="17" y="200"/>
                  </a:lnTo>
                  <a:cubicBezTo>
                    <a:pt x="17" y="235"/>
                    <a:pt x="62" y="268"/>
                    <a:pt x="88" y="285"/>
                  </a:cubicBezTo>
                  <a:cubicBezTo>
                    <a:pt x="109" y="298"/>
                    <a:pt x="134" y="298"/>
                    <a:pt x="155" y="285"/>
                  </a:cubicBezTo>
                  <a:cubicBezTo>
                    <a:pt x="181" y="268"/>
                    <a:pt x="226" y="235"/>
                    <a:pt x="226" y="200"/>
                  </a:cubicBezTo>
                  <a:lnTo>
                    <a:pt x="226" y="81"/>
                  </a:lnTo>
                  <a:cubicBezTo>
                    <a:pt x="226" y="70"/>
                    <a:pt x="213" y="47"/>
                    <a:pt x="197" y="32"/>
                  </a:cubicBezTo>
                  <a:cubicBezTo>
                    <a:pt x="188" y="23"/>
                    <a:pt x="180" y="19"/>
                    <a:pt x="175" y="18"/>
                  </a:cubicBezTo>
                  <a:cubicBezTo>
                    <a:pt x="175" y="18"/>
                    <a:pt x="175" y="18"/>
                    <a:pt x="175" y="19"/>
                  </a:cubicBezTo>
                  <a:cubicBezTo>
                    <a:pt x="178" y="28"/>
                    <a:pt x="184" y="47"/>
                    <a:pt x="160" y="59"/>
                  </a:cubicBezTo>
                  <a:cubicBezTo>
                    <a:pt x="142" y="68"/>
                    <a:pt x="112" y="60"/>
                    <a:pt x="84" y="52"/>
                  </a:cubicBezTo>
                  <a:cubicBezTo>
                    <a:pt x="69" y="48"/>
                    <a:pt x="56" y="44"/>
                    <a:pt x="48" y="44"/>
                  </a:cubicBezTo>
                  <a:close/>
                  <a:moveTo>
                    <a:pt x="121" y="311"/>
                  </a:moveTo>
                  <a:cubicBezTo>
                    <a:pt x="107" y="311"/>
                    <a:pt x="92" y="307"/>
                    <a:pt x="79" y="299"/>
                  </a:cubicBezTo>
                  <a:cubicBezTo>
                    <a:pt x="43" y="276"/>
                    <a:pt x="0" y="241"/>
                    <a:pt x="0" y="200"/>
                  </a:cubicBezTo>
                  <a:lnTo>
                    <a:pt x="0" y="108"/>
                  </a:lnTo>
                  <a:cubicBezTo>
                    <a:pt x="0" y="84"/>
                    <a:pt x="0" y="27"/>
                    <a:pt x="48" y="27"/>
                  </a:cubicBezTo>
                  <a:cubicBezTo>
                    <a:pt x="58" y="27"/>
                    <a:pt x="72" y="31"/>
                    <a:pt x="88" y="36"/>
                  </a:cubicBezTo>
                  <a:cubicBezTo>
                    <a:pt x="111" y="42"/>
                    <a:pt x="140" y="50"/>
                    <a:pt x="152" y="44"/>
                  </a:cubicBezTo>
                  <a:cubicBezTo>
                    <a:pt x="164" y="39"/>
                    <a:pt x="162" y="33"/>
                    <a:pt x="159" y="23"/>
                  </a:cubicBezTo>
                  <a:cubicBezTo>
                    <a:pt x="158" y="18"/>
                    <a:pt x="156" y="12"/>
                    <a:pt x="160" y="6"/>
                  </a:cubicBezTo>
                  <a:cubicBezTo>
                    <a:pt x="162" y="3"/>
                    <a:pt x="166" y="1"/>
                    <a:pt x="171" y="1"/>
                  </a:cubicBezTo>
                  <a:lnTo>
                    <a:pt x="171" y="1"/>
                  </a:lnTo>
                  <a:cubicBezTo>
                    <a:pt x="185" y="0"/>
                    <a:pt x="199" y="11"/>
                    <a:pt x="209" y="20"/>
                  </a:cubicBezTo>
                  <a:cubicBezTo>
                    <a:pt x="225" y="36"/>
                    <a:pt x="243" y="63"/>
                    <a:pt x="243" y="81"/>
                  </a:cubicBezTo>
                  <a:lnTo>
                    <a:pt x="243" y="200"/>
                  </a:lnTo>
                  <a:cubicBezTo>
                    <a:pt x="243" y="241"/>
                    <a:pt x="200" y="276"/>
                    <a:pt x="164" y="299"/>
                  </a:cubicBezTo>
                  <a:cubicBezTo>
                    <a:pt x="151" y="307"/>
                    <a:pt x="136" y="311"/>
                    <a:pt x="121" y="311"/>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Freeform 500">
              <a:extLst>
                <a:ext uri="{FF2B5EF4-FFF2-40B4-BE49-F238E27FC236}">
                  <a16:creationId xmlns:a16="http://schemas.microsoft.com/office/drawing/2014/main" id="{8BA61A3D-0AD7-11F3-675B-59F9169698FA}"/>
                </a:ext>
              </a:extLst>
            </p:cNvPr>
            <p:cNvSpPr>
              <a:spLocks noEditPoints="1"/>
            </p:cNvSpPr>
            <p:nvPr/>
          </p:nvSpPr>
          <p:spPr bwMode="auto">
            <a:xfrm>
              <a:off x="6413501" y="2011363"/>
              <a:ext cx="44450" cy="85725"/>
            </a:xfrm>
            <a:custGeom>
              <a:avLst/>
              <a:gdLst>
                <a:gd name="T0" fmla="*/ 27 w 55"/>
                <a:gd name="T1" fmla="*/ 17 h 107"/>
                <a:gd name="T2" fmla="*/ 16 w 55"/>
                <a:gd name="T3" fmla="*/ 27 h 107"/>
                <a:gd name="T4" fmla="*/ 16 w 55"/>
                <a:gd name="T5" fmla="*/ 30 h 107"/>
                <a:gd name="T6" fmla="*/ 26 w 55"/>
                <a:gd name="T7" fmla="*/ 75 h 107"/>
                <a:gd name="T8" fmla="*/ 39 w 55"/>
                <a:gd name="T9" fmla="*/ 89 h 107"/>
                <a:gd name="T10" fmla="*/ 38 w 55"/>
                <a:gd name="T11" fmla="*/ 17 h 107"/>
                <a:gd name="T12" fmla="*/ 27 w 55"/>
                <a:gd name="T13" fmla="*/ 17 h 107"/>
                <a:gd name="T14" fmla="*/ 55 w 55"/>
                <a:gd name="T15" fmla="*/ 107 h 107"/>
                <a:gd name="T16" fmla="*/ 47 w 55"/>
                <a:gd name="T17" fmla="*/ 107 h 107"/>
                <a:gd name="T18" fmla="*/ 12 w 55"/>
                <a:gd name="T19" fmla="*/ 82 h 107"/>
                <a:gd name="T20" fmla="*/ 0 w 55"/>
                <a:gd name="T21" fmla="*/ 30 h 107"/>
                <a:gd name="T22" fmla="*/ 0 w 55"/>
                <a:gd name="T23" fmla="*/ 27 h 107"/>
                <a:gd name="T24" fmla="*/ 27 w 55"/>
                <a:gd name="T25" fmla="*/ 0 h 107"/>
                <a:gd name="T26" fmla="*/ 55 w 55"/>
                <a:gd name="T27" fmla="*/ 0 h 107"/>
                <a:gd name="T28" fmla="*/ 55 w 55"/>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 h="107">
                  <a:moveTo>
                    <a:pt x="27" y="17"/>
                  </a:moveTo>
                  <a:cubicBezTo>
                    <a:pt x="21" y="17"/>
                    <a:pt x="16" y="21"/>
                    <a:pt x="16" y="27"/>
                  </a:cubicBezTo>
                  <a:lnTo>
                    <a:pt x="16" y="30"/>
                  </a:lnTo>
                  <a:cubicBezTo>
                    <a:pt x="16" y="46"/>
                    <a:pt x="20" y="62"/>
                    <a:pt x="26" y="75"/>
                  </a:cubicBezTo>
                  <a:cubicBezTo>
                    <a:pt x="31" y="83"/>
                    <a:pt x="34" y="87"/>
                    <a:pt x="39" y="89"/>
                  </a:cubicBezTo>
                  <a:lnTo>
                    <a:pt x="38" y="17"/>
                  </a:lnTo>
                  <a:lnTo>
                    <a:pt x="27" y="17"/>
                  </a:lnTo>
                  <a:close/>
                  <a:moveTo>
                    <a:pt x="55" y="107"/>
                  </a:moveTo>
                  <a:lnTo>
                    <a:pt x="47" y="107"/>
                  </a:lnTo>
                  <a:cubicBezTo>
                    <a:pt x="28" y="107"/>
                    <a:pt x="19" y="98"/>
                    <a:pt x="12" y="82"/>
                  </a:cubicBezTo>
                  <a:cubicBezTo>
                    <a:pt x="4" y="67"/>
                    <a:pt x="0" y="49"/>
                    <a:pt x="0" y="30"/>
                  </a:cubicBezTo>
                  <a:lnTo>
                    <a:pt x="0" y="27"/>
                  </a:lnTo>
                  <a:cubicBezTo>
                    <a:pt x="0" y="12"/>
                    <a:pt x="12" y="0"/>
                    <a:pt x="27" y="0"/>
                  </a:cubicBezTo>
                  <a:lnTo>
                    <a:pt x="55" y="0"/>
                  </a:lnTo>
                  <a:lnTo>
                    <a:pt x="55" y="10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Freeform 501">
              <a:extLst>
                <a:ext uri="{FF2B5EF4-FFF2-40B4-BE49-F238E27FC236}">
                  <a16:creationId xmlns:a16="http://schemas.microsoft.com/office/drawing/2014/main" id="{F670AEEF-1405-733F-98C1-19D16521597C}"/>
                </a:ext>
              </a:extLst>
            </p:cNvPr>
            <p:cNvSpPr>
              <a:spLocks/>
            </p:cNvSpPr>
            <p:nvPr/>
          </p:nvSpPr>
          <p:spPr bwMode="auto">
            <a:xfrm>
              <a:off x="6411914" y="1846263"/>
              <a:ext cx="260350" cy="174625"/>
            </a:xfrm>
            <a:custGeom>
              <a:avLst/>
              <a:gdLst>
                <a:gd name="T0" fmla="*/ 9 w 323"/>
                <a:gd name="T1" fmla="*/ 217 h 217"/>
                <a:gd name="T2" fmla="*/ 4 w 323"/>
                <a:gd name="T3" fmla="*/ 186 h 217"/>
                <a:gd name="T4" fmla="*/ 11 w 323"/>
                <a:gd name="T5" fmla="*/ 105 h 217"/>
                <a:gd name="T6" fmla="*/ 161 w 323"/>
                <a:gd name="T7" fmla="*/ 2 h 217"/>
                <a:gd name="T8" fmla="*/ 312 w 323"/>
                <a:gd name="T9" fmla="*/ 105 h 217"/>
                <a:gd name="T10" fmla="*/ 318 w 323"/>
                <a:gd name="T11" fmla="*/ 186 h 217"/>
                <a:gd name="T12" fmla="*/ 313 w 323"/>
                <a:gd name="T13" fmla="*/ 217 h 217"/>
                <a:gd name="T14" fmla="*/ 297 w 323"/>
                <a:gd name="T15" fmla="*/ 214 h 217"/>
                <a:gd name="T16" fmla="*/ 302 w 323"/>
                <a:gd name="T17" fmla="*/ 184 h 217"/>
                <a:gd name="T18" fmla="*/ 296 w 323"/>
                <a:gd name="T19" fmla="*/ 111 h 217"/>
                <a:gd name="T20" fmla="*/ 161 w 323"/>
                <a:gd name="T21" fmla="*/ 18 h 217"/>
                <a:gd name="T22" fmla="*/ 26 w 323"/>
                <a:gd name="T23" fmla="*/ 111 h 217"/>
                <a:gd name="T24" fmla="*/ 21 w 323"/>
                <a:gd name="T25" fmla="*/ 184 h 217"/>
                <a:gd name="T26" fmla="*/ 26 w 323"/>
                <a:gd name="T27" fmla="*/ 214 h 217"/>
                <a:gd name="T28" fmla="*/ 9 w 323"/>
                <a:gd name="T29" fmla="*/ 21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3" h="217">
                  <a:moveTo>
                    <a:pt x="9" y="217"/>
                  </a:moveTo>
                  <a:lnTo>
                    <a:pt x="4" y="186"/>
                  </a:lnTo>
                  <a:cubicBezTo>
                    <a:pt x="0" y="157"/>
                    <a:pt x="2" y="129"/>
                    <a:pt x="11" y="105"/>
                  </a:cubicBezTo>
                  <a:cubicBezTo>
                    <a:pt x="34" y="41"/>
                    <a:pt x="95" y="0"/>
                    <a:pt x="161" y="2"/>
                  </a:cubicBezTo>
                  <a:cubicBezTo>
                    <a:pt x="228" y="0"/>
                    <a:pt x="288" y="41"/>
                    <a:pt x="312" y="105"/>
                  </a:cubicBezTo>
                  <a:cubicBezTo>
                    <a:pt x="321" y="129"/>
                    <a:pt x="323" y="157"/>
                    <a:pt x="318" y="186"/>
                  </a:cubicBezTo>
                  <a:lnTo>
                    <a:pt x="313" y="217"/>
                  </a:lnTo>
                  <a:lnTo>
                    <a:pt x="297" y="214"/>
                  </a:lnTo>
                  <a:lnTo>
                    <a:pt x="302" y="184"/>
                  </a:lnTo>
                  <a:cubicBezTo>
                    <a:pt x="306" y="157"/>
                    <a:pt x="304" y="132"/>
                    <a:pt x="296" y="111"/>
                  </a:cubicBezTo>
                  <a:cubicBezTo>
                    <a:pt x="275" y="54"/>
                    <a:pt x="222" y="17"/>
                    <a:pt x="161" y="18"/>
                  </a:cubicBezTo>
                  <a:cubicBezTo>
                    <a:pt x="102" y="17"/>
                    <a:pt x="47" y="54"/>
                    <a:pt x="26" y="111"/>
                  </a:cubicBezTo>
                  <a:cubicBezTo>
                    <a:pt x="18" y="132"/>
                    <a:pt x="16" y="157"/>
                    <a:pt x="21" y="184"/>
                  </a:cubicBezTo>
                  <a:lnTo>
                    <a:pt x="26" y="214"/>
                  </a:lnTo>
                  <a:lnTo>
                    <a:pt x="9" y="21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Freeform 502">
              <a:extLst>
                <a:ext uri="{FF2B5EF4-FFF2-40B4-BE49-F238E27FC236}">
                  <a16:creationId xmlns:a16="http://schemas.microsoft.com/office/drawing/2014/main" id="{C131AD56-618F-A940-AE7D-A89D9DDDDE33}"/>
                </a:ext>
              </a:extLst>
            </p:cNvPr>
            <p:cNvSpPr>
              <a:spLocks noEditPoints="1"/>
            </p:cNvSpPr>
            <p:nvPr/>
          </p:nvSpPr>
          <p:spPr bwMode="auto">
            <a:xfrm>
              <a:off x="6626226" y="2011363"/>
              <a:ext cx="44450" cy="85725"/>
            </a:xfrm>
            <a:custGeom>
              <a:avLst/>
              <a:gdLst>
                <a:gd name="T0" fmla="*/ 17 w 56"/>
                <a:gd name="T1" fmla="*/ 17 h 107"/>
                <a:gd name="T2" fmla="*/ 17 w 56"/>
                <a:gd name="T3" fmla="*/ 89 h 107"/>
                <a:gd name="T4" fmla="*/ 29 w 56"/>
                <a:gd name="T5" fmla="*/ 75 h 107"/>
                <a:gd name="T6" fmla="*/ 40 w 56"/>
                <a:gd name="T7" fmla="*/ 30 h 107"/>
                <a:gd name="T8" fmla="*/ 40 w 56"/>
                <a:gd name="T9" fmla="*/ 27 h 107"/>
                <a:gd name="T10" fmla="*/ 29 w 56"/>
                <a:gd name="T11" fmla="*/ 17 h 107"/>
                <a:gd name="T12" fmla="*/ 17 w 56"/>
                <a:gd name="T13" fmla="*/ 17 h 107"/>
                <a:gd name="T14" fmla="*/ 9 w 56"/>
                <a:gd name="T15" fmla="*/ 107 h 107"/>
                <a:gd name="T16" fmla="*/ 0 w 56"/>
                <a:gd name="T17" fmla="*/ 107 h 107"/>
                <a:gd name="T18" fmla="*/ 1 w 56"/>
                <a:gd name="T19" fmla="*/ 0 h 107"/>
                <a:gd name="T20" fmla="*/ 29 w 56"/>
                <a:gd name="T21" fmla="*/ 0 h 107"/>
                <a:gd name="T22" fmla="*/ 56 w 56"/>
                <a:gd name="T23" fmla="*/ 27 h 107"/>
                <a:gd name="T24" fmla="*/ 56 w 56"/>
                <a:gd name="T25" fmla="*/ 30 h 107"/>
                <a:gd name="T26" fmla="*/ 44 w 56"/>
                <a:gd name="T27" fmla="*/ 82 h 107"/>
                <a:gd name="T28" fmla="*/ 9 w 56"/>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107">
                  <a:moveTo>
                    <a:pt x="17" y="17"/>
                  </a:moveTo>
                  <a:lnTo>
                    <a:pt x="17" y="89"/>
                  </a:lnTo>
                  <a:cubicBezTo>
                    <a:pt x="22" y="87"/>
                    <a:pt x="25" y="83"/>
                    <a:pt x="29" y="75"/>
                  </a:cubicBezTo>
                  <a:cubicBezTo>
                    <a:pt x="36" y="62"/>
                    <a:pt x="40" y="46"/>
                    <a:pt x="40" y="30"/>
                  </a:cubicBezTo>
                  <a:lnTo>
                    <a:pt x="40" y="27"/>
                  </a:lnTo>
                  <a:cubicBezTo>
                    <a:pt x="40" y="21"/>
                    <a:pt x="35" y="17"/>
                    <a:pt x="29" y="17"/>
                  </a:cubicBezTo>
                  <a:lnTo>
                    <a:pt x="17" y="17"/>
                  </a:lnTo>
                  <a:close/>
                  <a:moveTo>
                    <a:pt x="9" y="107"/>
                  </a:moveTo>
                  <a:lnTo>
                    <a:pt x="0" y="107"/>
                  </a:lnTo>
                  <a:lnTo>
                    <a:pt x="1" y="0"/>
                  </a:lnTo>
                  <a:lnTo>
                    <a:pt x="29" y="0"/>
                  </a:lnTo>
                  <a:cubicBezTo>
                    <a:pt x="44" y="0"/>
                    <a:pt x="56" y="12"/>
                    <a:pt x="56" y="27"/>
                  </a:cubicBezTo>
                  <a:lnTo>
                    <a:pt x="56" y="30"/>
                  </a:lnTo>
                  <a:cubicBezTo>
                    <a:pt x="56" y="49"/>
                    <a:pt x="52" y="67"/>
                    <a:pt x="44" y="82"/>
                  </a:cubicBezTo>
                  <a:cubicBezTo>
                    <a:pt x="36" y="98"/>
                    <a:pt x="28" y="107"/>
                    <a:pt x="9" y="107"/>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Freeform 503">
              <a:extLst>
                <a:ext uri="{FF2B5EF4-FFF2-40B4-BE49-F238E27FC236}">
                  <a16:creationId xmlns:a16="http://schemas.microsoft.com/office/drawing/2014/main" id="{C6CC01A1-7014-5085-9CB1-733D692A200C}"/>
                </a:ext>
              </a:extLst>
            </p:cNvPr>
            <p:cNvSpPr>
              <a:spLocks noEditPoints="1"/>
            </p:cNvSpPr>
            <p:nvPr/>
          </p:nvSpPr>
          <p:spPr bwMode="auto">
            <a:xfrm>
              <a:off x="6530976" y="2166938"/>
              <a:ext cx="103188" cy="103188"/>
            </a:xfrm>
            <a:custGeom>
              <a:avLst/>
              <a:gdLst>
                <a:gd name="T0" fmla="*/ 25 w 128"/>
                <a:gd name="T1" fmla="*/ 72 h 127"/>
                <a:gd name="T2" fmla="*/ 56 w 128"/>
                <a:gd name="T3" fmla="*/ 104 h 127"/>
                <a:gd name="T4" fmla="*/ 106 w 128"/>
                <a:gd name="T5" fmla="*/ 56 h 127"/>
                <a:gd name="T6" fmla="*/ 81 w 128"/>
                <a:gd name="T7" fmla="*/ 24 h 127"/>
                <a:gd name="T8" fmla="*/ 25 w 128"/>
                <a:gd name="T9" fmla="*/ 72 h 127"/>
                <a:gd name="T10" fmla="*/ 55 w 128"/>
                <a:gd name="T11" fmla="*/ 127 h 127"/>
                <a:gd name="T12" fmla="*/ 0 w 128"/>
                <a:gd name="T13" fmla="*/ 71 h 127"/>
                <a:gd name="T14" fmla="*/ 84 w 128"/>
                <a:gd name="T15" fmla="*/ 0 h 127"/>
                <a:gd name="T16" fmla="*/ 128 w 128"/>
                <a:gd name="T17" fmla="*/ 57 h 127"/>
                <a:gd name="T18" fmla="*/ 55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5" y="72"/>
                  </a:moveTo>
                  <a:lnTo>
                    <a:pt x="56" y="104"/>
                  </a:lnTo>
                  <a:lnTo>
                    <a:pt x="106" y="56"/>
                  </a:lnTo>
                  <a:lnTo>
                    <a:pt x="81" y="24"/>
                  </a:lnTo>
                  <a:lnTo>
                    <a:pt x="25" y="72"/>
                  </a:lnTo>
                  <a:close/>
                  <a:moveTo>
                    <a:pt x="55" y="127"/>
                  </a:moveTo>
                  <a:lnTo>
                    <a:pt x="0" y="71"/>
                  </a:lnTo>
                  <a:lnTo>
                    <a:pt x="84" y="0"/>
                  </a:lnTo>
                  <a:lnTo>
                    <a:pt x="128" y="57"/>
                  </a:lnTo>
                  <a:lnTo>
                    <a:pt x="55"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Freeform 504">
              <a:extLst>
                <a:ext uri="{FF2B5EF4-FFF2-40B4-BE49-F238E27FC236}">
                  <a16:creationId xmlns:a16="http://schemas.microsoft.com/office/drawing/2014/main" id="{6AB016DD-102D-B938-D983-01D270127481}"/>
                </a:ext>
              </a:extLst>
            </p:cNvPr>
            <p:cNvSpPr>
              <a:spLocks noEditPoints="1"/>
            </p:cNvSpPr>
            <p:nvPr/>
          </p:nvSpPr>
          <p:spPr bwMode="auto">
            <a:xfrm>
              <a:off x="6448426" y="2166938"/>
              <a:ext cx="103188" cy="103188"/>
            </a:xfrm>
            <a:custGeom>
              <a:avLst/>
              <a:gdLst>
                <a:gd name="T0" fmla="*/ 22 w 128"/>
                <a:gd name="T1" fmla="*/ 56 h 127"/>
                <a:gd name="T2" fmla="*/ 72 w 128"/>
                <a:gd name="T3" fmla="*/ 104 h 127"/>
                <a:gd name="T4" fmla="*/ 103 w 128"/>
                <a:gd name="T5" fmla="*/ 72 h 127"/>
                <a:gd name="T6" fmla="*/ 47 w 128"/>
                <a:gd name="T7" fmla="*/ 24 h 127"/>
                <a:gd name="T8" fmla="*/ 22 w 128"/>
                <a:gd name="T9" fmla="*/ 56 h 127"/>
                <a:gd name="T10" fmla="*/ 73 w 128"/>
                <a:gd name="T11" fmla="*/ 127 h 127"/>
                <a:gd name="T12" fmla="*/ 0 w 128"/>
                <a:gd name="T13" fmla="*/ 57 h 127"/>
                <a:gd name="T14" fmla="*/ 44 w 128"/>
                <a:gd name="T15" fmla="*/ 0 h 127"/>
                <a:gd name="T16" fmla="*/ 128 w 128"/>
                <a:gd name="T17" fmla="*/ 71 h 127"/>
                <a:gd name="T18" fmla="*/ 73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2" y="56"/>
                  </a:moveTo>
                  <a:lnTo>
                    <a:pt x="72" y="104"/>
                  </a:lnTo>
                  <a:lnTo>
                    <a:pt x="103" y="72"/>
                  </a:lnTo>
                  <a:lnTo>
                    <a:pt x="47" y="24"/>
                  </a:lnTo>
                  <a:lnTo>
                    <a:pt x="22" y="56"/>
                  </a:lnTo>
                  <a:close/>
                  <a:moveTo>
                    <a:pt x="73" y="127"/>
                  </a:moveTo>
                  <a:lnTo>
                    <a:pt x="0" y="57"/>
                  </a:lnTo>
                  <a:lnTo>
                    <a:pt x="44" y="0"/>
                  </a:lnTo>
                  <a:lnTo>
                    <a:pt x="128" y="71"/>
                  </a:lnTo>
                  <a:lnTo>
                    <a:pt x="73"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Freeform 505">
              <a:extLst>
                <a:ext uri="{FF2B5EF4-FFF2-40B4-BE49-F238E27FC236}">
                  <a16:creationId xmlns:a16="http://schemas.microsoft.com/office/drawing/2014/main" id="{5F0D6ACB-26C1-847C-63AF-C50F6326C205}"/>
                </a:ext>
              </a:extLst>
            </p:cNvPr>
            <p:cNvSpPr>
              <a:spLocks/>
            </p:cNvSpPr>
            <p:nvPr/>
          </p:nvSpPr>
          <p:spPr bwMode="auto">
            <a:xfrm>
              <a:off x="6508751" y="2249488"/>
              <a:ext cx="66675" cy="31750"/>
            </a:xfrm>
            <a:custGeom>
              <a:avLst/>
              <a:gdLst>
                <a:gd name="T0" fmla="*/ 41 w 83"/>
                <a:gd name="T1" fmla="*/ 40 h 40"/>
                <a:gd name="T2" fmla="*/ 20 w 83"/>
                <a:gd name="T3" fmla="*/ 31 h 40"/>
                <a:gd name="T4" fmla="*/ 0 w 83"/>
                <a:gd name="T5" fmla="*/ 12 h 40"/>
                <a:gd name="T6" fmla="*/ 12 w 83"/>
                <a:gd name="T7" fmla="*/ 0 h 40"/>
                <a:gd name="T8" fmla="*/ 32 w 83"/>
                <a:gd name="T9" fmla="*/ 19 h 40"/>
                <a:gd name="T10" fmla="*/ 51 w 83"/>
                <a:gd name="T11" fmla="*/ 19 h 40"/>
                <a:gd name="T12" fmla="*/ 71 w 83"/>
                <a:gd name="T13" fmla="*/ 0 h 40"/>
                <a:gd name="T14" fmla="*/ 83 w 83"/>
                <a:gd name="T15" fmla="*/ 12 h 40"/>
                <a:gd name="T16" fmla="*/ 63 w 83"/>
                <a:gd name="T17" fmla="*/ 31 h 40"/>
                <a:gd name="T18" fmla="*/ 41 w 83"/>
                <a:gd name="T1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40">
                  <a:moveTo>
                    <a:pt x="41" y="40"/>
                  </a:moveTo>
                  <a:cubicBezTo>
                    <a:pt x="34" y="40"/>
                    <a:pt x="26" y="37"/>
                    <a:pt x="20" y="31"/>
                  </a:cubicBezTo>
                  <a:lnTo>
                    <a:pt x="0" y="12"/>
                  </a:lnTo>
                  <a:lnTo>
                    <a:pt x="12" y="0"/>
                  </a:lnTo>
                  <a:lnTo>
                    <a:pt x="32" y="19"/>
                  </a:lnTo>
                  <a:cubicBezTo>
                    <a:pt x="37" y="24"/>
                    <a:pt x="46" y="24"/>
                    <a:pt x="51" y="19"/>
                  </a:cubicBezTo>
                  <a:lnTo>
                    <a:pt x="71" y="0"/>
                  </a:lnTo>
                  <a:lnTo>
                    <a:pt x="83" y="12"/>
                  </a:lnTo>
                  <a:lnTo>
                    <a:pt x="63" y="31"/>
                  </a:lnTo>
                  <a:cubicBezTo>
                    <a:pt x="57" y="37"/>
                    <a:pt x="49" y="40"/>
                    <a:pt x="41" y="40"/>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Freeform 506">
              <a:extLst>
                <a:ext uri="{FF2B5EF4-FFF2-40B4-BE49-F238E27FC236}">
                  <a16:creationId xmlns:a16="http://schemas.microsoft.com/office/drawing/2014/main" id="{13BE35C6-1F54-7A41-A7B1-4A048FE501E1}"/>
                </a:ext>
              </a:extLst>
            </p:cNvPr>
            <p:cNvSpPr>
              <a:spLocks/>
            </p:cNvSpPr>
            <p:nvPr/>
          </p:nvSpPr>
          <p:spPr bwMode="auto">
            <a:xfrm>
              <a:off x="6508751" y="2268538"/>
              <a:ext cx="25400" cy="57150"/>
            </a:xfrm>
            <a:custGeom>
              <a:avLst/>
              <a:gdLst>
                <a:gd name="T0" fmla="*/ 8 w 16"/>
                <a:gd name="T1" fmla="*/ 36 h 36"/>
                <a:gd name="T2" fmla="*/ 0 w 16"/>
                <a:gd name="T3" fmla="*/ 34 h 36"/>
                <a:gd name="T4" fmla="*/ 8 w 16"/>
                <a:gd name="T5" fmla="*/ 0 h 36"/>
                <a:gd name="T6" fmla="*/ 16 w 16"/>
                <a:gd name="T7" fmla="*/ 2 h 36"/>
                <a:gd name="T8" fmla="*/ 8 w 16"/>
                <a:gd name="T9" fmla="*/ 36 h 36"/>
              </a:gdLst>
              <a:ahLst/>
              <a:cxnLst>
                <a:cxn ang="0">
                  <a:pos x="T0" y="T1"/>
                </a:cxn>
                <a:cxn ang="0">
                  <a:pos x="T2" y="T3"/>
                </a:cxn>
                <a:cxn ang="0">
                  <a:pos x="T4" y="T5"/>
                </a:cxn>
                <a:cxn ang="0">
                  <a:pos x="T6" y="T7"/>
                </a:cxn>
                <a:cxn ang="0">
                  <a:pos x="T8" y="T9"/>
                </a:cxn>
              </a:cxnLst>
              <a:rect l="0" t="0" r="r" b="b"/>
              <a:pathLst>
                <a:path w="16" h="36">
                  <a:moveTo>
                    <a:pt x="8" y="36"/>
                  </a:moveTo>
                  <a:lnTo>
                    <a:pt x="0" y="34"/>
                  </a:lnTo>
                  <a:lnTo>
                    <a:pt x="8" y="0"/>
                  </a:lnTo>
                  <a:lnTo>
                    <a:pt x="16" y="2"/>
                  </a:lnTo>
                  <a:lnTo>
                    <a:pt x="8"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7" name="Freeform 507">
              <a:extLst>
                <a:ext uri="{FF2B5EF4-FFF2-40B4-BE49-F238E27FC236}">
                  <a16:creationId xmlns:a16="http://schemas.microsoft.com/office/drawing/2014/main" id="{CB49E3B1-0A9B-3F42-E643-224665078AE7}"/>
                </a:ext>
              </a:extLst>
            </p:cNvPr>
            <p:cNvSpPr>
              <a:spLocks/>
            </p:cNvSpPr>
            <p:nvPr/>
          </p:nvSpPr>
          <p:spPr bwMode="auto">
            <a:xfrm>
              <a:off x="6548439" y="2268538"/>
              <a:ext cx="26988" cy="57150"/>
            </a:xfrm>
            <a:custGeom>
              <a:avLst/>
              <a:gdLst>
                <a:gd name="T0" fmla="*/ 9 w 17"/>
                <a:gd name="T1" fmla="*/ 36 h 36"/>
                <a:gd name="T2" fmla="*/ 0 w 17"/>
                <a:gd name="T3" fmla="*/ 2 h 36"/>
                <a:gd name="T4" fmla="*/ 9 w 17"/>
                <a:gd name="T5" fmla="*/ 0 h 36"/>
                <a:gd name="T6" fmla="*/ 17 w 17"/>
                <a:gd name="T7" fmla="*/ 34 h 36"/>
                <a:gd name="T8" fmla="*/ 9 w 17"/>
                <a:gd name="T9" fmla="*/ 36 h 36"/>
              </a:gdLst>
              <a:ahLst/>
              <a:cxnLst>
                <a:cxn ang="0">
                  <a:pos x="T0" y="T1"/>
                </a:cxn>
                <a:cxn ang="0">
                  <a:pos x="T2" y="T3"/>
                </a:cxn>
                <a:cxn ang="0">
                  <a:pos x="T4" y="T5"/>
                </a:cxn>
                <a:cxn ang="0">
                  <a:pos x="T6" y="T7"/>
                </a:cxn>
                <a:cxn ang="0">
                  <a:pos x="T8" y="T9"/>
                </a:cxn>
              </a:cxnLst>
              <a:rect l="0" t="0" r="r" b="b"/>
              <a:pathLst>
                <a:path w="17" h="36">
                  <a:moveTo>
                    <a:pt x="9" y="36"/>
                  </a:moveTo>
                  <a:lnTo>
                    <a:pt x="0" y="2"/>
                  </a:lnTo>
                  <a:lnTo>
                    <a:pt x="9" y="0"/>
                  </a:lnTo>
                  <a:lnTo>
                    <a:pt x="17" y="34"/>
                  </a:lnTo>
                  <a:lnTo>
                    <a:pt x="9"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8" name="Woman29" descr="{&quot;Key&quot;:&quot;POWER_USER_SHAPE_ICON&quot;,&quot;Value&quot;:&quot;POWER_USER_SHAPE_ICON_STYLE_1&quot;}">
            <a:extLst>
              <a:ext uri="{FF2B5EF4-FFF2-40B4-BE49-F238E27FC236}">
                <a16:creationId xmlns:a16="http://schemas.microsoft.com/office/drawing/2014/main" id="{F2D9407E-4404-F3F1-16C3-CF6606C91059}"/>
              </a:ext>
            </a:extLst>
          </p:cNvPr>
          <p:cNvGrpSpPr>
            <a:grpSpLocks noChangeAspect="1"/>
          </p:cNvGrpSpPr>
          <p:nvPr/>
        </p:nvGrpSpPr>
        <p:grpSpPr>
          <a:xfrm>
            <a:off x="229405" y="2084506"/>
            <a:ext cx="324000" cy="405325"/>
            <a:chOff x="3049573" y="285562"/>
            <a:chExt cx="588025" cy="755384"/>
          </a:xfrm>
        </p:grpSpPr>
        <p:sp>
          <p:nvSpPr>
            <p:cNvPr id="99" name="Freeform: Shape 98">
              <a:extLst>
                <a:ext uri="{FF2B5EF4-FFF2-40B4-BE49-F238E27FC236}">
                  <a16:creationId xmlns:a16="http://schemas.microsoft.com/office/drawing/2014/main" id="{C2A35ED1-A758-5743-4AB1-D8D287410D20}"/>
                </a:ext>
              </a:extLst>
            </p:cNvPr>
            <p:cNvSpPr/>
            <p:nvPr/>
          </p:nvSpPr>
          <p:spPr>
            <a:xfrm>
              <a:off x="3209793" y="747246"/>
              <a:ext cx="37681" cy="292030"/>
            </a:xfrm>
            <a:custGeom>
              <a:avLst/>
              <a:gdLst>
                <a:gd name="connsiteX0" fmla="*/ 38981 w 37681"/>
                <a:gd name="connsiteY0" fmla="*/ 293902 h 292030"/>
                <a:gd name="connsiteX1" fmla="*/ 0 w 37681"/>
                <a:gd name="connsiteY1" fmla="*/ 0 h 292030"/>
              </a:gdLst>
              <a:ahLst/>
              <a:cxnLst>
                <a:cxn ang="0">
                  <a:pos x="connsiteX0" y="connsiteY0"/>
                </a:cxn>
                <a:cxn ang="0">
                  <a:pos x="connsiteX1" y="connsiteY1"/>
                </a:cxn>
              </a:cxnLst>
              <a:rect l="l" t="t" r="r" b="b"/>
              <a:pathLst>
                <a:path w="37681" h="292030">
                  <a:moveTo>
                    <a:pt x="38981" y="293902"/>
                  </a:moveTo>
                  <a:cubicBezTo>
                    <a:pt x="38981" y="153702"/>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 name="Freeform: Shape 99">
              <a:extLst>
                <a:ext uri="{FF2B5EF4-FFF2-40B4-BE49-F238E27FC236}">
                  <a16:creationId xmlns:a16="http://schemas.microsoft.com/office/drawing/2014/main" id="{48DB9103-B8CC-0CD6-84DF-16209F0ED180}"/>
                </a:ext>
              </a:extLst>
            </p:cNvPr>
            <p:cNvSpPr/>
            <p:nvPr/>
          </p:nvSpPr>
          <p:spPr>
            <a:xfrm>
              <a:off x="3445840" y="747246"/>
              <a:ext cx="37681" cy="292030"/>
            </a:xfrm>
            <a:custGeom>
              <a:avLst/>
              <a:gdLst>
                <a:gd name="connsiteX0" fmla="*/ 0 w 37681"/>
                <a:gd name="connsiteY0" fmla="*/ 293902 h 292030"/>
                <a:gd name="connsiteX1" fmla="*/ 38981 w 37681"/>
                <a:gd name="connsiteY1" fmla="*/ 0 h 292030"/>
              </a:gdLst>
              <a:ahLst/>
              <a:cxnLst>
                <a:cxn ang="0">
                  <a:pos x="connsiteX0" y="connsiteY0"/>
                </a:cxn>
                <a:cxn ang="0">
                  <a:pos x="connsiteX1" y="connsiteY1"/>
                </a:cxn>
              </a:cxnLst>
              <a:rect l="l" t="t" r="r" b="b"/>
              <a:pathLst>
                <a:path w="37681" h="292030">
                  <a:moveTo>
                    <a:pt x="0" y="293902"/>
                  </a:moveTo>
                  <a:cubicBezTo>
                    <a:pt x="0" y="153702"/>
                    <a:pt x="38981" y="0"/>
                    <a:pt x="38981"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Freeform: Shape 100">
              <a:extLst>
                <a:ext uri="{FF2B5EF4-FFF2-40B4-BE49-F238E27FC236}">
                  <a16:creationId xmlns:a16="http://schemas.microsoft.com/office/drawing/2014/main" id="{3E09A0ED-D660-45BD-3387-B666DB203798}"/>
                </a:ext>
              </a:extLst>
            </p:cNvPr>
            <p:cNvSpPr/>
            <p:nvPr/>
          </p:nvSpPr>
          <p:spPr>
            <a:xfrm>
              <a:off x="3229595" y="847629"/>
              <a:ext cx="226088" cy="37681"/>
            </a:xfrm>
            <a:custGeom>
              <a:avLst/>
              <a:gdLst>
                <a:gd name="connsiteX0" fmla="*/ 0 w 226087"/>
                <a:gd name="connsiteY0" fmla="*/ 0 h 37681"/>
                <a:gd name="connsiteX1" fmla="*/ 117705 w 226087"/>
                <a:gd name="connsiteY1" fmla="*/ 39629 h 37681"/>
                <a:gd name="connsiteX2" fmla="*/ 235415 w 226087"/>
                <a:gd name="connsiteY2" fmla="*/ 0 h 37681"/>
              </a:gdLst>
              <a:ahLst/>
              <a:cxnLst>
                <a:cxn ang="0">
                  <a:pos x="connsiteX0" y="connsiteY0"/>
                </a:cxn>
                <a:cxn ang="0">
                  <a:pos x="connsiteX1" y="connsiteY1"/>
                </a:cxn>
                <a:cxn ang="0">
                  <a:pos x="connsiteX2" y="connsiteY2"/>
                </a:cxn>
              </a:cxnLst>
              <a:rect l="l" t="t" r="r" b="b"/>
              <a:pathLst>
                <a:path w="226087" h="37681">
                  <a:moveTo>
                    <a:pt x="0" y="0"/>
                  </a:moveTo>
                  <a:cubicBezTo>
                    <a:pt x="23527" y="23677"/>
                    <a:pt x="67370" y="39629"/>
                    <a:pt x="117705" y="39629"/>
                  </a:cubicBezTo>
                  <a:cubicBezTo>
                    <a:pt x="168040" y="39629"/>
                    <a:pt x="211888" y="23677"/>
                    <a:pt x="235415" y="0"/>
                  </a:cubicBezTo>
                </a:path>
              </a:pathLst>
            </a:custGeom>
            <a:noFill/>
            <a:ln w="19050" cap="flat">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9" name="Freeform: Shape 238">
              <a:extLst>
                <a:ext uri="{FF2B5EF4-FFF2-40B4-BE49-F238E27FC236}">
                  <a16:creationId xmlns:a16="http://schemas.microsoft.com/office/drawing/2014/main" id="{9E2B672D-0583-FF56-3D9D-852EE995847D}"/>
                </a:ext>
              </a:extLst>
            </p:cNvPr>
            <p:cNvSpPr/>
            <p:nvPr/>
          </p:nvSpPr>
          <p:spPr>
            <a:xfrm>
              <a:off x="3049573" y="466306"/>
              <a:ext cx="405074" cy="574640"/>
            </a:xfrm>
            <a:custGeom>
              <a:avLst/>
              <a:gdLst>
                <a:gd name="connsiteX0" fmla="*/ 7668 w 405074"/>
                <a:gd name="connsiteY0" fmla="*/ 574841 h 574640"/>
                <a:gd name="connsiteX1" fmla="*/ 0 w 405074"/>
                <a:gd name="connsiteY1" fmla="*/ 427884 h 574640"/>
                <a:gd name="connsiteX2" fmla="*/ 160220 w 405074"/>
                <a:gd name="connsiteY2" fmla="*/ 280939 h 574640"/>
                <a:gd name="connsiteX3" fmla="*/ 223296 w 405074"/>
                <a:gd name="connsiteY3" fmla="*/ 264310 h 574640"/>
                <a:gd name="connsiteX4" fmla="*/ 220838 w 405074"/>
                <a:gd name="connsiteY4" fmla="*/ 199937 h 574640"/>
                <a:gd name="connsiteX5" fmla="*/ 189393 w 405074"/>
                <a:gd name="connsiteY5" fmla="*/ 0 h 574640"/>
                <a:gd name="connsiteX6" fmla="*/ 412242 w 405074"/>
                <a:gd name="connsiteY6" fmla="*/ 21667 h 57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5074" h="574640">
                  <a:moveTo>
                    <a:pt x="7668" y="574841"/>
                  </a:moveTo>
                  <a:lnTo>
                    <a:pt x="0" y="427884"/>
                  </a:lnTo>
                  <a:cubicBezTo>
                    <a:pt x="0" y="352283"/>
                    <a:pt x="75579" y="308886"/>
                    <a:pt x="160220" y="280939"/>
                  </a:cubicBezTo>
                  <a:cubicBezTo>
                    <a:pt x="176734" y="275488"/>
                    <a:pt x="223296" y="264310"/>
                    <a:pt x="223296" y="264310"/>
                  </a:cubicBezTo>
                  <a:cubicBezTo>
                    <a:pt x="223983" y="247604"/>
                    <a:pt x="223233" y="219645"/>
                    <a:pt x="220838" y="199937"/>
                  </a:cubicBezTo>
                  <a:cubicBezTo>
                    <a:pt x="170420" y="131972"/>
                    <a:pt x="174300" y="35848"/>
                    <a:pt x="189393" y="0"/>
                  </a:cubicBezTo>
                  <a:cubicBezTo>
                    <a:pt x="225352" y="22006"/>
                    <a:pt x="314663" y="46047"/>
                    <a:pt x="412242" y="21667"/>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0" name="Freeform: Shape 239">
              <a:extLst>
                <a:ext uri="{FF2B5EF4-FFF2-40B4-BE49-F238E27FC236}">
                  <a16:creationId xmlns:a16="http://schemas.microsoft.com/office/drawing/2014/main" id="{00CCE8FA-7965-4F16-602B-23BEB190084E}"/>
                </a:ext>
              </a:extLst>
            </p:cNvPr>
            <p:cNvSpPr/>
            <p:nvPr/>
          </p:nvSpPr>
          <p:spPr>
            <a:xfrm>
              <a:off x="3383249" y="443836"/>
              <a:ext cx="254349" cy="593481"/>
            </a:xfrm>
            <a:custGeom>
              <a:avLst/>
              <a:gdLst>
                <a:gd name="connsiteX0" fmla="*/ 254119 w 254348"/>
                <a:gd name="connsiteY0" fmla="*/ 597312 h 593480"/>
                <a:gd name="connsiteX1" fmla="*/ 261792 w 254348"/>
                <a:gd name="connsiteY1" fmla="*/ 450355 h 593480"/>
                <a:gd name="connsiteX2" fmla="*/ 101573 w 254348"/>
                <a:gd name="connsiteY2" fmla="*/ 303410 h 593480"/>
                <a:gd name="connsiteX3" fmla="*/ 38456 w 254348"/>
                <a:gd name="connsiteY3" fmla="*/ 286730 h 593480"/>
                <a:gd name="connsiteX4" fmla="*/ 40806 w 254348"/>
                <a:gd name="connsiteY4" fmla="*/ 223601 h 593480"/>
                <a:gd name="connsiteX5" fmla="*/ 78567 w 254348"/>
                <a:gd name="connsiteY5" fmla="*/ 44138 h 593480"/>
                <a:gd name="connsiteX6" fmla="*/ 0 w 254348"/>
                <a:gd name="connsiteY6" fmla="*/ 0 h 59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348" h="593480">
                  <a:moveTo>
                    <a:pt x="254119" y="597312"/>
                  </a:moveTo>
                  <a:lnTo>
                    <a:pt x="261792" y="450355"/>
                  </a:lnTo>
                  <a:cubicBezTo>
                    <a:pt x="261792" y="374754"/>
                    <a:pt x="192421" y="327174"/>
                    <a:pt x="101573" y="303410"/>
                  </a:cubicBezTo>
                  <a:cubicBezTo>
                    <a:pt x="85779" y="299278"/>
                    <a:pt x="38456" y="286730"/>
                    <a:pt x="38456" y="286730"/>
                  </a:cubicBezTo>
                  <a:cubicBezTo>
                    <a:pt x="37774" y="270363"/>
                    <a:pt x="38466" y="242756"/>
                    <a:pt x="40806" y="223601"/>
                  </a:cubicBezTo>
                  <a:cubicBezTo>
                    <a:pt x="93099" y="152522"/>
                    <a:pt x="96465" y="83929"/>
                    <a:pt x="78567" y="44138"/>
                  </a:cubicBezTo>
                  <a:cubicBezTo>
                    <a:pt x="39315" y="31703"/>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1" name="Freeform: Shape 240">
              <a:extLst>
                <a:ext uri="{FF2B5EF4-FFF2-40B4-BE49-F238E27FC236}">
                  <a16:creationId xmlns:a16="http://schemas.microsoft.com/office/drawing/2014/main" id="{04FF2E76-C9B2-B524-9AD1-2DDD5D343066}"/>
                </a:ext>
              </a:extLst>
            </p:cNvPr>
            <p:cNvSpPr/>
            <p:nvPr/>
          </p:nvSpPr>
          <p:spPr>
            <a:xfrm>
              <a:off x="3152851" y="285562"/>
              <a:ext cx="386234" cy="480437"/>
            </a:xfrm>
            <a:custGeom>
              <a:avLst/>
              <a:gdLst>
                <a:gd name="connsiteX0" fmla="*/ 383695 w 386233"/>
                <a:gd name="connsiteY0" fmla="*/ 479344 h 480436"/>
                <a:gd name="connsiteX1" fmla="*/ 388714 w 386233"/>
                <a:gd name="connsiteY1" fmla="*/ 209470 h 480436"/>
                <a:gd name="connsiteX2" fmla="*/ 194444 w 386233"/>
                <a:gd name="connsiteY2" fmla="*/ 0 h 480436"/>
                <a:gd name="connsiteX3" fmla="*/ 107 w 386233"/>
                <a:gd name="connsiteY3" fmla="*/ 209646 h 480436"/>
                <a:gd name="connsiteX4" fmla="*/ 792 w 386233"/>
                <a:gd name="connsiteY4" fmla="*/ 483062 h 480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33" h="480436">
                  <a:moveTo>
                    <a:pt x="383695" y="479344"/>
                  </a:moveTo>
                  <a:cubicBezTo>
                    <a:pt x="334827" y="447063"/>
                    <a:pt x="391221" y="320103"/>
                    <a:pt x="388714" y="209470"/>
                  </a:cubicBezTo>
                  <a:cubicBezTo>
                    <a:pt x="388837" y="102141"/>
                    <a:pt x="307022" y="0"/>
                    <a:pt x="194444" y="0"/>
                  </a:cubicBezTo>
                  <a:cubicBezTo>
                    <a:pt x="83073" y="0"/>
                    <a:pt x="107" y="102292"/>
                    <a:pt x="107" y="209646"/>
                  </a:cubicBezTo>
                  <a:cubicBezTo>
                    <a:pt x="-2593" y="321949"/>
                    <a:pt x="47325" y="453168"/>
                    <a:pt x="792" y="483062"/>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2" name="Plan5" descr="{&quot;Key&quot;:&quot;POWER_USER_SHAPE_ICON&quot;,&quot;Value&quot;:&quot;POWER_USER_SHAPE_ICON_STYLE_1&quot;}">
            <a:extLst>
              <a:ext uri="{FF2B5EF4-FFF2-40B4-BE49-F238E27FC236}">
                <a16:creationId xmlns:a16="http://schemas.microsoft.com/office/drawing/2014/main" id="{32EFF54D-6BCC-0A53-A0E9-DA44E9C6886A}"/>
              </a:ext>
            </a:extLst>
          </p:cNvPr>
          <p:cNvGrpSpPr>
            <a:grpSpLocks noChangeAspect="1"/>
          </p:cNvGrpSpPr>
          <p:nvPr/>
        </p:nvGrpSpPr>
        <p:grpSpPr>
          <a:xfrm>
            <a:off x="395731" y="3030132"/>
            <a:ext cx="359997" cy="378154"/>
            <a:chOff x="8462963" y="1682750"/>
            <a:chExt cx="706430" cy="762001"/>
          </a:xfrm>
        </p:grpSpPr>
        <p:sp>
          <p:nvSpPr>
            <p:cNvPr id="243" name="Freeform 55">
              <a:extLst>
                <a:ext uri="{FF2B5EF4-FFF2-40B4-BE49-F238E27FC236}">
                  <a16:creationId xmlns:a16="http://schemas.microsoft.com/office/drawing/2014/main" id="{165E0868-55DF-20E4-C356-7A8A9985CFEC}"/>
                </a:ext>
              </a:extLst>
            </p:cNvPr>
            <p:cNvSpPr>
              <a:spLocks/>
            </p:cNvSpPr>
            <p:nvPr/>
          </p:nvSpPr>
          <p:spPr bwMode="auto">
            <a:xfrm>
              <a:off x="8462963" y="2109788"/>
              <a:ext cx="317500" cy="244475"/>
            </a:xfrm>
            <a:custGeom>
              <a:avLst/>
              <a:gdLst>
                <a:gd name="T0" fmla="*/ 124 w 424"/>
                <a:gd name="T1" fmla="*/ 325 h 325"/>
                <a:gd name="T2" fmla="*/ 7 w 424"/>
                <a:gd name="T3" fmla="*/ 141 h 325"/>
                <a:gd name="T4" fmla="*/ 14 w 424"/>
                <a:gd name="T5" fmla="*/ 115 h 325"/>
                <a:gd name="T6" fmla="*/ 259 w 424"/>
                <a:gd name="T7" fmla="*/ 5 h 325"/>
                <a:gd name="T8" fmla="*/ 291 w 424"/>
                <a:gd name="T9" fmla="*/ 16 h 325"/>
                <a:gd name="T10" fmla="*/ 424 w 424"/>
                <a:gd name="T11" fmla="*/ 228 h 325"/>
              </a:gdLst>
              <a:ahLst/>
              <a:cxnLst>
                <a:cxn ang="0">
                  <a:pos x="T0" y="T1"/>
                </a:cxn>
                <a:cxn ang="0">
                  <a:pos x="T2" y="T3"/>
                </a:cxn>
                <a:cxn ang="0">
                  <a:pos x="T4" y="T5"/>
                </a:cxn>
                <a:cxn ang="0">
                  <a:pos x="T6" y="T7"/>
                </a:cxn>
                <a:cxn ang="0">
                  <a:pos x="T8" y="T9"/>
                </a:cxn>
                <a:cxn ang="0">
                  <a:pos x="T10" y="T11"/>
                </a:cxn>
              </a:cxnLst>
              <a:rect l="0" t="0" r="r" b="b"/>
              <a:pathLst>
                <a:path w="424" h="325">
                  <a:moveTo>
                    <a:pt x="124" y="325"/>
                  </a:moveTo>
                  <a:lnTo>
                    <a:pt x="7" y="141"/>
                  </a:lnTo>
                  <a:cubicBezTo>
                    <a:pt x="0" y="130"/>
                    <a:pt x="3" y="119"/>
                    <a:pt x="14" y="115"/>
                  </a:cubicBezTo>
                  <a:lnTo>
                    <a:pt x="259" y="5"/>
                  </a:lnTo>
                  <a:cubicBezTo>
                    <a:pt x="273" y="0"/>
                    <a:pt x="282" y="3"/>
                    <a:pt x="291" y="16"/>
                  </a:cubicBezTo>
                  <a:lnTo>
                    <a:pt x="424" y="228"/>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4" name="Freeform 56">
              <a:extLst>
                <a:ext uri="{FF2B5EF4-FFF2-40B4-BE49-F238E27FC236}">
                  <a16:creationId xmlns:a16="http://schemas.microsoft.com/office/drawing/2014/main" id="{C276BE4F-F40D-737E-B358-56E94D8519BB}"/>
                </a:ext>
              </a:extLst>
            </p:cNvPr>
            <p:cNvSpPr>
              <a:spLocks/>
            </p:cNvSpPr>
            <p:nvPr/>
          </p:nvSpPr>
          <p:spPr bwMode="auto">
            <a:xfrm>
              <a:off x="8547093" y="2035175"/>
              <a:ext cx="622300" cy="409576"/>
            </a:xfrm>
            <a:custGeom>
              <a:avLst/>
              <a:gdLst>
                <a:gd name="T0" fmla="*/ 516 w 828"/>
                <a:gd name="T1" fmla="*/ 518 h 544"/>
                <a:gd name="T2" fmla="*/ 828 w 828"/>
                <a:gd name="T3" fmla="*/ 518 h 544"/>
                <a:gd name="T4" fmla="*/ 784 w 828"/>
                <a:gd name="T5" fmla="*/ 202 h 544"/>
                <a:gd name="T6" fmla="*/ 577 w 828"/>
                <a:gd name="T7" fmla="*/ 0 h 544"/>
                <a:gd name="T8" fmla="*/ 390 w 828"/>
                <a:gd name="T9" fmla="*/ 142 h 544"/>
                <a:gd name="T10" fmla="*/ 292 w 828"/>
                <a:gd name="T11" fmla="*/ 372 h 544"/>
                <a:gd name="T12" fmla="*/ 49 w 828"/>
                <a:gd name="T13" fmla="*/ 397 h 544"/>
                <a:gd name="T14" fmla="*/ 0 w 828"/>
                <a:gd name="T15" fmla="*/ 469 h 544"/>
                <a:gd name="T16" fmla="*/ 86 w 828"/>
                <a:gd name="T17" fmla="*/ 544 h 544"/>
                <a:gd name="T18" fmla="*/ 365 w 828"/>
                <a:gd name="T19" fmla="*/ 544 h 544"/>
                <a:gd name="T20" fmla="*/ 456 w 828"/>
                <a:gd name="T21" fmla="*/ 481 h 544"/>
                <a:gd name="T22" fmla="*/ 559 w 828"/>
                <a:gd name="T23" fmla="*/ 270 h 544"/>
                <a:gd name="T24" fmla="*/ 559 w 828"/>
                <a:gd name="T25" fmla="*/ 27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8" h="544">
                  <a:moveTo>
                    <a:pt x="516" y="518"/>
                  </a:moveTo>
                  <a:lnTo>
                    <a:pt x="828" y="518"/>
                  </a:lnTo>
                  <a:lnTo>
                    <a:pt x="784" y="202"/>
                  </a:lnTo>
                  <a:cubicBezTo>
                    <a:pt x="762" y="62"/>
                    <a:pt x="683" y="0"/>
                    <a:pt x="577" y="0"/>
                  </a:cubicBezTo>
                  <a:cubicBezTo>
                    <a:pt x="501" y="0"/>
                    <a:pt x="430" y="43"/>
                    <a:pt x="390" y="142"/>
                  </a:cubicBezTo>
                  <a:lnTo>
                    <a:pt x="292" y="372"/>
                  </a:lnTo>
                  <a:lnTo>
                    <a:pt x="49" y="397"/>
                  </a:lnTo>
                  <a:cubicBezTo>
                    <a:pt x="20" y="406"/>
                    <a:pt x="0" y="428"/>
                    <a:pt x="0" y="469"/>
                  </a:cubicBezTo>
                  <a:cubicBezTo>
                    <a:pt x="0" y="518"/>
                    <a:pt x="32" y="544"/>
                    <a:pt x="86" y="544"/>
                  </a:cubicBezTo>
                  <a:lnTo>
                    <a:pt x="365" y="544"/>
                  </a:lnTo>
                  <a:cubicBezTo>
                    <a:pt x="405" y="544"/>
                    <a:pt x="436" y="521"/>
                    <a:pt x="456" y="481"/>
                  </a:cubicBezTo>
                  <a:cubicBezTo>
                    <a:pt x="483" y="426"/>
                    <a:pt x="530" y="330"/>
                    <a:pt x="559" y="270"/>
                  </a:cubicBezTo>
                  <a:lnTo>
                    <a:pt x="559" y="270"/>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5" name="Line 57">
              <a:extLst>
                <a:ext uri="{FF2B5EF4-FFF2-40B4-BE49-F238E27FC236}">
                  <a16:creationId xmlns:a16="http://schemas.microsoft.com/office/drawing/2014/main" id="{7ACC0F0E-BD4D-6262-BEC2-38795008FAA3}"/>
                </a:ext>
              </a:extLst>
            </p:cNvPr>
            <p:cNvSpPr>
              <a:spLocks noChangeShapeType="1"/>
            </p:cNvSpPr>
            <p:nvPr/>
          </p:nvSpPr>
          <p:spPr bwMode="auto">
            <a:xfrm flipH="1">
              <a:off x="8593138" y="2265363"/>
              <a:ext cx="17463" cy="6667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6" name="Freeform 58">
              <a:extLst>
                <a:ext uri="{FF2B5EF4-FFF2-40B4-BE49-F238E27FC236}">
                  <a16:creationId xmlns:a16="http://schemas.microsoft.com/office/drawing/2014/main" id="{9DDB805D-8CD2-442A-664B-9F16262903CE}"/>
                </a:ext>
              </a:extLst>
            </p:cNvPr>
            <p:cNvSpPr>
              <a:spLocks/>
            </p:cNvSpPr>
            <p:nvPr/>
          </p:nvSpPr>
          <p:spPr bwMode="auto">
            <a:xfrm>
              <a:off x="8709025" y="1806575"/>
              <a:ext cx="279400" cy="204788"/>
            </a:xfrm>
            <a:custGeom>
              <a:avLst/>
              <a:gdLst>
                <a:gd name="T0" fmla="*/ 351 w 372"/>
                <a:gd name="T1" fmla="*/ 0 h 273"/>
                <a:gd name="T2" fmla="*/ 372 w 372"/>
                <a:gd name="T3" fmla="*/ 85 h 273"/>
                <a:gd name="T4" fmla="*/ 186 w 372"/>
                <a:gd name="T5" fmla="*/ 273 h 273"/>
                <a:gd name="T6" fmla="*/ 0 w 372"/>
                <a:gd name="T7" fmla="*/ 113 h 273"/>
              </a:gdLst>
              <a:ahLst/>
              <a:cxnLst>
                <a:cxn ang="0">
                  <a:pos x="T0" y="T1"/>
                </a:cxn>
                <a:cxn ang="0">
                  <a:pos x="T2" y="T3"/>
                </a:cxn>
                <a:cxn ang="0">
                  <a:pos x="T4" y="T5"/>
                </a:cxn>
                <a:cxn ang="0">
                  <a:pos x="T6" y="T7"/>
                </a:cxn>
              </a:cxnLst>
              <a:rect l="0" t="0" r="r" b="b"/>
              <a:pathLst>
                <a:path w="372" h="273">
                  <a:moveTo>
                    <a:pt x="351" y="0"/>
                  </a:moveTo>
                  <a:cubicBezTo>
                    <a:pt x="364" y="26"/>
                    <a:pt x="372" y="55"/>
                    <a:pt x="372" y="85"/>
                  </a:cubicBezTo>
                  <a:cubicBezTo>
                    <a:pt x="372" y="188"/>
                    <a:pt x="289" y="272"/>
                    <a:pt x="186" y="273"/>
                  </a:cubicBezTo>
                  <a:cubicBezTo>
                    <a:pt x="91" y="273"/>
                    <a:pt x="14" y="203"/>
                    <a:pt x="0" y="113"/>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7" name="Freeform 59">
              <a:extLst>
                <a:ext uri="{FF2B5EF4-FFF2-40B4-BE49-F238E27FC236}">
                  <a16:creationId xmlns:a16="http://schemas.microsoft.com/office/drawing/2014/main" id="{FEE054F8-2019-8796-D382-D242FEBB367E}"/>
                </a:ext>
              </a:extLst>
            </p:cNvPr>
            <p:cNvSpPr>
              <a:spLocks/>
            </p:cNvSpPr>
            <p:nvPr/>
          </p:nvSpPr>
          <p:spPr bwMode="auto">
            <a:xfrm>
              <a:off x="8667750" y="1682750"/>
              <a:ext cx="312738" cy="206375"/>
            </a:xfrm>
            <a:custGeom>
              <a:avLst/>
              <a:gdLst>
                <a:gd name="T0" fmla="*/ 418 w 418"/>
                <a:gd name="T1" fmla="*/ 145 h 274"/>
                <a:gd name="T2" fmla="*/ 222 w 418"/>
                <a:gd name="T3" fmla="*/ 0 h 274"/>
                <a:gd name="T4" fmla="*/ 165 w 418"/>
                <a:gd name="T5" fmla="*/ 9 h 274"/>
                <a:gd name="T6" fmla="*/ 37 w 418"/>
                <a:gd name="T7" fmla="*/ 274 h 274"/>
              </a:gdLst>
              <a:ahLst/>
              <a:cxnLst>
                <a:cxn ang="0">
                  <a:pos x="T0" y="T1"/>
                </a:cxn>
                <a:cxn ang="0">
                  <a:pos x="T2" y="T3"/>
                </a:cxn>
                <a:cxn ang="0">
                  <a:pos x="T4" y="T5"/>
                </a:cxn>
                <a:cxn ang="0">
                  <a:pos x="T6" y="T7"/>
                </a:cxn>
              </a:cxnLst>
              <a:rect l="0" t="0" r="r" b="b"/>
              <a:pathLst>
                <a:path w="418" h="274">
                  <a:moveTo>
                    <a:pt x="418" y="145"/>
                  </a:moveTo>
                  <a:cubicBezTo>
                    <a:pt x="396" y="67"/>
                    <a:pt x="314" y="0"/>
                    <a:pt x="222" y="0"/>
                  </a:cubicBezTo>
                  <a:cubicBezTo>
                    <a:pt x="203" y="0"/>
                    <a:pt x="184" y="3"/>
                    <a:pt x="165" y="9"/>
                  </a:cubicBezTo>
                  <a:cubicBezTo>
                    <a:pt x="61" y="43"/>
                    <a:pt x="0" y="154"/>
                    <a:pt x="37" y="274"/>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8" name="Line 60">
              <a:extLst>
                <a:ext uri="{FF2B5EF4-FFF2-40B4-BE49-F238E27FC236}">
                  <a16:creationId xmlns:a16="http://schemas.microsoft.com/office/drawing/2014/main" id="{87038BAA-FE3F-A0A1-6007-B7AA0E53F890}"/>
                </a:ext>
              </a:extLst>
            </p:cNvPr>
            <p:cNvSpPr>
              <a:spLocks noChangeShapeType="1"/>
            </p:cNvSpPr>
            <p:nvPr/>
          </p:nvSpPr>
          <p:spPr bwMode="auto">
            <a:xfrm flipH="1">
              <a:off x="8645525" y="1792288"/>
              <a:ext cx="347663" cy="11112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9" name="Employee6" descr="{&quot;Key&quot;:&quot;POWER_USER_SHAPE_ICON&quot;,&quot;Value&quot;:&quot;POWER_USER_SHAPE_ICON_STYLE_1&quot;}">
            <a:extLst>
              <a:ext uri="{FF2B5EF4-FFF2-40B4-BE49-F238E27FC236}">
                <a16:creationId xmlns:a16="http://schemas.microsoft.com/office/drawing/2014/main" id="{8DE154C1-65D7-DB1F-A2BB-E28F6A653780}"/>
              </a:ext>
            </a:extLst>
          </p:cNvPr>
          <p:cNvGrpSpPr>
            <a:grpSpLocks noChangeAspect="1"/>
          </p:cNvGrpSpPr>
          <p:nvPr/>
        </p:nvGrpSpPr>
        <p:grpSpPr>
          <a:xfrm>
            <a:off x="607604" y="2087499"/>
            <a:ext cx="324000" cy="400385"/>
            <a:chOff x="3584576" y="3348038"/>
            <a:chExt cx="230188" cy="292100"/>
          </a:xfrm>
          <a:solidFill>
            <a:schemeClr val="accent1"/>
          </a:solidFill>
        </p:grpSpPr>
        <p:sp>
          <p:nvSpPr>
            <p:cNvPr id="250" name="Freeform 1099">
              <a:extLst>
                <a:ext uri="{FF2B5EF4-FFF2-40B4-BE49-F238E27FC236}">
                  <a16:creationId xmlns:a16="http://schemas.microsoft.com/office/drawing/2014/main" id="{AB335945-7DCD-2A8A-8AD4-69A251CE1EB4}"/>
                </a:ext>
              </a:extLst>
            </p:cNvPr>
            <p:cNvSpPr>
              <a:spLocks/>
            </p:cNvSpPr>
            <p:nvPr/>
          </p:nvSpPr>
          <p:spPr bwMode="auto">
            <a:xfrm>
              <a:off x="3621088" y="3433763"/>
              <a:ext cx="44450" cy="36513"/>
            </a:xfrm>
            <a:custGeom>
              <a:avLst/>
              <a:gdLst>
                <a:gd name="T0" fmla="*/ 109 w 218"/>
                <a:gd name="T1" fmla="*/ 159 h 176"/>
                <a:gd name="T2" fmla="*/ 109 w 218"/>
                <a:gd name="T3" fmla="*/ 143 h 176"/>
                <a:gd name="T4" fmla="*/ 55 w 218"/>
                <a:gd name="T5" fmla="*/ 120 h 176"/>
                <a:gd name="T6" fmla="*/ 33 w 218"/>
                <a:gd name="T7" fmla="*/ 67 h 176"/>
                <a:gd name="T8" fmla="*/ 33 w 218"/>
                <a:gd name="T9" fmla="*/ 33 h 176"/>
                <a:gd name="T10" fmla="*/ 185 w 218"/>
                <a:gd name="T11" fmla="*/ 33 h 176"/>
                <a:gd name="T12" fmla="*/ 185 w 218"/>
                <a:gd name="T13" fmla="*/ 67 h 176"/>
                <a:gd name="T14" fmla="*/ 163 w 218"/>
                <a:gd name="T15" fmla="*/ 120 h 176"/>
                <a:gd name="T16" fmla="*/ 109 w 218"/>
                <a:gd name="T17" fmla="*/ 143 h 176"/>
                <a:gd name="T18" fmla="*/ 109 w 218"/>
                <a:gd name="T19" fmla="*/ 159 h 176"/>
                <a:gd name="T20" fmla="*/ 109 w 218"/>
                <a:gd name="T21" fmla="*/ 176 h 176"/>
                <a:gd name="T22" fmla="*/ 218 w 218"/>
                <a:gd name="T23" fmla="*/ 67 h 176"/>
                <a:gd name="T24" fmla="*/ 218 w 218"/>
                <a:gd name="T25" fmla="*/ 0 h 176"/>
                <a:gd name="T26" fmla="*/ 0 w 218"/>
                <a:gd name="T27" fmla="*/ 0 h 176"/>
                <a:gd name="T28" fmla="*/ 0 w 218"/>
                <a:gd name="T29" fmla="*/ 67 h 176"/>
                <a:gd name="T30" fmla="*/ 109 w 218"/>
                <a:gd name="T31" fmla="*/ 176 h 176"/>
                <a:gd name="T32" fmla="*/ 109 w 218"/>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8" h="176">
                  <a:moveTo>
                    <a:pt x="109" y="159"/>
                  </a:moveTo>
                  <a:lnTo>
                    <a:pt x="109" y="143"/>
                  </a:lnTo>
                  <a:cubicBezTo>
                    <a:pt x="88" y="143"/>
                    <a:pt x="69" y="134"/>
                    <a:pt x="55" y="120"/>
                  </a:cubicBezTo>
                  <a:cubicBezTo>
                    <a:pt x="41" y="107"/>
                    <a:pt x="33" y="88"/>
                    <a:pt x="33" y="67"/>
                  </a:cubicBezTo>
                  <a:lnTo>
                    <a:pt x="33" y="33"/>
                  </a:lnTo>
                  <a:lnTo>
                    <a:pt x="185" y="33"/>
                  </a:lnTo>
                  <a:lnTo>
                    <a:pt x="185" y="67"/>
                  </a:lnTo>
                  <a:cubicBezTo>
                    <a:pt x="185" y="88"/>
                    <a:pt x="176" y="107"/>
                    <a:pt x="163" y="120"/>
                  </a:cubicBezTo>
                  <a:cubicBezTo>
                    <a:pt x="149" y="134"/>
                    <a:pt x="130" y="143"/>
                    <a:pt x="109" y="143"/>
                  </a:cubicBezTo>
                  <a:lnTo>
                    <a:pt x="109" y="159"/>
                  </a:lnTo>
                  <a:lnTo>
                    <a:pt x="109" y="176"/>
                  </a:lnTo>
                  <a:cubicBezTo>
                    <a:pt x="169" y="176"/>
                    <a:pt x="218" y="127"/>
                    <a:pt x="218" y="67"/>
                  </a:cubicBezTo>
                  <a:lnTo>
                    <a:pt x="218" y="0"/>
                  </a:lnTo>
                  <a:lnTo>
                    <a:pt x="0" y="0"/>
                  </a:lnTo>
                  <a:lnTo>
                    <a:pt x="0" y="67"/>
                  </a:lnTo>
                  <a:cubicBezTo>
                    <a:pt x="0" y="127"/>
                    <a:pt x="48" y="176"/>
                    <a:pt x="109" y="176"/>
                  </a:cubicBezTo>
                  <a:lnTo>
                    <a:pt x="109" y="159"/>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1" name="Freeform 1100">
              <a:extLst>
                <a:ext uri="{FF2B5EF4-FFF2-40B4-BE49-F238E27FC236}">
                  <a16:creationId xmlns:a16="http://schemas.microsoft.com/office/drawing/2014/main" id="{FFAC8785-0A9E-8979-85C7-65405CBD8A89}"/>
                </a:ext>
              </a:extLst>
            </p:cNvPr>
            <p:cNvSpPr>
              <a:spLocks/>
            </p:cNvSpPr>
            <p:nvPr/>
          </p:nvSpPr>
          <p:spPr bwMode="auto">
            <a:xfrm>
              <a:off x="3671888" y="3433763"/>
              <a:ext cx="44450" cy="36513"/>
            </a:xfrm>
            <a:custGeom>
              <a:avLst/>
              <a:gdLst>
                <a:gd name="T0" fmla="*/ 109 w 219"/>
                <a:gd name="T1" fmla="*/ 159 h 176"/>
                <a:gd name="T2" fmla="*/ 109 w 219"/>
                <a:gd name="T3" fmla="*/ 143 h 176"/>
                <a:gd name="T4" fmla="*/ 56 w 219"/>
                <a:gd name="T5" fmla="*/ 120 h 176"/>
                <a:gd name="T6" fmla="*/ 33 w 219"/>
                <a:gd name="T7" fmla="*/ 67 h 176"/>
                <a:gd name="T8" fmla="*/ 33 w 219"/>
                <a:gd name="T9" fmla="*/ 33 h 176"/>
                <a:gd name="T10" fmla="*/ 185 w 219"/>
                <a:gd name="T11" fmla="*/ 33 h 176"/>
                <a:gd name="T12" fmla="*/ 185 w 219"/>
                <a:gd name="T13" fmla="*/ 67 h 176"/>
                <a:gd name="T14" fmla="*/ 163 w 219"/>
                <a:gd name="T15" fmla="*/ 120 h 176"/>
                <a:gd name="T16" fmla="*/ 109 w 219"/>
                <a:gd name="T17" fmla="*/ 143 h 176"/>
                <a:gd name="T18" fmla="*/ 109 w 219"/>
                <a:gd name="T19" fmla="*/ 159 h 176"/>
                <a:gd name="T20" fmla="*/ 109 w 219"/>
                <a:gd name="T21" fmla="*/ 176 h 176"/>
                <a:gd name="T22" fmla="*/ 219 w 219"/>
                <a:gd name="T23" fmla="*/ 67 h 176"/>
                <a:gd name="T24" fmla="*/ 219 w 219"/>
                <a:gd name="T25" fmla="*/ 0 h 176"/>
                <a:gd name="T26" fmla="*/ 0 w 219"/>
                <a:gd name="T27" fmla="*/ 0 h 176"/>
                <a:gd name="T28" fmla="*/ 0 w 219"/>
                <a:gd name="T29" fmla="*/ 67 h 176"/>
                <a:gd name="T30" fmla="*/ 109 w 219"/>
                <a:gd name="T31" fmla="*/ 176 h 176"/>
                <a:gd name="T32" fmla="*/ 109 w 219"/>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9" h="176">
                  <a:moveTo>
                    <a:pt x="109" y="159"/>
                  </a:moveTo>
                  <a:lnTo>
                    <a:pt x="109" y="143"/>
                  </a:lnTo>
                  <a:cubicBezTo>
                    <a:pt x="88" y="143"/>
                    <a:pt x="69" y="134"/>
                    <a:pt x="56" y="120"/>
                  </a:cubicBezTo>
                  <a:cubicBezTo>
                    <a:pt x="42" y="107"/>
                    <a:pt x="33" y="88"/>
                    <a:pt x="33" y="67"/>
                  </a:cubicBezTo>
                  <a:lnTo>
                    <a:pt x="33" y="33"/>
                  </a:lnTo>
                  <a:lnTo>
                    <a:pt x="185" y="33"/>
                  </a:lnTo>
                  <a:lnTo>
                    <a:pt x="185" y="67"/>
                  </a:lnTo>
                  <a:cubicBezTo>
                    <a:pt x="185" y="88"/>
                    <a:pt x="177" y="107"/>
                    <a:pt x="163" y="120"/>
                  </a:cubicBezTo>
                  <a:cubicBezTo>
                    <a:pt x="149" y="134"/>
                    <a:pt x="130" y="143"/>
                    <a:pt x="109" y="143"/>
                  </a:cubicBezTo>
                  <a:lnTo>
                    <a:pt x="109" y="159"/>
                  </a:lnTo>
                  <a:lnTo>
                    <a:pt x="109" y="176"/>
                  </a:lnTo>
                  <a:cubicBezTo>
                    <a:pt x="170" y="176"/>
                    <a:pt x="219" y="127"/>
                    <a:pt x="219" y="67"/>
                  </a:cubicBezTo>
                  <a:lnTo>
                    <a:pt x="219" y="0"/>
                  </a:lnTo>
                  <a:lnTo>
                    <a:pt x="0" y="0"/>
                  </a:lnTo>
                  <a:lnTo>
                    <a:pt x="0" y="67"/>
                  </a:lnTo>
                  <a:cubicBezTo>
                    <a:pt x="0" y="127"/>
                    <a:pt x="49" y="176"/>
                    <a:pt x="109" y="176"/>
                  </a:cubicBezTo>
                  <a:lnTo>
                    <a:pt x="109" y="15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2" name="Freeform 1101">
              <a:extLst>
                <a:ext uri="{FF2B5EF4-FFF2-40B4-BE49-F238E27FC236}">
                  <a16:creationId xmlns:a16="http://schemas.microsoft.com/office/drawing/2014/main" id="{6D3093C9-77A6-A4E0-E091-2E15499AE052}"/>
                </a:ext>
              </a:extLst>
            </p:cNvPr>
            <p:cNvSpPr>
              <a:spLocks/>
            </p:cNvSpPr>
            <p:nvPr/>
          </p:nvSpPr>
          <p:spPr bwMode="auto">
            <a:xfrm>
              <a:off x="3584576" y="3570288"/>
              <a:ext cx="60325" cy="69850"/>
            </a:xfrm>
            <a:custGeom>
              <a:avLst/>
              <a:gdLst>
                <a:gd name="T0" fmla="*/ 280 w 290"/>
                <a:gd name="T1" fmla="*/ 0 h 339"/>
                <a:gd name="T2" fmla="*/ 142 w 290"/>
                <a:gd name="T3" fmla="*/ 43 h 339"/>
                <a:gd name="T4" fmla="*/ 142 w 290"/>
                <a:gd name="T5" fmla="*/ 43 h 339"/>
                <a:gd name="T6" fmla="*/ 0 w 290"/>
                <a:gd name="T7" fmla="*/ 248 h 339"/>
                <a:gd name="T8" fmla="*/ 0 w 290"/>
                <a:gd name="T9" fmla="*/ 339 h 339"/>
                <a:gd name="T10" fmla="*/ 33 w 290"/>
                <a:gd name="T11" fmla="*/ 339 h 339"/>
                <a:gd name="T12" fmla="*/ 33 w 290"/>
                <a:gd name="T13" fmla="*/ 248 h 339"/>
                <a:gd name="T14" fmla="*/ 153 w 290"/>
                <a:gd name="T15" fmla="*/ 75 h 339"/>
                <a:gd name="T16" fmla="*/ 148 w 290"/>
                <a:gd name="T17" fmla="*/ 59 h 339"/>
                <a:gd name="T18" fmla="*/ 153 w 290"/>
                <a:gd name="T19" fmla="*/ 75 h 339"/>
                <a:gd name="T20" fmla="*/ 290 w 290"/>
                <a:gd name="T21" fmla="*/ 32 h 339"/>
                <a:gd name="T22" fmla="*/ 280 w 290"/>
                <a:gd name="T2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280" y="0"/>
                  </a:moveTo>
                  <a:lnTo>
                    <a:pt x="142" y="43"/>
                  </a:lnTo>
                  <a:lnTo>
                    <a:pt x="142" y="43"/>
                  </a:lnTo>
                  <a:cubicBezTo>
                    <a:pt x="56" y="75"/>
                    <a:pt x="0" y="157"/>
                    <a:pt x="0" y="248"/>
                  </a:cubicBezTo>
                  <a:lnTo>
                    <a:pt x="0" y="339"/>
                  </a:lnTo>
                  <a:lnTo>
                    <a:pt x="33" y="339"/>
                  </a:lnTo>
                  <a:lnTo>
                    <a:pt x="33" y="248"/>
                  </a:lnTo>
                  <a:cubicBezTo>
                    <a:pt x="33" y="170"/>
                    <a:pt x="81" y="101"/>
                    <a:pt x="153" y="75"/>
                  </a:cubicBezTo>
                  <a:lnTo>
                    <a:pt x="148" y="59"/>
                  </a:lnTo>
                  <a:lnTo>
                    <a:pt x="153" y="75"/>
                  </a:lnTo>
                  <a:lnTo>
                    <a:pt x="290" y="32"/>
                  </a:lnTo>
                  <a:lnTo>
                    <a:pt x="28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3" name="Freeform 1102">
              <a:extLst>
                <a:ext uri="{FF2B5EF4-FFF2-40B4-BE49-F238E27FC236}">
                  <a16:creationId xmlns:a16="http://schemas.microsoft.com/office/drawing/2014/main" id="{B1BF493F-5AEB-3C2B-EEEF-8919D5457DB6}"/>
                </a:ext>
              </a:extLst>
            </p:cNvPr>
            <p:cNvSpPr>
              <a:spLocks/>
            </p:cNvSpPr>
            <p:nvPr/>
          </p:nvSpPr>
          <p:spPr bwMode="auto">
            <a:xfrm>
              <a:off x="3660776" y="3530600"/>
              <a:ext cx="12700" cy="25400"/>
            </a:xfrm>
            <a:custGeom>
              <a:avLst/>
              <a:gdLst>
                <a:gd name="T0" fmla="*/ 27 w 60"/>
                <a:gd name="T1" fmla="*/ 2 h 124"/>
                <a:gd name="T2" fmla="*/ 27 w 60"/>
                <a:gd name="T3" fmla="*/ 2 h 124"/>
                <a:gd name="T4" fmla="*/ 27 w 60"/>
                <a:gd name="T5" fmla="*/ 5 h 124"/>
                <a:gd name="T6" fmla="*/ 0 w 60"/>
                <a:gd name="T7" fmla="*/ 108 h 124"/>
                <a:gd name="T8" fmla="*/ 29 w 60"/>
                <a:gd name="T9" fmla="*/ 124 h 124"/>
                <a:gd name="T10" fmla="*/ 60 w 60"/>
                <a:gd name="T11" fmla="*/ 5 h 124"/>
                <a:gd name="T12" fmla="*/ 60 w 60"/>
                <a:gd name="T13" fmla="*/ 0 h 124"/>
                <a:gd name="T14" fmla="*/ 27 w 60"/>
                <a:gd name="T15" fmla="*/ 2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124">
                  <a:moveTo>
                    <a:pt x="27" y="2"/>
                  </a:moveTo>
                  <a:lnTo>
                    <a:pt x="27" y="2"/>
                  </a:lnTo>
                  <a:cubicBezTo>
                    <a:pt x="27" y="3"/>
                    <a:pt x="27" y="4"/>
                    <a:pt x="27" y="5"/>
                  </a:cubicBezTo>
                  <a:cubicBezTo>
                    <a:pt x="27" y="17"/>
                    <a:pt x="25" y="60"/>
                    <a:pt x="0" y="108"/>
                  </a:cubicBezTo>
                  <a:lnTo>
                    <a:pt x="29" y="124"/>
                  </a:lnTo>
                  <a:cubicBezTo>
                    <a:pt x="58" y="69"/>
                    <a:pt x="60" y="21"/>
                    <a:pt x="60" y="5"/>
                  </a:cubicBezTo>
                  <a:cubicBezTo>
                    <a:pt x="60" y="2"/>
                    <a:pt x="60" y="1"/>
                    <a:pt x="60" y="0"/>
                  </a:cubicBezTo>
                  <a:lnTo>
                    <a:pt x="27" y="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4" name="Freeform 1103">
              <a:extLst>
                <a:ext uri="{FF2B5EF4-FFF2-40B4-BE49-F238E27FC236}">
                  <a16:creationId xmlns:a16="http://schemas.microsoft.com/office/drawing/2014/main" id="{58AEA87A-78F5-0CE2-2533-1CC9EE63507D}"/>
                </a:ext>
              </a:extLst>
            </p:cNvPr>
            <p:cNvSpPr>
              <a:spLocks/>
            </p:cNvSpPr>
            <p:nvPr/>
          </p:nvSpPr>
          <p:spPr bwMode="auto">
            <a:xfrm>
              <a:off x="3756026" y="3570288"/>
              <a:ext cx="58738" cy="69850"/>
            </a:xfrm>
            <a:custGeom>
              <a:avLst/>
              <a:gdLst>
                <a:gd name="T0" fmla="*/ 0 w 290"/>
                <a:gd name="T1" fmla="*/ 32 h 339"/>
                <a:gd name="T2" fmla="*/ 137 w 290"/>
                <a:gd name="T3" fmla="*/ 75 h 339"/>
                <a:gd name="T4" fmla="*/ 142 w 290"/>
                <a:gd name="T5" fmla="*/ 59 h 339"/>
                <a:gd name="T6" fmla="*/ 136 w 290"/>
                <a:gd name="T7" fmla="*/ 75 h 339"/>
                <a:gd name="T8" fmla="*/ 257 w 290"/>
                <a:gd name="T9" fmla="*/ 248 h 339"/>
                <a:gd name="T10" fmla="*/ 257 w 290"/>
                <a:gd name="T11" fmla="*/ 339 h 339"/>
                <a:gd name="T12" fmla="*/ 290 w 290"/>
                <a:gd name="T13" fmla="*/ 339 h 339"/>
                <a:gd name="T14" fmla="*/ 290 w 290"/>
                <a:gd name="T15" fmla="*/ 248 h 339"/>
                <a:gd name="T16" fmla="*/ 148 w 290"/>
                <a:gd name="T17" fmla="*/ 43 h 339"/>
                <a:gd name="T18" fmla="*/ 148 w 290"/>
                <a:gd name="T19" fmla="*/ 43 h 339"/>
                <a:gd name="T20" fmla="*/ 10 w 290"/>
                <a:gd name="T21" fmla="*/ 0 h 339"/>
                <a:gd name="T22" fmla="*/ 0 w 290"/>
                <a:gd name="T23" fmla="*/ 32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0" y="32"/>
                  </a:moveTo>
                  <a:lnTo>
                    <a:pt x="137" y="75"/>
                  </a:lnTo>
                  <a:lnTo>
                    <a:pt x="142" y="59"/>
                  </a:lnTo>
                  <a:lnTo>
                    <a:pt x="136" y="75"/>
                  </a:lnTo>
                  <a:cubicBezTo>
                    <a:pt x="209" y="101"/>
                    <a:pt x="257" y="170"/>
                    <a:pt x="257" y="248"/>
                  </a:cubicBezTo>
                  <a:lnTo>
                    <a:pt x="257" y="339"/>
                  </a:lnTo>
                  <a:lnTo>
                    <a:pt x="290" y="339"/>
                  </a:lnTo>
                  <a:lnTo>
                    <a:pt x="290" y="248"/>
                  </a:lnTo>
                  <a:cubicBezTo>
                    <a:pt x="290" y="157"/>
                    <a:pt x="233" y="75"/>
                    <a:pt x="148" y="43"/>
                  </a:cubicBezTo>
                  <a:lnTo>
                    <a:pt x="148" y="43"/>
                  </a:lnTo>
                  <a:lnTo>
                    <a:pt x="10" y="0"/>
                  </a:lnTo>
                  <a:lnTo>
                    <a:pt x="0" y="3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5" name="Freeform 1104">
              <a:extLst>
                <a:ext uri="{FF2B5EF4-FFF2-40B4-BE49-F238E27FC236}">
                  <a16:creationId xmlns:a16="http://schemas.microsoft.com/office/drawing/2014/main" id="{77460D04-06FC-0C40-54AE-EBAEAA0B116A}"/>
                </a:ext>
              </a:extLst>
            </p:cNvPr>
            <p:cNvSpPr>
              <a:spLocks/>
            </p:cNvSpPr>
            <p:nvPr/>
          </p:nvSpPr>
          <p:spPr bwMode="auto">
            <a:xfrm>
              <a:off x="3727451" y="3522663"/>
              <a:ext cx="11113" cy="33338"/>
            </a:xfrm>
            <a:custGeom>
              <a:avLst/>
              <a:gdLst>
                <a:gd name="T0" fmla="*/ 0 w 58"/>
                <a:gd name="T1" fmla="*/ 0 h 163"/>
                <a:gd name="T2" fmla="*/ 0 w 58"/>
                <a:gd name="T3" fmla="*/ 19 h 163"/>
                <a:gd name="T4" fmla="*/ 5 w 58"/>
                <a:gd name="T5" fmla="*/ 84 h 163"/>
                <a:gd name="T6" fmla="*/ 28 w 58"/>
                <a:gd name="T7" fmla="*/ 163 h 163"/>
                <a:gd name="T8" fmla="*/ 58 w 58"/>
                <a:gd name="T9" fmla="*/ 147 h 163"/>
                <a:gd name="T10" fmla="*/ 38 w 58"/>
                <a:gd name="T11" fmla="*/ 79 h 163"/>
                <a:gd name="T12" fmla="*/ 33 w 58"/>
                <a:gd name="T13" fmla="*/ 19 h 163"/>
                <a:gd name="T14" fmla="*/ 34 w 58"/>
                <a:gd name="T15" fmla="*/ 7 h 163"/>
                <a:gd name="T16" fmla="*/ 34 w 58"/>
                <a:gd name="T17" fmla="*/ 3 h 163"/>
                <a:gd name="T18" fmla="*/ 34 w 58"/>
                <a:gd name="T19" fmla="*/ 2 h 163"/>
                <a:gd name="T20" fmla="*/ 0 w 58"/>
                <a:gd name="T2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163">
                  <a:moveTo>
                    <a:pt x="0" y="0"/>
                  </a:moveTo>
                  <a:cubicBezTo>
                    <a:pt x="0" y="0"/>
                    <a:pt x="0" y="7"/>
                    <a:pt x="0" y="19"/>
                  </a:cubicBezTo>
                  <a:cubicBezTo>
                    <a:pt x="0" y="34"/>
                    <a:pt x="1" y="58"/>
                    <a:pt x="5" y="84"/>
                  </a:cubicBezTo>
                  <a:cubicBezTo>
                    <a:pt x="9" y="109"/>
                    <a:pt x="15" y="138"/>
                    <a:pt x="28" y="163"/>
                  </a:cubicBezTo>
                  <a:lnTo>
                    <a:pt x="58" y="147"/>
                  </a:lnTo>
                  <a:cubicBezTo>
                    <a:pt x="48" y="127"/>
                    <a:pt x="41" y="102"/>
                    <a:pt x="38" y="79"/>
                  </a:cubicBezTo>
                  <a:cubicBezTo>
                    <a:pt x="34" y="55"/>
                    <a:pt x="33" y="33"/>
                    <a:pt x="33" y="19"/>
                  </a:cubicBezTo>
                  <a:cubicBezTo>
                    <a:pt x="33" y="14"/>
                    <a:pt x="33" y="9"/>
                    <a:pt x="34" y="7"/>
                  </a:cubicBezTo>
                  <a:lnTo>
                    <a:pt x="34" y="3"/>
                  </a:lnTo>
                  <a:lnTo>
                    <a:pt x="34" y="2"/>
                  </a:lnTo>
                  <a:lnTo>
                    <a:pt x="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6" name="Freeform 1105">
              <a:extLst>
                <a:ext uri="{FF2B5EF4-FFF2-40B4-BE49-F238E27FC236}">
                  <a16:creationId xmlns:a16="http://schemas.microsoft.com/office/drawing/2014/main" id="{3071960A-8351-5C5A-D801-4E6CCB1DF61B}"/>
                </a:ext>
              </a:extLst>
            </p:cNvPr>
            <p:cNvSpPr>
              <a:spLocks/>
            </p:cNvSpPr>
            <p:nvPr/>
          </p:nvSpPr>
          <p:spPr bwMode="auto">
            <a:xfrm>
              <a:off x="3611563" y="3348038"/>
              <a:ext cx="117475" cy="80963"/>
            </a:xfrm>
            <a:custGeom>
              <a:avLst/>
              <a:gdLst>
                <a:gd name="T0" fmla="*/ 543 w 573"/>
                <a:gd name="T1" fmla="*/ 8 h 389"/>
                <a:gd name="T2" fmla="*/ 419 w 573"/>
                <a:gd name="T3" fmla="*/ 0 h 389"/>
                <a:gd name="T4" fmla="*/ 162 w 573"/>
                <a:gd name="T5" fmla="*/ 46 h 389"/>
                <a:gd name="T6" fmla="*/ 53 w 573"/>
                <a:gd name="T7" fmla="*/ 128 h 389"/>
                <a:gd name="T8" fmla="*/ 1 w 573"/>
                <a:gd name="T9" fmla="*/ 269 h 389"/>
                <a:gd name="T10" fmla="*/ 0 w 573"/>
                <a:gd name="T11" fmla="*/ 287 h 389"/>
                <a:gd name="T12" fmla="*/ 221 w 573"/>
                <a:gd name="T13" fmla="*/ 287 h 389"/>
                <a:gd name="T14" fmla="*/ 221 w 573"/>
                <a:gd name="T15" fmla="*/ 270 h 389"/>
                <a:gd name="T16" fmla="*/ 206 w 573"/>
                <a:gd name="T17" fmla="*/ 277 h 389"/>
                <a:gd name="T18" fmla="*/ 261 w 573"/>
                <a:gd name="T19" fmla="*/ 335 h 389"/>
                <a:gd name="T20" fmla="*/ 476 w 573"/>
                <a:gd name="T21" fmla="*/ 389 h 389"/>
                <a:gd name="T22" fmla="*/ 573 w 573"/>
                <a:gd name="T23" fmla="*/ 389 h 389"/>
                <a:gd name="T24" fmla="*/ 573 w 573"/>
                <a:gd name="T25" fmla="*/ 356 h 389"/>
                <a:gd name="T26" fmla="*/ 476 w 573"/>
                <a:gd name="T27" fmla="*/ 356 h 389"/>
                <a:gd name="T28" fmla="*/ 280 w 573"/>
                <a:gd name="T29" fmla="*/ 308 h 389"/>
                <a:gd name="T30" fmla="*/ 244 w 573"/>
                <a:gd name="T31" fmla="*/ 276 h 389"/>
                <a:gd name="T32" fmla="*/ 237 w 573"/>
                <a:gd name="T33" fmla="*/ 266 h 389"/>
                <a:gd name="T34" fmla="*/ 236 w 573"/>
                <a:gd name="T35" fmla="*/ 263 h 389"/>
                <a:gd name="T36" fmla="*/ 236 w 573"/>
                <a:gd name="T37" fmla="*/ 263 h 389"/>
                <a:gd name="T38" fmla="*/ 236 w 573"/>
                <a:gd name="T39" fmla="*/ 263 h 389"/>
                <a:gd name="T40" fmla="*/ 226 w 573"/>
                <a:gd name="T41" fmla="*/ 267 h 389"/>
                <a:gd name="T42" fmla="*/ 236 w 573"/>
                <a:gd name="T43" fmla="*/ 263 h 389"/>
                <a:gd name="T44" fmla="*/ 236 w 573"/>
                <a:gd name="T45" fmla="*/ 263 h 389"/>
                <a:gd name="T46" fmla="*/ 226 w 573"/>
                <a:gd name="T47" fmla="*/ 267 h 389"/>
                <a:gd name="T48" fmla="*/ 236 w 573"/>
                <a:gd name="T49" fmla="*/ 263 h 389"/>
                <a:gd name="T50" fmla="*/ 231 w 573"/>
                <a:gd name="T51" fmla="*/ 253 h 389"/>
                <a:gd name="T52" fmla="*/ 18 w 573"/>
                <a:gd name="T53" fmla="*/ 253 h 389"/>
                <a:gd name="T54" fmla="*/ 18 w 573"/>
                <a:gd name="T55" fmla="*/ 270 h 389"/>
                <a:gd name="T56" fmla="*/ 35 w 573"/>
                <a:gd name="T57" fmla="*/ 271 h 389"/>
                <a:gd name="T58" fmla="*/ 80 w 573"/>
                <a:gd name="T59" fmla="*/ 148 h 389"/>
                <a:gd name="T60" fmla="*/ 235 w 573"/>
                <a:gd name="T61" fmla="*/ 55 h 389"/>
                <a:gd name="T62" fmla="*/ 419 w 573"/>
                <a:gd name="T63" fmla="*/ 33 h 389"/>
                <a:gd name="T64" fmla="*/ 505 w 573"/>
                <a:gd name="T65" fmla="*/ 37 h 389"/>
                <a:gd name="T66" fmla="*/ 529 w 573"/>
                <a:gd name="T67" fmla="*/ 39 h 389"/>
                <a:gd name="T68" fmla="*/ 536 w 573"/>
                <a:gd name="T69" fmla="*/ 40 h 389"/>
                <a:gd name="T70" fmla="*/ 538 w 573"/>
                <a:gd name="T71" fmla="*/ 41 h 389"/>
                <a:gd name="T72" fmla="*/ 543 w 573"/>
                <a:gd name="T73" fmla="*/ 8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73" h="389">
                  <a:moveTo>
                    <a:pt x="543" y="8"/>
                  </a:moveTo>
                  <a:cubicBezTo>
                    <a:pt x="542" y="7"/>
                    <a:pt x="491" y="0"/>
                    <a:pt x="419" y="0"/>
                  </a:cubicBezTo>
                  <a:cubicBezTo>
                    <a:pt x="343" y="0"/>
                    <a:pt x="245" y="8"/>
                    <a:pt x="162" y="46"/>
                  </a:cubicBezTo>
                  <a:cubicBezTo>
                    <a:pt x="120" y="65"/>
                    <a:pt x="82" y="91"/>
                    <a:pt x="53" y="128"/>
                  </a:cubicBezTo>
                  <a:cubicBezTo>
                    <a:pt x="25" y="164"/>
                    <a:pt x="6" y="211"/>
                    <a:pt x="1" y="269"/>
                  </a:cubicBezTo>
                  <a:lnTo>
                    <a:pt x="0" y="287"/>
                  </a:lnTo>
                  <a:lnTo>
                    <a:pt x="221" y="287"/>
                  </a:lnTo>
                  <a:lnTo>
                    <a:pt x="221" y="270"/>
                  </a:lnTo>
                  <a:lnTo>
                    <a:pt x="206" y="277"/>
                  </a:lnTo>
                  <a:cubicBezTo>
                    <a:pt x="207" y="279"/>
                    <a:pt x="220" y="307"/>
                    <a:pt x="261" y="335"/>
                  </a:cubicBezTo>
                  <a:cubicBezTo>
                    <a:pt x="302" y="363"/>
                    <a:pt x="370" y="389"/>
                    <a:pt x="476" y="389"/>
                  </a:cubicBezTo>
                  <a:lnTo>
                    <a:pt x="573" y="389"/>
                  </a:lnTo>
                  <a:lnTo>
                    <a:pt x="573" y="356"/>
                  </a:lnTo>
                  <a:lnTo>
                    <a:pt x="476" y="356"/>
                  </a:lnTo>
                  <a:cubicBezTo>
                    <a:pt x="375" y="356"/>
                    <a:pt x="315" y="331"/>
                    <a:pt x="280" y="308"/>
                  </a:cubicBezTo>
                  <a:cubicBezTo>
                    <a:pt x="262" y="296"/>
                    <a:pt x="251" y="284"/>
                    <a:pt x="244" y="276"/>
                  </a:cubicBezTo>
                  <a:cubicBezTo>
                    <a:pt x="241" y="271"/>
                    <a:pt x="239" y="268"/>
                    <a:pt x="237" y="266"/>
                  </a:cubicBezTo>
                  <a:lnTo>
                    <a:pt x="236" y="263"/>
                  </a:lnTo>
                  <a:lnTo>
                    <a:pt x="236" y="263"/>
                  </a:lnTo>
                  <a:lnTo>
                    <a:pt x="236" y="263"/>
                  </a:lnTo>
                  <a:lnTo>
                    <a:pt x="226" y="267"/>
                  </a:lnTo>
                  <a:lnTo>
                    <a:pt x="236" y="263"/>
                  </a:lnTo>
                  <a:lnTo>
                    <a:pt x="236" y="263"/>
                  </a:lnTo>
                  <a:lnTo>
                    <a:pt x="226" y="267"/>
                  </a:lnTo>
                  <a:lnTo>
                    <a:pt x="236" y="263"/>
                  </a:lnTo>
                  <a:lnTo>
                    <a:pt x="231" y="253"/>
                  </a:lnTo>
                  <a:lnTo>
                    <a:pt x="18" y="253"/>
                  </a:lnTo>
                  <a:lnTo>
                    <a:pt x="18" y="270"/>
                  </a:lnTo>
                  <a:lnTo>
                    <a:pt x="35" y="271"/>
                  </a:lnTo>
                  <a:cubicBezTo>
                    <a:pt x="39" y="219"/>
                    <a:pt x="55" y="180"/>
                    <a:pt x="80" y="148"/>
                  </a:cubicBezTo>
                  <a:cubicBezTo>
                    <a:pt x="117" y="101"/>
                    <a:pt x="173" y="72"/>
                    <a:pt x="235" y="55"/>
                  </a:cubicBezTo>
                  <a:cubicBezTo>
                    <a:pt x="297" y="38"/>
                    <a:pt x="364" y="33"/>
                    <a:pt x="419" y="33"/>
                  </a:cubicBezTo>
                  <a:cubicBezTo>
                    <a:pt x="454" y="33"/>
                    <a:pt x="484" y="35"/>
                    <a:pt x="505" y="37"/>
                  </a:cubicBezTo>
                  <a:cubicBezTo>
                    <a:pt x="515" y="38"/>
                    <a:pt x="524" y="39"/>
                    <a:pt x="529" y="39"/>
                  </a:cubicBezTo>
                  <a:cubicBezTo>
                    <a:pt x="532" y="40"/>
                    <a:pt x="534" y="40"/>
                    <a:pt x="536" y="40"/>
                  </a:cubicBezTo>
                  <a:lnTo>
                    <a:pt x="538" y="41"/>
                  </a:lnTo>
                  <a:lnTo>
                    <a:pt x="543" y="8"/>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7" name="Freeform 1106">
              <a:extLst>
                <a:ext uri="{FF2B5EF4-FFF2-40B4-BE49-F238E27FC236}">
                  <a16:creationId xmlns:a16="http://schemas.microsoft.com/office/drawing/2014/main" id="{0DAC9698-093C-C6AD-2F6C-2FF22047AB7E}"/>
                </a:ext>
              </a:extLst>
            </p:cNvPr>
            <p:cNvSpPr>
              <a:spLocks/>
            </p:cNvSpPr>
            <p:nvPr/>
          </p:nvSpPr>
          <p:spPr bwMode="auto">
            <a:xfrm>
              <a:off x="3716338" y="3362325"/>
              <a:ext cx="61913" cy="98425"/>
            </a:xfrm>
            <a:custGeom>
              <a:avLst/>
              <a:gdLst>
                <a:gd name="T0" fmla="*/ 4 w 297"/>
                <a:gd name="T1" fmla="*/ 34 h 483"/>
                <a:gd name="T2" fmla="*/ 4 w 297"/>
                <a:gd name="T3" fmla="*/ 34 h 483"/>
                <a:gd name="T4" fmla="*/ 19 w 297"/>
                <a:gd name="T5" fmla="*/ 34 h 483"/>
                <a:gd name="T6" fmla="*/ 163 w 297"/>
                <a:gd name="T7" fmla="*/ 79 h 483"/>
                <a:gd name="T8" fmla="*/ 233 w 297"/>
                <a:gd name="T9" fmla="*/ 170 h 483"/>
                <a:gd name="T10" fmla="*/ 264 w 297"/>
                <a:gd name="T11" fmla="*/ 341 h 483"/>
                <a:gd name="T12" fmla="*/ 261 w 297"/>
                <a:gd name="T13" fmla="*/ 398 h 483"/>
                <a:gd name="T14" fmla="*/ 206 w 297"/>
                <a:gd name="T15" fmla="*/ 450 h 483"/>
                <a:gd name="T16" fmla="*/ 206 w 297"/>
                <a:gd name="T17" fmla="*/ 483 h 483"/>
                <a:gd name="T18" fmla="*/ 295 w 297"/>
                <a:gd name="T19" fmla="*/ 401 h 483"/>
                <a:gd name="T20" fmla="*/ 297 w 297"/>
                <a:gd name="T21" fmla="*/ 341 h 483"/>
                <a:gd name="T22" fmla="*/ 263 w 297"/>
                <a:gd name="T23" fmla="*/ 157 h 483"/>
                <a:gd name="T24" fmla="*/ 136 w 297"/>
                <a:gd name="T25" fmla="*/ 25 h 483"/>
                <a:gd name="T26" fmla="*/ 19 w 297"/>
                <a:gd name="T27" fmla="*/ 0 h 483"/>
                <a:gd name="T28" fmla="*/ 0 w 297"/>
                <a:gd name="T29" fmla="*/ 1 h 483"/>
                <a:gd name="T30" fmla="*/ 4 w 297"/>
                <a:gd name="T31" fmla="*/ 34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7" h="483">
                  <a:moveTo>
                    <a:pt x="4" y="34"/>
                  </a:moveTo>
                  <a:lnTo>
                    <a:pt x="4" y="34"/>
                  </a:lnTo>
                  <a:cubicBezTo>
                    <a:pt x="5" y="34"/>
                    <a:pt x="10" y="34"/>
                    <a:pt x="19" y="34"/>
                  </a:cubicBezTo>
                  <a:cubicBezTo>
                    <a:pt x="48" y="34"/>
                    <a:pt x="110" y="39"/>
                    <a:pt x="163" y="79"/>
                  </a:cubicBezTo>
                  <a:cubicBezTo>
                    <a:pt x="189" y="100"/>
                    <a:pt x="214" y="128"/>
                    <a:pt x="233" y="170"/>
                  </a:cubicBezTo>
                  <a:cubicBezTo>
                    <a:pt x="251" y="212"/>
                    <a:pt x="264" y="267"/>
                    <a:pt x="264" y="341"/>
                  </a:cubicBezTo>
                  <a:cubicBezTo>
                    <a:pt x="264" y="359"/>
                    <a:pt x="263" y="378"/>
                    <a:pt x="261" y="398"/>
                  </a:cubicBezTo>
                  <a:cubicBezTo>
                    <a:pt x="259" y="428"/>
                    <a:pt x="235" y="450"/>
                    <a:pt x="206" y="450"/>
                  </a:cubicBezTo>
                  <a:lnTo>
                    <a:pt x="206" y="483"/>
                  </a:lnTo>
                  <a:cubicBezTo>
                    <a:pt x="253" y="483"/>
                    <a:pt x="291" y="447"/>
                    <a:pt x="295" y="401"/>
                  </a:cubicBezTo>
                  <a:cubicBezTo>
                    <a:pt x="296" y="380"/>
                    <a:pt x="297" y="360"/>
                    <a:pt x="297" y="341"/>
                  </a:cubicBezTo>
                  <a:cubicBezTo>
                    <a:pt x="297" y="264"/>
                    <a:pt x="284" y="204"/>
                    <a:pt x="263" y="157"/>
                  </a:cubicBezTo>
                  <a:cubicBezTo>
                    <a:pt x="232" y="86"/>
                    <a:pt x="183" y="46"/>
                    <a:pt x="136" y="25"/>
                  </a:cubicBezTo>
                  <a:cubicBezTo>
                    <a:pt x="89" y="4"/>
                    <a:pt x="44" y="0"/>
                    <a:pt x="19" y="0"/>
                  </a:cubicBezTo>
                  <a:cubicBezTo>
                    <a:pt x="8" y="0"/>
                    <a:pt x="0" y="1"/>
                    <a:pt x="0" y="1"/>
                  </a:cubicBezTo>
                  <a:lnTo>
                    <a:pt x="4" y="34"/>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8" name="Freeform 1107">
              <a:extLst>
                <a:ext uri="{FF2B5EF4-FFF2-40B4-BE49-F238E27FC236}">
                  <a16:creationId xmlns:a16="http://schemas.microsoft.com/office/drawing/2014/main" id="{BE14BDDB-2B01-C529-F453-60EB8F3F0ADB}"/>
                </a:ext>
              </a:extLst>
            </p:cNvPr>
            <p:cNvSpPr>
              <a:spLocks/>
            </p:cNvSpPr>
            <p:nvPr/>
          </p:nvSpPr>
          <p:spPr bwMode="auto">
            <a:xfrm>
              <a:off x="3625851" y="3400425"/>
              <a:ext cx="139700" cy="136525"/>
            </a:xfrm>
            <a:custGeom>
              <a:avLst/>
              <a:gdLst>
                <a:gd name="T0" fmla="*/ 12 w 677"/>
                <a:gd name="T1" fmla="*/ 191 h 657"/>
                <a:gd name="T2" fmla="*/ 32 w 677"/>
                <a:gd name="T3" fmla="*/ 263 h 657"/>
                <a:gd name="T4" fmla="*/ 0 w 677"/>
                <a:gd name="T5" fmla="*/ 383 h 657"/>
                <a:gd name="T6" fmla="*/ 142 w 677"/>
                <a:gd name="T7" fmla="*/ 631 h 657"/>
                <a:gd name="T8" fmla="*/ 286 w 677"/>
                <a:gd name="T9" fmla="*/ 640 h 657"/>
                <a:gd name="T10" fmla="*/ 307 w 677"/>
                <a:gd name="T11" fmla="*/ 657 h 657"/>
                <a:gd name="T12" fmla="*/ 582 w 677"/>
                <a:gd name="T13" fmla="*/ 553 h 657"/>
                <a:gd name="T14" fmla="*/ 621 w 677"/>
                <a:gd name="T15" fmla="*/ 401 h 657"/>
                <a:gd name="T16" fmla="*/ 621 w 677"/>
                <a:gd name="T17" fmla="*/ 402 h 657"/>
                <a:gd name="T18" fmla="*/ 604 w 677"/>
                <a:gd name="T19" fmla="*/ 328 h 657"/>
                <a:gd name="T20" fmla="*/ 606 w 677"/>
                <a:gd name="T21" fmla="*/ 345 h 657"/>
                <a:gd name="T22" fmla="*/ 606 w 677"/>
                <a:gd name="T23" fmla="*/ 202 h 657"/>
                <a:gd name="T24" fmla="*/ 590 w 677"/>
                <a:gd name="T25" fmla="*/ 219 h 657"/>
                <a:gd name="T26" fmla="*/ 608 w 677"/>
                <a:gd name="T27" fmla="*/ 185 h 657"/>
                <a:gd name="T28" fmla="*/ 561 w 677"/>
                <a:gd name="T29" fmla="*/ 13 h 657"/>
                <a:gd name="T30" fmla="*/ 568 w 677"/>
                <a:gd name="T31" fmla="*/ 106 h 657"/>
                <a:gd name="T32" fmla="*/ 574 w 677"/>
                <a:gd name="T33" fmla="*/ 209 h 657"/>
                <a:gd name="T34" fmla="*/ 574 w 677"/>
                <a:gd name="T35" fmla="*/ 217 h 657"/>
                <a:gd name="T36" fmla="*/ 606 w 677"/>
                <a:gd name="T37" fmla="*/ 235 h 657"/>
                <a:gd name="T38" fmla="*/ 606 w 677"/>
                <a:gd name="T39" fmla="*/ 311 h 657"/>
                <a:gd name="T40" fmla="*/ 588 w 677"/>
                <a:gd name="T41" fmla="*/ 311 h 657"/>
                <a:gd name="T42" fmla="*/ 588 w 677"/>
                <a:gd name="T43" fmla="*/ 404 h 657"/>
                <a:gd name="T44" fmla="*/ 556 w 677"/>
                <a:gd name="T45" fmla="*/ 533 h 657"/>
                <a:gd name="T46" fmla="*/ 307 w 677"/>
                <a:gd name="T47" fmla="*/ 624 h 657"/>
                <a:gd name="T48" fmla="*/ 288 w 677"/>
                <a:gd name="T49" fmla="*/ 623 h 657"/>
                <a:gd name="T50" fmla="*/ 286 w 677"/>
                <a:gd name="T51" fmla="*/ 623 h 657"/>
                <a:gd name="T52" fmla="*/ 155 w 677"/>
                <a:gd name="T53" fmla="*/ 600 h 657"/>
                <a:gd name="T54" fmla="*/ 33 w 677"/>
                <a:gd name="T55" fmla="*/ 383 h 657"/>
                <a:gd name="T56" fmla="*/ 46 w 677"/>
                <a:gd name="T57" fmla="*/ 276 h 657"/>
                <a:gd name="T58" fmla="*/ 48 w 677"/>
                <a:gd name="T59" fmla="*/ 268 h 657"/>
                <a:gd name="T60" fmla="*/ 49 w 677"/>
                <a:gd name="T61" fmla="*/ 264 h 657"/>
                <a:gd name="T62" fmla="*/ 45 w 677"/>
                <a:gd name="T63" fmla="*/ 191 h 657"/>
                <a:gd name="T64" fmla="*/ 50 w 677"/>
                <a:gd name="T65"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7" h="657">
                  <a:moveTo>
                    <a:pt x="50" y="0"/>
                  </a:moveTo>
                  <a:cubicBezTo>
                    <a:pt x="30" y="42"/>
                    <a:pt x="12" y="104"/>
                    <a:pt x="12" y="191"/>
                  </a:cubicBezTo>
                  <a:cubicBezTo>
                    <a:pt x="12" y="214"/>
                    <a:pt x="13" y="238"/>
                    <a:pt x="16" y="264"/>
                  </a:cubicBezTo>
                  <a:lnTo>
                    <a:pt x="32" y="263"/>
                  </a:lnTo>
                  <a:lnTo>
                    <a:pt x="16" y="258"/>
                  </a:lnTo>
                  <a:cubicBezTo>
                    <a:pt x="16" y="259"/>
                    <a:pt x="0" y="314"/>
                    <a:pt x="0" y="383"/>
                  </a:cubicBezTo>
                  <a:cubicBezTo>
                    <a:pt x="0" y="441"/>
                    <a:pt x="11" y="508"/>
                    <a:pt x="53" y="563"/>
                  </a:cubicBezTo>
                  <a:cubicBezTo>
                    <a:pt x="74" y="591"/>
                    <a:pt x="103" y="614"/>
                    <a:pt x="142" y="631"/>
                  </a:cubicBezTo>
                  <a:cubicBezTo>
                    <a:pt x="180" y="647"/>
                    <a:pt x="227" y="657"/>
                    <a:pt x="286" y="657"/>
                  </a:cubicBezTo>
                  <a:lnTo>
                    <a:pt x="286" y="640"/>
                  </a:lnTo>
                  <a:lnTo>
                    <a:pt x="285" y="657"/>
                  </a:lnTo>
                  <a:cubicBezTo>
                    <a:pt x="285" y="657"/>
                    <a:pt x="293" y="657"/>
                    <a:pt x="307" y="657"/>
                  </a:cubicBezTo>
                  <a:cubicBezTo>
                    <a:pt x="345" y="657"/>
                    <a:pt x="421" y="653"/>
                    <a:pt x="490" y="623"/>
                  </a:cubicBezTo>
                  <a:cubicBezTo>
                    <a:pt x="525" y="608"/>
                    <a:pt x="558" y="586"/>
                    <a:pt x="582" y="553"/>
                  </a:cubicBezTo>
                  <a:cubicBezTo>
                    <a:pt x="607" y="521"/>
                    <a:pt x="622" y="479"/>
                    <a:pt x="622" y="426"/>
                  </a:cubicBezTo>
                  <a:cubicBezTo>
                    <a:pt x="622" y="418"/>
                    <a:pt x="622" y="409"/>
                    <a:pt x="621" y="401"/>
                  </a:cubicBezTo>
                  <a:lnTo>
                    <a:pt x="604" y="402"/>
                  </a:lnTo>
                  <a:lnTo>
                    <a:pt x="621" y="402"/>
                  </a:lnTo>
                  <a:lnTo>
                    <a:pt x="621" y="328"/>
                  </a:lnTo>
                  <a:lnTo>
                    <a:pt x="604" y="328"/>
                  </a:lnTo>
                  <a:lnTo>
                    <a:pt x="604" y="345"/>
                  </a:lnTo>
                  <a:lnTo>
                    <a:pt x="606" y="345"/>
                  </a:lnTo>
                  <a:cubicBezTo>
                    <a:pt x="645" y="345"/>
                    <a:pt x="677" y="313"/>
                    <a:pt x="677" y="273"/>
                  </a:cubicBezTo>
                  <a:cubicBezTo>
                    <a:pt x="677" y="234"/>
                    <a:pt x="645" y="202"/>
                    <a:pt x="606" y="202"/>
                  </a:cubicBezTo>
                  <a:lnTo>
                    <a:pt x="590" y="202"/>
                  </a:lnTo>
                  <a:lnTo>
                    <a:pt x="590" y="219"/>
                  </a:lnTo>
                  <a:lnTo>
                    <a:pt x="607" y="220"/>
                  </a:lnTo>
                  <a:cubicBezTo>
                    <a:pt x="607" y="220"/>
                    <a:pt x="608" y="206"/>
                    <a:pt x="608" y="185"/>
                  </a:cubicBezTo>
                  <a:cubicBezTo>
                    <a:pt x="608" y="162"/>
                    <a:pt x="607" y="131"/>
                    <a:pt x="600" y="100"/>
                  </a:cubicBezTo>
                  <a:cubicBezTo>
                    <a:pt x="594" y="68"/>
                    <a:pt x="583" y="37"/>
                    <a:pt x="561" y="13"/>
                  </a:cubicBezTo>
                  <a:lnTo>
                    <a:pt x="537" y="36"/>
                  </a:lnTo>
                  <a:cubicBezTo>
                    <a:pt x="552" y="52"/>
                    <a:pt x="562" y="78"/>
                    <a:pt x="568" y="106"/>
                  </a:cubicBezTo>
                  <a:cubicBezTo>
                    <a:pt x="573" y="135"/>
                    <a:pt x="575" y="164"/>
                    <a:pt x="575" y="185"/>
                  </a:cubicBezTo>
                  <a:cubicBezTo>
                    <a:pt x="575" y="195"/>
                    <a:pt x="574" y="203"/>
                    <a:pt x="574" y="209"/>
                  </a:cubicBezTo>
                  <a:cubicBezTo>
                    <a:pt x="574" y="211"/>
                    <a:pt x="574" y="214"/>
                    <a:pt x="574" y="215"/>
                  </a:cubicBezTo>
                  <a:lnTo>
                    <a:pt x="574" y="217"/>
                  </a:lnTo>
                  <a:lnTo>
                    <a:pt x="572" y="235"/>
                  </a:lnTo>
                  <a:lnTo>
                    <a:pt x="606" y="235"/>
                  </a:lnTo>
                  <a:cubicBezTo>
                    <a:pt x="627" y="235"/>
                    <a:pt x="644" y="252"/>
                    <a:pt x="644" y="273"/>
                  </a:cubicBezTo>
                  <a:cubicBezTo>
                    <a:pt x="644" y="294"/>
                    <a:pt x="627" y="311"/>
                    <a:pt x="606" y="311"/>
                  </a:cubicBezTo>
                  <a:lnTo>
                    <a:pt x="604" y="311"/>
                  </a:lnTo>
                  <a:lnTo>
                    <a:pt x="588" y="311"/>
                  </a:lnTo>
                  <a:lnTo>
                    <a:pt x="588" y="403"/>
                  </a:lnTo>
                  <a:lnTo>
                    <a:pt x="588" y="404"/>
                  </a:lnTo>
                  <a:cubicBezTo>
                    <a:pt x="588" y="411"/>
                    <a:pt x="589" y="419"/>
                    <a:pt x="589" y="426"/>
                  </a:cubicBezTo>
                  <a:cubicBezTo>
                    <a:pt x="588" y="473"/>
                    <a:pt x="576" y="507"/>
                    <a:pt x="556" y="533"/>
                  </a:cubicBezTo>
                  <a:cubicBezTo>
                    <a:pt x="525" y="573"/>
                    <a:pt x="477" y="596"/>
                    <a:pt x="429" y="609"/>
                  </a:cubicBezTo>
                  <a:cubicBezTo>
                    <a:pt x="381" y="622"/>
                    <a:pt x="333" y="624"/>
                    <a:pt x="307" y="624"/>
                  </a:cubicBezTo>
                  <a:cubicBezTo>
                    <a:pt x="301" y="624"/>
                    <a:pt x="296" y="624"/>
                    <a:pt x="292" y="624"/>
                  </a:cubicBezTo>
                  <a:cubicBezTo>
                    <a:pt x="290" y="623"/>
                    <a:pt x="289" y="623"/>
                    <a:pt x="288" y="623"/>
                  </a:cubicBezTo>
                  <a:lnTo>
                    <a:pt x="287" y="623"/>
                  </a:lnTo>
                  <a:lnTo>
                    <a:pt x="286" y="623"/>
                  </a:lnTo>
                  <a:lnTo>
                    <a:pt x="286" y="623"/>
                  </a:lnTo>
                  <a:cubicBezTo>
                    <a:pt x="231" y="623"/>
                    <a:pt x="188" y="614"/>
                    <a:pt x="155" y="600"/>
                  </a:cubicBezTo>
                  <a:cubicBezTo>
                    <a:pt x="105" y="578"/>
                    <a:pt x="75" y="545"/>
                    <a:pt x="57" y="506"/>
                  </a:cubicBezTo>
                  <a:cubicBezTo>
                    <a:pt x="39" y="467"/>
                    <a:pt x="33" y="423"/>
                    <a:pt x="33" y="383"/>
                  </a:cubicBezTo>
                  <a:cubicBezTo>
                    <a:pt x="33" y="351"/>
                    <a:pt x="37" y="322"/>
                    <a:pt x="41" y="301"/>
                  </a:cubicBezTo>
                  <a:cubicBezTo>
                    <a:pt x="43" y="290"/>
                    <a:pt x="45" y="282"/>
                    <a:pt x="46" y="276"/>
                  </a:cubicBezTo>
                  <a:cubicBezTo>
                    <a:pt x="47" y="273"/>
                    <a:pt x="47" y="271"/>
                    <a:pt x="48" y="269"/>
                  </a:cubicBezTo>
                  <a:lnTo>
                    <a:pt x="48" y="268"/>
                  </a:lnTo>
                  <a:lnTo>
                    <a:pt x="48" y="267"/>
                  </a:lnTo>
                  <a:lnTo>
                    <a:pt x="49" y="264"/>
                  </a:lnTo>
                  <a:lnTo>
                    <a:pt x="49" y="261"/>
                  </a:lnTo>
                  <a:cubicBezTo>
                    <a:pt x="47" y="236"/>
                    <a:pt x="45" y="213"/>
                    <a:pt x="45" y="191"/>
                  </a:cubicBezTo>
                  <a:cubicBezTo>
                    <a:pt x="45" y="108"/>
                    <a:pt x="62" y="52"/>
                    <a:pt x="80" y="15"/>
                  </a:cubicBezTo>
                  <a:lnTo>
                    <a:pt x="5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9" name="Freeform 1108">
              <a:extLst>
                <a:ext uri="{FF2B5EF4-FFF2-40B4-BE49-F238E27FC236}">
                  <a16:creationId xmlns:a16="http://schemas.microsoft.com/office/drawing/2014/main" id="{6254270F-3A35-8899-F67E-BF07C02FCDD6}"/>
                </a:ext>
              </a:extLst>
            </p:cNvPr>
            <p:cNvSpPr>
              <a:spLocks/>
            </p:cNvSpPr>
            <p:nvPr/>
          </p:nvSpPr>
          <p:spPr bwMode="auto">
            <a:xfrm>
              <a:off x="3656013" y="3462338"/>
              <a:ext cx="11113" cy="23813"/>
            </a:xfrm>
            <a:custGeom>
              <a:avLst/>
              <a:gdLst>
                <a:gd name="T0" fmla="*/ 39 w 57"/>
                <a:gd name="T1" fmla="*/ 0 h 113"/>
                <a:gd name="T2" fmla="*/ 20 w 57"/>
                <a:gd name="T3" fmla="*/ 18 h 113"/>
                <a:gd name="T4" fmla="*/ 0 w 57"/>
                <a:gd name="T5" fmla="*/ 70 h 113"/>
                <a:gd name="T6" fmla="*/ 12 w 57"/>
                <a:gd name="T7" fmla="*/ 113 h 113"/>
                <a:gd name="T8" fmla="*/ 41 w 57"/>
                <a:gd name="T9" fmla="*/ 97 h 113"/>
                <a:gd name="T10" fmla="*/ 34 w 57"/>
                <a:gd name="T11" fmla="*/ 70 h 113"/>
                <a:gd name="T12" fmla="*/ 46 w 57"/>
                <a:gd name="T13" fmla="*/ 39 h 113"/>
                <a:gd name="T14" fmla="*/ 54 w 57"/>
                <a:gd name="T15" fmla="*/ 31 h 113"/>
                <a:gd name="T16" fmla="*/ 57 w 57"/>
                <a:gd name="T17" fmla="*/ 29 h 113"/>
                <a:gd name="T18" fmla="*/ 57 w 57"/>
                <a:gd name="T19" fmla="*/ 28 h 113"/>
                <a:gd name="T20" fmla="*/ 57 w 57"/>
                <a:gd name="T21" fmla="*/ 28 h 113"/>
                <a:gd name="T22" fmla="*/ 57 w 57"/>
                <a:gd name="T23" fmla="*/ 28 h 113"/>
                <a:gd name="T24" fmla="*/ 57 w 57"/>
                <a:gd name="T25" fmla="*/ 28 h 113"/>
                <a:gd name="T26" fmla="*/ 57 w 57"/>
                <a:gd name="T27" fmla="*/ 28 h 113"/>
                <a:gd name="T28" fmla="*/ 57 w 57"/>
                <a:gd name="T29" fmla="*/ 28 h 113"/>
                <a:gd name="T30" fmla="*/ 39 w 57"/>
                <a:gd name="T31"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 h="113">
                  <a:moveTo>
                    <a:pt x="39" y="0"/>
                  </a:moveTo>
                  <a:cubicBezTo>
                    <a:pt x="38" y="1"/>
                    <a:pt x="29" y="7"/>
                    <a:pt x="20" y="18"/>
                  </a:cubicBezTo>
                  <a:cubicBezTo>
                    <a:pt x="10" y="29"/>
                    <a:pt x="0" y="47"/>
                    <a:pt x="0" y="70"/>
                  </a:cubicBezTo>
                  <a:cubicBezTo>
                    <a:pt x="0" y="83"/>
                    <a:pt x="4" y="98"/>
                    <a:pt x="12" y="113"/>
                  </a:cubicBezTo>
                  <a:lnTo>
                    <a:pt x="41" y="97"/>
                  </a:lnTo>
                  <a:cubicBezTo>
                    <a:pt x="36" y="86"/>
                    <a:pt x="34" y="78"/>
                    <a:pt x="34" y="70"/>
                  </a:cubicBezTo>
                  <a:cubicBezTo>
                    <a:pt x="34" y="57"/>
                    <a:pt x="39" y="47"/>
                    <a:pt x="46" y="39"/>
                  </a:cubicBezTo>
                  <a:cubicBezTo>
                    <a:pt x="49" y="36"/>
                    <a:pt x="52" y="33"/>
                    <a:pt x="54" y="31"/>
                  </a:cubicBezTo>
                  <a:lnTo>
                    <a:pt x="57" y="29"/>
                  </a:lnTo>
                  <a:lnTo>
                    <a:pt x="57" y="28"/>
                  </a:lnTo>
                  <a:lnTo>
                    <a:pt x="57" y="28"/>
                  </a:lnTo>
                  <a:lnTo>
                    <a:pt x="57" y="28"/>
                  </a:lnTo>
                  <a:lnTo>
                    <a:pt x="57" y="28"/>
                  </a:lnTo>
                  <a:lnTo>
                    <a:pt x="57" y="28"/>
                  </a:lnTo>
                  <a:lnTo>
                    <a:pt x="57" y="28"/>
                  </a:lnTo>
                  <a:lnTo>
                    <a:pt x="39"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0" name="Freeform 1109">
              <a:extLst>
                <a:ext uri="{FF2B5EF4-FFF2-40B4-BE49-F238E27FC236}">
                  <a16:creationId xmlns:a16="http://schemas.microsoft.com/office/drawing/2014/main" id="{D6D77B48-C81F-B87C-223E-00F16C7FB06F}"/>
                </a:ext>
              </a:extLst>
            </p:cNvPr>
            <p:cNvSpPr>
              <a:spLocks/>
            </p:cNvSpPr>
            <p:nvPr/>
          </p:nvSpPr>
          <p:spPr bwMode="auto">
            <a:xfrm>
              <a:off x="3654426" y="3497263"/>
              <a:ext cx="42863" cy="12700"/>
            </a:xfrm>
            <a:custGeom>
              <a:avLst/>
              <a:gdLst>
                <a:gd name="T0" fmla="*/ 0 w 208"/>
                <a:gd name="T1" fmla="*/ 29 h 56"/>
                <a:gd name="T2" fmla="*/ 108 w 208"/>
                <a:gd name="T3" fmla="*/ 56 h 56"/>
                <a:gd name="T4" fmla="*/ 208 w 208"/>
                <a:gd name="T5" fmla="*/ 29 h 56"/>
                <a:gd name="T6" fmla="*/ 191 w 208"/>
                <a:gd name="T7" fmla="*/ 0 h 56"/>
                <a:gd name="T8" fmla="*/ 108 w 208"/>
                <a:gd name="T9" fmla="*/ 23 h 56"/>
                <a:gd name="T10" fmla="*/ 42 w 208"/>
                <a:gd name="T11" fmla="*/ 12 h 56"/>
                <a:gd name="T12" fmla="*/ 23 w 208"/>
                <a:gd name="T13" fmla="*/ 4 h 56"/>
                <a:gd name="T14" fmla="*/ 18 w 208"/>
                <a:gd name="T15" fmla="*/ 1 h 56"/>
                <a:gd name="T16" fmla="*/ 17 w 208"/>
                <a:gd name="T17" fmla="*/ 1 h 56"/>
                <a:gd name="T18" fmla="*/ 16 w 208"/>
                <a:gd name="T19" fmla="*/ 0 h 56"/>
                <a:gd name="T20" fmla="*/ 15 w 208"/>
                <a:gd name="T21" fmla="*/ 2 h 56"/>
                <a:gd name="T22" fmla="*/ 16 w 208"/>
                <a:gd name="T23" fmla="*/ 0 h 56"/>
                <a:gd name="T24" fmla="*/ 16 w 208"/>
                <a:gd name="T25" fmla="*/ 0 h 56"/>
                <a:gd name="T26" fmla="*/ 15 w 208"/>
                <a:gd name="T27" fmla="*/ 2 h 56"/>
                <a:gd name="T28" fmla="*/ 16 w 208"/>
                <a:gd name="T29" fmla="*/ 0 h 56"/>
                <a:gd name="T30" fmla="*/ 0 w 208"/>
                <a:gd name="T31" fmla="*/ 29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8" h="56">
                  <a:moveTo>
                    <a:pt x="0" y="29"/>
                  </a:moveTo>
                  <a:cubicBezTo>
                    <a:pt x="1" y="30"/>
                    <a:pt x="46" y="56"/>
                    <a:pt x="108" y="56"/>
                  </a:cubicBezTo>
                  <a:cubicBezTo>
                    <a:pt x="138" y="56"/>
                    <a:pt x="173" y="49"/>
                    <a:pt x="208" y="29"/>
                  </a:cubicBezTo>
                  <a:lnTo>
                    <a:pt x="191" y="0"/>
                  </a:lnTo>
                  <a:cubicBezTo>
                    <a:pt x="162" y="17"/>
                    <a:pt x="133" y="23"/>
                    <a:pt x="108" y="23"/>
                  </a:cubicBezTo>
                  <a:cubicBezTo>
                    <a:pt x="82" y="23"/>
                    <a:pt x="58" y="17"/>
                    <a:pt x="42" y="12"/>
                  </a:cubicBezTo>
                  <a:cubicBezTo>
                    <a:pt x="34" y="9"/>
                    <a:pt x="27" y="6"/>
                    <a:pt x="23" y="4"/>
                  </a:cubicBezTo>
                  <a:cubicBezTo>
                    <a:pt x="21" y="3"/>
                    <a:pt x="19" y="2"/>
                    <a:pt x="18" y="1"/>
                  </a:cubicBezTo>
                  <a:lnTo>
                    <a:pt x="17" y="1"/>
                  </a:lnTo>
                  <a:lnTo>
                    <a:pt x="16" y="0"/>
                  </a:lnTo>
                  <a:lnTo>
                    <a:pt x="15" y="2"/>
                  </a:lnTo>
                  <a:lnTo>
                    <a:pt x="16" y="0"/>
                  </a:lnTo>
                  <a:lnTo>
                    <a:pt x="16" y="0"/>
                  </a:lnTo>
                  <a:lnTo>
                    <a:pt x="15" y="2"/>
                  </a:lnTo>
                  <a:lnTo>
                    <a:pt x="16" y="0"/>
                  </a:lnTo>
                  <a:lnTo>
                    <a:pt x="0" y="2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1" name="Rectangle 1110">
              <a:extLst>
                <a:ext uri="{FF2B5EF4-FFF2-40B4-BE49-F238E27FC236}">
                  <a16:creationId xmlns:a16="http://schemas.microsoft.com/office/drawing/2014/main" id="{6CB485FF-6BEF-6885-B274-0C1928F5CD4E}"/>
                </a:ext>
              </a:extLst>
            </p:cNvPr>
            <p:cNvSpPr>
              <a:spLocks noChangeArrowheads="1"/>
            </p:cNvSpPr>
            <p:nvPr/>
          </p:nvSpPr>
          <p:spPr bwMode="auto">
            <a:xfrm>
              <a:off x="3684588"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2" name="Rectangle 1111">
              <a:extLst>
                <a:ext uri="{FF2B5EF4-FFF2-40B4-BE49-F238E27FC236}">
                  <a16:creationId xmlns:a16="http://schemas.microsoft.com/office/drawing/2014/main" id="{E7698441-56D5-EF96-9F42-BA7FF60D5AF9}"/>
                </a:ext>
              </a:extLst>
            </p:cNvPr>
            <p:cNvSpPr>
              <a:spLocks noChangeArrowheads="1"/>
            </p:cNvSpPr>
            <p:nvPr/>
          </p:nvSpPr>
          <p:spPr bwMode="auto">
            <a:xfrm>
              <a:off x="3636963"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3" name="Rectangle 1112">
              <a:extLst>
                <a:ext uri="{FF2B5EF4-FFF2-40B4-BE49-F238E27FC236}">
                  <a16:creationId xmlns:a16="http://schemas.microsoft.com/office/drawing/2014/main" id="{AA054556-3163-87DC-2C43-83C2200725A7}"/>
                </a:ext>
              </a:extLst>
            </p:cNvPr>
            <p:cNvSpPr>
              <a:spLocks noChangeArrowheads="1"/>
            </p:cNvSpPr>
            <p:nvPr/>
          </p:nvSpPr>
          <p:spPr bwMode="auto">
            <a:xfrm>
              <a:off x="3713163" y="3433763"/>
              <a:ext cx="34925"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4" name="Rectangle 1113">
              <a:extLst>
                <a:ext uri="{FF2B5EF4-FFF2-40B4-BE49-F238E27FC236}">
                  <a16:creationId xmlns:a16="http://schemas.microsoft.com/office/drawing/2014/main" id="{76BFBD87-2ADA-B6A0-C828-484C52991F2F}"/>
                </a:ext>
              </a:extLst>
            </p:cNvPr>
            <p:cNvSpPr>
              <a:spLocks noChangeArrowheads="1"/>
            </p:cNvSpPr>
            <p:nvPr/>
          </p:nvSpPr>
          <p:spPr bwMode="auto">
            <a:xfrm>
              <a:off x="3662363" y="3433763"/>
              <a:ext cx="1270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5" name="Rectangle 1114">
              <a:extLst>
                <a:ext uri="{FF2B5EF4-FFF2-40B4-BE49-F238E27FC236}">
                  <a16:creationId xmlns:a16="http://schemas.microsoft.com/office/drawing/2014/main" id="{83D247C3-D379-896F-7A66-18FE8B6C4AE0}"/>
                </a:ext>
              </a:extLst>
            </p:cNvPr>
            <p:cNvSpPr>
              <a:spLocks noChangeArrowheads="1"/>
            </p:cNvSpPr>
            <p:nvPr/>
          </p:nvSpPr>
          <p:spPr bwMode="auto">
            <a:xfrm>
              <a:off x="3657601" y="3400425"/>
              <a:ext cx="36513"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6" name="Freeform 1115">
              <a:extLst>
                <a:ext uri="{FF2B5EF4-FFF2-40B4-BE49-F238E27FC236}">
                  <a16:creationId xmlns:a16="http://schemas.microsoft.com/office/drawing/2014/main" id="{51D22A8D-28AE-33F9-87DA-7F341C2856D0}"/>
                </a:ext>
              </a:extLst>
            </p:cNvPr>
            <p:cNvSpPr>
              <a:spLocks/>
            </p:cNvSpPr>
            <p:nvPr/>
          </p:nvSpPr>
          <p:spPr bwMode="auto">
            <a:xfrm>
              <a:off x="3638551" y="3548063"/>
              <a:ext cx="66675" cy="53975"/>
            </a:xfrm>
            <a:custGeom>
              <a:avLst/>
              <a:gdLst>
                <a:gd name="T0" fmla="*/ 3 w 42"/>
                <a:gd name="T1" fmla="*/ 16 h 34"/>
                <a:gd name="T2" fmla="*/ 2 w 42"/>
                <a:gd name="T3" fmla="*/ 18 h 34"/>
                <a:gd name="T4" fmla="*/ 26 w 42"/>
                <a:gd name="T5" fmla="*/ 34 h 34"/>
                <a:gd name="T6" fmla="*/ 42 w 42"/>
                <a:gd name="T7" fmla="*/ 12 h 34"/>
                <a:gd name="T8" fmla="*/ 13 w 42"/>
                <a:gd name="T9" fmla="*/ 0 h 34"/>
                <a:gd name="T10" fmla="*/ 0 w 42"/>
                <a:gd name="T11" fmla="*/ 17 h 34"/>
                <a:gd name="T12" fmla="*/ 2 w 42"/>
                <a:gd name="T13" fmla="*/ 18 h 34"/>
                <a:gd name="T14" fmla="*/ 3 w 42"/>
                <a:gd name="T15" fmla="*/ 16 h 34"/>
                <a:gd name="T16" fmla="*/ 5 w 42"/>
                <a:gd name="T17" fmla="*/ 17 h 34"/>
                <a:gd name="T18" fmla="*/ 14 w 42"/>
                <a:gd name="T19" fmla="*/ 5 h 34"/>
                <a:gd name="T20" fmla="*/ 35 w 42"/>
                <a:gd name="T21" fmla="*/ 14 h 34"/>
                <a:gd name="T22" fmla="*/ 25 w 42"/>
                <a:gd name="T23" fmla="*/ 28 h 34"/>
                <a:gd name="T24" fmla="*/ 4 w 42"/>
                <a:gd name="T25" fmla="*/ 14 h 34"/>
                <a:gd name="T26" fmla="*/ 3 w 42"/>
                <a:gd name="T27" fmla="*/ 16 h 34"/>
                <a:gd name="T28" fmla="*/ 5 w 42"/>
                <a:gd name="T29" fmla="*/ 17 h 34"/>
                <a:gd name="T30" fmla="*/ 3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 y="16"/>
                  </a:moveTo>
                  <a:lnTo>
                    <a:pt x="2" y="18"/>
                  </a:lnTo>
                  <a:lnTo>
                    <a:pt x="26" y="34"/>
                  </a:lnTo>
                  <a:lnTo>
                    <a:pt x="42" y="12"/>
                  </a:lnTo>
                  <a:lnTo>
                    <a:pt x="13" y="0"/>
                  </a:lnTo>
                  <a:lnTo>
                    <a:pt x="0" y="17"/>
                  </a:lnTo>
                  <a:lnTo>
                    <a:pt x="2" y="18"/>
                  </a:lnTo>
                  <a:lnTo>
                    <a:pt x="3" y="16"/>
                  </a:lnTo>
                  <a:lnTo>
                    <a:pt x="5" y="17"/>
                  </a:lnTo>
                  <a:lnTo>
                    <a:pt x="14" y="5"/>
                  </a:lnTo>
                  <a:lnTo>
                    <a:pt x="35" y="14"/>
                  </a:lnTo>
                  <a:lnTo>
                    <a:pt x="25" y="28"/>
                  </a:lnTo>
                  <a:lnTo>
                    <a:pt x="4" y="14"/>
                  </a:lnTo>
                  <a:lnTo>
                    <a:pt x="3" y="16"/>
                  </a:lnTo>
                  <a:lnTo>
                    <a:pt x="5" y="17"/>
                  </a:lnTo>
                  <a:lnTo>
                    <a:pt x="3"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7" name="Freeform 1116">
              <a:extLst>
                <a:ext uri="{FF2B5EF4-FFF2-40B4-BE49-F238E27FC236}">
                  <a16:creationId xmlns:a16="http://schemas.microsoft.com/office/drawing/2014/main" id="{A3DEB0A6-DCAB-22A8-0EDF-FA21F3AC9209}"/>
                </a:ext>
              </a:extLst>
            </p:cNvPr>
            <p:cNvSpPr>
              <a:spLocks/>
            </p:cNvSpPr>
            <p:nvPr/>
          </p:nvSpPr>
          <p:spPr bwMode="auto">
            <a:xfrm>
              <a:off x="3694113" y="3548063"/>
              <a:ext cx="66675" cy="53975"/>
            </a:xfrm>
            <a:custGeom>
              <a:avLst/>
              <a:gdLst>
                <a:gd name="T0" fmla="*/ 39 w 42"/>
                <a:gd name="T1" fmla="*/ 16 h 34"/>
                <a:gd name="T2" fmla="*/ 38 w 42"/>
                <a:gd name="T3" fmla="*/ 14 h 34"/>
                <a:gd name="T4" fmla="*/ 17 w 42"/>
                <a:gd name="T5" fmla="*/ 28 h 34"/>
                <a:gd name="T6" fmla="*/ 7 w 42"/>
                <a:gd name="T7" fmla="*/ 14 h 34"/>
                <a:gd name="T8" fmla="*/ 28 w 42"/>
                <a:gd name="T9" fmla="*/ 5 h 34"/>
                <a:gd name="T10" fmla="*/ 38 w 42"/>
                <a:gd name="T11" fmla="*/ 17 h 34"/>
                <a:gd name="T12" fmla="*/ 39 w 42"/>
                <a:gd name="T13" fmla="*/ 16 h 34"/>
                <a:gd name="T14" fmla="*/ 38 w 42"/>
                <a:gd name="T15" fmla="*/ 14 h 34"/>
                <a:gd name="T16" fmla="*/ 39 w 42"/>
                <a:gd name="T17" fmla="*/ 16 h 34"/>
                <a:gd name="T18" fmla="*/ 41 w 42"/>
                <a:gd name="T19" fmla="*/ 15 h 34"/>
                <a:gd name="T20" fmla="*/ 30 w 42"/>
                <a:gd name="T21" fmla="*/ 0 h 34"/>
                <a:gd name="T22" fmla="*/ 0 w 42"/>
                <a:gd name="T23" fmla="*/ 12 h 34"/>
                <a:gd name="T24" fmla="*/ 16 w 42"/>
                <a:gd name="T25" fmla="*/ 34 h 34"/>
                <a:gd name="T26" fmla="*/ 42 w 42"/>
                <a:gd name="T27" fmla="*/ 17 h 34"/>
                <a:gd name="T28" fmla="*/ 41 w 42"/>
                <a:gd name="T29" fmla="*/ 15 h 34"/>
                <a:gd name="T30" fmla="*/ 39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9" y="16"/>
                  </a:moveTo>
                  <a:lnTo>
                    <a:pt x="38" y="14"/>
                  </a:lnTo>
                  <a:lnTo>
                    <a:pt x="17" y="28"/>
                  </a:lnTo>
                  <a:lnTo>
                    <a:pt x="7" y="14"/>
                  </a:lnTo>
                  <a:lnTo>
                    <a:pt x="28" y="5"/>
                  </a:lnTo>
                  <a:lnTo>
                    <a:pt x="38" y="17"/>
                  </a:lnTo>
                  <a:lnTo>
                    <a:pt x="39" y="16"/>
                  </a:lnTo>
                  <a:lnTo>
                    <a:pt x="38" y="14"/>
                  </a:lnTo>
                  <a:lnTo>
                    <a:pt x="39" y="16"/>
                  </a:lnTo>
                  <a:lnTo>
                    <a:pt x="41" y="15"/>
                  </a:lnTo>
                  <a:lnTo>
                    <a:pt x="30" y="0"/>
                  </a:lnTo>
                  <a:lnTo>
                    <a:pt x="0" y="12"/>
                  </a:lnTo>
                  <a:lnTo>
                    <a:pt x="16" y="34"/>
                  </a:lnTo>
                  <a:lnTo>
                    <a:pt x="42" y="17"/>
                  </a:lnTo>
                  <a:lnTo>
                    <a:pt x="41" y="15"/>
                  </a:lnTo>
                  <a:lnTo>
                    <a:pt x="39"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8" name="Freeform 1117">
              <a:extLst>
                <a:ext uri="{FF2B5EF4-FFF2-40B4-BE49-F238E27FC236}">
                  <a16:creationId xmlns:a16="http://schemas.microsoft.com/office/drawing/2014/main" id="{F93CA25E-532E-FD7E-9287-82A53F51F1E1}"/>
                </a:ext>
              </a:extLst>
            </p:cNvPr>
            <p:cNvSpPr>
              <a:spLocks/>
            </p:cNvSpPr>
            <p:nvPr/>
          </p:nvSpPr>
          <p:spPr bwMode="auto">
            <a:xfrm>
              <a:off x="3683001" y="3587750"/>
              <a:ext cx="31750" cy="15875"/>
            </a:xfrm>
            <a:custGeom>
              <a:avLst/>
              <a:gdLst>
                <a:gd name="T0" fmla="*/ 0 w 20"/>
                <a:gd name="T1" fmla="*/ 3 h 10"/>
                <a:gd name="T2" fmla="*/ 11 w 20"/>
                <a:gd name="T3" fmla="*/ 10 h 10"/>
                <a:gd name="T4" fmla="*/ 20 w 20"/>
                <a:gd name="T5" fmla="*/ 3 h 10"/>
                <a:gd name="T6" fmla="*/ 18 w 20"/>
                <a:gd name="T7" fmla="*/ 0 h 10"/>
                <a:gd name="T8" fmla="*/ 11 w 20"/>
                <a:gd name="T9" fmla="*/ 5 h 10"/>
                <a:gd name="T10" fmla="*/ 2 w 20"/>
                <a:gd name="T11" fmla="*/ 0 h 10"/>
                <a:gd name="T12" fmla="*/ 0 w 20"/>
                <a:gd name="T13" fmla="*/ 3 h 10"/>
              </a:gdLst>
              <a:ahLst/>
              <a:cxnLst>
                <a:cxn ang="0">
                  <a:pos x="T0" y="T1"/>
                </a:cxn>
                <a:cxn ang="0">
                  <a:pos x="T2" y="T3"/>
                </a:cxn>
                <a:cxn ang="0">
                  <a:pos x="T4" y="T5"/>
                </a:cxn>
                <a:cxn ang="0">
                  <a:pos x="T6" y="T7"/>
                </a:cxn>
                <a:cxn ang="0">
                  <a:pos x="T8" y="T9"/>
                </a:cxn>
                <a:cxn ang="0">
                  <a:pos x="T10" y="T11"/>
                </a:cxn>
                <a:cxn ang="0">
                  <a:pos x="T12" y="T13"/>
                </a:cxn>
              </a:cxnLst>
              <a:rect l="0" t="0" r="r" b="b"/>
              <a:pathLst>
                <a:path w="20" h="10">
                  <a:moveTo>
                    <a:pt x="0" y="3"/>
                  </a:moveTo>
                  <a:lnTo>
                    <a:pt x="11" y="10"/>
                  </a:lnTo>
                  <a:lnTo>
                    <a:pt x="20" y="3"/>
                  </a:lnTo>
                  <a:lnTo>
                    <a:pt x="18" y="0"/>
                  </a:lnTo>
                  <a:lnTo>
                    <a:pt x="11" y="5"/>
                  </a:lnTo>
                  <a:lnTo>
                    <a:pt x="2" y="0"/>
                  </a:lnTo>
                  <a:lnTo>
                    <a:pt x="0" y="3"/>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9" name="Freeform 1118">
              <a:extLst>
                <a:ext uri="{FF2B5EF4-FFF2-40B4-BE49-F238E27FC236}">
                  <a16:creationId xmlns:a16="http://schemas.microsoft.com/office/drawing/2014/main" id="{E6E82DA7-7348-3041-B50A-AE051209F297}"/>
                </a:ext>
              </a:extLst>
            </p:cNvPr>
            <p:cNvSpPr>
              <a:spLocks/>
            </p:cNvSpPr>
            <p:nvPr/>
          </p:nvSpPr>
          <p:spPr bwMode="auto">
            <a:xfrm>
              <a:off x="3675063" y="3590925"/>
              <a:ext cx="17463" cy="46038"/>
            </a:xfrm>
            <a:custGeom>
              <a:avLst/>
              <a:gdLst>
                <a:gd name="T0" fmla="*/ 51 w 84"/>
                <a:gd name="T1" fmla="*/ 0 h 227"/>
                <a:gd name="T2" fmla="*/ 0 w 84"/>
                <a:gd name="T3" fmla="*/ 219 h 227"/>
                <a:gd name="T4" fmla="*/ 33 w 84"/>
                <a:gd name="T5" fmla="*/ 227 h 227"/>
                <a:gd name="T6" fmla="*/ 84 w 84"/>
                <a:gd name="T7" fmla="*/ 7 h 227"/>
              </a:gdLst>
              <a:ahLst/>
              <a:cxnLst>
                <a:cxn ang="0">
                  <a:pos x="T0" y="T1"/>
                </a:cxn>
                <a:cxn ang="0">
                  <a:pos x="T2" y="T3"/>
                </a:cxn>
                <a:cxn ang="0">
                  <a:pos x="T4" y="T5"/>
                </a:cxn>
                <a:cxn ang="0">
                  <a:pos x="T6" y="T7"/>
                </a:cxn>
              </a:cxnLst>
              <a:rect l="0" t="0" r="r" b="b"/>
              <a:pathLst>
                <a:path w="84" h="227">
                  <a:moveTo>
                    <a:pt x="51" y="0"/>
                  </a:moveTo>
                  <a:lnTo>
                    <a:pt x="0" y="219"/>
                  </a:lnTo>
                  <a:lnTo>
                    <a:pt x="33" y="227"/>
                  </a:lnTo>
                  <a:lnTo>
                    <a:pt x="84" y="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0" name="Freeform 1119">
              <a:extLst>
                <a:ext uri="{FF2B5EF4-FFF2-40B4-BE49-F238E27FC236}">
                  <a16:creationId xmlns:a16="http://schemas.microsoft.com/office/drawing/2014/main" id="{7A1618F0-9445-63FF-B182-BFB6C1A69464}"/>
                </a:ext>
              </a:extLst>
            </p:cNvPr>
            <p:cNvSpPr>
              <a:spLocks/>
            </p:cNvSpPr>
            <p:nvPr/>
          </p:nvSpPr>
          <p:spPr bwMode="auto">
            <a:xfrm>
              <a:off x="3708401" y="3590925"/>
              <a:ext cx="17463" cy="46038"/>
            </a:xfrm>
            <a:custGeom>
              <a:avLst/>
              <a:gdLst>
                <a:gd name="T0" fmla="*/ 0 w 83"/>
                <a:gd name="T1" fmla="*/ 7 h 227"/>
                <a:gd name="T2" fmla="*/ 51 w 83"/>
                <a:gd name="T3" fmla="*/ 227 h 227"/>
                <a:gd name="T4" fmla="*/ 83 w 83"/>
                <a:gd name="T5" fmla="*/ 219 h 227"/>
                <a:gd name="T6" fmla="*/ 33 w 83"/>
                <a:gd name="T7" fmla="*/ 0 h 227"/>
              </a:gdLst>
              <a:ahLst/>
              <a:cxnLst>
                <a:cxn ang="0">
                  <a:pos x="T0" y="T1"/>
                </a:cxn>
                <a:cxn ang="0">
                  <a:pos x="T2" y="T3"/>
                </a:cxn>
                <a:cxn ang="0">
                  <a:pos x="T4" y="T5"/>
                </a:cxn>
                <a:cxn ang="0">
                  <a:pos x="T6" y="T7"/>
                </a:cxn>
              </a:cxnLst>
              <a:rect l="0" t="0" r="r" b="b"/>
              <a:pathLst>
                <a:path w="83" h="227">
                  <a:moveTo>
                    <a:pt x="0" y="7"/>
                  </a:moveTo>
                  <a:lnTo>
                    <a:pt x="51" y="227"/>
                  </a:lnTo>
                  <a:lnTo>
                    <a:pt x="83" y="219"/>
                  </a:lnTo>
                  <a:lnTo>
                    <a:pt x="33"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71" name="Team14" descr="{&quot;Key&quot;:&quot;POWER_USER_SHAPE_ICON&quot;,&quot;Value&quot;:&quot;POWER_USER_SHAPE_ICON_STYLE_1&quot;}">
            <a:extLst>
              <a:ext uri="{FF2B5EF4-FFF2-40B4-BE49-F238E27FC236}">
                <a16:creationId xmlns:a16="http://schemas.microsoft.com/office/drawing/2014/main" id="{0FC3259C-09E9-1D3B-4E43-42EFA4A2B0EE}"/>
              </a:ext>
            </a:extLst>
          </p:cNvPr>
          <p:cNvGrpSpPr>
            <a:grpSpLocks noChangeAspect="1"/>
          </p:cNvGrpSpPr>
          <p:nvPr>
            <p:custDataLst>
              <p:tags r:id="rId1"/>
            </p:custDataLst>
          </p:nvPr>
        </p:nvGrpSpPr>
        <p:grpSpPr>
          <a:xfrm>
            <a:off x="392596" y="4115784"/>
            <a:ext cx="396000" cy="368297"/>
            <a:chOff x="8447088" y="3063875"/>
            <a:chExt cx="741362" cy="708025"/>
          </a:xfrm>
        </p:grpSpPr>
        <p:sp>
          <p:nvSpPr>
            <p:cNvPr id="272" name="Oval 87">
              <a:extLst>
                <a:ext uri="{FF2B5EF4-FFF2-40B4-BE49-F238E27FC236}">
                  <a16:creationId xmlns:a16="http://schemas.microsoft.com/office/drawing/2014/main" id="{DFF83773-3220-5E5C-72EF-01BCC95F0936}"/>
                </a:ext>
              </a:extLst>
            </p:cNvPr>
            <p:cNvSpPr>
              <a:spLocks noChangeArrowheads="1"/>
            </p:cNvSpPr>
            <p:nvPr/>
          </p:nvSpPr>
          <p:spPr bwMode="auto">
            <a:xfrm>
              <a:off x="8521700" y="3227388"/>
              <a:ext cx="152400" cy="150813"/>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3" name="Oval 88">
              <a:extLst>
                <a:ext uri="{FF2B5EF4-FFF2-40B4-BE49-F238E27FC236}">
                  <a16:creationId xmlns:a16="http://schemas.microsoft.com/office/drawing/2014/main" id="{9A99A01F-5869-27B9-4D53-3D4D6F47CBFB}"/>
                </a:ext>
              </a:extLst>
            </p:cNvPr>
            <p:cNvSpPr>
              <a:spLocks noChangeArrowheads="1"/>
            </p:cNvSpPr>
            <p:nvPr/>
          </p:nvSpPr>
          <p:spPr bwMode="auto">
            <a:xfrm>
              <a:off x="8623300" y="3063875"/>
              <a:ext cx="146050" cy="14605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4" name="Oval 89">
              <a:extLst>
                <a:ext uri="{FF2B5EF4-FFF2-40B4-BE49-F238E27FC236}">
                  <a16:creationId xmlns:a16="http://schemas.microsoft.com/office/drawing/2014/main" id="{6FFEB00E-3592-B826-723E-061061E3BDC5}"/>
                </a:ext>
              </a:extLst>
            </p:cNvPr>
            <p:cNvSpPr>
              <a:spLocks noChangeArrowheads="1"/>
            </p:cNvSpPr>
            <p:nvPr/>
          </p:nvSpPr>
          <p:spPr bwMode="auto">
            <a:xfrm>
              <a:off x="8874127" y="3063875"/>
              <a:ext cx="147638" cy="14605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5" name="Freeform 90">
              <a:extLst>
                <a:ext uri="{FF2B5EF4-FFF2-40B4-BE49-F238E27FC236}">
                  <a16:creationId xmlns:a16="http://schemas.microsoft.com/office/drawing/2014/main" id="{B87482CE-32E0-F9E3-CBFF-EE65E2F778E4}"/>
                </a:ext>
              </a:extLst>
            </p:cNvPr>
            <p:cNvSpPr>
              <a:spLocks/>
            </p:cNvSpPr>
            <p:nvPr/>
          </p:nvSpPr>
          <p:spPr bwMode="auto">
            <a:xfrm>
              <a:off x="8447088" y="3392488"/>
              <a:ext cx="87313" cy="76200"/>
            </a:xfrm>
            <a:custGeom>
              <a:avLst/>
              <a:gdLst>
                <a:gd name="T0" fmla="*/ 17 w 116"/>
                <a:gd name="T1" fmla="*/ 82 h 102"/>
                <a:gd name="T2" fmla="*/ 59 w 116"/>
                <a:gd name="T3" fmla="*/ 102 h 102"/>
                <a:gd name="T4" fmla="*/ 82 w 116"/>
                <a:gd name="T5" fmla="*/ 97 h 102"/>
                <a:gd name="T6" fmla="*/ 107 w 116"/>
                <a:gd name="T7" fmla="*/ 26 h 102"/>
                <a:gd name="T8" fmla="*/ 82 w 116"/>
                <a:gd name="T9" fmla="*/ 0 h 102"/>
                <a:gd name="T10" fmla="*/ 44 w 116"/>
                <a:gd name="T11" fmla="*/ 13 h 102"/>
                <a:gd name="T12" fmla="*/ 10 w 116"/>
                <a:gd name="T13" fmla="*/ 64 h 102"/>
                <a:gd name="T14" fmla="*/ 17 w 116"/>
                <a:gd name="T15" fmla="*/ 8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102">
                  <a:moveTo>
                    <a:pt x="17" y="82"/>
                  </a:moveTo>
                  <a:cubicBezTo>
                    <a:pt x="27" y="94"/>
                    <a:pt x="42" y="102"/>
                    <a:pt x="59" y="102"/>
                  </a:cubicBezTo>
                  <a:cubicBezTo>
                    <a:pt x="66" y="102"/>
                    <a:pt x="74" y="100"/>
                    <a:pt x="82" y="97"/>
                  </a:cubicBezTo>
                  <a:cubicBezTo>
                    <a:pt x="109" y="85"/>
                    <a:pt x="116" y="54"/>
                    <a:pt x="107" y="26"/>
                  </a:cubicBezTo>
                  <a:cubicBezTo>
                    <a:pt x="102" y="9"/>
                    <a:pt x="96" y="0"/>
                    <a:pt x="82" y="0"/>
                  </a:cubicBezTo>
                  <a:cubicBezTo>
                    <a:pt x="72" y="0"/>
                    <a:pt x="58" y="7"/>
                    <a:pt x="44" y="13"/>
                  </a:cubicBezTo>
                  <a:cubicBezTo>
                    <a:pt x="18" y="26"/>
                    <a:pt x="0" y="33"/>
                    <a:pt x="10" y="64"/>
                  </a:cubicBezTo>
                  <a:cubicBezTo>
                    <a:pt x="11" y="67"/>
                    <a:pt x="12" y="75"/>
                    <a:pt x="17" y="82"/>
                  </a:cubicBez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6" name="Oval 91">
              <a:extLst>
                <a:ext uri="{FF2B5EF4-FFF2-40B4-BE49-F238E27FC236}">
                  <a16:creationId xmlns:a16="http://schemas.microsoft.com/office/drawing/2014/main" id="{E7CD26CC-3465-17D6-605F-E49259BB1D37}"/>
                </a:ext>
              </a:extLst>
            </p:cNvPr>
            <p:cNvSpPr>
              <a:spLocks noChangeArrowheads="1"/>
            </p:cNvSpPr>
            <p:nvPr/>
          </p:nvSpPr>
          <p:spPr bwMode="auto">
            <a:xfrm>
              <a:off x="8742363" y="3208338"/>
              <a:ext cx="152400" cy="15240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7" name="Freeform 92">
              <a:extLst>
                <a:ext uri="{FF2B5EF4-FFF2-40B4-BE49-F238E27FC236}">
                  <a16:creationId xmlns:a16="http://schemas.microsoft.com/office/drawing/2014/main" id="{B08E0536-978B-32DE-1B1D-3253B79F589E}"/>
                </a:ext>
              </a:extLst>
            </p:cNvPr>
            <p:cNvSpPr>
              <a:spLocks/>
            </p:cNvSpPr>
            <p:nvPr/>
          </p:nvSpPr>
          <p:spPr bwMode="auto">
            <a:xfrm>
              <a:off x="8702675" y="3296042"/>
              <a:ext cx="265627" cy="474270"/>
            </a:xfrm>
            <a:custGeom>
              <a:avLst/>
              <a:gdLst>
                <a:gd name="T0" fmla="*/ 268 w 307"/>
                <a:gd name="T1" fmla="*/ 503 h 503"/>
                <a:gd name="T2" fmla="*/ 269 w 307"/>
                <a:gd name="T3" fmla="*/ 130 h 503"/>
                <a:gd name="T4" fmla="*/ 307 w 307"/>
                <a:gd name="T5" fmla="*/ 24 h 503"/>
                <a:gd name="T6" fmla="*/ 212 w 307"/>
                <a:gd name="T7" fmla="*/ 0 h 503"/>
                <a:gd name="T8" fmla="*/ 153 w 307"/>
                <a:gd name="T9" fmla="*/ 59 h 503"/>
                <a:gd name="T10" fmla="*/ 95 w 307"/>
                <a:gd name="T11" fmla="*/ 0 h 503"/>
                <a:gd name="T12" fmla="*/ 0 w 307"/>
                <a:gd name="T13" fmla="*/ 24 h 503"/>
                <a:gd name="T14" fmla="*/ 38 w 307"/>
                <a:gd name="T15" fmla="*/ 130 h 503"/>
                <a:gd name="T16" fmla="*/ 39 w 307"/>
                <a:gd name="T17" fmla="*/ 503 h 503"/>
                <a:gd name="T18" fmla="*/ 268 w 307"/>
                <a:gd name="T19" fmla="*/ 503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7" h="503">
                  <a:moveTo>
                    <a:pt x="268" y="503"/>
                  </a:moveTo>
                  <a:lnTo>
                    <a:pt x="269" y="130"/>
                  </a:lnTo>
                  <a:cubicBezTo>
                    <a:pt x="269" y="75"/>
                    <a:pt x="293" y="44"/>
                    <a:pt x="307" y="24"/>
                  </a:cubicBezTo>
                  <a:cubicBezTo>
                    <a:pt x="284" y="5"/>
                    <a:pt x="255" y="1"/>
                    <a:pt x="212" y="0"/>
                  </a:cubicBezTo>
                  <a:lnTo>
                    <a:pt x="153" y="59"/>
                  </a:lnTo>
                  <a:lnTo>
                    <a:pt x="95" y="0"/>
                  </a:lnTo>
                  <a:cubicBezTo>
                    <a:pt x="52" y="1"/>
                    <a:pt x="22" y="5"/>
                    <a:pt x="0" y="24"/>
                  </a:cubicBezTo>
                  <a:cubicBezTo>
                    <a:pt x="0" y="24"/>
                    <a:pt x="38" y="65"/>
                    <a:pt x="38" y="130"/>
                  </a:cubicBezTo>
                  <a:cubicBezTo>
                    <a:pt x="38" y="267"/>
                    <a:pt x="39" y="503"/>
                    <a:pt x="39" y="503"/>
                  </a:cubicBezTo>
                  <a:lnTo>
                    <a:pt x="268" y="503"/>
                  </a:ln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8" name="Freeform 93">
              <a:extLst>
                <a:ext uri="{FF2B5EF4-FFF2-40B4-BE49-F238E27FC236}">
                  <a16:creationId xmlns:a16="http://schemas.microsoft.com/office/drawing/2014/main" id="{E636B5C3-B4C7-38CE-42FD-BA36B8125E35}"/>
                </a:ext>
              </a:extLst>
            </p:cNvPr>
            <p:cNvSpPr>
              <a:spLocks/>
            </p:cNvSpPr>
            <p:nvPr/>
          </p:nvSpPr>
          <p:spPr bwMode="auto">
            <a:xfrm>
              <a:off x="8528050" y="3409950"/>
              <a:ext cx="184150" cy="42863"/>
            </a:xfrm>
            <a:custGeom>
              <a:avLst/>
              <a:gdLst>
                <a:gd name="T0" fmla="*/ 0 w 246"/>
                <a:gd name="T1" fmla="*/ 6 h 56"/>
                <a:gd name="T2" fmla="*/ 38 w 246"/>
                <a:gd name="T3" fmla="*/ 0 h 56"/>
                <a:gd name="T4" fmla="*/ 93 w 246"/>
                <a:gd name="T5" fmla="*/ 56 h 56"/>
                <a:gd name="T6" fmla="*/ 149 w 246"/>
                <a:gd name="T7" fmla="*/ 0 h 56"/>
                <a:gd name="T8" fmla="*/ 246 w 246"/>
                <a:gd name="T9" fmla="*/ 17 h 56"/>
              </a:gdLst>
              <a:ahLst/>
              <a:cxnLst>
                <a:cxn ang="0">
                  <a:pos x="T0" y="T1"/>
                </a:cxn>
                <a:cxn ang="0">
                  <a:pos x="T2" y="T3"/>
                </a:cxn>
                <a:cxn ang="0">
                  <a:pos x="T4" y="T5"/>
                </a:cxn>
                <a:cxn ang="0">
                  <a:pos x="T6" y="T7"/>
                </a:cxn>
                <a:cxn ang="0">
                  <a:pos x="T8" y="T9"/>
                </a:cxn>
              </a:cxnLst>
              <a:rect l="0" t="0" r="r" b="b"/>
              <a:pathLst>
                <a:path w="246" h="56">
                  <a:moveTo>
                    <a:pt x="0" y="6"/>
                  </a:moveTo>
                  <a:cubicBezTo>
                    <a:pt x="12" y="2"/>
                    <a:pt x="24" y="0"/>
                    <a:pt x="38" y="0"/>
                  </a:cubicBezTo>
                  <a:lnTo>
                    <a:pt x="93" y="56"/>
                  </a:lnTo>
                  <a:lnTo>
                    <a:pt x="149" y="0"/>
                  </a:lnTo>
                  <a:cubicBezTo>
                    <a:pt x="186" y="0"/>
                    <a:pt x="228" y="3"/>
                    <a:pt x="246" y="17"/>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9" name="Freeform 94">
              <a:extLst>
                <a:ext uri="{FF2B5EF4-FFF2-40B4-BE49-F238E27FC236}">
                  <a16:creationId xmlns:a16="http://schemas.microsoft.com/office/drawing/2014/main" id="{AF04433E-F094-BB52-9E9F-60298FF2A397}"/>
                </a:ext>
              </a:extLst>
            </p:cNvPr>
            <p:cNvSpPr>
              <a:spLocks/>
            </p:cNvSpPr>
            <p:nvPr/>
          </p:nvSpPr>
          <p:spPr bwMode="auto">
            <a:xfrm>
              <a:off x="8462963" y="3463925"/>
              <a:ext cx="268288" cy="307975"/>
            </a:xfrm>
            <a:custGeom>
              <a:avLst/>
              <a:gdLst>
                <a:gd name="T0" fmla="*/ 12 w 358"/>
                <a:gd name="T1" fmla="*/ 0 h 409"/>
                <a:gd name="T2" fmla="*/ 6 w 358"/>
                <a:gd name="T3" fmla="*/ 17 h 409"/>
                <a:gd name="T4" fmla="*/ 0 w 358"/>
                <a:gd name="T5" fmla="*/ 62 h 409"/>
                <a:gd name="T6" fmla="*/ 1 w 358"/>
                <a:gd name="T7" fmla="*/ 258 h 409"/>
                <a:gd name="T8" fmla="*/ 60 w 358"/>
                <a:gd name="T9" fmla="*/ 311 h 409"/>
                <a:gd name="T10" fmla="*/ 60 w 358"/>
                <a:gd name="T11" fmla="*/ 409 h 409"/>
                <a:gd name="T12" fmla="*/ 290 w 358"/>
                <a:gd name="T13" fmla="*/ 408 h 409"/>
                <a:gd name="T14" fmla="*/ 291 w 358"/>
                <a:gd name="T15" fmla="*/ 77 h 409"/>
                <a:gd name="T16" fmla="*/ 358 w 358"/>
                <a:gd name="T17" fmla="*/ 95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8" h="409">
                  <a:moveTo>
                    <a:pt x="12" y="0"/>
                  </a:moveTo>
                  <a:cubicBezTo>
                    <a:pt x="9" y="7"/>
                    <a:pt x="7" y="13"/>
                    <a:pt x="6" y="17"/>
                  </a:cubicBezTo>
                  <a:cubicBezTo>
                    <a:pt x="2" y="31"/>
                    <a:pt x="0" y="46"/>
                    <a:pt x="0" y="62"/>
                  </a:cubicBezTo>
                  <a:cubicBezTo>
                    <a:pt x="0" y="62"/>
                    <a:pt x="1" y="258"/>
                    <a:pt x="1" y="258"/>
                  </a:cubicBezTo>
                  <a:cubicBezTo>
                    <a:pt x="1" y="288"/>
                    <a:pt x="23" y="311"/>
                    <a:pt x="60" y="311"/>
                  </a:cubicBezTo>
                  <a:lnTo>
                    <a:pt x="60" y="409"/>
                  </a:lnTo>
                  <a:lnTo>
                    <a:pt x="290" y="408"/>
                  </a:lnTo>
                  <a:lnTo>
                    <a:pt x="291" y="77"/>
                  </a:lnTo>
                  <a:cubicBezTo>
                    <a:pt x="309" y="83"/>
                    <a:pt x="358" y="95"/>
                    <a:pt x="358" y="95"/>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0" name="Oval 95">
              <a:extLst>
                <a:ext uri="{FF2B5EF4-FFF2-40B4-BE49-F238E27FC236}">
                  <a16:creationId xmlns:a16="http://schemas.microsoft.com/office/drawing/2014/main" id="{578AAF30-70B1-42D4-913F-17FC54B3D778}"/>
                </a:ext>
              </a:extLst>
            </p:cNvPr>
            <p:cNvSpPr>
              <a:spLocks noChangeArrowheads="1"/>
            </p:cNvSpPr>
            <p:nvPr/>
          </p:nvSpPr>
          <p:spPr bwMode="auto">
            <a:xfrm>
              <a:off x="8961438" y="3227388"/>
              <a:ext cx="152400" cy="150813"/>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1" name="Freeform 96">
              <a:extLst>
                <a:ext uri="{FF2B5EF4-FFF2-40B4-BE49-F238E27FC236}">
                  <a16:creationId xmlns:a16="http://schemas.microsoft.com/office/drawing/2014/main" id="{94F01846-6723-B39A-858F-227EDF0FFA40}"/>
                </a:ext>
              </a:extLst>
            </p:cNvPr>
            <p:cNvSpPr>
              <a:spLocks/>
            </p:cNvSpPr>
            <p:nvPr/>
          </p:nvSpPr>
          <p:spPr bwMode="auto">
            <a:xfrm>
              <a:off x="9102725" y="3392488"/>
              <a:ext cx="85725" cy="76200"/>
            </a:xfrm>
            <a:custGeom>
              <a:avLst/>
              <a:gdLst>
                <a:gd name="T0" fmla="*/ 99 w 116"/>
                <a:gd name="T1" fmla="*/ 82 h 102"/>
                <a:gd name="T2" fmla="*/ 57 w 116"/>
                <a:gd name="T3" fmla="*/ 102 h 102"/>
                <a:gd name="T4" fmla="*/ 34 w 116"/>
                <a:gd name="T5" fmla="*/ 97 h 102"/>
                <a:gd name="T6" fmla="*/ 9 w 116"/>
                <a:gd name="T7" fmla="*/ 26 h 102"/>
                <a:gd name="T8" fmla="*/ 34 w 116"/>
                <a:gd name="T9" fmla="*/ 0 h 102"/>
                <a:gd name="T10" fmla="*/ 72 w 116"/>
                <a:gd name="T11" fmla="*/ 13 h 102"/>
                <a:gd name="T12" fmla="*/ 106 w 116"/>
                <a:gd name="T13" fmla="*/ 64 h 102"/>
                <a:gd name="T14" fmla="*/ 99 w 116"/>
                <a:gd name="T15" fmla="*/ 8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102">
                  <a:moveTo>
                    <a:pt x="99" y="82"/>
                  </a:moveTo>
                  <a:cubicBezTo>
                    <a:pt x="89" y="94"/>
                    <a:pt x="74" y="102"/>
                    <a:pt x="57" y="102"/>
                  </a:cubicBezTo>
                  <a:cubicBezTo>
                    <a:pt x="50" y="102"/>
                    <a:pt x="42" y="100"/>
                    <a:pt x="34" y="97"/>
                  </a:cubicBezTo>
                  <a:cubicBezTo>
                    <a:pt x="7" y="85"/>
                    <a:pt x="0" y="54"/>
                    <a:pt x="9" y="26"/>
                  </a:cubicBezTo>
                  <a:cubicBezTo>
                    <a:pt x="14" y="9"/>
                    <a:pt x="20" y="0"/>
                    <a:pt x="34" y="0"/>
                  </a:cubicBezTo>
                  <a:cubicBezTo>
                    <a:pt x="44" y="0"/>
                    <a:pt x="58" y="7"/>
                    <a:pt x="72" y="13"/>
                  </a:cubicBezTo>
                  <a:cubicBezTo>
                    <a:pt x="98" y="26"/>
                    <a:pt x="116" y="33"/>
                    <a:pt x="106" y="64"/>
                  </a:cubicBezTo>
                  <a:cubicBezTo>
                    <a:pt x="105" y="67"/>
                    <a:pt x="104" y="75"/>
                    <a:pt x="99" y="82"/>
                  </a:cubicBez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2" name="Freeform 97">
              <a:extLst>
                <a:ext uri="{FF2B5EF4-FFF2-40B4-BE49-F238E27FC236}">
                  <a16:creationId xmlns:a16="http://schemas.microsoft.com/office/drawing/2014/main" id="{9FA1BA0C-50FE-F7C5-A447-B45FB4A33C59}"/>
                </a:ext>
              </a:extLst>
            </p:cNvPr>
            <p:cNvSpPr>
              <a:spLocks/>
            </p:cNvSpPr>
            <p:nvPr/>
          </p:nvSpPr>
          <p:spPr bwMode="auto">
            <a:xfrm>
              <a:off x="8923338" y="3409950"/>
              <a:ext cx="184150" cy="42863"/>
            </a:xfrm>
            <a:custGeom>
              <a:avLst/>
              <a:gdLst>
                <a:gd name="T0" fmla="*/ 246 w 246"/>
                <a:gd name="T1" fmla="*/ 6 h 56"/>
                <a:gd name="T2" fmla="*/ 208 w 246"/>
                <a:gd name="T3" fmla="*/ 0 h 56"/>
                <a:gd name="T4" fmla="*/ 153 w 246"/>
                <a:gd name="T5" fmla="*/ 56 h 56"/>
                <a:gd name="T6" fmla="*/ 97 w 246"/>
                <a:gd name="T7" fmla="*/ 0 h 56"/>
                <a:gd name="T8" fmla="*/ 0 w 246"/>
                <a:gd name="T9" fmla="*/ 17 h 56"/>
              </a:gdLst>
              <a:ahLst/>
              <a:cxnLst>
                <a:cxn ang="0">
                  <a:pos x="T0" y="T1"/>
                </a:cxn>
                <a:cxn ang="0">
                  <a:pos x="T2" y="T3"/>
                </a:cxn>
                <a:cxn ang="0">
                  <a:pos x="T4" y="T5"/>
                </a:cxn>
                <a:cxn ang="0">
                  <a:pos x="T6" y="T7"/>
                </a:cxn>
                <a:cxn ang="0">
                  <a:pos x="T8" y="T9"/>
                </a:cxn>
              </a:cxnLst>
              <a:rect l="0" t="0" r="r" b="b"/>
              <a:pathLst>
                <a:path w="246" h="56">
                  <a:moveTo>
                    <a:pt x="246" y="6"/>
                  </a:moveTo>
                  <a:cubicBezTo>
                    <a:pt x="234" y="2"/>
                    <a:pt x="222" y="0"/>
                    <a:pt x="208" y="0"/>
                  </a:cubicBezTo>
                  <a:lnTo>
                    <a:pt x="153" y="56"/>
                  </a:lnTo>
                  <a:lnTo>
                    <a:pt x="97" y="0"/>
                  </a:lnTo>
                  <a:cubicBezTo>
                    <a:pt x="61" y="0"/>
                    <a:pt x="18" y="3"/>
                    <a:pt x="0" y="17"/>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3" name="Freeform 98">
              <a:extLst>
                <a:ext uri="{FF2B5EF4-FFF2-40B4-BE49-F238E27FC236}">
                  <a16:creationId xmlns:a16="http://schemas.microsoft.com/office/drawing/2014/main" id="{11553C94-4416-8E7F-BD1E-DC3498861305}"/>
                </a:ext>
              </a:extLst>
            </p:cNvPr>
            <p:cNvSpPr>
              <a:spLocks/>
            </p:cNvSpPr>
            <p:nvPr/>
          </p:nvSpPr>
          <p:spPr bwMode="auto">
            <a:xfrm>
              <a:off x="8904288" y="3463925"/>
              <a:ext cx="269875" cy="307975"/>
            </a:xfrm>
            <a:custGeom>
              <a:avLst/>
              <a:gdLst>
                <a:gd name="T0" fmla="*/ 0 w 358"/>
                <a:gd name="T1" fmla="*/ 95 h 409"/>
                <a:gd name="T2" fmla="*/ 67 w 358"/>
                <a:gd name="T3" fmla="*/ 77 h 409"/>
                <a:gd name="T4" fmla="*/ 68 w 358"/>
                <a:gd name="T5" fmla="*/ 408 h 409"/>
                <a:gd name="T6" fmla="*/ 298 w 358"/>
                <a:gd name="T7" fmla="*/ 409 h 409"/>
                <a:gd name="T8" fmla="*/ 298 w 358"/>
                <a:gd name="T9" fmla="*/ 311 h 409"/>
                <a:gd name="T10" fmla="*/ 357 w 358"/>
                <a:gd name="T11" fmla="*/ 258 h 409"/>
                <a:gd name="T12" fmla="*/ 358 w 358"/>
                <a:gd name="T13" fmla="*/ 62 h 409"/>
                <a:gd name="T14" fmla="*/ 352 w 358"/>
                <a:gd name="T15" fmla="*/ 17 h 409"/>
                <a:gd name="T16" fmla="*/ 346 w 358"/>
                <a:gd name="T17" fmla="*/ 0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8" h="409">
                  <a:moveTo>
                    <a:pt x="0" y="95"/>
                  </a:moveTo>
                  <a:cubicBezTo>
                    <a:pt x="0" y="95"/>
                    <a:pt x="49" y="83"/>
                    <a:pt x="67" y="77"/>
                  </a:cubicBezTo>
                  <a:lnTo>
                    <a:pt x="68" y="408"/>
                  </a:lnTo>
                  <a:lnTo>
                    <a:pt x="298" y="409"/>
                  </a:lnTo>
                  <a:lnTo>
                    <a:pt x="298" y="311"/>
                  </a:lnTo>
                  <a:cubicBezTo>
                    <a:pt x="335" y="311"/>
                    <a:pt x="357" y="288"/>
                    <a:pt x="357" y="258"/>
                  </a:cubicBezTo>
                  <a:cubicBezTo>
                    <a:pt x="357" y="258"/>
                    <a:pt x="358" y="62"/>
                    <a:pt x="358" y="62"/>
                  </a:cubicBezTo>
                  <a:cubicBezTo>
                    <a:pt x="358" y="46"/>
                    <a:pt x="356" y="31"/>
                    <a:pt x="352" y="17"/>
                  </a:cubicBezTo>
                  <a:cubicBezTo>
                    <a:pt x="351" y="13"/>
                    <a:pt x="349" y="7"/>
                    <a:pt x="346" y="0"/>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84" name="Presentation9" descr="{&quot;Key&quot;:&quot;POWER_USER_SHAPE_ICON&quot;,&quot;Value&quot;:&quot;POWER_USER_SHAPE_ICON_STYLE_1&quot;}">
            <a:extLst>
              <a:ext uri="{FF2B5EF4-FFF2-40B4-BE49-F238E27FC236}">
                <a16:creationId xmlns:a16="http://schemas.microsoft.com/office/drawing/2014/main" id="{9AC8C918-29CD-083F-7B6A-DFD24C9F44A3}"/>
              </a:ext>
            </a:extLst>
          </p:cNvPr>
          <p:cNvGrpSpPr>
            <a:grpSpLocks noChangeAspect="1"/>
          </p:cNvGrpSpPr>
          <p:nvPr>
            <p:custDataLst>
              <p:tags r:id="rId2"/>
            </p:custDataLst>
          </p:nvPr>
        </p:nvGrpSpPr>
        <p:grpSpPr>
          <a:xfrm>
            <a:off x="384964" y="5458621"/>
            <a:ext cx="396000" cy="295633"/>
            <a:chOff x="6796088" y="1851026"/>
            <a:chExt cx="884238" cy="677862"/>
          </a:xfrm>
          <a:noFill/>
        </p:grpSpPr>
        <p:sp>
          <p:nvSpPr>
            <p:cNvPr id="285" name="Freeform 157">
              <a:extLst>
                <a:ext uri="{FF2B5EF4-FFF2-40B4-BE49-F238E27FC236}">
                  <a16:creationId xmlns:a16="http://schemas.microsoft.com/office/drawing/2014/main" id="{01386BE5-1EA5-0BC7-24BD-EC784C63EAC6}"/>
                </a:ext>
              </a:extLst>
            </p:cNvPr>
            <p:cNvSpPr>
              <a:spLocks/>
            </p:cNvSpPr>
            <p:nvPr/>
          </p:nvSpPr>
          <p:spPr bwMode="auto">
            <a:xfrm>
              <a:off x="7018338" y="1851026"/>
              <a:ext cx="661988" cy="512763"/>
            </a:xfrm>
            <a:custGeom>
              <a:avLst/>
              <a:gdLst>
                <a:gd name="T0" fmla="*/ 54 w 870"/>
                <a:gd name="T1" fmla="*/ 54 h 673"/>
                <a:gd name="T2" fmla="*/ 816 w 870"/>
                <a:gd name="T3" fmla="*/ 54 h 673"/>
                <a:gd name="T4" fmla="*/ 816 w 870"/>
                <a:gd name="T5" fmla="*/ 619 h 673"/>
                <a:gd name="T6" fmla="*/ 394 w 870"/>
                <a:gd name="T7" fmla="*/ 619 h 673"/>
                <a:gd name="T8" fmla="*/ 295 w 870"/>
                <a:gd name="T9" fmla="*/ 673 h 673"/>
                <a:gd name="T10" fmla="*/ 817 w 870"/>
                <a:gd name="T11" fmla="*/ 673 h 673"/>
                <a:gd name="T12" fmla="*/ 870 w 870"/>
                <a:gd name="T13" fmla="*/ 620 h 673"/>
                <a:gd name="T14" fmla="*/ 870 w 870"/>
                <a:gd name="T15" fmla="*/ 53 h 673"/>
                <a:gd name="T16" fmla="*/ 817 w 870"/>
                <a:gd name="T17" fmla="*/ 0 h 673"/>
                <a:gd name="T18" fmla="*/ 53 w 870"/>
                <a:gd name="T19" fmla="*/ 0 h 673"/>
                <a:gd name="T20" fmla="*/ 0 w 870"/>
                <a:gd name="T21" fmla="*/ 53 h 673"/>
                <a:gd name="T22" fmla="*/ 0 w 870"/>
                <a:gd name="T23" fmla="*/ 185 h 673"/>
                <a:gd name="T24" fmla="*/ 54 w 870"/>
                <a:gd name="T25" fmla="*/ 215 h 673"/>
                <a:gd name="T26" fmla="*/ 54 w 870"/>
                <a:gd name="T27" fmla="*/ 54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0" h="673">
                  <a:moveTo>
                    <a:pt x="54" y="54"/>
                  </a:moveTo>
                  <a:lnTo>
                    <a:pt x="816" y="54"/>
                  </a:lnTo>
                  <a:lnTo>
                    <a:pt x="816" y="619"/>
                  </a:lnTo>
                  <a:lnTo>
                    <a:pt x="394" y="619"/>
                  </a:lnTo>
                  <a:cubicBezTo>
                    <a:pt x="363" y="638"/>
                    <a:pt x="330" y="656"/>
                    <a:pt x="295" y="673"/>
                  </a:cubicBezTo>
                  <a:lnTo>
                    <a:pt x="817" y="673"/>
                  </a:lnTo>
                  <a:cubicBezTo>
                    <a:pt x="846" y="673"/>
                    <a:pt x="870" y="650"/>
                    <a:pt x="870" y="620"/>
                  </a:cubicBezTo>
                  <a:lnTo>
                    <a:pt x="870" y="53"/>
                  </a:lnTo>
                  <a:cubicBezTo>
                    <a:pt x="870" y="23"/>
                    <a:pt x="846" y="0"/>
                    <a:pt x="817" y="0"/>
                  </a:cubicBezTo>
                  <a:lnTo>
                    <a:pt x="53" y="0"/>
                  </a:lnTo>
                  <a:cubicBezTo>
                    <a:pt x="24" y="0"/>
                    <a:pt x="0" y="23"/>
                    <a:pt x="0" y="53"/>
                  </a:cubicBezTo>
                  <a:lnTo>
                    <a:pt x="0" y="185"/>
                  </a:lnTo>
                  <a:cubicBezTo>
                    <a:pt x="20" y="192"/>
                    <a:pt x="38" y="202"/>
                    <a:pt x="54" y="215"/>
                  </a:cubicBezTo>
                  <a:lnTo>
                    <a:pt x="54" y="54"/>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6" name="Freeform 158">
              <a:extLst>
                <a:ext uri="{FF2B5EF4-FFF2-40B4-BE49-F238E27FC236}">
                  <a16:creationId xmlns:a16="http://schemas.microsoft.com/office/drawing/2014/main" id="{2209B064-CFC0-A46A-C432-AFB3AD25FAFC}"/>
                </a:ext>
              </a:extLst>
            </p:cNvPr>
            <p:cNvSpPr>
              <a:spLocks/>
            </p:cNvSpPr>
            <p:nvPr/>
          </p:nvSpPr>
          <p:spPr bwMode="auto">
            <a:xfrm>
              <a:off x="6796088" y="2162175"/>
              <a:ext cx="573088" cy="366713"/>
            </a:xfrm>
            <a:custGeom>
              <a:avLst/>
              <a:gdLst>
                <a:gd name="T0" fmla="*/ 122 w 753"/>
                <a:gd name="T1" fmla="*/ 359 h 482"/>
                <a:gd name="T2" fmla="*/ 154 w 753"/>
                <a:gd name="T3" fmla="*/ 359 h 482"/>
                <a:gd name="T4" fmla="*/ 164 w 753"/>
                <a:gd name="T5" fmla="*/ 482 h 482"/>
                <a:gd name="T6" fmla="*/ 399 w 753"/>
                <a:gd name="T7" fmla="*/ 482 h 482"/>
                <a:gd name="T8" fmla="*/ 399 w 753"/>
                <a:gd name="T9" fmla="*/ 279 h 482"/>
                <a:gd name="T10" fmla="*/ 716 w 753"/>
                <a:gd name="T11" fmla="*/ 121 h 482"/>
                <a:gd name="T12" fmla="*/ 727 w 753"/>
                <a:gd name="T13" fmla="*/ 23 h 482"/>
                <a:gd name="T14" fmla="*/ 679 w 753"/>
                <a:gd name="T15" fmla="*/ 0 h 482"/>
                <a:gd name="T16" fmla="*/ 653 w 753"/>
                <a:gd name="T17" fmla="*/ 7 h 482"/>
                <a:gd name="T18" fmla="*/ 317 w 753"/>
                <a:gd name="T19" fmla="*/ 123 h 482"/>
                <a:gd name="T20" fmla="*/ 230 w 753"/>
                <a:gd name="T21" fmla="*/ 190 h 482"/>
                <a:gd name="T22" fmla="*/ 149 w 753"/>
                <a:gd name="T23" fmla="*/ 129 h 482"/>
                <a:gd name="T24" fmla="*/ 0 w 753"/>
                <a:gd name="T25" fmla="*/ 309 h 482"/>
                <a:gd name="T26" fmla="*/ 0 w 753"/>
                <a:gd name="T27" fmla="*/ 482 h 482"/>
                <a:gd name="T28" fmla="*/ 122 w 753"/>
                <a:gd name="T29" fmla="*/ 482 h 482"/>
                <a:gd name="T30" fmla="*/ 122 w 753"/>
                <a:gd name="T31" fmla="*/ 359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3" h="482">
                  <a:moveTo>
                    <a:pt x="122" y="359"/>
                  </a:moveTo>
                  <a:lnTo>
                    <a:pt x="154" y="359"/>
                  </a:lnTo>
                  <a:lnTo>
                    <a:pt x="164" y="482"/>
                  </a:lnTo>
                  <a:lnTo>
                    <a:pt x="399" y="482"/>
                  </a:lnTo>
                  <a:lnTo>
                    <a:pt x="399" y="279"/>
                  </a:lnTo>
                  <a:cubicBezTo>
                    <a:pt x="529" y="237"/>
                    <a:pt x="643" y="176"/>
                    <a:pt x="716" y="121"/>
                  </a:cubicBezTo>
                  <a:cubicBezTo>
                    <a:pt x="747" y="98"/>
                    <a:pt x="753" y="55"/>
                    <a:pt x="727" y="23"/>
                  </a:cubicBezTo>
                  <a:cubicBezTo>
                    <a:pt x="715" y="9"/>
                    <a:pt x="697" y="0"/>
                    <a:pt x="679" y="0"/>
                  </a:cubicBezTo>
                  <a:cubicBezTo>
                    <a:pt x="670" y="0"/>
                    <a:pt x="661" y="3"/>
                    <a:pt x="653" y="7"/>
                  </a:cubicBezTo>
                  <a:cubicBezTo>
                    <a:pt x="488" y="100"/>
                    <a:pt x="404" y="119"/>
                    <a:pt x="317" y="123"/>
                  </a:cubicBezTo>
                  <a:lnTo>
                    <a:pt x="230" y="190"/>
                  </a:lnTo>
                  <a:lnTo>
                    <a:pt x="149" y="129"/>
                  </a:lnTo>
                  <a:cubicBezTo>
                    <a:pt x="60" y="145"/>
                    <a:pt x="0" y="199"/>
                    <a:pt x="0" y="309"/>
                  </a:cubicBezTo>
                  <a:lnTo>
                    <a:pt x="0" y="482"/>
                  </a:lnTo>
                  <a:lnTo>
                    <a:pt x="122" y="482"/>
                  </a:lnTo>
                  <a:lnTo>
                    <a:pt x="122" y="359"/>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7" name="Oval 159">
              <a:extLst>
                <a:ext uri="{FF2B5EF4-FFF2-40B4-BE49-F238E27FC236}">
                  <a16:creationId xmlns:a16="http://schemas.microsoft.com/office/drawing/2014/main" id="{C1B1D117-C9E7-6EFD-944C-74BE85E8128D}"/>
                </a:ext>
              </a:extLst>
            </p:cNvPr>
            <p:cNvSpPr>
              <a:spLocks noChangeArrowheads="1"/>
            </p:cNvSpPr>
            <p:nvPr/>
          </p:nvSpPr>
          <p:spPr bwMode="auto">
            <a:xfrm>
              <a:off x="6867526" y="2022475"/>
              <a:ext cx="206375" cy="204788"/>
            </a:xfrm>
            <a:prstGeom prst="ellipse">
              <a:avLst/>
            </a:pr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8" name="Freeform 160">
              <a:extLst>
                <a:ext uri="{FF2B5EF4-FFF2-40B4-BE49-F238E27FC236}">
                  <a16:creationId xmlns:a16="http://schemas.microsoft.com/office/drawing/2014/main" id="{E718AD22-5F2A-830A-2FDE-8ED7A977DE78}"/>
                </a:ext>
              </a:extLst>
            </p:cNvPr>
            <p:cNvSpPr>
              <a:spLocks/>
            </p:cNvSpPr>
            <p:nvPr/>
          </p:nvSpPr>
          <p:spPr bwMode="auto">
            <a:xfrm>
              <a:off x="7173913" y="1997075"/>
              <a:ext cx="382588" cy="165100"/>
            </a:xfrm>
            <a:custGeom>
              <a:avLst/>
              <a:gdLst>
                <a:gd name="T0" fmla="*/ 489 w 503"/>
                <a:gd name="T1" fmla="*/ 117 h 216"/>
                <a:gd name="T2" fmla="*/ 494 w 503"/>
                <a:gd name="T3" fmla="*/ 111 h 216"/>
                <a:gd name="T4" fmla="*/ 502 w 503"/>
                <a:gd name="T5" fmla="*/ 8 h 216"/>
                <a:gd name="T6" fmla="*/ 500 w 503"/>
                <a:gd name="T7" fmla="*/ 2 h 216"/>
                <a:gd name="T8" fmla="*/ 494 w 503"/>
                <a:gd name="T9" fmla="*/ 0 h 216"/>
                <a:gd name="T10" fmla="*/ 391 w 503"/>
                <a:gd name="T11" fmla="*/ 9 h 216"/>
                <a:gd name="T12" fmla="*/ 385 w 503"/>
                <a:gd name="T13" fmla="*/ 14 h 216"/>
                <a:gd name="T14" fmla="*/ 387 w 503"/>
                <a:gd name="T15" fmla="*/ 21 h 216"/>
                <a:gd name="T16" fmla="*/ 416 w 503"/>
                <a:gd name="T17" fmla="*/ 50 h 216"/>
                <a:gd name="T18" fmla="*/ 292 w 503"/>
                <a:gd name="T19" fmla="*/ 152 h 216"/>
                <a:gd name="T20" fmla="*/ 190 w 503"/>
                <a:gd name="T21" fmla="*/ 73 h 216"/>
                <a:gd name="T22" fmla="*/ 161 w 503"/>
                <a:gd name="T23" fmla="*/ 72 h 216"/>
                <a:gd name="T24" fmla="*/ 0 w 503"/>
                <a:gd name="T25" fmla="*/ 174 h 216"/>
                <a:gd name="T26" fmla="*/ 27 w 503"/>
                <a:gd name="T27" fmla="*/ 216 h 216"/>
                <a:gd name="T28" fmla="*/ 173 w 503"/>
                <a:gd name="T29" fmla="*/ 124 h 216"/>
                <a:gd name="T30" fmla="*/ 278 w 503"/>
                <a:gd name="T31" fmla="*/ 205 h 216"/>
                <a:gd name="T32" fmla="*/ 309 w 503"/>
                <a:gd name="T33" fmla="*/ 204 h 216"/>
                <a:gd name="T34" fmla="*/ 452 w 503"/>
                <a:gd name="T35" fmla="*/ 86 h 216"/>
                <a:gd name="T36" fmla="*/ 482 w 503"/>
                <a:gd name="T37" fmla="*/ 116 h 216"/>
                <a:gd name="T38" fmla="*/ 489 w 503"/>
                <a:gd name="T39" fmla="*/ 11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3" h="216">
                  <a:moveTo>
                    <a:pt x="489" y="117"/>
                  </a:moveTo>
                  <a:cubicBezTo>
                    <a:pt x="492" y="116"/>
                    <a:pt x="494" y="114"/>
                    <a:pt x="494" y="111"/>
                  </a:cubicBezTo>
                  <a:lnTo>
                    <a:pt x="502" y="8"/>
                  </a:lnTo>
                  <a:cubicBezTo>
                    <a:pt x="503" y="6"/>
                    <a:pt x="502" y="4"/>
                    <a:pt x="500" y="2"/>
                  </a:cubicBezTo>
                  <a:cubicBezTo>
                    <a:pt x="499" y="0"/>
                    <a:pt x="497" y="0"/>
                    <a:pt x="494" y="0"/>
                  </a:cubicBezTo>
                  <a:lnTo>
                    <a:pt x="391" y="9"/>
                  </a:lnTo>
                  <a:cubicBezTo>
                    <a:pt x="388" y="9"/>
                    <a:pt x="386" y="11"/>
                    <a:pt x="385" y="14"/>
                  </a:cubicBezTo>
                  <a:cubicBezTo>
                    <a:pt x="384" y="16"/>
                    <a:pt x="385" y="19"/>
                    <a:pt x="387" y="21"/>
                  </a:cubicBezTo>
                  <a:lnTo>
                    <a:pt x="416" y="50"/>
                  </a:lnTo>
                  <a:lnTo>
                    <a:pt x="292" y="152"/>
                  </a:lnTo>
                  <a:lnTo>
                    <a:pt x="190" y="73"/>
                  </a:lnTo>
                  <a:cubicBezTo>
                    <a:pt x="182" y="67"/>
                    <a:pt x="170" y="66"/>
                    <a:pt x="161" y="72"/>
                  </a:cubicBezTo>
                  <a:lnTo>
                    <a:pt x="0" y="174"/>
                  </a:lnTo>
                  <a:lnTo>
                    <a:pt x="27" y="216"/>
                  </a:lnTo>
                  <a:lnTo>
                    <a:pt x="173" y="124"/>
                  </a:lnTo>
                  <a:lnTo>
                    <a:pt x="278" y="205"/>
                  </a:lnTo>
                  <a:cubicBezTo>
                    <a:pt x="287" y="212"/>
                    <a:pt x="300" y="212"/>
                    <a:pt x="309" y="204"/>
                  </a:cubicBezTo>
                  <a:lnTo>
                    <a:pt x="452" y="86"/>
                  </a:lnTo>
                  <a:lnTo>
                    <a:pt x="482" y="116"/>
                  </a:lnTo>
                  <a:cubicBezTo>
                    <a:pt x="485" y="119"/>
                    <a:pt x="488" y="118"/>
                    <a:pt x="489" y="117"/>
                  </a:cubicBez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29" name="Arc 328">
            <a:extLst>
              <a:ext uri="{FF2B5EF4-FFF2-40B4-BE49-F238E27FC236}">
                <a16:creationId xmlns:a16="http://schemas.microsoft.com/office/drawing/2014/main" id="{4C5689E7-63E3-ED96-4367-C6C3BB1A43AE}"/>
              </a:ext>
            </a:extLst>
          </p:cNvPr>
          <p:cNvSpPr>
            <a:spLocks noChangeAspect="1"/>
          </p:cNvSpPr>
          <p:nvPr/>
        </p:nvSpPr>
        <p:spPr>
          <a:xfrm flipV="1">
            <a:off x="5213009" y="1597527"/>
            <a:ext cx="2326690" cy="2038792"/>
          </a:xfrm>
          <a:prstGeom prst="arc">
            <a:avLst>
              <a:gd name="adj1" fmla="val 10766083"/>
              <a:gd name="adj2" fmla="val 69372"/>
            </a:avLst>
          </a:prstGeom>
          <a:noFill/>
          <a:ln w="285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solidFill>
                <a:schemeClr val="lt1"/>
              </a:solidFill>
            </a:endParaRPr>
          </a:p>
        </p:txBody>
      </p:sp>
      <p:sp>
        <p:nvSpPr>
          <p:cNvPr id="323" name="Oval 322">
            <a:extLst>
              <a:ext uri="{FF2B5EF4-FFF2-40B4-BE49-F238E27FC236}">
                <a16:creationId xmlns:a16="http://schemas.microsoft.com/office/drawing/2014/main" id="{70B3A99B-50E8-7180-BA91-14C6CE17FA8A}"/>
              </a:ext>
            </a:extLst>
          </p:cNvPr>
          <p:cNvSpPr>
            <a:spLocks noChangeAspect="1"/>
          </p:cNvSpPr>
          <p:nvPr/>
        </p:nvSpPr>
        <p:spPr>
          <a:xfrm>
            <a:off x="3924673" y="3076341"/>
            <a:ext cx="1080000" cy="1080000"/>
          </a:xfrm>
          <a:prstGeom prst="ellipse">
            <a:avLst/>
          </a:prstGeom>
          <a:solidFill>
            <a:schemeClr val="accent3">
              <a:lumMod val="20000"/>
              <a:lumOff val="80000"/>
            </a:schemeClr>
          </a:solidFill>
          <a:ln w="28575">
            <a:solidFill>
              <a:srgbClr val="D4E5F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324" name="Oval 323">
            <a:extLst>
              <a:ext uri="{FF2B5EF4-FFF2-40B4-BE49-F238E27FC236}">
                <a16:creationId xmlns:a16="http://schemas.microsoft.com/office/drawing/2014/main" id="{3A9FFA87-861F-5255-B8B6-2F791D7765C8}"/>
              </a:ext>
            </a:extLst>
          </p:cNvPr>
          <p:cNvSpPr>
            <a:spLocks noChangeAspect="1"/>
          </p:cNvSpPr>
          <p:nvPr/>
        </p:nvSpPr>
        <p:spPr>
          <a:xfrm>
            <a:off x="5877296" y="4102137"/>
            <a:ext cx="1080000" cy="1080000"/>
          </a:xfrm>
          <a:prstGeom prst="ellipse">
            <a:avLst/>
          </a:prstGeom>
          <a:solidFill>
            <a:schemeClr val="accent3">
              <a:lumMod val="60000"/>
              <a:lumOff val="40000"/>
            </a:schemeClr>
          </a:solidFill>
          <a:ln w="28575">
            <a:solidFill>
              <a:srgbClr val="7EB2E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325" name="Oval 324">
            <a:extLst>
              <a:ext uri="{FF2B5EF4-FFF2-40B4-BE49-F238E27FC236}">
                <a16:creationId xmlns:a16="http://schemas.microsoft.com/office/drawing/2014/main" id="{36B84716-073E-00D0-BCA0-F63985B79840}"/>
              </a:ext>
            </a:extLst>
          </p:cNvPr>
          <p:cNvSpPr>
            <a:spLocks noChangeAspect="1"/>
          </p:cNvSpPr>
          <p:nvPr/>
        </p:nvSpPr>
        <p:spPr>
          <a:xfrm>
            <a:off x="7687557" y="3131945"/>
            <a:ext cx="1080000" cy="1080000"/>
          </a:xfrm>
          <a:prstGeom prst="ellipse">
            <a:avLst/>
          </a:prstGeom>
          <a:solidFill>
            <a:srgbClr val="0070C0"/>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328" name="TextBox 327">
            <a:extLst>
              <a:ext uri="{FF2B5EF4-FFF2-40B4-BE49-F238E27FC236}">
                <a16:creationId xmlns:a16="http://schemas.microsoft.com/office/drawing/2014/main" id="{8DBF1994-D330-C13E-D5E4-A6CF3C556AE1}"/>
              </a:ext>
            </a:extLst>
          </p:cNvPr>
          <p:cNvSpPr txBox="1"/>
          <p:nvPr/>
        </p:nvSpPr>
        <p:spPr>
          <a:xfrm>
            <a:off x="7563253" y="3472968"/>
            <a:ext cx="1328609" cy="355580"/>
          </a:xfrm>
          <a:prstGeom prst="rect">
            <a:avLst/>
          </a:prstGeom>
          <a:noFill/>
        </p:spPr>
        <p:txBody>
          <a:bodyPr wrap="square" rtlCol="0" anchor="ctr">
            <a:noAutofit/>
          </a:bodyPr>
          <a:lstStyle/>
          <a:p>
            <a:pPr algn="ctr"/>
            <a:r>
              <a:rPr lang="en-GB" sz="1200" b="1">
                <a:solidFill>
                  <a:schemeClr val="bg1"/>
                </a:solidFill>
              </a:rPr>
              <a:t>3. Synthesize</a:t>
            </a:r>
          </a:p>
        </p:txBody>
      </p:sp>
      <p:sp>
        <p:nvSpPr>
          <p:cNvPr id="330" name="TextBox 329">
            <a:extLst>
              <a:ext uri="{FF2B5EF4-FFF2-40B4-BE49-F238E27FC236}">
                <a16:creationId xmlns:a16="http://schemas.microsoft.com/office/drawing/2014/main" id="{DE4FA4D3-47D5-4341-2423-E120A21EE408}"/>
              </a:ext>
            </a:extLst>
          </p:cNvPr>
          <p:cNvSpPr txBox="1"/>
          <p:nvPr/>
        </p:nvSpPr>
        <p:spPr>
          <a:xfrm>
            <a:off x="5279352" y="3147791"/>
            <a:ext cx="2207173" cy="251650"/>
          </a:xfrm>
          <a:prstGeom prst="rect">
            <a:avLst/>
          </a:prstGeom>
          <a:noFill/>
        </p:spPr>
        <p:txBody>
          <a:bodyPr wrap="square" rtlCol="0" anchor="ctr">
            <a:noAutofit/>
          </a:bodyPr>
          <a:lstStyle/>
          <a:p>
            <a:pPr algn="ctr"/>
            <a:r>
              <a:rPr lang="en-GB" sz="1200" b="1">
                <a:solidFill>
                  <a:schemeClr val="accent1"/>
                </a:solidFill>
              </a:rPr>
              <a:t>Elaboration Workshops</a:t>
            </a:r>
          </a:p>
        </p:txBody>
      </p:sp>
      <p:sp>
        <p:nvSpPr>
          <p:cNvPr id="331" name="Arrow: Right 330">
            <a:extLst>
              <a:ext uri="{FF2B5EF4-FFF2-40B4-BE49-F238E27FC236}">
                <a16:creationId xmlns:a16="http://schemas.microsoft.com/office/drawing/2014/main" id="{03C7F44F-8A1C-6141-D195-151079C4C339}"/>
              </a:ext>
            </a:extLst>
          </p:cNvPr>
          <p:cNvSpPr/>
          <p:nvPr/>
        </p:nvSpPr>
        <p:spPr>
          <a:xfrm rot="16200000">
            <a:off x="6220523" y="3612400"/>
            <a:ext cx="396000" cy="504000"/>
          </a:xfrm>
          <a:prstGeom prst="rightArrow">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332" name="Arrow: Right 331">
            <a:extLst>
              <a:ext uri="{FF2B5EF4-FFF2-40B4-BE49-F238E27FC236}">
                <a16:creationId xmlns:a16="http://schemas.microsoft.com/office/drawing/2014/main" id="{559DB452-F403-FEC4-0AC2-6DBD97F0CA48}"/>
              </a:ext>
            </a:extLst>
          </p:cNvPr>
          <p:cNvSpPr/>
          <p:nvPr/>
        </p:nvSpPr>
        <p:spPr>
          <a:xfrm rot="19570833">
            <a:off x="4917527" y="2948732"/>
            <a:ext cx="396000" cy="504000"/>
          </a:xfrm>
          <a:prstGeom prst="rightArrow">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333" name="Arrow: Right 332">
            <a:extLst>
              <a:ext uri="{FF2B5EF4-FFF2-40B4-BE49-F238E27FC236}">
                <a16:creationId xmlns:a16="http://schemas.microsoft.com/office/drawing/2014/main" id="{375840BE-8910-D902-239D-5DA5012A246E}"/>
              </a:ext>
            </a:extLst>
          </p:cNvPr>
          <p:cNvSpPr/>
          <p:nvPr/>
        </p:nvSpPr>
        <p:spPr>
          <a:xfrm rot="2029167" flipH="1">
            <a:off x="7393304" y="2982400"/>
            <a:ext cx="396000" cy="504000"/>
          </a:xfrm>
          <a:prstGeom prst="rightArrow">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335" name="TextBox 334">
            <a:extLst>
              <a:ext uri="{FF2B5EF4-FFF2-40B4-BE49-F238E27FC236}">
                <a16:creationId xmlns:a16="http://schemas.microsoft.com/office/drawing/2014/main" id="{24D8C812-ECF2-E564-D2DA-475B093F3698}"/>
              </a:ext>
            </a:extLst>
          </p:cNvPr>
          <p:cNvSpPr txBox="1"/>
          <p:nvPr/>
        </p:nvSpPr>
        <p:spPr>
          <a:xfrm>
            <a:off x="3799680" y="3455664"/>
            <a:ext cx="1328609" cy="355580"/>
          </a:xfrm>
          <a:prstGeom prst="rect">
            <a:avLst/>
          </a:prstGeom>
          <a:noFill/>
        </p:spPr>
        <p:txBody>
          <a:bodyPr wrap="square" rtlCol="0" anchor="ctr">
            <a:noAutofit/>
          </a:bodyPr>
          <a:lstStyle/>
          <a:p>
            <a:pPr algn="ctr"/>
            <a:r>
              <a:rPr lang="en-GB" sz="1200" b="1"/>
              <a:t>1. Strategize</a:t>
            </a:r>
          </a:p>
        </p:txBody>
      </p:sp>
      <p:sp>
        <p:nvSpPr>
          <p:cNvPr id="336" name="TextBox 335">
            <a:extLst>
              <a:ext uri="{FF2B5EF4-FFF2-40B4-BE49-F238E27FC236}">
                <a16:creationId xmlns:a16="http://schemas.microsoft.com/office/drawing/2014/main" id="{8577B840-CE4A-00F4-3DEA-BA1D2F95F771}"/>
              </a:ext>
            </a:extLst>
          </p:cNvPr>
          <p:cNvSpPr txBox="1"/>
          <p:nvPr/>
        </p:nvSpPr>
        <p:spPr>
          <a:xfrm>
            <a:off x="5752991" y="4460980"/>
            <a:ext cx="1328609" cy="355580"/>
          </a:xfrm>
          <a:prstGeom prst="rect">
            <a:avLst/>
          </a:prstGeom>
          <a:noFill/>
        </p:spPr>
        <p:txBody>
          <a:bodyPr wrap="square" rtlCol="0" anchor="ctr">
            <a:noAutofit/>
          </a:bodyPr>
          <a:lstStyle/>
          <a:p>
            <a:pPr algn="ctr"/>
            <a:r>
              <a:rPr lang="en-GB" sz="1200" b="1">
                <a:solidFill>
                  <a:schemeClr val="bg1"/>
                </a:solidFill>
              </a:rPr>
              <a:t>2. Conduct</a:t>
            </a:r>
          </a:p>
        </p:txBody>
      </p:sp>
      <p:sp>
        <p:nvSpPr>
          <p:cNvPr id="339" name="Rounded Rectangle 67">
            <a:extLst>
              <a:ext uri="{FF2B5EF4-FFF2-40B4-BE49-F238E27FC236}">
                <a16:creationId xmlns:a16="http://schemas.microsoft.com/office/drawing/2014/main" id="{63ABD8B7-E904-DC47-FA71-09809D9033EA}"/>
              </a:ext>
            </a:extLst>
          </p:cNvPr>
          <p:cNvSpPr>
            <a:spLocks/>
          </p:cNvSpPr>
          <p:nvPr/>
        </p:nvSpPr>
        <p:spPr>
          <a:xfrm>
            <a:off x="1268765" y="1220267"/>
            <a:ext cx="2082609" cy="1508143"/>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340" name="TextBox 196">
            <a:extLst>
              <a:ext uri="{FF2B5EF4-FFF2-40B4-BE49-F238E27FC236}">
                <a16:creationId xmlns:a16="http://schemas.microsoft.com/office/drawing/2014/main" id="{9440A5D0-88DE-543E-EE7D-789416361ADE}"/>
              </a:ext>
            </a:extLst>
          </p:cNvPr>
          <p:cNvSpPr txBox="1">
            <a:spLocks/>
          </p:cNvSpPr>
          <p:nvPr/>
        </p:nvSpPr>
        <p:spPr>
          <a:xfrm>
            <a:off x="1350954" y="1102732"/>
            <a:ext cx="1917715" cy="313624"/>
          </a:xfrm>
          <a:prstGeom prst="roundRect">
            <a:avLst>
              <a:gd name="adj" fmla="val 50000"/>
            </a:avLst>
          </a:prstGeom>
          <a:solidFill>
            <a:srgbClr val="12ABDB"/>
          </a:solidFill>
          <a:ln w="25400" cap="flat" cmpd="sng" algn="ctr">
            <a:solidFill>
              <a:srgbClr val="12ABDB"/>
            </a:solid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chemeClr val="tx1"/>
                </a:solidFill>
                <a:effectLst/>
                <a:uLnTx/>
                <a:uFillTx/>
                <a:latin typeface="+mj-lt"/>
                <a:ea typeface="Verdana" panose="020B0604030504040204" pitchFamily="34" charset="0"/>
                <a:cs typeface="Verdana" panose="020B0604030504040204" pitchFamily="34" charset="0"/>
              </a:rPr>
              <a:t>Elaboration</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chemeClr val="tx1"/>
                </a:solidFill>
                <a:effectLst/>
                <a:uLnTx/>
                <a:uFillTx/>
                <a:latin typeface="+mj-lt"/>
                <a:ea typeface="Verdana" panose="020B0604030504040204" pitchFamily="34" charset="0"/>
                <a:cs typeface="Verdana" panose="020B0604030504040204" pitchFamily="34" charset="0"/>
              </a:rPr>
              <a:t>readiness</a:t>
            </a:r>
          </a:p>
        </p:txBody>
      </p:sp>
      <p:sp>
        <p:nvSpPr>
          <p:cNvPr id="381" name="Rounded Rectangle 67">
            <a:extLst>
              <a:ext uri="{FF2B5EF4-FFF2-40B4-BE49-F238E27FC236}">
                <a16:creationId xmlns:a16="http://schemas.microsoft.com/office/drawing/2014/main" id="{5AAC2F1D-F2C4-C46D-AC52-06A69CD27AF6}"/>
              </a:ext>
            </a:extLst>
          </p:cNvPr>
          <p:cNvSpPr>
            <a:spLocks/>
          </p:cNvSpPr>
          <p:nvPr/>
        </p:nvSpPr>
        <p:spPr>
          <a:xfrm>
            <a:off x="1275789" y="3234892"/>
            <a:ext cx="2082609" cy="1581667"/>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382" name="TextBox 196">
            <a:extLst>
              <a:ext uri="{FF2B5EF4-FFF2-40B4-BE49-F238E27FC236}">
                <a16:creationId xmlns:a16="http://schemas.microsoft.com/office/drawing/2014/main" id="{5CADE226-5DEC-D2C5-960A-FBD6E65F8497}"/>
              </a:ext>
            </a:extLst>
          </p:cNvPr>
          <p:cNvSpPr txBox="1">
            <a:spLocks/>
          </p:cNvSpPr>
          <p:nvPr/>
        </p:nvSpPr>
        <p:spPr>
          <a:xfrm>
            <a:off x="1357978" y="3117356"/>
            <a:ext cx="1917715" cy="313624"/>
          </a:xfrm>
          <a:prstGeom prst="roundRect">
            <a:avLst>
              <a:gd name="adj" fmla="val 50000"/>
            </a:avLst>
          </a:prstGeom>
          <a:solidFill>
            <a:srgbClr val="D763C6"/>
          </a:solidFill>
          <a:ln w="25400" cap="flat" cmpd="sng" algn="ctr">
            <a:no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GB" sz="1000" b="0" kern="0">
                <a:latin typeface="+mj-lt"/>
                <a:ea typeface="Verdana" panose="020B0604030504040204" pitchFamily="34" charset="0"/>
                <a:cs typeface="Verdana" panose="020B0604030504040204" pitchFamily="34" charset="0"/>
              </a:rPr>
              <a:t>Elaboration</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effectLst/>
                <a:uLnTx/>
                <a:uFillTx/>
                <a:latin typeface="+mj-lt"/>
                <a:ea typeface="Verdana" panose="020B0604030504040204" pitchFamily="34" charset="0"/>
                <a:cs typeface="Verdana" panose="020B0604030504040204" pitchFamily="34" charset="0"/>
              </a:rPr>
              <a:t>readiness</a:t>
            </a:r>
            <a:endParaRPr kumimoji="0" lang="en-US" sz="1000" b="0" i="0" u="none" strike="noStrike" kern="0" cap="none" spc="0" normalizeH="0" baseline="0" noProof="0">
              <a:ln>
                <a:noFill/>
              </a:ln>
              <a:effectLst/>
              <a:uLnTx/>
              <a:uFillTx/>
              <a:latin typeface="+mj-lt"/>
              <a:ea typeface="Verdana" panose="020B0604030504040204" pitchFamily="34" charset="0"/>
              <a:cs typeface="Verdana" panose="020B0604030504040204" pitchFamily="34" charset="0"/>
            </a:endParaRPr>
          </a:p>
        </p:txBody>
      </p:sp>
      <p:cxnSp>
        <p:nvCxnSpPr>
          <p:cNvPr id="385" name="Connector: Curved 384">
            <a:extLst>
              <a:ext uri="{FF2B5EF4-FFF2-40B4-BE49-F238E27FC236}">
                <a16:creationId xmlns:a16="http://schemas.microsoft.com/office/drawing/2014/main" id="{92D2C73A-5352-D5AD-F201-E8C8533ECE20}"/>
              </a:ext>
            </a:extLst>
          </p:cNvPr>
          <p:cNvCxnSpPr>
            <a:cxnSpLocks/>
            <a:stCxn id="335" idx="1"/>
            <a:endCxn id="339" idx="3"/>
          </p:cNvCxnSpPr>
          <p:nvPr/>
        </p:nvCxnSpPr>
        <p:spPr>
          <a:xfrm rot="10800000">
            <a:off x="3351374" y="1974340"/>
            <a:ext cx="448306" cy="1659115"/>
          </a:xfrm>
          <a:prstGeom prst="curved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387" name="Connector: Curved 386">
            <a:extLst>
              <a:ext uri="{FF2B5EF4-FFF2-40B4-BE49-F238E27FC236}">
                <a16:creationId xmlns:a16="http://schemas.microsoft.com/office/drawing/2014/main" id="{0E746434-3947-D3DF-B261-0A99A5BDFBCA}"/>
              </a:ext>
            </a:extLst>
          </p:cNvPr>
          <p:cNvCxnSpPr>
            <a:cxnSpLocks/>
            <a:stCxn id="335" idx="1"/>
            <a:endCxn id="381" idx="3"/>
          </p:cNvCxnSpPr>
          <p:nvPr/>
        </p:nvCxnSpPr>
        <p:spPr>
          <a:xfrm rot="10800000" flipV="1">
            <a:off x="3358398" y="3633454"/>
            <a:ext cx="441282" cy="392272"/>
          </a:xfrm>
          <a:prstGeom prst="curvedConnector3">
            <a:avLst>
              <a:gd name="adj1" fmla="val 50000"/>
            </a:avLst>
          </a:prstGeom>
        </p:spPr>
        <p:style>
          <a:lnRef idx="1">
            <a:schemeClr val="accent1"/>
          </a:lnRef>
          <a:fillRef idx="0">
            <a:schemeClr val="accent1"/>
          </a:fillRef>
          <a:effectRef idx="0">
            <a:schemeClr val="accent1"/>
          </a:effectRef>
          <a:fontRef idx="minor">
            <a:schemeClr val="tx1"/>
          </a:fontRef>
        </p:style>
      </p:cxnSp>
      <p:grpSp>
        <p:nvGrpSpPr>
          <p:cNvPr id="388" name="Teacher7" descr="{&quot;Key&quot;:&quot;POWER_USER_SHAPE_ICON&quot;,&quot;Value&quot;:&quot;POWER_USER_SHAPE_ICON_STYLE_1&quot;}">
            <a:extLst>
              <a:ext uri="{FF2B5EF4-FFF2-40B4-BE49-F238E27FC236}">
                <a16:creationId xmlns:a16="http://schemas.microsoft.com/office/drawing/2014/main" id="{3E7A985F-435E-C47D-52F6-E6B068BD8F25}"/>
              </a:ext>
            </a:extLst>
          </p:cNvPr>
          <p:cNvGrpSpPr>
            <a:grpSpLocks noChangeAspect="1"/>
          </p:cNvGrpSpPr>
          <p:nvPr/>
        </p:nvGrpSpPr>
        <p:grpSpPr>
          <a:xfrm>
            <a:off x="1455643" y="2896880"/>
            <a:ext cx="332705" cy="324000"/>
            <a:chOff x="6302376" y="1846263"/>
            <a:chExt cx="479425" cy="479425"/>
          </a:xfrm>
          <a:solidFill>
            <a:schemeClr val="accent1"/>
          </a:solidFill>
        </p:grpSpPr>
        <p:sp>
          <p:nvSpPr>
            <p:cNvPr id="389" name="Rectangle 495">
              <a:extLst>
                <a:ext uri="{FF2B5EF4-FFF2-40B4-BE49-F238E27FC236}">
                  <a16:creationId xmlns:a16="http://schemas.microsoft.com/office/drawing/2014/main" id="{05F36F61-D705-1D34-D653-47D9334B23C8}"/>
                </a:ext>
              </a:extLst>
            </p:cNvPr>
            <p:cNvSpPr>
              <a:spLocks noChangeArrowheads="1"/>
            </p:cNvSpPr>
            <p:nvPr/>
          </p:nvSpPr>
          <p:spPr bwMode="auto">
            <a:xfrm>
              <a:off x="6586539" y="2144713"/>
              <a:ext cx="12700" cy="34925"/>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0" name="Freeform 496">
              <a:extLst>
                <a:ext uri="{FF2B5EF4-FFF2-40B4-BE49-F238E27FC236}">
                  <a16:creationId xmlns:a16="http://schemas.microsoft.com/office/drawing/2014/main" id="{AAFBC98F-760A-9B9B-00DC-BFD2E3FE2FD9}"/>
                </a:ext>
              </a:extLst>
            </p:cNvPr>
            <p:cNvSpPr>
              <a:spLocks/>
            </p:cNvSpPr>
            <p:nvPr/>
          </p:nvSpPr>
          <p:spPr bwMode="auto">
            <a:xfrm>
              <a:off x="6623051" y="2206626"/>
              <a:ext cx="158750" cy="117475"/>
            </a:xfrm>
            <a:custGeom>
              <a:avLst/>
              <a:gdLst>
                <a:gd name="T0" fmla="*/ 196 w 196"/>
                <a:gd name="T1" fmla="*/ 146 h 146"/>
                <a:gd name="T2" fmla="*/ 180 w 196"/>
                <a:gd name="T3" fmla="*/ 146 h 146"/>
                <a:gd name="T4" fmla="*/ 106 w 196"/>
                <a:gd name="T5" fmla="*/ 48 h 146"/>
                <a:gd name="T6" fmla="*/ 0 w 196"/>
                <a:gd name="T7" fmla="*/ 15 h 146"/>
                <a:gd name="T8" fmla="*/ 5 w 196"/>
                <a:gd name="T9" fmla="*/ 0 h 146"/>
                <a:gd name="T10" fmla="*/ 111 w 196"/>
                <a:gd name="T11" fmla="*/ 32 h 146"/>
                <a:gd name="T12" fmla="*/ 19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96" y="146"/>
                  </a:moveTo>
                  <a:lnTo>
                    <a:pt x="180" y="146"/>
                  </a:lnTo>
                  <a:cubicBezTo>
                    <a:pt x="180" y="101"/>
                    <a:pt x="150" y="61"/>
                    <a:pt x="106" y="48"/>
                  </a:cubicBezTo>
                  <a:lnTo>
                    <a:pt x="0" y="15"/>
                  </a:lnTo>
                  <a:lnTo>
                    <a:pt x="5" y="0"/>
                  </a:lnTo>
                  <a:lnTo>
                    <a:pt x="111" y="32"/>
                  </a:lnTo>
                  <a:cubicBezTo>
                    <a:pt x="162" y="47"/>
                    <a:pt x="196" y="93"/>
                    <a:pt x="19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1" name="Rectangle 497">
              <a:extLst>
                <a:ext uri="{FF2B5EF4-FFF2-40B4-BE49-F238E27FC236}">
                  <a16:creationId xmlns:a16="http://schemas.microsoft.com/office/drawing/2014/main" id="{BA952271-51CD-1001-BC77-1EE9B0CB479C}"/>
                </a:ext>
              </a:extLst>
            </p:cNvPr>
            <p:cNvSpPr>
              <a:spLocks noChangeArrowheads="1"/>
            </p:cNvSpPr>
            <p:nvPr/>
          </p:nvSpPr>
          <p:spPr bwMode="auto">
            <a:xfrm>
              <a:off x="6483351" y="2144713"/>
              <a:ext cx="12700" cy="39688"/>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2" name="Freeform 498">
              <a:extLst>
                <a:ext uri="{FF2B5EF4-FFF2-40B4-BE49-F238E27FC236}">
                  <a16:creationId xmlns:a16="http://schemas.microsoft.com/office/drawing/2014/main" id="{086791D5-B121-935C-0747-B1926324C12C}"/>
                </a:ext>
              </a:extLst>
            </p:cNvPr>
            <p:cNvSpPr>
              <a:spLocks/>
            </p:cNvSpPr>
            <p:nvPr/>
          </p:nvSpPr>
          <p:spPr bwMode="auto">
            <a:xfrm>
              <a:off x="6302376" y="2206626"/>
              <a:ext cx="157163" cy="117475"/>
            </a:xfrm>
            <a:custGeom>
              <a:avLst/>
              <a:gdLst>
                <a:gd name="T0" fmla="*/ 16 w 196"/>
                <a:gd name="T1" fmla="*/ 146 h 146"/>
                <a:gd name="T2" fmla="*/ 0 w 196"/>
                <a:gd name="T3" fmla="*/ 146 h 146"/>
                <a:gd name="T4" fmla="*/ 85 w 196"/>
                <a:gd name="T5" fmla="*/ 32 h 146"/>
                <a:gd name="T6" fmla="*/ 191 w 196"/>
                <a:gd name="T7" fmla="*/ 0 h 146"/>
                <a:gd name="T8" fmla="*/ 196 w 196"/>
                <a:gd name="T9" fmla="*/ 15 h 146"/>
                <a:gd name="T10" fmla="*/ 90 w 196"/>
                <a:gd name="T11" fmla="*/ 48 h 146"/>
                <a:gd name="T12" fmla="*/ 1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6" y="146"/>
                  </a:moveTo>
                  <a:lnTo>
                    <a:pt x="0" y="146"/>
                  </a:lnTo>
                  <a:cubicBezTo>
                    <a:pt x="0" y="93"/>
                    <a:pt x="34" y="47"/>
                    <a:pt x="85" y="32"/>
                  </a:cubicBezTo>
                  <a:lnTo>
                    <a:pt x="191" y="0"/>
                  </a:lnTo>
                  <a:lnTo>
                    <a:pt x="196" y="15"/>
                  </a:lnTo>
                  <a:lnTo>
                    <a:pt x="90" y="48"/>
                  </a:lnTo>
                  <a:cubicBezTo>
                    <a:pt x="46" y="61"/>
                    <a:pt x="16" y="101"/>
                    <a:pt x="1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3" name="Freeform 499">
              <a:extLst>
                <a:ext uri="{FF2B5EF4-FFF2-40B4-BE49-F238E27FC236}">
                  <a16:creationId xmlns:a16="http://schemas.microsoft.com/office/drawing/2014/main" id="{EB88F148-0359-0CEE-21C1-B8396D883435}"/>
                </a:ext>
              </a:extLst>
            </p:cNvPr>
            <p:cNvSpPr>
              <a:spLocks noEditPoints="1"/>
            </p:cNvSpPr>
            <p:nvPr/>
          </p:nvSpPr>
          <p:spPr bwMode="auto">
            <a:xfrm>
              <a:off x="6443664" y="1927226"/>
              <a:ext cx="195263" cy="250825"/>
            </a:xfrm>
            <a:custGeom>
              <a:avLst/>
              <a:gdLst>
                <a:gd name="T0" fmla="*/ 48 w 243"/>
                <a:gd name="T1" fmla="*/ 44 h 311"/>
                <a:gd name="T2" fmla="*/ 17 w 243"/>
                <a:gd name="T3" fmla="*/ 108 h 311"/>
                <a:gd name="T4" fmla="*/ 17 w 243"/>
                <a:gd name="T5" fmla="*/ 200 h 311"/>
                <a:gd name="T6" fmla="*/ 88 w 243"/>
                <a:gd name="T7" fmla="*/ 285 h 311"/>
                <a:gd name="T8" fmla="*/ 155 w 243"/>
                <a:gd name="T9" fmla="*/ 285 h 311"/>
                <a:gd name="T10" fmla="*/ 226 w 243"/>
                <a:gd name="T11" fmla="*/ 200 h 311"/>
                <a:gd name="T12" fmla="*/ 226 w 243"/>
                <a:gd name="T13" fmla="*/ 81 h 311"/>
                <a:gd name="T14" fmla="*/ 197 w 243"/>
                <a:gd name="T15" fmla="*/ 32 h 311"/>
                <a:gd name="T16" fmla="*/ 175 w 243"/>
                <a:gd name="T17" fmla="*/ 18 h 311"/>
                <a:gd name="T18" fmla="*/ 175 w 243"/>
                <a:gd name="T19" fmla="*/ 19 h 311"/>
                <a:gd name="T20" fmla="*/ 160 w 243"/>
                <a:gd name="T21" fmla="*/ 59 h 311"/>
                <a:gd name="T22" fmla="*/ 84 w 243"/>
                <a:gd name="T23" fmla="*/ 52 h 311"/>
                <a:gd name="T24" fmla="*/ 48 w 243"/>
                <a:gd name="T25" fmla="*/ 44 h 311"/>
                <a:gd name="T26" fmla="*/ 121 w 243"/>
                <a:gd name="T27" fmla="*/ 311 h 311"/>
                <a:gd name="T28" fmla="*/ 79 w 243"/>
                <a:gd name="T29" fmla="*/ 299 h 311"/>
                <a:gd name="T30" fmla="*/ 0 w 243"/>
                <a:gd name="T31" fmla="*/ 200 h 311"/>
                <a:gd name="T32" fmla="*/ 0 w 243"/>
                <a:gd name="T33" fmla="*/ 108 h 311"/>
                <a:gd name="T34" fmla="*/ 48 w 243"/>
                <a:gd name="T35" fmla="*/ 27 h 311"/>
                <a:gd name="T36" fmla="*/ 88 w 243"/>
                <a:gd name="T37" fmla="*/ 36 h 311"/>
                <a:gd name="T38" fmla="*/ 152 w 243"/>
                <a:gd name="T39" fmla="*/ 44 h 311"/>
                <a:gd name="T40" fmla="*/ 159 w 243"/>
                <a:gd name="T41" fmla="*/ 23 h 311"/>
                <a:gd name="T42" fmla="*/ 160 w 243"/>
                <a:gd name="T43" fmla="*/ 6 h 311"/>
                <a:gd name="T44" fmla="*/ 171 w 243"/>
                <a:gd name="T45" fmla="*/ 1 h 311"/>
                <a:gd name="T46" fmla="*/ 171 w 243"/>
                <a:gd name="T47" fmla="*/ 1 h 311"/>
                <a:gd name="T48" fmla="*/ 209 w 243"/>
                <a:gd name="T49" fmla="*/ 20 h 311"/>
                <a:gd name="T50" fmla="*/ 243 w 243"/>
                <a:gd name="T51" fmla="*/ 81 h 311"/>
                <a:gd name="T52" fmla="*/ 243 w 243"/>
                <a:gd name="T53" fmla="*/ 200 h 311"/>
                <a:gd name="T54" fmla="*/ 164 w 243"/>
                <a:gd name="T55" fmla="*/ 299 h 311"/>
                <a:gd name="T56" fmla="*/ 121 w 243"/>
                <a:gd name="T57" fmla="*/ 311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3" h="311">
                  <a:moveTo>
                    <a:pt x="48" y="44"/>
                  </a:moveTo>
                  <a:cubicBezTo>
                    <a:pt x="22" y="44"/>
                    <a:pt x="17" y="69"/>
                    <a:pt x="17" y="108"/>
                  </a:cubicBezTo>
                  <a:lnTo>
                    <a:pt x="17" y="200"/>
                  </a:lnTo>
                  <a:cubicBezTo>
                    <a:pt x="17" y="235"/>
                    <a:pt x="62" y="268"/>
                    <a:pt x="88" y="285"/>
                  </a:cubicBezTo>
                  <a:cubicBezTo>
                    <a:pt x="109" y="298"/>
                    <a:pt x="134" y="298"/>
                    <a:pt x="155" y="285"/>
                  </a:cubicBezTo>
                  <a:cubicBezTo>
                    <a:pt x="181" y="268"/>
                    <a:pt x="226" y="235"/>
                    <a:pt x="226" y="200"/>
                  </a:cubicBezTo>
                  <a:lnTo>
                    <a:pt x="226" y="81"/>
                  </a:lnTo>
                  <a:cubicBezTo>
                    <a:pt x="226" y="70"/>
                    <a:pt x="213" y="47"/>
                    <a:pt x="197" y="32"/>
                  </a:cubicBezTo>
                  <a:cubicBezTo>
                    <a:pt x="188" y="23"/>
                    <a:pt x="180" y="19"/>
                    <a:pt x="175" y="18"/>
                  </a:cubicBezTo>
                  <a:cubicBezTo>
                    <a:pt x="175" y="18"/>
                    <a:pt x="175" y="18"/>
                    <a:pt x="175" y="19"/>
                  </a:cubicBezTo>
                  <a:cubicBezTo>
                    <a:pt x="178" y="28"/>
                    <a:pt x="184" y="47"/>
                    <a:pt x="160" y="59"/>
                  </a:cubicBezTo>
                  <a:cubicBezTo>
                    <a:pt x="142" y="68"/>
                    <a:pt x="112" y="60"/>
                    <a:pt x="84" y="52"/>
                  </a:cubicBezTo>
                  <a:cubicBezTo>
                    <a:pt x="69" y="48"/>
                    <a:pt x="56" y="44"/>
                    <a:pt x="48" y="44"/>
                  </a:cubicBezTo>
                  <a:close/>
                  <a:moveTo>
                    <a:pt x="121" y="311"/>
                  </a:moveTo>
                  <a:cubicBezTo>
                    <a:pt x="107" y="311"/>
                    <a:pt x="92" y="307"/>
                    <a:pt x="79" y="299"/>
                  </a:cubicBezTo>
                  <a:cubicBezTo>
                    <a:pt x="43" y="276"/>
                    <a:pt x="0" y="241"/>
                    <a:pt x="0" y="200"/>
                  </a:cubicBezTo>
                  <a:lnTo>
                    <a:pt x="0" y="108"/>
                  </a:lnTo>
                  <a:cubicBezTo>
                    <a:pt x="0" y="84"/>
                    <a:pt x="0" y="27"/>
                    <a:pt x="48" y="27"/>
                  </a:cubicBezTo>
                  <a:cubicBezTo>
                    <a:pt x="58" y="27"/>
                    <a:pt x="72" y="31"/>
                    <a:pt x="88" y="36"/>
                  </a:cubicBezTo>
                  <a:cubicBezTo>
                    <a:pt x="111" y="42"/>
                    <a:pt x="140" y="50"/>
                    <a:pt x="152" y="44"/>
                  </a:cubicBezTo>
                  <a:cubicBezTo>
                    <a:pt x="164" y="39"/>
                    <a:pt x="162" y="33"/>
                    <a:pt x="159" y="23"/>
                  </a:cubicBezTo>
                  <a:cubicBezTo>
                    <a:pt x="158" y="18"/>
                    <a:pt x="156" y="12"/>
                    <a:pt x="160" y="6"/>
                  </a:cubicBezTo>
                  <a:cubicBezTo>
                    <a:pt x="162" y="3"/>
                    <a:pt x="166" y="1"/>
                    <a:pt x="171" y="1"/>
                  </a:cubicBezTo>
                  <a:lnTo>
                    <a:pt x="171" y="1"/>
                  </a:lnTo>
                  <a:cubicBezTo>
                    <a:pt x="185" y="0"/>
                    <a:pt x="199" y="11"/>
                    <a:pt x="209" y="20"/>
                  </a:cubicBezTo>
                  <a:cubicBezTo>
                    <a:pt x="225" y="36"/>
                    <a:pt x="243" y="63"/>
                    <a:pt x="243" y="81"/>
                  </a:cubicBezTo>
                  <a:lnTo>
                    <a:pt x="243" y="200"/>
                  </a:lnTo>
                  <a:cubicBezTo>
                    <a:pt x="243" y="241"/>
                    <a:pt x="200" y="276"/>
                    <a:pt x="164" y="299"/>
                  </a:cubicBezTo>
                  <a:cubicBezTo>
                    <a:pt x="151" y="307"/>
                    <a:pt x="136" y="311"/>
                    <a:pt x="121" y="311"/>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4" name="Freeform 500">
              <a:extLst>
                <a:ext uri="{FF2B5EF4-FFF2-40B4-BE49-F238E27FC236}">
                  <a16:creationId xmlns:a16="http://schemas.microsoft.com/office/drawing/2014/main" id="{0FB9500B-4309-8FEF-C068-3926AFE04D91}"/>
                </a:ext>
              </a:extLst>
            </p:cNvPr>
            <p:cNvSpPr>
              <a:spLocks noEditPoints="1"/>
            </p:cNvSpPr>
            <p:nvPr/>
          </p:nvSpPr>
          <p:spPr bwMode="auto">
            <a:xfrm>
              <a:off x="6413501" y="2011363"/>
              <a:ext cx="44450" cy="85725"/>
            </a:xfrm>
            <a:custGeom>
              <a:avLst/>
              <a:gdLst>
                <a:gd name="T0" fmla="*/ 27 w 55"/>
                <a:gd name="T1" fmla="*/ 17 h 107"/>
                <a:gd name="T2" fmla="*/ 16 w 55"/>
                <a:gd name="T3" fmla="*/ 27 h 107"/>
                <a:gd name="T4" fmla="*/ 16 w 55"/>
                <a:gd name="T5" fmla="*/ 30 h 107"/>
                <a:gd name="T6" fmla="*/ 26 w 55"/>
                <a:gd name="T7" fmla="*/ 75 h 107"/>
                <a:gd name="T8" fmla="*/ 39 w 55"/>
                <a:gd name="T9" fmla="*/ 89 h 107"/>
                <a:gd name="T10" fmla="*/ 38 w 55"/>
                <a:gd name="T11" fmla="*/ 17 h 107"/>
                <a:gd name="T12" fmla="*/ 27 w 55"/>
                <a:gd name="T13" fmla="*/ 17 h 107"/>
                <a:gd name="T14" fmla="*/ 55 w 55"/>
                <a:gd name="T15" fmla="*/ 107 h 107"/>
                <a:gd name="T16" fmla="*/ 47 w 55"/>
                <a:gd name="T17" fmla="*/ 107 h 107"/>
                <a:gd name="T18" fmla="*/ 12 w 55"/>
                <a:gd name="T19" fmla="*/ 82 h 107"/>
                <a:gd name="T20" fmla="*/ 0 w 55"/>
                <a:gd name="T21" fmla="*/ 30 h 107"/>
                <a:gd name="T22" fmla="*/ 0 w 55"/>
                <a:gd name="T23" fmla="*/ 27 h 107"/>
                <a:gd name="T24" fmla="*/ 27 w 55"/>
                <a:gd name="T25" fmla="*/ 0 h 107"/>
                <a:gd name="T26" fmla="*/ 55 w 55"/>
                <a:gd name="T27" fmla="*/ 0 h 107"/>
                <a:gd name="T28" fmla="*/ 55 w 55"/>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 h="107">
                  <a:moveTo>
                    <a:pt x="27" y="17"/>
                  </a:moveTo>
                  <a:cubicBezTo>
                    <a:pt x="21" y="17"/>
                    <a:pt x="16" y="21"/>
                    <a:pt x="16" y="27"/>
                  </a:cubicBezTo>
                  <a:lnTo>
                    <a:pt x="16" y="30"/>
                  </a:lnTo>
                  <a:cubicBezTo>
                    <a:pt x="16" y="46"/>
                    <a:pt x="20" y="62"/>
                    <a:pt x="26" y="75"/>
                  </a:cubicBezTo>
                  <a:cubicBezTo>
                    <a:pt x="31" y="83"/>
                    <a:pt x="34" y="87"/>
                    <a:pt x="39" y="89"/>
                  </a:cubicBezTo>
                  <a:lnTo>
                    <a:pt x="38" y="17"/>
                  </a:lnTo>
                  <a:lnTo>
                    <a:pt x="27" y="17"/>
                  </a:lnTo>
                  <a:close/>
                  <a:moveTo>
                    <a:pt x="55" y="107"/>
                  </a:moveTo>
                  <a:lnTo>
                    <a:pt x="47" y="107"/>
                  </a:lnTo>
                  <a:cubicBezTo>
                    <a:pt x="28" y="107"/>
                    <a:pt x="19" y="98"/>
                    <a:pt x="12" y="82"/>
                  </a:cubicBezTo>
                  <a:cubicBezTo>
                    <a:pt x="4" y="67"/>
                    <a:pt x="0" y="49"/>
                    <a:pt x="0" y="30"/>
                  </a:cubicBezTo>
                  <a:lnTo>
                    <a:pt x="0" y="27"/>
                  </a:lnTo>
                  <a:cubicBezTo>
                    <a:pt x="0" y="12"/>
                    <a:pt x="12" y="0"/>
                    <a:pt x="27" y="0"/>
                  </a:cubicBezTo>
                  <a:lnTo>
                    <a:pt x="55" y="0"/>
                  </a:lnTo>
                  <a:lnTo>
                    <a:pt x="55" y="10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5" name="Freeform 501">
              <a:extLst>
                <a:ext uri="{FF2B5EF4-FFF2-40B4-BE49-F238E27FC236}">
                  <a16:creationId xmlns:a16="http://schemas.microsoft.com/office/drawing/2014/main" id="{66B80A62-7E99-4E39-4D22-FA92B05C3609}"/>
                </a:ext>
              </a:extLst>
            </p:cNvPr>
            <p:cNvSpPr>
              <a:spLocks/>
            </p:cNvSpPr>
            <p:nvPr/>
          </p:nvSpPr>
          <p:spPr bwMode="auto">
            <a:xfrm>
              <a:off x="6411914" y="1846263"/>
              <a:ext cx="260350" cy="174625"/>
            </a:xfrm>
            <a:custGeom>
              <a:avLst/>
              <a:gdLst>
                <a:gd name="T0" fmla="*/ 9 w 323"/>
                <a:gd name="T1" fmla="*/ 217 h 217"/>
                <a:gd name="T2" fmla="*/ 4 w 323"/>
                <a:gd name="T3" fmla="*/ 186 h 217"/>
                <a:gd name="T4" fmla="*/ 11 w 323"/>
                <a:gd name="T5" fmla="*/ 105 h 217"/>
                <a:gd name="T6" fmla="*/ 161 w 323"/>
                <a:gd name="T7" fmla="*/ 2 h 217"/>
                <a:gd name="T8" fmla="*/ 312 w 323"/>
                <a:gd name="T9" fmla="*/ 105 h 217"/>
                <a:gd name="T10" fmla="*/ 318 w 323"/>
                <a:gd name="T11" fmla="*/ 186 h 217"/>
                <a:gd name="T12" fmla="*/ 313 w 323"/>
                <a:gd name="T13" fmla="*/ 217 h 217"/>
                <a:gd name="T14" fmla="*/ 297 w 323"/>
                <a:gd name="T15" fmla="*/ 214 h 217"/>
                <a:gd name="T16" fmla="*/ 302 w 323"/>
                <a:gd name="T17" fmla="*/ 184 h 217"/>
                <a:gd name="T18" fmla="*/ 296 w 323"/>
                <a:gd name="T19" fmla="*/ 111 h 217"/>
                <a:gd name="T20" fmla="*/ 161 w 323"/>
                <a:gd name="T21" fmla="*/ 18 h 217"/>
                <a:gd name="T22" fmla="*/ 26 w 323"/>
                <a:gd name="T23" fmla="*/ 111 h 217"/>
                <a:gd name="T24" fmla="*/ 21 w 323"/>
                <a:gd name="T25" fmla="*/ 184 h 217"/>
                <a:gd name="T26" fmla="*/ 26 w 323"/>
                <a:gd name="T27" fmla="*/ 214 h 217"/>
                <a:gd name="T28" fmla="*/ 9 w 323"/>
                <a:gd name="T29" fmla="*/ 21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3" h="217">
                  <a:moveTo>
                    <a:pt x="9" y="217"/>
                  </a:moveTo>
                  <a:lnTo>
                    <a:pt x="4" y="186"/>
                  </a:lnTo>
                  <a:cubicBezTo>
                    <a:pt x="0" y="157"/>
                    <a:pt x="2" y="129"/>
                    <a:pt x="11" y="105"/>
                  </a:cubicBezTo>
                  <a:cubicBezTo>
                    <a:pt x="34" y="41"/>
                    <a:pt x="95" y="0"/>
                    <a:pt x="161" y="2"/>
                  </a:cubicBezTo>
                  <a:cubicBezTo>
                    <a:pt x="228" y="0"/>
                    <a:pt x="288" y="41"/>
                    <a:pt x="312" y="105"/>
                  </a:cubicBezTo>
                  <a:cubicBezTo>
                    <a:pt x="321" y="129"/>
                    <a:pt x="323" y="157"/>
                    <a:pt x="318" y="186"/>
                  </a:cubicBezTo>
                  <a:lnTo>
                    <a:pt x="313" y="217"/>
                  </a:lnTo>
                  <a:lnTo>
                    <a:pt x="297" y="214"/>
                  </a:lnTo>
                  <a:lnTo>
                    <a:pt x="302" y="184"/>
                  </a:lnTo>
                  <a:cubicBezTo>
                    <a:pt x="306" y="157"/>
                    <a:pt x="304" y="132"/>
                    <a:pt x="296" y="111"/>
                  </a:cubicBezTo>
                  <a:cubicBezTo>
                    <a:pt x="275" y="54"/>
                    <a:pt x="222" y="17"/>
                    <a:pt x="161" y="18"/>
                  </a:cubicBezTo>
                  <a:cubicBezTo>
                    <a:pt x="102" y="17"/>
                    <a:pt x="47" y="54"/>
                    <a:pt x="26" y="111"/>
                  </a:cubicBezTo>
                  <a:cubicBezTo>
                    <a:pt x="18" y="132"/>
                    <a:pt x="16" y="157"/>
                    <a:pt x="21" y="184"/>
                  </a:cubicBezTo>
                  <a:lnTo>
                    <a:pt x="26" y="214"/>
                  </a:lnTo>
                  <a:lnTo>
                    <a:pt x="9" y="21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6" name="Freeform 502">
              <a:extLst>
                <a:ext uri="{FF2B5EF4-FFF2-40B4-BE49-F238E27FC236}">
                  <a16:creationId xmlns:a16="http://schemas.microsoft.com/office/drawing/2014/main" id="{79AED08E-50FB-6CC5-1D47-0F6839CADBE5}"/>
                </a:ext>
              </a:extLst>
            </p:cNvPr>
            <p:cNvSpPr>
              <a:spLocks noEditPoints="1"/>
            </p:cNvSpPr>
            <p:nvPr/>
          </p:nvSpPr>
          <p:spPr bwMode="auto">
            <a:xfrm>
              <a:off x="6626226" y="2011363"/>
              <a:ext cx="44450" cy="85725"/>
            </a:xfrm>
            <a:custGeom>
              <a:avLst/>
              <a:gdLst>
                <a:gd name="T0" fmla="*/ 17 w 56"/>
                <a:gd name="T1" fmla="*/ 17 h 107"/>
                <a:gd name="T2" fmla="*/ 17 w 56"/>
                <a:gd name="T3" fmla="*/ 89 h 107"/>
                <a:gd name="T4" fmla="*/ 29 w 56"/>
                <a:gd name="T5" fmla="*/ 75 h 107"/>
                <a:gd name="T6" fmla="*/ 40 w 56"/>
                <a:gd name="T7" fmla="*/ 30 h 107"/>
                <a:gd name="T8" fmla="*/ 40 w 56"/>
                <a:gd name="T9" fmla="*/ 27 h 107"/>
                <a:gd name="T10" fmla="*/ 29 w 56"/>
                <a:gd name="T11" fmla="*/ 17 h 107"/>
                <a:gd name="T12" fmla="*/ 17 w 56"/>
                <a:gd name="T13" fmla="*/ 17 h 107"/>
                <a:gd name="T14" fmla="*/ 9 w 56"/>
                <a:gd name="T15" fmla="*/ 107 h 107"/>
                <a:gd name="T16" fmla="*/ 0 w 56"/>
                <a:gd name="T17" fmla="*/ 107 h 107"/>
                <a:gd name="T18" fmla="*/ 1 w 56"/>
                <a:gd name="T19" fmla="*/ 0 h 107"/>
                <a:gd name="T20" fmla="*/ 29 w 56"/>
                <a:gd name="T21" fmla="*/ 0 h 107"/>
                <a:gd name="T22" fmla="*/ 56 w 56"/>
                <a:gd name="T23" fmla="*/ 27 h 107"/>
                <a:gd name="T24" fmla="*/ 56 w 56"/>
                <a:gd name="T25" fmla="*/ 30 h 107"/>
                <a:gd name="T26" fmla="*/ 44 w 56"/>
                <a:gd name="T27" fmla="*/ 82 h 107"/>
                <a:gd name="T28" fmla="*/ 9 w 56"/>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107">
                  <a:moveTo>
                    <a:pt x="17" y="17"/>
                  </a:moveTo>
                  <a:lnTo>
                    <a:pt x="17" y="89"/>
                  </a:lnTo>
                  <a:cubicBezTo>
                    <a:pt x="22" y="87"/>
                    <a:pt x="25" y="83"/>
                    <a:pt x="29" y="75"/>
                  </a:cubicBezTo>
                  <a:cubicBezTo>
                    <a:pt x="36" y="62"/>
                    <a:pt x="40" y="46"/>
                    <a:pt x="40" y="30"/>
                  </a:cubicBezTo>
                  <a:lnTo>
                    <a:pt x="40" y="27"/>
                  </a:lnTo>
                  <a:cubicBezTo>
                    <a:pt x="40" y="21"/>
                    <a:pt x="35" y="17"/>
                    <a:pt x="29" y="17"/>
                  </a:cubicBezTo>
                  <a:lnTo>
                    <a:pt x="17" y="17"/>
                  </a:lnTo>
                  <a:close/>
                  <a:moveTo>
                    <a:pt x="9" y="107"/>
                  </a:moveTo>
                  <a:lnTo>
                    <a:pt x="0" y="107"/>
                  </a:lnTo>
                  <a:lnTo>
                    <a:pt x="1" y="0"/>
                  </a:lnTo>
                  <a:lnTo>
                    <a:pt x="29" y="0"/>
                  </a:lnTo>
                  <a:cubicBezTo>
                    <a:pt x="44" y="0"/>
                    <a:pt x="56" y="12"/>
                    <a:pt x="56" y="27"/>
                  </a:cubicBezTo>
                  <a:lnTo>
                    <a:pt x="56" y="30"/>
                  </a:lnTo>
                  <a:cubicBezTo>
                    <a:pt x="56" y="49"/>
                    <a:pt x="52" y="67"/>
                    <a:pt x="44" y="82"/>
                  </a:cubicBezTo>
                  <a:cubicBezTo>
                    <a:pt x="36" y="98"/>
                    <a:pt x="28" y="107"/>
                    <a:pt x="9" y="107"/>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7" name="Freeform 503">
              <a:extLst>
                <a:ext uri="{FF2B5EF4-FFF2-40B4-BE49-F238E27FC236}">
                  <a16:creationId xmlns:a16="http://schemas.microsoft.com/office/drawing/2014/main" id="{56A22040-9F9F-6835-5C57-E0E2B1780ED4}"/>
                </a:ext>
              </a:extLst>
            </p:cNvPr>
            <p:cNvSpPr>
              <a:spLocks noEditPoints="1"/>
            </p:cNvSpPr>
            <p:nvPr/>
          </p:nvSpPr>
          <p:spPr bwMode="auto">
            <a:xfrm>
              <a:off x="6530976" y="2166938"/>
              <a:ext cx="103188" cy="103188"/>
            </a:xfrm>
            <a:custGeom>
              <a:avLst/>
              <a:gdLst>
                <a:gd name="T0" fmla="*/ 25 w 128"/>
                <a:gd name="T1" fmla="*/ 72 h 127"/>
                <a:gd name="T2" fmla="*/ 56 w 128"/>
                <a:gd name="T3" fmla="*/ 104 h 127"/>
                <a:gd name="T4" fmla="*/ 106 w 128"/>
                <a:gd name="T5" fmla="*/ 56 h 127"/>
                <a:gd name="T6" fmla="*/ 81 w 128"/>
                <a:gd name="T7" fmla="*/ 24 h 127"/>
                <a:gd name="T8" fmla="*/ 25 w 128"/>
                <a:gd name="T9" fmla="*/ 72 h 127"/>
                <a:gd name="T10" fmla="*/ 55 w 128"/>
                <a:gd name="T11" fmla="*/ 127 h 127"/>
                <a:gd name="T12" fmla="*/ 0 w 128"/>
                <a:gd name="T13" fmla="*/ 71 h 127"/>
                <a:gd name="T14" fmla="*/ 84 w 128"/>
                <a:gd name="T15" fmla="*/ 0 h 127"/>
                <a:gd name="T16" fmla="*/ 128 w 128"/>
                <a:gd name="T17" fmla="*/ 57 h 127"/>
                <a:gd name="T18" fmla="*/ 55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5" y="72"/>
                  </a:moveTo>
                  <a:lnTo>
                    <a:pt x="56" y="104"/>
                  </a:lnTo>
                  <a:lnTo>
                    <a:pt x="106" y="56"/>
                  </a:lnTo>
                  <a:lnTo>
                    <a:pt x="81" y="24"/>
                  </a:lnTo>
                  <a:lnTo>
                    <a:pt x="25" y="72"/>
                  </a:lnTo>
                  <a:close/>
                  <a:moveTo>
                    <a:pt x="55" y="127"/>
                  </a:moveTo>
                  <a:lnTo>
                    <a:pt x="0" y="71"/>
                  </a:lnTo>
                  <a:lnTo>
                    <a:pt x="84" y="0"/>
                  </a:lnTo>
                  <a:lnTo>
                    <a:pt x="128" y="57"/>
                  </a:lnTo>
                  <a:lnTo>
                    <a:pt x="55"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8" name="Freeform 504">
              <a:extLst>
                <a:ext uri="{FF2B5EF4-FFF2-40B4-BE49-F238E27FC236}">
                  <a16:creationId xmlns:a16="http://schemas.microsoft.com/office/drawing/2014/main" id="{7704F8A2-220F-7C43-4128-B199539299CD}"/>
                </a:ext>
              </a:extLst>
            </p:cNvPr>
            <p:cNvSpPr>
              <a:spLocks noEditPoints="1"/>
            </p:cNvSpPr>
            <p:nvPr/>
          </p:nvSpPr>
          <p:spPr bwMode="auto">
            <a:xfrm>
              <a:off x="6448426" y="2166938"/>
              <a:ext cx="103188" cy="103188"/>
            </a:xfrm>
            <a:custGeom>
              <a:avLst/>
              <a:gdLst>
                <a:gd name="T0" fmla="*/ 22 w 128"/>
                <a:gd name="T1" fmla="*/ 56 h 127"/>
                <a:gd name="T2" fmla="*/ 72 w 128"/>
                <a:gd name="T3" fmla="*/ 104 h 127"/>
                <a:gd name="T4" fmla="*/ 103 w 128"/>
                <a:gd name="T5" fmla="*/ 72 h 127"/>
                <a:gd name="T6" fmla="*/ 47 w 128"/>
                <a:gd name="T7" fmla="*/ 24 h 127"/>
                <a:gd name="T8" fmla="*/ 22 w 128"/>
                <a:gd name="T9" fmla="*/ 56 h 127"/>
                <a:gd name="T10" fmla="*/ 73 w 128"/>
                <a:gd name="T11" fmla="*/ 127 h 127"/>
                <a:gd name="T12" fmla="*/ 0 w 128"/>
                <a:gd name="T13" fmla="*/ 57 h 127"/>
                <a:gd name="T14" fmla="*/ 44 w 128"/>
                <a:gd name="T15" fmla="*/ 0 h 127"/>
                <a:gd name="T16" fmla="*/ 128 w 128"/>
                <a:gd name="T17" fmla="*/ 71 h 127"/>
                <a:gd name="T18" fmla="*/ 73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2" y="56"/>
                  </a:moveTo>
                  <a:lnTo>
                    <a:pt x="72" y="104"/>
                  </a:lnTo>
                  <a:lnTo>
                    <a:pt x="103" y="72"/>
                  </a:lnTo>
                  <a:lnTo>
                    <a:pt x="47" y="24"/>
                  </a:lnTo>
                  <a:lnTo>
                    <a:pt x="22" y="56"/>
                  </a:lnTo>
                  <a:close/>
                  <a:moveTo>
                    <a:pt x="73" y="127"/>
                  </a:moveTo>
                  <a:lnTo>
                    <a:pt x="0" y="57"/>
                  </a:lnTo>
                  <a:lnTo>
                    <a:pt x="44" y="0"/>
                  </a:lnTo>
                  <a:lnTo>
                    <a:pt x="128" y="71"/>
                  </a:lnTo>
                  <a:lnTo>
                    <a:pt x="73"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9" name="Freeform 505">
              <a:extLst>
                <a:ext uri="{FF2B5EF4-FFF2-40B4-BE49-F238E27FC236}">
                  <a16:creationId xmlns:a16="http://schemas.microsoft.com/office/drawing/2014/main" id="{C2B0227C-7B01-2E3F-FD97-1CBA49892025}"/>
                </a:ext>
              </a:extLst>
            </p:cNvPr>
            <p:cNvSpPr>
              <a:spLocks/>
            </p:cNvSpPr>
            <p:nvPr/>
          </p:nvSpPr>
          <p:spPr bwMode="auto">
            <a:xfrm>
              <a:off x="6508751" y="2249488"/>
              <a:ext cx="66675" cy="31750"/>
            </a:xfrm>
            <a:custGeom>
              <a:avLst/>
              <a:gdLst>
                <a:gd name="T0" fmla="*/ 41 w 83"/>
                <a:gd name="T1" fmla="*/ 40 h 40"/>
                <a:gd name="T2" fmla="*/ 20 w 83"/>
                <a:gd name="T3" fmla="*/ 31 h 40"/>
                <a:gd name="T4" fmla="*/ 0 w 83"/>
                <a:gd name="T5" fmla="*/ 12 h 40"/>
                <a:gd name="T6" fmla="*/ 12 w 83"/>
                <a:gd name="T7" fmla="*/ 0 h 40"/>
                <a:gd name="T8" fmla="*/ 32 w 83"/>
                <a:gd name="T9" fmla="*/ 19 h 40"/>
                <a:gd name="T10" fmla="*/ 51 w 83"/>
                <a:gd name="T11" fmla="*/ 19 h 40"/>
                <a:gd name="T12" fmla="*/ 71 w 83"/>
                <a:gd name="T13" fmla="*/ 0 h 40"/>
                <a:gd name="T14" fmla="*/ 83 w 83"/>
                <a:gd name="T15" fmla="*/ 12 h 40"/>
                <a:gd name="T16" fmla="*/ 63 w 83"/>
                <a:gd name="T17" fmla="*/ 31 h 40"/>
                <a:gd name="T18" fmla="*/ 41 w 83"/>
                <a:gd name="T1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40">
                  <a:moveTo>
                    <a:pt x="41" y="40"/>
                  </a:moveTo>
                  <a:cubicBezTo>
                    <a:pt x="34" y="40"/>
                    <a:pt x="26" y="37"/>
                    <a:pt x="20" y="31"/>
                  </a:cubicBezTo>
                  <a:lnTo>
                    <a:pt x="0" y="12"/>
                  </a:lnTo>
                  <a:lnTo>
                    <a:pt x="12" y="0"/>
                  </a:lnTo>
                  <a:lnTo>
                    <a:pt x="32" y="19"/>
                  </a:lnTo>
                  <a:cubicBezTo>
                    <a:pt x="37" y="24"/>
                    <a:pt x="46" y="24"/>
                    <a:pt x="51" y="19"/>
                  </a:cubicBezTo>
                  <a:lnTo>
                    <a:pt x="71" y="0"/>
                  </a:lnTo>
                  <a:lnTo>
                    <a:pt x="83" y="12"/>
                  </a:lnTo>
                  <a:lnTo>
                    <a:pt x="63" y="31"/>
                  </a:lnTo>
                  <a:cubicBezTo>
                    <a:pt x="57" y="37"/>
                    <a:pt x="49" y="40"/>
                    <a:pt x="41" y="40"/>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0" name="Freeform 506">
              <a:extLst>
                <a:ext uri="{FF2B5EF4-FFF2-40B4-BE49-F238E27FC236}">
                  <a16:creationId xmlns:a16="http://schemas.microsoft.com/office/drawing/2014/main" id="{B17DA233-C3A7-041A-724C-54488FEDF3D1}"/>
                </a:ext>
              </a:extLst>
            </p:cNvPr>
            <p:cNvSpPr>
              <a:spLocks/>
            </p:cNvSpPr>
            <p:nvPr/>
          </p:nvSpPr>
          <p:spPr bwMode="auto">
            <a:xfrm>
              <a:off x="6508751" y="2268538"/>
              <a:ext cx="25400" cy="57150"/>
            </a:xfrm>
            <a:custGeom>
              <a:avLst/>
              <a:gdLst>
                <a:gd name="T0" fmla="*/ 8 w 16"/>
                <a:gd name="T1" fmla="*/ 36 h 36"/>
                <a:gd name="T2" fmla="*/ 0 w 16"/>
                <a:gd name="T3" fmla="*/ 34 h 36"/>
                <a:gd name="T4" fmla="*/ 8 w 16"/>
                <a:gd name="T5" fmla="*/ 0 h 36"/>
                <a:gd name="T6" fmla="*/ 16 w 16"/>
                <a:gd name="T7" fmla="*/ 2 h 36"/>
                <a:gd name="T8" fmla="*/ 8 w 16"/>
                <a:gd name="T9" fmla="*/ 36 h 36"/>
              </a:gdLst>
              <a:ahLst/>
              <a:cxnLst>
                <a:cxn ang="0">
                  <a:pos x="T0" y="T1"/>
                </a:cxn>
                <a:cxn ang="0">
                  <a:pos x="T2" y="T3"/>
                </a:cxn>
                <a:cxn ang="0">
                  <a:pos x="T4" y="T5"/>
                </a:cxn>
                <a:cxn ang="0">
                  <a:pos x="T6" y="T7"/>
                </a:cxn>
                <a:cxn ang="0">
                  <a:pos x="T8" y="T9"/>
                </a:cxn>
              </a:cxnLst>
              <a:rect l="0" t="0" r="r" b="b"/>
              <a:pathLst>
                <a:path w="16" h="36">
                  <a:moveTo>
                    <a:pt x="8" y="36"/>
                  </a:moveTo>
                  <a:lnTo>
                    <a:pt x="0" y="34"/>
                  </a:lnTo>
                  <a:lnTo>
                    <a:pt x="8" y="0"/>
                  </a:lnTo>
                  <a:lnTo>
                    <a:pt x="16" y="2"/>
                  </a:lnTo>
                  <a:lnTo>
                    <a:pt x="8"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1" name="Freeform 507">
              <a:extLst>
                <a:ext uri="{FF2B5EF4-FFF2-40B4-BE49-F238E27FC236}">
                  <a16:creationId xmlns:a16="http://schemas.microsoft.com/office/drawing/2014/main" id="{5A505037-F4EF-05A4-5AEA-5202B320753F}"/>
                </a:ext>
              </a:extLst>
            </p:cNvPr>
            <p:cNvSpPr>
              <a:spLocks/>
            </p:cNvSpPr>
            <p:nvPr/>
          </p:nvSpPr>
          <p:spPr bwMode="auto">
            <a:xfrm>
              <a:off x="6548439" y="2268538"/>
              <a:ext cx="26988" cy="57150"/>
            </a:xfrm>
            <a:custGeom>
              <a:avLst/>
              <a:gdLst>
                <a:gd name="T0" fmla="*/ 9 w 17"/>
                <a:gd name="T1" fmla="*/ 36 h 36"/>
                <a:gd name="T2" fmla="*/ 0 w 17"/>
                <a:gd name="T3" fmla="*/ 2 h 36"/>
                <a:gd name="T4" fmla="*/ 9 w 17"/>
                <a:gd name="T5" fmla="*/ 0 h 36"/>
                <a:gd name="T6" fmla="*/ 17 w 17"/>
                <a:gd name="T7" fmla="*/ 34 h 36"/>
                <a:gd name="T8" fmla="*/ 9 w 17"/>
                <a:gd name="T9" fmla="*/ 36 h 36"/>
              </a:gdLst>
              <a:ahLst/>
              <a:cxnLst>
                <a:cxn ang="0">
                  <a:pos x="T0" y="T1"/>
                </a:cxn>
                <a:cxn ang="0">
                  <a:pos x="T2" y="T3"/>
                </a:cxn>
                <a:cxn ang="0">
                  <a:pos x="T4" y="T5"/>
                </a:cxn>
                <a:cxn ang="0">
                  <a:pos x="T6" y="T7"/>
                </a:cxn>
                <a:cxn ang="0">
                  <a:pos x="T8" y="T9"/>
                </a:cxn>
              </a:cxnLst>
              <a:rect l="0" t="0" r="r" b="b"/>
              <a:pathLst>
                <a:path w="17" h="36">
                  <a:moveTo>
                    <a:pt x="9" y="36"/>
                  </a:moveTo>
                  <a:lnTo>
                    <a:pt x="0" y="2"/>
                  </a:lnTo>
                  <a:lnTo>
                    <a:pt x="9" y="0"/>
                  </a:lnTo>
                  <a:lnTo>
                    <a:pt x="17" y="34"/>
                  </a:lnTo>
                  <a:lnTo>
                    <a:pt x="9"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02" name="Presentation9" descr="{&quot;Key&quot;:&quot;POWER_USER_SHAPE_ICON&quot;,&quot;Value&quot;:&quot;POWER_USER_SHAPE_ICON_STYLE_1&quot;}">
            <a:extLst>
              <a:ext uri="{FF2B5EF4-FFF2-40B4-BE49-F238E27FC236}">
                <a16:creationId xmlns:a16="http://schemas.microsoft.com/office/drawing/2014/main" id="{339AD63D-A32C-8050-4B6B-5A1AAA71414D}"/>
              </a:ext>
            </a:extLst>
          </p:cNvPr>
          <p:cNvGrpSpPr>
            <a:grpSpLocks noChangeAspect="1"/>
          </p:cNvGrpSpPr>
          <p:nvPr>
            <p:custDataLst>
              <p:tags r:id="rId3"/>
            </p:custDataLst>
          </p:nvPr>
        </p:nvGrpSpPr>
        <p:grpSpPr>
          <a:xfrm>
            <a:off x="1385738" y="1006600"/>
            <a:ext cx="433996" cy="324000"/>
            <a:chOff x="6796088" y="1851026"/>
            <a:chExt cx="884238" cy="677862"/>
          </a:xfrm>
          <a:noFill/>
        </p:grpSpPr>
        <p:sp>
          <p:nvSpPr>
            <p:cNvPr id="403" name="Freeform 157">
              <a:extLst>
                <a:ext uri="{FF2B5EF4-FFF2-40B4-BE49-F238E27FC236}">
                  <a16:creationId xmlns:a16="http://schemas.microsoft.com/office/drawing/2014/main" id="{BA18D2E2-2246-D2EB-A83D-8955236335C2}"/>
                </a:ext>
              </a:extLst>
            </p:cNvPr>
            <p:cNvSpPr>
              <a:spLocks/>
            </p:cNvSpPr>
            <p:nvPr/>
          </p:nvSpPr>
          <p:spPr bwMode="auto">
            <a:xfrm>
              <a:off x="7018338" y="1851026"/>
              <a:ext cx="661988" cy="512763"/>
            </a:xfrm>
            <a:custGeom>
              <a:avLst/>
              <a:gdLst>
                <a:gd name="T0" fmla="*/ 54 w 870"/>
                <a:gd name="T1" fmla="*/ 54 h 673"/>
                <a:gd name="T2" fmla="*/ 816 w 870"/>
                <a:gd name="T3" fmla="*/ 54 h 673"/>
                <a:gd name="T4" fmla="*/ 816 w 870"/>
                <a:gd name="T5" fmla="*/ 619 h 673"/>
                <a:gd name="T6" fmla="*/ 394 w 870"/>
                <a:gd name="T7" fmla="*/ 619 h 673"/>
                <a:gd name="T8" fmla="*/ 295 w 870"/>
                <a:gd name="T9" fmla="*/ 673 h 673"/>
                <a:gd name="T10" fmla="*/ 817 w 870"/>
                <a:gd name="T11" fmla="*/ 673 h 673"/>
                <a:gd name="T12" fmla="*/ 870 w 870"/>
                <a:gd name="T13" fmla="*/ 620 h 673"/>
                <a:gd name="T14" fmla="*/ 870 w 870"/>
                <a:gd name="T15" fmla="*/ 53 h 673"/>
                <a:gd name="T16" fmla="*/ 817 w 870"/>
                <a:gd name="T17" fmla="*/ 0 h 673"/>
                <a:gd name="T18" fmla="*/ 53 w 870"/>
                <a:gd name="T19" fmla="*/ 0 h 673"/>
                <a:gd name="T20" fmla="*/ 0 w 870"/>
                <a:gd name="T21" fmla="*/ 53 h 673"/>
                <a:gd name="T22" fmla="*/ 0 w 870"/>
                <a:gd name="T23" fmla="*/ 185 h 673"/>
                <a:gd name="T24" fmla="*/ 54 w 870"/>
                <a:gd name="T25" fmla="*/ 215 h 673"/>
                <a:gd name="T26" fmla="*/ 54 w 870"/>
                <a:gd name="T27" fmla="*/ 54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0" h="673">
                  <a:moveTo>
                    <a:pt x="54" y="54"/>
                  </a:moveTo>
                  <a:lnTo>
                    <a:pt x="816" y="54"/>
                  </a:lnTo>
                  <a:lnTo>
                    <a:pt x="816" y="619"/>
                  </a:lnTo>
                  <a:lnTo>
                    <a:pt x="394" y="619"/>
                  </a:lnTo>
                  <a:cubicBezTo>
                    <a:pt x="363" y="638"/>
                    <a:pt x="330" y="656"/>
                    <a:pt x="295" y="673"/>
                  </a:cubicBezTo>
                  <a:lnTo>
                    <a:pt x="817" y="673"/>
                  </a:lnTo>
                  <a:cubicBezTo>
                    <a:pt x="846" y="673"/>
                    <a:pt x="870" y="650"/>
                    <a:pt x="870" y="620"/>
                  </a:cubicBezTo>
                  <a:lnTo>
                    <a:pt x="870" y="53"/>
                  </a:lnTo>
                  <a:cubicBezTo>
                    <a:pt x="870" y="23"/>
                    <a:pt x="846" y="0"/>
                    <a:pt x="817" y="0"/>
                  </a:cubicBezTo>
                  <a:lnTo>
                    <a:pt x="53" y="0"/>
                  </a:lnTo>
                  <a:cubicBezTo>
                    <a:pt x="24" y="0"/>
                    <a:pt x="0" y="23"/>
                    <a:pt x="0" y="53"/>
                  </a:cubicBezTo>
                  <a:lnTo>
                    <a:pt x="0" y="185"/>
                  </a:lnTo>
                  <a:cubicBezTo>
                    <a:pt x="20" y="192"/>
                    <a:pt x="38" y="202"/>
                    <a:pt x="54" y="215"/>
                  </a:cubicBezTo>
                  <a:lnTo>
                    <a:pt x="54" y="54"/>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4" name="Freeform 158">
              <a:extLst>
                <a:ext uri="{FF2B5EF4-FFF2-40B4-BE49-F238E27FC236}">
                  <a16:creationId xmlns:a16="http://schemas.microsoft.com/office/drawing/2014/main" id="{89BCC149-0158-1E40-B222-2A5AFE09AFA7}"/>
                </a:ext>
              </a:extLst>
            </p:cNvPr>
            <p:cNvSpPr>
              <a:spLocks/>
            </p:cNvSpPr>
            <p:nvPr/>
          </p:nvSpPr>
          <p:spPr bwMode="auto">
            <a:xfrm>
              <a:off x="6796088" y="2162175"/>
              <a:ext cx="573088" cy="366713"/>
            </a:xfrm>
            <a:custGeom>
              <a:avLst/>
              <a:gdLst>
                <a:gd name="T0" fmla="*/ 122 w 753"/>
                <a:gd name="T1" fmla="*/ 359 h 482"/>
                <a:gd name="T2" fmla="*/ 154 w 753"/>
                <a:gd name="T3" fmla="*/ 359 h 482"/>
                <a:gd name="T4" fmla="*/ 164 w 753"/>
                <a:gd name="T5" fmla="*/ 482 h 482"/>
                <a:gd name="T6" fmla="*/ 399 w 753"/>
                <a:gd name="T7" fmla="*/ 482 h 482"/>
                <a:gd name="T8" fmla="*/ 399 w 753"/>
                <a:gd name="T9" fmla="*/ 279 h 482"/>
                <a:gd name="T10" fmla="*/ 716 w 753"/>
                <a:gd name="T11" fmla="*/ 121 h 482"/>
                <a:gd name="T12" fmla="*/ 727 w 753"/>
                <a:gd name="T13" fmla="*/ 23 h 482"/>
                <a:gd name="T14" fmla="*/ 679 w 753"/>
                <a:gd name="T15" fmla="*/ 0 h 482"/>
                <a:gd name="T16" fmla="*/ 653 w 753"/>
                <a:gd name="T17" fmla="*/ 7 h 482"/>
                <a:gd name="T18" fmla="*/ 317 w 753"/>
                <a:gd name="T19" fmla="*/ 123 h 482"/>
                <a:gd name="T20" fmla="*/ 230 w 753"/>
                <a:gd name="T21" fmla="*/ 190 h 482"/>
                <a:gd name="T22" fmla="*/ 149 w 753"/>
                <a:gd name="T23" fmla="*/ 129 h 482"/>
                <a:gd name="T24" fmla="*/ 0 w 753"/>
                <a:gd name="T25" fmla="*/ 309 h 482"/>
                <a:gd name="T26" fmla="*/ 0 w 753"/>
                <a:gd name="T27" fmla="*/ 482 h 482"/>
                <a:gd name="T28" fmla="*/ 122 w 753"/>
                <a:gd name="T29" fmla="*/ 482 h 482"/>
                <a:gd name="T30" fmla="*/ 122 w 753"/>
                <a:gd name="T31" fmla="*/ 359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3" h="482">
                  <a:moveTo>
                    <a:pt x="122" y="359"/>
                  </a:moveTo>
                  <a:lnTo>
                    <a:pt x="154" y="359"/>
                  </a:lnTo>
                  <a:lnTo>
                    <a:pt x="164" y="482"/>
                  </a:lnTo>
                  <a:lnTo>
                    <a:pt x="399" y="482"/>
                  </a:lnTo>
                  <a:lnTo>
                    <a:pt x="399" y="279"/>
                  </a:lnTo>
                  <a:cubicBezTo>
                    <a:pt x="529" y="237"/>
                    <a:pt x="643" y="176"/>
                    <a:pt x="716" y="121"/>
                  </a:cubicBezTo>
                  <a:cubicBezTo>
                    <a:pt x="747" y="98"/>
                    <a:pt x="753" y="55"/>
                    <a:pt x="727" y="23"/>
                  </a:cubicBezTo>
                  <a:cubicBezTo>
                    <a:pt x="715" y="9"/>
                    <a:pt x="697" y="0"/>
                    <a:pt x="679" y="0"/>
                  </a:cubicBezTo>
                  <a:cubicBezTo>
                    <a:pt x="670" y="0"/>
                    <a:pt x="661" y="3"/>
                    <a:pt x="653" y="7"/>
                  </a:cubicBezTo>
                  <a:cubicBezTo>
                    <a:pt x="488" y="100"/>
                    <a:pt x="404" y="119"/>
                    <a:pt x="317" y="123"/>
                  </a:cubicBezTo>
                  <a:lnTo>
                    <a:pt x="230" y="190"/>
                  </a:lnTo>
                  <a:lnTo>
                    <a:pt x="149" y="129"/>
                  </a:lnTo>
                  <a:cubicBezTo>
                    <a:pt x="60" y="145"/>
                    <a:pt x="0" y="199"/>
                    <a:pt x="0" y="309"/>
                  </a:cubicBezTo>
                  <a:lnTo>
                    <a:pt x="0" y="482"/>
                  </a:lnTo>
                  <a:lnTo>
                    <a:pt x="122" y="482"/>
                  </a:lnTo>
                  <a:lnTo>
                    <a:pt x="122" y="359"/>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5" name="Oval 159">
              <a:extLst>
                <a:ext uri="{FF2B5EF4-FFF2-40B4-BE49-F238E27FC236}">
                  <a16:creationId xmlns:a16="http://schemas.microsoft.com/office/drawing/2014/main" id="{E4E539A0-BCD1-BDB8-039D-4B8B02BF2787}"/>
                </a:ext>
              </a:extLst>
            </p:cNvPr>
            <p:cNvSpPr>
              <a:spLocks noChangeArrowheads="1"/>
            </p:cNvSpPr>
            <p:nvPr/>
          </p:nvSpPr>
          <p:spPr bwMode="auto">
            <a:xfrm>
              <a:off x="6867526" y="2022475"/>
              <a:ext cx="206375" cy="204788"/>
            </a:xfrm>
            <a:prstGeom prst="ellipse">
              <a:avLst/>
            </a:pr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6" name="Freeform 160">
              <a:extLst>
                <a:ext uri="{FF2B5EF4-FFF2-40B4-BE49-F238E27FC236}">
                  <a16:creationId xmlns:a16="http://schemas.microsoft.com/office/drawing/2014/main" id="{DE1BB796-2E12-B9DF-5203-24EBA99A6888}"/>
                </a:ext>
              </a:extLst>
            </p:cNvPr>
            <p:cNvSpPr>
              <a:spLocks/>
            </p:cNvSpPr>
            <p:nvPr/>
          </p:nvSpPr>
          <p:spPr bwMode="auto">
            <a:xfrm>
              <a:off x="7173913" y="1997075"/>
              <a:ext cx="382588" cy="165100"/>
            </a:xfrm>
            <a:custGeom>
              <a:avLst/>
              <a:gdLst>
                <a:gd name="T0" fmla="*/ 489 w 503"/>
                <a:gd name="T1" fmla="*/ 117 h 216"/>
                <a:gd name="T2" fmla="*/ 494 w 503"/>
                <a:gd name="T3" fmla="*/ 111 h 216"/>
                <a:gd name="T4" fmla="*/ 502 w 503"/>
                <a:gd name="T5" fmla="*/ 8 h 216"/>
                <a:gd name="T6" fmla="*/ 500 w 503"/>
                <a:gd name="T7" fmla="*/ 2 h 216"/>
                <a:gd name="T8" fmla="*/ 494 w 503"/>
                <a:gd name="T9" fmla="*/ 0 h 216"/>
                <a:gd name="T10" fmla="*/ 391 w 503"/>
                <a:gd name="T11" fmla="*/ 9 h 216"/>
                <a:gd name="T12" fmla="*/ 385 w 503"/>
                <a:gd name="T13" fmla="*/ 14 h 216"/>
                <a:gd name="T14" fmla="*/ 387 w 503"/>
                <a:gd name="T15" fmla="*/ 21 h 216"/>
                <a:gd name="T16" fmla="*/ 416 w 503"/>
                <a:gd name="T17" fmla="*/ 50 h 216"/>
                <a:gd name="T18" fmla="*/ 292 w 503"/>
                <a:gd name="T19" fmla="*/ 152 h 216"/>
                <a:gd name="T20" fmla="*/ 190 w 503"/>
                <a:gd name="T21" fmla="*/ 73 h 216"/>
                <a:gd name="T22" fmla="*/ 161 w 503"/>
                <a:gd name="T23" fmla="*/ 72 h 216"/>
                <a:gd name="T24" fmla="*/ 0 w 503"/>
                <a:gd name="T25" fmla="*/ 174 h 216"/>
                <a:gd name="T26" fmla="*/ 27 w 503"/>
                <a:gd name="T27" fmla="*/ 216 h 216"/>
                <a:gd name="T28" fmla="*/ 173 w 503"/>
                <a:gd name="T29" fmla="*/ 124 h 216"/>
                <a:gd name="T30" fmla="*/ 278 w 503"/>
                <a:gd name="T31" fmla="*/ 205 h 216"/>
                <a:gd name="T32" fmla="*/ 309 w 503"/>
                <a:gd name="T33" fmla="*/ 204 h 216"/>
                <a:gd name="T34" fmla="*/ 452 w 503"/>
                <a:gd name="T35" fmla="*/ 86 h 216"/>
                <a:gd name="T36" fmla="*/ 482 w 503"/>
                <a:gd name="T37" fmla="*/ 116 h 216"/>
                <a:gd name="T38" fmla="*/ 489 w 503"/>
                <a:gd name="T39" fmla="*/ 11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3" h="216">
                  <a:moveTo>
                    <a:pt x="489" y="117"/>
                  </a:moveTo>
                  <a:cubicBezTo>
                    <a:pt x="492" y="116"/>
                    <a:pt x="494" y="114"/>
                    <a:pt x="494" y="111"/>
                  </a:cubicBezTo>
                  <a:lnTo>
                    <a:pt x="502" y="8"/>
                  </a:lnTo>
                  <a:cubicBezTo>
                    <a:pt x="503" y="6"/>
                    <a:pt x="502" y="4"/>
                    <a:pt x="500" y="2"/>
                  </a:cubicBezTo>
                  <a:cubicBezTo>
                    <a:pt x="499" y="0"/>
                    <a:pt x="497" y="0"/>
                    <a:pt x="494" y="0"/>
                  </a:cubicBezTo>
                  <a:lnTo>
                    <a:pt x="391" y="9"/>
                  </a:lnTo>
                  <a:cubicBezTo>
                    <a:pt x="388" y="9"/>
                    <a:pt x="386" y="11"/>
                    <a:pt x="385" y="14"/>
                  </a:cubicBezTo>
                  <a:cubicBezTo>
                    <a:pt x="384" y="16"/>
                    <a:pt x="385" y="19"/>
                    <a:pt x="387" y="21"/>
                  </a:cubicBezTo>
                  <a:lnTo>
                    <a:pt x="416" y="50"/>
                  </a:lnTo>
                  <a:lnTo>
                    <a:pt x="292" y="152"/>
                  </a:lnTo>
                  <a:lnTo>
                    <a:pt x="190" y="73"/>
                  </a:lnTo>
                  <a:cubicBezTo>
                    <a:pt x="182" y="67"/>
                    <a:pt x="170" y="66"/>
                    <a:pt x="161" y="72"/>
                  </a:cubicBezTo>
                  <a:lnTo>
                    <a:pt x="0" y="174"/>
                  </a:lnTo>
                  <a:lnTo>
                    <a:pt x="27" y="216"/>
                  </a:lnTo>
                  <a:lnTo>
                    <a:pt x="173" y="124"/>
                  </a:lnTo>
                  <a:lnTo>
                    <a:pt x="278" y="205"/>
                  </a:lnTo>
                  <a:cubicBezTo>
                    <a:pt x="287" y="212"/>
                    <a:pt x="300" y="212"/>
                    <a:pt x="309" y="204"/>
                  </a:cubicBezTo>
                  <a:lnTo>
                    <a:pt x="452" y="86"/>
                  </a:lnTo>
                  <a:lnTo>
                    <a:pt x="482" y="116"/>
                  </a:lnTo>
                  <a:cubicBezTo>
                    <a:pt x="485" y="119"/>
                    <a:pt x="488" y="118"/>
                    <a:pt x="489" y="117"/>
                  </a:cubicBez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07" name="Groupe 303">
            <a:extLst>
              <a:ext uri="{FF2B5EF4-FFF2-40B4-BE49-F238E27FC236}">
                <a16:creationId xmlns:a16="http://schemas.microsoft.com/office/drawing/2014/main" id="{BFDF5E2C-2CA6-5DF7-3FDE-E6B7D4D1B7E5}"/>
              </a:ext>
            </a:extLst>
          </p:cNvPr>
          <p:cNvGrpSpPr>
            <a:grpSpLocks noChangeAspect="1"/>
          </p:cNvGrpSpPr>
          <p:nvPr/>
        </p:nvGrpSpPr>
        <p:grpSpPr>
          <a:xfrm>
            <a:off x="10519094" y="2584735"/>
            <a:ext cx="304203" cy="264784"/>
            <a:chOff x="5053013" y="5526088"/>
            <a:chExt cx="420688" cy="384176"/>
          </a:xfrm>
        </p:grpSpPr>
        <p:sp>
          <p:nvSpPr>
            <p:cNvPr id="408" name="Freeform 149">
              <a:extLst>
                <a:ext uri="{FF2B5EF4-FFF2-40B4-BE49-F238E27FC236}">
                  <a16:creationId xmlns:a16="http://schemas.microsoft.com/office/drawing/2014/main" id="{C7D07B8C-2989-8F5D-6111-BD1A2A36F681}"/>
                </a:ext>
              </a:extLst>
            </p:cNvPr>
            <p:cNvSpPr>
              <a:spLocks/>
            </p:cNvSpPr>
            <p:nvPr/>
          </p:nvSpPr>
          <p:spPr bwMode="auto">
            <a:xfrm>
              <a:off x="5429251" y="5526088"/>
              <a:ext cx="44450" cy="384175"/>
            </a:xfrm>
            <a:custGeom>
              <a:avLst/>
              <a:gdLst>
                <a:gd name="T0" fmla="*/ 12 w 12"/>
                <a:gd name="T1" fmla="*/ 102 h 102"/>
                <a:gd name="T2" fmla="*/ 0 w 12"/>
                <a:gd name="T3" fmla="*/ 102 h 102"/>
                <a:gd name="T4" fmla="*/ 0 w 12"/>
                <a:gd name="T5" fmla="*/ 0 h 102"/>
                <a:gd name="T6" fmla="*/ 9 w 12"/>
                <a:gd name="T7" fmla="*/ 0 h 102"/>
                <a:gd name="T8" fmla="*/ 12 w 12"/>
                <a:gd name="T9" fmla="*/ 4 h 102"/>
                <a:gd name="T10" fmla="*/ 12 w 12"/>
                <a:gd name="T11" fmla="*/ 102 h 102"/>
              </a:gdLst>
              <a:ahLst/>
              <a:cxnLst>
                <a:cxn ang="0">
                  <a:pos x="T0" y="T1"/>
                </a:cxn>
                <a:cxn ang="0">
                  <a:pos x="T2" y="T3"/>
                </a:cxn>
                <a:cxn ang="0">
                  <a:pos x="T4" y="T5"/>
                </a:cxn>
                <a:cxn ang="0">
                  <a:pos x="T6" y="T7"/>
                </a:cxn>
                <a:cxn ang="0">
                  <a:pos x="T8" y="T9"/>
                </a:cxn>
                <a:cxn ang="0">
                  <a:pos x="T10" y="T11"/>
                </a:cxn>
              </a:cxnLst>
              <a:rect l="0" t="0" r="r" b="b"/>
              <a:pathLst>
                <a:path w="12" h="102">
                  <a:moveTo>
                    <a:pt x="12" y="102"/>
                  </a:moveTo>
                  <a:cubicBezTo>
                    <a:pt x="0" y="102"/>
                    <a:pt x="0" y="102"/>
                    <a:pt x="0" y="102"/>
                  </a:cubicBezTo>
                  <a:cubicBezTo>
                    <a:pt x="0" y="102"/>
                    <a:pt x="0" y="20"/>
                    <a:pt x="0" y="0"/>
                  </a:cubicBezTo>
                  <a:cubicBezTo>
                    <a:pt x="1" y="1"/>
                    <a:pt x="9" y="0"/>
                    <a:pt x="9" y="0"/>
                  </a:cubicBezTo>
                  <a:cubicBezTo>
                    <a:pt x="10" y="0"/>
                    <a:pt x="12" y="2"/>
                    <a:pt x="12" y="4"/>
                  </a:cubicBezTo>
                  <a:lnTo>
                    <a:pt x="12" y="102"/>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09" name="Freeform 150">
              <a:extLst>
                <a:ext uri="{FF2B5EF4-FFF2-40B4-BE49-F238E27FC236}">
                  <a16:creationId xmlns:a16="http://schemas.microsoft.com/office/drawing/2014/main" id="{5BE55E81-37F9-7099-5ADF-949A6F8BE412}"/>
                </a:ext>
              </a:extLst>
            </p:cNvPr>
            <p:cNvSpPr>
              <a:spLocks/>
            </p:cNvSpPr>
            <p:nvPr/>
          </p:nvSpPr>
          <p:spPr bwMode="auto">
            <a:xfrm>
              <a:off x="5365751" y="5632451"/>
              <a:ext cx="44450" cy="277813"/>
            </a:xfrm>
            <a:custGeom>
              <a:avLst/>
              <a:gdLst>
                <a:gd name="T0" fmla="*/ 12 w 12"/>
                <a:gd name="T1" fmla="*/ 74 h 74"/>
                <a:gd name="T2" fmla="*/ 0 w 12"/>
                <a:gd name="T3" fmla="*/ 74 h 74"/>
                <a:gd name="T4" fmla="*/ 0 w 12"/>
                <a:gd name="T5" fmla="*/ 0 h 74"/>
                <a:gd name="T6" fmla="*/ 9 w 12"/>
                <a:gd name="T7" fmla="*/ 0 h 74"/>
                <a:gd name="T8" fmla="*/ 12 w 12"/>
                <a:gd name="T9" fmla="*/ 2 h 74"/>
                <a:gd name="T10" fmla="*/ 12 w 12"/>
                <a:gd name="T11" fmla="*/ 74 h 74"/>
              </a:gdLst>
              <a:ahLst/>
              <a:cxnLst>
                <a:cxn ang="0">
                  <a:pos x="T0" y="T1"/>
                </a:cxn>
                <a:cxn ang="0">
                  <a:pos x="T2" y="T3"/>
                </a:cxn>
                <a:cxn ang="0">
                  <a:pos x="T4" y="T5"/>
                </a:cxn>
                <a:cxn ang="0">
                  <a:pos x="T6" y="T7"/>
                </a:cxn>
                <a:cxn ang="0">
                  <a:pos x="T8" y="T9"/>
                </a:cxn>
                <a:cxn ang="0">
                  <a:pos x="T10" y="T11"/>
                </a:cxn>
              </a:cxnLst>
              <a:rect l="0" t="0" r="r" b="b"/>
              <a:pathLst>
                <a:path w="12" h="74">
                  <a:moveTo>
                    <a:pt x="12" y="74"/>
                  </a:moveTo>
                  <a:cubicBezTo>
                    <a:pt x="0" y="74"/>
                    <a:pt x="0" y="74"/>
                    <a:pt x="0" y="74"/>
                  </a:cubicBezTo>
                  <a:cubicBezTo>
                    <a:pt x="0" y="74"/>
                    <a:pt x="0" y="14"/>
                    <a:pt x="0" y="0"/>
                  </a:cubicBezTo>
                  <a:cubicBezTo>
                    <a:pt x="1" y="0"/>
                    <a:pt x="9" y="0"/>
                    <a:pt x="9" y="0"/>
                  </a:cubicBezTo>
                  <a:cubicBezTo>
                    <a:pt x="11" y="0"/>
                    <a:pt x="12" y="1"/>
                    <a:pt x="12" y="2"/>
                  </a:cubicBezTo>
                  <a:lnTo>
                    <a:pt x="12" y="74"/>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0" name="Freeform 151">
              <a:extLst>
                <a:ext uri="{FF2B5EF4-FFF2-40B4-BE49-F238E27FC236}">
                  <a16:creationId xmlns:a16="http://schemas.microsoft.com/office/drawing/2014/main" id="{E6778B4D-DF22-48BA-7F25-A4C246B52E99}"/>
                </a:ext>
              </a:extLst>
            </p:cNvPr>
            <p:cNvSpPr>
              <a:spLocks/>
            </p:cNvSpPr>
            <p:nvPr/>
          </p:nvSpPr>
          <p:spPr bwMode="auto">
            <a:xfrm>
              <a:off x="5300663" y="5688013"/>
              <a:ext cx="46038" cy="222250"/>
            </a:xfrm>
            <a:custGeom>
              <a:avLst/>
              <a:gdLst>
                <a:gd name="T0" fmla="*/ 12 w 12"/>
                <a:gd name="T1" fmla="*/ 59 h 59"/>
                <a:gd name="T2" fmla="*/ 0 w 12"/>
                <a:gd name="T3" fmla="*/ 59 h 59"/>
                <a:gd name="T4" fmla="*/ 0 w 12"/>
                <a:gd name="T5" fmla="*/ 0 h 59"/>
                <a:gd name="T6" fmla="*/ 9 w 12"/>
                <a:gd name="T7" fmla="*/ 0 h 59"/>
                <a:gd name="T8" fmla="*/ 12 w 12"/>
                <a:gd name="T9" fmla="*/ 2 h 59"/>
                <a:gd name="T10" fmla="*/ 12 w 12"/>
                <a:gd name="T11" fmla="*/ 59 h 59"/>
              </a:gdLst>
              <a:ahLst/>
              <a:cxnLst>
                <a:cxn ang="0">
                  <a:pos x="T0" y="T1"/>
                </a:cxn>
                <a:cxn ang="0">
                  <a:pos x="T2" y="T3"/>
                </a:cxn>
                <a:cxn ang="0">
                  <a:pos x="T4" y="T5"/>
                </a:cxn>
                <a:cxn ang="0">
                  <a:pos x="T6" y="T7"/>
                </a:cxn>
                <a:cxn ang="0">
                  <a:pos x="T8" y="T9"/>
                </a:cxn>
                <a:cxn ang="0">
                  <a:pos x="T10" y="T11"/>
                </a:cxn>
              </a:cxnLst>
              <a:rect l="0" t="0" r="r" b="b"/>
              <a:pathLst>
                <a:path w="12" h="59">
                  <a:moveTo>
                    <a:pt x="12" y="59"/>
                  </a:moveTo>
                  <a:cubicBezTo>
                    <a:pt x="0" y="59"/>
                    <a:pt x="0" y="59"/>
                    <a:pt x="0" y="59"/>
                  </a:cubicBezTo>
                  <a:cubicBezTo>
                    <a:pt x="0" y="59"/>
                    <a:pt x="0" y="11"/>
                    <a:pt x="0" y="0"/>
                  </a:cubicBezTo>
                  <a:cubicBezTo>
                    <a:pt x="2" y="0"/>
                    <a:pt x="9" y="0"/>
                    <a:pt x="9" y="0"/>
                  </a:cubicBezTo>
                  <a:cubicBezTo>
                    <a:pt x="11" y="0"/>
                    <a:pt x="12" y="1"/>
                    <a:pt x="12" y="2"/>
                  </a:cubicBezTo>
                  <a:lnTo>
                    <a:pt x="12" y="59"/>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1" name="Freeform 152">
              <a:extLst>
                <a:ext uri="{FF2B5EF4-FFF2-40B4-BE49-F238E27FC236}">
                  <a16:creationId xmlns:a16="http://schemas.microsoft.com/office/drawing/2014/main" id="{F23ECB59-52E6-2CD9-5234-145D3102BBDF}"/>
                </a:ext>
              </a:extLst>
            </p:cNvPr>
            <p:cNvSpPr>
              <a:spLocks/>
            </p:cNvSpPr>
            <p:nvPr/>
          </p:nvSpPr>
          <p:spPr bwMode="auto">
            <a:xfrm>
              <a:off x="5241926" y="5748338"/>
              <a:ext cx="44450" cy="161925"/>
            </a:xfrm>
            <a:custGeom>
              <a:avLst/>
              <a:gdLst>
                <a:gd name="T0" fmla="*/ 12 w 12"/>
                <a:gd name="T1" fmla="*/ 43 h 43"/>
                <a:gd name="T2" fmla="*/ 0 w 12"/>
                <a:gd name="T3" fmla="*/ 43 h 43"/>
                <a:gd name="T4" fmla="*/ 0 w 12"/>
                <a:gd name="T5" fmla="*/ 0 h 43"/>
                <a:gd name="T6" fmla="*/ 9 w 12"/>
                <a:gd name="T7" fmla="*/ 0 h 43"/>
                <a:gd name="T8" fmla="*/ 12 w 12"/>
                <a:gd name="T9" fmla="*/ 2 h 43"/>
                <a:gd name="T10" fmla="*/ 12 w 12"/>
                <a:gd name="T11" fmla="*/ 43 h 43"/>
              </a:gdLst>
              <a:ahLst/>
              <a:cxnLst>
                <a:cxn ang="0">
                  <a:pos x="T0" y="T1"/>
                </a:cxn>
                <a:cxn ang="0">
                  <a:pos x="T2" y="T3"/>
                </a:cxn>
                <a:cxn ang="0">
                  <a:pos x="T4" y="T5"/>
                </a:cxn>
                <a:cxn ang="0">
                  <a:pos x="T6" y="T7"/>
                </a:cxn>
                <a:cxn ang="0">
                  <a:pos x="T8" y="T9"/>
                </a:cxn>
                <a:cxn ang="0">
                  <a:pos x="T10" y="T11"/>
                </a:cxn>
              </a:cxnLst>
              <a:rect l="0" t="0" r="r" b="b"/>
              <a:pathLst>
                <a:path w="12" h="43">
                  <a:moveTo>
                    <a:pt x="12" y="43"/>
                  </a:moveTo>
                  <a:cubicBezTo>
                    <a:pt x="0" y="43"/>
                    <a:pt x="0" y="43"/>
                    <a:pt x="0" y="43"/>
                  </a:cubicBezTo>
                  <a:cubicBezTo>
                    <a:pt x="0" y="43"/>
                    <a:pt x="0" y="11"/>
                    <a:pt x="0" y="0"/>
                  </a:cubicBezTo>
                  <a:cubicBezTo>
                    <a:pt x="1" y="0"/>
                    <a:pt x="9" y="0"/>
                    <a:pt x="9" y="0"/>
                  </a:cubicBezTo>
                  <a:cubicBezTo>
                    <a:pt x="11" y="0"/>
                    <a:pt x="12" y="1"/>
                    <a:pt x="12" y="2"/>
                  </a:cubicBezTo>
                  <a:lnTo>
                    <a:pt x="12" y="43"/>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2" name="Freeform 153">
              <a:extLst>
                <a:ext uri="{FF2B5EF4-FFF2-40B4-BE49-F238E27FC236}">
                  <a16:creationId xmlns:a16="http://schemas.microsoft.com/office/drawing/2014/main" id="{EB346E18-3A4C-E0A2-BB3A-60ADFD386F88}"/>
                </a:ext>
              </a:extLst>
            </p:cNvPr>
            <p:cNvSpPr>
              <a:spLocks/>
            </p:cNvSpPr>
            <p:nvPr/>
          </p:nvSpPr>
          <p:spPr bwMode="auto">
            <a:xfrm>
              <a:off x="5181601" y="5792788"/>
              <a:ext cx="44450" cy="117475"/>
            </a:xfrm>
            <a:custGeom>
              <a:avLst/>
              <a:gdLst>
                <a:gd name="T0" fmla="*/ 12 w 12"/>
                <a:gd name="T1" fmla="*/ 31 h 31"/>
                <a:gd name="T2" fmla="*/ 0 w 12"/>
                <a:gd name="T3" fmla="*/ 31 h 31"/>
                <a:gd name="T4" fmla="*/ 0 w 12"/>
                <a:gd name="T5" fmla="*/ 0 h 31"/>
                <a:gd name="T6" fmla="*/ 9 w 12"/>
                <a:gd name="T7" fmla="*/ 0 h 31"/>
                <a:gd name="T8" fmla="*/ 12 w 12"/>
                <a:gd name="T9" fmla="*/ 2 h 31"/>
                <a:gd name="T10" fmla="*/ 12 w 12"/>
                <a:gd name="T11" fmla="*/ 31 h 31"/>
              </a:gdLst>
              <a:ahLst/>
              <a:cxnLst>
                <a:cxn ang="0">
                  <a:pos x="T0" y="T1"/>
                </a:cxn>
                <a:cxn ang="0">
                  <a:pos x="T2" y="T3"/>
                </a:cxn>
                <a:cxn ang="0">
                  <a:pos x="T4" y="T5"/>
                </a:cxn>
                <a:cxn ang="0">
                  <a:pos x="T6" y="T7"/>
                </a:cxn>
                <a:cxn ang="0">
                  <a:pos x="T8" y="T9"/>
                </a:cxn>
                <a:cxn ang="0">
                  <a:pos x="T10" y="T11"/>
                </a:cxn>
              </a:cxnLst>
              <a:rect l="0" t="0" r="r" b="b"/>
              <a:pathLst>
                <a:path w="12" h="31">
                  <a:moveTo>
                    <a:pt x="12" y="31"/>
                  </a:moveTo>
                  <a:cubicBezTo>
                    <a:pt x="0" y="31"/>
                    <a:pt x="0" y="31"/>
                    <a:pt x="0" y="31"/>
                  </a:cubicBezTo>
                  <a:cubicBezTo>
                    <a:pt x="0" y="31"/>
                    <a:pt x="0" y="12"/>
                    <a:pt x="0" y="0"/>
                  </a:cubicBezTo>
                  <a:cubicBezTo>
                    <a:pt x="1" y="1"/>
                    <a:pt x="9" y="0"/>
                    <a:pt x="9" y="0"/>
                  </a:cubicBezTo>
                  <a:cubicBezTo>
                    <a:pt x="11" y="0"/>
                    <a:pt x="12" y="1"/>
                    <a:pt x="12" y="2"/>
                  </a:cubicBezTo>
                  <a:lnTo>
                    <a:pt x="12" y="31"/>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3" name="Freeform 154">
              <a:extLst>
                <a:ext uri="{FF2B5EF4-FFF2-40B4-BE49-F238E27FC236}">
                  <a16:creationId xmlns:a16="http://schemas.microsoft.com/office/drawing/2014/main" id="{E5290AAF-C480-911E-1252-E1F60DAB4BFC}"/>
                </a:ext>
              </a:extLst>
            </p:cNvPr>
            <p:cNvSpPr>
              <a:spLocks/>
            </p:cNvSpPr>
            <p:nvPr/>
          </p:nvSpPr>
          <p:spPr bwMode="auto">
            <a:xfrm>
              <a:off x="5116513" y="5822951"/>
              <a:ext cx="46038" cy="87313"/>
            </a:xfrm>
            <a:custGeom>
              <a:avLst/>
              <a:gdLst>
                <a:gd name="T0" fmla="*/ 12 w 12"/>
                <a:gd name="T1" fmla="*/ 23 h 23"/>
                <a:gd name="T2" fmla="*/ 0 w 12"/>
                <a:gd name="T3" fmla="*/ 23 h 23"/>
                <a:gd name="T4" fmla="*/ 0 w 12"/>
                <a:gd name="T5" fmla="*/ 0 h 23"/>
                <a:gd name="T6" fmla="*/ 9 w 12"/>
                <a:gd name="T7" fmla="*/ 0 h 23"/>
                <a:gd name="T8" fmla="*/ 12 w 12"/>
                <a:gd name="T9" fmla="*/ 1 h 23"/>
                <a:gd name="T10" fmla="*/ 12 w 12"/>
                <a:gd name="T11" fmla="*/ 23 h 23"/>
              </a:gdLst>
              <a:ahLst/>
              <a:cxnLst>
                <a:cxn ang="0">
                  <a:pos x="T0" y="T1"/>
                </a:cxn>
                <a:cxn ang="0">
                  <a:pos x="T2" y="T3"/>
                </a:cxn>
                <a:cxn ang="0">
                  <a:pos x="T4" y="T5"/>
                </a:cxn>
                <a:cxn ang="0">
                  <a:pos x="T6" y="T7"/>
                </a:cxn>
                <a:cxn ang="0">
                  <a:pos x="T8" y="T9"/>
                </a:cxn>
                <a:cxn ang="0">
                  <a:pos x="T10" y="T11"/>
                </a:cxn>
              </a:cxnLst>
              <a:rect l="0" t="0" r="r" b="b"/>
              <a:pathLst>
                <a:path w="12" h="23">
                  <a:moveTo>
                    <a:pt x="12" y="23"/>
                  </a:moveTo>
                  <a:cubicBezTo>
                    <a:pt x="0" y="23"/>
                    <a:pt x="0" y="23"/>
                    <a:pt x="0" y="23"/>
                  </a:cubicBezTo>
                  <a:cubicBezTo>
                    <a:pt x="0" y="23"/>
                    <a:pt x="0" y="11"/>
                    <a:pt x="0" y="0"/>
                  </a:cubicBezTo>
                  <a:cubicBezTo>
                    <a:pt x="2" y="0"/>
                    <a:pt x="9" y="0"/>
                    <a:pt x="9" y="0"/>
                  </a:cubicBezTo>
                  <a:cubicBezTo>
                    <a:pt x="11" y="0"/>
                    <a:pt x="12" y="0"/>
                    <a:pt x="12" y="1"/>
                  </a:cubicBezTo>
                  <a:lnTo>
                    <a:pt x="12" y="23"/>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4" name="Freeform 155">
              <a:extLst>
                <a:ext uri="{FF2B5EF4-FFF2-40B4-BE49-F238E27FC236}">
                  <a16:creationId xmlns:a16="http://schemas.microsoft.com/office/drawing/2014/main" id="{F06BDD9F-7FFB-7DAE-68AB-C178450CC267}"/>
                </a:ext>
              </a:extLst>
            </p:cNvPr>
            <p:cNvSpPr>
              <a:spLocks/>
            </p:cNvSpPr>
            <p:nvPr/>
          </p:nvSpPr>
          <p:spPr bwMode="auto">
            <a:xfrm>
              <a:off x="5053013" y="5853113"/>
              <a:ext cx="46038" cy="57150"/>
            </a:xfrm>
            <a:custGeom>
              <a:avLst/>
              <a:gdLst>
                <a:gd name="T0" fmla="*/ 12 w 12"/>
                <a:gd name="T1" fmla="*/ 15 h 15"/>
                <a:gd name="T2" fmla="*/ 0 w 12"/>
                <a:gd name="T3" fmla="*/ 15 h 15"/>
                <a:gd name="T4" fmla="*/ 0 w 12"/>
                <a:gd name="T5" fmla="*/ 0 h 15"/>
                <a:gd name="T6" fmla="*/ 9 w 12"/>
                <a:gd name="T7" fmla="*/ 0 h 15"/>
                <a:gd name="T8" fmla="*/ 12 w 12"/>
                <a:gd name="T9" fmla="*/ 1 h 15"/>
                <a:gd name="T10" fmla="*/ 12 w 12"/>
                <a:gd name="T11" fmla="*/ 15 h 15"/>
              </a:gdLst>
              <a:ahLst/>
              <a:cxnLst>
                <a:cxn ang="0">
                  <a:pos x="T0" y="T1"/>
                </a:cxn>
                <a:cxn ang="0">
                  <a:pos x="T2" y="T3"/>
                </a:cxn>
                <a:cxn ang="0">
                  <a:pos x="T4" y="T5"/>
                </a:cxn>
                <a:cxn ang="0">
                  <a:pos x="T6" y="T7"/>
                </a:cxn>
                <a:cxn ang="0">
                  <a:pos x="T8" y="T9"/>
                </a:cxn>
                <a:cxn ang="0">
                  <a:pos x="T10" y="T11"/>
                </a:cxn>
              </a:cxnLst>
              <a:rect l="0" t="0" r="r" b="b"/>
              <a:pathLst>
                <a:path w="12" h="15">
                  <a:moveTo>
                    <a:pt x="12" y="15"/>
                  </a:moveTo>
                  <a:cubicBezTo>
                    <a:pt x="0" y="15"/>
                    <a:pt x="0" y="15"/>
                    <a:pt x="0" y="15"/>
                  </a:cubicBezTo>
                  <a:cubicBezTo>
                    <a:pt x="0" y="15"/>
                    <a:pt x="0" y="11"/>
                    <a:pt x="0" y="0"/>
                  </a:cubicBezTo>
                  <a:cubicBezTo>
                    <a:pt x="1" y="0"/>
                    <a:pt x="9" y="0"/>
                    <a:pt x="9" y="0"/>
                  </a:cubicBezTo>
                  <a:cubicBezTo>
                    <a:pt x="11" y="0"/>
                    <a:pt x="12" y="0"/>
                    <a:pt x="12" y="1"/>
                  </a:cubicBezTo>
                  <a:lnTo>
                    <a:pt x="12" y="15"/>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5" name="Freeform 156">
              <a:extLst>
                <a:ext uri="{FF2B5EF4-FFF2-40B4-BE49-F238E27FC236}">
                  <a16:creationId xmlns:a16="http://schemas.microsoft.com/office/drawing/2014/main" id="{43592698-AA1A-D5DC-B0E2-86720D42D3E4}"/>
                </a:ext>
              </a:extLst>
            </p:cNvPr>
            <p:cNvSpPr>
              <a:spLocks/>
            </p:cNvSpPr>
            <p:nvPr/>
          </p:nvSpPr>
          <p:spPr bwMode="auto">
            <a:xfrm>
              <a:off x="5099051" y="5575301"/>
              <a:ext cx="160338" cy="236538"/>
            </a:xfrm>
            <a:custGeom>
              <a:avLst/>
              <a:gdLst>
                <a:gd name="T0" fmla="*/ 6 w 43"/>
                <a:gd name="T1" fmla="*/ 63 h 63"/>
                <a:gd name="T2" fmla="*/ 11 w 43"/>
                <a:gd name="T3" fmla="*/ 63 h 63"/>
                <a:gd name="T4" fmla="*/ 14 w 43"/>
                <a:gd name="T5" fmla="*/ 46 h 63"/>
                <a:gd name="T6" fmla="*/ 12 w 43"/>
                <a:gd name="T7" fmla="*/ 33 h 63"/>
                <a:gd name="T8" fmla="*/ 24 w 43"/>
                <a:gd name="T9" fmla="*/ 36 h 63"/>
                <a:gd name="T10" fmla="*/ 28 w 43"/>
                <a:gd name="T11" fmla="*/ 54 h 63"/>
                <a:gd name="T12" fmla="*/ 34 w 43"/>
                <a:gd name="T13" fmla="*/ 54 h 63"/>
                <a:gd name="T14" fmla="*/ 32 w 43"/>
                <a:gd name="T15" fmla="*/ 35 h 63"/>
                <a:gd name="T16" fmla="*/ 27 w 43"/>
                <a:gd name="T17" fmla="*/ 30 h 63"/>
                <a:gd name="T18" fmla="*/ 15 w 43"/>
                <a:gd name="T19" fmla="*/ 26 h 63"/>
                <a:gd name="T20" fmla="*/ 19 w 43"/>
                <a:gd name="T21" fmla="*/ 17 h 63"/>
                <a:gd name="T22" fmla="*/ 26 w 43"/>
                <a:gd name="T23" fmla="*/ 22 h 63"/>
                <a:gd name="T24" fmla="*/ 43 w 43"/>
                <a:gd name="T25" fmla="*/ 26 h 63"/>
                <a:gd name="T26" fmla="*/ 43 w 43"/>
                <a:gd name="T27" fmla="*/ 22 h 63"/>
                <a:gd name="T28" fmla="*/ 29 w 43"/>
                <a:gd name="T29" fmla="*/ 18 h 63"/>
                <a:gd name="T30" fmla="*/ 22 w 43"/>
                <a:gd name="T31" fmla="*/ 9 h 63"/>
                <a:gd name="T32" fmla="*/ 5 w 43"/>
                <a:gd name="T33" fmla="*/ 7 h 63"/>
                <a:gd name="T34" fmla="*/ 2 w 43"/>
                <a:gd name="T35" fmla="*/ 21 h 63"/>
                <a:gd name="T36" fmla="*/ 1 w 43"/>
                <a:gd name="T37" fmla="*/ 31 h 63"/>
                <a:gd name="T38" fmla="*/ 6 w 43"/>
                <a:gd name="T39" fmla="*/ 45 h 63"/>
                <a:gd name="T40" fmla="*/ 6 w 43"/>
                <a:gd name="T41" fmla="*/ 6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3" h="63">
                  <a:moveTo>
                    <a:pt x="6" y="63"/>
                  </a:moveTo>
                  <a:cubicBezTo>
                    <a:pt x="11" y="63"/>
                    <a:pt x="11" y="63"/>
                    <a:pt x="11" y="63"/>
                  </a:cubicBezTo>
                  <a:cubicBezTo>
                    <a:pt x="14" y="46"/>
                    <a:pt x="14" y="46"/>
                    <a:pt x="14" y="46"/>
                  </a:cubicBezTo>
                  <a:cubicBezTo>
                    <a:pt x="12" y="33"/>
                    <a:pt x="12" y="33"/>
                    <a:pt x="12" y="33"/>
                  </a:cubicBezTo>
                  <a:cubicBezTo>
                    <a:pt x="24" y="36"/>
                    <a:pt x="24" y="36"/>
                    <a:pt x="24" y="36"/>
                  </a:cubicBezTo>
                  <a:cubicBezTo>
                    <a:pt x="28" y="54"/>
                    <a:pt x="28" y="54"/>
                    <a:pt x="28" y="54"/>
                  </a:cubicBezTo>
                  <a:cubicBezTo>
                    <a:pt x="34" y="54"/>
                    <a:pt x="34" y="54"/>
                    <a:pt x="34" y="54"/>
                  </a:cubicBezTo>
                  <a:cubicBezTo>
                    <a:pt x="32" y="35"/>
                    <a:pt x="32" y="35"/>
                    <a:pt x="32" y="35"/>
                  </a:cubicBezTo>
                  <a:cubicBezTo>
                    <a:pt x="32" y="32"/>
                    <a:pt x="28" y="31"/>
                    <a:pt x="27" y="30"/>
                  </a:cubicBezTo>
                  <a:cubicBezTo>
                    <a:pt x="15" y="26"/>
                    <a:pt x="15" y="26"/>
                    <a:pt x="15" y="26"/>
                  </a:cubicBezTo>
                  <a:cubicBezTo>
                    <a:pt x="19" y="17"/>
                    <a:pt x="19" y="17"/>
                    <a:pt x="19" y="17"/>
                  </a:cubicBezTo>
                  <a:cubicBezTo>
                    <a:pt x="26" y="22"/>
                    <a:pt x="26" y="22"/>
                    <a:pt x="26" y="22"/>
                  </a:cubicBezTo>
                  <a:cubicBezTo>
                    <a:pt x="43" y="26"/>
                    <a:pt x="43" y="26"/>
                    <a:pt x="43" y="26"/>
                  </a:cubicBezTo>
                  <a:cubicBezTo>
                    <a:pt x="43" y="22"/>
                    <a:pt x="43" y="22"/>
                    <a:pt x="43" y="22"/>
                  </a:cubicBezTo>
                  <a:cubicBezTo>
                    <a:pt x="29" y="18"/>
                    <a:pt x="29" y="18"/>
                    <a:pt x="29" y="18"/>
                  </a:cubicBezTo>
                  <a:cubicBezTo>
                    <a:pt x="22" y="9"/>
                    <a:pt x="22" y="9"/>
                    <a:pt x="22" y="9"/>
                  </a:cubicBezTo>
                  <a:cubicBezTo>
                    <a:pt x="19" y="6"/>
                    <a:pt x="7" y="0"/>
                    <a:pt x="5" y="7"/>
                  </a:cubicBezTo>
                  <a:cubicBezTo>
                    <a:pt x="2" y="21"/>
                    <a:pt x="2" y="21"/>
                    <a:pt x="2" y="21"/>
                  </a:cubicBezTo>
                  <a:cubicBezTo>
                    <a:pt x="1" y="25"/>
                    <a:pt x="0" y="28"/>
                    <a:pt x="1" y="31"/>
                  </a:cubicBezTo>
                  <a:cubicBezTo>
                    <a:pt x="6" y="45"/>
                    <a:pt x="6" y="45"/>
                    <a:pt x="6" y="45"/>
                  </a:cubicBezTo>
                  <a:cubicBezTo>
                    <a:pt x="6" y="60"/>
                    <a:pt x="6" y="60"/>
                    <a:pt x="6" y="60"/>
                  </a:cubicBezTo>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6" name="Freeform 157">
              <a:extLst>
                <a:ext uri="{FF2B5EF4-FFF2-40B4-BE49-F238E27FC236}">
                  <a16:creationId xmlns:a16="http://schemas.microsoft.com/office/drawing/2014/main" id="{45E0303F-74AA-F323-D9D5-7BD0F3432DA2}"/>
                </a:ext>
              </a:extLst>
            </p:cNvPr>
            <p:cNvSpPr>
              <a:spLocks/>
            </p:cNvSpPr>
            <p:nvPr/>
          </p:nvSpPr>
          <p:spPr bwMode="auto">
            <a:xfrm>
              <a:off x="5124451" y="5545138"/>
              <a:ext cx="52388" cy="49213"/>
            </a:xfrm>
            <a:custGeom>
              <a:avLst/>
              <a:gdLst>
                <a:gd name="T0" fmla="*/ 1 w 14"/>
                <a:gd name="T1" fmla="*/ 5 h 13"/>
                <a:gd name="T2" fmla="*/ 9 w 14"/>
                <a:gd name="T3" fmla="*/ 1 h 13"/>
                <a:gd name="T4" fmla="*/ 9 w 14"/>
                <a:gd name="T5" fmla="*/ 1 h 13"/>
                <a:gd name="T6" fmla="*/ 9 w 14"/>
                <a:gd name="T7" fmla="*/ 1 h 13"/>
                <a:gd name="T8" fmla="*/ 13 w 14"/>
                <a:gd name="T9" fmla="*/ 8 h 13"/>
                <a:gd name="T10" fmla="*/ 13 w 14"/>
                <a:gd name="T11" fmla="*/ 8 h 13"/>
                <a:gd name="T12" fmla="*/ 13 w 14"/>
                <a:gd name="T13" fmla="*/ 8 h 13"/>
                <a:gd name="T14" fmla="*/ 5 w 14"/>
                <a:gd name="T15" fmla="*/ 12 h 13"/>
                <a:gd name="T16" fmla="*/ 5 w 14"/>
                <a:gd name="T17" fmla="*/ 12 h 13"/>
                <a:gd name="T18" fmla="*/ 5 w 14"/>
                <a:gd name="T19" fmla="*/ 12 h 13"/>
                <a:gd name="T20" fmla="*/ 1 w 14"/>
                <a:gd name="T21" fmla="*/ 5 h 13"/>
                <a:gd name="T22" fmla="*/ 1 w 14"/>
                <a:gd name="T23" fmla="*/ 5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 h="13">
                  <a:moveTo>
                    <a:pt x="1" y="5"/>
                  </a:moveTo>
                  <a:cubicBezTo>
                    <a:pt x="2" y="2"/>
                    <a:pt x="5" y="0"/>
                    <a:pt x="9" y="1"/>
                  </a:cubicBezTo>
                  <a:cubicBezTo>
                    <a:pt x="9" y="1"/>
                    <a:pt x="9" y="1"/>
                    <a:pt x="9" y="1"/>
                  </a:cubicBezTo>
                  <a:cubicBezTo>
                    <a:pt x="9" y="1"/>
                    <a:pt x="9" y="1"/>
                    <a:pt x="9" y="1"/>
                  </a:cubicBezTo>
                  <a:cubicBezTo>
                    <a:pt x="12" y="1"/>
                    <a:pt x="14" y="5"/>
                    <a:pt x="13" y="8"/>
                  </a:cubicBezTo>
                  <a:cubicBezTo>
                    <a:pt x="13" y="8"/>
                    <a:pt x="13" y="8"/>
                    <a:pt x="13" y="8"/>
                  </a:cubicBezTo>
                  <a:cubicBezTo>
                    <a:pt x="13" y="8"/>
                    <a:pt x="13" y="8"/>
                    <a:pt x="13" y="8"/>
                  </a:cubicBezTo>
                  <a:cubicBezTo>
                    <a:pt x="12" y="11"/>
                    <a:pt x="9" y="13"/>
                    <a:pt x="5" y="12"/>
                  </a:cubicBezTo>
                  <a:cubicBezTo>
                    <a:pt x="5" y="12"/>
                    <a:pt x="5" y="12"/>
                    <a:pt x="5" y="12"/>
                  </a:cubicBezTo>
                  <a:cubicBezTo>
                    <a:pt x="5" y="12"/>
                    <a:pt x="5" y="12"/>
                    <a:pt x="5" y="12"/>
                  </a:cubicBezTo>
                  <a:cubicBezTo>
                    <a:pt x="2" y="11"/>
                    <a:pt x="0" y="8"/>
                    <a:pt x="1" y="5"/>
                  </a:cubicBezTo>
                  <a:cubicBezTo>
                    <a:pt x="1" y="5"/>
                    <a:pt x="1" y="5"/>
                    <a:pt x="1" y="5"/>
                  </a:cubicBezTo>
                  <a:close/>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grpSp>
      <p:sp>
        <p:nvSpPr>
          <p:cNvPr id="417" name="Gleichschenkliges Dreieck 2">
            <a:extLst>
              <a:ext uri="{FF2B5EF4-FFF2-40B4-BE49-F238E27FC236}">
                <a16:creationId xmlns:a16="http://schemas.microsoft.com/office/drawing/2014/main" id="{4983DF9E-3A76-8C69-EDF0-EB85CC91C525}"/>
              </a:ext>
            </a:extLst>
          </p:cNvPr>
          <p:cNvSpPr/>
          <p:nvPr/>
        </p:nvSpPr>
        <p:spPr bwMode="auto">
          <a:xfrm>
            <a:off x="10863262" y="2597636"/>
            <a:ext cx="1229237" cy="252000"/>
          </a:xfrm>
          <a:prstGeom prst="rect">
            <a:avLst/>
          </a:prstGeom>
          <a:solidFill>
            <a:srgbClr val="00B05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rPr>
              <a:t>Best Practices</a:t>
            </a:r>
          </a:p>
        </p:txBody>
      </p:sp>
      <p:sp>
        <p:nvSpPr>
          <p:cNvPr id="419" name="TextBox 418">
            <a:extLst>
              <a:ext uri="{FF2B5EF4-FFF2-40B4-BE49-F238E27FC236}">
                <a16:creationId xmlns:a16="http://schemas.microsoft.com/office/drawing/2014/main" id="{AD693A82-66F6-B7D4-4838-F4F945283413}"/>
              </a:ext>
            </a:extLst>
          </p:cNvPr>
          <p:cNvSpPr txBox="1"/>
          <p:nvPr/>
        </p:nvSpPr>
        <p:spPr>
          <a:xfrm>
            <a:off x="10464154" y="2880193"/>
            <a:ext cx="1588444" cy="2164695"/>
          </a:xfrm>
          <a:prstGeom prst="rect">
            <a:avLst/>
          </a:prstGeom>
          <a:noFill/>
          <a:ln>
            <a:noFill/>
          </a:ln>
        </p:spPr>
        <p:txBody>
          <a:bodyPr wrap="square" rtlCol="0">
            <a:spAutoFit/>
          </a:bodyPr>
          <a:lstStyle/>
          <a:p>
            <a:pPr marL="171450" indent="-171450">
              <a:spcBef>
                <a:spcPts val="200"/>
              </a:spcBef>
              <a:spcAft>
                <a:spcPts val="200"/>
              </a:spcAft>
              <a:buClr>
                <a:schemeClr val="accent1"/>
              </a:buClr>
              <a:buFont typeface="Wingdings" panose="05000000000000000000" pitchFamily="2" charset="2"/>
              <a:buChar char="§"/>
              <a:defRPr/>
            </a:pPr>
            <a:r>
              <a:rPr lang="en-US" sz="700">
                <a:cs typeface="Calibri" pitchFamily="34" charset="0"/>
              </a:rPr>
              <a:t>Maximize Product Value</a:t>
            </a:r>
          </a:p>
          <a:p>
            <a:pPr marL="171450" indent="-171450">
              <a:spcBef>
                <a:spcPts val="200"/>
              </a:spcBef>
              <a:spcAft>
                <a:spcPts val="200"/>
              </a:spcAft>
              <a:buClr>
                <a:schemeClr val="accent1"/>
              </a:buClr>
              <a:buFont typeface="Wingdings" panose="05000000000000000000" pitchFamily="2" charset="2"/>
              <a:buChar char="§"/>
              <a:defRPr/>
            </a:pPr>
            <a:r>
              <a:rPr lang="en-US" sz="700">
                <a:cs typeface="Calibri" pitchFamily="34" charset="0"/>
              </a:rPr>
              <a:t>Demonstrate OOTB capabilities</a:t>
            </a:r>
          </a:p>
          <a:p>
            <a:pPr marL="171450" indent="-171450">
              <a:spcBef>
                <a:spcPts val="200"/>
              </a:spcBef>
              <a:spcAft>
                <a:spcPts val="200"/>
              </a:spcAft>
              <a:buClr>
                <a:schemeClr val="accent1"/>
              </a:buClr>
              <a:buFont typeface="Wingdings" panose="05000000000000000000" pitchFamily="2" charset="2"/>
              <a:buChar char="§"/>
              <a:defRPr/>
            </a:pPr>
            <a:r>
              <a:rPr lang="en-US" sz="700">
                <a:cs typeface="Calibri" pitchFamily="34" charset="0"/>
              </a:rPr>
              <a:t>Use wireframes or mock-ups</a:t>
            </a:r>
          </a:p>
          <a:p>
            <a:pPr marL="171450" marR="0" lvl="0" indent="-171450" fontAlgn="auto">
              <a:spcBef>
                <a:spcPts val="200"/>
              </a:spcBef>
              <a:spcAft>
                <a:spcPts val="200"/>
              </a:spcAft>
              <a:buClr>
                <a:schemeClr val="accent1"/>
              </a:buClr>
              <a:buSzTx/>
              <a:buFont typeface="Wingdings" panose="05000000000000000000" pitchFamily="2" charset="2"/>
              <a:buChar char="§"/>
              <a:tabLst/>
              <a:defRPr/>
            </a:pPr>
            <a:r>
              <a:rPr lang="en-US" sz="700">
                <a:cs typeface="Calibri" pitchFamily="34" charset="0"/>
              </a:rPr>
              <a:t>Leverage Workshop tools</a:t>
            </a:r>
          </a:p>
          <a:p>
            <a:pPr marL="171450" indent="-171450">
              <a:spcBef>
                <a:spcPts val="200"/>
              </a:spcBef>
              <a:spcAft>
                <a:spcPts val="200"/>
              </a:spcAft>
              <a:buClr>
                <a:schemeClr val="accent1"/>
              </a:buClr>
              <a:buFont typeface="Wingdings" panose="05000000000000000000" pitchFamily="2" charset="2"/>
              <a:buChar char="§"/>
              <a:defRPr/>
            </a:pPr>
            <a:r>
              <a:rPr lang="en-US" sz="700">
                <a:cs typeface="Calibri" pitchFamily="34" charset="0"/>
              </a:rPr>
              <a:t>Storyboarding</a:t>
            </a:r>
          </a:p>
          <a:p>
            <a:pPr marL="171450" indent="-171450">
              <a:spcBef>
                <a:spcPts val="200"/>
              </a:spcBef>
              <a:spcAft>
                <a:spcPts val="200"/>
              </a:spcAft>
              <a:buClr>
                <a:schemeClr val="accent1"/>
              </a:buClr>
              <a:buFont typeface="Wingdings" panose="05000000000000000000" pitchFamily="2" charset="2"/>
              <a:buChar char="§"/>
              <a:defRPr/>
            </a:pPr>
            <a:r>
              <a:rPr lang="en-US" sz="700">
                <a:cs typeface="Calibri" pitchFamily="34" charset="0"/>
              </a:rPr>
              <a:t>Build incrementally</a:t>
            </a:r>
          </a:p>
          <a:p>
            <a:pPr marL="171450" indent="-171450">
              <a:spcBef>
                <a:spcPts val="200"/>
              </a:spcBef>
              <a:spcAft>
                <a:spcPts val="200"/>
              </a:spcAft>
              <a:buClr>
                <a:schemeClr val="accent1"/>
              </a:buClr>
              <a:buFont typeface="Wingdings" panose="05000000000000000000" pitchFamily="2" charset="2"/>
              <a:buChar char="§"/>
              <a:defRPr/>
            </a:pPr>
            <a:r>
              <a:rPr lang="en-US" sz="700">
                <a:cs typeface="Calibri" pitchFamily="34" charset="0"/>
              </a:rPr>
              <a:t>Think holistically (‘Big Picture’)</a:t>
            </a:r>
          </a:p>
          <a:p>
            <a:pPr marL="171450" indent="-171450">
              <a:spcBef>
                <a:spcPts val="200"/>
              </a:spcBef>
              <a:spcAft>
                <a:spcPts val="200"/>
              </a:spcAft>
              <a:buClr>
                <a:schemeClr val="accent1"/>
              </a:buClr>
              <a:buFont typeface="Wingdings" panose="05000000000000000000" pitchFamily="2" charset="2"/>
              <a:buChar char="§"/>
              <a:defRPr/>
            </a:pPr>
            <a:r>
              <a:rPr lang="en-US" sz="700">
                <a:cs typeface="Calibri" pitchFamily="34" charset="0"/>
              </a:rPr>
              <a:t>Bring on board all relevant Workstreams to the sessions</a:t>
            </a:r>
          </a:p>
          <a:p>
            <a:pPr marL="171450" indent="-171450">
              <a:spcBef>
                <a:spcPts val="200"/>
              </a:spcBef>
              <a:spcAft>
                <a:spcPts val="200"/>
              </a:spcAft>
              <a:buClr>
                <a:schemeClr val="accent1"/>
              </a:buClr>
              <a:buFont typeface="Wingdings" panose="05000000000000000000" pitchFamily="2" charset="2"/>
              <a:buChar char="§"/>
              <a:defRPr/>
            </a:pPr>
            <a:r>
              <a:rPr lang="en-US" sz="700">
                <a:cs typeface="Calibri" pitchFamily="34" charset="0"/>
              </a:rPr>
              <a:t>80:20 rule</a:t>
            </a:r>
          </a:p>
          <a:p>
            <a:pPr marL="171450" indent="-171450">
              <a:spcBef>
                <a:spcPts val="200"/>
              </a:spcBef>
              <a:spcAft>
                <a:spcPts val="200"/>
              </a:spcAft>
              <a:buClr>
                <a:schemeClr val="accent1"/>
              </a:buClr>
              <a:buFont typeface="Wingdings" panose="05000000000000000000" pitchFamily="2" charset="2"/>
              <a:buChar char="§"/>
              <a:defRPr/>
            </a:pPr>
            <a:r>
              <a:rPr lang="en-US" sz="700">
                <a:cs typeface="Calibri" pitchFamily="34" charset="0"/>
              </a:rPr>
              <a:t>One Team approach </a:t>
            </a:r>
          </a:p>
          <a:p>
            <a:pPr marL="171450" indent="-171450">
              <a:spcBef>
                <a:spcPts val="200"/>
              </a:spcBef>
              <a:spcAft>
                <a:spcPts val="200"/>
              </a:spcAft>
              <a:buClr>
                <a:schemeClr val="accent1"/>
              </a:buClr>
              <a:buFont typeface="Wingdings" panose="05000000000000000000" pitchFamily="2" charset="2"/>
              <a:buChar char="§"/>
              <a:defRPr/>
            </a:pPr>
            <a:r>
              <a:rPr lang="en-US" sz="700">
                <a:cs typeface="Calibri" pitchFamily="34" charset="0"/>
              </a:rPr>
              <a:t>Seamless communication</a:t>
            </a:r>
          </a:p>
          <a:p>
            <a:pPr marL="171450" indent="-171450">
              <a:spcBef>
                <a:spcPts val="200"/>
              </a:spcBef>
              <a:spcAft>
                <a:spcPts val="200"/>
              </a:spcAft>
              <a:buClr>
                <a:schemeClr val="accent1"/>
              </a:buClr>
              <a:buFont typeface="Wingdings" panose="05000000000000000000" pitchFamily="2" charset="2"/>
              <a:buChar char="§"/>
              <a:defRPr/>
            </a:pPr>
            <a:r>
              <a:rPr lang="en-US" sz="700">
                <a:cs typeface="Calibri" pitchFamily="34" charset="0"/>
              </a:rPr>
              <a:t>Follow Agile Ceremonies</a:t>
            </a:r>
          </a:p>
        </p:txBody>
      </p:sp>
      <p:sp>
        <p:nvSpPr>
          <p:cNvPr id="424" name="Rounded Rectangle 67">
            <a:extLst>
              <a:ext uri="{FF2B5EF4-FFF2-40B4-BE49-F238E27FC236}">
                <a16:creationId xmlns:a16="http://schemas.microsoft.com/office/drawing/2014/main" id="{56E6359D-9E16-71FC-DAAF-6DC4F95B2C6E}"/>
              </a:ext>
            </a:extLst>
          </p:cNvPr>
          <p:cNvSpPr>
            <a:spLocks/>
          </p:cNvSpPr>
          <p:nvPr/>
        </p:nvSpPr>
        <p:spPr>
          <a:xfrm>
            <a:off x="10477580" y="5385273"/>
            <a:ext cx="1614920" cy="1116135"/>
          </a:xfrm>
          <a:prstGeom prst="roundRect">
            <a:avLst>
              <a:gd name="adj" fmla="val 5380"/>
            </a:avLst>
          </a:prstGeom>
          <a:noFill/>
          <a:ln w="19050" cap="flat" cmpd="sng" algn="ctr">
            <a:solidFill>
              <a:schemeClr val="bg1">
                <a:lumMod val="7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435" name="Gleichschenkliges Dreieck 2">
            <a:extLst>
              <a:ext uri="{FF2B5EF4-FFF2-40B4-BE49-F238E27FC236}">
                <a16:creationId xmlns:a16="http://schemas.microsoft.com/office/drawing/2014/main" id="{E0797AE8-F805-4867-6293-45B2BB4993B3}"/>
              </a:ext>
            </a:extLst>
          </p:cNvPr>
          <p:cNvSpPr/>
          <p:nvPr/>
        </p:nvSpPr>
        <p:spPr bwMode="auto">
          <a:xfrm>
            <a:off x="10866827" y="5132351"/>
            <a:ext cx="1225672" cy="252000"/>
          </a:xfrm>
          <a:prstGeom prst="rect">
            <a:avLst/>
          </a:prstGeom>
          <a:solidFill>
            <a:srgbClr val="FFC00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rPr>
              <a:t>Challenges</a:t>
            </a:r>
          </a:p>
        </p:txBody>
      </p:sp>
      <p:pic>
        <p:nvPicPr>
          <p:cNvPr id="436" name="Picture 2" descr="Image result for requirement workshop icon">
            <a:extLst>
              <a:ext uri="{FF2B5EF4-FFF2-40B4-BE49-F238E27FC236}">
                <a16:creationId xmlns:a16="http://schemas.microsoft.com/office/drawing/2014/main" id="{58E836BE-ACB2-B48F-BDBF-8B43AEB1EDFA}"/>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795655" y="2568352"/>
            <a:ext cx="1224717" cy="597831"/>
          </a:xfrm>
          <a:prstGeom prst="rect">
            <a:avLst/>
          </a:prstGeom>
          <a:noFill/>
          <a:extLst>
            <a:ext uri="{909E8E84-426E-40DD-AFC4-6F175D3DCCD1}">
              <a14:hiddenFill xmlns:a14="http://schemas.microsoft.com/office/drawing/2010/main">
                <a:solidFill>
                  <a:srgbClr val="FFFFFF"/>
                </a:solidFill>
              </a14:hiddenFill>
            </a:ext>
          </a:extLst>
        </p:spPr>
      </p:pic>
      <p:grpSp>
        <p:nvGrpSpPr>
          <p:cNvPr id="437" name="Group 436">
            <a:extLst>
              <a:ext uri="{FF2B5EF4-FFF2-40B4-BE49-F238E27FC236}">
                <a16:creationId xmlns:a16="http://schemas.microsoft.com/office/drawing/2014/main" id="{FC5E9492-D418-987F-2704-450445C0C317}"/>
              </a:ext>
            </a:extLst>
          </p:cNvPr>
          <p:cNvGrpSpPr>
            <a:grpSpLocks noChangeAspect="1"/>
          </p:cNvGrpSpPr>
          <p:nvPr/>
        </p:nvGrpSpPr>
        <p:grpSpPr>
          <a:xfrm>
            <a:off x="10541512" y="5087781"/>
            <a:ext cx="280916" cy="303133"/>
            <a:chOff x="9910960" y="2281694"/>
            <a:chExt cx="590557" cy="558400"/>
          </a:xfrm>
        </p:grpSpPr>
        <p:sp>
          <p:nvSpPr>
            <p:cNvPr id="438" name="Freeform 39">
              <a:extLst>
                <a:ext uri="{FF2B5EF4-FFF2-40B4-BE49-F238E27FC236}">
                  <a16:creationId xmlns:a16="http://schemas.microsoft.com/office/drawing/2014/main" id="{69732489-D9F2-F6A8-78D2-15E08E060E51}"/>
                </a:ext>
              </a:extLst>
            </p:cNvPr>
            <p:cNvSpPr>
              <a:spLocks noEditPoints="1"/>
            </p:cNvSpPr>
            <p:nvPr/>
          </p:nvSpPr>
          <p:spPr bwMode="auto">
            <a:xfrm>
              <a:off x="9910960" y="2397747"/>
              <a:ext cx="445479" cy="378434"/>
            </a:xfrm>
            <a:custGeom>
              <a:avLst/>
              <a:gdLst>
                <a:gd name="T0" fmla="*/ 102 w 110"/>
                <a:gd name="T1" fmla="*/ 30 h 95"/>
                <a:gd name="T2" fmla="*/ 101 w 110"/>
                <a:gd name="T3" fmla="*/ 29 h 95"/>
                <a:gd name="T4" fmla="*/ 81 w 110"/>
                <a:gd name="T5" fmla="*/ 15 h 95"/>
                <a:gd name="T6" fmla="*/ 32 w 110"/>
                <a:gd name="T7" fmla="*/ 1 h 95"/>
                <a:gd name="T8" fmla="*/ 29 w 110"/>
                <a:gd name="T9" fmla="*/ 0 h 95"/>
                <a:gd name="T10" fmla="*/ 0 w 110"/>
                <a:gd name="T11" fmla="*/ 34 h 95"/>
                <a:gd name="T12" fmla="*/ 16 w 110"/>
                <a:gd name="T13" fmla="*/ 50 h 95"/>
                <a:gd name="T14" fmla="*/ 55 w 110"/>
                <a:gd name="T15" fmla="*/ 95 h 95"/>
                <a:gd name="T16" fmla="*/ 66 w 110"/>
                <a:gd name="T17" fmla="*/ 89 h 95"/>
                <a:gd name="T18" fmla="*/ 87 w 110"/>
                <a:gd name="T19" fmla="*/ 76 h 95"/>
                <a:gd name="T20" fmla="*/ 95 w 110"/>
                <a:gd name="T21" fmla="*/ 66 h 95"/>
                <a:gd name="T22" fmla="*/ 108 w 110"/>
                <a:gd name="T23" fmla="*/ 55 h 95"/>
                <a:gd name="T24" fmla="*/ 109 w 110"/>
                <a:gd name="T25" fmla="*/ 51 h 95"/>
                <a:gd name="T26" fmla="*/ 55 w 110"/>
                <a:gd name="T27" fmla="*/ 87 h 95"/>
                <a:gd name="T28" fmla="*/ 45 w 110"/>
                <a:gd name="T29" fmla="*/ 78 h 95"/>
                <a:gd name="T30" fmla="*/ 51 w 110"/>
                <a:gd name="T31" fmla="*/ 72 h 95"/>
                <a:gd name="T32" fmla="*/ 58 w 110"/>
                <a:gd name="T33" fmla="*/ 86 h 95"/>
                <a:gd name="T34" fmla="*/ 66 w 110"/>
                <a:gd name="T35" fmla="*/ 81 h 95"/>
                <a:gd name="T36" fmla="*/ 54 w 110"/>
                <a:gd name="T37" fmla="*/ 70 h 95"/>
                <a:gd name="T38" fmla="*/ 61 w 110"/>
                <a:gd name="T39" fmla="*/ 64 h 95"/>
                <a:gd name="T40" fmla="*/ 69 w 110"/>
                <a:gd name="T41" fmla="*/ 80 h 95"/>
                <a:gd name="T42" fmla="*/ 77 w 110"/>
                <a:gd name="T43" fmla="*/ 75 h 95"/>
                <a:gd name="T44" fmla="*/ 64 w 110"/>
                <a:gd name="T45" fmla="*/ 62 h 95"/>
                <a:gd name="T46" fmla="*/ 70 w 110"/>
                <a:gd name="T47" fmla="*/ 56 h 95"/>
                <a:gd name="T48" fmla="*/ 80 w 110"/>
                <a:gd name="T49" fmla="*/ 74 h 95"/>
                <a:gd name="T50" fmla="*/ 85 w 110"/>
                <a:gd name="T51" fmla="*/ 64 h 95"/>
                <a:gd name="T52" fmla="*/ 74 w 110"/>
                <a:gd name="T53" fmla="*/ 53 h 95"/>
                <a:gd name="T54" fmla="*/ 80 w 110"/>
                <a:gd name="T55" fmla="*/ 48 h 95"/>
                <a:gd name="T56" fmla="*/ 88 w 110"/>
                <a:gd name="T57" fmla="*/ 63 h 95"/>
                <a:gd name="T58" fmla="*/ 87 w 110"/>
                <a:gd name="T59" fmla="*/ 44 h 95"/>
                <a:gd name="T60" fmla="*/ 52 w 110"/>
                <a:gd name="T61" fmla="*/ 43 h 95"/>
                <a:gd name="T62" fmla="*/ 24 w 110"/>
                <a:gd name="T63" fmla="*/ 48 h 95"/>
                <a:gd name="T64" fmla="*/ 23 w 110"/>
                <a:gd name="T65" fmla="*/ 46 h 95"/>
                <a:gd name="T66" fmla="*/ 29 w 110"/>
                <a:gd name="T67" fmla="*/ 9 h 95"/>
                <a:gd name="T68" fmla="*/ 45 w 110"/>
                <a:gd name="T69" fmla="*/ 22 h 95"/>
                <a:gd name="T70" fmla="*/ 78 w 110"/>
                <a:gd name="T71" fmla="*/ 22 h 95"/>
                <a:gd name="T72" fmla="*/ 101 w 110"/>
                <a:gd name="T73"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0" h="95">
                  <a:moveTo>
                    <a:pt x="109" y="51"/>
                  </a:moveTo>
                  <a:cubicBezTo>
                    <a:pt x="108" y="46"/>
                    <a:pt x="104" y="34"/>
                    <a:pt x="102" y="30"/>
                  </a:cubicBezTo>
                  <a:cubicBezTo>
                    <a:pt x="101" y="29"/>
                    <a:pt x="101" y="29"/>
                    <a:pt x="101" y="29"/>
                  </a:cubicBezTo>
                  <a:cubicBezTo>
                    <a:pt x="101" y="29"/>
                    <a:pt x="101" y="29"/>
                    <a:pt x="101" y="29"/>
                  </a:cubicBezTo>
                  <a:cubicBezTo>
                    <a:pt x="96" y="25"/>
                    <a:pt x="84" y="16"/>
                    <a:pt x="82" y="15"/>
                  </a:cubicBezTo>
                  <a:cubicBezTo>
                    <a:pt x="81" y="15"/>
                    <a:pt x="81" y="15"/>
                    <a:pt x="81" y="15"/>
                  </a:cubicBezTo>
                  <a:cubicBezTo>
                    <a:pt x="70" y="12"/>
                    <a:pt x="59" y="11"/>
                    <a:pt x="47" y="13"/>
                  </a:cubicBezTo>
                  <a:cubicBezTo>
                    <a:pt x="43" y="10"/>
                    <a:pt x="37" y="6"/>
                    <a:pt x="32" y="1"/>
                  </a:cubicBezTo>
                  <a:cubicBezTo>
                    <a:pt x="30" y="0"/>
                    <a:pt x="30" y="0"/>
                    <a:pt x="30" y="0"/>
                  </a:cubicBezTo>
                  <a:cubicBezTo>
                    <a:pt x="29" y="0"/>
                    <a:pt x="29" y="0"/>
                    <a:pt x="29" y="0"/>
                  </a:cubicBezTo>
                  <a:cubicBezTo>
                    <a:pt x="21" y="2"/>
                    <a:pt x="3" y="16"/>
                    <a:pt x="1" y="32"/>
                  </a:cubicBezTo>
                  <a:cubicBezTo>
                    <a:pt x="0" y="34"/>
                    <a:pt x="0" y="34"/>
                    <a:pt x="0" y="34"/>
                  </a:cubicBezTo>
                  <a:cubicBezTo>
                    <a:pt x="2" y="36"/>
                    <a:pt x="2" y="36"/>
                    <a:pt x="2" y="36"/>
                  </a:cubicBezTo>
                  <a:cubicBezTo>
                    <a:pt x="6" y="39"/>
                    <a:pt x="13" y="46"/>
                    <a:pt x="16" y="50"/>
                  </a:cubicBezTo>
                  <a:cubicBezTo>
                    <a:pt x="17" y="56"/>
                    <a:pt x="20" y="66"/>
                    <a:pt x="31" y="77"/>
                  </a:cubicBezTo>
                  <a:cubicBezTo>
                    <a:pt x="43" y="89"/>
                    <a:pt x="49" y="95"/>
                    <a:pt x="55" y="95"/>
                  </a:cubicBezTo>
                  <a:cubicBezTo>
                    <a:pt x="56" y="95"/>
                    <a:pt x="57" y="94"/>
                    <a:pt x="58" y="94"/>
                  </a:cubicBezTo>
                  <a:cubicBezTo>
                    <a:pt x="62" y="93"/>
                    <a:pt x="65" y="91"/>
                    <a:pt x="66" y="89"/>
                  </a:cubicBezTo>
                  <a:cubicBezTo>
                    <a:pt x="70" y="88"/>
                    <a:pt x="74" y="86"/>
                    <a:pt x="76" y="82"/>
                  </a:cubicBezTo>
                  <a:cubicBezTo>
                    <a:pt x="80" y="81"/>
                    <a:pt x="84" y="79"/>
                    <a:pt x="87" y="76"/>
                  </a:cubicBezTo>
                  <a:cubicBezTo>
                    <a:pt x="88" y="75"/>
                    <a:pt x="89" y="73"/>
                    <a:pt x="89" y="72"/>
                  </a:cubicBezTo>
                  <a:cubicBezTo>
                    <a:pt x="92" y="71"/>
                    <a:pt x="94" y="69"/>
                    <a:pt x="95" y="66"/>
                  </a:cubicBezTo>
                  <a:cubicBezTo>
                    <a:pt x="97" y="64"/>
                    <a:pt x="97" y="63"/>
                    <a:pt x="97" y="61"/>
                  </a:cubicBezTo>
                  <a:cubicBezTo>
                    <a:pt x="101" y="60"/>
                    <a:pt x="105" y="59"/>
                    <a:pt x="108" y="55"/>
                  </a:cubicBezTo>
                  <a:cubicBezTo>
                    <a:pt x="110" y="54"/>
                    <a:pt x="110" y="54"/>
                    <a:pt x="110" y="54"/>
                  </a:cubicBezTo>
                  <a:lnTo>
                    <a:pt x="109" y="51"/>
                  </a:lnTo>
                  <a:close/>
                  <a:moveTo>
                    <a:pt x="58" y="86"/>
                  </a:moveTo>
                  <a:cubicBezTo>
                    <a:pt x="57" y="87"/>
                    <a:pt x="56" y="87"/>
                    <a:pt x="55" y="87"/>
                  </a:cubicBezTo>
                  <a:cubicBezTo>
                    <a:pt x="54" y="87"/>
                    <a:pt x="52" y="87"/>
                    <a:pt x="52" y="86"/>
                  </a:cubicBezTo>
                  <a:cubicBezTo>
                    <a:pt x="45" y="78"/>
                    <a:pt x="45" y="78"/>
                    <a:pt x="45" y="78"/>
                  </a:cubicBezTo>
                  <a:cubicBezTo>
                    <a:pt x="44" y="76"/>
                    <a:pt x="44" y="73"/>
                    <a:pt x="46" y="72"/>
                  </a:cubicBezTo>
                  <a:cubicBezTo>
                    <a:pt x="47" y="70"/>
                    <a:pt x="50" y="71"/>
                    <a:pt x="51" y="72"/>
                  </a:cubicBezTo>
                  <a:cubicBezTo>
                    <a:pt x="58" y="80"/>
                    <a:pt x="58" y="80"/>
                    <a:pt x="58" y="80"/>
                  </a:cubicBezTo>
                  <a:cubicBezTo>
                    <a:pt x="60" y="82"/>
                    <a:pt x="59" y="85"/>
                    <a:pt x="58" y="86"/>
                  </a:cubicBezTo>
                  <a:close/>
                  <a:moveTo>
                    <a:pt x="69" y="80"/>
                  </a:moveTo>
                  <a:cubicBezTo>
                    <a:pt x="68" y="81"/>
                    <a:pt x="67" y="81"/>
                    <a:pt x="66" y="81"/>
                  </a:cubicBezTo>
                  <a:cubicBezTo>
                    <a:pt x="65" y="81"/>
                    <a:pt x="64" y="81"/>
                    <a:pt x="63" y="80"/>
                  </a:cubicBezTo>
                  <a:cubicBezTo>
                    <a:pt x="54" y="70"/>
                    <a:pt x="54" y="70"/>
                    <a:pt x="54" y="70"/>
                  </a:cubicBezTo>
                  <a:cubicBezTo>
                    <a:pt x="53" y="68"/>
                    <a:pt x="53" y="65"/>
                    <a:pt x="55" y="63"/>
                  </a:cubicBezTo>
                  <a:cubicBezTo>
                    <a:pt x="57" y="62"/>
                    <a:pt x="60" y="62"/>
                    <a:pt x="61" y="64"/>
                  </a:cubicBezTo>
                  <a:cubicBezTo>
                    <a:pt x="69" y="74"/>
                    <a:pt x="69" y="74"/>
                    <a:pt x="69" y="74"/>
                  </a:cubicBezTo>
                  <a:cubicBezTo>
                    <a:pt x="71" y="76"/>
                    <a:pt x="71" y="79"/>
                    <a:pt x="69" y="80"/>
                  </a:cubicBezTo>
                  <a:close/>
                  <a:moveTo>
                    <a:pt x="80" y="74"/>
                  </a:moveTo>
                  <a:cubicBezTo>
                    <a:pt x="79" y="75"/>
                    <a:pt x="78" y="75"/>
                    <a:pt x="77" y="75"/>
                  </a:cubicBezTo>
                  <a:cubicBezTo>
                    <a:pt x="76" y="75"/>
                    <a:pt x="74" y="75"/>
                    <a:pt x="73" y="74"/>
                  </a:cubicBezTo>
                  <a:cubicBezTo>
                    <a:pt x="64" y="62"/>
                    <a:pt x="64" y="62"/>
                    <a:pt x="64" y="62"/>
                  </a:cubicBezTo>
                  <a:cubicBezTo>
                    <a:pt x="62" y="60"/>
                    <a:pt x="62" y="57"/>
                    <a:pt x="64" y="56"/>
                  </a:cubicBezTo>
                  <a:cubicBezTo>
                    <a:pt x="66" y="54"/>
                    <a:pt x="69" y="55"/>
                    <a:pt x="70" y="56"/>
                  </a:cubicBezTo>
                  <a:cubicBezTo>
                    <a:pt x="80" y="68"/>
                    <a:pt x="80" y="68"/>
                    <a:pt x="80" y="68"/>
                  </a:cubicBezTo>
                  <a:cubicBezTo>
                    <a:pt x="82" y="70"/>
                    <a:pt x="82" y="73"/>
                    <a:pt x="80" y="74"/>
                  </a:cubicBezTo>
                  <a:close/>
                  <a:moveTo>
                    <a:pt x="88" y="63"/>
                  </a:moveTo>
                  <a:cubicBezTo>
                    <a:pt x="87" y="64"/>
                    <a:pt x="86" y="64"/>
                    <a:pt x="85" y="64"/>
                  </a:cubicBezTo>
                  <a:cubicBezTo>
                    <a:pt x="84" y="64"/>
                    <a:pt x="83" y="64"/>
                    <a:pt x="82" y="63"/>
                  </a:cubicBezTo>
                  <a:cubicBezTo>
                    <a:pt x="74" y="53"/>
                    <a:pt x="74" y="53"/>
                    <a:pt x="74" y="53"/>
                  </a:cubicBezTo>
                  <a:cubicBezTo>
                    <a:pt x="72" y="52"/>
                    <a:pt x="72" y="49"/>
                    <a:pt x="74" y="47"/>
                  </a:cubicBezTo>
                  <a:cubicBezTo>
                    <a:pt x="76" y="46"/>
                    <a:pt x="79" y="46"/>
                    <a:pt x="80" y="48"/>
                  </a:cubicBezTo>
                  <a:cubicBezTo>
                    <a:pt x="88" y="57"/>
                    <a:pt x="88" y="57"/>
                    <a:pt x="88" y="57"/>
                  </a:cubicBezTo>
                  <a:cubicBezTo>
                    <a:pt x="90" y="59"/>
                    <a:pt x="90" y="62"/>
                    <a:pt x="88" y="63"/>
                  </a:cubicBezTo>
                  <a:close/>
                  <a:moveTo>
                    <a:pt x="99" y="52"/>
                  </a:moveTo>
                  <a:cubicBezTo>
                    <a:pt x="94" y="53"/>
                    <a:pt x="89" y="50"/>
                    <a:pt x="87" y="44"/>
                  </a:cubicBezTo>
                  <a:cubicBezTo>
                    <a:pt x="84" y="44"/>
                    <a:pt x="79" y="42"/>
                    <a:pt x="76" y="38"/>
                  </a:cubicBezTo>
                  <a:cubicBezTo>
                    <a:pt x="71" y="40"/>
                    <a:pt x="62" y="45"/>
                    <a:pt x="52" y="43"/>
                  </a:cubicBezTo>
                  <a:cubicBezTo>
                    <a:pt x="31" y="65"/>
                    <a:pt x="31" y="65"/>
                    <a:pt x="31" y="65"/>
                  </a:cubicBezTo>
                  <a:cubicBezTo>
                    <a:pt x="25" y="57"/>
                    <a:pt x="24" y="51"/>
                    <a:pt x="24" y="48"/>
                  </a:cubicBezTo>
                  <a:cubicBezTo>
                    <a:pt x="24" y="47"/>
                    <a:pt x="24" y="47"/>
                    <a:pt x="24" y="47"/>
                  </a:cubicBezTo>
                  <a:cubicBezTo>
                    <a:pt x="23" y="46"/>
                    <a:pt x="23" y="46"/>
                    <a:pt x="23" y="46"/>
                  </a:cubicBezTo>
                  <a:cubicBezTo>
                    <a:pt x="21" y="43"/>
                    <a:pt x="14" y="36"/>
                    <a:pt x="9" y="31"/>
                  </a:cubicBezTo>
                  <a:cubicBezTo>
                    <a:pt x="12" y="21"/>
                    <a:pt x="23" y="11"/>
                    <a:pt x="29" y="9"/>
                  </a:cubicBezTo>
                  <a:cubicBezTo>
                    <a:pt x="34" y="13"/>
                    <a:pt x="39" y="17"/>
                    <a:pt x="44" y="21"/>
                  </a:cubicBezTo>
                  <a:cubicBezTo>
                    <a:pt x="45" y="22"/>
                    <a:pt x="45" y="22"/>
                    <a:pt x="45" y="22"/>
                  </a:cubicBezTo>
                  <a:cubicBezTo>
                    <a:pt x="47" y="21"/>
                    <a:pt x="47" y="21"/>
                    <a:pt x="47" y="21"/>
                  </a:cubicBezTo>
                  <a:cubicBezTo>
                    <a:pt x="57" y="19"/>
                    <a:pt x="68" y="19"/>
                    <a:pt x="78" y="22"/>
                  </a:cubicBezTo>
                  <a:cubicBezTo>
                    <a:pt x="81" y="24"/>
                    <a:pt x="91" y="31"/>
                    <a:pt x="95" y="34"/>
                  </a:cubicBezTo>
                  <a:cubicBezTo>
                    <a:pt x="96" y="38"/>
                    <a:pt x="99" y="46"/>
                    <a:pt x="101" y="51"/>
                  </a:cubicBezTo>
                  <a:cubicBezTo>
                    <a:pt x="100" y="52"/>
                    <a:pt x="100" y="52"/>
                    <a:pt x="99" y="52"/>
                  </a:cubicBezTo>
                  <a:close/>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39" name="Freeform 40">
              <a:extLst>
                <a:ext uri="{FF2B5EF4-FFF2-40B4-BE49-F238E27FC236}">
                  <a16:creationId xmlns:a16="http://schemas.microsoft.com/office/drawing/2014/main" id="{25D8CBD0-2361-2AC6-D0D9-D965E8614888}"/>
                </a:ext>
              </a:extLst>
            </p:cNvPr>
            <p:cNvSpPr>
              <a:spLocks noEditPoints="1"/>
            </p:cNvSpPr>
            <p:nvPr/>
          </p:nvSpPr>
          <p:spPr bwMode="auto">
            <a:xfrm>
              <a:off x="9939975" y="2281694"/>
              <a:ext cx="561542" cy="558400"/>
            </a:xfrm>
            <a:custGeom>
              <a:avLst/>
              <a:gdLst>
                <a:gd name="T0" fmla="*/ 134 w 139"/>
                <a:gd name="T1" fmla="*/ 18 h 140"/>
                <a:gd name="T2" fmla="*/ 134 w 139"/>
                <a:gd name="T3" fmla="*/ 18 h 140"/>
                <a:gd name="T4" fmla="*/ 116 w 139"/>
                <a:gd name="T5" fmla="*/ 35 h 140"/>
                <a:gd name="T6" fmla="*/ 116 w 139"/>
                <a:gd name="T7" fmla="*/ 35 h 140"/>
                <a:gd name="T8" fmla="*/ 104 w 139"/>
                <a:gd name="T9" fmla="*/ 23 h 140"/>
                <a:gd name="T10" fmla="*/ 104 w 139"/>
                <a:gd name="T11" fmla="*/ 23 h 140"/>
                <a:gd name="T12" fmla="*/ 122 w 139"/>
                <a:gd name="T13" fmla="*/ 5 h 140"/>
                <a:gd name="T14" fmla="*/ 122 w 139"/>
                <a:gd name="T15" fmla="*/ 5 h 140"/>
                <a:gd name="T16" fmla="*/ 93 w 139"/>
                <a:gd name="T17" fmla="*/ 9 h 140"/>
                <a:gd name="T18" fmla="*/ 88 w 139"/>
                <a:gd name="T19" fmla="*/ 13 h 140"/>
                <a:gd name="T20" fmla="*/ 82 w 139"/>
                <a:gd name="T21" fmla="*/ 37 h 140"/>
                <a:gd name="T22" fmla="*/ 82 w 139"/>
                <a:gd name="T23" fmla="*/ 37 h 140"/>
                <a:gd name="T24" fmla="*/ 71 w 139"/>
                <a:gd name="T25" fmla="*/ 48 h 140"/>
                <a:gd name="T26" fmla="*/ 79 w 139"/>
                <a:gd name="T27" fmla="*/ 53 h 140"/>
                <a:gd name="T28" fmla="*/ 94 w 139"/>
                <a:gd name="T29" fmla="*/ 66 h 140"/>
                <a:gd name="T30" fmla="*/ 102 w 139"/>
                <a:gd name="T31" fmla="*/ 58 h 140"/>
                <a:gd name="T32" fmla="*/ 102 w 139"/>
                <a:gd name="T33" fmla="*/ 58 h 140"/>
                <a:gd name="T34" fmla="*/ 126 w 139"/>
                <a:gd name="T35" fmla="*/ 51 h 140"/>
                <a:gd name="T36" fmla="*/ 130 w 139"/>
                <a:gd name="T37" fmla="*/ 47 h 140"/>
                <a:gd name="T38" fmla="*/ 134 w 139"/>
                <a:gd name="T39" fmla="*/ 18 h 140"/>
                <a:gd name="T40" fmla="*/ 6 w 139"/>
                <a:gd name="T41" fmla="*/ 113 h 140"/>
                <a:gd name="T42" fmla="*/ 6 w 139"/>
                <a:gd name="T43" fmla="*/ 134 h 140"/>
                <a:gd name="T44" fmla="*/ 27 w 139"/>
                <a:gd name="T45" fmla="*/ 133 h 140"/>
                <a:gd name="T46" fmla="*/ 43 w 139"/>
                <a:gd name="T47" fmla="*/ 117 h 140"/>
                <a:gd name="T48" fmla="*/ 22 w 139"/>
                <a:gd name="T49" fmla="*/ 97 h 140"/>
                <a:gd name="T50" fmla="*/ 6 w 139"/>
                <a:gd name="T51" fmla="*/ 113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9" h="140">
                  <a:moveTo>
                    <a:pt x="134" y="18"/>
                  </a:moveTo>
                  <a:cubicBezTo>
                    <a:pt x="134" y="17"/>
                    <a:pt x="134" y="17"/>
                    <a:pt x="134" y="18"/>
                  </a:cubicBezTo>
                  <a:cubicBezTo>
                    <a:pt x="116" y="35"/>
                    <a:pt x="116" y="35"/>
                    <a:pt x="116" y="35"/>
                  </a:cubicBezTo>
                  <a:cubicBezTo>
                    <a:pt x="116" y="35"/>
                    <a:pt x="116" y="35"/>
                    <a:pt x="116" y="35"/>
                  </a:cubicBezTo>
                  <a:cubicBezTo>
                    <a:pt x="104" y="23"/>
                    <a:pt x="104" y="23"/>
                    <a:pt x="104" y="23"/>
                  </a:cubicBezTo>
                  <a:cubicBezTo>
                    <a:pt x="104" y="23"/>
                    <a:pt x="104" y="23"/>
                    <a:pt x="104" y="23"/>
                  </a:cubicBezTo>
                  <a:cubicBezTo>
                    <a:pt x="122" y="5"/>
                    <a:pt x="122" y="5"/>
                    <a:pt x="122" y="5"/>
                  </a:cubicBezTo>
                  <a:cubicBezTo>
                    <a:pt x="122" y="5"/>
                    <a:pt x="122" y="5"/>
                    <a:pt x="122" y="5"/>
                  </a:cubicBezTo>
                  <a:cubicBezTo>
                    <a:pt x="112" y="0"/>
                    <a:pt x="100" y="1"/>
                    <a:pt x="93" y="9"/>
                  </a:cubicBezTo>
                  <a:cubicBezTo>
                    <a:pt x="88" y="13"/>
                    <a:pt x="88" y="13"/>
                    <a:pt x="88" y="13"/>
                  </a:cubicBezTo>
                  <a:cubicBezTo>
                    <a:pt x="81" y="20"/>
                    <a:pt x="77" y="26"/>
                    <a:pt x="82" y="37"/>
                  </a:cubicBezTo>
                  <a:cubicBezTo>
                    <a:pt x="82" y="37"/>
                    <a:pt x="82" y="37"/>
                    <a:pt x="82" y="37"/>
                  </a:cubicBezTo>
                  <a:cubicBezTo>
                    <a:pt x="71" y="48"/>
                    <a:pt x="71" y="48"/>
                    <a:pt x="71" y="48"/>
                  </a:cubicBezTo>
                  <a:cubicBezTo>
                    <a:pt x="79" y="53"/>
                    <a:pt x="79" y="53"/>
                    <a:pt x="79" y="53"/>
                  </a:cubicBezTo>
                  <a:cubicBezTo>
                    <a:pt x="94" y="66"/>
                    <a:pt x="94" y="66"/>
                    <a:pt x="94" y="66"/>
                  </a:cubicBezTo>
                  <a:cubicBezTo>
                    <a:pt x="102" y="58"/>
                    <a:pt x="102" y="58"/>
                    <a:pt x="102" y="58"/>
                  </a:cubicBezTo>
                  <a:cubicBezTo>
                    <a:pt x="102" y="58"/>
                    <a:pt x="102" y="58"/>
                    <a:pt x="102" y="58"/>
                  </a:cubicBezTo>
                  <a:cubicBezTo>
                    <a:pt x="113" y="62"/>
                    <a:pt x="119" y="58"/>
                    <a:pt x="126" y="51"/>
                  </a:cubicBezTo>
                  <a:cubicBezTo>
                    <a:pt x="130" y="47"/>
                    <a:pt x="130" y="47"/>
                    <a:pt x="130" y="47"/>
                  </a:cubicBezTo>
                  <a:cubicBezTo>
                    <a:pt x="138" y="39"/>
                    <a:pt x="139" y="27"/>
                    <a:pt x="134" y="18"/>
                  </a:cubicBezTo>
                  <a:close/>
                  <a:moveTo>
                    <a:pt x="6" y="113"/>
                  </a:moveTo>
                  <a:cubicBezTo>
                    <a:pt x="0" y="119"/>
                    <a:pt x="0" y="129"/>
                    <a:pt x="6" y="134"/>
                  </a:cubicBezTo>
                  <a:cubicBezTo>
                    <a:pt x="12" y="140"/>
                    <a:pt x="21" y="139"/>
                    <a:pt x="27" y="133"/>
                  </a:cubicBezTo>
                  <a:cubicBezTo>
                    <a:pt x="43" y="117"/>
                    <a:pt x="43" y="117"/>
                    <a:pt x="43" y="117"/>
                  </a:cubicBezTo>
                  <a:cubicBezTo>
                    <a:pt x="22" y="97"/>
                    <a:pt x="22" y="97"/>
                    <a:pt x="22" y="97"/>
                  </a:cubicBezTo>
                  <a:lnTo>
                    <a:pt x="6" y="113"/>
                  </a:lnTo>
                  <a:close/>
                </a:path>
              </a:pathLst>
            </a:custGeom>
            <a:solidFill>
              <a:srgbClr val="46106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grpSp>
      <p:sp>
        <p:nvSpPr>
          <p:cNvPr id="441" name="TextBox 440">
            <a:extLst>
              <a:ext uri="{FF2B5EF4-FFF2-40B4-BE49-F238E27FC236}">
                <a16:creationId xmlns:a16="http://schemas.microsoft.com/office/drawing/2014/main" id="{E2324D32-69C2-CF49-6472-731C1E718259}"/>
              </a:ext>
            </a:extLst>
          </p:cNvPr>
          <p:cNvSpPr txBox="1"/>
          <p:nvPr/>
        </p:nvSpPr>
        <p:spPr>
          <a:xfrm>
            <a:off x="10474014" y="5431971"/>
            <a:ext cx="1618485" cy="1051570"/>
          </a:xfrm>
          <a:prstGeom prst="rect">
            <a:avLst/>
          </a:prstGeom>
          <a:noFill/>
          <a:ln>
            <a:noFill/>
          </a:ln>
        </p:spPr>
        <p:txBody>
          <a:bodyPr wrap="square" rtlCol="0">
            <a:spAutoFit/>
          </a:bodyPr>
          <a:lstStyle/>
          <a:p>
            <a:pPr marL="171450" marR="0" lvl="0" indent="-171450" fontAlgn="auto">
              <a:spcBef>
                <a:spcPts val="200"/>
              </a:spcBef>
              <a:spcAft>
                <a:spcPts val="200"/>
              </a:spcAft>
              <a:buClr>
                <a:schemeClr val="accent1"/>
              </a:buClr>
              <a:buSzTx/>
              <a:buFont typeface="Wingdings" panose="05000000000000000000" pitchFamily="2" charset="2"/>
              <a:buChar char="§"/>
              <a:tabLst/>
              <a:defRPr/>
            </a:pPr>
            <a:r>
              <a:rPr lang="en-US" sz="700">
                <a:cs typeface="Calibri" pitchFamily="34" charset="0"/>
              </a:rPr>
              <a:t>Scope change on signed-off requirements</a:t>
            </a:r>
          </a:p>
          <a:p>
            <a:pPr marL="171450" marR="0" lvl="0" indent="-171450" fontAlgn="auto">
              <a:spcBef>
                <a:spcPts val="200"/>
              </a:spcBef>
              <a:spcAft>
                <a:spcPts val="200"/>
              </a:spcAft>
              <a:buClr>
                <a:schemeClr val="accent1"/>
              </a:buClr>
              <a:buSzTx/>
              <a:buFont typeface="Wingdings" panose="05000000000000000000" pitchFamily="2" charset="2"/>
              <a:buChar char="§"/>
              <a:tabLst/>
              <a:defRPr/>
            </a:pPr>
            <a:r>
              <a:rPr lang="en-US" sz="700">
                <a:cs typeface="Calibri" pitchFamily="34" charset="0"/>
              </a:rPr>
              <a:t>Thinking inside of Legacy box</a:t>
            </a:r>
          </a:p>
          <a:p>
            <a:pPr marL="171450" marR="0" lvl="0" indent="-171450" fontAlgn="auto">
              <a:spcBef>
                <a:spcPts val="200"/>
              </a:spcBef>
              <a:spcAft>
                <a:spcPts val="200"/>
              </a:spcAft>
              <a:buClr>
                <a:schemeClr val="accent1"/>
              </a:buClr>
              <a:buSzTx/>
              <a:buFont typeface="Wingdings" panose="05000000000000000000" pitchFamily="2" charset="2"/>
              <a:buChar char="§"/>
              <a:tabLst/>
              <a:defRPr/>
            </a:pPr>
            <a:r>
              <a:rPr lang="en-US" sz="700">
                <a:cs typeface="Calibri" pitchFamily="34" charset="0"/>
              </a:rPr>
              <a:t>Trying to create Perfect Solution</a:t>
            </a:r>
          </a:p>
          <a:p>
            <a:pPr marL="171450" indent="-171450">
              <a:spcBef>
                <a:spcPts val="200"/>
              </a:spcBef>
              <a:spcAft>
                <a:spcPts val="200"/>
              </a:spcAft>
              <a:buClr>
                <a:schemeClr val="accent1"/>
              </a:buClr>
              <a:buFont typeface="Wingdings" panose="05000000000000000000" pitchFamily="2" charset="2"/>
              <a:buChar char="§"/>
              <a:defRPr/>
            </a:pPr>
            <a:r>
              <a:rPr lang="en-US" sz="700">
                <a:cs typeface="Calibri" pitchFamily="34" charset="0"/>
              </a:rPr>
              <a:t>Over customization</a:t>
            </a:r>
          </a:p>
          <a:p>
            <a:pPr marL="171450" indent="-171450">
              <a:spcBef>
                <a:spcPts val="200"/>
              </a:spcBef>
              <a:spcAft>
                <a:spcPts val="200"/>
              </a:spcAft>
              <a:buClr>
                <a:schemeClr val="accent1"/>
              </a:buClr>
              <a:buFont typeface="Wingdings" panose="05000000000000000000" pitchFamily="2" charset="2"/>
              <a:buChar char="§"/>
              <a:defRPr/>
            </a:pPr>
            <a:r>
              <a:rPr lang="en-US" sz="700">
                <a:cs typeface="Calibri" pitchFamily="34" charset="0"/>
              </a:rPr>
              <a:t>Procrastination &amp; indecisive</a:t>
            </a:r>
          </a:p>
        </p:txBody>
      </p:sp>
      <p:sp>
        <p:nvSpPr>
          <p:cNvPr id="442" name="Rounded Rectangle 67">
            <a:extLst>
              <a:ext uri="{FF2B5EF4-FFF2-40B4-BE49-F238E27FC236}">
                <a16:creationId xmlns:a16="http://schemas.microsoft.com/office/drawing/2014/main" id="{CC701B64-F701-644C-24EE-BCE48AF1DA76}"/>
              </a:ext>
            </a:extLst>
          </p:cNvPr>
          <p:cNvSpPr>
            <a:spLocks/>
          </p:cNvSpPr>
          <p:nvPr/>
        </p:nvSpPr>
        <p:spPr>
          <a:xfrm>
            <a:off x="3527662" y="5383053"/>
            <a:ext cx="2027860" cy="1340217"/>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443" name="TextBox 196">
            <a:extLst>
              <a:ext uri="{FF2B5EF4-FFF2-40B4-BE49-F238E27FC236}">
                <a16:creationId xmlns:a16="http://schemas.microsoft.com/office/drawing/2014/main" id="{E6F33CAC-E7AA-7629-56E6-DD05FA9B9FC2}"/>
              </a:ext>
            </a:extLst>
          </p:cNvPr>
          <p:cNvSpPr txBox="1">
            <a:spLocks/>
          </p:cNvSpPr>
          <p:nvPr/>
        </p:nvSpPr>
        <p:spPr>
          <a:xfrm>
            <a:off x="3609850" y="5189374"/>
            <a:ext cx="1917715" cy="301795"/>
          </a:xfrm>
          <a:prstGeom prst="roundRect">
            <a:avLst>
              <a:gd name="adj" fmla="val 50000"/>
            </a:avLst>
          </a:prstGeom>
          <a:solidFill>
            <a:srgbClr val="12ABDB"/>
          </a:solidFill>
          <a:ln w="25400" cap="flat" cmpd="sng" algn="ctr">
            <a:no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GB" sz="1000" b="0" kern="0">
                <a:solidFill>
                  <a:schemeClr val="tx1"/>
                </a:solidFill>
                <a:latin typeface="+mj-lt"/>
                <a:ea typeface="Verdana" panose="020B0604030504040204" pitchFamily="34" charset="0"/>
                <a:cs typeface="Verdana" panose="020B0604030504040204" pitchFamily="34" charset="0"/>
              </a:rPr>
              <a:t>            Tasks / Ownership</a:t>
            </a:r>
            <a:endParaRPr kumimoji="0" lang="en-US" sz="1000" b="0" i="0" u="none" strike="noStrike" kern="0" cap="none" spc="0" normalizeH="0" baseline="0" noProof="0">
              <a:ln>
                <a:noFill/>
              </a:ln>
              <a:solidFill>
                <a:schemeClr val="tx1"/>
              </a:solidFill>
              <a:effectLst/>
              <a:uLnTx/>
              <a:uFillTx/>
              <a:latin typeface="+mj-lt"/>
              <a:ea typeface="Verdana" panose="020B0604030504040204" pitchFamily="34" charset="0"/>
              <a:cs typeface="Verdana" panose="020B0604030504040204" pitchFamily="34" charset="0"/>
            </a:endParaRPr>
          </a:p>
        </p:txBody>
      </p:sp>
      <p:sp>
        <p:nvSpPr>
          <p:cNvPr id="444" name="Rounded Rectangle 67">
            <a:extLst>
              <a:ext uri="{FF2B5EF4-FFF2-40B4-BE49-F238E27FC236}">
                <a16:creationId xmlns:a16="http://schemas.microsoft.com/office/drawing/2014/main" id="{99901A0F-332E-9DEC-BBB9-E919FCC074EC}"/>
              </a:ext>
            </a:extLst>
          </p:cNvPr>
          <p:cNvSpPr>
            <a:spLocks/>
          </p:cNvSpPr>
          <p:nvPr/>
        </p:nvSpPr>
        <p:spPr>
          <a:xfrm>
            <a:off x="5901758" y="5383053"/>
            <a:ext cx="2027860" cy="1340217"/>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445" name="TextBox 196">
            <a:extLst>
              <a:ext uri="{FF2B5EF4-FFF2-40B4-BE49-F238E27FC236}">
                <a16:creationId xmlns:a16="http://schemas.microsoft.com/office/drawing/2014/main" id="{6795C9E9-1E1E-3C8F-0D79-29A571C2CD9C}"/>
              </a:ext>
            </a:extLst>
          </p:cNvPr>
          <p:cNvSpPr txBox="1">
            <a:spLocks/>
          </p:cNvSpPr>
          <p:nvPr/>
        </p:nvSpPr>
        <p:spPr>
          <a:xfrm>
            <a:off x="5983946" y="5221874"/>
            <a:ext cx="1917715" cy="301795"/>
          </a:xfrm>
          <a:prstGeom prst="roundRect">
            <a:avLst>
              <a:gd name="adj" fmla="val 50000"/>
            </a:avLst>
          </a:prstGeom>
          <a:solidFill>
            <a:srgbClr val="D763C6"/>
          </a:solidFill>
          <a:ln w="25400" cap="flat" cmpd="sng" algn="ctr">
            <a:no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effectLst/>
                <a:uLnTx/>
                <a:uFillTx/>
                <a:latin typeface="+mj-lt"/>
                <a:ea typeface="Verdana" panose="020B0604030504040204" pitchFamily="34" charset="0"/>
                <a:cs typeface="Verdana" panose="020B0604030504040204" pitchFamily="34" charset="0"/>
              </a:rPr>
              <a:t>       Tasks / Ownership</a:t>
            </a:r>
            <a:endParaRPr kumimoji="0" lang="en-US" sz="1000" b="0" i="0" u="none" strike="noStrike" kern="0" cap="none" spc="0" normalizeH="0" baseline="0" noProof="0">
              <a:ln>
                <a:noFill/>
              </a:ln>
              <a:effectLst/>
              <a:uLnTx/>
              <a:uFillTx/>
              <a:latin typeface="+mj-lt"/>
              <a:ea typeface="Verdana" panose="020B0604030504040204" pitchFamily="34" charset="0"/>
              <a:cs typeface="Verdana" panose="020B0604030504040204" pitchFamily="34" charset="0"/>
            </a:endParaRPr>
          </a:p>
        </p:txBody>
      </p:sp>
      <p:sp>
        <p:nvSpPr>
          <p:cNvPr id="446" name="Rounded Rectangle 67">
            <a:extLst>
              <a:ext uri="{FF2B5EF4-FFF2-40B4-BE49-F238E27FC236}">
                <a16:creationId xmlns:a16="http://schemas.microsoft.com/office/drawing/2014/main" id="{8736889A-8B07-E59F-F17A-D4731E51B2FC}"/>
              </a:ext>
            </a:extLst>
          </p:cNvPr>
          <p:cNvSpPr>
            <a:spLocks/>
          </p:cNvSpPr>
          <p:nvPr/>
        </p:nvSpPr>
        <p:spPr>
          <a:xfrm>
            <a:off x="8144234" y="5389889"/>
            <a:ext cx="2027860" cy="1333381"/>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447" name="TextBox 196">
            <a:extLst>
              <a:ext uri="{FF2B5EF4-FFF2-40B4-BE49-F238E27FC236}">
                <a16:creationId xmlns:a16="http://schemas.microsoft.com/office/drawing/2014/main" id="{D6FF5ECE-61E5-9B22-7AA9-38F6B3E8FCBB}"/>
              </a:ext>
            </a:extLst>
          </p:cNvPr>
          <p:cNvSpPr txBox="1">
            <a:spLocks/>
          </p:cNvSpPr>
          <p:nvPr/>
        </p:nvSpPr>
        <p:spPr>
          <a:xfrm>
            <a:off x="8215912" y="5263193"/>
            <a:ext cx="1917715" cy="301795"/>
          </a:xfrm>
          <a:prstGeom prst="roundRect">
            <a:avLst>
              <a:gd name="adj" fmla="val 50000"/>
            </a:avLst>
          </a:prstGeom>
          <a:solidFill>
            <a:srgbClr val="D763C6"/>
          </a:solidFill>
          <a:ln w="25400" cap="flat" cmpd="sng" algn="ctr">
            <a:solidFill>
              <a:schemeClr val="accent6">
                <a:lumMod val="40000"/>
                <a:lumOff val="60000"/>
              </a:schemeClr>
            </a:solid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effectLst/>
                <a:uLnTx/>
                <a:uFillTx/>
                <a:latin typeface="+mj-lt"/>
                <a:ea typeface="Verdana" panose="020B0604030504040204" pitchFamily="34" charset="0"/>
                <a:cs typeface="Verdana" panose="020B0604030504040204" pitchFamily="34" charset="0"/>
              </a:rPr>
              <a:t>                  Tasks / Ownership</a:t>
            </a:r>
            <a:endParaRPr kumimoji="0" lang="en-US" sz="1000" b="0" i="0" u="none" strike="noStrike" kern="0" cap="none" spc="0" normalizeH="0" baseline="0" noProof="0">
              <a:ln>
                <a:noFill/>
              </a:ln>
              <a:effectLst/>
              <a:uLnTx/>
              <a:uFillTx/>
              <a:latin typeface="+mj-lt"/>
              <a:ea typeface="Verdana" panose="020B0604030504040204" pitchFamily="34" charset="0"/>
              <a:cs typeface="Verdana" panose="020B0604030504040204" pitchFamily="34" charset="0"/>
            </a:endParaRPr>
          </a:p>
        </p:txBody>
      </p:sp>
      <p:grpSp>
        <p:nvGrpSpPr>
          <p:cNvPr id="448" name="Woman29" descr="{&quot;Key&quot;:&quot;POWER_USER_SHAPE_ICON&quot;,&quot;Value&quot;:&quot;POWER_USER_SHAPE_ICON_STYLE_1&quot;}">
            <a:extLst>
              <a:ext uri="{FF2B5EF4-FFF2-40B4-BE49-F238E27FC236}">
                <a16:creationId xmlns:a16="http://schemas.microsoft.com/office/drawing/2014/main" id="{790B3B70-2B16-BBBD-BF3B-C6828B9D671D}"/>
              </a:ext>
            </a:extLst>
          </p:cNvPr>
          <p:cNvGrpSpPr>
            <a:grpSpLocks noChangeAspect="1"/>
          </p:cNvGrpSpPr>
          <p:nvPr/>
        </p:nvGrpSpPr>
        <p:grpSpPr>
          <a:xfrm>
            <a:off x="8234678" y="5064585"/>
            <a:ext cx="288000" cy="346700"/>
            <a:chOff x="3049573" y="285562"/>
            <a:chExt cx="588025" cy="755384"/>
          </a:xfrm>
        </p:grpSpPr>
        <p:sp>
          <p:nvSpPr>
            <p:cNvPr id="449" name="Freeform: Shape 448">
              <a:extLst>
                <a:ext uri="{FF2B5EF4-FFF2-40B4-BE49-F238E27FC236}">
                  <a16:creationId xmlns:a16="http://schemas.microsoft.com/office/drawing/2014/main" id="{A5BD09C8-89CD-D9FD-C6D1-50E7D07F8D4C}"/>
                </a:ext>
              </a:extLst>
            </p:cNvPr>
            <p:cNvSpPr/>
            <p:nvPr/>
          </p:nvSpPr>
          <p:spPr>
            <a:xfrm>
              <a:off x="3209793" y="747246"/>
              <a:ext cx="37681" cy="292030"/>
            </a:xfrm>
            <a:custGeom>
              <a:avLst/>
              <a:gdLst>
                <a:gd name="connsiteX0" fmla="*/ 38981 w 37681"/>
                <a:gd name="connsiteY0" fmla="*/ 293902 h 292030"/>
                <a:gd name="connsiteX1" fmla="*/ 0 w 37681"/>
                <a:gd name="connsiteY1" fmla="*/ 0 h 292030"/>
              </a:gdLst>
              <a:ahLst/>
              <a:cxnLst>
                <a:cxn ang="0">
                  <a:pos x="connsiteX0" y="connsiteY0"/>
                </a:cxn>
                <a:cxn ang="0">
                  <a:pos x="connsiteX1" y="connsiteY1"/>
                </a:cxn>
              </a:cxnLst>
              <a:rect l="l" t="t" r="r" b="b"/>
              <a:pathLst>
                <a:path w="37681" h="292030">
                  <a:moveTo>
                    <a:pt x="38981" y="293902"/>
                  </a:moveTo>
                  <a:cubicBezTo>
                    <a:pt x="38981" y="153702"/>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0" name="Freeform: Shape 449">
              <a:extLst>
                <a:ext uri="{FF2B5EF4-FFF2-40B4-BE49-F238E27FC236}">
                  <a16:creationId xmlns:a16="http://schemas.microsoft.com/office/drawing/2014/main" id="{D2522697-345F-75A7-DB24-5F29FCE7E44E}"/>
                </a:ext>
              </a:extLst>
            </p:cNvPr>
            <p:cNvSpPr/>
            <p:nvPr/>
          </p:nvSpPr>
          <p:spPr>
            <a:xfrm>
              <a:off x="3445840" y="747246"/>
              <a:ext cx="37681" cy="292030"/>
            </a:xfrm>
            <a:custGeom>
              <a:avLst/>
              <a:gdLst>
                <a:gd name="connsiteX0" fmla="*/ 0 w 37681"/>
                <a:gd name="connsiteY0" fmla="*/ 293902 h 292030"/>
                <a:gd name="connsiteX1" fmla="*/ 38981 w 37681"/>
                <a:gd name="connsiteY1" fmla="*/ 0 h 292030"/>
              </a:gdLst>
              <a:ahLst/>
              <a:cxnLst>
                <a:cxn ang="0">
                  <a:pos x="connsiteX0" y="connsiteY0"/>
                </a:cxn>
                <a:cxn ang="0">
                  <a:pos x="connsiteX1" y="connsiteY1"/>
                </a:cxn>
              </a:cxnLst>
              <a:rect l="l" t="t" r="r" b="b"/>
              <a:pathLst>
                <a:path w="37681" h="292030">
                  <a:moveTo>
                    <a:pt x="0" y="293902"/>
                  </a:moveTo>
                  <a:cubicBezTo>
                    <a:pt x="0" y="153702"/>
                    <a:pt x="38981" y="0"/>
                    <a:pt x="38981"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1" name="Freeform: Shape 450">
              <a:extLst>
                <a:ext uri="{FF2B5EF4-FFF2-40B4-BE49-F238E27FC236}">
                  <a16:creationId xmlns:a16="http://schemas.microsoft.com/office/drawing/2014/main" id="{A68D4F8D-BF66-FB3E-E90D-AA90F2266310}"/>
                </a:ext>
              </a:extLst>
            </p:cNvPr>
            <p:cNvSpPr/>
            <p:nvPr/>
          </p:nvSpPr>
          <p:spPr>
            <a:xfrm>
              <a:off x="3229595" y="847629"/>
              <a:ext cx="226088" cy="37681"/>
            </a:xfrm>
            <a:custGeom>
              <a:avLst/>
              <a:gdLst>
                <a:gd name="connsiteX0" fmla="*/ 0 w 226087"/>
                <a:gd name="connsiteY0" fmla="*/ 0 h 37681"/>
                <a:gd name="connsiteX1" fmla="*/ 117705 w 226087"/>
                <a:gd name="connsiteY1" fmla="*/ 39629 h 37681"/>
                <a:gd name="connsiteX2" fmla="*/ 235415 w 226087"/>
                <a:gd name="connsiteY2" fmla="*/ 0 h 37681"/>
              </a:gdLst>
              <a:ahLst/>
              <a:cxnLst>
                <a:cxn ang="0">
                  <a:pos x="connsiteX0" y="connsiteY0"/>
                </a:cxn>
                <a:cxn ang="0">
                  <a:pos x="connsiteX1" y="connsiteY1"/>
                </a:cxn>
                <a:cxn ang="0">
                  <a:pos x="connsiteX2" y="connsiteY2"/>
                </a:cxn>
              </a:cxnLst>
              <a:rect l="l" t="t" r="r" b="b"/>
              <a:pathLst>
                <a:path w="226087" h="37681">
                  <a:moveTo>
                    <a:pt x="0" y="0"/>
                  </a:moveTo>
                  <a:cubicBezTo>
                    <a:pt x="23527" y="23677"/>
                    <a:pt x="67370" y="39629"/>
                    <a:pt x="117705" y="39629"/>
                  </a:cubicBezTo>
                  <a:cubicBezTo>
                    <a:pt x="168040" y="39629"/>
                    <a:pt x="211888" y="23677"/>
                    <a:pt x="235415" y="0"/>
                  </a:cubicBezTo>
                </a:path>
              </a:pathLst>
            </a:custGeom>
            <a:noFill/>
            <a:ln w="19050" cap="flat">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2" name="Freeform: Shape 451">
              <a:extLst>
                <a:ext uri="{FF2B5EF4-FFF2-40B4-BE49-F238E27FC236}">
                  <a16:creationId xmlns:a16="http://schemas.microsoft.com/office/drawing/2014/main" id="{92091459-E29A-5791-E553-382F2158AF59}"/>
                </a:ext>
              </a:extLst>
            </p:cNvPr>
            <p:cNvSpPr/>
            <p:nvPr/>
          </p:nvSpPr>
          <p:spPr>
            <a:xfrm>
              <a:off x="3049573" y="466306"/>
              <a:ext cx="405074" cy="574640"/>
            </a:xfrm>
            <a:custGeom>
              <a:avLst/>
              <a:gdLst>
                <a:gd name="connsiteX0" fmla="*/ 7668 w 405074"/>
                <a:gd name="connsiteY0" fmla="*/ 574841 h 574640"/>
                <a:gd name="connsiteX1" fmla="*/ 0 w 405074"/>
                <a:gd name="connsiteY1" fmla="*/ 427884 h 574640"/>
                <a:gd name="connsiteX2" fmla="*/ 160220 w 405074"/>
                <a:gd name="connsiteY2" fmla="*/ 280939 h 574640"/>
                <a:gd name="connsiteX3" fmla="*/ 223296 w 405074"/>
                <a:gd name="connsiteY3" fmla="*/ 264310 h 574640"/>
                <a:gd name="connsiteX4" fmla="*/ 220838 w 405074"/>
                <a:gd name="connsiteY4" fmla="*/ 199937 h 574640"/>
                <a:gd name="connsiteX5" fmla="*/ 189393 w 405074"/>
                <a:gd name="connsiteY5" fmla="*/ 0 h 574640"/>
                <a:gd name="connsiteX6" fmla="*/ 412242 w 405074"/>
                <a:gd name="connsiteY6" fmla="*/ 21667 h 57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5074" h="574640">
                  <a:moveTo>
                    <a:pt x="7668" y="574841"/>
                  </a:moveTo>
                  <a:lnTo>
                    <a:pt x="0" y="427884"/>
                  </a:lnTo>
                  <a:cubicBezTo>
                    <a:pt x="0" y="352283"/>
                    <a:pt x="75579" y="308886"/>
                    <a:pt x="160220" y="280939"/>
                  </a:cubicBezTo>
                  <a:cubicBezTo>
                    <a:pt x="176734" y="275488"/>
                    <a:pt x="223296" y="264310"/>
                    <a:pt x="223296" y="264310"/>
                  </a:cubicBezTo>
                  <a:cubicBezTo>
                    <a:pt x="223983" y="247604"/>
                    <a:pt x="223233" y="219645"/>
                    <a:pt x="220838" y="199937"/>
                  </a:cubicBezTo>
                  <a:cubicBezTo>
                    <a:pt x="170420" y="131972"/>
                    <a:pt x="174300" y="35848"/>
                    <a:pt x="189393" y="0"/>
                  </a:cubicBezTo>
                  <a:cubicBezTo>
                    <a:pt x="225352" y="22006"/>
                    <a:pt x="314663" y="46047"/>
                    <a:pt x="412242" y="21667"/>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3" name="Freeform: Shape 452">
              <a:extLst>
                <a:ext uri="{FF2B5EF4-FFF2-40B4-BE49-F238E27FC236}">
                  <a16:creationId xmlns:a16="http://schemas.microsoft.com/office/drawing/2014/main" id="{1F55CAAF-97D0-13FF-B750-F3596BB82C35}"/>
                </a:ext>
              </a:extLst>
            </p:cNvPr>
            <p:cNvSpPr/>
            <p:nvPr/>
          </p:nvSpPr>
          <p:spPr>
            <a:xfrm>
              <a:off x="3383249" y="443836"/>
              <a:ext cx="254349" cy="593481"/>
            </a:xfrm>
            <a:custGeom>
              <a:avLst/>
              <a:gdLst>
                <a:gd name="connsiteX0" fmla="*/ 254119 w 254348"/>
                <a:gd name="connsiteY0" fmla="*/ 597312 h 593480"/>
                <a:gd name="connsiteX1" fmla="*/ 261792 w 254348"/>
                <a:gd name="connsiteY1" fmla="*/ 450355 h 593480"/>
                <a:gd name="connsiteX2" fmla="*/ 101573 w 254348"/>
                <a:gd name="connsiteY2" fmla="*/ 303410 h 593480"/>
                <a:gd name="connsiteX3" fmla="*/ 38456 w 254348"/>
                <a:gd name="connsiteY3" fmla="*/ 286730 h 593480"/>
                <a:gd name="connsiteX4" fmla="*/ 40806 w 254348"/>
                <a:gd name="connsiteY4" fmla="*/ 223601 h 593480"/>
                <a:gd name="connsiteX5" fmla="*/ 78567 w 254348"/>
                <a:gd name="connsiteY5" fmla="*/ 44138 h 593480"/>
                <a:gd name="connsiteX6" fmla="*/ 0 w 254348"/>
                <a:gd name="connsiteY6" fmla="*/ 0 h 59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348" h="593480">
                  <a:moveTo>
                    <a:pt x="254119" y="597312"/>
                  </a:moveTo>
                  <a:lnTo>
                    <a:pt x="261792" y="450355"/>
                  </a:lnTo>
                  <a:cubicBezTo>
                    <a:pt x="261792" y="374754"/>
                    <a:pt x="192421" y="327174"/>
                    <a:pt x="101573" y="303410"/>
                  </a:cubicBezTo>
                  <a:cubicBezTo>
                    <a:pt x="85779" y="299278"/>
                    <a:pt x="38456" y="286730"/>
                    <a:pt x="38456" y="286730"/>
                  </a:cubicBezTo>
                  <a:cubicBezTo>
                    <a:pt x="37774" y="270363"/>
                    <a:pt x="38466" y="242756"/>
                    <a:pt x="40806" y="223601"/>
                  </a:cubicBezTo>
                  <a:cubicBezTo>
                    <a:pt x="93099" y="152522"/>
                    <a:pt x="96465" y="83929"/>
                    <a:pt x="78567" y="44138"/>
                  </a:cubicBezTo>
                  <a:cubicBezTo>
                    <a:pt x="39315" y="31703"/>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4" name="Freeform: Shape 453">
              <a:extLst>
                <a:ext uri="{FF2B5EF4-FFF2-40B4-BE49-F238E27FC236}">
                  <a16:creationId xmlns:a16="http://schemas.microsoft.com/office/drawing/2014/main" id="{2AFB458A-E8A2-3D6C-5AF0-56D02B233E84}"/>
                </a:ext>
              </a:extLst>
            </p:cNvPr>
            <p:cNvSpPr/>
            <p:nvPr/>
          </p:nvSpPr>
          <p:spPr>
            <a:xfrm>
              <a:off x="3152851" y="285562"/>
              <a:ext cx="386234" cy="480437"/>
            </a:xfrm>
            <a:custGeom>
              <a:avLst/>
              <a:gdLst>
                <a:gd name="connsiteX0" fmla="*/ 383695 w 386233"/>
                <a:gd name="connsiteY0" fmla="*/ 479344 h 480436"/>
                <a:gd name="connsiteX1" fmla="*/ 388714 w 386233"/>
                <a:gd name="connsiteY1" fmla="*/ 209470 h 480436"/>
                <a:gd name="connsiteX2" fmla="*/ 194444 w 386233"/>
                <a:gd name="connsiteY2" fmla="*/ 0 h 480436"/>
                <a:gd name="connsiteX3" fmla="*/ 107 w 386233"/>
                <a:gd name="connsiteY3" fmla="*/ 209646 h 480436"/>
                <a:gd name="connsiteX4" fmla="*/ 792 w 386233"/>
                <a:gd name="connsiteY4" fmla="*/ 483062 h 480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33" h="480436">
                  <a:moveTo>
                    <a:pt x="383695" y="479344"/>
                  </a:moveTo>
                  <a:cubicBezTo>
                    <a:pt x="334827" y="447063"/>
                    <a:pt x="391221" y="320103"/>
                    <a:pt x="388714" y="209470"/>
                  </a:cubicBezTo>
                  <a:cubicBezTo>
                    <a:pt x="388837" y="102141"/>
                    <a:pt x="307022" y="0"/>
                    <a:pt x="194444" y="0"/>
                  </a:cubicBezTo>
                  <a:cubicBezTo>
                    <a:pt x="83073" y="0"/>
                    <a:pt x="107" y="102292"/>
                    <a:pt x="107" y="209646"/>
                  </a:cubicBezTo>
                  <a:cubicBezTo>
                    <a:pt x="-2593" y="321949"/>
                    <a:pt x="47325" y="453168"/>
                    <a:pt x="792" y="483062"/>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55" name="Employee6" descr="{&quot;Key&quot;:&quot;POWER_USER_SHAPE_ICON&quot;,&quot;Value&quot;:&quot;POWER_USER_SHAPE_ICON_STYLE_1&quot;}">
            <a:extLst>
              <a:ext uri="{FF2B5EF4-FFF2-40B4-BE49-F238E27FC236}">
                <a16:creationId xmlns:a16="http://schemas.microsoft.com/office/drawing/2014/main" id="{68DA5E2A-F19B-3161-CAF5-D60DEBD536EE}"/>
              </a:ext>
            </a:extLst>
          </p:cNvPr>
          <p:cNvGrpSpPr>
            <a:grpSpLocks noChangeAspect="1"/>
          </p:cNvGrpSpPr>
          <p:nvPr/>
        </p:nvGrpSpPr>
        <p:grpSpPr>
          <a:xfrm>
            <a:off x="8538982" y="5045163"/>
            <a:ext cx="288000" cy="342474"/>
            <a:chOff x="3584576" y="3348038"/>
            <a:chExt cx="230188" cy="292100"/>
          </a:xfrm>
          <a:solidFill>
            <a:schemeClr val="accent1"/>
          </a:solidFill>
        </p:grpSpPr>
        <p:sp>
          <p:nvSpPr>
            <p:cNvPr id="456" name="Freeform 1099">
              <a:extLst>
                <a:ext uri="{FF2B5EF4-FFF2-40B4-BE49-F238E27FC236}">
                  <a16:creationId xmlns:a16="http://schemas.microsoft.com/office/drawing/2014/main" id="{35661EA0-F875-25B8-7A42-BF50B4B1410D}"/>
                </a:ext>
              </a:extLst>
            </p:cNvPr>
            <p:cNvSpPr>
              <a:spLocks/>
            </p:cNvSpPr>
            <p:nvPr/>
          </p:nvSpPr>
          <p:spPr bwMode="auto">
            <a:xfrm>
              <a:off x="3621088" y="3433763"/>
              <a:ext cx="44450" cy="36513"/>
            </a:xfrm>
            <a:custGeom>
              <a:avLst/>
              <a:gdLst>
                <a:gd name="T0" fmla="*/ 109 w 218"/>
                <a:gd name="T1" fmla="*/ 159 h 176"/>
                <a:gd name="T2" fmla="*/ 109 w 218"/>
                <a:gd name="T3" fmla="*/ 143 h 176"/>
                <a:gd name="T4" fmla="*/ 55 w 218"/>
                <a:gd name="T5" fmla="*/ 120 h 176"/>
                <a:gd name="T6" fmla="*/ 33 w 218"/>
                <a:gd name="T7" fmla="*/ 67 h 176"/>
                <a:gd name="T8" fmla="*/ 33 w 218"/>
                <a:gd name="T9" fmla="*/ 33 h 176"/>
                <a:gd name="T10" fmla="*/ 185 w 218"/>
                <a:gd name="T11" fmla="*/ 33 h 176"/>
                <a:gd name="T12" fmla="*/ 185 w 218"/>
                <a:gd name="T13" fmla="*/ 67 h 176"/>
                <a:gd name="T14" fmla="*/ 163 w 218"/>
                <a:gd name="T15" fmla="*/ 120 h 176"/>
                <a:gd name="T16" fmla="*/ 109 w 218"/>
                <a:gd name="T17" fmla="*/ 143 h 176"/>
                <a:gd name="T18" fmla="*/ 109 w 218"/>
                <a:gd name="T19" fmla="*/ 159 h 176"/>
                <a:gd name="T20" fmla="*/ 109 w 218"/>
                <a:gd name="T21" fmla="*/ 176 h 176"/>
                <a:gd name="T22" fmla="*/ 218 w 218"/>
                <a:gd name="T23" fmla="*/ 67 h 176"/>
                <a:gd name="T24" fmla="*/ 218 w 218"/>
                <a:gd name="T25" fmla="*/ 0 h 176"/>
                <a:gd name="T26" fmla="*/ 0 w 218"/>
                <a:gd name="T27" fmla="*/ 0 h 176"/>
                <a:gd name="T28" fmla="*/ 0 w 218"/>
                <a:gd name="T29" fmla="*/ 67 h 176"/>
                <a:gd name="T30" fmla="*/ 109 w 218"/>
                <a:gd name="T31" fmla="*/ 176 h 176"/>
                <a:gd name="T32" fmla="*/ 109 w 218"/>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8" h="176">
                  <a:moveTo>
                    <a:pt x="109" y="159"/>
                  </a:moveTo>
                  <a:lnTo>
                    <a:pt x="109" y="143"/>
                  </a:lnTo>
                  <a:cubicBezTo>
                    <a:pt x="88" y="143"/>
                    <a:pt x="69" y="134"/>
                    <a:pt x="55" y="120"/>
                  </a:cubicBezTo>
                  <a:cubicBezTo>
                    <a:pt x="41" y="107"/>
                    <a:pt x="33" y="88"/>
                    <a:pt x="33" y="67"/>
                  </a:cubicBezTo>
                  <a:lnTo>
                    <a:pt x="33" y="33"/>
                  </a:lnTo>
                  <a:lnTo>
                    <a:pt x="185" y="33"/>
                  </a:lnTo>
                  <a:lnTo>
                    <a:pt x="185" y="67"/>
                  </a:lnTo>
                  <a:cubicBezTo>
                    <a:pt x="185" y="88"/>
                    <a:pt x="176" y="107"/>
                    <a:pt x="163" y="120"/>
                  </a:cubicBezTo>
                  <a:cubicBezTo>
                    <a:pt x="149" y="134"/>
                    <a:pt x="130" y="143"/>
                    <a:pt x="109" y="143"/>
                  </a:cubicBezTo>
                  <a:lnTo>
                    <a:pt x="109" y="159"/>
                  </a:lnTo>
                  <a:lnTo>
                    <a:pt x="109" y="176"/>
                  </a:lnTo>
                  <a:cubicBezTo>
                    <a:pt x="169" y="176"/>
                    <a:pt x="218" y="127"/>
                    <a:pt x="218" y="67"/>
                  </a:cubicBezTo>
                  <a:lnTo>
                    <a:pt x="218" y="0"/>
                  </a:lnTo>
                  <a:lnTo>
                    <a:pt x="0" y="0"/>
                  </a:lnTo>
                  <a:lnTo>
                    <a:pt x="0" y="67"/>
                  </a:lnTo>
                  <a:cubicBezTo>
                    <a:pt x="0" y="127"/>
                    <a:pt x="48" y="176"/>
                    <a:pt x="109" y="176"/>
                  </a:cubicBezTo>
                  <a:lnTo>
                    <a:pt x="109" y="159"/>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7" name="Freeform 1100">
              <a:extLst>
                <a:ext uri="{FF2B5EF4-FFF2-40B4-BE49-F238E27FC236}">
                  <a16:creationId xmlns:a16="http://schemas.microsoft.com/office/drawing/2014/main" id="{7D7C623C-5CA1-E8BE-F6E9-4996376C74BB}"/>
                </a:ext>
              </a:extLst>
            </p:cNvPr>
            <p:cNvSpPr>
              <a:spLocks/>
            </p:cNvSpPr>
            <p:nvPr/>
          </p:nvSpPr>
          <p:spPr bwMode="auto">
            <a:xfrm>
              <a:off x="3671888" y="3433763"/>
              <a:ext cx="44450" cy="36513"/>
            </a:xfrm>
            <a:custGeom>
              <a:avLst/>
              <a:gdLst>
                <a:gd name="T0" fmla="*/ 109 w 219"/>
                <a:gd name="T1" fmla="*/ 159 h 176"/>
                <a:gd name="T2" fmla="*/ 109 w 219"/>
                <a:gd name="T3" fmla="*/ 143 h 176"/>
                <a:gd name="T4" fmla="*/ 56 w 219"/>
                <a:gd name="T5" fmla="*/ 120 h 176"/>
                <a:gd name="T6" fmla="*/ 33 w 219"/>
                <a:gd name="T7" fmla="*/ 67 h 176"/>
                <a:gd name="T8" fmla="*/ 33 w 219"/>
                <a:gd name="T9" fmla="*/ 33 h 176"/>
                <a:gd name="T10" fmla="*/ 185 w 219"/>
                <a:gd name="T11" fmla="*/ 33 h 176"/>
                <a:gd name="T12" fmla="*/ 185 w 219"/>
                <a:gd name="T13" fmla="*/ 67 h 176"/>
                <a:gd name="T14" fmla="*/ 163 w 219"/>
                <a:gd name="T15" fmla="*/ 120 h 176"/>
                <a:gd name="T16" fmla="*/ 109 w 219"/>
                <a:gd name="T17" fmla="*/ 143 h 176"/>
                <a:gd name="T18" fmla="*/ 109 w 219"/>
                <a:gd name="T19" fmla="*/ 159 h 176"/>
                <a:gd name="T20" fmla="*/ 109 w 219"/>
                <a:gd name="T21" fmla="*/ 176 h 176"/>
                <a:gd name="T22" fmla="*/ 219 w 219"/>
                <a:gd name="T23" fmla="*/ 67 h 176"/>
                <a:gd name="T24" fmla="*/ 219 w 219"/>
                <a:gd name="T25" fmla="*/ 0 h 176"/>
                <a:gd name="T26" fmla="*/ 0 w 219"/>
                <a:gd name="T27" fmla="*/ 0 h 176"/>
                <a:gd name="T28" fmla="*/ 0 w 219"/>
                <a:gd name="T29" fmla="*/ 67 h 176"/>
                <a:gd name="T30" fmla="*/ 109 w 219"/>
                <a:gd name="T31" fmla="*/ 176 h 176"/>
                <a:gd name="T32" fmla="*/ 109 w 219"/>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9" h="176">
                  <a:moveTo>
                    <a:pt x="109" y="159"/>
                  </a:moveTo>
                  <a:lnTo>
                    <a:pt x="109" y="143"/>
                  </a:lnTo>
                  <a:cubicBezTo>
                    <a:pt x="88" y="143"/>
                    <a:pt x="69" y="134"/>
                    <a:pt x="56" y="120"/>
                  </a:cubicBezTo>
                  <a:cubicBezTo>
                    <a:pt x="42" y="107"/>
                    <a:pt x="33" y="88"/>
                    <a:pt x="33" y="67"/>
                  </a:cubicBezTo>
                  <a:lnTo>
                    <a:pt x="33" y="33"/>
                  </a:lnTo>
                  <a:lnTo>
                    <a:pt x="185" y="33"/>
                  </a:lnTo>
                  <a:lnTo>
                    <a:pt x="185" y="67"/>
                  </a:lnTo>
                  <a:cubicBezTo>
                    <a:pt x="185" y="88"/>
                    <a:pt x="177" y="107"/>
                    <a:pt x="163" y="120"/>
                  </a:cubicBezTo>
                  <a:cubicBezTo>
                    <a:pt x="149" y="134"/>
                    <a:pt x="130" y="143"/>
                    <a:pt x="109" y="143"/>
                  </a:cubicBezTo>
                  <a:lnTo>
                    <a:pt x="109" y="159"/>
                  </a:lnTo>
                  <a:lnTo>
                    <a:pt x="109" y="176"/>
                  </a:lnTo>
                  <a:cubicBezTo>
                    <a:pt x="170" y="176"/>
                    <a:pt x="219" y="127"/>
                    <a:pt x="219" y="67"/>
                  </a:cubicBezTo>
                  <a:lnTo>
                    <a:pt x="219" y="0"/>
                  </a:lnTo>
                  <a:lnTo>
                    <a:pt x="0" y="0"/>
                  </a:lnTo>
                  <a:lnTo>
                    <a:pt x="0" y="67"/>
                  </a:lnTo>
                  <a:cubicBezTo>
                    <a:pt x="0" y="127"/>
                    <a:pt x="49" y="176"/>
                    <a:pt x="109" y="176"/>
                  </a:cubicBezTo>
                  <a:lnTo>
                    <a:pt x="109" y="15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8" name="Freeform 1101">
              <a:extLst>
                <a:ext uri="{FF2B5EF4-FFF2-40B4-BE49-F238E27FC236}">
                  <a16:creationId xmlns:a16="http://schemas.microsoft.com/office/drawing/2014/main" id="{15ADDA8A-D64A-5CFC-7D09-E7F267DB0210}"/>
                </a:ext>
              </a:extLst>
            </p:cNvPr>
            <p:cNvSpPr>
              <a:spLocks/>
            </p:cNvSpPr>
            <p:nvPr/>
          </p:nvSpPr>
          <p:spPr bwMode="auto">
            <a:xfrm>
              <a:off x="3584576" y="3570288"/>
              <a:ext cx="60325" cy="69850"/>
            </a:xfrm>
            <a:custGeom>
              <a:avLst/>
              <a:gdLst>
                <a:gd name="T0" fmla="*/ 280 w 290"/>
                <a:gd name="T1" fmla="*/ 0 h 339"/>
                <a:gd name="T2" fmla="*/ 142 w 290"/>
                <a:gd name="T3" fmla="*/ 43 h 339"/>
                <a:gd name="T4" fmla="*/ 142 w 290"/>
                <a:gd name="T5" fmla="*/ 43 h 339"/>
                <a:gd name="T6" fmla="*/ 0 w 290"/>
                <a:gd name="T7" fmla="*/ 248 h 339"/>
                <a:gd name="T8" fmla="*/ 0 w 290"/>
                <a:gd name="T9" fmla="*/ 339 h 339"/>
                <a:gd name="T10" fmla="*/ 33 w 290"/>
                <a:gd name="T11" fmla="*/ 339 h 339"/>
                <a:gd name="T12" fmla="*/ 33 w 290"/>
                <a:gd name="T13" fmla="*/ 248 h 339"/>
                <a:gd name="T14" fmla="*/ 153 w 290"/>
                <a:gd name="T15" fmla="*/ 75 h 339"/>
                <a:gd name="T16" fmla="*/ 148 w 290"/>
                <a:gd name="T17" fmla="*/ 59 h 339"/>
                <a:gd name="T18" fmla="*/ 153 w 290"/>
                <a:gd name="T19" fmla="*/ 75 h 339"/>
                <a:gd name="T20" fmla="*/ 290 w 290"/>
                <a:gd name="T21" fmla="*/ 32 h 339"/>
                <a:gd name="T22" fmla="*/ 280 w 290"/>
                <a:gd name="T2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280" y="0"/>
                  </a:moveTo>
                  <a:lnTo>
                    <a:pt x="142" y="43"/>
                  </a:lnTo>
                  <a:lnTo>
                    <a:pt x="142" y="43"/>
                  </a:lnTo>
                  <a:cubicBezTo>
                    <a:pt x="56" y="75"/>
                    <a:pt x="0" y="157"/>
                    <a:pt x="0" y="248"/>
                  </a:cubicBezTo>
                  <a:lnTo>
                    <a:pt x="0" y="339"/>
                  </a:lnTo>
                  <a:lnTo>
                    <a:pt x="33" y="339"/>
                  </a:lnTo>
                  <a:lnTo>
                    <a:pt x="33" y="248"/>
                  </a:lnTo>
                  <a:cubicBezTo>
                    <a:pt x="33" y="170"/>
                    <a:pt x="81" y="101"/>
                    <a:pt x="153" y="75"/>
                  </a:cubicBezTo>
                  <a:lnTo>
                    <a:pt x="148" y="59"/>
                  </a:lnTo>
                  <a:lnTo>
                    <a:pt x="153" y="75"/>
                  </a:lnTo>
                  <a:lnTo>
                    <a:pt x="290" y="32"/>
                  </a:lnTo>
                  <a:lnTo>
                    <a:pt x="28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9" name="Freeform 1102">
              <a:extLst>
                <a:ext uri="{FF2B5EF4-FFF2-40B4-BE49-F238E27FC236}">
                  <a16:creationId xmlns:a16="http://schemas.microsoft.com/office/drawing/2014/main" id="{4D47D768-1400-5780-417A-8B307726CCEE}"/>
                </a:ext>
              </a:extLst>
            </p:cNvPr>
            <p:cNvSpPr>
              <a:spLocks/>
            </p:cNvSpPr>
            <p:nvPr/>
          </p:nvSpPr>
          <p:spPr bwMode="auto">
            <a:xfrm>
              <a:off x="3660776" y="3530600"/>
              <a:ext cx="12700" cy="25400"/>
            </a:xfrm>
            <a:custGeom>
              <a:avLst/>
              <a:gdLst>
                <a:gd name="T0" fmla="*/ 27 w 60"/>
                <a:gd name="T1" fmla="*/ 2 h 124"/>
                <a:gd name="T2" fmla="*/ 27 w 60"/>
                <a:gd name="T3" fmla="*/ 2 h 124"/>
                <a:gd name="T4" fmla="*/ 27 w 60"/>
                <a:gd name="T5" fmla="*/ 5 h 124"/>
                <a:gd name="T6" fmla="*/ 0 w 60"/>
                <a:gd name="T7" fmla="*/ 108 h 124"/>
                <a:gd name="T8" fmla="*/ 29 w 60"/>
                <a:gd name="T9" fmla="*/ 124 h 124"/>
                <a:gd name="T10" fmla="*/ 60 w 60"/>
                <a:gd name="T11" fmla="*/ 5 h 124"/>
                <a:gd name="T12" fmla="*/ 60 w 60"/>
                <a:gd name="T13" fmla="*/ 0 h 124"/>
                <a:gd name="T14" fmla="*/ 27 w 60"/>
                <a:gd name="T15" fmla="*/ 2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124">
                  <a:moveTo>
                    <a:pt x="27" y="2"/>
                  </a:moveTo>
                  <a:lnTo>
                    <a:pt x="27" y="2"/>
                  </a:lnTo>
                  <a:cubicBezTo>
                    <a:pt x="27" y="3"/>
                    <a:pt x="27" y="4"/>
                    <a:pt x="27" y="5"/>
                  </a:cubicBezTo>
                  <a:cubicBezTo>
                    <a:pt x="27" y="17"/>
                    <a:pt x="25" y="60"/>
                    <a:pt x="0" y="108"/>
                  </a:cubicBezTo>
                  <a:lnTo>
                    <a:pt x="29" y="124"/>
                  </a:lnTo>
                  <a:cubicBezTo>
                    <a:pt x="58" y="69"/>
                    <a:pt x="60" y="21"/>
                    <a:pt x="60" y="5"/>
                  </a:cubicBezTo>
                  <a:cubicBezTo>
                    <a:pt x="60" y="2"/>
                    <a:pt x="60" y="1"/>
                    <a:pt x="60" y="0"/>
                  </a:cubicBezTo>
                  <a:lnTo>
                    <a:pt x="27" y="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0" name="Freeform 1103">
              <a:extLst>
                <a:ext uri="{FF2B5EF4-FFF2-40B4-BE49-F238E27FC236}">
                  <a16:creationId xmlns:a16="http://schemas.microsoft.com/office/drawing/2014/main" id="{A8CACD4F-3C2F-BC68-F5B1-85EE10A87078}"/>
                </a:ext>
              </a:extLst>
            </p:cNvPr>
            <p:cNvSpPr>
              <a:spLocks/>
            </p:cNvSpPr>
            <p:nvPr/>
          </p:nvSpPr>
          <p:spPr bwMode="auto">
            <a:xfrm>
              <a:off x="3756026" y="3570288"/>
              <a:ext cx="58738" cy="69850"/>
            </a:xfrm>
            <a:custGeom>
              <a:avLst/>
              <a:gdLst>
                <a:gd name="T0" fmla="*/ 0 w 290"/>
                <a:gd name="T1" fmla="*/ 32 h 339"/>
                <a:gd name="T2" fmla="*/ 137 w 290"/>
                <a:gd name="T3" fmla="*/ 75 h 339"/>
                <a:gd name="T4" fmla="*/ 142 w 290"/>
                <a:gd name="T5" fmla="*/ 59 h 339"/>
                <a:gd name="T6" fmla="*/ 136 w 290"/>
                <a:gd name="T7" fmla="*/ 75 h 339"/>
                <a:gd name="T8" fmla="*/ 257 w 290"/>
                <a:gd name="T9" fmla="*/ 248 h 339"/>
                <a:gd name="T10" fmla="*/ 257 w 290"/>
                <a:gd name="T11" fmla="*/ 339 h 339"/>
                <a:gd name="T12" fmla="*/ 290 w 290"/>
                <a:gd name="T13" fmla="*/ 339 h 339"/>
                <a:gd name="T14" fmla="*/ 290 w 290"/>
                <a:gd name="T15" fmla="*/ 248 h 339"/>
                <a:gd name="T16" fmla="*/ 148 w 290"/>
                <a:gd name="T17" fmla="*/ 43 h 339"/>
                <a:gd name="T18" fmla="*/ 148 w 290"/>
                <a:gd name="T19" fmla="*/ 43 h 339"/>
                <a:gd name="T20" fmla="*/ 10 w 290"/>
                <a:gd name="T21" fmla="*/ 0 h 339"/>
                <a:gd name="T22" fmla="*/ 0 w 290"/>
                <a:gd name="T23" fmla="*/ 32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0" y="32"/>
                  </a:moveTo>
                  <a:lnTo>
                    <a:pt x="137" y="75"/>
                  </a:lnTo>
                  <a:lnTo>
                    <a:pt x="142" y="59"/>
                  </a:lnTo>
                  <a:lnTo>
                    <a:pt x="136" y="75"/>
                  </a:lnTo>
                  <a:cubicBezTo>
                    <a:pt x="209" y="101"/>
                    <a:pt x="257" y="170"/>
                    <a:pt x="257" y="248"/>
                  </a:cubicBezTo>
                  <a:lnTo>
                    <a:pt x="257" y="339"/>
                  </a:lnTo>
                  <a:lnTo>
                    <a:pt x="290" y="339"/>
                  </a:lnTo>
                  <a:lnTo>
                    <a:pt x="290" y="248"/>
                  </a:lnTo>
                  <a:cubicBezTo>
                    <a:pt x="290" y="157"/>
                    <a:pt x="233" y="75"/>
                    <a:pt x="148" y="43"/>
                  </a:cubicBezTo>
                  <a:lnTo>
                    <a:pt x="148" y="43"/>
                  </a:lnTo>
                  <a:lnTo>
                    <a:pt x="10" y="0"/>
                  </a:lnTo>
                  <a:lnTo>
                    <a:pt x="0" y="3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1" name="Freeform 1104">
              <a:extLst>
                <a:ext uri="{FF2B5EF4-FFF2-40B4-BE49-F238E27FC236}">
                  <a16:creationId xmlns:a16="http://schemas.microsoft.com/office/drawing/2014/main" id="{434048A0-CD0C-16C2-330A-89E8AB125893}"/>
                </a:ext>
              </a:extLst>
            </p:cNvPr>
            <p:cNvSpPr>
              <a:spLocks/>
            </p:cNvSpPr>
            <p:nvPr/>
          </p:nvSpPr>
          <p:spPr bwMode="auto">
            <a:xfrm>
              <a:off x="3727451" y="3522663"/>
              <a:ext cx="11113" cy="33338"/>
            </a:xfrm>
            <a:custGeom>
              <a:avLst/>
              <a:gdLst>
                <a:gd name="T0" fmla="*/ 0 w 58"/>
                <a:gd name="T1" fmla="*/ 0 h 163"/>
                <a:gd name="T2" fmla="*/ 0 w 58"/>
                <a:gd name="T3" fmla="*/ 19 h 163"/>
                <a:gd name="T4" fmla="*/ 5 w 58"/>
                <a:gd name="T5" fmla="*/ 84 h 163"/>
                <a:gd name="T6" fmla="*/ 28 w 58"/>
                <a:gd name="T7" fmla="*/ 163 h 163"/>
                <a:gd name="T8" fmla="*/ 58 w 58"/>
                <a:gd name="T9" fmla="*/ 147 h 163"/>
                <a:gd name="T10" fmla="*/ 38 w 58"/>
                <a:gd name="T11" fmla="*/ 79 h 163"/>
                <a:gd name="T12" fmla="*/ 33 w 58"/>
                <a:gd name="T13" fmla="*/ 19 h 163"/>
                <a:gd name="T14" fmla="*/ 34 w 58"/>
                <a:gd name="T15" fmla="*/ 7 h 163"/>
                <a:gd name="T16" fmla="*/ 34 w 58"/>
                <a:gd name="T17" fmla="*/ 3 h 163"/>
                <a:gd name="T18" fmla="*/ 34 w 58"/>
                <a:gd name="T19" fmla="*/ 2 h 163"/>
                <a:gd name="T20" fmla="*/ 0 w 58"/>
                <a:gd name="T2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163">
                  <a:moveTo>
                    <a:pt x="0" y="0"/>
                  </a:moveTo>
                  <a:cubicBezTo>
                    <a:pt x="0" y="0"/>
                    <a:pt x="0" y="7"/>
                    <a:pt x="0" y="19"/>
                  </a:cubicBezTo>
                  <a:cubicBezTo>
                    <a:pt x="0" y="34"/>
                    <a:pt x="1" y="58"/>
                    <a:pt x="5" y="84"/>
                  </a:cubicBezTo>
                  <a:cubicBezTo>
                    <a:pt x="9" y="109"/>
                    <a:pt x="15" y="138"/>
                    <a:pt x="28" y="163"/>
                  </a:cubicBezTo>
                  <a:lnTo>
                    <a:pt x="58" y="147"/>
                  </a:lnTo>
                  <a:cubicBezTo>
                    <a:pt x="48" y="127"/>
                    <a:pt x="41" y="102"/>
                    <a:pt x="38" y="79"/>
                  </a:cubicBezTo>
                  <a:cubicBezTo>
                    <a:pt x="34" y="55"/>
                    <a:pt x="33" y="33"/>
                    <a:pt x="33" y="19"/>
                  </a:cubicBezTo>
                  <a:cubicBezTo>
                    <a:pt x="33" y="14"/>
                    <a:pt x="33" y="9"/>
                    <a:pt x="34" y="7"/>
                  </a:cubicBezTo>
                  <a:lnTo>
                    <a:pt x="34" y="3"/>
                  </a:lnTo>
                  <a:lnTo>
                    <a:pt x="34" y="2"/>
                  </a:lnTo>
                  <a:lnTo>
                    <a:pt x="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2" name="Freeform 1105">
              <a:extLst>
                <a:ext uri="{FF2B5EF4-FFF2-40B4-BE49-F238E27FC236}">
                  <a16:creationId xmlns:a16="http://schemas.microsoft.com/office/drawing/2014/main" id="{994D2B40-5BD0-34CE-8017-C5B574DE108B}"/>
                </a:ext>
              </a:extLst>
            </p:cNvPr>
            <p:cNvSpPr>
              <a:spLocks/>
            </p:cNvSpPr>
            <p:nvPr/>
          </p:nvSpPr>
          <p:spPr bwMode="auto">
            <a:xfrm>
              <a:off x="3611563" y="3348038"/>
              <a:ext cx="117475" cy="80963"/>
            </a:xfrm>
            <a:custGeom>
              <a:avLst/>
              <a:gdLst>
                <a:gd name="T0" fmla="*/ 543 w 573"/>
                <a:gd name="T1" fmla="*/ 8 h 389"/>
                <a:gd name="T2" fmla="*/ 419 w 573"/>
                <a:gd name="T3" fmla="*/ 0 h 389"/>
                <a:gd name="T4" fmla="*/ 162 w 573"/>
                <a:gd name="T5" fmla="*/ 46 h 389"/>
                <a:gd name="T6" fmla="*/ 53 w 573"/>
                <a:gd name="T7" fmla="*/ 128 h 389"/>
                <a:gd name="T8" fmla="*/ 1 w 573"/>
                <a:gd name="T9" fmla="*/ 269 h 389"/>
                <a:gd name="T10" fmla="*/ 0 w 573"/>
                <a:gd name="T11" fmla="*/ 287 h 389"/>
                <a:gd name="T12" fmla="*/ 221 w 573"/>
                <a:gd name="T13" fmla="*/ 287 h 389"/>
                <a:gd name="T14" fmla="*/ 221 w 573"/>
                <a:gd name="T15" fmla="*/ 270 h 389"/>
                <a:gd name="T16" fmla="*/ 206 w 573"/>
                <a:gd name="T17" fmla="*/ 277 h 389"/>
                <a:gd name="T18" fmla="*/ 261 w 573"/>
                <a:gd name="T19" fmla="*/ 335 h 389"/>
                <a:gd name="T20" fmla="*/ 476 w 573"/>
                <a:gd name="T21" fmla="*/ 389 h 389"/>
                <a:gd name="T22" fmla="*/ 573 w 573"/>
                <a:gd name="T23" fmla="*/ 389 h 389"/>
                <a:gd name="T24" fmla="*/ 573 w 573"/>
                <a:gd name="T25" fmla="*/ 356 h 389"/>
                <a:gd name="T26" fmla="*/ 476 w 573"/>
                <a:gd name="T27" fmla="*/ 356 h 389"/>
                <a:gd name="T28" fmla="*/ 280 w 573"/>
                <a:gd name="T29" fmla="*/ 308 h 389"/>
                <a:gd name="T30" fmla="*/ 244 w 573"/>
                <a:gd name="T31" fmla="*/ 276 h 389"/>
                <a:gd name="T32" fmla="*/ 237 w 573"/>
                <a:gd name="T33" fmla="*/ 266 h 389"/>
                <a:gd name="T34" fmla="*/ 236 w 573"/>
                <a:gd name="T35" fmla="*/ 263 h 389"/>
                <a:gd name="T36" fmla="*/ 236 w 573"/>
                <a:gd name="T37" fmla="*/ 263 h 389"/>
                <a:gd name="T38" fmla="*/ 236 w 573"/>
                <a:gd name="T39" fmla="*/ 263 h 389"/>
                <a:gd name="T40" fmla="*/ 226 w 573"/>
                <a:gd name="T41" fmla="*/ 267 h 389"/>
                <a:gd name="T42" fmla="*/ 236 w 573"/>
                <a:gd name="T43" fmla="*/ 263 h 389"/>
                <a:gd name="T44" fmla="*/ 236 w 573"/>
                <a:gd name="T45" fmla="*/ 263 h 389"/>
                <a:gd name="T46" fmla="*/ 226 w 573"/>
                <a:gd name="T47" fmla="*/ 267 h 389"/>
                <a:gd name="T48" fmla="*/ 236 w 573"/>
                <a:gd name="T49" fmla="*/ 263 h 389"/>
                <a:gd name="T50" fmla="*/ 231 w 573"/>
                <a:gd name="T51" fmla="*/ 253 h 389"/>
                <a:gd name="T52" fmla="*/ 18 w 573"/>
                <a:gd name="T53" fmla="*/ 253 h 389"/>
                <a:gd name="T54" fmla="*/ 18 w 573"/>
                <a:gd name="T55" fmla="*/ 270 h 389"/>
                <a:gd name="T56" fmla="*/ 35 w 573"/>
                <a:gd name="T57" fmla="*/ 271 h 389"/>
                <a:gd name="T58" fmla="*/ 80 w 573"/>
                <a:gd name="T59" fmla="*/ 148 h 389"/>
                <a:gd name="T60" fmla="*/ 235 w 573"/>
                <a:gd name="T61" fmla="*/ 55 h 389"/>
                <a:gd name="T62" fmla="*/ 419 w 573"/>
                <a:gd name="T63" fmla="*/ 33 h 389"/>
                <a:gd name="T64" fmla="*/ 505 w 573"/>
                <a:gd name="T65" fmla="*/ 37 h 389"/>
                <a:gd name="T66" fmla="*/ 529 w 573"/>
                <a:gd name="T67" fmla="*/ 39 h 389"/>
                <a:gd name="T68" fmla="*/ 536 w 573"/>
                <a:gd name="T69" fmla="*/ 40 h 389"/>
                <a:gd name="T70" fmla="*/ 538 w 573"/>
                <a:gd name="T71" fmla="*/ 41 h 389"/>
                <a:gd name="T72" fmla="*/ 543 w 573"/>
                <a:gd name="T73" fmla="*/ 8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73" h="389">
                  <a:moveTo>
                    <a:pt x="543" y="8"/>
                  </a:moveTo>
                  <a:cubicBezTo>
                    <a:pt x="542" y="7"/>
                    <a:pt x="491" y="0"/>
                    <a:pt x="419" y="0"/>
                  </a:cubicBezTo>
                  <a:cubicBezTo>
                    <a:pt x="343" y="0"/>
                    <a:pt x="245" y="8"/>
                    <a:pt x="162" y="46"/>
                  </a:cubicBezTo>
                  <a:cubicBezTo>
                    <a:pt x="120" y="65"/>
                    <a:pt x="82" y="91"/>
                    <a:pt x="53" y="128"/>
                  </a:cubicBezTo>
                  <a:cubicBezTo>
                    <a:pt x="25" y="164"/>
                    <a:pt x="6" y="211"/>
                    <a:pt x="1" y="269"/>
                  </a:cubicBezTo>
                  <a:lnTo>
                    <a:pt x="0" y="287"/>
                  </a:lnTo>
                  <a:lnTo>
                    <a:pt x="221" y="287"/>
                  </a:lnTo>
                  <a:lnTo>
                    <a:pt x="221" y="270"/>
                  </a:lnTo>
                  <a:lnTo>
                    <a:pt x="206" y="277"/>
                  </a:lnTo>
                  <a:cubicBezTo>
                    <a:pt x="207" y="279"/>
                    <a:pt x="220" y="307"/>
                    <a:pt x="261" y="335"/>
                  </a:cubicBezTo>
                  <a:cubicBezTo>
                    <a:pt x="302" y="363"/>
                    <a:pt x="370" y="389"/>
                    <a:pt x="476" y="389"/>
                  </a:cubicBezTo>
                  <a:lnTo>
                    <a:pt x="573" y="389"/>
                  </a:lnTo>
                  <a:lnTo>
                    <a:pt x="573" y="356"/>
                  </a:lnTo>
                  <a:lnTo>
                    <a:pt x="476" y="356"/>
                  </a:lnTo>
                  <a:cubicBezTo>
                    <a:pt x="375" y="356"/>
                    <a:pt x="315" y="331"/>
                    <a:pt x="280" y="308"/>
                  </a:cubicBezTo>
                  <a:cubicBezTo>
                    <a:pt x="262" y="296"/>
                    <a:pt x="251" y="284"/>
                    <a:pt x="244" y="276"/>
                  </a:cubicBezTo>
                  <a:cubicBezTo>
                    <a:pt x="241" y="271"/>
                    <a:pt x="239" y="268"/>
                    <a:pt x="237" y="266"/>
                  </a:cubicBezTo>
                  <a:lnTo>
                    <a:pt x="236" y="263"/>
                  </a:lnTo>
                  <a:lnTo>
                    <a:pt x="236" y="263"/>
                  </a:lnTo>
                  <a:lnTo>
                    <a:pt x="236" y="263"/>
                  </a:lnTo>
                  <a:lnTo>
                    <a:pt x="226" y="267"/>
                  </a:lnTo>
                  <a:lnTo>
                    <a:pt x="236" y="263"/>
                  </a:lnTo>
                  <a:lnTo>
                    <a:pt x="236" y="263"/>
                  </a:lnTo>
                  <a:lnTo>
                    <a:pt x="226" y="267"/>
                  </a:lnTo>
                  <a:lnTo>
                    <a:pt x="236" y="263"/>
                  </a:lnTo>
                  <a:lnTo>
                    <a:pt x="231" y="253"/>
                  </a:lnTo>
                  <a:lnTo>
                    <a:pt x="18" y="253"/>
                  </a:lnTo>
                  <a:lnTo>
                    <a:pt x="18" y="270"/>
                  </a:lnTo>
                  <a:lnTo>
                    <a:pt x="35" y="271"/>
                  </a:lnTo>
                  <a:cubicBezTo>
                    <a:pt x="39" y="219"/>
                    <a:pt x="55" y="180"/>
                    <a:pt x="80" y="148"/>
                  </a:cubicBezTo>
                  <a:cubicBezTo>
                    <a:pt x="117" y="101"/>
                    <a:pt x="173" y="72"/>
                    <a:pt x="235" y="55"/>
                  </a:cubicBezTo>
                  <a:cubicBezTo>
                    <a:pt x="297" y="38"/>
                    <a:pt x="364" y="33"/>
                    <a:pt x="419" y="33"/>
                  </a:cubicBezTo>
                  <a:cubicBezTo>
                    <a:pt x="454" y="33"/>
                    <a:pt x="484" y="35"/>
                    <a:pt x="505" y="37"/>
                  </a:cubicBezTo>
                  <a:cubicBezTo>
                    <a:pt x="515" y="38"/>
                    <a:pt x="524" y="39"/>
                    <a:pt x="529" y="39"/>
                  </a:cubicBezTo>
                  <a:cubicBezTo>
                    <a:pt x="532" y="40"/>
                    <a:pt x="534" y="40"/>
                    <a:pt x="536" y="40"/>
                  </a:cubicBezTo>
                  <a:lnTo>
                    <a:pt x="538" y="41"/>
                  </a:lnTo>
                  <a:lnTo>
                    <a:pt x="543" y="8"/>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3" name="Freeform 1106">
              <a:extLst>
                <a:ext uri="{FF2B5EF4-FFF2-40B4-BE49-F238E27FC236}">
                  <a16:creationId xmlns:a16="http://schemas.microsoft.com/office/drawing/2014/main" id="{6390EC1C-1201-A3DA-6239-705EA4976178}"/>
                </a:ext>
              </a:extLst>
            </p:cNvPr>
            <p:cNvSpPr>
              <a:spLocks/>
            </p:cNvSpPr>
            <p:nvPr/>
          </p:nvSpPr>
          <p:spPr bwMode="auto">
            <a:xfrm>
              <a:off x="3716338" y="3362325"/>
              <a:ext cx="61913" cy="98425"/>
            </a:xfrm>
            <a:custGeom>
              <a:avLst/>
              <a:gdLst>
                <a:gd name="T0" fmla="*/ 4 w 297"/>
                <a:gd name="T1" fmla="*/ 34 h 483"/>
                <a:gd name="T2" fmla="*/ 4 w 297"/>
                <a:gd name="T3" fmla="*/ 34 h 483"/>
                <a:gd name="T4" fmla="*/ 19 w 297"/>
                <a:gd name="T5" fmla="*/ 34 h 483"/>
                <a:gd name="T6" fmla="*/ 163 w 297"/>
                <a:gd name="T7" fmla="*/ 79 h 483"/>
                <a:gd name="T8" fmla="*/ 233 w 297"/>
                <a:gd name="T9" fmla="*/ 170 h 483"/>
                <a:gd name="T10" fmla="*/ 264 w 297"/>
                <a:gd name="T11" fmla="*/ 341 h 483"/>
                <a:gd name="T12" fmla="*/ 261 w 297"/>
                <a:gd name="T13" fmla="*/ 398 h 483"/>
                <a:gd name="T14" fmla="*/ 206 w 297"/>
                <a:gd name="T15" fmla="*/ 450 h 483"/>
                <a:gd name="T16" fmla="*/ 206 w 297"/>
                <a:gd name="T17" fmla="*/ 483 h 483"/>
                <a:gd name="T18" fmla="*/ 295 w 297"/>
                <a:gd name="T19" fmla="*/ 401 h 483"/>
                <a:gd name="T20" fmla="*/ 297 w 297"/>
                <a:gd name="T21" fmla="*/ 341 h 483"/>
                <a:gd name="T22" fmla="*/ 263 w 297"/>
                <a:gd name="T23" fmla="*/ 157 h 483"/>
                <a:gd name="T24" fmla="*/ 136 w 297"/>
                <a:gd name="T25" fmla="*/ 25 h 483"/>
                <a:gd name="T26" fmla="*/ 19 w 297"/>
                <a:gd name="T27" fmla="*/ 0 h 483"/>
                <a:gd name="T28" fmla="*/ 0 w 297"/>
                <a:gd name="T29" fmla="*/ 1 h 483"/>
                <a:gd name="T30" fmla="*/ 4 w 297"/>
                <a:gd name="T31" fmla="*/ 34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7" h="483">
                  <a:moveTo>
                    <a:pt x="4" y="34"/>
                  </a:moveTo>
                  <a:lnTo>
                    <a:pt x="4" y="34"/>
                  </a:lnTo>
                  <a:cubicBezTo>
                    <a:pt x="5" y="34"/>
                    <a:pt x="10" y="34"/>
                    <a:pt x="19" y="34"/>
                  </a:cubicBezTo>
                  <a:cubicBezTo>
                    <a:pt x="48" y="34"/>
                    <a:pt x="110" y="39"/>
                    <a:pt x="163" y="79"/>
                  </a:cubicBezTo>
                  <a:cubicBezTo>
                    <a:pt x="189" y="100"/>
                    <a:pt x="214" y="128"/>
                    <a:pt x="233" y="170"/>
                  </a:cubicBezTo>
                  <a:cubicBezTo>
                    <a:pt x="251" y="212"/>
                    <a:pt x="264" y="267"/>
                    <a:pt x="264" y="341"/>
                  </a:cubicBezTo>
                  <a:cubicBezTo>
                    <a:pt x="264" y="359"/>
                    <a:pt x="263" y="378"/>
                    <a:pt x="261" y="398"/>
                  </a:cubicBezTo>
                  <a:cubicBezTo>
                    <a:pt x="259" y="428"/>
                    <a:pt x="235" y="450"/>
                    <a:pt x="206" y="450"/>
                  </a:cubicBezTo>
                  <a:lnTo>
                    <a:pt x="206" y="483"/>
                  </a:lnTo>
                  <a:cubicBezTo>
                    <a:pt x="253" y="483"/>
                    <a:pt x="291" y="447"/>
                    <a:pt x="295" y="401"/>
                  </a:cubicBezTo>
                  <a:cubicBezTo>
                    <a:pt x="296" y="380"/>
                    <a:pt x="297" y="360"/>
                    <a:pt x="297" y="341"/>
                  </a:cubicBezTo>
                  <a:cubicBezTo>
                    <a:pt x="297" y="264"/>
                    <a:pt x="284" y="204"/>
                    <a:pt x="263" y="157"/>
                  </a:cubicBezTo>
                  <a:cubicBezTo>
                    <a:pt x="232" y="86"/>
                    <a:pt x="183" y="46"/>
                    <a:pt x="136" y="25"/>
                  </a:cubicBezTo>
                  <a:cubicBezTo>
                    <a:pt x="89" y="4"/>
                    <a:pt x="44" y="0"/>
                    <a:pt x="19" y="0"/>
                  </a:cubicBezTo>
                  <a:cubicBezTo>
                    <a:pt x="8" y="0"/>
                    <a:pt x="0" y="1"/>
                    <a:pt x="0" y="1"/>
                  </a:cubicBezTo>
                  <a:lnTo>
                    <a:pt x="4" y="34"/>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4" name="Freeform 1107">
              <a:extLst>
                <a:ext uri="{FF2B5EF4-FFF2-40B4-BE49-F238E27FC236}">
                  <a16:creationId xmlns:a16="http://schemas.microsoft.com/office/drawing/2014/main" id="{33B63D74-629C-00CD-FEAF-A5A8B78778D2}"/>
                </a:ext>
              </a:extLst>
            </p:cNvPr>
            <p:cNvSpPr>
              <a:spLocks/>
            </p:cNvSpPr>
            <p:nvPr/>
          </p:nvSpPr>
          <p:spPr bwMode="auto">
            <a:xfrm>
              <a:off x="3625851" y="3400425"/>
              <a:ext cx="139700" cy="136525"/>
            </a:xfrm>
            <a:custGeom>
              <a:avLst/>
              <a:gdLst>
                <a:gd name="T0" fmla="*/ 12 w 677"/>
                <a:gd name="T1" fmla="*/ 191 h 657"/>
                <a:gd name="T2" fmla="*/ 32 w 677"/>
                <a:gd name="T3" fmla="*/ 263 h 657"/>
                <a:gd name="T4" fmla="*/ 0 w 677"/>
                <a:gd name="T5" fmla="*/ 383 h 657"/>
                <a:gd name="T6" fmla="*/ 142 w 677"/>
                <a:gd name="T7" fmla="*/ 631 h 657"/>
                <a:gd name="T8" fmla="*/ 286 w 677"/>
                <a:gd name="T9" fmla="*/ 640 h 657"/>
                <a:gd name="T10" fmla="*/ 307 w 677"/>
                <a:gd name="T11" fmla="*/ 657 h 657"/>
                <a:gd name="T12" fmla="*/ 582 w 677"/>
                <a:gd name="T13" fmla="*/ 553 h 657"/>
                <a:gd name="T14" fmla="*/ 621 w 677"/>
                <a:gd name="T15" fmla="*/ 401 h 657"/>
                <a:gd name="T16" fmla="*/ 621 w 677"/>
                <a:gd name="T17" fmla="*/ 402 h 657"/>
                <a:gd name="T18" fmla="*/ 604 w 677"/>
                <a:gd name="T19" fmla="*/ 328 h 657"/>
                <a:gd name="T20" fmla="*/ 606 w 677"/>
                <a:gd name="T21" fmla="*/ 345 h 657"/>
                <a:gd name="T22" fmla="*/ 606 w 677"/>
                <a:gd name="T23" fmla="*/ 202 h 657"/>
                <a:gd name="T24" fmla="*/ 590 w 677"/>
                <a:gd name="T25" fmla="*/ 219 h 657"/>
                <a:gd name="T26" fmla="*/ 608 w 677"/>
                <a:gd name="T27" fmla="*/ 185 h 657"/>
                <a:gd name="T28" fmla="*/ 561 w 677"/>
                <a:gd name="T29" fmla="*/ 13 h 657"/>
                <a:gd name="T30" fmla="*/ 568 w 677"/>
                <a:gd name="T31" fmla="*/ 106 h 657"/>
                <a:gd name="T32" fmla="*/ 574 w 677"/>
                <a:gd name="T33" fmla="*/ 209 h 657"/>
                <a:gd name="T34" fmla="*/ 574 w 677"/>
                <a:gd name="T35" fmla="*/ 217 h 657"/>
                <a:gd name="T36" fmla="*/ 606 w 677"/>
                <a:gd name="T37" fmla="*/ 235 h 657"/>
                <a:gd name="T38" fmla="*/ 606 w 677"/>
                <a:gd name="T39" fmla="*/ 311 h 657"/>
                <a:gd name="T40" fmla="*/ 588 w 677"/>
                <a:gd name="T41" fmla="*/ 311 h 657"/>
                <a:gd name="T42" fmla="*/ 588 w 677"/>
                <a:gd name="T43" fmla="*/ 404 h 657"/>
                <a:gd name="T44" fmla="*/ 556 w 677"/>
                <a:gd name="T45" fmla="*/ 533 h 657"/>
                <a:gd name="T46" fmla="*/ 307 w 677"/>
                <a:gd name="T47" fmla="*/ 624 h 657"/>
                <a:gd name="T48" fmla="*/ 288 w 677"/>
                <a:gd name="T49" fmla="*/ 623 h 657"/>
                <a:gd name="T50" fmla="*/ 286 w 677"/>
                <a:gd name="T51" fmla="*/ 623 h 657"/>
                <a:gd name="T52" fmla="*/ 155 w 677"/>
                <a:gd name="T53" fmla="*/ 600 h 657"/>
                <a:gd name="T54" fmla="*/ 33 w 677"/>
                <a:gd name="T55" fmla="*/ 383 h 657"/>
                <a:gd name="T56" fmla="*/ 46 w 677"/>
                <a:gd name="T57" fmla="*/ 276 h 657"/>
                <a:gd name="T58" fmla="*/ 48 w 677"/>
                <a:gd name="T59" fmla="*/ 268 h 657"/>
                <a:gd name="T60" fmla="*/ 49 w 677"/>
                <a:gd name="T61" fmla="*/ 264 h 657"/>
                <a:gd name="T62" fmla="*/ 45 w 677"/>
                <a:gd name="T63" fmla="*/ 191 h 657"/>
                <a:gd name="T64" fmla="*/ 50 w 677"/>
                <a:gd name="T65"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7" h="657">
                  <a:moveTo>
                    <a:pt x="50" y="0"/>
                  </a:moveTo>
                  <a:cubicBezTo>
                    <a:pt x="30" y="42"/>
                    <a:pt x="12" y="104"/>
                    <a:pt x="12" y="191"/>
                  </a:cubicBezTo>
                  <a:cubicBezTo>
                    <a:pt x="12" y="214"/>
                    <a:pt x="13" y="238"/>
                    <a:pt x="16" y="264"/>
                  </a:cubicBezTo>
                  <a:lnTo>
                    <a:pt x="32" y="263"/>
                  </a:lnTo>
                  <a:lnTo>
                    <a:pt x="16" y="258"/>
                  </a:lnTo>
                  <a:cubicBezTo>
                    <a:pt x="16" y="259"/>
                    <a:pt x="0" y="314"/>
                    <a:pt x="0" y="383"/>
                  </a:cubicBezTo>
                  <a:cubicBezTo>
                    <a:pt x="0" y="441"/>
                    <a:pt x="11" y="508"/>
                    <a:pt x="53" y="563"/>
                  </a:cubicBezTo>
                  <a:cubicBezTo>
                    <a:pt x="74" y="591"/>
                    <a:pt x="103" y="614"/>
                    <a:pt x="142" y="631"/>
                  </a:cubicBezTo>
                  <a:cubicBezTo>
                    <a:pt x="180" y="647"/>
                    <a:pt x="227" y="657"/>
                    <a:pt x="286" y="657"/>
                  </a:cubicBezTo>
                  <a:lnTo>
                    <a:pt x="286" y="640"/>
                  </a:lnTo>
                  <a:lnTo>
                    <a:pt x="285" y="657"/>
                  </a:lnTo>
                  <a:cubicBezTo>
                    <a:pt x="285" y="657"/>
                    <a:pt x="293" y="657"/>
                    <a:pt x="307" y="657"/>
                  </a:cubicBezTo>
                  <a:cubicBezTo>
                    <a:pt x="345" y="657"/>
                    <a:pt x="421" y="653"/>
                    <a:pt x="490" y="623"/>
                  </a:cubicBezTo>
                  <a:cubicBezTo>
                    <a:pt x="525" y="608"/>
                    <a:pt x="558" y="586"/>
                    <a:pt x="582" y="553"/>
                  </a:cubicBezTo>
                  <a:cubicBezTo>
                    <a:pt x="607" y="521"/>
                    <a:pt x="622" y="479"/>
                    <a:pt x="622" y="426"/>
                  </a:cubicBezTo>
                  <a:cubicBezTo>
                    <a:pt x="622" y="418"/>
                    <a:pt x="622" y="409"/>
                    <a:pt x="621" y="401"/>
                  </a:cubicBezTo>
                  <a:lnTo>
                    <a:pt x="604" y="402"/>
                  </a:lnTo>
                  <a:lnTo>
                    <a:pt x="621" y="402"/>
                  </a:lnTo>
                  <a:lnTo>
                    <a:pt x="621" y="328"/>
                  </a:lnTo>
                  <a:lnTo>
                    <a:pt x="604" y="328"/>
                  </a:lnTo>
                  <a:lnTo>
                    <a:pt x="604" y="345"/>
                  </a:lnTo>
                  <a:lnTo>
                    <a:pt x="606" y="345"/>
                  </a:lnTo>
                  <a:cubicBezTo>
                    <a:pt x="645" y="345"/>
                    <a:pt x="677" y="313"/>
                    <a:pt x="677" y="273"/>
                  </a:cubicBezTo>
                  <a:cubicBezTo>
                    <a:pt x="677" y="234"/>
                    <a:pt x="645" y="202"/>
                    <a:pt x="606" y="202"/>
                  </a:cubicBezTo>
                  <a:lnTo>
                    <a:pt x="590" y="202"/>
                  </a:lnTo>
                  <a:lnTo>
                    <a:pt x="590" y="219"/>
                  </a:lnTo>
                  <a:lnTo>
                    <a:pt x="607" y="220"/>
                  </a:lnTo>
                  <a:cubicBezTo>
                    <a:pt x="607" y="220"/>
                    <a:pt x="608" y="206"/>
                    <a:pt x="608" y="185"/>
                  </a:cubicBezTo>
                  <a:cubicBezTo>
                    <a:pt x="608" y="162"/>
                    <a:pt x="607" y="131"/>
                    <a:pt x="600" y="100"/>
                  </a:cubicBezTo>
                  <a:cubicBezTo>
                    <a:pt x="594" y="68"/>
                    <a:pt x="583" y="37"/>
                    <a:pt x="561" y="13"/>
                  </a:cubicBezTo>
                  <a:lnTo>
                    <a:pt x="537" y="36"/>
                  </a:lnTo>
                  <a:cubicBezTo>
                    <a:pt x="552" y="52"/>
                    <a:pt x="562" y="78"/>
                    <a:pt x="568" y="106"/>
                  </a:cubicBezTo>
                  <a:cubicBezTo>
                    <a:pt x="573" y="135"/>
                    <a:pt x="575" y="164"/>
                    <a:pt x="575" y="185"/>
                  </a:cubicBezTo>
                  <a:cubicBezTo>
                    <a:pt x="575" y="195"/>
                    <a:pt x="574" y="203"/>
                    <a:pt x="574" y="209"/>
                  </a:cubicBezTo>
                  <a:cubicBezTo>
                    <a:pt x="574" y="211"/>
                    <a:pt x="574" y="214"/>
                    <a:pt x="574" y="215"/>
                  </a:cubicBezTo>
                  <a:lnTo>
                    <a:pt x="574" y="217"/>
                  </a:lnTo>
                  <a:lnTo>
                    <a:pt x="572" y="235"/>
                  </a:lnTo>
                  <a:lnTo>
                    <a:pt x="606" y="235"/>
                  </a:lnTo>
                  <a:cubicBezTo>
                    <a:pt x="627" y="235"/>
                    <a:pt x="644" y="252"/>
                    <a:pt x="644" y="273"/>
                  </a:cubicBezTo>
                  <a:cubicBezTo>
                    <a:pt x="644" y="294"/>
                    <a:pt x="627" y="311"/>
                    <a:pt x="606" y="311"/>
                  </a:cubicBezTo>
                  <a:lnTo>
                    <a:pt x="604" y="311"/>
                  </a:lnTo>
                  <a:lnTo>
                    <a:pt x="588" y="311"/>
                  </a:lnTo>
                  <a:lnTo>
                    <a:pt x="588" y="403"/>
                  </a:lnTo>
                  <a:lnTo>
                    <a:pt x="588" y="404"/>
                  </a:lnTo>
                  <a:cubicBezTo>
                    <a:pt x="588" y="411"/>
                    <a:pt x="589" y="419"/>
                    <a:pt x="589" y="426"/>
                  </a:cubicBezTo>
                  <a:cubicBezTo>
                    <a:pt x="588" y="473"/>
                    <a:pt x="576" y="507"/>
                    <a:pt x="556" y="533"/>
                  </a:cubicBezTo>
                  <a:cubicBezTo>
                    <a:pt x="525" y="573"/>
                    <a:pt x="477" y="596"/>
                    <a:pt x="429" y="609"/>
                  </a:cubicBezTo>
                  <a:cubicBezTo>
                    <a:pt x="381" y="622"/>
                    <a:pt x="333" y="624"/>
                    <a:pt x="307" y="624"/>
                  </a:cubicBezTo>
                  <a:cubicBezTo>
                    <a:pt x="301" y="624"/>
                    <a:pt x="296" y="624"/>
                    <a:pt x="292" y="624"/>
                  </a:cubicBezTo>
                  <a:cubicBezTo>
                    <a:pt x="290" y="623"/>
                    <a:pt x="289" y="623"/>
                    <a:pt x="288" y="623"/>
                  </a:cubicBezTo>
                  <a:lnTo>
                    <a:pt x="287" y="623"/>
                  </a:lnTo>
                  <a:lnTo>
                    <a:pt x="286" y="623"/>
                  </a:lnTo>
                  <a:lnTo>
                    <a:pt x="286" y="623"/>
                  </a:lnTo>
                  <a:cubicBezTo>
                    <a:pt x="231" y="623"/>
                    <a:pt x="188" y="614"/>
                    <a:pt x="155" y="600"/>
                  </a:cubicBezTo>
                  <a:cubicBezTo>
                    <a:pt x="105" y="578"/>
                    <a:pt x="75" y="545"/>
                    <a:pt x="57" y="506"/>
                  </a:cubicBezTo>
                  <a:cubicBezTo>
                    <a:pt x="39" y="467"/>
                    <a:pt x="33" y="423"/>
                    <a:pt x="33" y="383"/>
                  </a:cubicBezTo>
                  <a:cubicBezTo>
                    <a:pt x="33" y="351"/>
                    <a:pt x="37" y="322"/>
                    <a:pt x="41" y="301"/>
                  </a:cubicBezTo>
                  <a:cubicBezTo>
                    <a:pt x="43" y="290"/>
                    <a:pt x="45" y="282"/>
                    <a:pt x="46" y="276"/>
                  </a:cubicBezTo>
                  <a:cubicBezTo>
                    <a:pt x="47" y="273"/>
                    <a:pt x="47" y="271"/>
                    <a:pt x="48" y="269"/>
                  </a:cubicBezTo>
                  <a:lnTo>
                    <a:pt x="48" y="268"/>
                  </a:lnTo>
                  <a:lnTo>
                    <a:pt x="48" y="267"/>
                  </a:lnTo>
                  <a:lnTo>
                    <a:pt x="49" y="264"/>
                  </a:lnTo>
                  <a:lnTo>
                    <a:pt x="49" y="261"/>
                  </a:lnTo>
                  <a:cubicBezTo>
                    <a:pt x="47" y="236"/>
                    <a:pt x="45" y="213"/>
                    <a:pt x="45" y="191"/>
                  </a:cubicBezTo>
                  <a:cubicBezTo>
                    <a:pt x="45" y="108"/>
                    <a:pt x="62" y="52"/>
                    <a:pt x="80" y="15"/>
                  </a:cubicBezTo>
                  <a:lnTo>
                    <a:pt x="5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5" name="Freeform 1108">
              <a:extLst>
                <a:ext uri="{FF2B5EF4-FFF2-40B4-BE49-F238E27FC236}">
                  <a16:creationId xmlns:a16="http://schemas.microsoft.com/office/drawing/2014/main" id="{0055B111-D709-099D-A5DB-09D0A13F2E39}"/>
                </a:ext>
              </a:extLst>
            </p:cNvPr>
            <p:cNvSpPr>
              <a:spLocks/>
            </p:cNvSpPr>
            <p:nvPr/>
          </p:nvSpPr>
          <p:spPr bwMode="auto">
            <a:xfrm>
              <a:off x="3656013" y="3462338"/>
              <a:ext cx="11113" cy="23813"/>
            </a:xfrm>
            <a:custGeom>
              <a:avLst/>
              <a:gdLst>
                <a:gd name="T0" fmla="*/ 39 w 57"/>
                <a:gd name="T1" fmla="*/ 0 h 113"/>
                <a:gd name="T2" fmla="*/ 20 w 57"/>
                <a:gd name="T3" fmla="*/ 18 h 113"/>
                <a:gd name="T4" fmla="*/ 0 w 57"/>
                <a:gd name="T5" fmla="*/ 70 h 113"/>
                <a:gd name="T6" fmla="*/ 12 w 57"/>
                <a:gd name="T7" fmla="*/ 113 h 113"/>
                <a:gd name="T8" fmla="*/ 41 w 57"/>
                <a:gd name="T9" fmla="*/ 97 h 113"/>
                <a:gd name="T10" fmla="*/ 34 w 57"/>
                <a:gd name="T11" fmla="*/ 70 h 113"/>
                <a:gd name="T12" fmla="*/ 46 w 57"/>
                <a:gd name="T13" fmla="*/ 39 h 113"/>
                <a:gd name="T14" fmla="*/ 54 w 57"/>
                <a:gd name="T15" fmla="*/ 31 h 113"/>
                <a:gd name="T16" fmla="*/ 57 w 57"/>
                <a:gd name="T17" fmla="*/ 29 h 113"/>
                <a:gd name="T18" fmla="*/ 57 w 57"/>
                <a:gd name="T19" fmla="*/ 28 h 113"/>
                <a:gd name="T20" fmla="*/ 57 w 57"/>
                <a:gd name="T21" fmla="*/ 28 h 113"/>
                <a:gd name="T22" fmla="*/ 57 w 57"/>
                <a:gd name="T23" fmla="*/ 28 h 113"/>
                <a:gd name="T24" fmla="*/ 57 w 57"/>
                <a:gd name="T25" fmla="*/ 28 h 113"/>
                <a:gd name="T26" fmla="*/ 57 w 57"/>
                <a:gd name="T27" fmla="*/ 28 h 113"/>
                <a:gd name="T28" fmla="*/ 57 w 57"/>
                <a:gd name="T29" fmla="*/ 28 h 113"/>
                <a:gd name="T30" fmla="*/ 39 w 57"/>
                <a:gd name="T31"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 h="113">
                  <a:moveTo>
                    <a:pt x="39" y="0"/>
                  </a:moveTo>
                  <a:cubicBezTo>
                    <a:pt x="38" y="1"/>
                    <a:pt x="29" y="7"/>
                    <a:pt x="20" y="18"/>
                  </a:cubicBezTo>
                  <a:cubicBezTo>
                    <a:pt x="10" y="29"/>
                    <a:pt x="0" y="47"/>
                    <a:pt x="0" y="70"/>
                  </a:cubicBezTo>
                  <a:cubicBezTo>
                    <a:pt x="0" y="83"/>
                    <a:pt x="4" y="98"/>
                    <a:pt x="12" y="113"/>
                  </a:cubicBezTo>
                  <a:lnTo>
                    <a:pt x="41" y="97"/>
                  </a:lnTo>
                  <a:cubicBezTo>
                    <a:pt x="36" y="86"/>
                    <a:pt x="34" y="78"/>
                    <a:pt x="34" y="70"/>
                  </a:cubicBezTo>
                  <a:cubicBezTo>
                    <a:pt x="34" y="57"/>
                    <a:pt x="39" y="47"/>
                    <a:pt x="46" y="39"/>
                  </a:cubicBezTo>
                  <a:cubicBezTo>
                    <a:pt x="49" y="36"/>
                    <a:pt x="52" y="33"/>
                    <a:pt x="54" y="31"/>
                  </a:cubicBezTo>
                  <a:lnTo>
                    <a:pt x="57" y="29"/>
                  </a:lnTo>
                  <a:lnTo>
                    <a:pt x="57" y="28"/>
                  </a:lnTo>
                  <a:lnTo>
                    <a:pt x="57" y="28"/>
                  </a:lnTo>
                  <a:lnTo>
                    <a:pt x="57" y="28"/>
                  </a:lnTo>
                  <a:lnTo>
                    <a:pt x="57" y="28"/>
                  </a:lnTo>
                  <a:lnTo>
                    <a:pt x="57" y="28"/>
                  </a:lnTo>
                  <a:lnTo>
                    <a:pt x="57" y="28"/>
                  </a:lnTo>
                  <a:lnTo>
                    <a:pt x="39"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6" name="Freeform 1109">
              <a:extLst>
                <a:ext uri="{FF2B5EF4-FFF2-40B4-BE49-F238E27FC236}">
                  <a16:creationId xmlns:a16="http://schemas.microsoft.com/office/drawing/2014/main" id="{77867C94-7AA3-5CF3-A37C-B19DD860A2A7}"/>
                </a:ext>
              </a:extLst>
            </p:cNvPr>
            <p:cNvSpPr>
              <a:spLocks/>
            </p:cNvSpPr>
            <p:nvPr/>
          </p:nvSpPr>
          <p:spPr bwMode="auto">
            <a:xfrm>
              <a:off x="3654426" y="3497263"/>
              <a:ext cx="42863" cy="12700"/>
            </a:xfrm>
            <a:custGeom>
              <a:avLst/>
              <a:gdLst>
                <a:gd name="T0" fmla="*/ 0 w 208"/>
                <a:gd name="T1" fmla="*/ 29 h 56"/>
                <a:gd name="T2" fmla="*/ 108 w 208"/>
                <a:gd name="T3" fmla="*/ 56 h 56"/>
                <a:gd name="T4" fmla="*/ 208 w 208"/>
                <a:gd name="T5" fmla="*/ 29 h 56"/>
                <a:gd name="T6" fmla="*/ 191 w 208"/>
                <a:gd name="T7" fmla="*/ 0 h 56"/>
                <a:gd name="T8" fmla="*/ 108 w 208"/>
                <a:gd name="T9" fmla="*/ 23 h 56"/>
                <a:gd name="T10" fmla="*/ 42 w 208"/>
                <a:gd name="T11" fmla="*/ 12 h 56"/>
                <a:gd name="T12" fmla="*/ 23 w 208"/>
                <a:gd name="T13" fmla="*/ 4 h 56"/>
                <a:gd name="T14" fmla="*/ 18 w 208"/>
                <a:gd name="T15" fmla="*/ 1 h 56"/>
                <a:gd name="T16" fmla="*/ 17 w 208"/>
                <a:gd name="T17" fmla="*/ 1 h 56"/>
                <a:gd name="T18" fmla="*/ 16 w 208"/>
                <a:gd name="T19" fmla="*/ 0 h 56"/>
                <a:gd name="T20" fmla="*/ 15 w 208"/>
                <a:gd name="T21" fmla="*/ 2 h 56"/>
                <a:gd name="T22" fmla="*/ 16 w 208"/>
                <a:gd name="T23" fmla="*/ 0 h 56"/>
                <a:gd name="T24" fmla="*/ 16 w 208"/>
                <a:gd name="T25" fmla="*/ 0 h 56"/>
                <a:gd name="T26" fmla="*/ 15 w 208"/>
                <a:gd name="T27" fmla="*/ 2 h 56"/>
                <a:gd name="T28" fmla="*/ 16 w 208"/>
                <a:gd name="T29" fmla="*/ 0 h 56"/>
                <a:gd name="T30" fmla="*/ 0 w 208"/>
                <a:gd name="T31" fmla="*/ 29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8" h="56">
                  <a:moveTo>
                    <a:pt x="0" y="29"/>
                  </a:moveTo>
                  <a:cubicBezTo>
                    <a:pt x="1" y="30"/>
                    <a:pt x="46" y="56"/>
                    <a:pt x="108" y="56"/>
                  </a:cubicBezTo>
                  <a:cubicBezTo>
                    <a:pt x="138" y="56"/>
                    <a:pt x="173" y="49"/>
                    <a:pt x="208" y="29"/>
                  </a:cubicBezTo>
                  <a:lnTo>
                    <a:pt x="191" y="0"/>
                  </a:lnTo>
                  <a:cubicBezTo>
                    <a:pt x="162" y="17"/>
                    <a:pt x="133" y="23"/>
                    <a:pt x="108" y="23"/>
                  </a:cubicBezTo>
                  <a:cubicBezTo>
                    <a:pt x="82" y="23"/>
                    <a:pt x="58" y="17"/>
                    <a:pt x="42" y="12"/>
                  </a:cubicBezTo>
                  <a:cubicBezTo>
                    <a:pt x="34" y="9"/>
                    <a:pt x="27" y="6"/>
                    <a:pt x="23" y="4"/>
                  </a:cubicBezTo>
                  <a:cubicBezTo>
                    <a:pt x="21" y="3"/>
                    <a:pt x="19" y="2"/>
                    <a:pt x="18" y="1"/>
                  </a:cubicBezTo>
                  <a:lnTo>
                    <a:pt x="17" y="1"/>
                  </a:lnTo>
                  <a:lnTo>
                    <a:pt x="16" y="0"/>
                  </a:lnTo>
                  <a:lnTo>
                    <a:pt x="15" y="2"/>
                  </a:lnTo>
                  <a:lnTo>
                    <a:pt x="16" y="0"/>
                  </a:lnTo>
                  <a:lnTo>
                    <a:pt x="16" y="0"/>
                  </a:lnTo>
                  <a:lnTo>
                    <a:pt x="15" y="2"/>
                  </a:lnTo>
                  <a:lnTo>
                    <a:pt x="16" y="0"/>
                  </a:lnTo>
                  <a:lnTo>
                    <a:pt x="0" y="2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7" name="Rectangle 1110">
              <a:extLst>
                <a:ext uri="{FF2B5EF4-FFF2-40B4-BE49-F238E27FC236}">
                  <a16:creationId xmlns:a16="http://schemas.microsoft.com/office/drawing/2014/main" id="{00E12FAF-88B5-A6E2-32EF-C34D55EF1E4E}"/>
                </a:ext>
              </a:extLst>
            </p:cNvPr>
            <p:cNvSpPr>
              <a:spLocks noChangeArrowheads="1"/>
            </p:cNvSpPr>
            <p:nvPr/>
          </p:nvSpPr>
          <p:spPr bwMode="auto">
            <a:xfrm>
              <a:off x="3684588"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8" name="Rectangle 1111">
              <a:extLst>
                <a:ext uri="{FF2B5EF4-FFF2-40B4-BE49-F238E27FC236}">
                  <a16:creationId xmlns:a16="http://schemas.microsoft.com/office/drawing/2014/main" id="{56AAB07B-C0DC-B262-7A6D-E147DEB69B8E}"/>
                </a:ext>
              </a:extLst>
            </p:cNvPr>
            <p:cNvSpPr>
              <a:spLocks noChangeArrowheads="1"/>
            </p:cNvSpPr>
            <p:nvPr/>
          </p:nvSpPr>
          <p:spPr bwMode="auto">
            <a:xfrm>
              <a:off x="3636963"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9" name="Rectangle 1112">
              <a:extLst>
                <a:ext uri="{FF2B5EF4-FFF2-40B4-BE49-F238E27FC236}">
                  <a16:creationId xmlns:a16="http://schemas.microsoft.com/office/drawing/2014/main" id="{A8349328-1592-E92D-0AE7-7E8536C9C870}"/>
                </a:ext>
              </a:extLst>
            </p:cNvPr>
            <p:cNvSpPr>
              <a:spLocks noChangeArrowheads="1"/>
            </p:cNvSpPr>
            <p:nvPr/>
          </p:nvSpPr>
          <p:spPr bwMode="auto">
            <a:xfrm>
              <a:off x="3713163" y="3433763"/>
              <a:ext cx="34925"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0" name="Rectangle 1113">
              <a:extLst>
                <a:ext uri="{FF2B5EF4-FFF2-40B4-BE49-F238E27FC236}">
                  <a16:creationId xmlns:a16="http://schemas.microsoft.com/office/drawing/2014/main" id="{7BDAE77A-EB7E-21C7-A020-607DF5A412AF}"/>
                </a:ext>
              </a:extLst>
            </p:cNvPr>
            <p:cNvSpPr>
              <a:spLocks noChangeArrowheads="1"/>
            </p:cNvSpPr>
            <p:nvPr/>
          </p:nvSpPr>
          <p:spPr bwMode="auto">
            <a:xfrm>
              <a:off x="3662363" y="3433763"/>
              <a:ext cx="1270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1" name="Rectangle 1114">
              <a:extLst>
                <a:ext uri="{FF2B5EF4-FFF2-40B4-BE49-F238E27FC236}">
                  <a16:creationId xmlns:a16="http://schemas.microsoft.com/office/drawing/2014/main" id="{11930CF2-AB85-D9AD-B5F0-CF86ECAE8FF6}"/>
                </a:ext>
              </a:extLst>
            </p:cNvPr>
            <p:cNvSpPr>
              <a:spLocks noChangeArrowheads="1"/>
            </p:cNvSpPr>
            <p:nvPr/>
          </p:nvSpPr>
          <p:spPr bwMode="auto">
            <a:xfrm>
              <a:off x="3657601" y="3400425"/>
              <a:ext cx="36513"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2" name="Freeform 1115">
              <a:extLst>
                <a:ext uri="{FF2B5EF4-FFF2-40B4-BE49-F238E27FC236}">
                  <a16:creationId xmlns:a16="http://schemas.microsoft.com/office/drawing/2014/main" id="{50434A05-9692-0FE4-D024-CB903C5E4352}"/>
                </a:ext>
              </a:extLst>
            </p:cNvPr>
            <p:cNvSpPr>
              <a:spLocks/>
            </p:cNvSpPr>
            <p:nvPr/>
          </p:nvSpPr>
          <p:spPr bwMode="auto">
            <a:xfrm>
              <a:off x="3638551" y="3548063"/>
              <a:ext cx="66675" cy="53975"/>
            </a:xfrm>
            <a:custGeom>
              <a:avLst/>
              <a:gdLst>
                <a:gd name="T0" fmla="*/ 3 w 42"/>
                <a:gd name="T1" fmla="*/ 16 h 34"/>
                <a:gd name="T2" fmla="*/ 2 w 42"/>
                <a:gd name="T3" fmla="*/ 18 h 34"/>
                <a:gd name="T4" fmla="*/ 26 w 42"/>
                <a:gd name="T5" fmla="*/ 34 h 34"/>
                <a:gd name="T6" fmla="*/ 42 w 42"/>
                <a:gd name="T7" fmla="*/ 12 h 34"/>
                <a:gd name="T8" fmla="*/ 13 w 42"/>
                <a:gd name="T9" fmla="*/ 0 h 34"/>
                <a:gd name="T10" fmla="*/ 0 w 42"/>
                <a:gd name="T11" fmla="*/ 17 h 34"/>
                <a:gd name="T12" fmla="*/ 2 w 42"/>
                <a:gd name="T13" fmla="*/ 18 h 34"/>
                <a:gd name="T14" fmla="*/ 3 w 42"/>
                <a:gd name="T15" fmla="*/ 16 h 34"/>
                <a:gd name="T16" fmla="*/ 5 w 42"/>
                <a:gd name="T17" fmla="*/ 17 h 34"/>
                <a:gd name="T18" fmla="*/ 14 w 42"/>
                <a:gd name="T19" fmla="*/ 5 h 34"/>
                <a:gd name="T20" fmla="*/ 35 w 42"/>
                <a:gd name="T21" fmla="*/ 14 h 34"/>
                <a:gd name="T22" fmla="*/ 25 w 42"/>
                <a:gd name="T23" fmla="*/ 28 h 34"/>
                <a:gd name="T24" fmla="*/ 4 w 42"/>
                <a:gd name="T25" fmla="*/ 14 h 34"/>
                <a:gd name="T26" fmla="*/ 3 w 42"/>
                <a:gd name="T27" fmla="*/ 16 h 34"/>
                <a:gd name="T28" fmla="*/ 5 w 42"/>
                <a:gd name="T29" fmla="*/ 17 h 34"/>
                <a:gd name="T30" fmla="*/ 3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 y="16"/>
                  </a:moveTo>
                  <a:lnTo>
                    <a:pt x="2" y="18"/>
                  </a:lnTo>
                  <a:lnTo>
                    <a:pt x="26" y="34"/>
                  </a:lnTo>
                  <a:lnTo>
                    <a:pt x="42" y="12"/>
                  </a:lnTo>
                  <a:lnTo>
                    <a:pt x="13" y="0"/>
                  </a:lnTo>
                  <a:lnTo>
                    <a:pt x="0" y="17"/>
                  </a:lnTo>
                  <a:lnTo>
                    <a:pt x="2" y="18"/>
                  </a:lnTo>
                  <a:lnTo>
                    <a:pt x="3" y="16"/>
                  </a:lnTo>
                  <a:lnTo>
                    <a:pt x="5" y="17"/>
                  </a:lnTo>
                  <a:lnTo>
                    <a:pt x="14" y="5"/>
                  </a:lnTo>
                  <a:lnTo>
                    <a:pt x="35" y="14"/>
                  </a:lnTo>
                  <a:lnTo>
                    <a:pt x="25" y="28"/>
                  </a:lnTo>
                  <a:lnTo>
                    <a:pt x="4" y="14"/>
                  </a:lnTo>
                  <a:lnTo>
                    <a:pt x="3" y="16"/>
                  </a:lnTo>
                  <a:lnTo>
                    <a:pt x="5" y="17"/>
                  </a:lnTo>
                  <a:lnTo>
                    <a:pt x="3"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3" name="Freeform 1116">
              <a:extLst>
                <a:ext uri="{FF2B5EF4-FFF2-40B4-BE49-F238E27FC236}">
                  <a16:creationId xmlns:a16="http://schemas.microsoft.com/office/drawing/2014/main" id="{11B800D1-4513-851B-70BD-9C29B6BA7345}"/>
                </a:ext>
              </a:extLst>
            </p:cNvPr>
            <p:cNvSpPr>
              <a:spLocks/>
            </p:cNvSpPr>
            <p:nvPr/>
          </p:nvSpPr>
          <p:spPr bwMode="auto">
            <a:xfrm>
              <a:off x="3694113" y="3548063"/>
              <a:ext cx="66675" cy="53975"/>
            </a:xfrm>
            <a:custGeom>
              <a:avLst/>
              <a:gdLst>
                <a:gd name="T0" fmla="*/ 39 w 42"/>
                <a:gd name="T1" fmla="*/ 16 h 34"/>
                <a:gd name="T2" fmla="*/ 38 w 42"/>
                <a:gd name="T3" fmla="*/ 14 h 34"/>
                <a:gd name="T4" fmla="*/ 17 w 42"/>
                <a:gd name="T5" fmla="*/ 28 h 34"/>
                <a:gd name="T6" fmla="*/ 7 w 42"/>
                <a:gd name="T7" fmla="*/ 14 h 34"/>
                <a:gd name="T8" fmla="*/ 28 w 42"/>
                <a:gd name="T9" fmla="*/ 5 h 34"/>
                <a:gd name="T10" fmla="*/ 38 w 42"/>
                <a:gd name="T11" fmla="*/ 17 h 34"/>
                <a:gd name="T12" fmla="*/ 39 w 42"/>
                <a:gd name="T13" fmla="*/ 16 h 34"/>
                <a:gd name="T14" fmla="*/ 38 w 42"/>
                <a:gd name="T15" fmla="*/ 14 h 34"/>
                <a:gd name="T16" fmla="*/ 39 w 42"/>
                <a:gd name="T17" fmla="*/ 16 h 34"/>
                <a:gd name="T18" fmla="*/ 41 w 42"/>
                <a:gd name="T19" fmla="*/ 15 h 34"/>
                <a:gd name="T20" fmla="*/ 30 w 42"/>
                <a:gd name="T21" fmla="*/ 0 h 34"/>
                <a:gd name="T22" fmla="*/ 0 w 42"/>
                <a:gd name="T23" fmla="*/ 12 h 34"/>
                <a:gd name="T24" fmla="*/ 16 w 42"/>
                <a:gd name="T25" fmla="*/ 34 h 34"/>
                <a:gd name="T26" fmla="*/ 42 w 42"/>
                <a:gd name="T27" fmla="*/ 17 h 34"/>
                <a:gd name="T28" fmla="*/ 41 w 42"/>
                <a:gd name="T29" fmla="*/ 15 h 34"/>
                <a:gd name="T30" fmla="*/ 39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9" y="16"/>
                  </a:moveTo>
                  <a:lnTo>
                    <a:pt x="38" y="14"/>
                  </a:lnTo>
                  <a:lnTo>
                    <a:pt x="17" y="28"/>
                  </a:lnTo>
                  <a:lnTo>
                    <a:pt x="7" y="14"/>
                  </a:lnTo>
                  <a:lnTo>
                    <a:pt x="28" y="5"/>
                  </a:lnTo>
                  <a:lnTo>
                    <a:pt x="38" y="17"/>
                  </a:lnTo>
                  <a:lnTo>
                    <a:pt x="39" y="16"/>
                  </a:lnTo>
                  <a:lnTo>
                    <a:pt x="38" y="14"/>
                  </a:lnTo>
                  <a:lnTo>
                    <a:pt x="39" y="16"/>
                  </a:lnTo>
                  <a:lnTo>
                    <a:pt x="41" y="15"/>
                  </a:lnTo>
                  <a:lnTo>
                    <a:pt x="30" y="0"/>
                  </a:lnTo>
                  <a:lnTo>
                    <a:pt x="0" y="12"/>
                  </a:lnTo>
                  <a:lnTo>
                    <a:pt x="16" y="34"/>
                  </a:lnTo>
                  <a:lnTo>
                    <a:pt x="42" y="17"/>
                  </a:lnTo>
                  <a:lnTo>
                    <a:pt x="41" y="15"/>
                  </a:lnTo>
                  <a:lnTo>
                    <a:pt x="39"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4" name="Freeform 1117">
              <a:extLst>
                <a:ext uri="{FF2B5EF4-FFF2-40B4-BE49-F238E27FC236}">
                  <a16:creationId xmlns:a16="http://schemas.microsoft.com/office/drawing/2014/main" id="{0EDBD26E-1FD0-15A5-6406-9AC95F922B4D}"/>
                </a:ext>
              </a:extLst>
            </p:cNvPr>
            <p:cNvSpPr>
              <a:spLocks/>
            </p:cNvSpPr>
            <p:nvPr/>
          </p:nvSpPr>
          <p:spPr bwMode="auto">
            <a:xfrm>
              <a:off x="3683001" y="3587750"/>
              <a:ext cx="31750" cy="15875"/>
            </a:xfrm>
            <a:custGeom>
              <a:avLst/>
              <a:gdLst>
                <a:gd name="T0" fmla="*/ 0 w 20"/>
                <a:gd name="T1" fmla="*/ 3 h 10"/>
                <a:gd name="T2" fmla="*/ 11 w 20"/>
                <a:gd name="T3" fmla="*/ 10 h 10"/>
                <a:gd name="T4" fmla="*/ 20 w 20"/>
                <a:gd name="T5" fmla="*/ 3 h 10"/>
                <a:gd name="T6" fmla="*/ 18 w 20"/>
                <a:gd name="T7" fmla="*/ 0 h 10"/>
                <a:gd name="T8" fmla="*/ 11 w 20"/>
                <a:gd name="T9" fmla="*/ 5 h 10"/>
                <a:gd name="T10" fmla="*/ 2 w 20"/>
                <a:gd name="T11" fmla="*/ 0 h 10"/>
                <a:gd name="T12" fmla="*/ 0 w 20"/>
                <a:gd name="T13" fmla="*/ 3 h 10"/>
              </a:gdLst>
              <a:ahLst/>
              <a:cxnLst>
                <a:cxn ang="0">
                  <a:pos x="T0" y="T1"/>
                </a:cxn>
                <a:cxn ang="0">
                  <a:pos x="T2" y="T3"/>
                </a:cxn>
                <a:cxn ang="0">
                  <a:pos x="T4" y="T5"/>
                </a:cxn>
                <a:cxn ang="0">
                  <a:pos x="T6" y="T7"/>
                </a:cxn>
                <a:cxn ang="0">
                  <a:pos x="T8" y="T9"/>
                </a:cxn>
                <a:cxn ang="0">
                  <a:pos x="T10" y="T11"/>
                </a:cxn>
                <a:cxn ang="0">
                  <a:pos x="T12" y="T13"/>
                </a:cxn>
              </a:cxnLst>
              <a:rect l="0" t="0" r="r" b="b"/>
              <a:pathLst>
                <a:path w="20" h="10">
                  <a:moveTo>
                    <a:pt x="0" y="3"/>
                  </a:moveTo>
                  <a:lnTo>
                    <a:pt x="11" y="10"/>
                  </a:lnTo>
                  <a:lnTo>
                    <a:pt x="20" y="3"/>
                  </a:lnTo>
                  <a:lnTo>
                    <a:pt x="18" y="0"/>
                  </a:lnTo>
                  <a:lnTo>
                    <a:pt x="11" y="5"/>
                  </a:lnTo>
                  <a:lnTo>
                    <a:pt x="2" y="0"/>
                  </a:lnTo>
                  <a:lnTo>
                    <a:pt x="0" y="3"/>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5" name="Freeform 1118">
              <a:extLst>
                <a:ext uri="{FF2B5EF4-FFF2-40B4-BE49-F238E27FC236}">
                  <a16:creationId xmlns:a16="http://schemas.microsoft.com/office/drawing/2014/main" id="{F9EC5514-CA4B-4EF1-A0E7-3A969D1FD142}"/>
                </a:ext>
              </a:extLst>
            </p:cNvPr>
            <p:cNvSpPr>
              <a:spLocks/>
            </p:cNvSpPr>
            <p:nvPr/>
          </p:nvSpPr>
          <p:spPr bwMode="auto">
            <a:xfrm>
              <a:off x="3675063" y="3590925"/>
              <a:ext cx="17463" cy="46038"/>
            </a:xfrm>
            <a:custGeom>
              <a:avLst/>
              <a:gdLst>
                <a:gd name="T0" fmla="*/ 51 w 84"/>
                <a:gd name="T1" fmla="*/ 0 h 227"/>
                <a:gd name="T2" fmla="*/ 0 w 84"/>
                <a:gd name="T3" fmla="*/ 219 h 227"/>
                <a:gd name="T4" fmla="*/ 33 w 84"/>
                <a:gd name="T5" fmla="*/ 227 h 227"/>
                <a:gd name="T6" fmla="*/ 84 w 84"/>
                <a:gd name="T7" fmla="*/ 7 h 227"/>
              </a:gdLst>
              <a:ahLst/>
              <a:cxnLst>
                <a:cxn ang="0">
                  <a:pos x="T0" y="T1"/>
                </a:cxn>
                <a:cxn ang="0">
                  <a:pos x="T2" y="T3"/>
                </a:cxn>
                <a:cxn ang="0">
                  <a:pos x="T4" y="T5"/>
                </a:cxn>
                <a:cxn ang="0">
                  <a:pos x="T6" y="T7"/>
                </a:cxn>
              </a:cxnLst>
              <a:rect l="0" t="0" r="r" b="b"/>
              <a:pathLst>
                <a:path w="84" h="227">
                  <a:moveTo>
                    <a:pt x="51" y="0"/>
                  </a:moveTo>
                  <a:lnTo>
                    <a:pt x="0" y="219"/>
                  </a:lnTo>
                  <a:lnTo>
                    <a:pt x="33" y="227"/>
                  </a:lnTo>
                  <a:lnTo>
                    <a:pt x="84" y="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6" name="Freeform 1119">
              <a:extLst>
                <a:ext uri="{FF2B5EF4-FFF2-40B4-BE49-F238E27FC236}">
                  <a16:creationId xmlns:a16="http://schemas.microsoft.com/office/drawing/2014/main" id="{162D89FE-BFC3-D541-8BB6-32DC04DE601A}"/>
                </a:ext>
              </a:extLst>
            </p:cNvPr>
            <p:cNvSpPr>
              <a:spLocks/>
            </p:cNvSpPr>
            <p:nvPr/>
          </p:nvSpPr>
          <p:spPr bwMode="auto">
            <a:xfrm>
              <a:off x="3708401" y="3590925"/>
              <a:ext cx="17463" cy="46038"/>
            </a:xfrm>
            <a:custGeom>
              <a:avLst/>
              <a:gdLst>
                <a:gd name="T0" fmla="*/ 0 w 83"/>
                <a:gd name="T1" fmla="*/ 7 h 227"/>
                <a:gd name="T2" fmla="*/ 51 w 83"/>
                <a:gd name="T3" fmla="*/ 227 h 227"/>
                <a:gd name="T4" fmla="*/ 83 w 83"/>
                <a:gd name="T5" fmla="*/ 219 h 227"/>
                <a:gd name="T6" fmla="*/ 33 w 83"/>
                <a:gd name="T7" fmla="*/ 0 h 227"/>
              </a:gdLst>
              <a:ahLst/>
              <a:cxnLst>
                <a:cxn ang="0">
                  <a:pos x="T0" y="T1"/>
                </a:cxn>
                <a:cxn ang="0">
                  <a:pos x="T2" y="T3"/>
                </a:cxn>
                <a:cxn ang="0">
                  <a:pos x="T4" y="T5"/>
                </a:cxn>
                <a:cxn ang="0">
                  <a:pos x="T6" y="T7"/>
                </a:cxn>
              </a:cxnLst>
              <a:rect l="0" t="0" r="r" b="b"/>
              <a:pathLst>
                <a:path w="83" h="227">
                  <a:moveTo>
                    <a:pt x="0" y="7"/>
                  </a:moveTo>
                  <a:lnTo>
                    <a:pt x="51" y="227"/>
                  </a:lnTo>
                  <a:lnTo>
                    <a:pt x="83" y="219"/>
                  </a:lnTo>
                  <a:lnTo>
                    <a:pt x="33"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77" name="Teacher7" descr="{&quot;Key&quot;:&quot;POWER_USER_SHAPE_ICON&quot;,&quot;Value&quot;:&quot;POWER_USER_SHAPE_ICON_STYLE_1&quot;}">
            <a:extLst>
              <a:ext uri="{FF2B5EF4-FFF2-40B4-BE49-F238E27FC236}">
                <a16:creationId xmlns:a16="http://schemas.microsoft.com/office/drawing/2014/main" id="{D83A145F-3460-D19C-BE68-F5152BCB8C85}"/>
              </a:ext>
            </a:extLst>
          </p:cNvPr>
          <p:cNvGrpSpPr>
            <a:grpSpLocks noChangeAspect="1"/>
          </p:cNvGrpSpPr>
          <p:nvPr/>
        </p:nvGrpSpPr>
        <p:grpSpPr>
          <a:xfrm>
            <a:off x="7472657" y="5022167"/>
            <a:ext cx="332705" cy="311779"/>
            <a:chOff x="6302376" y="1846263"/>
            <a:chExt cx="479425" cy="479425"/>
          </a:xfrm>
          <a:solidFill>
            <a:schemeClr val="accent1"/>
          </a:solidFill>
        </p:grpSpPr>
        <p:sp>
          <p:nvSpPr>
            <p:cNvPr id="478" name="Rectangle 495">
              <a:extLst>
                <a:ext uri="{FF2B5EF4-FFF2-40B4-BE49-F238E27FC236}">
                  <a16:creationId xmlns:a16="http://schemas.microsoft.com/office/drawing/2014/main" id="{22012B9E-7BAD-60A9-6AA2-DF08D7A41E7E}"/>
                </a:ext>
              </a:extLst>
            </p:cNvPr>
            <p:cNvSpPr>
              <a:spLocks noChangeArrowheads="1"/>
            </p:cNvSpPr>
            <p:nvPr/>
          </p:nvSpPr>
          <p:spPr bwMode="auto">
            <a:xfrm>
              <a:off x="6586539" y="2144713"/>
              <a:ext cx="12700" cy="34925"/>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9" name="Freeform 496">
              <a:extLst>
                <a:ext uri="{FF2B5EF4-FFF2-40B4-BE49-F238E27FC236}">
                  <a16:creationId xmlns:a16="http://schemas.microsoft.com/office/drawing/2014/main" id="{A0B378B5-2E15-D657-7877-C8FD761E79A4}"/>
                </a:ext>
              </a:extLst>
            </p:cNvPr>
            <p:cNvSpPr>
              <a:spLocks/>
            </p:cNvSpPr>
            <p:nvPr/>
          </p:nvSpPr>
          <p:spPr bwMode="auto">
            <a:xfrm>
              <a:off x="6623051" y="2206626"/>
              <a:ext cx="158750" cy="117475"/>
            </a:xfrm>
            <a:custGeom>
              <a:avLst/>
              <a:gdLst>
                <a:gd name="T0" fmla="*/ 196 w 196"/>
                <a:gd name="T1" fmla="*/ 146 h 146"/>
                <a:gd name="T2" fmla="*/ 180 w 196"/>
                <a:gd name="T3" fmla="*/ 146 h 146"/>
                <a:gd name="T4" fmla="*/ 106 w 196"/>
                <a:gd name="T5" fmla="*/ 48 h 146"/>
                <a:gd name="T6" fmla="*/ 0 w 196"/>
                <a:gd name="T7" fmla="*/ 15 h 146"/>
                <a:gd name="T8" fmla="*/ 5 w 196"/>
                <a:gd name="T9" fmla="*/ 0 h 146"/>
                <a:gd name="T10" fmla="*/ 111 w 196"/>
                <a:gd name="T11" fmla="*/ 32 h 146"/>
                <a:gd name="T12" fmla="*/ 19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96" y="146"/>
                  </a:moveTo>
                  <a:lnTo>
                    <a:pt x="180" y="146"/>
                  </a:lnTo>
                  <a:cubicBezTo>
                    <a:pt x="180" y="101"/>
                    <a:pt x="150" y="61"/>
                    <a:pt x="106" y="48"/>
                  </a:cubicBezTo>
                  <a:lnTo>
                    <a:pt x="0" y="15"/>
                  </a:lnTo>
                  <a:lnTo>
                    <a:pt x="5" y="0"/>
                  </a:lnTo>
                  <a:lnTo>
                    <a:pt x="111" y="32"/>
                  </a:lnTo>
                  <a:cubicBezTo>
                    <a:pt x="162" y="47"/>
                    <a:pt x="196" y="93"/>
                    <a:pt x="19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0" name="Rectangle 497">
              <a:extLst>
                <a:ext uri="{FF2B5EF4-FFF2-40B4-BE49-F238E27FC236}">
                  <a16:creationId xmlns:a16="http://schemas.microsoft.com/office/drawing/2014/main" id="{994A182E-EE08-C9EB-28A0-9FF1E8C94B7F}"/>
                </a:ext>
              </a:extLst>
            </p:cNvPr>
            <p:cNvSpPr>
              <a:spLocks noChangeArrowheads="1"/>
            </p:cNvSpPr>
            <p:nvPr/>
          </p:nvSpPr>
          <p:spPr bwMode="auto">
            <a:xfrm>
              <a:off x="6483351" y="2144713"/>
              <a:ext cx="12700" cy="39688"/>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1" name="Freeform 498">
              <a:extLst>
                <a:ext uri="{FF2B5EF4-FFF2-40B4-BE49-F238E27FC236}">
                  <a16:creationId xmlns:a16="http://schemas.microsoft.com/office/drawing/2014/main" id="{4CCA37A6-E1E9-C4ED-0A05-85B66CB623BE}"/>
                </a:ext>
              </a:extLst>
            </p:cNvPr>
            <p:cNvSpPr>
              <a:spLocks/>
            </p:cNvSpPr>
            <p:nvPr/>
          </p:nvSpPr>
          <p:spPr bwMode="auto">
            <a:xfrm>
              <a:off x="6302376" y="2206626"/>
              <a:ext cx="157163" cy="117475"/>
            </a:xfrm>
            <a:custGeom>
              <a:avLst/>
              <a:gdLst>
                <a:gd name="T0" fmla="*/ 16 w 196"/>
                <a:gd name="T1" fmla="*/ 146 h 146"/>
                <a:gd name="T2" fmla="*/ 0 w 196"/>
                <a:gd name="T3" fmla="*/ 146 h 146"/>
                <a:gd name="T4" fmla="*/ 85 w 196"/>
                <a:gd name="T5" fmla="*/ 32 h 146"/>
                <a:gd name="T6" fmla="*/ 191 w 196"/>
                <a:gd name="T7" fmla="*/ 0 h 146"/>
                <a:gd name="T8" fmla="*/ 196 w 196"/>
                <a:gd name="T9" fmla="*/ 15 h 146"/>
                <a:gd name="T10" fmla="*/ 90 w 196"/>
                <a:gd name="T11" fmla="*/ 48 h 146"/>
                <a:gd name="T12" fmla="*/ 1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6" y="146"/>
                  </a:moveTo>
                  <a:lnTo>
                    <a:pt x="0" y="146"/>
                  </a:lnTo>
                  <a:cubicBezTo>
                    <a:pt x="0" y="93"/>
                    <a:pt x="34" y="47"/>
                    <a:pt x="85" y="32"/>
                  </a:cubicBezTo>
                  <a:lnTo>
                    <a:pt x="191" y="0"/>
                  </a:lnTo>
                  <a:lnTo>
                    <a:pt x="196" y="15"/>
                  </a:lnTo>
                  <a:lnTo>
                    <a:pt x="90" y="48"/>
                  </a:lnTo>
                  <a:cubicBezTo>
                    <a:pt x="46" y="61"/>
                    <a:pt x="16" y="101"/>
                    <a:pt x="1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2" name="Freeform 499">
              <a:extLst>
                <a:ext uri="{FF2B5EF4-FFF2-40B4-BE49-F238E27FC236}">
                  <a16:creationId xmlns:a16="http://schemas.microsoft.com/office/drawing/2014/main" id="{E1BB327C-1504-CC5C-F0FF-5019A710D16D}"/>
                </a:ext>
              </a:extLst>
            </p:cNvPr>
            <p:cNvSpPr>
              <a:spLocks noEditPoints="1"/>
            </p:cNvSpPr>
            <p:nvPr/>
          </p:nvSpPr>
          <p:spPr bwMode="auto">
            <a:xfrm>
              <a:off x="6443664" y="1927226"/>
              <a:ext cx="195263" cy="250825"/>
            </a:xfrm>
            <a:custGeom>
              <a:avLst/>
              <a:gdLst>
                <a:gd name="T0" fmla="*/ 48 w 243"/>
                <a:gd name="T1" fmla="*/ 44 h 311"/>
                <a:gd name="T2" fmla="*/ 17 w 243"/>
                <a:gd name="T3" fmla="*/ 108 h 311"/>
                <a:gd name="T4" fmla="*/ 17 w 243"/>
                <a:gd name="T5" fmla="*/ 200 h 311"/>
                <a:gd name="T6" fmla="*/ 88 w 243"/>
                <a:gd name="T7" fmla="*/ 285 h 311"/>
                <a:gd name="T8" fmla="*/ 155 w 243"/>
                <a:gd name="T9" fmla="*/ 285 h 311"/>
                <a:gd name="T10" fmla="*/ 226 w 243"/>
                <a:gd name="T11" fmla="*/ 200 h 311"/>
                <a:gd name="T12" fmla="*/ 226 w 243"/>
                <a:gd name="T13" fmla="*/ 81 h 311"/>
                <a:gd name="T14" fmla="*/ 197 w 243"/>
                <a:gd name="T15" fmla="*/ 32 h 311"/>
                <a:gd name="T16" fmla="*/ 175 w 243"/>
                <a:gd name="T17" fmla="*/ 18 h 311"/>
                <a:gd name="T18" fmla="*/ 175 w 243"/>
                <a:gd name="T19" fmla="*/ 19 h 311"/>
                <a:gd name="T20" fmla="*/ 160 w 243"/>
                <a:gd name="T21" fmla="*/ 59 h 311"/>
                <a:gd name="T22" fmla="*/ 84 w 243"/>
                <a:gd name="T23" fmla="*/ 52 h 311"/>
                <a:gd name="T24" fmla="*/ 48 w 243"/>
                <a:gd name="T25" fmla="*/ 44 h 311"/>
                <a:gd name="T26" fmla="*/ 121 w 243"/>
                <a:gd name="T27" fmla="*/ 311 h 311"/>
                <a:gd name="T28" fmla="*/ 79 w 243"/>
                <a:gd name="T29" fmla="*/ 299 h 311"/>
                <a:gd name="T30" fmla="*/ 0 w 243"/>
                <a:gd name="T31" fmla="*/ 200 h 311"/>
                <a:gd name="T32" fmla="*/ 0 w 243"/>
                <a:gd name="T33" fmla="*/ 108 h 311"/>
                <a:gd name="T34" fmla="*/ 48 w 243"/>
                <a:gd name="T35" fmla="*/ 27 h 311"/>
                <a:gd name="T36" fmla="*/ 88 w 243"/>
                <a:gd name="T37" fmla="*/ 36 h 311"/>
                <a:gd name="T38" fmla="*/ 152 w 243"/>
                <a:gd name="T39" fmla="*/ 44 h 311"/>
                <a:gd name="T40" fmla="*/ 159 w 243"/>
                <a:gd name="T41" fmla="*/ 23 h 311"/>
                <a:gd name="T42" fmla="*/ 160 w 243"/>
                <a:gd name="T43" fmla="*/ 6 h 311"/>
                <a:gd name="T44" fmla="*/ 171 w 243"/>
                <a:gd name="T45" fmla="*/ 1 h 311"/>
                <a:gd name="T46" fmla="*/ 171 w 243"/>
                <a:gd name="T47" fmla="*/ 1 h 311"/>
                <a:gd name="T48" fmla="*/ 209 w 243"/>
                <a:gd name="T49" fmla="*/ 20 h 311"/>
                <a:gd name="T50" fmla="*/ 243 w 243"/>
                <a:gd name="T51" fmla="*/ 81 h 311"/>
                <a:gd name="T52" fmla="*/ 243 w 243"/>
                <a:gd name="T53" fmla="*/ 200 h 311"/>
                <a:gd name="T54" fmla="*/ 164 w 243"/>
                <a:gd name="T55" fmla="*/ 299 h 311"/>
                <a:gd name="T56" fmla="*/ 121 w 243"/>
                <a:gd name="T57" fmla="*/ 311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3" h="311">
                  <a:moveTo>
                    <a:pt x="48" y="44"/>
                  </a:moveTo>
                  <a:cubicBezTo>
                    <a:pt x="22" y="44"/>
                    <a:pt x="17" y="69"/>
                    <a:pt x="17" y="108"/>
                  </a:cubicBezTo>
                  <a:lnTo>
                    <a:pt x="17" y="200"/>
                  </a:lnTo>
                  <a:cubicBezTo>
                    <a:pt x="17" y="235"/>
                    <a:pt x="62" y="268"/>
                    <a:pt x="88" y="285"/>
                  </a:cubicBezTo>
                  <a:cubicBezTo>
                    <a:pt x="109" y="298"/>
                    <a:pt x="134" y="298"/>
                    <a:pt x="155" y="285"/>
                  </a:cubicBezTo>
                  <a:cubicBezTo>
                    <a:pt x="181" y="268"/>
                    <a:pt x="226" y="235"/>
                    <a:pt x="226" y="200"/>
                  </a:cubicBezTo>
                  <a:lnTo>
                    <a:pt x="226" y="81"/>
                  </a:lnTo>
                  <a:cubicBezTo>
                    <a:pt x="226" y="70"/>
                    <a:pt x="213" y="47"/>
                    <a:pt x="197" y="32"/>
                  </a:cubicBezTo>
                  <a:cubicBezTo>
                    <a:pt x="188" y="23"/>
                    <a:pt x="180" y="19"/>
                    <a:pt x="175" y="18"/>
                  </a:cubicBezTo>
                  <a:cubicBezTo>
                    <a:pt x="175" y="18"/>
                    <a:pt x="175" y="18"/>
                    <a:pt x="175" y="19"/>
                  </a:cubicBezTo>
                  <a:cubicBezTo>
                    <a:pt x="178" y="28"/>
                    <a:pt x="184" y="47"/>
                    <a:pt x="160" y="59"/>
                  </a:cubicBezTo>
                  <a:cubicBezTo>
                    <a:pt x="142" y="68"/>
                    <a:pt x="112" y="60"/>
                    <a:pt x="84" y="52"/>
                  </a:cubicBezTo>
                  <a:cubicBezTo>
                    <a:pt x="69" y="48"/>
                    <a:pt x="56" y="44"/>
                    <a:pt x="48" y="44"/>
                  </a:cubicBezTo>
                  <a:close/>
                  <a:moveTo>
                    <a:pt x="121" y="311"/>
                  </a:moveTo>
                  <a:cubicBezTo>
                    <a:pt x="107" y="311"/>
                    <a:pt x="92" y="307"/>
                    <a:pt x="79" y="299"/>
                  </a:cubicBezTo>
                  <a:cubicBezTo>
                    <a:pt x="43" y="276"/>
                    <a:pt x="0" y="241"/>
                    <a:pt x="0" y="200"/>
                  </a:cubicBezTo>
                  <a:lnTo>
                    <a:pt x="0" y="108"/>
                  </a:lnTo>
                  <a:cubicBezTo>
                    <a:pt x="0" y="84"/>
                    <a:pt x="0" y="27"/>
                    <a:pt x="48" y="27"/>
                  </a:cubicBezTo>
                  <a:cubicBezTo>
                    <a:pt x="58" y="27"/>
                    <a:pt x="72" y="31"/>
                    <a:pt x="88" y="36"/>
                  </a:cubicBezTo>
                  <a:cubicBezTo>
                    <a:pt x="111" y="42"/>
                    <a:pt x="140" y="50"/>
                    <a:pt x="152" y="44"/>
                  </a:cubicBezTo>
                  <a:cubicBezTo>
                    <a:pt x="164" y="39"/>
                    <a:pt x="162" y="33"/>
                    <a:pt x="159" y="23"/>
                  </a:cubicBezTo>
                  <a:cubicBezTo>
                    <a:pt x="158" y="18"/>
                    <a:pt x="156" y="12"/>
                    <a:pt x="160" y="6"/>
                  </a:cubicBezTo>
                  <a:cubicBezTo>
                    <a:pt x="162" y="3"/>
                    <a:pt x="166" y="1"/>
                    <a:pt x="171" y="1"/>
                  </a:cubicBezTo>
                  <a:lnTo>
                    <a:pt x="171" y="1"/>
                  </a:lnTo>
                  <a:cubicBezTo>
                    <a:pt x="185" y="0"/>
                    <a:pt x="199" y="11"/>
                    <a:pt x="209" y="20"/>
                  </a:cubicBezTo>
                  <a:cubicBezTo>
                    <a:pt x="225" y="36"/>
                    <a:pt x="243" y="63"/>
                    <a:pt x="243" y="81"/>
                  </a:cubicBezTo>
                  <a:lnTo>
                    <a:pt x="243" y="200"/>
                  </a:lnTo>
                  <a:cubicBezTo>
                    <a:pt x="243" y="241"/>
                    <a:pt x="200" y="276"/>
                    <a:pt x="164" y="299"/>
                  </a:cubicBezTo>
                  <a:cubicBezTo>
                    <a:pt x="151" y="307"/>
                    <a:pt x="136" y="311"/>
                    <a:pt x="121" y="311"/>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3" name="Freeform 500">
              <a:extLst>
                <a:ext uri="{FF2B5EF4-FFF2-40B4-BE49-F238E27FC236}">
                  <a16:creationId xmlns:a16="http://schemas.microsoft.com/office/drawing/2014/main" id="{7621125E-6568-DD31-B396-97C688496F5A}"/>
                </a:ext>
              </a:extLst>
            </p:cNvPr>
            <p:cNvSpPr>
              <a:spLocks noEditPoints="1"/>
            </p:cNvSpPr>
            <p:nvPr/>
          </p:nvSpPr>
          <p:spPr bwMode="auto">
            <a:xfrm>
              <a:off x="6413501" y="2011363"/>
              <a:ext cx="44450" cy="85725"/>
            </a:xfrm>
            <a:custGeom>
              <a:avLst/>
              <a:gdLst>
                <a:gd name="T0" fmla="*/ 27 w 55"/>
                <a:gd name="T1" fmla="*/ 17 h 107"/>
                <a:gd name="T2" fmla="*/ 16 w 55"/>
                <a:gd name="T3" fmla="*/ 27 h 107"/>
                <a:gd name="T4" fmla="*/ 16 w 55"/>
                <a:gd name="T5" fmla="*/ 30 h 107"/>
                <a:gd name="T6" fmla="*/ 26 w 55"/>
                <a:gd name="T7" fmla="*/ 75 h 107"/>
                <a:gd name="T8" fmla="*/ 39 w 55"/>
                <a:gd name="T9" fmla="*/ 89 h 107"/>
                <a:gd name="T10" fmla="*/ 38 w 55"/>
                <a:gd name="T11" fmla="*/ 17 h 107"/>
                <a:gd name="T12" fmla="*/ 27 w 55"/>
                <a:gd name="T13" fmla="*/ 17 h 107"/>
                <a:gd name="T14" fmla="*/ 55 w 55"/>
                <a:gd name="T15" fmla="*/ 107 h 107"/>
                <a:gd name="T16" fmla="*/ 47 w 55"/>
                <a:gd name="T17" fmla="*/ 107 h 107"/>
                <a:gd name="T18" fmla="*/ 12 w 55"/>
                <a:gd name="T19" fmla="*/ 82 h 107"/>
                <a:gd name="T20" fmla="*/ 0 w 55"/>
                <a:gd name="T21" fmla="*/ 30 h 107"/>
                <a:gd name="T22" fmla="*/ 0 w 55"/>
                <a:gd name="T23" fmla="*/ 27 h 107"/>
                <a:gd name="T24" fmla="*/ 27 w 55"/>
                <a:gd name="T25" fmla="*/ 0 h 107"/>
                <a:gd name="T26" fmla="*/ 55 w 55"/>
                <a:gd name="T27" fmla="*/ 0 h 107"/>
                <a:gd name="T28" fmla="*/ 55 w 55"/>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 h="107">
                  <a:moveTo>
                    <a:pt x="27" y="17"/>
                  </a:moveTo>
                  <a:cubicBezTo>
                    <a:pt x="21" y="17"/>
                    <a:pt x="16" y="21"/>
                    <a:pt x="16" y="27"/>
                  </a:cubicBezTo>
                  <a:lnTo>
                    <a:pt x="16" y="30"/>
                  </a:lnTo>
                  <a:cubicBezTo>
                    <a:pt x="16" y="46"/>
                    <a:pt x="20" y="62"/>
                    <a:pt x="26" y="75"/>
                  </a:cubicBezTo>
                  <a:cubicBezTo>
                    <a:pt x="31" y="83"/>
                    <a:pt x="34" y="87"/>
                    <a:pt x="39" y="89"/>
                  </a:cubicBezTo>
                  <a:lnTo>
                    <a:pt x="38" y="17"/>
                  </a:lnTo>
                  <a:lnTo>
                    <a:pt x="27" y="17"/>
                  </a:lnTo>
                  <a:close/>
                  <a:moveTo>
                    <a:pt x="55" y="107"/>
                  </a:moveTo>
                  <a:lnTo>
                    <a:pt x="47" y="107"/>
                  </a:lnTo>
                  <a:cubicBezTo>
                    <a:pt x="28" y="107"/>
                    <a:pt x="19" y="98"/>
                    <a:pt x="12" y="82"/>
                  </a:cubicBezTo>
                  <a:cubicBezTo>
                    <a:pt x="4" y="67"/>
                    <a:pt x="0" y="49"/>
                    <a:pt x="0" y="30"/>
                  </a:cubicBezTo>
                  <a:lnTo>
                    <a:pt x="0" y="27"/>
                  </a:lnTo>
                  <a:cubicBezTo>
                    <a:pt x="0" y="12"/>
                    <a:pt x="12" y="0"/>
                    <a:pt x="27" y="0"/>
                  </a:cubicBezTo>
                  <a:lnTo>
                    <a:pt x="55" y="0"/>
                  </a:lnTo>
                  <a:lnTo>
                    <a:pt x="55" y="10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4" name="Freeform 501">
              <a:extLst>
                <a:ext uri="{FF2B5EF4-FFF2-40B4-BE49-F238E27FC236}">
                  <a16:creationId xmlns:a16="http://schemas.microsoft.com/office/drawing/2014/main" id="{7C12DF20-288A-2C8D-9696-F3430EEAB727}"/>
                </a:ext>
              </a:extLst>
            </p:cNvPr>
            <p:cNvSpPr>
              <a:spLocks/>
            </p:cNvSpPr>
            <p:nvPr/>
          </p:nvSpPr>
          <p:spPr bwMode="auto">
            <a:xfrm>
              <a:off x="6411914" y="1846263"/>
              <a:ext cx="260350" cy="174625"/>
            </a:xfrm>
            <a:custGeom>
              <a:avLst/>
              <a:gdLst>
                <a:gd name="T0" fmla="*/ 9 w 323"/>
                <a:gd name="T1" fmla="*/ 217 h 217"/>
                <a:gd name="T2" fmla="*/ 4 w 323"/>
                <a:gd name="T3" fmla="*/ 186 h 217"/>
                <a:gd name="T4" fmla="*/ 11 w 323"/>
                <a:gd name="T5" fmla="*/ 105 h 217"/>
                <a:gd name="T6" fmla="*/ 161 w 323"/>
                <a:gd name="T7" fmla="*/ 2 h 217"/>
                <a:gd name="T8" fmla="*/ 312 w 323"/>
                <a:gd name="T9" fmla="*/ 105 h 217"/>
                <a:gd name="T10" fmla="*/ 318 w 323"/>
                <a:gd name="T11" fmla="*/ 186 h 217"/>
                <a:gd name="T12" fmla="*/ 313 w 323"/>
                <a:gd name="T13" fmla="*/ 217 h 217"/>
                <a:gd name="T14" fmla="*/ 297 w 323"/>
                <a:gd name="T15" fmla="*/ 214 h 217"/>
                <a:gd name="T16" fmla="*/ 302 w 323"/>
                <a:gd name="T17" fmla="*/ 184 h 217"/>
                <a:gd name="T18" fmla="*/ 296 w 323"/>
                <a:gd name="T19" fmla="*/ 111 h 217"/>
                <a:gd name="T20" fmla="*/ 161 w 323"/>
                <a:gd name="T21" fmla="*/ 18 h 217"/>
                <a:gd name="T22" fmla="*/ 26 w 323"/>
                <a:gd name="T23" fmla="*/ 111 h 217"/>
                <a:gd name="T24" fmla="*/ 21 w 323"/>
                <a:gd name="T25" fmla="*/ 184 h 217"/>
                <a:gd name="T26" fmla="*/ 26 w 323"/>
                <a:gd name="T27" fmla="*/ 214 h 217"/>
                <a:gd name="T28" fmla="*/ 9 w 323"/>
                <a:gd name="T29" fmla="*/ 21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3" h="217">
                  <a:moveTo>
                    <a:pt x="9" y="217"/>
                  </a:moveTo>
                  <a:lnTo>
                    <a:pt x="4" y="186"/>
                  </a:lnTo>
                  <a:cubicBezTo>
                    <a:pt x="0" y="157"/>
                    <a:pt x="2" y="129"/>
                    <a:pt x="11" y="105"/>
                  </a:cubicBezTo>
                  <a:cubicBezTo>
                    <a:pt x="34" y="41"/>
                    <a:pt x="95" y="0"/>
                    <a:pt x="161" y="2"/>
                  </a:cubicBezTo>
                  <a:cubicBezTo>
                    <a:pt x="228" y="0"/>
                    <a:pt x="288" y="41"/>
                    <a:pt x="312" y="105"/>
                  </a:cubicBezTo>
                  <a:cubicBezTo>
                    <a:pt x="321" y="129"/>
                    <a:pt x="323" y="157"/>
                    <a:pt x="318" y="186"/>
                  </a:cubicBezTo>
                  <a:lnTo>
                    <a:pt x="313" y="217"/>
                  </a:lnTo>
                  <a:lnTo>
                    <a:pt x="297" y="214"/>
                  </a:lnTo>
                  <a:lnTo>
                    <a:pt x="302" y="184"/>
                  </a:lnTo>
                  <a:cubicBezTo>
                    <a:pt x="306" y="157"/>
                    <a:pt x="304" y="132"/>
                    <a:pt x="296" y="111"/>
                  </a:cubicBezTo>
                  <a:cubicBezTo>
                    <a:pt x="275" y="54"/>
                    <a:pt x="222" y="17"/>
                    <a:pt x="161" y="18"/>
                  </a:cubicBezTo>
                  <a:cubicBezTo>
                    <a:pt x="102" y="17"/>
                    <a:pt x="47" y="54"/>
                    <a:pt x="26" y="111"/>
                  </a:cubicBezTo>
                  <a:cubicBezTo>
                    <a:pt x="18" y="132"/>
                    <a:pt x="16" y="157"/>
                    <a:pt x="21" y="184"/>
                  </a:cubicBezTo>
                  <a:lnTo>
                    <a:pt x="26" y="214"/>
                  </a:lnTo>
                  <a:lnTo>
                    <a:pt x="9" y="21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5" name="Freeform 502">
              <a:extLst>
                <a:ext uri="{FF2B5EF4-FFF2-40B4-BE49-F238E27FC236}">
                  <a16:creationId xmlns:a16="http://schemas.microsoft.com/office/drawing/2014/main" id="{3205EF30-CAF3-79C2-9F43-180594114F79}"/>
                </a:ext>
              </a:extLst>
            </p:cNvPr>
            <p:cNvSpPr>
              <a:spLocks noEditPoints="1"/>
            </p:cNvSpPr>
            <p:nvPr/>
          </p:nvSpPr>
          <p:spPr bwMode="auto">
            <a:xfrm>
              <a:off x="6626226" y="2011363"/>
              <a:ext cx="44450" cy="85725"/>
            </a:xfrm>
            <a:custGeom>
              <a:avLst/>
              <a:gdLst>
                <a:gd name="T0" fmla="*/ 17 w 56"/>
                <a:gd name="T1" fmla="*/ 17 h 107"/>
                <a:gd name="T2" fmla="*/ 17 w 56"/>
                <a:gd name="T3" fmla="*/ 89 h 107"/>
                <a:gd name="T4" fmla="*/ 29 w 56"/>
                <a:gd name="T5" fmla="*/ 75 h 107"/>
                <a:gd name="T6" fmla="*/ 40 w 56"/>
                <a:gd name="T7" fmla="*/ 30 h 107"/>
                <a:gd name="T8" fmla="*/ 40 w 56"/>
                <a:gd name="T9" fmla="*/ 27 h 107"/>
                <a:gd name="T10" fmla="*/ 29 w 56"/>
                <a:gd name="T11" fmla="*/ 17 h 107"/>
                <a:gd name="T12" fmla="*/ 17 w 56"/>
                <a:gd name="T13" fmla="*/ 17 h 107"/>
                <a:gd name="T14" fmla="*/ 9 w 56"/>
                <a:gd name="T15" fmla="*/ 107 h 107"/>
                <a:gd name="T16" fmla="*/ 0 w 56"/>
                <a:gd name="T17" fmla="*/ 107 h 107"/>
                <a:gd name="T18" fmla="*/ 1 w 56"/>
                <a:gd name="T19" fmla="*/ 0 h 107"/>
                <a:gd name="T20" fmla="*/ 29 w 56"/>
                <a:gd name="T21" fmla="*/ 0 h 107"/>
                <a:gd name="T22" fmla="*/ 56 w 56"/>
                <a:gd name="T23" fmla="*/ 27 h 107"/>
                <a:gd name="T24" fmla="*/ 56 w 56"/>
                <a:gd name="T25" fmla="*/ 30 h 107"/>
                <a:gd name="T26" fmla="*/ 44 w 56"/>
                <a:gd name="T27" fmla="*/ 82 h 107"/>
                <a:gd name="T28" fmla="*/ 9 w 56"/>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107">
                  <a:moveTo>
                    <a:pt x="17" y="17"/>
                  </a:moveTo>
                  <a:lnTo>
                    <a:pt x="17" y="89"/>
                  </a:lnTo>
                  <a:cubicBezTo>
                    <a:pt x="22" y="87"/>
                    <a:pt x="25" y="83"/>
                    <a:pt x="29" y="75"/>
                  </a:cubicBezTo>
                  <a:cubicBezTo>
                    <a:pt x="36" y="62"/>
                    <a:pt x="40" y="46"/>
                    <a:pt x="40" y="30"/>
                  </a:cubicBezTo>
                  <a:lnTo>
                    <a:pt x="40" y="27"/>
                  </a:lnTo>
                  <a:cubicBezTo>
                    <a:pt x="40" y="21"/>
                    <a:pt x="35" y="17"/>
                    <a:pt x="29" y="17"/>
                  </a:cubicBezTo>
                  <a:lnTo>
                    <a:pt x="17" y="17"/>
                  </a:lnTo>
                  <a:close/>
                  <a:moveTo>
                    <a:pt x="9" y="107"/>
                  </a:moveTo>
                  <a:lnTo>
                    <a:pt x="0" y="107"/>
                  </a:lnTo>
                  <a:lnTo>
                    <a:pt x="1" y="0"/>
                  </a:lnTo>
                  <a:lnTo>
                    <a:pt x="29" y="0"/>
                  </a:lnTo>
                  <a:cubicBezTo>
                    <a:pt x="44" y="0"/>
                    <a:pt x="56" y="12"/>
                    <a:pt x="56" y="27"/>
                  </a:cubicBezTo>
                  <a:lnTo>
                    <a:pt x="56" y="30"/>
                  </a:lnTo>
                  <a:cubicBezTo>
                    <a:pt x="56" y="49"/>
                    <a:pt x="52" y="67"/>
                    <a:pt x="44" y="82"/>
                  </a:cubicBezTo>
                  <a:cubicBezTo>
                    <a:pt x="36" y="98"/>
                    <a:pt x="28" y="107"/>
                    <a:pt x="9" y="107"/>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6" name="Freeform 503">
              <a:extLst>
                <a:ext uri="{FF2B5EF4-FFF2-40B4-BE49-F238E27FC236}">
                  <a16:creationId xmlns:a16="http://schemas.microsoft.com/office/drawing/2014/main" id="{81EC7BA6-E17E-2821-8FFE-DA48FB7D25C3}"/>
                </a:ext>
              </a:extLst>
            </p:cNvPr>
            <p:cNvSpPr>
              <a:spLocks noEditPoints="1"/>
            </p:cNvSpPr>
            <p:nvPr/>
          </p:nvSpPr>
          <p:spPr bwMode="auto">
            <a:xfrm>
              <a:off x="6530976" y="2166938"/>
              <a:ext cx="103188" cy="103188"/>
            </a:xfrm>
            <a:custGeom>
              <a:avLst/>
              <a:gdLst>
                <a:gd name="T0" fmla="*/ 25 w 128"/>
                <a:gd name="T1" fmla="*/ 72 h 127"/>
                <a:gd name="T2" fmla="*/ 56 w 128"/>
                <a:gd name="T3" fmla="*/ 104 h 127"/>
                <a:gd name="T4" fmla="*/ 106 w 128"/>
                <a:gd name="T5" fmla="*/ 56 h 127"/>
                <a:gd name="T6" fmla="*/ 81 w 128"/>
                <a:gd name="T7" fmla="*/ 24 h 127"/>
                <a:gd name="T8" fmla="*/ 25 w 128"/>
                <a:gd name="T9" fmla="*/ 72 h 127"/>
                <a:gd name="T10" fmla="*/ 55 w 128"/>
                <a:gd name="T11" fmla="*/ 127 h 127"/>
                <a:gd name="T12" fmla="*/ 0 w 128"/>
                <a:gd name="T13" fmla="*/ 71 h 127"/>
                <a:gd name="T14" fmla="*/ 84 w 128"/>
                <a:gd name="T15" fmla="*/ 0 h 127"/>
                <a:gd name="T16" fmla="*/ 128 w 128"/>
                <a:gd name="T17" fmla="*/ 57 h 127"/>
                <a:gd name="T18" fmla="*/ 55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5" y="72"/>
                  </a:moveTo>
                  <a:lnTo>
                    <a:pt x="56" y="104"/>
                  </a:lnTo>
                  <a:lnTo>
                    <a:pt x="106" y="56"/>
                  </a:lnTo>
                  <a:lnTo>
                    <a:pt x="81" y="24"/>
                  </a:lnTo>
                  <a:lnTo>
                    <a:pt x="25" y="72"/>
                  </a:lnTo>
                  <a:close/>
                  <a:moveTo>
                    <a:pt x="55" y="127"/>
                  </a:moveTo>
                  <a:lnTo>
                    <a:pt x="0" y="71"/>
                  </a:lnTo>
                  <a:lnTo>
                    <a:pt x="84" y="0"/>
                  </a:lnTo>
                  <a:lnTo>
                    <a:pt x="128" y="57"/>
                  </a:lnTo>
                  <a:lnTo>
                    <a:pt x="55"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7" name="Freeform 504">
              <a:extLst>
                <a:ext uri="{FF2B5EF4-FFF2-40B4-BE49-F238E27FC236}">
                  <a16:creationId xmlns:a16="http://schemas.microsoft.com/office/drawing/2014/main" id="{27C38C3A-B40F-ACD8-9689-AE31DC077A00}"/>
                </a:ext>
              </a:extLst>
            </p:cNvPr>
            <p:cNvSpPr>
              <a:spLocks noEditPoints="1"/>
            </p:cNvSpPr>
            <p:nvPr/>
          </p:nvSpPr>
          <p:spPr bwMode="auto">
            <a:xfrm>
              <a:off x="6448426" y="2166938"/>
              <a:ext cx="103188" cy="103188"/>
            </a:xfrm>
            <a:custGeom>
              <a:avLst/>
              <a:gdLst>
                <a:gd name="T0" fmla="*/ 22 w 128"/>
                <a:gd name="T1" fmla="*/ 56 h 127"/>
                <a:gd name="T2" fmla="*/ 72 w 128"/>
                <a:gd name="T3" fmla="*/ 104 h 127"/>
                <a:gd name="T4" fmla="*/ 103 w 128"/>
                <a:gd name="T5" fmla="*/ 72 h 127"/>
                <a:gd name="T6" fmla="*/ 47 w 128"/>
                <a:gd name="T7" fmla="*/ 24 h 127"/>
                <a:gd name="T8" fmla="*/ 22 w 128"/>
                <a:gd name="T9" fmla="*/ 56 h 127"/>
                <a:gd name="T10" fmla="*/ 73 w 128"/>
                <a:gd name="T11" fmla="*/ 127 h 127"/>
                <a:gd name="T12" fmla="*/ 0 w 128"/>
                <a:gd name="T13" fmla="*/ 57 h 127"/>
                <a:gd name="T14" fmla="*/ 44 w 128"/>
                <a:gd name="T15" fmla="*/ 0 h 127"/>
                <a:gd name="T16" fmla="*/ 128 w 128"/>
                <a:gd name="T17" fmla="*/ 71 h 127"/>
                <a:gd name="T18" fmla="*/ 73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2" y="56"/>
                  </a:moveTo>
                  <a:lnTo>
                    <a:pt x="72" y="104"/>
                  </a:lnTo>
                  <a:lnTo>
                    <a:pt x="103" y="72"/>
                  </a:lnTo>
                  <a:lnTo>
                    <a:pt x="47" y="24"/>
                  </a:lnTo>
                  <a:lnTo>
                    <a:pt x="22" y="56"/>
                  </a:lnTo>
                  <a:close/>
                  <a:moveTo>
                    <a:pt x="73" y="127"/>
                  </a:moveTo>
                  <a:lnTo>
                    <a:pt x="0" y="57"/>
                  </a:lnTo>
                  <a:lnTo>
                    <a:pt x="44" y="0"/>
                  </a:lnTo>
                  <a:lnTo>
                    <a:pt x="128" y="71"/>
                  </a:lnTo>
                  <a:lnTo>
                    <a:pt x="73"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8" name="Freeform 505">
              <a:extLst>
                <a:ext uri="{FF2B5EF4-FFF2-40B4-BE49-F238E27FC236}">
                  <a16:creationId xmlns:a16="http://schemas.microsoft.com/office/drawing/2014/main" id="{2CC1E00A-2DC1-96A7-5671-362E6D9EB736}"/>
                </a:ext>
              </a:extLst>
            </p:cNvPr>
            <p:cNvSpPr>
              <a:spLocks/>
            </p:cNvSpPr>
            <p:nvPr/>
          </p:nvSpPr>
          <p:spPr bwMode="auto">
            <a:xfrm>
              <a:off x="6508751" y="2249488"/>
              <a:ext cx="66675" cy="31750"/>
            </a:xfrm>
            <a:custGeom>
              <a:avLst/>
              <a:gdLst>
                <a:gd name="T0" fmla="*/ 41 w 83"/>
                <a:gd name="T1" fmla="*/ 40 h 40"/>
                <a:gd name="T2" fmla="*/ 20 w 83"/>
                <a:gd name="T3" fmla="*/ 31 h 40"/>
                <a:gd name="T4" fmla="*/ 0 w 83"/>
                <a:gd name="T5" fmla="*/ 12 h 40"/>
                <a:gd name="T6" fmla="*/ 12 w 83"/>
                <a:gd name="T7" fmla="*/ 0 h 40"/>
                <a:gd name="T8" fmla="*/ 32 w 83"/>
                <a:gd name="T9" fmla="*/ 19 h 40"/>
                <a:gd name="T10" fmla="*/ 51 w 83"/>
                <a:gd name="T11" fmla="*/ 19 h 40"/>
                <a:gd name="T12" fmla="*/ 71 w 83"/>
                <a:gd name="T13" fmla="*/ 0 h 40"/>
                <a:gd name="T14" fmla="*/ 83 w 83"/>
                <a:gd name="T15" fmla="*/ 12 h 40"/>
                <a:gd name="T16" fmla="*/ 63 w 83"/>
                <a:gd name="T17" fmla="*/ 31 h 40"/>
                <a:gd name="T18" fmla="*/ 41 w 83"/>
                <a:gd name="T1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40">
                  <a:moveTo>
                    <a:pt x="41" y="40"/>
                  </a:moveTo>
                  <a:cubicBezTo>
                    <a:pt x="34" y="40"/>
                    <a:pt x="26" y="37"/>
                    <a:pt x="20" y="31"/>
                  </a:cubicBezTo>
                  <a:lnTo>
                    <a:pt x="0" y="12"/>
                  </a:lnTo>
                  <a:lnTo>
                    <a:pt x="12" y="0"/>
                  </a:lnTo>
                  <a:lnTo>
                    <a:pt x="32" y="19"/>
                  </a:lnTo>
                  <a:cubicBezTo>
                    <a:pt x="37" y="24"/>
                    <a:pt x="46" y="24"/>
                    <a:pt x="51" y="19"/>
                  </a:cubicBezTo>
                  <a:lnTo>
                    <a:pt x="71" y="0"/>
                  </a:lnTo>
                  <a:lnTo>
                    <a:pt x="83" y="12"/>
                  </a:lnTo>
                  <a:lnTo>
                    <a:pt x="63" y="31"/>
                  </a:lnTo>
                  <a:cubicBezTo>
                    <a:pt x="57" y="37"/>
                    <a:pt x="49" y="40"/>
                    <a:pt x="41" y="40"/>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9" name="Freeform 506">
              <a:extLst>
                <a:ext uri="{FF2B5EF4-FFF2-40B4-BE49-F238E27FC236}">
                  <a16:creationId xmlns:a16="http://schemas.microsoft.com/office/drawing/2014/main" id="{5E481F2F-1486-D22B-B2B9-26BFB56E3CD9}"/>
                </a:ext>
              </a:extLst>
            </p:cNvPr>
            <p:cNvSpPr>
              <a:spLocks/>
            </p:cNvSpPr>
            <p:nvPr/>
          </p:nvSpPr>
          <p:spPr bwMode="auto">
            <a:xfrm>
              <a:off x="6508751" y="2268538"/>
              <a:ext cx="25400" cy="57150"/>
            </a:xfrm>
            <a:custGeom>
              <a:avLst/>
              <a:gdLst>
                <a:gd name="T0" fmla="*/ 8 w 16"/>
                <a:gd name="T1" fmla="*/ 36 h 36"/>
                <a:gd name="T2" fmla="*/ 0 w 16"/>
                <a:gd name="T3" fmla="*/ 34 h 36"/>
                <a:gd name="T4" fmla="*/ 8 w 16"/>
                <a:gd name="T5" fmla="*/ 0 h 36"/>
                <a:gd name="T6" fmla="*/ 16 w 16"/>
                <a:gd name="T7" fmla="*/ 2 h 36"/>
                <a:gd name="T8" fmla="*/ 8 w 16"/>
                <a:gd name="T9" fmla="*/ 36 h 36"/>
              </a:gdLst>
              <a:ahLst/>
              <a:cxnLst>
                <a:cxn ang="0">
                  <a:pos x="T0" y="T1"/>
                </a:cxn>
                <a:cxn ang="0">
                  <a:pos x="T2" y="T3"/>
                </a:cxn>
                <a:cxn ang="0">
                  <a:pos x="T4" y="T5"/>
                </a:cxn>
                <a:cxn ang="0">
                  <a:pos x="T6" y="T7"/>
                </a:cxn>
                <a:cxn ang="0">
                  <a:pos x="T8" y="T9"/>
                </a:cxn>
              </a:cxnLst>
              <a:rect l="0" t="0" r="r" b="b"/>
              <a:pathLst>
                <a:path w="16" h="36">
                  <a:moveTo>
                    <a:pt x="8" y="36"/>
                  </a:moveTo>
                  <a:lnTo>
                    <a:pt x="0" y="34"/>
                  </a:lnTo>
                  <a:lnTo>
                    <a:pt x="8" y="0"/>
                  </a:lnTo>
                  <a:lnTo>
                    <a:pt x="16" y="2"/>
                  </a:lnTo>
                  <a:lnTo>
                    <a:pt x="8"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0" name="Freeform 507">
              <a:extLst>
                <a:ext uri="{FF2B5EF4-FFF2-40B4-BE49-F238E27FC236}">
                  <a16:creationId xmlns:a16="http://schemas.microsoft.com/office/drawing/2014/main" id="{EED53AA6-85FC-588F-7E68-4DB15A26834B}"/>
                </a:ext>
              </a:extLst>
            </p:cNvPr>
            <p:cNvSpPr>
              <a:spLocks/>
            </p:cNvSpPr>
            <p:nvPr/>
          </p:nvSpPr>
          <p:spPr bwMode="auto">
            <a:xfrm>
              <a:off x="6548439" y="2268538"/>
              <a:ext cx="26988" cy="57150"/>
            </a:xfrm>
            <a:custGeom>
              <a:avLst/>
              <a:gdLst>
                <a:gd name="T0" fmla="*/ 9 w 17"/>
                <a:gd name="T1" fmla="*/ 36 h 36"/>
                <a:gd name="T2" fmla="*/ 0 w 17"/>
                <a:gd name="T3" fmla="*/ 2 h 36"/>
                <a:gd name="T4" fmla="*/ 9 w 17"/>
                <a:gd name="T5" fmla="*/ 0 h 36"/>
                <a:gd name="T6" fmla="*/ 17 w 17"/>
                <a:gd name="T7" fmla="*/ 34 h 36"/>
                <a:gd name="T8" fmla="*/ 9 w 17"/>
                <a:gd name="T9" fmla="*/ 36 h 36"/>
              </a:gdLst>
              <a:ahLst/>
              <a:cxnLst>
                <a:cxn ang="0">
                  <a:pos x="T0" y="T1"/>
                </a:cxn>
                <a:cxn ang="0">
                  <a:pos x="T2" y="T3"/>
                </a:cxn>
                <a:cxn ang="0">
                  <a:pos x="T4" y="T5"/>
                </a:cxn>
                <a:cxn ang="0">
                  <a:pos x="T6" y="T7"/>
                </a:cxn>
                <a:cxn ang="0">
                  <a:pos x="T8" y="T9"/>
                </a:cxn>
              </a:cxnLst>
              <a:rect l="0" t="0" r="r" b="b"/>
              <a:pathLst>
                <a:path w="17" h="36">
                  <a:moveTo>
                    <a:pt x="9" y="36"/>
                  </a:moveTo>
                  <a:lnTo>
                    <a:pt x="0" y="2"/>
                  </a:lnTo>
                  <a:lnTo>
                    <a:pt x="9" y="0"/>
                  </a:lnTo>
                  <a:lnTo>
                    <a:pt x="17" y="34"/>
                  </a:lnTo>
                  <a:lnTo>
                    <a:pt x="9"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91" name="Presentation9" descr="{&quot;Key&quot;:&quot;POWER_USER_SHAPE_ICON&quot;,&quot;Value&quot;:&quot;POWER_USER_SHAPE_ICON_STYLE_1&quot;}">
            <a:extLst>
              <a:ext uri="{FF2B5EF4-FFF2-40B4-BE49-F238E27FC236}">
                <a16:creationId xmlns:a16="http://schemas.microsoft.com/office/drawing/2014/main" id="{C2CD6E59-0CF9-15D5-2AB1-69A61188D20C}"/>
              </a:ext>
            </a:extLst>
          </p:cNvPr>
          <p:cNvGrpSpPr>
            <a:grpSpLocks noChangeAspect="1"/>
          </p:cNvGrpSpPr>
          <p:nvPr>
            <p:custDataLst>
              <p:tags r:id="rId4"/>
            </p:custDataLst>
          </p:nvPr>
        </p:nvGrpSpPr>
        <p:grpSpPr>
          <a:xfrm>
            <a:off x="3660972" y="5109274"/>
            <a:ext cx="433996" cy="311779"/>
            <a:chOff x="6796088" y="1851026"/>
            <a:chExt cx="884238" cy="677862"/>
          </a:xfrm>
          <a:noFill/>
        </p:grpSpPr>
        <p:sp>
          <p:nvSpPr>
            <p:cNvPr id="492" name="Freeform 157">
              <a:extLst>
                <a:ext uri="{FF2B5EF4-FFF2-40B4-BE49-F238E27FC236}">
                  <a16:creationId xmlns:a16="http://schemas.microsoft.com/office/drawing/2014/main" id="{42647B48-86A1-3539-023D-A03ED6B4E914}"/>
                </a:ext>
              </a:extLst>
            </p:cNvPr>
            <p:cNvSpPr>
              <a:spLocks/>
            </p:cNvSpPr>
            <p:nvPr/>
          </p:nvSpPr>
          <p:spPr bwMode="auto">
            <a:xfrm>
              <a:off x="7018338" y="1851026"/>
              <a:ext cx="661988" cy="512763"/>
            </a:xfrm>
            <a:custGeom>
              <a:avLst/>
              <a:gdLst>
                <a:gd name="T0" fmla="*/ 54 w 870"/>
                <a:gd name="T1" fmla="*/ 54 h 673"/>
                <a:gd name="T2" fmla="*/ 816 w 870"/>
                <a:gd name="T3" fmla="*/ 54 h 673"/>
                <a:gd name="T4" fmla="*/ 816 w 870"/>
                <a:gd name="T5" fmla="*/ 619 h 673"/>
                <a:gd name="T6" fmla="*/ 394 w 870"/>
                <a:gd name="T7" fmla="*/ 619 h 673"/>
                <a:gd name="T8" fmla="*/ 295 w 870"/>
                <a:gd name="T9" fmla="*/ 673 h 673"/>
                <a:gd name="T10" fmla="*/ 817 w 870"/>
                <a:gd name="T11" fmla="*/ 673 h 673"/>
                <a:gd name="T12" fmla="*/ 870 w 870"/>
                <a:gd name="T13" fmla="*/ 620 h 673"/>
                <a:gd name="T14" fmla="*/ 870 w 870"/>
                <a:gd name="T15" fmla="*/ 53 h 673"/>
                <a:gd name="T16" fmla="*/ 817 w 870"/>
                <a:gd name="T17" fmla="*/ 0 h 673"/>
                <a:gd name="T18" fmla="*/ 53 w 870"/>
                <a:gd name="T19" fmla="*/ 0 h 673"/>
                <a:gd name="T20" fmla="*/ 0 w 870"/>
                <a:gd name="T21" fmla="*/ 53 h 673"/>
                <a:gd name="T22" fmla="*/ 0 w 870"/>
                <a:gd name="T23" fmla="*/ 185 h 673"/>
                <a:gd name="T24" fmla="*/ 54 w 870"/>
                <a:gd name="T25" fmla="*/ 215 h 673"/>
                <a:gd name="T26" fmla="*/ 54 w 870"/>
                <a:gd name="T27" fmla="*/ 54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0" h="673">
                  <a:moveTo>
                    <a:pt x="54" y="54"/>
                  </a:moveTo>
                  <a:lnTo>
                    <a:pt x="816" y="54"/>
                  </a:lnTo>
                  <a:lnTo>
                    <a:pt x="816" y="619"/>
                  </a:lnTo>
                  <a:lnTo>
                    <a:pt x="394" y="619"/>
                  </a:lnTo>
                  <a:cubicBezTo>
                    <a:pt x="363" y="638"/>
                    <a:pt x="330" y="656"/>
                    <a:pt x="295" y="673"/>
                  </a:cubicBezTo>
                  <a:lnTo>
                    <a:pt x="817" y="673"/>
                  </a:lnTo>
                  <a:cubicBezTo>
                    <a:pt x="846" y="673"/>
                    <a:pt x="870" y="650"/>
                    <a:pt x="870" y="620"/>
                  </a:cubicBezTo>
                  <a:lnTo>
                    <a:pt x="870" y="53"/>
                  </a:lnTo>
                  <a:cubicBezTo>
                    <a:pt x="870" y="23"/>
                    <a:pt x="846" y="0"/>
                    <a:pt x="817" y="0"/>
                  </a:cubicBezTo>
                  <a:lnTo>
                    <a:pt x="53" y="0"/>
                  </a:lnTo>
                  <a:cubicBezTo>
                    <a:pt x="24" y="0"/>
                    <a:pt x="0" y="23"/>
                    <a:pt x="0" y="53"/>
                  </a:cubicBezTo>
                  <a:lnTo>
                    <a:pt x="0" y="185"/>
                  </a:lnTo>
                  <a:cubicBezTo>
                    <a:pt x="20" y="192"/>
                    <a:pt x="38" y="202"/>
                    <a:pt x="54" y="215"/>
                  </a:cubicBezTo>
                  <a:lnTo>
                    <a:pt x="54" y="54"/>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3" name="Freeform 158">
              <a:extLst>
                <a:ext uri="{FF2B5EF4-FFF2-40B4-BE49-F238E27FC236}">
                  <a16:creationId xmlns:a16="http://schemas.microsoft.com/office/drawing/2014/main" id="{D2EBB919-8A7D-36AE-856A-E0E7C7DF6F09}"/>
                </a:ext>
              </a:extLst>
            </p:cNvPr>
            <p:cNvSpPr>
              <a:spLocks/>
            </p:cNvSpPr>
            <p:nvPr/>
          </p:nvSpPr>
          <p:spPr bwMode="auto">
            <a:xfrm>
              <a:off x="6796088" y="2162175"/>
              <a:ext cx="573088" cy="366713"/>
            </a:xfrm>
            <a:custGeom>
              <a:avLst/>
              <a:gdLst>
                <a:gd name="T0" fmla="*/ 122 w 753"/>
                <a:gd name="T1" fmla="*/ 359 h 482"/>
                <a:gd name="T2" fmla="*/ 154 w 753"/>
                <a:gd name="T3" fmla="*/ 359 h 482"/>
                <a:gd name="T4" fmla="*/ 164 w 753"/>
                <a:gd name="T5" fmla="*/ 482 h 482"/>
                <a:gd name="T6" fmla="*/ 399 w 753"/>
                <a:gd name="T7" fmla="*/ 482 h 482"/>
                <a:gd name="T8" fmla="*/ 399 w 753"/>
                <a:gd name="T9" fmla="*/ 279 h 482"/>
                <a:gd name="T10" fmla="*/ 716 w 753"/>
                <a:gd name="T11" fmla="*/ 121 h 482"/>
                <a:gd name="T12" fmla="*/ 727 w 753"/>
                <a:gd name="T13" fmla="*/ 23 h 482"/>
                <a:gd name="T14" fmla="*/ 679 w 753"/>
                <a:gd name="T15" fmla="*/ 0 h 482"/>
                <a:gd name="T16" fmla="*/ 653 w 753"/>
                <a:gd name="T17" fmla="*/ 7 h 482"/>
                <a:gd name="T18" fmla="*/ 317 w 753"/>
                <a:gd name="T19" fmla="*/ 123 h 482"/>
                <a:gd name="T20" fmla="*/ 230 w 753"/>
                <a:gd name="T21" fmla="*/ 190 h 482"/>
                <a:gd name="T22" fmla="*/ 149 w 753"/>
                <a:gd name="T23" fmla="*/ 129 h 482"/>
                <a:gd name="T24" fmla="*/ 0 w 753"/>
                <a:gd name="T25" fmla="*/ 309 h 482"/>
                <a:gd name="T26" fmla="*/ 0 w 753"/>
                <a:gd name="T27" fmla="*/ 482 h 482"/>
                <a:gd name="T28" fmla="*/ 122 w 753"/>
                <a:gd name="T29" fmla="*/ 482 h 482"/>
                <a:gd name="T30" fmla="*/ 122 w 753"/>
                <a:gd name="T31" fmla="*/ 359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3" h="482">
                  <a:moveTo>
                    <a:pt x="122" y="359"/>
                  </a:moveTo>
                  <a:lnTo>
                    <a:pt x="154" y="359"/>
                  </a:lnTo>
                  <a:lnTo>
                    <a:pt x="164" y="482"/>
                  </a:lnTo>
                  <a:lnTo>
                    <a:pt x="399" y="482"/>
                  </a:lnTo>
                  <a:lnTo>
                    <a:pt x="399" y="279"/>
                  </a:lnTo>
                  <a:cubicBezTo>
                    <a:pt x="529" y="237"/>
                    <a:pt x="643" y="176"/>
                    <a:pt x="716" y="121"/>
                  </a:cubicBezTo>
                  <a:cubicBezTo>
                    <a:pt x="747" y="98"/>
                    <a:pt x="753" y="55"/>
                    <a:pt x="727" y="23"/>
                  </a:cubicBezTo>
                  <a:cubicBezTo>
                    <a:pt x="715" y="9"/>
                    <a:pt x="697" y="0"/>
                    <a:pt x="679" y="0"/>
                  </a:cubicBezTo>
                  <a:cubicBezTo>
                    <a:pt x="670" y="0"/>
                    <a:pt x="661" y="3"/>
                    <a:pt x="653" y="7"/>
                  </a:cubicBezTo>
                  <a:cubicBezTo>
                    <a:pt x="488" y="100"/>
                    <a:pt x="404" y="119"/>
                    <a:pt x="317" y="123"/>
                  </a:cubicBezTo>
                  <a:lnTo>
                    <a:pt x="230" y="190"/>
                  </a:lnTo>
                  <a:lnTo>
                    <a:pt x="149" y="129"/>
                  </a:lnTo>
                  <a:cubicBezTo>
                    <a:pt x="60" y="145"/>
                    <a:pt x="0" y="199"/>
                    <a:pt x="0" y="309"/>
                  </a:cubicBezTo>
                  <a:lnTo>
                    <a:pt x="0" y="482"/>
                  </a:lnTo>
                  <a:lnTo>
                    <a:pt x="122" y="482"/>
                  </a:lnTo>
                  <a:lnTo>
                    <a:pt x="122" y="359"/>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4" name="Oval 159">
              <a:extLst>
                <a:ext uri="{FF2B5EF4-FFF2-40B4-BE49-F238E27FC236}">
                  <a16:creationId xmlns:a16="http://schemas.microsoft.com/office/drawing/2014/main" id="{E3878BA2-F33F-1225-2288-508B5E4559FE}"/>
                </a:ext>
              </a:extLst>
            </p:cNvPr>
            <p:cNvSpPr>
              <a:spLocks noChangeArrowheads="1"/>
            </p:cNvSpPr>
            <p:nvPr/>
          </p:nvSpPr>
          <p:spPr bwMode="auto">
            <a:xfrm>
              <a:off x="6867526" y="2022475"/>
              <a:ext cx="206375" cy="204788"/>
            </a:xfrm>
            <a:prstGeom prst="ellipse">
              <a:avLst/>
            </a:pr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5" name="Freeform 160">
              <a:extLst>
                <a:ext uri="{FF2B5EF4-FFF2-40B4-BE49-F238E27FC236}">
                  <a16:creationId xmlns:a16="http://schemas.microsoft.com/office/drawing/2014/main" id="{23615C53-31F8-9B53-6483-E66A79546B71}"/>
                </a:ext>
              </a:extLst>
            </p:cNvPr>
            <p:cNvSpPr>
              <a:spLocks/>
            </p:cNvSpPr>
            <p:nvPr/>
          </p:nvSpPr>
          <p:spPr bwMode="auto">
            <a:xfrm>
              <a:off x="7173913" y="1997075"/>
              <a:ext cx="382588" cy="165100"/>
            </a:xfrm>
            <a:custGeom>
              <a:avLst/>
              <a:gdLst>
                <a:gd name="T0" fmla="*/ 489 w 503"/>
                <a:gd name="T1" fmla="*/ 117 h 216"/>
                <a:gd name="T2" fmla="*/ 494 w 503"/>
                <a:gd name="T3" fmla="*/ 111 h 216"/>
                <a:gd name="T4" fmla="*/ 502 w 503"/>
                <a:gd name="T5" fmla="*/ 8 h 216"/>
                <a:gd name="T6" fmla="*/ 500 w 503"/>
                <a:gd name="T7" fmla="*/ 2 h 216"/>
                <a:gd name="T8" fmla="*/ 494 w 503"/>
                <a:gd name="T9" fmla="*/ 0 h 216"/>
                <a:gd name="T10" fmla="*/ 391 w 503"/>
                <a:gd name="T11" fmla="*/ 9 h 216"/>
                <a:gd name="T12" fmla="*/ 385 w 503"/>
                <a:gd name="T13" fmla="*/ 14 h 216"/>
                <a:gd name="T14" fmla="*/ 387 w 503"/>
                <a:gd name="T15" fmla="*/ 21 h 216"/>
                <a:gd name="T16" fmla="*/ 416 w 503"/>
                <a:gd name="T17" fmla="*/ 50 h 216"/>
                <a:gd name="T18" fmla="*/ 292 w 503"/>
                <a:gd name="T19" fmla="*/ 152 h 216"/>
                <a:gd name="T20" fmla="*/ 190 w 503"/>
                <a:gd name="T21" fmla="*/ 73 h 216"/>
                <a:gd name="T22" fmla="*/ 161 w 503"/>
                <a:gd name="T23" fmla="*/ 72 h 216"/>
                <a:gd name="T24" fmla="*/ 0 w 503"/>
                <a:gd name="T25" fmla="*/ 174 h 216"/>
                <a:gd name="T26" fmla="*/ 27 w 503"/>
                <a:gd name="T27" fmla="*/ 216 h 216"/>
                <a:gd name="T28" fmla="*/ 173 w 503"/>
                <a:gd name="T29" fmla="*/ 124 h 216"/>
                <a:gd name="T30" fmla="*/ 278 w 503"/>
                <a:gd name="T31" fmla="*/ 205 h 216"/>
                <a:gd name="T32" fmla="*/ 309 w 503"/>
                <a:gd name="T33" fmla="*/ 204 h 216"/>
                <a:gd name="T34" fmla="*/ 452 w 503"/>
                <a:gd name="T35" fmla="*/ 86 h 216"/>
                <a:gd name="T36" fmla="*/ 482 w 503"/>
                <a:gd name="T37" fmla="*/ 116 h 216"/>
                <a:gd name="T38" fmla="*/ 489 w 503"/>
                <a:gd name="T39" fmla="*/ 11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3" h="216">
                  <a:moveTo>
                    <a:pt x="489" y="117"/>
                  </a:moveTo>
                  <a:cubicBezTo>
                    <a:pt x="492" y="116"/>
                    <a:pt x="494" y="114"/>
                    <a:pt x="494" y="111"/>
                  </a:cubicBezTo>
                  <a:lnTo>
                    <a:pt x="502" y="8"/>
                  </a:lnTo>
                  <a:cubicBezTo>
                    <a:pt x="503" y="6"/>
                    <a:pt x="502" y="4"/>
                    <a:pt x="500" y="2"/>
                  </a:cubicBezTo>
                  <a:cubicBezTo>
                    <a:pt x="499" y="0"/>
                    <a:pt x="497" y="0"/>
                    <a:pt x="494" y="0"/>
                  </a:cubicBezTo>
                  <a:lnTo>
                    <a:pt x="391" y="9"/>
                  </a:lnTo>
                  <a:cubicBezTo>
                    <a:pt x="388" y="9"/>
                    <a:pt x="386" y="11"/>
                    <a:pt x="385" y="14"/>
                  </a:cubicBezTo>
                  <a:cubicBezTo>
                    <a:pt x="384" y="16"/>
                    <a:pt x="385" y="19"/>
                    <a:pt x="387" y="21"/>
                  </a:cubicBezTo>
                  <a:lnTo>
                    <a:pt x="416" y="50"/>
                  </a:lnTo>
                  <a:lnTo>
                    <a:pt x="292" y="152"/>
                  </a:lnTo>
                  <a:lnTo>
                    <a:pt x="190" y="73"/>
                  </a:lnTo>
                  <a:cubicBezTo>
                    <a:pt x="182" y="67"/>
                    <a:pt x="170" y="66"/>
                    <a:pt x="161" y="72"/>
                  </a:cubicBezTo>
                  <a:lnTo>
                    <a:pt x="0" y="174"/>
                  </a:lnTo>
                  <a:lnTo>
                    <a:pt x="27" y="216"/>
                  </a:lnTo>
                  <a:lnTo>
                    <a:pt x="173" y="124"/>
                  </a:lnTo>
                  <a:lnTo>
                    <a:pt x="278" y="205"/>
                  </a:lnTo>
                  <a:cubicBezTo>
                    <a:pt x="287" y="212"/>
                    <a:pt x="300" y="212"/>
                    <a:pt x="309" y="204"/>
                  </a:cubicBezTo>
                  <a:lnTo>
                    <a:pt x="452" y="86"/>
                  </a:lnTo>
                  <a:lnTo>
                    <a:pt x="482" y="116"/>
                  </a:lnTo>
                  <a:cubicBezTo>
                    <a:pt x="485" y="119"/>
                    <a:pt x="488" y="118"/>
                    <a:pt x="489" y="117"/>
                  </a:cubicBez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96" name="Rounded Rectangle 67">
            <a:extLst>
              <a:ext uri="{FF2B5EF4-FFF2-40B4-BE49-F238E27FC236}">
                <a16:creationId xmlns:a16="http://schemas.microsoft.com/office/drawing/2014/main" id="{D2CBF254-21B2-0BEA-B5D4-433AE427D352}"/>
              </a:ext>
            </a:extLst>
          </p:cNvPr>
          <p:cNvSpPr>
            <a:spLocks/>
          </p:cNvSpPr>
          <p:nvPr/>
        </p:nvSpPr>
        <p:spPr>
          <a:xfrm>
            <a:off x="5585624" y="1137552"/>
            <a:ext cx="4564512" cy="1071421"/>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497" name="TextBox 196">
            <a:extLst>
              <a:ext uri="{FF2B5EF4-FFF2-40B4-BE49-F238E27FC236}">
                <a16:creationId xmlns:a16="http://schemas.microsoft.com/office/drawing/2014/main" id="{BE19419A-2893-AF2E-052E-D69A0B722C0F}"/>
              </a:ext>
            </a:extLst>
          </p:cNvPr>
          <p:cNvSpPr txBox="1">
            <a:spLocks/>
          </p:cNvSpPr>
          <p:nvPr/>
        </p:nvSpPr>
        <p:spPr>
          <a:xfrm>
            <a:off x="5667813" y="1017324"/>
            <a:ext cx="1917715" cy="313624"/>
          </a:xfrm>
          <a:prstGeom prst="roundRect">
            <a:avLst>
              <a:gd name="adj" fmla="val 50000"/>
            </a:avLst>
          </a:prstGeom>
          <a:solidFill>
            <a:srgbClr val="12ABDB"/>
          </a:solidFill>
          <a:ln w="25400" cap="flat" cmpd="sng" algn="ctr">
            <a:no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chemeClr val="tx1"/>
                </a:solidFill>
                <a:effectLst/>
                <a:uLnTx/>
                <a:uFillTx/>
                <a:latin typeface="+mj-lt"/>
                <a:ea typeface="Verdana" panose="020B0604030504040204" pitchFamily="34" charset="0"/>
                <a:cs typeface="Verdana" panose="020B0604030504040204" pitchFamily="34" charset="0"/>
              </a:rPr>
              <a:t>Output</a:t>
            </a:r>
            <a:endParaRPr kumimoji="0" lang="en-US" sz="1000" b="0" i="0" u="none" strike="noStrike" kern="0" cap="none" spc="0" normalizeH="0" baseline="0" noProof="0">
              <a:ln>
                <a:noFill/>
              </a:ln>
              <a:solidFill>
                <a:schemeClr val="tx1"/>
              </a:solidFill>
              <a:effectLst/>
              <a:uLnTx/>
              <a:uFillTx/>
              <a:latin typeface="+mj-lt"/>
              <a:ea typeface="Verdana" panose="020B0604030504040204" pitchFamily="34" charset="0"/>
              <a:cs typeface="Verdana" panose="020B0604030504040204" pitchFamily="34" charset="0"/>
            </a:endParaRPr>
          </a:p>
        </p:txBody>
      </p:sp>
      <p:grpSp>
        <p:nvGrpSpPr>
          <p:cNvPr id="516" name="Presentation9" descr="{&quot;Key&quot;:&quot;POWER_USER_SHAPE_ICON&quot;,&quot;Value&quot;:&quot;POWER_USER_SHAPE_ICON_STYLE_1&quot;}">
            <a:extLst>
              <a:ext uri="{FF2B5EF4-FFF2-40B4-BE49-F238E27FC236}">
                <a16:creationId xmlns:a16="http://schemas.microsoft.com/office/drawing/2014/main" id="{FE2F3296-7EF6-C4B1-A288-B50990DAA629}"/>
              </a:ext>
            </a:extLst>
          </p:cNvPr>
          <p:cNvGrpSpPr>
            <a:grpSpLocks noChangeAspect="1"/>
          </p:cNvGrpSpPr>
          <p:nvPr>
            <p:custDataLst>
              <p:tags r:id="rId5"/>
            </p:custDataLst>
          </p:nvPr>
        </p:nvGrpSpPr>
        <p:grpSpPr>
          <a:xfrm>
            <a:off x="5702791" y="859765"/>
            <a:ext cx="433996" cy="324000"/>
            <a:chOff x="6796088" y="1851026"/>
            <a:chExt cx="884238" cy="677862"/>
          </a:xfrm>
          <a:noFill/>
        </p:grpSpPr>
        <p:sp>
          <p:nvSpPr>
            <p:cNvPr id="517" name="Freeform 157">
              <a:extLst>
                <a:ext uri="{FF2B5EF4-FFF2-40B4-BE49-F238E27FC236}">
                  <a16:creationId xmlns:a16="http://schemas.microsoft.com/office/drawing/2014/main" id="{52E64A46-48DB-11EA-7D63-79D69FE4F51E}"/>
                </a:ext>
              </a:extLst>
            </p:cNvPr>
            <p:cNvSpPr>
              <a:spLocks/>
            </p:cNvSpPr>
            <p:nvPr/>
          </p:nvSpPr>
          <p:spPr bwMode="auto">
            <a:xfrm>
              <a:off x="7018338" y="1851026"/>
              <a:ext cx="661988" cy="512763"/>
            </a:xfrm>
            <a:custGeom>
              <a:avLst/>
              <a:gdLst>
                <a:gd name="T0" fmla="*/ 54 w 870"/>
                <a:gd name="T1" fmla="*/ 54 h 673"/>
                <a:gd name="T2" fmla="*/ 816 w 870"/>
                <a:gd name="T3" fmla="*/ 54 h 673"/>
                <a:gd name="T4" fmla="*/ 816 w 870"/>
                <a:gd name="T5" fmla="*/ 619 h 673"/>
                <a:gd name="T6" fmla="*/ 394 w 870"/>
                <a:gd name="T7" fmla="*/ 619 h 673"/>
                <a:gd name="T8" fmla="*/ 295 w 870"/>
                <a:gd name="T9" fmla="*/ 673 h 673"/>
                <a:gd name="T10" fmla="*/ 817 w 870"/>
                <a:gd name="T11" fmla="*/ 673 h 673"/>
                <a:gd name="T12" fmla="*/ 870 w 870"/>
                <a:gd name="T13" fmla="*/ 620 h 673"/>
                <a:gd name="T14" fmla="*/ 870 w 870"/>
                <a:gd name="T15" fmla="*/ 53 h 673"/>
                <a:gd name="T16" fmla="*/ 817 w 870"/>
                <a:gd name="T17" fmla="*/ 0 h 673"/>
                <a:gd name="T18" fmla="*/ 53 w 870"/>
                <a:gd name="T19" fmla="*/ 0 h 673"/>
                <a:gd name="T20" fmla="*/ 0 w 870"/>
                <a:gd name="T21" fmla="*/ 53 h 673"/>
                <a:gd name="T22" fmla="*/ 0 w 870"/>
                <a:gd name="T23" fmla="*/ 185 h 673"/>
                <a:gd name="T24" fmla="*/ 54 w 870"/>
                <a:gd name="T25" fmla="*/ 215 h 673"/>
                <a:gd name="T26" fmla="*/ 54 w 870"/>
                <a:gd name="T27" fmla="*/ 54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0" h="673">
                  <a:moveTo>
                    <a:pt x="54" y="54"/>
                  </a:moveTo>
                  <a:lnTo>
                    <a:pt x="816" y="54"/>
                  </a:lnTo>
                  <a:lnTo>
                    <a:pt x="816" y="619"/>
                  </a:lnTo>
                  <a:lnTo>
                    <a:pt x="394" y="619"/>
                  </a:lnTo>
                  <a:cubicBezTo>
                    <a:pt x="363" y="638"/>
                    <a:pt x="330" y="656"/>
                    <a:pt x="295" y="673"/>
                  </a:cubicBezTo>
                  <a:lnTo>
                    <a:pt x="817" y="673"/>
                  </a:lnTo>
                  <a:cubicBezTo>
                    <a:pt x="846" y="673"/>
                    <a:pt x="870" y="650"/>
                    <a:pt x="870" y="620"/>
                  </a:cubicBezTo>
                  <a:lnTo>
                    <a:pt x="870" y="53"/>
                  </a:lnTo>
                  <a:cubicBezTo>
                    <a:pt x="870" y="23"/>
                    <a:pt x="846" y="0"/>
                    <a:pt x="817" y="0"/>
                  </a:cubicBezTo>
                  <a:lnTo>
                    <a:pt x="53" y="0"/>
                  </a:lnTo>
                  <a:cubicBezTo>
                    <a:pt x="24" y="0"/>
                    <a:pt x="0" y="23"/>
                    <a:pt x="0" y="53"/>
                  </a:cubicBezTo>
                  <a:lnTo>
                    <a:pt x="0" y="185"/>
                  </a:lnTo>
                  <a:cubicBezTo>
                    <a:pt x="20" y="192"/>
                    <a:pt x="38" y="202"/>
                    <a:pt x="54" y="215"/>
                  </a:cubicBezTo>
                  <a:lnTo>
                    <a:pt x="54" y="54"/>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8" name="Freeform 158">
              <a:extLst>
                <a:ext uri="{FF2B5EF4-FFF2-40B4-BE49-F238E27FC236}">
                  <a16:creationId xmlns:a16="http://schemas.microsoft.com/office/drawing/2014/main" id="{BC693EDF-9E2A-3A09-87D3-AF8F9B3F987B}"/>
                </a:ext>
              </a:extLst>
            </p:cNvPr>
            <p:cNvSpPr>
              <a:spLocks/>
            </p:cNvSpPr>
            <p:nvPr/>
          </p:nvSpPr>
          <p:spPr bwMode="auto">
            <a:xfrm>
              <a:off x="6796088" y="2162175"/>
              <a:ext cx="573088" cy="366713"/>
            </a:xfrm>
            <a:custGeom>
              <a:avLst/>
              <a:gdLst>
                <a:gd name="T0" fmla="*/ 122 w 753"/>
                <a:gd name="T1" fmla="*/ 359 h 482"/>
                <a:gd name="T2" fmla="*/ 154 w 753"/>
                <a:gd name="T3" fmla="*/ 359 h 482"/>
                <a:gd name="T4" fmla="*/ 164 w 753"/>
                <a:gd name="T5" fmla="*/ 482 h 482"/>
                <a:gd name="T6" fmla="*/ 399 w 753"/>
                <a:gd name="T7" fmla="*/ 482 h 482"/>
                <a:gd name="T8" fmla="*/ 399 w 753"/>
                <a:gd name="T9" fmla="*/ 279 h 482"/>
                <a:gd name="T10" fmla="*/ 716 w 753"/>
                <a:gd name="T11" fmla="*/ 121 h 482"/>
                <a:gd name="T12" fmla="*/ 727 w 753"/>
                <a:gd name="T13" fmla="*/ 23 h 482"/>
                <a:gd name="T14" fmla="*/ 679 w 753"/>
                <a:gd name="T15" fmla="*/ 0 h 482"/>
                <a:gd name="T16" fmla="*/ 653 w 753"/>
                <a:gd name="T17" fmla="*/ 7 h 482"/>
                <a:gd name="T18" fmla="*/ 317 w 753"/>
                <a:gd name="T19" fmla="*/ 123 h 482"/>
                <a:gd name="T20" fmla="*/ 230 w 753"/>
                <a:gd name="T21" fmla="*/ 190 h 482"/>
                <a:gd name="T22" fmla="*/ 149 w 753"/>
                <a:gd name="T23" fmla="*/ 129 h 482"/>
                <a:gd name="T24" fmla="*/ 0 w 753"/>
                <a:gd name="T25" fmla="*/ 309 h 482"/>
                <a:gd name="T26" fmla="*/ 0 w 753"/>
                <a:gd name="T27" fmla="*/ 482 h 482"/>
                <a:gd name="T28" fmla="*/ 122 w 753"/>
                <a:gd name="T29" fmla="*/ 482 h 482"/>
                <a:gd name="T30" fmla="*/ 122 w 753"/>
                <a:gd name="T31" fmla="*/ 359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3" h="482">
                  <a:moveTo>
                    <a:pt x="122" y="359"/>
                  </a:moveTo>
                  <a:lnTo>
                    <a:pt x="154" y="359"/>
                  </a:lnTo>
                  <a:lnTo>
                    <a:pt x="164" y="482"/>
                  </a:lnTo>
                  <a:lnTo>
                    <a:pt x="399" y="482"/>
                  </a:lnTo>
                  <a:lnTo>
                    <a:pt x="399" y="279"/>
                  </a:lnTo>
                  <a:cubicBezTo>
                    <a:pt x="529" y="237"/>
                    <a:pt x="643" y="176"/>
                    <a:pt x="716" y="121"/>
                  </a:cubicBezTo>
                  <a:cubicBezTo>
                    <a:pt x="747" y="98"/>
                    <a:pt x="753" y="55"/>
                    <a:pt x="727" y="23"/>
                  </a:cubicBezTo>
                  <a:cubicBezTo>
                    <a:pt x="715" y="9"/>
                    <a:pt x="697" y="0"/>
                    <a:pt x="679" y="0"/>
                  </a:cubicBezTo>
                  <a:cubicBezTo>
                    <a:pt x="670" y="0"/>
                    <a:pt x="661" y="3"/>
                    <a:pt x="653" y="7"/>
                  </a:cubicBezTo>
                  <a:cubicBezTo>
                    <a:pt x="488" y="100"/>
                    <a:pt x="404" y="119"/>
                    <a:pt x="317" y="123"/>
                  </a:cubicBezTo>
                  <a:lnTo>
                    <a:pt x="230" y="190"/>
                  </a:lnTo>
                  <a:lnTo>
                    <a:pt x="149" y="129"/>
                  </a:lnTo>
                  <a:cubicBezTo>
                    <a:pt x="60" y="145"/>
                    <a:pt x="0" y="199"/>
                    <a:pt x="0" y="309"/>
                  </a:cubicBezTo>
                  <a:lnTo>
                    <a:pt x="0" y="482"/>
                  </a:lnTo>
                  <a:lnTo>
                    <a:pt x="122" y="482"/>
                  </a:lnTo>
                  <a:lnTo>
                    <a:pt x="122" y="359"/>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9" name="Oval 159">
              <a:extLst>
                <a:ext uri="{FF2B5EF4-FFF2-40B4-BE49-F238E27FC236}">
                  <a16:creationId xmlns:a16="http://schemas.microsoft.com/office/drawing/2014/main" id="{AB8561EE-E389-2441-8BB1-6C6C5BD2089D}"/>
                </a:ext>
              </a:extLst>
            </p:cNvPr>
            <p:cNvSpPr>
              <a:spLocks noChangeArrowheads="1"/>
            </p:cNvSpPr>
            <p:nvPr/>
          </p:nvSpPr>
          <p:spPr bwMode="auto">
            <a:xfrm>
              <a:off x="6867526" y="2022475"/>
              <a:ext cx="206375" cy="204788"/>
            </a:xfrm>
            <a:prstGeom prst="ellipse">
              <a:avLst/>
            </a:pr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0" name="Freeform 160">
              <a:extLst>
                <a:ext uri="{FF2B5EF4-FFF2-40B4-BE49-F238E27FC236}">
                  <a16:creationId xmlns:a16="http://schemas.microsoft.com/office/drawing/2014/main" id="{46BA6FF2-6B81-C10C-CD28-FE91255690D0}"/>
                </a:ext>
              </a:extLst>
            </p:cNvPr>
            <p:cNvSpPr>
              <a:spLocks/>
            </p:cNvSpPr>
            <p:nvPr/>
          </p:nvSpPr>
          <p:spPr bwMode="auto">
            <a:xfrm>
              <a:off x="7173913" y="1997075"/>
              <a:ext cx="382588" cy="165100"/>
            </a:xfrm>
            <a:custGeom>
              <a:avLst/>
              <a:gdLst>
                <a:gd name="T0" fmla="*/ 489 w 503"/>
                <a:gd name="T1" fmla="*/ 117 h 216"/>
                <a:gd name="T2" fmla="*/ 494 w 503"/>
                <a:gd name="T3" fmla="*/ 111 h 216"/>
                <a:gd name="T4" fmla="*/ 502 w 503"/>
                <a:gd name="T5" fmla="*/ 8 h 216"/>
                <a:gd name="T6" fmla="*/ 500 w 503"/>
                <a:gd name="T7" fmla="*/ 2 h 216"/>
                <a:gd name="T8" fmla="*/ 494 w 503"/>
                <a:gd name="T9" fmla="*/ 0 h 216"/>
                <a:gd name="T10" fmla="*/ 391 w 503"/>
                <a:gd name="T11" fmla="*/ 9 h 216"/>
                <a:gd name="T12" fmla="*/ 385 w 503"/>
                <a:gd name="T13" fmla="*/ 14 h 216"/>
                <a:gd name="T14" fmla="*/ 387 w 503"/>
                <a:gd name="T15" fmla="*/ 21 h 216"/>
                <a:gd name="T16" fmla="*/ 416 w 503"/>
                <a:gd name="T17" fmla="*/ 50 h 216"/>
                <a:gd name="T18" fmla="*/ 292 w 503"/>
                <a:gd name="T19" fmla="*/ 152 h 216"/>
                <a:gd name="T20" fmla="*/ 190 w 503"/>
                <a:gd name="T21" fmla="*/ 73 h 216"/>
                <a:gd name="T22" fmla="*/ 161 w 503"/>
                <a:gd name="T23" fmla="*/ 72 h 216"/>
                <a:gd name="T24" fmla="*/ 0 w 503"/>
                <a:gd name="T25" fmla="*/ 174 h 216"/>
                <a:gd name="T26" fmla="*/ 27 w 503"/>
                <a:gd name="T27" fmla="*/ 216 h 216"/>
                <a:gd name="T28" fmla="*/ 173 w 503"/>
                <a:gd name="T29" fmla="*/ 124 h 216"/>
                <a:gd name="T30" fmla="*/ 278 w 503"/>
                <a:gd name="T31" fmla="*/ 205 h 216"/>
                <a:gd name="T32" fmla="*/ 309 w 503"/>
                <a:gd name="T33" fmla="*/ 204 h 216"/>
                <a:gd name="T34" fmla="*/ 452 w 503"/>
                <a:gd name="T35" fmla="*/ 86 h 216"/>
                <a:gd name="T36" fmla="*/ 482 w 503"/>
                <a:gd name="T37" fmla="*/ 116 h 216"/>
                <a:gd name="T38" fmla="*/ 489 w 503"/>
                <a:gd name="T39" fmla="*/ 11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3" h="216">
                  <a:moveTo>
                    <a:pt x="489" y="117"/>
                  </a:moveTo>
                  <a:cubicBezTo>
                    <a:pt x="492" y="116"/>
                    <a:pt x="494" y="114"/>
                    <a:pt x="494" y="111"/>
                  </a:cubicBezTo>
                  <a:lnTo>
                    <a:pt x="502" y="8"/>
                  </a:lnTo>
                  <a:cubicBezTo>
                    <a:pt x="503" y="6"/>
                    <a:pt x="502" y="4"/>
                    <a:pt x="500" y="2"/>
                  </a:cubicBezTo>
                  <a:cubicBezTo>
                    <a:pt x="499" y="0"/>
                    <a:pt x="497" y="0"/>
                    <a:pt x="494" y="0"/>
                  </a:cubicBezTo>
                  <a:lnTo>
                    <a:pt x="391" y="9"/>
                  </a:lnTo>
                  <a:cubicBezTo>
                    <a:pt x="388" y="9"/>
                    <a:pt x="386" y="11"/>
                    <a:pt x="385" y="14"/>
                  </a:cubicBezTo>
                  <a:cubicBezTo>
                    <a:pt x="384" y="16"/>
                    <a:pt x="385" y="19"/>
                    <a:pt x="387" y="21"/>
                  </a:cubicBezTo>
                  <a:lnTo>
                    <a:pt x="416" y="50"/>
                  </a:lnTo>
                  <a:lnTo>
                    <a:pt x="292" y="152"/>
                  </a:lnTo>
                  <a:lnTo>
                    <a:pt x="190" y="73"/>
                  </a:lnTo>
                  <a:cubicBezTo>
                    <a:pt x="182" y="67"/>
                    <a:pt x="170" y="66"/>
                    <a:pt x="161" y="72"/>
                  </a:cubicBezTo>
                  <a:lnTo>
                    <a:pt x="0" y="174"/>
                  </a:lnTo>
                  <a:lnTo>
                    <a:pt x="27" y="216"/>
                  </a:lnTo>
                  <a:lnTo>
                    <a:pt x="173" y="124"/>
                  </a:lnTo>
                  <a:lnTo>
                    <a:pt x="278" y="205"/>
                  </a:lnTo>
                  <a:cubicBezTo>
                    <a:pt x="287" y="212"/>
                    <a:pt x="300" y="212"/>
                    <a:pt x="309" y="204"/>
                  </a:cubicBezTo>
                  <a:lnTo>
                    <a:pt x="452" y="86"/>
                  </a:lnTo>
                  <a:lnTo>
                    <a:pt x="482" y="116"/>
                  </a:lnTo>
                  <a:cubicBezTo>
                    <a:pt x="485" y="119"/>
                    <a:pt x="488" y="118"/>
                    <a:pt x="489" y="117"/>
                  </a:cubicBez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23" name="TextBox 522">
            <a:extLst>
              <a:ext uri="{FF2B5EF4-FFF2-40B4-BE49-F238E27FC236}">
                <a16:creationId xmlns:a16="http://schemas.microsoft.com/office/drawing/2014/main" id="{4CA824D3-7B47-CE0F-4C3C-913D6B15A89A}"/>
              </a:ext>
            </a:extLst>
          </p:cNvPr>
          <p:cNvSpPr txBox="1"/>
          <p:nvPr/>
        </p:nvSpPr>
        <p:spPr>
          <a:xfrm>
            <a:off x="3526011" y="5506495"/>
            <a:ext cx="2082610" cy="1277273"/>
          </a:xfrm>
          <a:prstGeom prst="rect">
            <a:avLst/>
          </a:prstGeom>
          <a:noFill/>
        </p:spPr>
        <p:txBody>
          <a:bodyPr wrap="square" rtlCol="0">
            <a:spAutoFit/>
          </a:bodyPr>
          <a:lstStyle/>
          <a:p>
            <a:pPr marL="171450" marR="0" lvl="0" indent="-171450" fontAlgn="auto">
              <a:buClr>
                <a:schemeClr val="accent1"/>
              </a:buClr>
              <a:buSzTx/>
              <a:buFont typeface="Arial" panose="020B0604020202020204" pitchFamily="34" charset="0"/>
              <a:buChar char="•"/>
              <a:tabLst/>
              <a:defRPr/>
            </a:pPr>
            <a:r>
              <a:rPr lang="en-US" sz="700"/>
              <a:t>Facilitate &amp; Deep-dive into Business Requirements</a:t>
            </a:r>
          </a:p>
          <a:p>
            <a:pPr marL="171450" marR="0" lvl="0" indent="-171450" fontAlgn="auto">
              <a:buClr>
                <a:schemeClr val="accent1"/>
              </a:buClr>
              <a:buSzTx/>
              <a:buFont typeface="Arial" panose="020B0604020202020204" pitchFamily="34" charset="0"/>
              <a:buChar char="•"/>
              <a:tabLst/>
              <a:defRPr/>
            </a:pPr>
            <a:r>
              <a:rPr lang="en-US" sz="700"/>
              <a:t>Understand detailed business process</a:t>
            </a:r>
          </a:p>
          <a:p>
            <a:pPr marL="171450" indent="-171450">
              <a:buClr>
                <a:schemeClr val="accent1"/>
              </a:buClr>
              <a:buFont typeface="Arial" panose="020B0604020202020204" pitchFamily="34" charset="0"/>
              <a:buChar char="•"/>
              <a:defRPr/>
            </a:pPr>
            <a:r>
              <a:rPr lang="en-US" sz="700"/>
              <a:t>Demonstrate OOTB functionality </a:t>
            </a:r>
          </a:p>
          <a:p>
            <a:pPr marL="171450" marR="0" lvl="0" indent="-171450" fontAlgn="auto">
              <a:buClr>
                <a:schemeClr val="accent1"/>
              </a:buClr>
              <a:buSzTx/>
              <a:buFont typeface="Arial" panose="020B0604020202020204" pitchFamily="34" charset="0"/>
              <a:buChar char="•"/>
              <a:tabLst/>
              <a:defRPr/>
            </a:pPr>
            <a:r>
              <a:rPr lang="en-US" sz="700"/>
              <a:t>Identify areas of system change</a:t>
            </a:r>
          </a:p>
          <a:p>
            <a:pPr marL="171450" marR="0" lvl="0" indent="-171450" fontAlgn="auto">
              <a:buClr>
                <a:schemeClr val="accent1"/>
              </a:buClr>
              <a:buSzTx/>
              <a:buFont typeface="Arial" panose="020B0604020202020204" pitchFamily="34" charset="0"/>
              <a:buChar char="•"/>
              <a:tabLst/>
              <a:defRPr/>
            </a:pPr>
            <a:r>
              <a:rPr lang="en-US" sz="700"/>
              <a:t>Identify dependencies &amp; impacted systems</a:t>
            </a:r>
          </a:p>
          <a:p>
            <a:pPr marL="171450" marR="0" lvl="0" indent="-171450" fontAlgn="auto">
              <a:buClr>
                <a:schemeClr val="accent1"/>
              </a:buClr>
              <a:buSzTx/>
              <a:buFont typeface="Arial" panose="020B0604020202020204" pitchFamily="34" charset="0"/>
              <a:buChar char="•"/>
              <a:tabLst/>
              <a:defRPr/>
            </a:pPr>
            <a:r>
              <a:rPr lang="en-US" sz="700"/>
              <a:t>Capture requirements;, Key decision, Actions &amp; Parking lot items</a:t>
            </a:r>
          </a:p>
          <a:p>
            <a:pPr marL="171450" marR="0" lvl="0" indent="-171450" fontAlgn="auto">
              <a:buClr>
                <a:schemeClr val="accent1"/>
              </a:buClr>
              <a:buSzTx/>
              <a:buFont typeface="Arial" panose="020B0604020202020204" pitchFamily="34" charset="0"/>
              <a:buChar char="•"/>
              <a:tabLst/>
              <a:defRPr/>
            </a:pPr>
            <a:r>
              <a:rPr lang="en-US" sz="700"/>
              <a:t>Own and close assigned actions in time</a:t>
            </a:r>
          </a:p>
          <a:p>
            <a:pPr marL="171450" marR="0" lvl="0" indent="-171450" fontAlgn="auto">
              <a:buClr>
                <a:schemeClr val="accent1"/>
              </a:buClr>
              <a:buSzTx/>
              <a:buFont typeface="Arial" panose="020B0604020202020204" pitchFamily="34" charset="0"/>
              <a:buChar char="•"/>
              <a:tabLst/>
              <a:defRPr/>
            </a:pPr>
            <a:r>
              <a:rPr lang="en-US" sz="700"/>
              <a:t>Capture workshop notes, detailed requirements &amp; failover conditions</a:t>
            </a:r>
          </a:p>
        </p:txBody>
      </p:sp>
      <p:sp>
        <p:nvSpPr>
          <p:cNvPr id="531" name="TextBox 530">
            <a:extLst>
              <a:ext uri="{FF2B5EF4-FFF2-40B4-BE49-F238E27FC236}">
                <a16:creationId xmlns:a16="http://schemas.microsoft.com/office/drawing/2014/main" id="{7F4BC8BA-D2CD-1DF3-6078-FD0753F4BFEE}"/>
              </a:ext>
            </a:extLst>
          </p:cNvPr>
          <p:cNvSpPr txBox="1"/>
          <p:nvPr/>
        </p:nvSpPr>
        <p:spPr>
          <a:xfrm>
            <a:off x="8128632" y="5606438"/>
            <a:ext cx="2200174" cy="1061829"/>
          </a:xfrm>
          <a:prstGeom prst="rect">
            <a:avLst/>
          </a:prstGeom>
          <a:noFill/>
        </p:spPr>
        <p:txBody>
          <a:bodyPr wrap="square" rtlCol="0">
            <a:spAutoFit/>
          </a:bodyPr>
          <a:lstStyle/>
          <a:p>
            <a:pPr marL="171450" indent="-171450">
              <a:buFont typeface="Arial" panose="020B0604020202020204" pitchFamily="34" charset="0"/>
              <a:buChar char="•"/>
            </a:pPr>
            <a:r>
              <a:rPr lang="en-GB" sz="700"/>
              <a:t>Preparedness to Workshop</a:t>
            </a:r>
          </a:p>
          <a:p>
            <a:pPr marL="171450" indent="-171450">
              <a:buFont typeface="Arial" panose="020B0604020202020204" pitchFamily="34" charset="0"/>
              <a:buChar char="•"/>
            </a:pPr>
            <a:r>
              <a:rPr lang="en-GB" sz="700"/>
              <a:t>Active Participation</a:t>
            </a:r>
          </a:p>
          <a:p>
            <a:pPr marL="171450" indent="-171450">
              <a:buFont typeface="Arial" panose="020B0604020202020204" pitchFamily="34" charset="0"/>
              <a:buChar char="•"/>
            </a:pPr>
            <a:r>
              <a:rPr lang="en-GB" sz="700"/>
              <a:t>Provide detailed Business Requirements</a:t>
            </a:r>
          </a:p>
          <a:p>
            <a:pPr marL="171450" indent="-171450">
              <a:buFont typeface="Arial" panose="020B0604020202020204" pitchFamily="34" charset="0"/>
              <a:buChar char="•"/>
            </a:pPr>
            <a:r>
              <a:rPr lang="en-GB" sz="700"/>
              <a:t>Elaborate Current State Process / rationale</a:t>
            </a:r>
          </a:p>
          <a:p>
            <a:pPr marL="171450" indent="-171450">
              <a:buFont typeface="Arial" panose="020B0604020202020204" pitchFamily="34" charset="0"/>
              <a:buChar char="•"/>
            </a:pPr>
            <a:r>
              <a:rPr lang="en-GB" sz="700"/>
              <a:t>Make decisions quickly</a:t>
            </a:r>
          </a:p>
          <a:p>
            <a:pPr marL="171450" indent="-171450">
              <a:buFont typeface="Arial" panose="020B0604020202020204" pitchFamily="34" charset="0"/>
              <a:buChar char="•"/>
            </a:pPr>
            <a:r>
              <a:rPr lang="en-GB" sz="700"/>
              <a:t>Own actions end to end</a:t>
            </a:r>
          </a:p>
          <a:p>
            <a:pPr marL="171450" indent="-171450">
              <a:buFont typeface="Arial" panose="020B0604020202020204" pitchFamily="34" charset="0"/>
              <a:buChar char="•"/>
            </a:pPr>
            <a:r>
              <a:rPr lang="en-GB" sz="700"/>
              <a:t>Close actions in time</a:t>
            </a:r>
          </a:p>
          <a:p>
            <a:pPr marL="171450" indent="-171450">
              <a:buFont typeface="Arial" panose="020B0604020202020204" pitchFamily="34" charset="0"/>
              <a:buChar char="•"/>
            </a:pPr>
            <a:r>
              <a:rPr lang="en-GB" sz="700"/>
              <a:t>80:20 rule</a:t>
            </a:r>
          </a:p>
          <a:p>
            <a:pPr marL="171450" indent="-171450">
              <a:buFont typeface="Arial" panose="020B0604020202020204" pitchFamily="34" charset="0"/>
              <a:buChar char="•"/>
            </a:pPr>
            <a:r>
              <a:rPr lang="en-GB" sz="700"/>
              <a:t>Adapt vs Adopt</a:t>
            </a:r>
          </a:p>
        </p:txBody>
      </p:sp>
      <p:sp>
        <p:nvSpPr>
          <p:cNvPr id="535" name="TextBox 534">
            <a:extLst>
              <a:ext uri="{FF2B5EF4-FFF2-40B4-BE49-F238E27FC236}">
                <a16:creationId xmlns:a16="http://schemas.microsoft.com/office/drawing/2014/main" id="{1C54E378-68EB-ED9B-E833-6A8354A23E3D}"/>
              </a:ext>
            </a:extLst>
          </p:cNvPr>
          <p:cNvSpPr txBox="1"/>
          <p:nvPr/>
        </p:nvSpPr>
        <p:spPr>
          <a:xfrm>
            <a:off x="5894428" y="5570707"/>
            <a:ext cx="2082610" cy="1169551"/>
          </a:xfrm>
          <a:prstGeom prst="rect">
            <a:avLst/>
          </a:prstGeom>
          <a:noFill/>
        </p:spPr>
        <p:txBody>
          <a:bodyPr wrap="square" rtlCol="0">
            <a:spAutoFit/>
          </a:bodyPr>
          <a:lstStyle/>
          <a:p>
            <a:pPr marL="171450" marR="0" lvl="0" indent="-171450" fontAlgn="auto">
              <a:buClr>
                <a:schemeClr val="accent1"/>
              </a:buClr>
              <a:buSzTx/>
              <a:buFont typeface="Arial" panose="020B0604020202020204" pitchFamily="34" charset="0"/>
              <a:buChar char="•"/>
              <a:tabLst/>
              <a:defRPr/>
            </a:pPr>
            <a:r>
              <a:rPr lang="en-US" sz="700"/>
              <a:t>Moderate workshops</a:t>
            </a:r>
          </a:p>
          <a:p>
            <a:pPr marL="171450" marR="0" lvl="0" indent="-171450" fontAlgn="auto">
              <a:buClr>
                <a:schemeClr val="accent1"/>
              </a:buClr>
              <a:buSzTx/>
              <a:buFont typeface="Arial" panose="020B0604020202020204" pitchFamily="34" charset="0"/>
              <a:buChar char="•"/>
              <a:tabLst/>
              <a:defRPr/>
            </a:pPr>
            <a:r>
              <a:rPr lang="en-US" sz="700"/>
              <a:t>Bring in Right participants</a:t>
            </a:r>
          </a:p>
          <a:p>
            <a:pPr marL="171450" marR="0" lvl="0" indent="-171450" fontAlgn="auto">
              <a:buClr>
                <a:schemeClr val="accent1"/>
              </a:buClr>
              <a:buSzTx/>
              <a:buFont typeface="Arial" panose="020B0604020202020204" pitchFamily="34" charset="0"/>
              <a:buChar char="•"/>
              <a:tabLst/>
              <a:defRPr/>
            </a:pPr>
            <a:r>
              <a:rPr lang="en-US" sz="700"/>
              <a:t>Make decisions </a:t>
            </a:r>
            <a:r>
              <a:rPr lang="en-US" sz="700" err="1"/>
              <a:t>quikcly</a:t>
            </a:r>
            <a:endParaRPr lang="en-US" sz="700"/>
          </a:p>
          <a:p>
            <a:pPr marL="171450" marR="0" lvl="0" indent="-171450" fontAlgn="auto">
              <a:buClr>
                <a:schemeClr val="accent1"/>
              </a:buClr>
              <a:buSzTx/>
              <a:buFont typeface="Arial" panose="020B0604020202020204" pitchFamily="34" charset="0"/>
              <a:buChar char="•"/>
              <a:tabLst/>
              <a:defRPr/>
            </a:pPr>
            <a:r>
              <a:rPr lang="en-US" sz="700"/>
              <a:t>Encourage SMEs to make decisions</a:t>
            </a:r>
          </a:p>
          <a:p>
            <a:pPr marL="171450" marR="0" lvl="0" indent="-171450" fontAlgn="auto">
              <a:buClr>
                <a:schemeClr val="accent1"/>
              </a:buClr>
              <a:buSzTx/>
              <a:buFont typeface="Arial" panose="020B0604020202020204" pitchFamily="34" charset="0"/>
              <a:buChar char="•"/>
              <a:tabLst/>
              <a:defRPr/>
            </a:pPr>
            <a:r>
              <a:rPr lang="en-US" sz="700"/>
              <a:t>Identify action Owners &amp; resolve dependencies</a:t>
            </a:r>
          </a:p>
          <a:p>
            <a:pPr marL="171450" marR="0" lvl="0" indent="-171450" fontAlgn="auto">
              <a:buClr>
                <a:schemeClr val="accent1"/>
              </a:buClr>
              <a:buSzTx/>
              <a:buFont typeface="Arial" panose="020B0604020202020204" pitchFamily="34" charset="0"/>
              <a:buChar char="•"/>
              <a:tabLst/>
              <a:defRPr/>
            </a:pPr>
            <a:r>
              <a:rPr lang="en-US" sz="700"/>
              <a:t>Own &amp;/or Assign actions</a:t>
            </a:r>
          </a:p>
          <a:p>
            <a:pPr marL="171450" marR="0" lvl="0" indent="-171450" fontAlgn="auto">
              <a:buClr>
                <a:schemeClr val="accent1"/>
              </a:buClr>
              <a:buSzTx/>
              <a:buFont typeface="Arial" panose="020B0604020202020204" pitchFamily="34" charset="0"/>
              <a:buChar char="•"/>
              <a:tabLst/>
              <a:defRPr/>
            </a:pPr>
            <a:r>
              <a:rPr lang="en-US" sz="700"/>
              <a:t>Drive actions to closure</a:t>
            </a:r>
          </a:p>
          <a:p>
            <a:pPr marL="171450" marR="0" lvl="0" indent="-171450" fontAlgn="auto">
              <a:buClr>
                <a:schemeClr val="accent1"/>
              </a:buClr>
              <a:buSzTx/>
              <a:buFont typeface="Arial" panose="020B0604020202020204" pitchFamily="34" charset="0"/>
              <a:buChar char="•"/>
              <a:tabLst/>
              <a:defRPr/>
            </a:pPr>
            <a:r>
              <a:rPr lang="en-US" sz="700"/>
              <a:t>Ensure workshop alignment with ‘Big Picture’</a:t>
            </a:r>
          </a:p>
        </p:txBody>
      </p:sp>
      <p:cxnSp>
        <p:nvCxnSpPr>
          <p:cNvPr id="537" name="Connector: Curved 536">
            <a:extLst>
              <a:ext uri="{FF2B5EF4-FFF2-40B4-BE49-F238E27FC236}">
                <a16:creationId xmlns:a16="http://schemas.microsoft.com/office/drawing/2014/main" id="{7350C6CF-0944-F831-FAF5-19B222F16971}"/>
              </a:ext>
            </a:extLst>
          </p:cNvPr>
          <p:cNvCxnSpPr>
            <a:stCxn id="336" idx="1"/>
            <a:endCxn id="443" idx="0"/>
          </p:cNvCxnSpPr>
          <p:nvPr/>
        </p:nvCxnSpPr>
        <p:spPr>
          <a:xfrm rot="10800000" flipV="1">
            <a:off x="4568709" y="4638770"/>
            <a:ext cx="1184283" cy="550604"/>
          </a:xfrm>
          <a:prstGeom prst="curvedConnector2">
            <a:avLst/>
          </a:prstGeom>
        </p:spPr>
        <p:style>
          <a:lnRef idx="1">
            <a:schemeClr val="accent1"/>
          </a:lnRef>
          <a:fillRef idx="0">
            <a:schemeClr val="accent1"/>
          </a:fillRef>
          <a:effectRef idx="0">
            <a:schemeClr val="accent1"/>
          </a:effectRef>
          <a:fontRef idx="minor">
            <a:schemeClr val="tx1"/>
          </a:fontRef>
        </p:style>
      </p:cxnSp>
      <p:cxnSp>
        <p:nvCxnSpPr>
          <p:cNvPr id="539" name="Connector: Curved 538">
            <a:extLst>
              <a:ext uri="{FF2B5EF4-FFF2-40B4-BE49-F238E27FC236}">
                <a16:creationId xmlns:a16="http://schemas.microsoft.com/office/drawing/2014/main" id="{377D292E-37A7-BAFA-F519-7CCC816832B3}"/>
              </a:ext>
            </a:extLst>
          </p:cNvPr>
          <p:cNvCxnSpPr>
            <a:cxnSpLocks/>
            <a:stCxn id="336" idx="3"/>
            <a:endCxn id="447" idx="0"/>
          </p:cNvCxnSpPr>
          <p:nvPr/>
        </p:nvCxnSpPr>
        <p:spPr>
          <a:xfrm>
            <a:off x="7081600" y="4638770"/>
            <a:ext cx="2093170" cy="624423"/>
          </a:xfrm>
          <a:prstGeom prst="curvedConnector2">
            <a:avLst/>
          </a:prstGeom>
        </p:spPr>
        <p:style>
          <a:lnRef idx="1">
            <a:schemeClr val="accent1"/>
          </a:lnRef>
          <a:fillRef idx="0">
            <a:schemeClr val="accent1"/>
          </a:fillRef>
          <a:effectRef idx="0">
            <a:schemeClr val="accent1"/>
          </a:effectRef>
          <a:fontRef idx="minor">
            <a:schemeClr val="tx1"/>
          </a:fontRef>
        </p:style>
      </p:cxnSp>
      <p:cxnSp>
        <p:nvCxnSpPr>
          <p:cNvPr id="543" name="Connector: Curved 542">
            <a:extLst>
              <a:ext uri="{FF2B5EF4-FFF2-40B4-BE49-F238E27FC236}">
                <a16:creationId xmlns:a16="http://schemas.microsoft.com/office/drawing/2014/main" id="{EDBC27EE-FAA4-304D-FEC5-C55130970246}"/>
              </a:ext>
            </a:extLst>
          </p:cNvPr>
          <p:cNvCxnSpPr>
            <a:stCxn id="336" idx="3"/>
            <a:endCxn id="445" idx="0"/>
          </p:cNvCxnSpPr>
          <p:nvPr/>
        </p:nvCxnSpPr>
        <p:spPr>
          <a:xfrm flipH="1">
            <a:off x="6942804" y="4638770"/>
            <a:ext cx="138796" cy="583104"/>
          </a:xfrm>
          <a:prstGeom prst="curvedConnector4">
            <a:avLst>
              <a:gd name="adj1" fmla="val -164702"/>
              <a:gd name="adj2" fmla="val 65245"/>
            </a:avLst>
          </a:prstGeom>
        </p:spPr>
        <p:style>
          <a:lnRef idx="1">
            <a:schemeClr val="accent1"/>
          </a:lnRef>
          <a:fillRef idx="0">
            <a:schemeClr val="accent1"/>
          </a:fillRef>
          <a:effectRef idx="0">
            <a:schemeClr val="accent1"/>
          </a:effectRef>
          <a:fontRef idx="minor">
            <a:schemeClr val="tx1"/>
          </a:fontRef>
        </p:style>
      </p:cxnSp>
      <p:sp>
        <p:nvSpPr>
          <p:cNvPr id="547" name="TextBox 546">
            <a:extLst>
              <a:ext uri="{FF2B5EF4-FFF2-40B4-BE49-F238E27FC236}">
                <a16:creationId xmlns:a16="http://schemas.microsoft.com/office/drawing/2014/main" id="{51214C08-475B-7D48-90C6-AA991A3508E8}"/>
              </a:ext>
            </a:extLst>
          </p:cNvPr>
          <p:cNvSpPr txBox="1"/>
          <p:nvPr/>
        </p:nvSpPr>
        <p:spPr>
          <a:xfrm>
            <a:off x="5652446" y="1365363"/>
            <a:ext cx="4570610" cy="1600438"/>
          </a:xfrm>
          <a:prstGeom prst="rect">
            <a:avLst/>
          </a:prstGeom>
          <a:noFill/>
        </p:spPr>
        <p:txBody>
          <a:bodyPr wrap="square" numCol="2" rtlCol="0">
            <a:spAutoFit/>
          </a:bodyPr>
          <a:lstStyle/>
          <a:p>
            <a:pPr marL="171450" indent="-171450">
              <a:buFont typeface="Arial" panose="020B0604020202020204" pitchFamily="34" charset="0"/>
              <a:buChar char="•"/>
            </a:pPr>
            <a:r>
              <a:rPr lang="en-GB" sz="700" b="1"/>
              <a:t>Playback sessions*</a:t>
            </a:r>
            <a:r>
              <a:rPr lang="en-GB" sz="700"/>
              <a:t> to demonstrate Requirements captured</a:t>
            </a:r>
          </a:p>
          <a:p>
            <a:pPr marL="171450" indent="-171450">
              <a:buFont typeface="Arial" panose="020B0604020202020204" pitchFamily="34" charset="0"/>
              <a:buChar char="•"/>
            </a:pPr>
            <a:r>
              <a:rPr lang="en-GB" sz="700"/>
              <a:t>Signed-off User Stories including Business Rules, FLS and Acceptance criteria</a:t>
            </a:r>
          </a:p>
          <a:p>
            <a:pPr marL="171450" indent="-171450">
              <a:buFont typeface="Arial" panose="020B0604020202020204" pitchFamily="34" charset="0"/>
              <a:buChar char="•"/>
            </a:pPr>
            <a:r>
              <a:rPr lang="en-GB" sz="700"/>
              <a:t>Integration Inventory</a:t>
            </a:r>
          </a:p>
          <a:p>
            <a:pPr marL="171450" indent="-171450">
              <a:buFont typeface="Arial" panose="020B0604020202020204" pitchFamily="34" charset="0"/>
              <a:buChar char="•"/>
            </a:pPr>
            <a:r>
              <a:rPr lang="en-GB" sz="700"/>
              <a:t>Key Decisions, Pending Actions, Parked items Log</a:t>
            </a:r>
          </a:p>
          <a:p>
            <a:pPr marL="171450" indent="-171450">
              <a:buFont typeface="Arial" panose="020B0604020202020204" pitchFamily="34" charset="0"/>
              <a:buChar char="•"/>
            </a:pPr>
            <a:endParaRPr lang="en-GB" sz="700"/>
          </a:p>
          <a:p>
            <a:pPr marL="171450" indent="-171450">
              <a:buFont typeface="Arial" panose="020B0604020202020204" pitchFamily="34" charset="0"/>
              <a:buChar char="•"/>
            </a:pPr>
            <a:endParaRPr lang="en-GB" sz="700"/>
          </a:p>
          <a:p>
            <a:pPr marL="171450" indent="-171450">
              <a:buFont typeface="Arial" panose="020B0604020202020204" pitchFamily="34" charset="0"/>
              <a:buChar char="•"/>
            </a:pPr>
            <a:endParaRPr lang="en-GB" sz="700"/>
          </a:p>
          <a:p>
            <a:pPr marL="171450" indent="-171450">
              <a:buFont typeface="Arial" panose="020B0604020202020204" pitchFamily="34" charset="0"/>
              <a:buChar char="•"/>
            </a:pPr>
            <a:endParaRPr lang="en-GB" sz="700"/>
          </a:p>
          <a:p>
            <a:endParaRPr lang="en-GB" sz="700"/>
          </a:p>
          <a:p>
            <a:pPr marL="171450" indent="-171450">
              <a:buFont typeface="Arial" panose="020B0604020202020204" pitchFamily="34" charset="0"/>
              <a:buChar char="•"/>
            </a:pPr>
            <a:endParaRPr lang="en-GB" sz="700"/>
          </a:p>
          <a:p>
            <a:pPr marL="171450" indent="-171450">
              <a:buFont typeface="Arial" panose="020B0604020202020204" pitchFamily="34" charset="0"/>
              <a:buChar char="•"/>
            </a:pPr>
            <a:endParaRPr lang="en-GB" sz="700"/>
          </a:p>
          <a:p>
            <a:pPr marL="171450" indent="-171450">
              <a:buFont typeface="Arial" panose="020B0604020202020204" pitchFamily="34" charset="0"/>
              <a:buChar char="•"/>
            </a:pPr>
            <a:endParaRPr lang="en-GB" sz="700"/>
          </a:p>
          <a:p>
            <a:pPr marL="171450" indent="-171450">
              <a:buFont typeface="Arial" panose="020B0604020202020204" pitchFamily="34" charset="0"/>
              <a:buChar char="•"/>
            </a:pPr>
            <a:r>
              <a:rPr lang="en-GB" sz="700"/>
              <a:t>Updated Future State process flows</a:t>
            </a:r>
          </a:p>
          <a:p>
            <a:pPr marL="171450" indent="-171450">
              <a:buFont typeface="Arial" panose="020B0604020202020204" pitchFamily="34" charset="0"/>
              <a:buChar char="•"/>
            </a:pPr>
            <a:r>
              <a:rPr lang="en-GB" sz="700"/>
              <a:t>Low level Designs</a:t>
            </a:r>
          </a:p>
          <a:p>
            <a:pPr marL="171450" indent="-171450">
              <a:buFont typeface="Arial" panose="020B0604020202020204" pitchFamily="34" charset="0"/>
              <a:buChar char="•"/>
            </a:pPr>
            <a:r>
              <a:rPr lang="en-GB" sz="700"/>
              <a:t>Architectural Decision log</a:t>
            </a:r>
          </a:p>
          <a:p>
            <a:pPr marL="171450" indent="-171450">
              <a:buFont typeface="Arial" panose="020B0604020202020204" pitchFamily="34" charset="0"/>
              <a:buChar char="•"/>
            </a:pPr>
            <a:r>
              <a:rPr lang="en-GB" sz="700"/>
              <a:t>Updated Dependencies Tracker</a:t>
            </a:r>
          </a:p>
          <a:p>
            <a:pPr marL="171450" indent="-171450">
              <a:buFont typeface="Arial" panose="020B0604020202020204" pitchFamily="34" charset="0"/>
              <a:buChar char="•"/>
            </a:pPr>
            <a:r>
              <a:rPr lang="en-GB" sz="700"/>
              <a:t>Updated RAID log</a:t>
            </a:r>
          </a:p>
          <a:p>
            <a:pPr marL="171450" indent="-171450">
              <a:buFont typeface="Arial" panose="020B0604020202020204" pitchFamily="34" charset="0"/>
              <a:buChar char="•"/>
            </a:pPr>
            <a:r>
              <a:rPr lang="en-GB" sz="700"/>
              <a:t>User Stories handed over to Dev &amp; Test teams</a:t>
            </a:r>
          </a:p>
          <a:p>
            <a:pPr marL="171450" indent="-171450">
              <a:buFont typeface="Arial" panose="020B0604020202020204" pitchFamily="34" charset="0"/>
              <a:buChar char="•"/>
            </a:pPr>
            <a:endParaRPr lang="en-GB" sz="700"/>
          </a:p>
          <a:p>
            <a:pPr marL="171450" indent="-171450">
              <a:buFont typeface="Arial" panose="020B0604020202020204" pitchFamily="34" charset="0"/>
              <a:buChar char="•"/>
            </a:pPr>
            <a:endParaRPr lang="en-GB" sz="700"/>
          </a:p>
          <a:p>
            <a:pPr marL="171450" indent="-171450">
              <a:buFont typeface="Arial" panose="020B0604020202020204" pitchFamily="34" charset="0"/>
              <a:buChar char="•"/>
            </a:pPr>
            <a:endParaRPr lang="en-GB" sz="700"/>
          </a:p>
          <a:p>
            <a:pPr marL="171450" indent="-171450">
              <a:buFont typeface="Arial" panose="020B0604020202020204" pitchFamily="34" charset="0"/>
              <a:buChar char="•"/>
            </a:pPr>
            <a:endParaRPr lang="en-GB" sz="700"/>
          </a:p>
        </p:txBody>
      </p:sp>
      <p:sp>
        <p:nvSpPr>
          <p:cNvPr id="549" name="Freeform 402">
            <a:extLst>
              <a:ext uri="{FF2B5EF4-FFF2-40B4-BE49-F238E27FC236}">
                <a16:creationId xmlns:a16="http://schemas.microsoft.com/office/drawing/2014/main" id="{17D5E50A-5B7B-F5AA-C5B7-CF0B784B256C}"/>
              </a:ext>
            </a:extLst>
          </p:cNvPr>
          <p:cNvSpPr>
            <a:spLocks noEditPoints="1"/>
          </p:cNvSpPr>
          <p:nvPr/>
        </p:nvSpPr>
        <p:spPr bwMode="auto">
          <a:xfrm>
            <a:off x="10398288" y="831317"/>
            <a:ext cx="408938" cy="328738"/>
          </a:xfrm>
          <a:custGeom>
            <a:avLst/>
            <a:gdLst/>
            <a:ahLst/>
            <a:cxnLst>
              <a:cxn ang="0">
                <a:pos x="149" y="45"/>
              </a:cxn>
              <a:cxn ang="0">
                <a:pos x="169" y="94"/>
              </a:cxn>
              <a:cxn ang="0">
                <a:pos x="151" y="96"/>
              </a:cxn>
              <a:cxn ang="0">
                <a:pos x="176" y="48"/>
              </a:cxn>
              <a:cxn ang="0">
                <a:pos x="191" y="44"/>
              </a:cxn>
              <a:cxn ang="0">
                <a:pos x="179" y="29"/>
              </a:cxn>
              <a:cxn ang="0">
                <a:pos x="172" y="19"/>
              </a:cxn>
              <a:cxn ang="0">
                <a:pos x="164" y="0"/>
              </a:cxn>
              <a:cxn ang="0">
                <a:pos x="146" y="1"/>
              </a:cxn>
              <a:cxn ang="0">
                <a:pos x="139" y="20"/>
              </a:cxn>
              <a:cxn ang="0">
                <a:pos x="134" y="30"/>
              </a:cxn>
              <a:cxn ang="0">
                <a:pos x="122" y="46"/>
              </a:cxn>
              <a:cxn ang="0">
                <a:pos x="132" y="61"/>
              </a:cxn>
              <a:cxn ang="0">
                <a:pos x="151" y="58"/>
              </a:cxn>
              <a:cxn ang="0">
                <a:pos x="165" y="60"/>
              </a:cxn>
              <a:cxn ang="0">
                <a:pos x="177" y="76"/>
              </a:cxn>
              <a:cxn ang="0">
                <a:pos x="186" y="83"/>
              </a:cxn>
              <a:cxn ang="0">
                <a:pos x="204" y="92"/>
              </a:cxn>
              <a:cxn ang="0">
                <a:pos x="205" y="108"/>
              </a:cxn>
              <a:cxn ang="0">
                <a:pos x="189" y="120"/>
              </a:cxn>
              <a:cxn ang="0">
                <a:pos x="181" y="128"/>
              </a:cxn>
              <a:cxn ang="0">
                <a:pos x="173" y="146"/>
              </a:cxn>
              <a:cxn ang="0">
                <a:pos x="157" y="148"/>
              </a:cxn>
              <a:cxn ang="0">
                <a:pos x="145" y="132"/>
              </a:cxn>
              <a:cxn ang="0">
                <a:pos x="136" y="124"/>
              </a:cxn>
              <a:cxn ang="0">
                <a:pos x="118" y="115"/>
              </a:cxn>
              <a:cxn ang="0">
                <a:pos x="117" y="99"/>
              </a:cxn>
              <a:cxn ang="0">
                <a:pos x="132" y="86"/>
              </a:cxn>
              <a:cxn ang="0">
                <a:pos x="128" y="64"/>
              </a:cxn>
              <a:cxn ang="0">
                <a:pos x="105" y="47"/>
              </a:cxn>
              <a:cxn ang="0">
                <a:pos x="95" y="33"/>
              </a:cxn>
              <a:cxn ang="0">
                <a:pos x="82" y="7"/>
              </a:cxn>
              <a:cxn ang="0">
                <a:pos x="59" y="5"/>
              </a:cxn>
              <a:cxn ang="0">
                <a:pos x="42" y="28"/>
              </a:cxn>
              <a:cxn ang="0">
                <a:pos x="29" y="39"/>
              </a:cxn>
              <a:cxn ang="0">
                <a:pos x="2" y="51"/>
              </a:cxn>
              <a:cxn ang="0">
                <a:pos x="0" y="74"/>
              </a:cxn>
              <a:cxn ang="0">
                <a:pos x="23" y="91"/>
              </a:cxn>
              <a:cxn ang="0">
                <a:pos x="34" y="104"/>
              </a:cxn>
              <a:cxn ang="0">
                <a:pos x="46" y="131"/>
              </a:cxn>
              <a:cxn ang="0">
                <a:pos x="69" y="133"/>
              </a:cxn>
              <a:cxn ang="0">
                <a:pos x="87" y="110"/>
              </a:cxn>
              <a:cxn ang="0">
                <a:pos x="100" y="99"/>
              </a:cxn>
              <a:cxn ang="0">
                <a:pos x="61" y="51"/>
              </a:cxn>
            </a:cxnLst>
            <a:rect l="0" t="0" r="r" b="b"/>
            <a:pathLst>
              <a:path w="205" h="148">
                <a:moveTo>
                  <a:pt x="164" y="27"/>
                </a:moveTo>
                <a:cubicBezTo>
                  <a:pt x="169" y="31"/>
                  <a:pt x="169" y="38"/>
                  <a:pt x="165" y="43"/>
                </a:cubicBezTo>
                <a:cubicBezTo>
                  <a:pt x="161" y="48"/>
                  <a:pt x="154" y="49"/>
                  <a:pt x="149" y="45"/>
                </a:cubicBezTo>
                <a:cubicBezTo>
                  <a:pt x="144" y="41"/>
                  <a:pt x="143" y="33"/>
                  <a:pt x="147" y="28"/>
                </a:cubicBezTo>
                <a:cubicBezTo>
                  <a:pt x="152" y="23"/>
                  <a:pt x="159" y="23"/>
                  <a:pt x="164" y="27"/>
                </a:cubicBezTo>
                <a:close/>
                <a:moveTo>
                  <a:pt x="169" y="94"/>
                </a:moveTo>
                <a:cubicBezTo>
                  <a:pt x="174" y="98"/>
                  <a:pt x="175" y="106"/>
                  <a:pt x="171" y="112"/>
                </a:cubicBezTo>
                <a:cubicBezTo>
                  <a:pt x="166" y="117"/>
                  <a:pt x="158" y="118"/>
                  <a:pt x="153" y="113"/>
                </a:cubicBezTo>
                <a:cubicBezTo>
                  <a:pt x="147" y="109"/>
                  <a:pt x="147" y="101"/>
                  <a:pt x="151" y="96"/>
                </a:cubicBezTo>
                <a:cubicBezTo>
                  <a:pt x="156" y="90"/>
                  <a:pt x="164" y="89"/>
                  <a:pt x="169" y="94"/>
                </a:cubicBezTo>
                <a:close/>
                <a:moveTo>
                  <a:pt x="183" y="60"/>
                </a:moveTo>
                <a:cubicBezTo>
                  <a:pt x="176" y="48"/>
                  <a:pt x="176" y="48"/>
                  <a:pt x="176" y="48"/>
                </a:cubicBezTo>
                <a:cubicBezTo>
                  <a:pt x="176" y="48"/>
                  <a:pt x="177" y="47"/>
                  <a:pt x="177" y="46"/>
                </a:cubicBezTo>
                <a:cubicBezTo>
                  <a:pt x="178" y="46"/>
                  <a:pt x="178" y="45"/>
                  <a:pt x="178" y="44"/>
                </a:cubicBezTo>
                <a:cubicBezTo>
                  <a:pt x="191" y="44"/>
                  <a:pt x="191" y="44"/>
                  <a:pt x="191" y="44"/>
                </a:cubicBezTo>
                <a:cubicBezTo>
                  <a:pt x="192" y="37"/>
                  <a:pt x="192" y="37"/>
                  <a:pt x="192" y="37"/>
                </a:cubicBezTo>
                <a:cubicBezTo>
                  <a:pt x="180" y="33"/>
                  <a:pt x="180" y="33"/>
                  <a:pt x="180" y="33"/>
                </a:cubicBezTo>
                <a:cubicBezTo>
                  <a:pt x="180" y="31"/>
                  <a:pt x="179" y="30"/>
                  <a:pt x="179" y="29"/>
                </a:cubicBezTo>
                <a:cubicBezTo>
                  <a:pt x="189" y="20"/>
                  <a:pt x="189" y="20"/>
                  <a:pt x="189" y="20"/>
                </a:cubicBezTo>
                <a:cubicBezTo>
                  <a:pt x="185" y="14"/>
                  <a:pt x="185" y="14"/>
                  <a:pt x="185" y="14"/>
                </a:cubicBezTo>
                <a:cubicBezTo>
                  <a:pt x="172" y="19"/>
                  <a:pt x="172" y="19"/>
                  <a:pt x="172" y="19"/>
                </a:cubicBezTo>
                <a:cubicBezTo>
                  <a:pt x="171" y="18"/>
                  <a:pt x="170" y="17"/>
                  <a:pt x="169" y="16"/>
                </a:cubicBezTo>
                <a:cubicBezTo>
                  <a:pt x="171" y="3"/>
                  <a:pt x="171" y="3"/>
                  <a:pt x="171" y="3"/>
                </a:cubicBezTo>
                <a:cubicBezTo>
                  <a:pt x="164" y="0"/>
                  <a:pt x="164" y="0"/>
                  <a:pt x="164" y="0"/>
                </a:cubicBezTo>
                <a:cubicBezTo>
                  <a:pt x="158" y="12"/>
                  <a:pt x="158" y="12"/>
                  <a:pt x="158" y="12"/>
                </a:cubicBezTo>
                <a:cubicBezTo>
                  <a:pt x="156" y="12"/>
                  <a:pt x="155" y="12"/>
                  <a:pt x="153" y="12"/>
                </a:cubicBezTo>
                <a:cubicBezTo>
                  <a:pt x="146" y="1"/>
                  <a:pt x="146" y="1"/>
                  <a:pt x="146" y="1"/>
                </a:cubicBezTo>
                <a:cubicBezTo>
                  <a:pt x="140" y="4"/>
                  <a:pt x="140" y="4"/>
                  <a:pt x="140" y="4"/>
                </a:cubicBezTo>
                <a:cubicBezTo>
                  <a:pt x="142" y="17"/>
                  <a:pt x="142" y="17"/>
                  <a:pt x="142" y="17"/>
                </a:cubicBezTo>
                <a:cubicBezTo>
                  <a:pt x="141" y="18"/>
                  <a:pt x="140" y="19"/>
                  <a:pt x="139" y="20"/>
                </a:cubicBezTo>
                <a:cubicBezTo>
                  <a:pt x="127" y="16"/>
                  <a:pt x="127" y="16"/>
                  <a:pt x="127" y="16"/>
                </a:cubicBezTo>
                <a:cubicBezTo>
                  <a:pt x="123" y="22"/>
                  <a:pt x="123" y="22"/>
                  <a:pt x="123" y="22"/>
                </a:cubicBezTo>
                <a:cubicBezTo>
                  <a:pt x="134" y="30"/>
                  <a:pt x="134" y="30"/>
                  <a:pt x="134" y="30"/>
                </a:cubicBezTo>
                <a:cubicBezTo>
                  <a:pt x="133" y="32"/>
                  <a:pt x="133" y="33"/>
                  <a:pt x="133" y="34"/>
                </a:cubicBezTo>
                <a:cubicBezTo>
                  <a:pt x="121" y="39"/>
                  <a:pt x="121" y="39"/>
                  <a:pt x="121" y="39"/>
                </a:cubicBezTo>
                <a:cubicBezTo>
                  <a:pt x="122" y="46"/>
                  <a:pt x="122" y="46"/>
                  <a:pt x="122" y="46"/>
                </a:cubicBezTo>
                <a:cubicBezTo>
                  <a:pt x="136" y="46"/>
                  <a:pt x="136" y="46"/>
                  <a:pt x="136" y="46"/>
                </a:cubicBezTo>
                <a:cubicBezTo>
                  <a:pt x="136" y="47"/>
                  <a:pt x="137" y="49"/>
                  <a:pt x="138" y="50"/>
                </a:cubicBezTo>
                <a:cubicBezTo>
                  <a:pt x="132" y="61"/>
                  <a:pt x="132" y="61"/>
                  <a:pt x="132" y="61"/>
                </a:cubicBezTo>
                <a:cubicBezTo>
                  <a:pt x="137" y="66"/>
                  <a:pt x="137" y="66"/>
                  <a:pt x="137" y="66"/>
                </a:cubicBezTo>
                <a:cubicBezTo>
                  <a:pt x="147" y="57"/>
                  <a:pt x="147" y="57"/>
                  <a:pt x="147" y="57"/>
                </a:cubicBezTo>
                <a:cubicBezTo>
                  <a:pt x="149" y="58"/>
                  <a:pt x="150" y="58"/>
                  <a:pt x="151" y="58"/>
                </a:cubicBezTo>
                <a:cubicBezTo>
                  <a:pt x="155" y="71"/>
                  <a:pt x="155" y="71"/>
                  <a:pt x="155" y="71"/>
                </a:cubicBezTo>
                <a:cubicBezTo>
                  <a:pt x="161" y="72"/>
                  <a:pt x="161" y="72"/>
                  <a:pt x="161" y="72"/>
                </a:cubicBezTo>
                <a:cubicBezTo>
                  <a:pt x="165" y="60"/>
                  <a:pt x="165" y="60"/>
                  <a:pt x="165" y="60"/>
                </a:cubicBezTo>
                <a:cubicBezTo>
                  <a:pt x="172" y="61"/>
                  <a:pt x="172" y="61"/>
                  <a:pt x="172" y="61"/>
                </a:cubicBezTo>
                <a:cubicBezTo>
                  <a:pt x="172" y="74"/>
                  <a:pt x="172" y="74"/>
                  <a:pt x="172" y="74"/>
                </a:cubicBezTo>
                <a:cubicBezTo>
                  <a:pt x="174" y="74"/>
                  <a:pt x="175" y="75"/>
                  <a:pt x="177" y="76"/>
                </a:cubicBezTo>
                <a:cubicBezTo>
                  <a:pt x="187" y="68"/>
                  <a:pt x="187" y="68"/>
                  <a:pt x="187" y="68"/>
                </a:cubicBezTo>
                <a:cubicBezTo>
                  <a:pt x="192" y="72"/>
                  <a:pt x="192" y="72"/>
                  <a:pt x="192" y="72"/>
                </a:cubicBezTo>
                <a:cubicBezTo>
                  <a:pt x="186" y="83"/>
                  <a:pt x="186" y="83"/>
                  <a:pt x="186" y="83"/>
                </a:cubicBezTo>
                <a:cubicBezTo>
                  <a:pt x="187" y="85"/>
                  <a:pt x="188" y="86"/>
                  <a:pt x="189" y="87"/>
                </a:cubicBezTo>
                <a:cubicBezTo>
                  <a:pt x="201" y="85"/>
                  <a:pt x="201" y="85"/>
                  <a:pt x="201" y="85"/>
                </a:cubicBezTo>
                <a:cubicBezTo>
                  <a:pt x="204" y="92"/>
                  <a:pt x="204" y="92"/>
                  <a:pt x="204" y="92"/>
                </a:cubicBezTo>
                <a:cubicBezTo>
                  <a:pt x="193" y="98"/>
                  <a:pt x="193" y="98"/>
                  <a:pt x="193" y="98"/>
                </a:cubicBezTo>
                <a:cubicBezTo>
                  <a:pt x="193" y="100"/>
                  <a:pt x="193" y="102"/>
                  <a:pt x="193" y="103"/>
                </a:cubicBezTo>
                <a:cubicBezTo>
                  <a:pt x="205" y="108"/>
                  <a:pt x="205" y="108"/>
                  <a:pt x="205" y="108"/>
                </a:cubicBezTo>
                <a:cubicBezTo>
                  <a:pt x="204" y="115"/>
                  <a:pt x="204" y="115"/>
                  <a:pt x="204" y="115"/>
                </a:cubicBezTo>
                <a:cubicBezTo>
                  <a:pt x="191" y="115"/>
                  <a:pt x="191" y="115"/>
                  <a:pt x="191" y="115"/>
                </a:cubicBezTo>
                <a:cubicBezTo>
                  <a:pt x="190" y="117"/>
                  <a:pt x="190" y="118"/>
                  <a:pt x="189" y="120"/>
                </a:cubicBezTo>
                <a:cubicBezTo>
                  <a:pt x="197" y="129"/>
                  <a:pt x="197" y="129"/>
                  <a:pt x="197" y="129"/>
                </a:cubicBezTo>
                <a:cubicBezTo>
                  <a:pt x="192" y="135"/>
                  <a:pt x="192" y="135"/>
                  <a:pt x="192" y="135"/>
                </a:cubicBezTo>
                <a:cubicBezTo>
                  <a:pt x="181" y="128"/>
                  <a:pt x="181" y="128"/>
                  <a:pt x="181" y="128"/>
                </a:cubicBezTo>
                <a:cubicBezTo>
                  <a:pt x="180" y="130"/>
                  <a:pt x="179" y="131"/>
                  <a:pt x="177" y="131"/>
                </a:cubicBezTo>
                <a:cubicBezTo>
                  <a:pt x="179" y="144"/>
                  <a:pt x="179" y="144"/>
                  <a:pt x="179" y="144"/>
                </a:cubicBezTo>
                <a:cubicBezTo>
                  <a:pt x="173" y="146"/>
                  <a:pt x="173" y="146"/>
                  <a:pt x="173" y="146"/>
                </a:cubicBezTo>
                <a:cubicBezTo>
                  <a:pt x="166" y="135"/>
                  <a:pt x="166" y="135"/>
                  <a:pt x="166" y="135"/>
                </a:cubicBezTo>
                <a:cubicBezTo>
                  <a:pt x="165" y="136"/>
                  <a:pt x="163" y="136"/>
                  <a:pt x="161" y="136"/>
                </a:cubicBezTo>
                <a:cubicBezTo>
                  <a:pt x="157" y="148"/>
                  <a:pt x="157" y="148"/>
                  <a:pt x="157" y="148"/>
                </a:cubicBezTo>
                <a:cubicBezTo>
                  <a:pt x="150" y="147"/>
                  <a:pt x="150" y="147"/>
                  <a:pt x="150" y="147"/>
                </a:cubicBezTo>
                <a:cubicBezTo>
                  <a:pt x="150" y="134"/>
                  <a:pt x="150" y="134"/>
                  <a:pt x="150" y="134"/>
                </a:cubicBezTo>
                <a:cubicBezTo>
                  <a:pt x="148" y="133"/>
                  <a:pt x="147" y="132"/>
                  <a:pt x="145" y="132"/>
                </a:cubicBezTo>
                <a:cubicBezTo>
                  <a:pt x="135" y="140"/>
                  <a:pt x="135" y="140"/>
                  <a:pt x="135" y="140"/>
                </a:cubicBezTo>
                <a:cubicBezTo>
                  <a:pt x="130" y="135"/>
                  <a:pt x="130" y="135"/>
                  <a:pt x="130" y="135"/>
                </a:cubicBezTo>
                <a:cubicBezTo>
                  <a:pt x="136" y="124"/>
                  <a:pt x="136" y="124"/>
                  <a:pt x="136" y="124"/>
                </a:cubicBezTo>
                <a:cubicBezTo>
                  <a:pt x="135" y="123"/>
                  <a:pt x="134" y="121"/>
                  <a:pt x="133" y="120"/>
                </a:cubicBezTo>
                <a:cubicBezTo>
                  <a:pt x="121" y="122"/>
                  <a:pt x="121" y="122"/>
                  <a:pt x="121" y="122"/>
                </a:cubicBezTo>
                <a:cubicBezTo>
                  <a:pt x="118" y="115"/>
                  <a:pt x="118" y="115"/>
                  <a:pt x="118" y="115"/>
                </a:cubicBezTo>
                <a:cubicBezTo>
                  <a:pt x="129" y="109"/>
                  <a:pt x="129" y="109"/>
                  <a:pt x="129" y="109"/>
                </a:cubicBezTo>
                <a:cubicBezTo>
                  <a:pt x="129" y="107"/>
                  <a:pt x="129" y="106"/>
                  <a:pt x="129" y="104"/>
                </a:cubicBezTo>
                <a:cubicBezTo>
                  <a:pt x="117" y="99"/>
                  <a:pt x="117" y="99"/>
                  <a:pt x="117" y="99"/>
                </a:cubicBezTo>
                <a:cubicBezTo>
                  <a:pt x="118" y="92"/>
                  <a:pt x="118" y="92"/>
                  <a:pt x="118" y="92"/>
                </a:cubicBezTo>
                <a:cubicBezTo>
                  <a:pt x="131" y="92"/>
                  <a:pt x="131" y="92"/>
                  <a:pt x="131" y="92"/>
                </a:cubicBezTo>
                <a:cubicBezTo>
                  <a:pt x="131" y="91"/>
                  <a:pt x="131" y="88"/>
                  <a:pt x="132" y="86"/>
                </a:cubicBezTo>
                <a:cubicBezTo>
                  <a:pt x="111" y="81"/>
                  <a:pt x="111" y="81"/>
                  <a:pt x="111" y="81"/>
                </a:cubicBezTo>
                <a:cubicBezTo>
                  <a:pt x="111" y="81"/>
                  <a:pt x="111" y="73"/>
                  <a:pt x="111" y="70"/>
                </a:cubicBezTo>
                <a:cubicBezTo>
                  <a:pt x="128" y="64"/>
                  <a:pt x="128" y="64"/>
                  <a:pt x="128" y="64"/>
                </a:cubicBezTo>
                <a:cubicBezTo>
                  <a:pt x="127" y="54"/>
                  <a:pt x="127" y="54"/>
                  <a:pt x="127" y="54"/>
                </a:cubicBezTo>
                <a:cubicBezTo>
                  <a:pt x="108" y="53"/>
                  <a:pt x="108" y="53"/>
                  <a:pt x="108" y="53"/>
                </a:cubicBezTo>
                <a:cubicBezTo>
                  <a:pt x="107" y="51"/>
                  <a:pt x="106" y="49"/>
                  <a:pt x="105" y="47"/>
                </a:cubicBezTo>
                <a:cubicBezTo>
                  <a:pt x="117" y="33"/>
                  <a:pt x="117" y="33"/>
                  <a:pt x="117" y="33"/>
                </a:cubicBezTo>
                <a:cubicBezTo>
                  <a:pt x="111" y="25"/>
                  <a:pt x="111" y="25"/>
                  <a:pt x="111" y="25"/>
                </a:cubicBezTo>
                <a:cubicBezTo>
                  <a:pt x="95" y="33"/>
                  <a:pt x="95" y="33"/>
                  <a:pt x="95" y="33"/>
                </a:cubicBezTo>
                <a:cubicBezTo>
                  <a:pt x="93" y="32"/>
                  <a:pt x="91" y="30"/>
                  <a:pt x="89" y="29"/>
                </a:cubicBezTo>
                <a:cubicBezTo>
                  <a:pt x="92" y="11"/>
                  <a:pt x="92" y="11"/>
                  <a:pt x="92" y="11"/>
                </a:cubicBezTo>
                <a:cubicBezTo>
                  <a:pt x="82" y="7"/>
                  <a:pt x="82" y="7"/>
                  <a:pt x="82" y="7"/>
                </a:cubicBezTo>
                <a:cubicBezTo>
                  <a:pt x="73" y="23"/>
                  <a:pt x="73" y="23"/>
                  <a:pt x="73" y="23"/>
                </a:cubicBezTo>
                <a:cubicBezTo>
                  <a:pt x="70" y="23"/>
                  <a:pt x="68" y="22"/>
                  <a:pt x="65" y="22"/>
                </a:cubicBezTo>
                <a:cubicBezTo>
                  <a:pt x="59" y="5"/>
                  <a:pt x="59" y="5"/>
                  <a:pt x="59" y="5"/>
                </a:cubicBezTo>
                <a:cubicBezTo>
                  <a:pt x="49" y="6"/>
                  <a:pt x="49" y="6"/>
                  <a:pt x="49" y="6"/>
                </a:cubicBezTo>
                <a:cubicBezTo>
                  <a:pt x="49" y="25"/>
                  <a:pt x="49" y="25"/>
                  <a:pt x="49" y="25"/>
                </a:cubicBezTo>
                <a:cubicBezTo>
                  <a:pt x="46" y="26"/>
                  <a:pt x="44" y="27"/>
                  <a:pt x="42" y="28"/>
                </a:cubicBezTo>
                <a:cubicBezTo>
                  <a:pt x="28" y="16"/>
                  <a:pt x="28" y="16"/>
                  <a:pt x="28" y="16"/>
                </a:cubicBezTo>
                <a:cubicBezTo>
                  <a:pt x="20" y="22"/>
                  <a:pt x="20" y="22"/>
                  <a:pt x="20" y="22"/>
                </a:cubicBezTo>
                <a:cubicBezTo>
                  <a:pt x="29" y="39"/>
                  <a:pt x="29" y="39"/>
                  <a:pt x="29" y="39"/>
                </a:cubicBezTo>
                <a:cubicBezTo>
                  <a:pt x="27" y="40"/>
                  <a:pt x="26" y="42"/>
                  <a:pt x="24" y="44"/>
                </a:cubicBezTo>
                <a:cubicBezTo>
                  <a:pt x="6" y="41"/>
                  <a:pt x="6" y="41"/>
                  <a:pt x="6" y="41"/>
                </a:cubicBezTo>
                <a:cubicBezTo>
                  <a:pt x="2" y="51"/>
                  <a:pt x="2" y="51"/>
                  <a:pt x="2" y="51"/>
                </a:cubicBezTo>
                <a:cubicBezTo>
                  <a:pt x="18" y="60"/>
                  <a:pt x="18" y="60"/>
                  <a:pt x="18" y="60"/>
                </a:cubicBezTo>
                <a:cubicBezTo>
                  <a:pt x="18" y="63"/>
                  <a:pt x="18" y="65"/>
                  <a:pt x="18" y="68"/>
                </a:cubicBezTo>
                <a:cubicBezTo>
                  <a:pt x="0" y="74"/>
                  <a:pt x="0" y="74"/>
                  <a:pt x="0" y="74"/>
                </a:cubicBezTo>
                <a:cubicBezTo>
                  <a:pt x="2" y="84"/>
                  <a:pt x="2" y="84"/>
                  <a:pt x="2" y="84"/>
                </a:cubicBezTo>
                <a:cubicBezTo>
                  <a:pt x="20" y="84"/>
                  <a:pt x="20" y="84"/>
                  <a:pt x="20" y="84"/>
                </a:cubicBezTo>
                <a:cubicBezTo>
                  <a:pt x="21" y="87"/>
                  <a:pt x="22" y="89"/>
                  <a:pt x="23" y="91"/>
                </a:cubicBezTo>
                <a:cubicBezTo>
                  <a:pt x="11" y="105"/>
                  <a:pt x="11" y="105"/>
                  <a:pt x="11" y="105"/>
                </a:cubicBezTo>
                <a:cubicBezTo>
                  <a:pt x="18" y="113"/>
                  <a:pt x="18" y="113"/>
                  <a:pt x="18" y="113"/>
                </a:cubicBezTo>
                <a:cubicBezTo>
                  <a:pt x="34" y="104"/>
                  <a:pt x="34" y="104"/>
                  <a:pt x="34" y="104"/>
                </a:cubicBezTo>
                <a:cubicBezTo>
                  <a:pt x="36" y="106"/>
                  <a:pt x="38" y="107"/>
                  <a:pt x="40" y="109"/>
                </a:cubicBezTo>
                <a:cubicBezTo>
                  <a:pt x="36" y="127"/>
                  <a:pt x="36" y="127"/>
                  <a:pt x="36" y="127"/>
                </a:cubicBezTo>
                <a:cubicBezTo>
                  <a:pt x="46" y="131"/>
                  <a:pt x="46" y="131"/>
                  <a:pt x="46" y="131"/>
                </a:cubicBezTo>
                <a:cubicBezTo>
                  <a:pt x="56" y="115"/>
                  <a:pt x="56" y="115"/>
                  <a:pt x="56" y="115"/>
                </a:cubicBezTo>
                <a:cubicBezTo>
                  <a:pt x="58" y="115"/>
                  <a:pt x="61" y="115"/>
                  <a:pt x="63" y="115"/>
                </a:cubicBezTo>
                <a:cubicBezTo>
                  <a:pt x="69" y="133"/>
                  <a:pt x="69" y="133"/>
                  <a:pt x="69" y="133"/>
                </a:cubicBezTo>
                <a:cubicBezTo>
                  <a:pt x="79" y="131"/>
                  <a:pt x="79" y="131"/>
                  <a:pt x="79" y="131"/>
                </a:cubicBezTo>
                <a:cubicBezTo>
                  <a:pt x="80" y="113"/>
                  <a:pt x="80" y="113"/>
                  <a:pt x="80" y="113"/>
                </a:cubicBezTo>
                <a:cubicBezTo>
                  <a:pt x="82" y="112"/>
                  <a:pt x="84" y="111"/>
                  <a:pt x="87" y="110"/>
                </a:cubicBezTo>
                <a:cubicBezTo>
                  <a:pt x="101" y="122"/>
                  <a:pt x="101" y="122"/>
                  <a:pt x="101" y="122"/>
                </a:cubicBezTo>
                <a:cubicBezTo>
                  <a:pt x="109" y="116"/>
                  <a:pt x="109" y="116"/>
                  <a:pt x="109" y="116"/>
                </a:cubicBezTo>
                <a:cubicBezTo>
                  <a:pt x="100" y="99"/>
                  <a:pt x="100" y="99"/>
                  <a:pt x="100" y="99"/>
                </a:cubicBezTo>
                <a:moveTo>
                  <a:pt x="67" y="87"/>
                </a:moveTo>
                <a:cubicBezTo>
                  <a:pt x="57" y="89"/>
                  <a:pt x="48" y="82"/>
                  <a:pt x="46" y="72"/>
                </a:cubicBezTo>
                <a:cubicBezTo>
                  <a:pt x="44" y="62"/>
                  <a:pt x="51" y="52"/>
                  <a:pt x="61" y="51"/>
                </a:cubicBezTo>
                <a:cubicBezTo>
                  <a:pt x="71" y="49"/>
                  <a:pt x="81" y="56"/>
                  <a:pt x="82" y="66"/>
                </a:cubicBezTo>
                <a:cubicBezTo>
                  <a:pt x="84" y="76"/>
                  <a:pt x="77" y="85"/>
                  <a:pt x="67" y="87"/>
                </a:cubicBezTo>
                <a:close/>
              </a:path>
            </a:pathLst>
          </a:custGeom>
          <a:noFill/>
          <a:ln w="19050" cap="rnd">
            <a:solidFill>
              <a:schemeClr val="accent3">
                <a:lumMod val="75000"/>
              </a:scheme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a:ln>
                <a:noFill/>
              </a:ln>
              <a:solidFill>
                <a:prstClr val="black"/>
              </a:solidFill>
              <a:effectLst/>
              <a:uLnTx/>
              <a:uFillTx/>
              <a:latin typeface="Ubuntu Medium"/>
              <a:ea typeface="+mn-ea"/>
              <a:cs typeface="Arial" pitchFamily="34" charset="0"/>
            </a:endParaRPr>
          </a:p>
        </p:txBody>
      </p:sp>
      <p:sp>
        <p:nvSpPr>
          <p:cNvPr id="550" name="Rounded Rectangle 67">
            <a:extLst>
              <a:ext uri="{FF2B5EF4-FFF2-40B4-BE49-F238E27FC236}">
                <a16:creationId xmlns:a16="http://schemas.microsoft.com/office/drawing/2014/main" id="{7329D366-6BF8-1AF1-B394-54A75C6D8556}"/>
              </a:ext>
            </a:extLst>
          </p:cNvPr>
          <p:cNvSpPr>
            <a:spLocks/>
          </p:cNvSpPr>
          <p:nvPr/>
        </p:nvSpPr>
        <p:spPr>
          <a:xfrm>
            <a:off x="10448981" y="1147301"/>
            <a:ext cx="1618485" cy="1332594"/>
          </a:xfrm>
          <a:prstGeom prst="roundRect">
            <a:avLst>
              <a:gd name="adj" fmla="val 5380"/>
            </a:avLst>
          </a:prstGeom>
          <a:noFill/>
          <a:ln w="19050" cap="flat" cmpd="sng" algn="ctr">
            <a:solidFill>
              <a:schemeClr val="bg1">
                <a:lumMod val="7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561" name="Gleichschenkliges Dreieck 2">
            <a:extLst>
              <a:ext uri="{FF2B5EF4-FFF2-40B4-BE49-F238E27FC236}">
                <a16:creationId xmlns:a16="http://schemas.microsoft.com/office/drawing/2014/main" id="{15A99339-EFE8-1129-A78E-BBC4B7B4B087}"/>
              </a:ext>
            </a:extLst>
          </p:cNvPr>
          <p:cNvSpPr/>
          <p:nvPr/>
        </p:nvSpPr>
        <p:spPr bwMode="auto">
          <a:xfrm>
            <a:off x="10823361" y="852548"/>
            <a:ext cx="1229237" cy="288000"/>
          </a:xfrm>
          <a:prstGeom prst="rect">
            <a:avLst/>
          </a:prstGeom>
          <a:solidFill>
            <a:srgbClr val="0041C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rPr>
              <a:t>Accelerators / Tools</a:t>
            </a:r>
          </a:p>
        </p:txBody>
      </p:sp>
      <p:sp>
        <p:nvSpPr>
          <p:cNvPr id="562" name="TextBox 561">
            <a:extLst>
              <a:ext uri="{FF2B5EF4-FFF2-40B4-BE49-F238E27FC236}">
                <a16:creationId xmlns:a16="http://schemas.microsoft.com/office/drawing/2014/main" id="{0435C89F-1152-EA9D-CFFE-155AB3CA8520}"/>
              </a:ext>
            </a:extLst>
          </p:cNvPr>
          <p:cNvSpPr txBox="1"/>
          <p:nvPr/>
        </p:nvSpPr>
        <p:spPr>
          <a:xfrm>
            <a:off x="10439121" y="1187146"/>
            <a:ext cx="1588444" cy="1318310"/>
          </a:xfrm>
          <a:prstGeom prst="rect">
            <a:avLst/>
          </a:prstGeom>
          <a:noFill/>
          <a:ln>
            <a:noFill/>
          </a:ln>
        </p:spPr>
        <p:txBody>
          <a:bodyPr wrap="square" rtlCol="0">
            <a:spAutoFit/>
          </a:bodyPr>
          <a:lstStyle/>
          <a:p>
            <a:pPr marL="171450" marR="0" lvl="0" indent="-171450" fontAlgn="auto">
              <a:spcBef>
                <a:spcPts val="200"/>
              </a:spcBef>
              <a:spcAft>
                <a:spcPts val="200"/>
              </a:spcAft>
              <a:buClr>
                <a:schemeClr val="accent1"/>
              </a:buClr>
              <a:buSzTx/>
              <a:buFont typeface="Wingdings" panose="05000000000000000000" pitchFamily="2" charset="2"/>
              <a:buChar char="§"/>
              <a:tabLst/>
              <a:defRPr/>
            </a:pPr>
            <a:r>
              <a:rPr lang="en-US" sz="700">
                <a:cs typeface="Calibri" pitchFamily="34" charset="0"/>
              </a:rPr>
              <a:t>Advanced Product Designer</a:t>
            </a:r>
          </a:p>
          <a:p>
            <a:pPr marL="171450" marR="0" lvl="0" indent="-171450" fontAlgn="auto">
              <a:spcBef>
                <a:spcPts val="200"/>
              </a:spcBef>
              <a:spcAft>
                <a:spcPts val="200"/>
              </a:spcAft>
              <a:buClr>
                <a:schemeClr val="accent1"/>
              </a:buClr>
              <a:buSzTx/>
              <a:buFont typeface="Wingdings" panose="05000000000000000000" pitchFamily="2" charset="2"/>
              <a:buChar char="§"/>
              <a:tabLst/>
              <a:defRPr/>
            </a:pPr>
            <a:r>
              <a:rPr lang="en-US" sz="700">
                <a:cs typeface="Calibri" pitchFamily="34" charset="0"/>
              </a:rPr>
              <a:t>Mind map</a:t>
            </a:r>
          </a:p>
          <a:p>
            <a:pPr marL="171450" marR="0" lvl="0" indent="-171450" fontAlgn="auto">
              <a:spcBef>
                <a:spcPts val="200"/>
              </a:spcBef>
              <a:spcAft>
                <a:spcPts val="200"/>
              </a:spcAft>
              <a:buClr>
                <a:schemeClr val="accent1"/>
              </a:buClr>
              <a:buSzTx/>
              <a:buFont typeface="Wingdings" panose="05000000000000000000" pitchFamily="2" charset="2"/>
              <a:buChar char="§"/>
              <a:tabLst/>
              <a:defRPr/>
            </a:pPr>
            <a:r>
              <a:rPr lang="en-US" sz="700">
                <a:cs typeface="Calibri" pitchFamily="34" charset="0"/>
              </a:rPr>
              <a:t>Feature matrix </a:t>
            </a:r>
          </a:p>
          <a:p>
            <a:pPr marL="171450" marR="0" lvl="0" indent="-171450" fontAlgn="auto">
              <a:spcBef>
                <a:spcPts val="200"/>
              </a:spcBef>
              <a:spcAft>
                <a:spcPts val="200"/>
              </a:spcAft>
              <a:buClr>
                <a:schemeClr val="accent1"/>
              </a:buClr>
              <a:buSzTx/>
              <a:buFont typeface="Wingdings" panose="05000000000000000000" pitchFamily="2" charset="2"/>
              <a:buChar char="§"/>
              <a:tabLst/>
              <a:defRPr/>
            </a:pPr>
            <a:r>
              <a:rPr lang="en-US" sz="700">
                <a:cs typeface="Calibri" pitchFamily="34" charset="0"/>
              </a:rPr>
              <a:t>Business rules, FLS &amp; other templates</a:t>
            </a:r>
          </a:p>
          <a:p>
            <a:pPr marL="171450" marR="0" lvl="0" indent="-171450" fontAlgn="auto">
              <a:spcBef>
                <a:spcPts val="200"/>
              </a:spcBef>
              <a:spcAft>
                <a:spcPts val="200"/>
              </a:spcAft>
              <a:buClr>
                <a:schemeClr val="accent1"/>
              </a:buClr>
              <a:buSzTx/>
              <a:buFont typeface="Wingdings" panose="05000000000000000000" pitchFamily="2" charset="2"/>
              <a:buChar char="§"/>
              <a:tabLst/>
              <a:defRPr/>
            </a:pPr>
            <a:r>
              <a:rPr lang="en-US" sz="700">
                <a:cs typeface="Calibri" pitchFamily="34" charset="0"/>
              </a:rPr>
              <a:t>Decision Log, Action Item tracker, Query log</a:t>
            </a:r>
          </a:p>
          <a:p>
            <a:pPr marL="171450" marR="0" lvl="0" indent="-171450" fontAlgn="auto">
              <a:spcBef>
                <a:spcPts val="200"/>
              </a:spcBef>
              <a:spcAft>
                <a:spcPts val="200"/>
              </a:spcAft>
              <a:buClr>
                <a:schemeClr val="accent1"/>
              </a:buClr>
              <a:buSzTx/>
              <a:buFont typeface="Wingdings" panose="05000000000000000000" pitchFamily="2" charset="2"/>
              <a:buChar char="§"/>
              <a:tabLst/>
              <a:defRPr/>
            </a:pPr>
            <a:r>
              <a:rPr lang="en-US" sz="700">
                <a:cs typeface="Calibri" pitchFamily="34" charset="0"/>
              </a:rPr>
              <a:t>Guidewire Accelerators (e.g. Co-insurance)</a:t>
            </a:r>
          </a:p>
        </p:txBody>
      </p:sp>
      <p:cxnSp>
        <p:nvCxnSpPr>
          <p:cNvPr id="567" name="Connector: Curved 566">
            <a:extLst>
              <a:ext uri="{FF2B5EF4-FFF2-40B4-BE49-F238E27FC236}">
                <a16:creationId xmlns:a16="http://schemas.microsoft.com/office/drawing/2014/main" id="{DF2CCA85-2990-239E-9A33-0DB69ECF1386}"/>
              </a:ext>
            </a:extLst>
          </p:cNvPr>
          <p:cNvCxnSpPr>
            <a:stCxn id="328" idx="3"/>
          </p:cNvCxnSpPr>
          <p:nvPr/>
        </p:nvCxnSpPr>
        <p:spPr>
          <a:xfrm flipH="1" flipV="1">
            <a:off x="7896060" y="2198476"/>
            <a:ext cx="995802" cy="1452282"/>
          </a:xfrm>
          <a:prstGeom prst="curvedConnector4">
            <a:avLst>
              <a:gd name="adj1" fmla="val -22956"/>
              <a:gd name="adj2" fmla="val 56121"/>
            </a:avLst>
          </a:prstGeom>
        </p:spPr>
        <p:style>
          <a:lnRef idx="1">
            <a:schemeClr val="accent1"/>
          </a:lnRef>
          <a:fillRef idx="0">
            <a:schemeClr val="accent1"/>
          </a:fillRef>
          <a:effectRef idx="0">
            <a:schemeClr val="accent1"/>
          </a:effectRef>
          <a:fontRef idx="minor">
            <a:schemeClr val="tx1"/>
          </a:fontRef>
        </p:style>
      </p:cxnSp>
      <p:sp>
        <p:nvSpPr>
          <p:cNvPr id="570" name="Rounded Rectangle 67">
            <a:extLst>
              <a:ext uri="{FF2B5EF4-FFF2-40B4-BE49-F238E27FC236}">
                <a16:creationId xmlns:a16="http://schemas.microsoft.com/office/drawing/2014/main" id="{0B089B8A-AAF6-D033-423E-C9FCA88A0A65}"/>
              </a:ext>
            </a:extLst>
          </p:cNvPr>
          <p:cNvSpPr>
            <a:spLocks/>
          </p:cNvSpPr>
          <p:nvPr/>
        </p:nvSpPr>
        <p:spPr>
          <a:xfrm>
            <a:off x="1262705" y="5383053"/>
            <a:ext cx="2027860" cy="1340217"/>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571" name="TextBox 196">
            <a:extLst>
              <a:ext uri="{FF2B5EF4-FFF2-40B4-BE49-F238E27FC236}">
                <a16:creationId xmlns:a16="http://schemas.microsoft.com/office/drawing/2014/main" id="{000416FC-451A-3A40-9BCD-47A384C31766}"/>
              </a:ext>
            </a:extLst>
          </p:cNvPr>
          <p:cNvSpPr txBox="1">
            <a:spLocks/>
          </p:cNvSpPr>
          <p:nvPr/>
        </p:nvSpPr>
        <p:spPr>
          <a:xfrm>
            <a:off x="1344893" y="5194219"/>
            <a:ext cx="1917715" cy="301795"/>
          </a:xfrm>
          <a:prstGeom prst="roundRect">
            <a:avLst>
              <a:gd name="adj" fmla="val 50000"/>
            </a:avLst>
          </a:prstGeom>
          <a:solidFill>
            <a:srgbClr val="12ABDB"/>
          </a:solidFill>
          <a:ln w="25400" cap="flat" cmpd="sng" algn="ctr">
            <a:no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GB" sz="1000" b="0" kern="0">
                <a:solidFill>
                  <a:schemeClr val="tx1"/>
                </a:solidFill>
                <a:latin typeface="+mj-lt"/>
                <a:ea typeface="Verdana" panose="020B0604030504040204" pitchFamily="34" charset="0"/>
                <a:cs typeface="Verdana" panose="020B0604030504040204" pitchFamily="34" charset="0"/>
              </a:rPr>
              <a:t>        Tasks / Ownership</a:t>
            </a:r>
            <a:endParaRPr kumimoji="0" lang="en-US" sz="1000" b="0" i="0" u="none" strike="noStrike" kern="0" cap="none" spc="0" normalizeH="0" baseline="0" noProof="0">
              <a:ln>
                <a:noFill/>
              </a:ln>
              <a:solidFill>
                <a:schemeClr val="tx1"/>
              </a:solidFill>
              <a:effectLst/>
              <a:uLnTx/>
              <a:uFillTx/>
              <a:latin typeface="+mj-lt"/>
              <a:ea typeface="Verdana" panose="020B0604030504040204" pitchFamily="34" charset="0"/>
              <a:cs typeface="Verdana" panose="020B0604030504040204" pitchFamily="34" charset="0"/>
            </a:endParaRPr>
          </a:p>
        </p:txBody>
      </p:sp>
      <p:sp>
        <p:nvSpPr>
          <p:cNvPr id="577" name="TextBox 576">
            <a:extLst>
              <a:ext uri="{FF2B5EF4-FFF2-40B4-BE49-F238E27FC236}">
                <a16:creationId xmlns:a16="http://schemas.microsoft.com/office/drawing/2014/main" id="{AD1EFDB4-6B3E-9390-441D-0A8BCA7EAB02}"/>
              </a:ext>
            </a:extLst>
          </p:cNvPr>
          <p:cNvSpPr txBox="1"/>
          <p:nvPr/>
        </p:nvSpPr>
        <p:spPr>
          <a:xfrm>
            <a:off x="1261054" y="5537464"/>
            <a:ext cx="1978663" cy="846386"/>
          </a:xfrm>
          <a:prstGeom prst="rect">
            <a:avLst/>
          </a:prstGeom>
          <a:noFill/>
        </p:spPr>
        <p:txBody>
          <a:bodyPr wrap="square" rtlCol="0">
            <a:spAutoFit/>
          </a:bodyPr>
          <a:lstStyle/>
          <a:p>
            <a:pPr marL="171450" indent="-171450">
              <a:buClr>
                <a:schemeClr val="accent1"/>
              </a:buClr>
              <a:buFont typeface="Arial" panose="020B0604020202020204" pitchFamily="34" charset="0"/>
              <a:buChar char="•"/>
              <a:defRPr/>
            </a:pPr>
            <a:r>
              <a:rPr lang="en-US" sz="700"/>
              <a:t>Architectural design and decisions</a:t>
            </a:r>
          </a:p>
          <a:p>
            <a:pPr marL="171450" marR="0" lvl="0" indent="-171450" fontAlgn="auto">
              <a:buClr>
                <a:schemeClr val="accent1"/>
              </a:buClr>
              <a:buSzTx/>
              <a:buFont typeface="Arial" panose="020B0604020202020204" pitchFamily="34" charset="0"/>
              <a:buChar char="•"/>
              <a:tabLst/>
              <a:defRPr/>
            </a:pPr>
            <a:r>
              <a:rPr lang="en-US" sz="700"/>
              <a:t>Low level Designs</a:t>
            </a:r>
          </a:p>
          <a:p>
            <a:pPr marL="171450" marR="0" lvl="0" indent="-171450" fontAlgn="auto">
              <a:buClr>
                <a:schemeClr val="accent1"/>
              </a:buClr>
              <a:buSzTx/>
              <a:buFont typeface="Arial" panose="020B0604020202020204" pitchFamily="34" charset="0"/>
              <a:buChar char="•"/>
              <a:tabLst/>
              <a:defRPr/>
            </a:pPr>
            <a:r>
              <a:rPr lang="en-US" sz="700"/>
              <a:t>Integration approach</a:t>
            </a:r>
          </a:p>
          <a:p>
            <a:pPr marL="171450" marR="0" lvl="0" indent="-171450" fontAlgn="auto">
              <a:buClr>
                <a:schemeClr val="accent1"/>
              </a:buClr>
              <a:buSzTx/>
              <a:buFont typeface="Arial" panose="020B0604020202020204" pitchFamily="34" charset="0"/>
              <a:buChar char="•"/>
              <a:tabLst/>
              <a:defRPr/>
            </a:pPr>
            <a:r>
              <a:rPr lang="en-US" sz="700"/>
              <a:t>Migration Strategy</a:t>
            </a:r>
          </a:p>
          <a:p>
            <a:pPr marL="171450" marR="0" lvl="0" indent="-171450" fontAlgn="auto">
              <a:buClr>
                <a:schemeClr val="accent1"/>
              </a:buClr>
              <a:buSzTx/>
              <a:buFont typeface="Arial" panose="020B0604020202020204" pitchFamily="34" charset="0"/>
              <a:buChar char="•"/>
              <a:tabLst/>
              <a:defRPr/>
            </a:pPr>
            <a:r>
              <a:rPr lang="en-US" sz="700"/>
              <a:t>Data mart or Data lake designs</a:t>
            </a:r>
          </a:p>
          <a:p>
            <a:pPr marL="171450" marR="0" lvl="0" indent="-171450" fontAlgn="auto">
              <a:buClr>
                <a:schemeClr val="accent1"/>
              </a:buClr>
              <a:buSzTx/>
              <a:buFont typeface="Arial" panose="020B0604020202020204" pitchFamily="34" charset="0"/>
              <a:buChar char="•"/>
              <a:tabLst/>
              <a:defRPr/>
            </a:pPr>
            <a:r>
              <a:rPr lang="en-US" sz="700"/>
              <a:t>Third Party Dependencies</a:t>
            </a:r>
          </a:p>
          <a:p>
            <a:pPr marL="171450" marR="0" lvl="0" indent="-171450" fontAlgn="auto">
              <a:buClr>
                <a:schemeClr val="accent1"/>
              </a:buClr>
              <a:buSzTx/>
              <a:buFont typeface="Arial" panose="020B0604020202020204" pitchFamily="34" charset="0"/>
              <a:buChar char="•"/>
              <a:tabLst/>
              <a:defRPr/>
            </a:pPr>
            <a:r>
              <a:rPr lang="en-US" sz="700"/>
              <a:t>Other Tooling required</a:t>
            </a:r>
          </a:p>
        </p:txBody>
      </p:sp>
      <p:grpSp>
        <p:nvGrpSpPr>
          <p:cNvPr id="578" name="Plan5" descr="{&quot;Key&quot;:&quot;POWER_USER_SHAPE_ICON&quot;,&quot;Value&quot;:&quot;POWER_USER_SHAPE_ICON_STYLE_1&quot;}">
            <a:extLst>
              <a:ext uri="{FF2B5EF4-FFF2-40B4-BE49-F238E27FC236}">
                <a16:creationId xmlns:a16="http://schemas.microsoft.com/office/drawing/2014/main" id="{134B0E47-23B7-E6F1-1F90-B286E655C217}"/>
              </a:ext>
            </a:extLst>
          </p:cNvPr>
          <p:cNvGrpSpPr>
            <a:grpSpLocks noChangeAspect="1"/>
          </p:cNvGrpSpPr>
          <p:nvPr/>
        </p:nvGrpSpPr>
        <p:grpSpPr>
          <a:xfrm>
            <a:off x="1482090" y="5067764"/>
            <a:ext cx="324000" cy="340341"/>
            <a:chOff x="8462963" y="1682750"/>
            <a:chExt cx="706430" cy="762001"/>
          </a:xfrm>
        </p:grpSpPr>
        <p:sp>
          <p:nvSpPr>
            <p:cNvPr id="579" name="Freeform 55">
              <a:extLst>
                <a:ext uri="{FF2B5EF4-FFF2-40B4-BE49-F238E27FC236}">
                  <a16:creationId xmlns:a16="http://schemas.microsoft.com/office/drawing/2014/main" id="{D2C1A6DD-C47C-0AA0-AB7C-BE8E6B11DC60}"/>
                </a:ext>
              </a:extLst>
            </p:cNvPr>
            <p:cNvSpPr>
              <a:spLocks/>
            </p:cNvSpPr>
            <p:nvPr/>
          </p:nvSpPr>
          <p:spPr bwMode="auto">
            <a:xfrm>
              <a:off x="8462963" y="2109788"/>
              <a:ext cx="317500" cy="244475"/>
            </a:xfrm>
            <a:custGeom>
              <a:avLst/>
              <a:gdLst>
                <a:gd name="T0" fmla="*/ 124 w 424"/>
                <a:gd name="T1" fmla="*/ 325 h 325"/>
                <a:gd name="T2" fmla="*/ 7 w 424"/>
                <a:gd name="T3" fmla="*/ 141 h 325"/>
                <a:gd name="T4" fmla="*/ 14 w 424"/>
                <a:gd name="T5" fmla="*/ 115 h 325"/>
                <a:gd name="T6" fmla="*/ 259 w 424"/>
                <a:gd name="T7" fmla="*/ 5 h 325"/>
                <a:gd name="T8" fmla="*/ 291 w 424"/>
                <a:gd name="T9" fmla="*/ 16 h 325"/>
                <a:gd name="T10" fmla="*/ 424 w 424"/>
                <a:gd name="T11" fmla="*/ 228 h 325"/>
              </a:gdLst>
              <a:ahLst/>
              <a:cxnLst>
                <a:cxn ang="0">
                  <a:pos x="T0" y="T1"/>
                </a:cxn>
                <a:cxn ang="0">
                  <a:pos x="T2" y="T3"/>
                </a:cxn>
                <a:cxn ang="0">
                  <a:pos x="T4" y="T5"/>
                </a:cxn>
                <a:cxn ang="0">
                  <a:pos x="T6" y="T7"/>
                </a:cxn>
                <a:cxn ang="0">
                  <a:pos x="T8" y="T9"/>
                </a:cxn>
                <a:cxn ang="0">
                  <a:pos x="T10" y="T11"/>
                </a:cxn>
              </a:cxnLst>
              <a:rect l="0" t="0" r="r" b="b"/>
              <a:pathLst>
                <a:path w="424" h="325">
                  <a:moveTo>
                    <a:pt x="124" y="325"/>
                  </a:moveTo>
                  <a:lnTo>
                    <a:pt x="7" y="141"/>
                  </a:lnTo>
                  <a:cubicBezTo>
                    <a:pt x="0" y="130"/>
                    <a:pt x="3" y="119"/>
                    <a:pt x="14" y="115"/>
                  </a:cubicBezTo>
                  <a:lnTo>
                    <a:pt x="259" y="5"/>
                  </a:lnTo>
                  <a:cubicBezTo>
                    <a:pt x="273" y="0"/>
                    <a:pt x="282" y="3"/>
                    <a:pt x="291" y="16"/>
                  </a:cubicBezTo>
                  <a:lnTo>
                    <a:pt x="424" y="228"/>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0" name="Freeform 56">
              <a:extLst>
                <a:ext uri="{FF2B5EF4-FFF2-40B4-BE49-F238E27FC236}">
                  <a16:creationId xmlns:a16="http://schemas.microsoft.com/office/drawing/2014/main" id="{D5A52C1E-3E83-B7C6-54AD-E748533C0F8C}"/>
                </a:ext>
              </a:extLst>
            </p:cNvPr>
            <p:cNvSpPr>
              <a:spLocks/>
            </p:cNvSpPr>
            <p:nvPr/>
          </p:nvSpPr>
          <p:spPr bwMode="auto">
            <a:xfrm>
              <a:off x="8547093" y="2035175"/>
              <a:ext cx="622300" cy="409576"/>
            </a:xfrm>
            <a:custGeom>
              <a:avLst/>
              <a:gdLst>
                <a:gd name="T0" fmla="*/ 516 w 828"/>
                <a:gd name="T1" fmla="*/ 518 h 544"/>
                <a:gd name="T2" fmla="*/ 828 w 828"/>
                <a:gd name="T3" fmla="*/ 518 h 544"/>
                <a:gd name="T4" fmla="*/ 784 w 828"/>
                <a:gd name="T5" fmla="*/ 202 h 544"/>
                <a:gd name="T6" fmla="*/ 577 w 828"/>
                <a:gd name="T7" fmla="*/ 0 h 544"/>
                <a:gd name="T8" fmla="*/ 390 w 828"/>
                <a:gd name="T9" fmla="*/ 142 h 544"/>
                <a:gd name="T10" fmla="*/ 292 w 828"/>
                <a:gd name="T11" fmla="*/ 372 h 544"/>
                <a:gd name="T12" fmla="*/ 49 w 828"/>
                <a:gd name="T13" fmla="*/ 397 h 544"/>
                <a:gd name="T14" fmla="*/ 0 w 828"/>
                <a:gd name="T15" fmla="*/ 469 h 544"/>
                <a:gd name="T16" fmla="*/ 86 w 828"/>
                <a:gd name="T17" fmla="*/ 544 h 544"/>
                <a:gd name="T18" fmla="*/ 365 w 828"/>
                <a:gd name="T19" fmla="*/ 544 h 544"/>
                <a:gd name="T20" fmla="*/ 456 w 828"/>
                <a:gd name="T21" fmla="*/ 481 h 544"/>
                <a:gd name="T22" fmla="*/ 559 w 828"/>
                <a:gd name="T23" fmla="*/ 270 h 544"/>
                <a:gd name="T24" fmla="*/ 559 w 828"/>
                <a:gd name="T25" fmla="*/ 27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8" h="544">
                  <a:moveTo>
                    <a:pt x="516" y="518"/>
                  </a:moveTo>
                  <a:lnTo>
                    <a:pt x="828" y="518"/>
                  </a:lnTo>
                  <a:lnTo>
                    <a:pt x="784" y="202"/>
                  </a:lnTo>
                  <a:cubicBezTo>
                    <a:pt x="762" y="62"/>
                    <a:pt x="683" y="0"/>
                    <a:pt x="577" y="0"/>
                  </a:cubicBezTo>
                  <a:cubicBezTo>
                    <a:pt x="501" y="0"/>
                    <a:pt x="430" y="43"/>
                    <a:pt x="390" y="142"/>
                  </a:cubicBezTo>
                  <a:lnTo>
                    <a:pt x="292" y="372"/>
                  </a:lnTo>
                  <a:lnTo>
                    <a:pt x="49" y="397"/>
                  </a:lnTo>
                  <a:cubicBezTo>
                    <a:pt x="20" y="406"/>
                    <a:pt x="0" y="428"/>
                    <a:pt x="0" y="469"/>
                  </a:cubicBezTo>
                  <a:cubicBezTo>
                    <a:pt x="0" y="518"/>
                    <a:pt x="32" y="544"/>
                    <a:pt x="86" y="544"/>
                  </a:cubicBezTo>
                  <a:lnTo>
                    <a:pt x="365" y="544"/>
                  </a:lnTo>
                  <a:cubicBezTo>
                    <a:pt x="405" y="544"/>
                    <a:pt x="436" y="521"/>
                    <a:pt x="456" y="481"/>
                  </a:cubicBezTo>
                  <a:cubicBezTo>
                    <a:pt x="483" y="426"/>
                    <a:pt x="530" y="330"/>
                    <a:pt x="559" y="270"/>
                  </a:cubicBezTo>
                  <a:lnTo>
                    <a:pt x="559" y="270"/>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1" name="Line 57">
              <a:extLst>
                <a:ext uri="{FF2B5EF4-FFF2-40B4-BE49-F238E27FC236}">
                  <a16:creationId xmlns:a16="http://schemas.microsoft.com/office/drawing/2014/main" id="{D482EFE6-0B01-5EB8-E1A6-140F947E32B8}"/>
                </a:ext>
              </a:extLst>
            </p:cNvPr>
            <p:cNvSpPr>
              <a:spLocks noChangeShapeType="1"/>
            </p:cNvSpPr>
            <p:nvPr/>
          </p:nvSpPr>
          <p:spPr bwMode="auto">
            <a:xfrm flipH="1">
              <a:off x="8593138" y="2265363"/>
              <a:ext cx="17463" cy="6667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2" name="Freeform 58">
              <a:extLst>
                <a:ext uri="{FF2B5EF4-FFF2-40B4-BE49-F238E27FC236}">
                  <a16:creationId xmlns:a16="http://schemas.microsoft.com/office/drawing/2014/main" id="{1CD76B00-07CD-EC07-DC64-D80A7E963B51}"/>
                </a:ext>
              </a:extLst>
            </p:cNvPr>
            <p:cNvSpPr>
              <a:spLocks/>
            </p:cNvSpPr>
            <p:nvPr/>
          </p:nvSpPr>
          <p:spPr bwMode="auto">
            <a:xfrm>
              <a:off x="8709025" y="1806575"/>
              <a:ext cx="279400" cy="204788"/>
            </a:xfrm>
            <a:custGeom>
              <a:avLst/>
              <a:gdLst>
                <a:gd name="T0" fmla="*/ 351 w 372"/>
                <a:gd name="T1" fmla="*/ 0 h 273"/>
                <a:gd name="T2" fmla="*/ 372 w 372"/>
                <a:gd name="T3" fmla="*/ 85 h 273"/>
                <a:gd name="T4" fmla="*/ 186 w 372"/>
                <a:gd name="T5" fmla="*/ 273 h 273"/>
                <a:gd name="T6" fmla="*/ 0 w 372"/>
                <a:gd name="T7" fmla="*/ 113 h 273"/>
              </a:gdLst>
              <a:ahLst/>
              <a:cxnLst>
                <a:cxn ang="0">
                  <a:pos x="T0" y="T1"/>
                </a:cxn>
                <a:cxn ang="0">
                  <a:pos x="T2" y="T3"/>
                </a:cxn>
                <a:cxn ang="0">
                  <a:pos x="T4" y="T5"/>
                </a:cxn>
                <a:cxn ang="0">
                  <a:pos x="T6" y="T7"/>
                </a:cxn>
              </a:cxnLst>
              <a:rect l="0" t="0" r="r" b="b"/>
              <a:pathLst>
                <a:path w="372" h="273">
                  <a:moveTo>
                    <a:pt x="351" y="0"/>
                  </a:moveTo>
                  <a:cubicBezTo>
                    <a:pt x="364" y="26"/>
                    <a:pt x="372" y="55"/>
                    <a:pt x="372" y="85"/>
                  </a:cubicBezTo>
                  <a:cubicBezTo>
                    <a:pt x="372" y="188"/>
                    <a:pt x="289" y="272"/>
                    <a:pt x="186" y="273"/>
                  </a:cubicBezTo>
                  <a:cubicBezTo>
                    <a:pt x="91" y="273"/>
                    <a:pt x="14" y="203"/>
                    <a:pt x="0" y="113"/>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3" name="Freeform 59">
              <a:extLst>
                <a:ext uri="{FF2B5EF4-FFF2-40B4-BE49-F238E27FC236}">
                  <a16:creationId xmlns:a16="http://schemas.microsoft.com/office/drawing/2014/main" id="{C4F53FBF-82E0-01B4-FF6B-C126472CFE7E}"/>
                </a:ext>
              </a:extLst>
            </p:cNvPr>
            <p:cNvSpPr>
              <a:spLocks/>
            </p:cNvSpPr>
            <p:nvPr/>
          </p:nvSpPr>
          <p:spPr bwMode="auto">
            <a:xfrm>
              <a:off x="8667750" y="1682750"/>
              <a:ext cx="312738" cy="206375"/>
            </a:xfrm>
            <a:custGeom>
              <a:avLst/>
              <a:gdLst>
                <a:gd name="T0" fmla="*/ 418 w 418"/>
                <a:gd name="T1" fmla="*/ 145 h 274"/>
                <a:gd name="T2" fmla="*/ 222 w 418"/>
                <a:gd name="T3" fmla="*/ 0 h 274"/>
                <a:gd name="T4" fmla="*/ 165 w 418"/>
                <a:gd name="T5" fmla="*/ 9 h 274"/>
                <a:gd name="T6" fmla="*/ 37 w 418"/>
                <a:gd name="T7" fmla="*/ 274 h 274"/>
              </a:gdLst>
              <a:ahLst/>
              <a:cxnLst>
                <a:cxn ang="0">
                  <a:pos x="T0" y="T1"/>
                </a:cxn>
                <a:cxn ang="0">
                  <a:pos x="T2" y="T3"/>
                </a:cxn>
                <a:cxn ang="0">
                  <a:pos x="T4" y="T5"/>
                </a:cxn>
                <a:cxn ang="0">
                  <a:pos x="T6" y="T7"/>
                </a:cxn>
              </a:cxnLst>
              <a:rect l="0" t="0" r="r" b="b"/>
              <a:pathLst>
                <a:path w="418" h="274">
                  <a:moveTo>
                    <a:pt x="418" y="145"/>
                  </a:moveTo>
                  <a:cubicBezTo>
                    <a:pt x="396" y="67"/>
                    <a:pt x="314" y="0"/>
                    <a:pt x="222" y="0"/>
                  </a:cubicBezTo>
                  <a:cubicBezTo>
                    <a:pt x="203" y="0"/>
                    <a:pt x="184" y="3"/>
                    <a:pt x="165" y="9"/>
                  </a:cubicBezTo>
                  <a:cubicBezTo>
                    <a:pt x="61" y="43"/>
                    <a:pt x="0" y="154"/>
                    <a:pt x="37" y="274"/>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4" name="Line 60">
              <a:extLst>
                <a:ext uri="{FF2B5EF4-FFF2-40B4-BE49-F238E27FC236}">
                  <a16:creationId xmlns:a16="http://schemas.microsoft.com/office/drawing/2014/main" id="{F30BA62D-08E1-6F44-6990-47D098546B81}"/>
                </a:ext>
              </a:extLst>
            </p:cNvPr>
            <p:cNvSpPr>
              <a:spLocks noChangeShapeType="1"/>
            </p:cNvSpPr>
            <p:nvPr/>
          </p:nvSpPr>
          <p:spPr bwMode="auto">
            <a:xfrm flipH="1">
              <a:off x="8645525" y="1792288"/>
              <a:ext cx="347663" cy="11112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587" name="Connector: Curved 586">
            <a:extLst>
              <a:ext uri="{FF2B5EF4-FFF2-40B4-BE49-F238E27FC236}">
                <a16:creationId xmlns:a16="http://schemas.microsoft.com/office/drawing/2014/main" id="{BDF969E9-7948-3E63-1750-7EEBE825A567}"/>
              </a:ext>
            </a:extLst>
          </p:cNvPr>
          <p:cNvCxnSpPr>
            <a:stCxn id="336" idx="1"/>
            <a:endCxn id="571" idx="0"/>
          </p:cNvCxnSpPr>
          <p:nvPr/>
        </p:nvCxnSpPr>
        <p:spPr>
          <a:xfrm rot="10800000" flipV="1">
            <a:off x="2303751" y="4638769"/>
            <a:ext cx="3449240" cy="555449"/>
          </a:xfrm>
          <a:prstGeom prst="curvedConnector2">
            <a:avLst/>
          </a:prstGeom>
        </p:spPr>
        <p:style>
          <a:lnRef idx="1">
            <a:schemeClr val="accent1"/>
          </a:lnRef>
          <a:fillRef idx="0">
            <a:schemeClr val="accent1"/>
          </a:fillRef>
          <a:effectRef idx="0">
            <a:schemeClr val="accent1"/>
          </a:effectRef>
          <a:fontRef idx="minor">
            <a:schemeClr val="tx1"/>
          </a:fontRef>
        </p:style>
      </p:cxnSp>
      <p:sp>
        <p:nvSpPr>
          <p:cNvPr id="589" name="TextBox 588">
            <a:extLst>
              <a:ext uri="{FF2B5EF4-FFF2-40B4-BE49-F238E27FC236}">
                <a16:creationId xmlns:a16="http://schemas.microsoft.com/office/drawing/2014/main" id="{BB71CF6D-AF8F-4F48-CC29-82A7C3C71941}"/>
              </a:ext>
            </a:extLst>
          </p:cNvPr>
          <p:cNvSpPr txBox="1"/>
          <p:nvPr/>
        </p:nvSpPr>
        <p:spPr>
          <a:xfrm>
            <a:off x="1226720" y="1466390"/>
            <a:ext cx="2082610" cy="1277273"/>
          </a:xfrm>
          <a:prstGeom prst="rect">
            <a:avLst/>
          </a:prstGeom>
          <a:noFill/>
        </p:spPr>
        <p:txBody>
          <a:bodyPr wrap="square" rtlCol="0">
            <a:spAutoFit/>
          </a:bodyPr>
          <a:lstStyle/>
          <a:p>
            <a:pPr marL="171450" marR="0" lvl="0" indent="-171450" fontAlgn="auto">
              <a:buClr>
                <a:schemeClr val="accent1"/>
              </a:buClr>
              <a:buSzTx/>
              <a:buFont typeface="Arial" panose="020B0604020202020204" pitchFamily="34" charset="0"/>
              <a:buChar char="•"/>
              <a:tabLst/>
              <a:defRPr/>
            </a:pPr>
            <a:r>
              <a:rPr lang="en-US" sz="700"/>
              <a:t>Updated Sprint Plan</a:t>
            </a:r>
          </a:p>
          <a:p>
            <a:pPr marL="171450" marR="0" lvl="0" indent="-171450" fontAlgn="auto">
              <a:buClr>
                <a:schemeClr val="accent1"/>
              </a:buClr>
              <a:buSzTx/>
              <a:buFont typeface="Arial" panose="020B0604020202020204" pitchFamily="34" charset="0"/>
              <a:buChar char="•"/>
              <a:tabLst/>
              <a:defRPr/>
            </a:pPr>
            <a:r>
              <a:rPr lang="en-US" sz="700"/>
              <a:t>Elaboration session Guardrails</a:t>
            </a:r>
          </a:p>
          <a:p>
            <a:pPr marL="171450" marR="0" lvl="0" indent="-171450" fontAlgn="auto">
              <a:buClr>
                <a:schemeClr val="accent1"/>
              </a:buClr>
              <a:buSzTx/>
              <a:buFont typeface="Arial" panose="020B0604020202020204" pitchFamily="34" charset="0"/>
              <a:buChar char="•"/>
              <a:tabLst/>
              <a:defRPr/>
            </a:pPr>
            <a:r>
              <a:rPr lang="en-US" sz="700"/>
              <a:t>Right Tools  –  Signed-off Release Backlog from Inception, Functional accelerators </a:t>
            </a:r>
          </a:p>
          <a:p>
            <a:pPr marL="171450" marR="0" lvl="0" indent="-171450" fontAlgn="auto">
              <a:buClr>
                <a:schemeClr val="accent1"/>
              </a:buClr>
              <a:buSzTx/>
              <a:buFont typeface="Arial" panose="020B0604020202020204" pitchFamily="34" charset="0"/>
              <a:buChar char="•"/>
              <a:tabLst/>
              <a:defRPr/>
            </a:pPr>
            <a:r>
              <a:rPr lang="en-US" sz="700"/>
              <a:t>Preparedness to Workshop topics</a:t>
            </a:r>
          </a:p>
          <a:p>
            <a:pPr marL="171450" marR="0" lvl="0" indent="-171450" fontAlgn="auto">
              <a:buClr>
                <a:schemeClr val="accent1"/>
              </a:buClr>
              <a:buSzTx/>
              <a:buFont typeface="Arial" panose="020B0604020202020204" pitchFamily="34" charset="0"/>
              <a:buChar char="•"/>
              <a:tabLst/>
              <a:defRPr/>
            </a:pPr>
            <a:r>
              <a:rPr lang="en-US" sz="700"/>
              <a:t>Guidewire OOTB Cloud Instance for demo</a:t>
            </a:r>
          </a:p>
          <a:p>
            <a:pPr marL="171450" marR="0" lvl="0" indent="-171450" fontAlgn="auto">
              <a:buClr>
                <a:schemeClr val="accent1"/>
              </a:buClr>
              <a:buSzTx/>
              <a:buFont typeface="Arial" panose="020B0604020202020204" pitchFamily="34" charset="0"/>
              <a:buChar char="•"/>
              <a:tabLst/>
              <a:defRPr/>
            </a:pPr>
            <a:r>
              <a:rPr lang="en-US" sz="700"/>
              <a:t>Process during Implementation phase, Program Management Tools etc.</a:t>
            </a:r>
          </a:p>
          <a:p>
            <a:pPr marL="171450" marR="0" lvl="0" indent="-171450" fontAlgn="auto">
              <a:buClr>
                <a:schemeClr val="accent1"/>
              </a:buClr>
              <a:buSzTx/>
              <a:buFont typeface="Arial" panose="020B0604020202020204" pitchFamily="34" charset="0"/>
              <a:buChar char="•"/>
              <a:tabLst/>
              <a:defRPr/>
            </a:pPr>
            <a:r>
              <a:rPr lang="en-US" sz="700"/>
              <a:t>As-is Business Process flows</a:t>
            </a:r>
          </a:p>
          <a:p>
            <a:pPr marL="171450" indent="-171450">
              <a:buClr>
                <a:schemeClr val="accent1"/>
              </a:buClr>
              <a:buFont typeface="Arial" panose="020B0604020202020204" pitchFamily="34" charset="0"/>
              <a:buChar char="•"/>
              <a:defRPr/>
            </a:pPr>
            <a:r>
              <a:rPr lang="en-US" sz="700"/>
              <a:t>HL Future State Business Process flows from Inception</a:t>
            </a:r>
          </a:p>
        </p:txBody>
      </p:sp>
      <p:grpSp>
        <p:nvGrpSpPr>
          <p:cNvPr id="591" name="Woman29" descr="{&quot;Key&quot;:&quot;POWER_USER_SHAPE_ICON&quot;,&quot;Value&quot;:&quot;POWER_USER_SHAPE_ICON_STYLE_1&quot;}">
            <a:extLst>
              <a:ext uri="{FF2B5EF4-FFF2-40B4-BE49-F238E27FC236}">
                <a16:creationId xmlns:a16="http://schemas.microsoft.com/office/drawing/2014/main" id="{D05122A3-CC1B-1DCF-345A-D0719D93D058}"/>
              </a:ext>
            </a:extLst>
          </p:cNvPr>
          <p:cNvGrpSpPr>
            <a:grpSpLocks noChangeAspect="1"/>
          </p:cNvGrpSpPr>
          <p:nvPr/>
        </p:nvGrpSpPr>
        <p:grpSpPr>
          <a:xfrm>
            <a:off x="2678212" y="2919141"/>
            <a:ext cx="288000" cy="346700"/>
            <a:chOff x="3049573" y="285562"/>
            <a:chExt cx="588025" cy="755384"/>
          </a:xfrm>
        </p:grpSpPr>
        <p:sp>
          <p:nvSpPr>
            <p:cNvPr id="592" name="Freeform: Shape 591">
              <a:extLst>
                <a:ext uri="{FF2B5EF4-FFF2-40B4-BE49-F238E27FC236}">
                  <a16:creationId xmlns:a16="http://schemas.microsoft.com/office/drawing/2014/main" id="{B0CA100C-E26B-288F-6238-D56402329088}"/>
                </a:ext>
              </a:extLst>
            </p:cNvPr>
            <p:cNvSpPr/>
            <p:nvPr/>
          </p:nvSpPr>
          <p:spPr>
            <a:xfrm>
              <a:off x="3209793" y="747246"/>
              <a:ext cx="37681" cy="292030"/>
            </a:xfrm>
            <a:custGeom>
              <a:avLst/>
              <a:gdLst>
                <a:gd name="connsiteX0" fmla="*/ 38981 w 37681"/>
                <a:gd name="connsiteY0" fmla="*/ 293902 h 292030"/>
                <a:gd name="connsiteX1" fmla="*/ 0 w 37681"/>
                <a:gd name="connsiteY1" fmla="*/ 0 h 292030"/>
              </a:gdLst>
              <a:ahLst/>
              <a:cxnLst>
                <a:cxn ang="0">
                  <a:pos x="connsiteX0" y="connsiteY0"/>
                </a:cxn>
                <a:cxn ang="0">
                  <a:pos x="connsiteX1" y="connsiteY1"/>
                </a:cxn>
              </a:cxnLst>
              <a:rect l="l" t="t" r="r" b="b"/>
              <a:pathLst>
                <a:path w="37681" h="292030">
                  <a:moveTo>
                    <a:pt x="38981" y="293902"/>
                  </a:moveTo>
                  <a:cubicBezTo>
                    <a:pt x="38981" y="153702"/>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3" name="Freeform: Shape 592">
              <a:extLst>
                <a:ext uri="{FF2B5EF4-FFF2-40B4-BE49-F238E27FC236}">
                  <a16:creationId xmlns:a16="http://schemas.microsoft.com/office/drawing/2014/main" id="{E66AB2DA-22DA-C8EE-7591-8E812208F7F4}"/>
                </a:ext>
              </a:extLst>
            </p:cNvPr>
            <p:cNvSpPr/>
            <p:nvPr/>
          </p:nvSpPr>
          <p:spPr>
            <a:xfrm>
              <a:off x="3445840" y="747246"/>
              <a:ext cx="37681" cy="292030"/>
            </a:xfrm>
            <a:custGeom>
              <a:avLst/>
              <a:gdLst>
                <a:gd name="connsiteX0" fmla="*/ 0 w 37681"/>
                <a:gd name="connsiteY0" fmla="*/ 293902 h 292030"/>
                <a:gd name="connsiteX1" fmla="*/ 38981 w 37681"/>
                <a:gd name="connsiteY1" fmla="*/ 0 h 292030"/>
              </a:gdLst>
              <a:ahLst/>
              <a:cxnLst>
                <a:cxn ang="0">
                  <a:pos x="connsiteX0" y="connsiteY0"/>
                </a:cxn>
                <a:cxn ang="0">
                  <a:pos x="connsiteX1" y="connsiteY1"/>
                </a:cxn>
              </a:cxnLst>
              <a:rect l="l" t="t" r="r" b="b"/>
              <a:pathLst>
                <a:path w="37681" h="292030">
                  <a:moveTo>
                    <a:pt x="0" y="293902"/>
                  </a:moveTo>
                  <a:cubicBezTo>
                    <a:pt x="0" y="153702"/>
                    <a:pt x="38981" y="0"/>
                    <a:pt x="38981"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4" name="Freeform: Shape 593">
              <a:extLst>
                <a:ext uri="{FF2B5EF4-FFF2-40B4-BE49-F238E27FC236}">
                  <a16:creationId xmlns:a16="http://schemas.microsoft.com/office/drawing/2014/main" id="{2FB95299-3E2B-61BF-8BE1-8028B7B6E924}"/>
                </a:ext>
              </a:extLst>
            </p:cNvPr>
            <p:cNvSpPr/>
            <p:nvPr/>
          </p:nvSpPr>
          <p:spPr>
            <a:xfrm>
              <a:off x="3229595" y="847629"/>
              <a:ext cx="226088" cy="37681"/>
            </a:xfrm>
            <a:custGeom>
              <a:avLst/>
              <a:gdLst>
                <a:gd name="connsiteX0" fmla="*/ 0 w 226087"/>
                <a:gd name="connsiteY0" fmla="*/ 0 h 37681"/>
                <a:gd name="connsiteX1" fmla="*/ 117705 w 226087"/>
                <a:gd name="connsiteY1" fmla="*/ 39629 h 37681"/>
                <a:gd name="connsiteX2" fmla="*/ 235415 w 226087"/>
                <a:gd name="connsiteY2" fmla="*/ 0 h 37681"/>
              </a:gdLst>
              <a:ahLst/>
              <a:cxnLst>
                <a:cxn ang="0">
                  <a:pos x="connsiteX0" y="connsiteY0"/>
                </a:cxn>
                <a:cxn ang="0">
                  <a:pos x="connsiteX1" y="connsiteY1"/>
                </a:cxn>
                <a:cxn ang="0">
                  <a:pos x="connsiteX2" y="connsiteY2"/>
                </a:cxn>
              </a:cxnLst>
              <a:rect l="l" t="t" r="r" b="b"/>
              <a:pathLst>
                <a:path w="226087" h="37681">
                  <a:moveTo>
                    <a:pt x="0" y="0"/>
                  </a:moveTo>
                  <a:cubicBezTo>
                    <a:pt x="23527" y="23677"/>
                    <a:pt x="67370" y="39629"/>
                    <a:pt x="117705" y="39629"/>
                  </a:cubicBezTo>
                  <a:cubicBezTo>
                    <a:pt x="168040" y="39629"/>
                    <a:pt x="211888" y="23677"/>
                    <a:pt x="235415" y="0"/>
                  </a:cubicBezTo>
                </a:path>
              </a:pathLst>
            </a:custGeom>
            <a:noFill/>
            <a:ln w="19050" cap="flat">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5" name="Freeform: Shape 594">
              <a:extLst>
                <a:ext uri="{FF2B5EF4-FFF2-40B4-BE49-F238E27FC236}">
                  <a16:creationId xmlns:a16="http://schemas.microsoft.com/office/drawing/2014/main" id="{809E3699-73F8-0554-F17E-965BCD1EB598}"/>
                </a:ext>
              </a:extLst>
            </p:cNvPr>
            <p:cNvSpPr/>
            <p:nvPr/>
          </p:nvSpPr>
          <p:spPr>
            <a:xfrm>
              <a:off x="3049573" y="466306"/>
              <a:ext cx="405074" cy="574640"/>
            </a:xfrm>
            <a:custGeom>
              <a:avLst/>
              <a:gdLst>
                <a:gd name="connsiteX0" fmla="*/ 7668 w 405074"/>
                <a:gd name="connsiteY0" fmla="*/ 574841 h 574640"/>
                <a:gd name="connsiteX1" fmla="*/ 0 w 405074"/>
                <a:gd name="connsiteY1" fmla="*/ 427884 h 574640"/>
                <a:gd name="connsiteX2" fmla="*/ 160220 w 405074"/>
                <a:gd name="connsiteY2" fmla="*/ 280939 h 574640"/>
                <a:gd name="connsiteX3" fmla="*/ 223296 w 405074"/>
                <a:gd name="connsiteY3" fmla="*/ 264310 h 574640"/>
                <a:gd name="connsiteX4" fmla="*/ 220838 w 405074"/>
                <a:gd name="connsiteY4" fmla="*/ 199937 h 574640"/>
                <a:gd name="connsiteX5" fmla="*/ 189393 w 405074"/>
                <a:gd name="connsiteY5" fmla="*/ 0 h 574640"/>
                <a:gd name="connsiteX6" fmla="*/ 412242 w 405074"/>
                <a:gd name="connsiteY6" fmla="*/ 21667 h 57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5074" h="574640">
                  <a:moveTo>
                    <a:pt x="7668" y="574841"/>
                  </a:moveTo>
                  <a:lnTo>
                    <a:pt x="0" y="427884"/>
                  </a:lnTo>
                  <a:cubicBezTo>
                    <a:pt x="0" y="352283"/>
                    <a:pt x="75579" y="308886"/>
                    <a:pt x="160220" y="280939"/>
                  </a:cubicBezTo>
                  <a:cubicBezTo>
                    <a:pt x="176734" y="275488"/>
                    <a:pt x="223296" y="264310"/>
                    <a:pt x="223296" y="264310"/>
                  </a:cubicBezTo>
                  <a:cubicBezTo>
                    <a:pt x="223983" y="247604"/>
                    <a:pt x="223233" y="219645"/>
                    <a:pt x="220838" y="199937"/>
                  </a:cubicBezTo>
                  <a:cubicBezTo>
                    <a:pt x="170420" y="131972"/>
                    <a:pt x="174300" y="35848"/>
                    <a:pt x="189393" y="0"/>
                  </a:cubicBezTo>
                  <a:cubicBezTo>
                    <a:pt x="225352" y="22006"/>
                    <a:pt x="314663" y="46047"/>
                    <a:pt x="412242" y="21667"/>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6" name="Freeform: Shape 595">
              <a:extLst>
                <a:ext uri="{FF2B5EF4-FFF2-40B4-BE49-F238E27FC236}">
                  <a16:creationId xmlns:a16="http://schemas.microsoft.com/office/drawing/2014/main" id="{2EB1A45B-4984-7C56-134C-9989C0B9FD58}"/>
                </a:ext>
              </a:extLst>
            </p:cNvPr>
            <p:cNvSpPr/>
            <p:nvPr/>
          </p:nvSpPr>
          <p:spPr>
            <a:xfrm>
              <a:off x="3383249" y="443836"/>
              <a:ext cx="254349" cy="593481"/>
            </a:xfrm>
            <a:custGeom>
              <a:avLst/>
              <a:gdLst>
                <a:gd name="connsiteX0" fmla="*/ 254119 w 254348"/>
                <a:gd name="connsiteY0" fmla="*/ 597312 h 593480"/>
                <a:gd name="connsiteX1" fmla="*/ 261792 w 254348"/>
                <a:gd name="connsiteY1" fmla="*/ 450355 h 593480"/>
                <a:gd name="connsiteX2" fmla="*/ 101573 w 254348"/>
                <a:gd name="connsiteY2" fmla="*/ 303410 h 593480"/>
                <a:gd name="connsiteX3" fmla="*/ 38456 w 254348"/>
                <a:gd name="connsiteY3" fmla="*/ 286730 h 593480"/>
                <a:gd name="connsiteX4" fmla="*/ 40806 w 254348"/>
                <a:gd name="connsiteY4" fmla="*/ 223601 h 593480"/>
                <a:gd name="connsiteX5" fmla="*/ 78567 w 254348"/>
                <a:gd name="connsiteY5" fmla="*/ 44138 h 593480"/>
                <a:gd name="connsiteX6" fmla="*/ 0 w 254348"/>
                <a:gd name="connsiteY6" fmla="*/ 0 h 59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348" h="593480">
                  <a:moveTo>
                    <a:pt x="254119" y="597312"/>
                  </a:moveTo>
                  <a:lnTo>
                    <a:pt x="261792" y="450355"/>
                  </a:lnTo>
                  <a:cubicBezTo>
                    <a:pt x="261792" y="374754"/>
                    <a:pt x="192421" y="327174"/>
                    <a:pt x="101573" y="303410"/>
                  </a:cubicBezTo>
                  <a:cubicBezTo>
                    <a:pt x="85779" y="299278"/>
                    <a:pt x="38456" y="286730"/>
                    <a:pt x="38456" y="286730"/>
                  </a:cubicBezTo>
                  <a:cubicBezTo>
                    <a:pt x="37774" y="270363"/>
                    <a:pt x="38466" y="242756"/>
                    <a:pt x="40806" y="223601"/>
                  </a:cubicBezTo>
                  <a:cubicBezTo>
                    <a:pt x="93099" y="152522"/>
                    <a:pt x="96465" y="83929"/>
                    <a:pt x="78567" y="44138"/>
                  </a:cubicBezTo>
                  <a:cubicBezTo>
                    <a:pt x="39315" y="31703"/>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7" name="Freeform: Shape 596">
              <a:extLst>
                <a:ext uri="{FF2B5EF4-FFF2-40B4-BE49-F238E27FC236}">
                  <a16:creationId xmlns:a16="http://schemas.microsoft.com/office/drawing/2014/main" id="{CEB8D5D9-825F-2791-CCB2-B099E3078AEB}"/>
                </a:ext>
              </a:extLst>
            </p:cNvPr>
            <p:cNvSpPr/>
            <p:nvPr/>
          </p:nvSpPr>
          <p:spPr>
            <a:xfrm>
              <a:off x="3152851" y="285562"/>
              <a:ext cx="386234" cy="480437"/>
            </a:xfrm>
            <a:custGeom>
              <a:avLst/>
              <a:gdLst>
                <a:gd name="connsiteX0" fmla="*/ 383695 w 386233"/>
                <a:gd name="connsiteY0" fmla="*/ 479344 h 480436"/>
                <a:gd name="connsiteX1" fmla="*/ 388714 w 386233"/>
                <a:gd name="connsiteY1" fmla="*/ 209470 h 480436"/>
                <a:gd name="connsiteX2" fmla="*/ 194444 w 386233"/>
                <a:gd name="connsiteY2" fmla="*/ 0 h 480436"/>
                <a:gd name="connsiteX3" fmla="*/ 107 w 386233"/>
                <a:gd name="connsiteY3" fmla="*/ 209646 h 480436"/>
                <a:gd name="connsiteX4" fmla="*/ 792 w 386233"/>
                <a:gd name="connsiteY4" fmla="*/ 483062 h 480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33" h="480436">
                  <a:moveTo>
                    <a:pt x="383695" y="479344"/>
                  </a:moveTo>
                  <a:cubicBezTo>
                    <a:pt x="334827" y="447063"/>
                    <a:pt x="391221" y="320103"/>
                    <a:pt x="388714" y="209470"/>
                  </a:cubicBezTo>
                  <a:cubicBezTo>
                    <a:pt x="388837" y="102141"/>
                    <a:pt x="307022" y="0"/>
                    <a:pt x="194444" y="0"/>
                  </a:cubicBezTo>
                  <a:cubicBezTo>
                    <a:pt x="83073" y="0"/>
                    <a:pt x="107" y="102292"/>
                    <a:pt x="107" y="209646"/>
                  </a:cubicBezTo>
                  <a:cubicBezTo>
                    <a:pt x="-2593" y="321949"/>
                    <a:pt x="47325" y="453168"/>
                    <a:pt x="792" y="483062"/>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598" name="Employee6" descr="{&quot;Key&quot;:&quot;POWER_USER_SHAPE_ICON&quot;,&quot;Value&quot;:&quot;POWER_USER_SHAPE_ICON_STYLE_1&quot;}">
            <a:extLst>
              <a:ext uri="{FF2B5EF4-FFF2-40B4-BE49-F238E27FC236}">
                <a16:creationId xmlns:a16="http://schemas.microsoft.com/office/drawing/2014/main" id="{F7E2A569-5D94-4CD7-DA77-6A5A31593425}"/>
              </a:ext>
            </a:extLst>
          </p:cNvPr>
          <p:cNvGrpSpPr>
            <a:grpSpLocks noChangeAspect="1"/>
          </p:cNvGrpSpPr>
          <p:nvPr/>
        </p:nvGrpSpPr>
        <p:grpSpPr>
          <a:xfrm>
            <a:off x="2982516" y="2919312"/>
            <a:ext cx="288000" cy="342474"/>
            <a:chOff x="3584576" y="3348038"/>
            <a:chExt cx="230188" cy="292100"/>
          </a:xfrm>
          <a:solidFill>
            <a:schemeClr val="accent1"/>
          </a:solidFill>
        </p:grpSpPr>
        <p:sp>
          <p:nvSpPr>
            <p:cNvPr id="599" name="Freeform 1099">
              <a:extLst>
                <a:ext uri="{FF2B5EF4-FFF2-40B4-BE49-F238E27FC236}">
                  <a16:creationId xmlns:a16="http://schemas.microsoft.com/office/drawing/2014/main" id="{B137182B-B12F-E76B-7B3C-D5E24033B6D4}"/>
                </a:ext>
              </a:extLst>
            </p:cNvPr>
            <p:cNvSpPr>
              <a:spLocks/>
            </p:cNvSpPr>
            <p:nvPr/>
          </p:nvSpPr>
          <p:spPr bwMode="auto">
            <a:xfrm>
              <a:off x="3621088" y="3433763"/>
              <a:ext cx="44450" cy="36513"/>
            </a:xfrm>
            <a:custGeom>
              <a:avLst/>
              <a:gdLst>
                <a:gd name="T0" fmla="*/ 109 w 218"/>
                <a:gd name="T1" fmla="*/ 159 h 176"/>
                <a:gd name="T2" fmla="*/ 109 w 218"/>
                <a:gd name="T3" fmla="*/ 143 h 176"/>
                <a:gd name="T4" fmla="*/ 55 w 218"/>
                <a:gd name="T5" fmla="*/ 120 h 176"/>
                <a:gd name="T6" fmla="*/ 33 w 218"/>
                <a:gd name="T7" fmla="*/ 67 h 176"/>
                <a:gd name="T8" fmla="*/ 33 w 218"/>
                <a:gd name="T9" fmla="*/ 33 h 176"/>
                <a:gd name="T10" fmla="*/ 185 w 218"/>
                <a:gd name="T11" fmla="*/ 33 h 176"/>
                <a:gd name="T12" fmla="*/ 185 w 218"/>
                <a:gd name="T13" fmla="*/ 67 h 176"/>
                <a:gd name="T14" fmla="*/ 163 w 218"/>
                <a:gd name="T15" fmla="*/ 120 h 176"/>
                <a:gd name="T16" fmla="*/ 109 w 218"/>
                <a:gd name="T17" fmla="*/ 143 h 176"/>
                <a:gd name="T18" fmla="*/ 109 w 218"/>
                <a:gd name="T19" fmla="*/ 159 h 176"/>
                <a:gd name="T20" fmla="*/ 109 w 218"/>
                <a:gd name="T21" fmla="*/ 176 h 176"/>
                <a:gd name="T22" fmla="*/ 218 w 218"/>
                <a:gd name="T23" fmla="*/ 67 h 176"/>
                <a:gd name="T24" fmla="*/ 218 w 218"/>
                <a:gd name="T25" fmla="*/ 0 h 176"/>
                <a:gd name="T26" fmla="*/ 0 w 218"/>
                <a:gd name="T27" fmla="*/ 0 h 176"/>
                <a:gd name="T28" fmla="*/ 0 w 218"/>
                <a:gd name="T29" fmla="*/ 67 h 176"/>
                <a:gd name="T30" fmla="*/ 109 w 218"/>
                <a:gd name="T31" fmla="*/ 176 h 176"/>
                <a:gd name="T32" fmla="*/ 109 w 218"/>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8" h="176">
                  <a:moveTo>
                    <a:pt x="109" y="159"/>
                  </a:moveTo>
                  <a:lnTo>
                    <a:pt x="109" y="143"/>
                  </a:lnTo>
                  <a:cubicBezTo>
                    <a:pt x="88" y="143"/>
                    <a:pt x="69" y="134"/>
                    <a:pt x="55" y="120"/>
                  </a:cubicBezTo>
                  <a:cubicBezTo>
                    <a:pt x="41" y="107"/>
                    <a:pt x="33" y="88"/>
                    <a:pt x="33" y="67"/>
                  </a:cubicBezTo>
                  <a:lnTo>
                    <a:pt x="33" y="33"/>
                  </a:lnTo>
                  <a:lnTo>
                    <a:pt x="185" y="33"/>
                  </a:lnTo>
                  <a:lnTo>
                    <a:pt x="185" y="67"/>
                  </a:lnTo>
                  <a:cubicBezTo>
                    <a:pt x="185" y="88"/>
                    <a:pt x="176" y="107"/>
                    <a:pt x="163" y="120"/>
                  </a:cubicBezTo>
                  <a:cubicBezTo>
                    <a:pt x="149" y="134"/>
                    <a:pt x="130" y="143"/>
                    <a:pt x="109" y="143"/>
                  </a:cubicBezTo>
                  <a:lnTo>
                    <a:pt x="109" y="159"/>
                  </a:lnTo>
                  <a:lnTo>
                    <a:pt x="109" y="176"/>
                  </a:lnTo>
                  <a:cubicBezTo>
                    <a:pt x="169" y="176"/>
                    <a:pt x="218" y="127"/>
                    <a:pt x="218" y="67"/>
                  </a:cubicBezTo>
                  <a:lnTo>
                    <a:pt x="218" y="0"/>
                  </a:lnTo>
                  <a:lnTo>
                    <a:pt x="0" y="0"/>
                  </a:lnTo>
                  <a:lnTo>
                    <a:pt x="0" y="67"/>
                  </a:lnTo>
                  <a:cubicBezTo>
                    <a:pt x="0" y="127"/>
                    <a:pt x="48" y="176"/>
                    <a:pt x="109" y="176"/>
                  </a:cubicBezTo>
                  <a:lnTo>
                    <a:pt x="109" y="159"/>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0" name="Freeform 1100">
              <a:extLst>
                <a:ext uri="{FF2B5EF4-FFF2-40B4-BE49-F238E27FC236}">
                  <a16:creationId xmlns:a16="http://schemas.microsoft.com/office/drawing/2014/main" id="{4FE45E9B-3FD5-29F3-F9F9-682F66A4795C}"/>
                </a:ext>
              </a:extLst>
            </p:cNvPr>
            <p:cNvSpPr>
              <a:spLocks/>
            </p:cNvSpPr>
            <p:nvPr/>
          </p:nvSpPr>
          <p:spPr bwMode="auto">
            <a:xfrm>
              <a:off x="3671888" y="3433763"/>
              <a:ext cx="44450" cy="36513"/>
            </a:xfrm>
            <a:custGeom>
              <a:avLst/>
              <a:gdLst>
                <a:gd name="T0" fmla="*/ 109 w 219"/>
                <a:gd name="T1" fmla="*/ 159 h 176"/>
                <a:gd name="T2" fmla="*/ 109 w 219"/>
                <a:gd name="T3" fmla="*/ 143 h 176"/>
                <a:gd name="T4" fmla="*/ 56 w 219"/>
                <a:gd name="T5" fmla="*/ 120 h 176"/>
                <a:gd name="T6" fmla="*/ 33 w 219"/>
                <a:gd name="T7" fmla="*/ 67 h 176"/>
                <a:gd name="T8" fmla="*/ 33 w 219"/>
                <a:gd name="T9" fmla="*/ 33 h 176"/>
                <a:gd name="T10" fmla="*/ 185 w 219"/>
                <a:gd name="T11" fmla="*/ 33 h 176"/>
                <a:gd name="T12" fmla="*/ 185 w 219"/>
                <a:gd name="T13" fmla="*/ 67 h 176"/>
                <a:gd name="T14" fmla="*/ 163 w 219"/>
                <a:gd name="T15" fmla="*/ 120 h 176"/>
                <a:gd name="T16" fmla="*/ 109 w 219"/>
                <a:gd name="T17" fmla="*/ 143 h 176"/>
                <a:gd name="T18" fmla="*/ 109 w 219"/>
                <a:gd name="T19" fmla="*/ 159 h 176"/>
                <a:gd name="T20" fmla="*/ 109 w 219"/>
                <a:gd name="T21" fmla="*/ 176 h 176"/>
                <a:gd name="T22" fmla="*/ 219 w 219"/>
                <a:gd name="T23" fmla="*/ 67 h 176"/>
                <a:gd name="T24" fmla="*/ 219 w 219"/>
                <a:gd name="T25" fmla="*/ 0 h 176"/>
                <a:gd name="T26" fmla="*/ 0 w 219"/>
                <a:gd name="T27" fmla="*/ 0 h 176"/>
                <a:gd name="T28" fmla="*/ 0 w 219"/>
                <a:gd name="T29" fmla="*/ 67 h 176"/>
                <a:gd name="T30" fmla="*/ 109 w 219"/>
                <a:gd name="T31" fmla="*/ 176 h 176"/>
                <a:gd name="T32" fmla="*/ 109 w 219"/>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9" h="176">
                  <a:moveTo>
                    <a:pt x="109" y="159"/>
                  </a:moveTo>
                  <a:lnTo>
                    <a:pt x="109" y="143"/>
                  </a:lnTo>
                  <a:cubicBezTo>
                    <a:pt x="88" y="143"/>
                    <a:pt x="69" y="134"/>
                    <a:pt x="56" y="120"/>
                  </a:cubicBezTo>
                  <a:cubicBezTo>
                    <a:pt x="42" y="107"/>
                    <a:pt x="33" y="88"/>
                    <a:pt x="33" y="67"/>
                  </a:cubicBezTo>
                  <a:lnTo>
                    <a:pt x="33" y="33"/>
                  </a:lnTo>
                  <a:lnTo>
                    <a:pt x="185" y="33"/>
                  </a:lnTo>
                  <a:lnTo>
                    <a:pt x="185" y="67"/>
                  </a:lnTo>
                  <a:cubicBezTo>
                    <a:pt x="185" y="88"/>
                    <a:pt x="177" y="107"/>
                    <a:pt x="163" y="120"/>
                  </a:cubicBezTo>
                  <a:cubicBezTo>
                    <a:pt x="149" y="134"/>
                    <a:pt x="130" y="143"/>
                    <a:pt x="109" y="143"/>
                  </a:cubicBezTo>
                  <a:lnTo>
                    <a:pt x="109" y="159"/>
                  </a:lnTo>
                  <a:lnTo>
                    <a:pt x="109" y="176"/>
                  </a:lnTo>
                  <a:cubicBezTo>
                    <a:pt x="170" y="176"/>
                    <a:pt x="219" y="127"/>
                    <a:pt x="219" y="67"/>
                  </a:cubicBezTo>
                  <a:lnTo>
                    <a:pt x="219" y="0"/>
                  </a:lnTo>
                  <a:lnTo>
                    <a:pt x="0" y="0"/>
                  </a:lnTo>
                  <a:lnTo>
                    <a:pt x="0" y="67"/>
                  </a:lnTo>
                  <a:cubicBezTo>
                    <a:pt x="0" y="127"/>
                    <a:pt x="49" y="176"/>
                    <a:pt x="109" y="176"/>
                  </a:cubicBezTo>
                  <a:lnTo>
                    <a:pt x="109" y="15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1" name="Freeform 1101">
              <a:extLst>
                <a:ext uri="{FF2B5EF4-FFF2-40B4-BE49-F238E27FC236}">
                  <a16:creationId xmlns:a16="http://schemas.microsoft.com/office/drawing/2014/main" id="{63615EB1-B6BF-480F-C62C-BA9140035AFA}"/>
                </a:ext>
              </a:extLst>
            </p:cNvPr>
            <p:cNvSpPr>
              <a:spLocks/>
            </p:cNvSpPr>
            <p:nvPr/>
          </p:nvSpPr>
          <p:spPr bwMode="auto">
            <a:xfrm>
              <a:off x="3584576" y="3570288"/>
              <a:ext cx="60325" cy="69850"/>
            </a:xfrm>
            <a:custGeom>
              <a:avLst/>
              <a:gdLst>
                <a:gd name="T0" fmla="*/ 280 w 290"/>
                <a:gd name="T1" fmla="*/ 0 h 339"/>
                <a:gd name="T2" fmla="*/ 142 w 290"/>
                <a:gd name="T3" fmla="*/ 43 h 339"/>
                <a:gd name="T4" fmla="*/ 142 w 290"/>
                <a:gd name="T5" fmla="*/ 43 h 339"/>
                <a:gd name="T6" fmla="*/ 0 w 290"/>
                <a:gd name="T7" fmla="*/ 248 h 339"/>
                <a:gd name="T8" fmla="*/ 0 w 290"/>
                <a:gd name="T9" fmla="*/ 339 h 339"/>
                <a:gd name="T10" fmla="*/ 33 w 290"/>
                <a:gd name="T11" fmla="*/ 339 h 339"/>
                <a:gd name="T12" fmla="*/ 33 w 290"/>
                <a:gd name="T13" fmla="*/ 248 h 339"/>
                <a:gd name="T14" fmla="*/ 153 w 290"/>
                <a:gd name="T15" fmla="*/ 75 h 339"/>
                <a:gd name="T16" fmla="*/ 148 w 290"/>
                <a:gd name="T17" fmla="*/ 59 h 339"/>
                <a:gd name="T18" fmla="*/ 153 w 290"/>
                <a:gd name="T19" fmla="*/ 75 h 339"/>
                <a:gd name="T20" fmla="*/ 290 w 290"/>
                <a:gd name="T21" fmla="*/ 32 h 339"/>
                <a:gd name="T22" fmla="*/ 280 w 290"/>
                <a:gd name="T2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280" y="0"/>
                  </a:moveTo>
                  <a:lnTo>
                    <a:pt x="142" y="43"/>
                  </a:lnTo>
                  <a:lnTo>
                    <a:pt x="142" y="43"/>
                  </a:lnTo>
                  <a:cubicBezTo>
                    <a:pt x="56" y="75"/>
                    <a:pt x="0" y="157"/>
                    <a:pt x="0" y="248"/>
                  </a:cubicBezTo>
                  <a:lnTo>
                    <a:pt x="0" y="339"/>
                  </a:lnTo>
                  <a:lnTo>
                    <a:pt x="33" y="339"/>
                  </a:lnTo>
                  <a:lnTo>
                    <a:pt x="33" y="248"/>
                  </a:lnTo>
                  <a:cubicBezTo>
                    <a:pt x="33" y="170"/>
                    <a:pt x="81" y="101"/>
                    <a:pt x="153" y="75"/>
                  </a:cubicBezTo>
                  <a:lnTo>
                    <a:pt x="148" y="59"/>
                  </a:lnTo>
                  <a:lnTo>
                    <a:pt x="153" y="75"/>
                  </a:lnTo>
                  <a:lnTo>
                    <a:pt x="290" y="32"/>
                  </a:lnTo>
                  <a:lnTo>
                    <a:pt x="28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2" name="Freeform 1102">
              <a:extLst>
                <a:ext uri="{FF2B5EF4-FFF2-40B4-BE49-F238E27FC236}">
                  <a16:creationId xmlns:a16="http://schemas.microsoft.com/office/drawing/2014/main" id="{62DF398A-1AB4-FCDE-FEF7-FBDDDD4A1982}"/>
                </a:ext>
              </a:extLst>
            </p:cNvPr>
            <p:cNvSpPr>
              <a:spLocks/>
            </p:cNvSpPr>
            <p:nvPr/>
          </p:nvSpPr>
          <p:spPr bwMode="auto">
            <a:xfrm>
              <a:off x="3660776" y="3530600"/>
              <a:ext cx="12700" cy="25400"/>
            </a:xfrm>
            <a:custGeom>
              <a:avLst/>
              <a:gdLst>
                <a:gd name="T0" fmla="*/ 27 w 60"/>
                <a:gd name="T1" fmla="*/ 2 h 124"/>
                <a:gd name="T2" fmla="*/ 27 w 60"/>
                <a:gd name="T3" fmla="*/ 2 h 124"/>
                <a:gd name="T4" fmla="*/ 27 w 60"/>
                <a:gd name="T5" fmla="*/ 5 h 124"/>
                <a:gd name="T6" fmla="*/ 0 w 60"/>
                <a:gd name="T7" fmla="*/ 108 h 124"/>
                <a:gd name="T8" fmla="*/ 29 w 60"/>
                <a:gd name="T9" fmla="*/ 124 h 124"/>
                <a:gd name="T10" fmla="*/ 60 w 60"/>
                <a:gd name="T11" fmla="*/ 5 h 124"/>
                <a:gd name="T12" fmla="*/ 60 w 60"/>
                <a:gd name="T13" fmla="*/ 0 h 124"/>
                <a:gd name="T14" fmla="*/ 27 w 60"/>
                <a:gd name="T15" fmla="*/ 2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124">
                  <a:moveTo>
                    <a:pt x="27" y="2"/>
                  </a:moveTo>
                  <a:lnTo>
                    <a:pt x="27" y="2"/>
                  </a:lnTo>
                  <a:cubicBezTo>
                    <a:pt x="27" y="3"/>
                    <a:pt x="27" y="4"/>
                    <a:pt x="27" y="5"/>
                  </a:cubicBezTo>
                  <a:cubicBezTo>
                    <a:pt x="27" y="17"/>
                    <a:pt x="25" y="60"/>
                    <a:pt x="0" y="108"/>
                  </a:cubicBezTo>
                  <a:lnTo>
                    <a:pt x="29" y="124"/>
                  </a:lnTo>
                  <a:cubicBezTo>
                    <a:pt x="58" y="69"/>
                    <a:pt x="60" y="21"/>
                    <a:pt x="60" y="5"/>
                  </a:cubicBezTo>
                  <a:cubicBezTo>
                    <a:pt x="60" y="2"/>
                    <a:pt x="60" y="1"/>
                    <a:pt x="60" y="0"/>
                  </a:cubicBezTo>
                  <a:lnTo>
                    <a:pt x="27" y="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3" name="Freeform 1103">
              <a:extLst>
                <a:ext uri="{FF2B5EF4-FFF2-40B4-BE49-F238E27FC236}">
                  <a16:creationId xmlns:a16="http://schemas.microsoft.com/office/drawing/2014/main" id="{6D52203E-78DF-1FBB-8996-6BDF997FE5BF}"/>
                </a:ext>
              </a:extLst>
            </p:cNvPr>
            <p:cNvSpPr>
              <a:spLocks/>
            </p:cNvSpPr>
            <p:nvPr/>
          </p:nvSpPr>
          <p:spPr bwMode="auto">
            <a:xfrm>
              <a:off x="3756026" y="3570288"/>
              <a:ext cx="58738" cy="69850"/>
            </a:xfrm>
            <a:custGeom>
              <a:avLst/>
              <a:gdLst>
                <a:gd name="T0" fmla="*/ 0 w 290"/>
                <a:gd name="T1" fmla="*/ 32 h 339"/>
                <a:gd name="T2" fmla="*/ 137 w 290"/>
                <a:gd name="T3" fmla="*/ 75 h 339"/>
                <a:gd name="T4" fmla="*/ 142 w 290"/>
                <a:gd name="T5" fmla="*/ 59 h 339"/>
                <a:gd name="T6" fmla="*/ 136 w 290"/>
                <a:gd name="T7" fmla="*/ 75 h 339"/>
                <a:gd name="T8" fmla="*/ 257 w 290"/>
                <a:gd name="T9" fmla="*/ 248 h 339"/>
                <a:gd name="T10" fmla="*/ 257 w 290"/>
                <a:gd name="T11" fmla="*/ 339 h 339"/>
                <a:gd name="T12" fmla="*/ 290 w 290"/>
                <a:gd name="T13" fmla="*/ 339 h 339"/>
                <a:gd name="T14" fmla="*/ 290 w 290"/>
                <a:gd name="T15" fmla="*/ 248 h 339"/>
                <a:gd name="T16" fmla="*/ 148 w 290"/>
                <a:gd name="T17" fmla="*/ 43 h 339"/>
                <a:gd name="T18" fmla="*/ 148 w 290"/>
                <a:gd name="T19" fmla="*/ 43 h 339"/>
                <a:gd name="T20" fmla="*/ 10 w 290"/>
                <a:gd name="T21" fmla="*/ 0 h 339"/>
                <a:gd name="T22" fmla="*/ 0 w 290"/>
                <a:gd name="T23" fmla="*/ 32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0" y="32"/>
                  </a:moveTo>
                  <a:lnTo>
                    <a:pt x="137" y="75"/>
                  </a:lnTo>
                  <a:lnTo>
                    <a:pt x="142" y="59"/>
                  </a:lnTo>
                  <a:lnTo>
                    <a:pt x="136" y="75"/>
                  </a:lnTo>
                  <a:cubicBezTo>
                    <a:pt x="209" y="101"/>
                    <a:pt x="257" y="170"/>
                    <a:pt x="257" y="248"/>
                  </a:cubicBezTo>
                  <a:lnTo>
                    <a:pt x="257" y="339"/>
                  </a:lnTo>
                  <a:lnTo>
                    <a:pt x="290" y="339"/>
                  </a:lnTo>
                  <a:lnTo>
                    <a:pt x="290" y="248"/>
                  </a:lnTo>
                  <a:cubicBezTo>
                    <a:pt x="290" y="157"/>
                    <a:pt x="233" y="75"/>
                    <a:pt x="148" y="43"/>
                  </a:cubicBezTo>
                  <a:lnTo>
                    <a:pt x="148" y="43"/>
                  </a:lnTo>
                  <a:lnTo>
                    <a:pt x="10" y="0"/>
                  </a:lnTo>
                  <a:lnTo>
                    <a:pt x="0" y="3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4" name="Freeform 1104">
              <a:extLst>
                <a:ext uri="{FF2B5EF4-FFF2-40B4-BE49-F238E27FC236}">
                  <a16:creationId xmlns:a16="http://schemas.microsoft.com/office/drawing/2014/main" id="{C190ABAB-0905-A884-79D2-D7F8636AAB95}"/>
                </a:ext>
              </a:extLst>
            </p:cNvPr>
            <p:cNvSpPr>
              <a:spLocks/>
            </p:cNvSpPr>
            <p:nvPr/>
          </p:nvSpPr>
          <p:spPr bwMode="auto">
            <a:xfrm>
              <a:off x="3727451" y="3522663"/>
              <a:ext cx="11113" cy="33338"/>
            </a:xfrm>
            <a:custGeom>
              <a:avLst/>
              <a:gdLst>
                <a:gd name="T0" fmla="*/ 0 w 58"/>
                <a:gd name="T1" fmla="*/ 0 h 163"/>
                <a:gd name="T2" fmla="*/ 0 w 58"/>
                <a:gd name="T3" fmla="*/ 19 h 163"/>
                <a:gd name="T4" fmla="*/ 5 w 58"/>
                <a:gd name="T5" fmla="*/ 84 h 163"/>
                <a:gd name="T6" fmla="*/ 28 w 58"/>
                <a:gd name="T7" fmla="*/ 163 h 163"/>
                <a:gd name="T8" fmla="*/ 58 w 58"/>
                <a:gd name="T9" fmla="*/ 147 h 163"/>
                <a:gd name="T10" fmla="*/ 38 w 58"/>
                <a:gd name="T11" fmla="*/ 79 h 163"/>
                <a:gd name="T12" fmla="*/ 33 w 58"/>
                <a:gd name="T13" fmla="*/ 19 h 163"/>
                <a:gd name="T14" fmla="*/ 34 w 58"/>
                <a:gd name="T15" fmla="*/ 7 h 163"/>
                <a:gd name="T16" fmla="*/ 34 w 58"/>
                <a:gd name="T17" fmla="*/ 3 h 163"/>
                <a:gd name="T18" fmla="*/ 34 w 58"/>
                <a:gd name="T19" fmla="*/ 2 h 163"/>
                <a:gd name="T20" fmla="*/ 0 w 58"/>
                <a:gd name="T2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163">
                  <a:moveTo>
                    <a:pt x="0" y="0"/>
                  </a:moveTo>
                  <a:cubicBezTo>
                    <a:pt x="0" y="0"/>
                    <a:pt x="0" y="7"/>
                    <a:pt x="0" y="19"/>
                  </a:cubicBezTo>
                  <a:cubicBezTo>
                    <a:pt x="0" y="34"/>
                    <a:pt x="1" y="58"/>
                    <a:pt x="5" y="84"/>
                  </a:cubicBezTo>
                  <a:cubicBezTo>
                    <a:pt x="9" y="109"/>
                    <a:pt x="15" y="138"/>
                    <a:pt x="28" y="163"/>
                  </a:cubicBezTo>
                  <a:lnTo>
                    <a:pt x="58" y="147"/>
                  </a:lnTo>
                  <a:cubicBezTo>
                    <a:pt x="48" y="127"/>
                    <a:pt x="41" y="102"/>
                    <a:pt x="38" y="79"/>
                  </a:cubicBezTo>
                  <a:cubicBezTo>
                    <a:pt x="34" y="55"/>
                    <a:pt x="33" y="33"/>
                    <a:pt x="33" y="19"/>
                  </a:cubicBezTo>
                  <a:cubicBezTo>
                    <a:pt x="33" y="14"/>
                    <a:pt x="33" y="9"/>
                    <a:pt x="34" y="7"/>
                  </a:cubicBezTo>
                  <a:lnTo>
                    <a:pt x="34" y="3"/>
                  </a:lnTo>
                  <a:lnTo>
                    <a:pt x="34" y="2"/>
                  </a:lnTo>
                  <a:lnTo>
                    <a:pt x="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5" name="Freeform 1105">
              <a:extLst>
                <a:ext uri="{FF2B5EF4-FFF2-40B4-BE49-F238E27FC236}">
                  <a16:creationId xmlns:a16="http://schemas.microsoft.com/office/drawing/2014/main" id="{7BF4FAC3-05A7-D81B-D01C-32AA6368571E}"/>
                </a:ext>
              </a:extLst>
            </p:cNvPr>
            <p:cNvSpPr>
              <a:spLocks/>
            </p:cNvSpPr>
            <p:nvPr/>
          </p:nvSpPr>
          <p:spPr bwMode="auto">
            <a:xfrm>
              <a:off x="3611563" y="3348038"/>
              <a:ext cx="117475" cy="80963"/>
            </a:xfrm>
            <a:custGeom>
              <a:avLst/>
              <a:gdLst>
                <a:gd name="T0" fmla="*/ 543 w 573"/>
                <a:gd name="T1" fmla="*/ 8 h 389"/>
                <a:gd name="T2" fmla="*/ 419 w 573"/>
                <a:gd name="T3" fmla="*/ 0 h 389"/>
                <a:gd name="T4" fmla="*/ 162 w 573"/>
                <a:gd name="T5" fmla="*/ 46 h 389"/>
                <a:gd name="T6" fmla="*/ 53 w 573"/>
                <a:gd name="T7" fmla="*/ 128 h 389"/>
                <a:gd name="T8" fmla="*/ 1 w 573"/>
                <a:gd name="T9" fmla="*/ 269 h 389"/>
                <a:gd name="T10" fmla="*/ 0 w 573"/>
                <a:gd name="T11" fmla="*/ 287 h 389"/>
                <a:gd name="T12" fmla="*/ 221 w 573"/>
                <a:gd name="T13" fmla="*/ 287 h 389"/>
                <a:gd name="T14" fmla="*/ 221 w 573"/>
                <a:gd name="T15" fmla="*/ 270 h 389"/>
                <a:gd name="T16" fmla="*/ 206 w 573"/>
                <a:gd name="T17" fmla="*/ 277 h 389"/>
                <a:gd name="T18" fmla="*/ 261 w 573"/>
                <a:gd name="T19" fmla="*/ 335 h 389"/>
                <a:gd name="T20" fmla="*/ 476 w 573"/>
                <a:gd name="T21" fmla="*/ 389 h 389"/>
                <a:gd name="T22" fmla="*/ 573 w 573"/>
                <a:gd name="T23" fmla="*/ 389 h 389"/>
                <a:gd name="T24" fmla="*/ 573 w 573"/>
                <a:gd name="T25" fmla="*/ 356 h 389"/>
                <a:gd name="T26" fmla="*/ 476 w 573"/>
                <a:gd name="T27" fmla="*/ 356 h 389"/>
                <a:gd name="T28" fmla="*/ 280 w 573"/>
                <a:gd name="T29" fmla="*/ 308 h 389"/>
                <a:gd name="T30" fmla="*/ 244 w 573"/>
                <a:gd name="T31" fmla="*/ 276 h 389"/>
                <a:gd name="T32" fmla="*/ 237 w 573"/>
                <a:gd name="T33" fmla="*/ 266 h 389"/>
                <a:gd name="T34" fmla="*/ 236 w 573"/>
                <a:gd name="T35" fmla="*/ 263 h 389"/>
                <a:gd name="T36" fmla="*/ 236 w 573"/>
                <a:gd name="T37" fmla="*/ 263 h 389"/>
                <a:gd name="T38" fmla="*/ 236 w 573"/>
                <a:gd name="T39" fmla="*/ 263 h 389"/>
                <a:gd name="T40" fmla="*/ 226 w 573"/>
                <a:gd name="T41" fmla="*/ 267 h 389"/>
                <a:gd name="T42" fmla="*/ 236 w 573"/>
                <a:gd name="T43" fmla="*/ 263 h 389"/>
                <a:gd name="T44" fmla="*/ 236 w 573"/>
                <a:gd name="T45" fmla="*/ 263 h 389"/>
                <a:gd name="T46" fmla="*/ 226 w 573"/>
                <a:gd name="T47" fmla="*/ 267 h 389"/>
                <a:gd name="T48" fmla="*/ 236 w 573"/>
                <a:gd name="T49" fmla="*/ 263 h 389"/>
                <a:gd name="T50" fmla="*/ 231 w 573"/>
                <a:gd name="T51" fmla="*/ 253 h 389"/>
                <a:gd name="T52" fmla="*/ 18 w 573"/>
                <a:gd name="T53" fmla="*/ 253 h 389"/>
                <a:gd name="T54" fmla="*/ 18 w 573"/>
                <a:gd name="T55" fmla="*/ 270 h 389"/>
                <a:gd name="T56" fmla="*/ 35 w 573"/>
                <a:gd name="T57" fmla="*/ 271 h 389"/>
                <a:gd name="T58" fmla="*/ 80 w 573"/>
                <a:gd name="T59" fmla="*/ 148 h 389"/>
                <a:gd name="T60" fmla="*/ 235 w 573"/>
                <a:gd name="T61" fmla="*/ 55 h 389"/>
                <a:gd name="T62" fmla="*/ 419 w 573"/>
                <a:gd name="T63" fmla="*/ 33 h 389"/>
                <a:gd name="T64" fmla="*/ 505 w 573"/>
                <a:gd name="T65" fmla="*/ 37 h 389"/>
                <a:gd name="T66" fmla="*/ 529 w 573"/>
                <a:gd name="T67" fmla="*/ 39 h 389"/>
                <a:gd name="T68" fmla="*/ 536 w 573"/>
                <a:gd name="T69" fmla="*/ 40 h 389"/>
                <a:gd name="T70" fmla="*/ 538 w 573"/>
                <a:gd name="T71" fmla="*/ 41 h 389"/>
                <a:gd name="T72" fmla="*/ 543 w 573"/>
                <a:gd name="T73" fmla="*/ 8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73" h="389">
                  <a:moveTo>
                    <a:pt x="543" y="8"/>
                  </a:moveTo>
                  <a:cubicBezTo>
                    <a:pt x="542" y="7"/>
                    <a:pt x="491" y="0"/>
                    <a:pt x="419" y="0"/>
                  </a:cubicBezTo>
                  <a:cubicBezTo>
                    <a:pt x="343" y="0"/>
                    <a:pt x="245" y="8"/>
                    <a:pt x="162" y="46"/>
                  </a:cubicBezTo>
                  <a:cubicBezTo>
                    <a:pt x="120" y="65"/>
                    <a:pt x="82" y="91"/>
                    <a:pt x="53" y="128"/>
                  </a:cubicBezTo>
                  <a:cubicBezTo>
                    <a:pt x="25" y="164"/>
                    <a:pt x="6" y="211"/>
                    <a:pt x="1" y="269"/>
                  </a:cubicBezTo>
                  <a:lnTo>
                    <a:pt x="0" y="287"/>
                  </a:lnTo>
                  <a:lnTo>
                    <a:pt x="221" y="287"/>
                  </a:lnTo>
                  <a:lnTo>
                    <a:pt x="221" y="270"/>
                  </a:lnTo>
                  <a:lnTo>
                    <a:pt x="206" y="277"/>
                  </a:lnTo>
                  <a:cubicBezTo>
                    <a:pt x="207" y="279"/>
                    <a:pt x="220" y="307"/>
                    <a:pt x="261" y="335"/>
                  </a:cubicBezTo>
                  <a:cubicBezTo>
                    <a:pt x="302" y="363"/>
                    <a:pt x="370" y="389"/>
                    <a:pt x="476" y="389"/>
                  </a:cubicBezTo>
                  <a:lnTo>
                    <a:pt x="573" y="389"/>
                  </a:lnTo>
                  <a:lnTo>
                    <a:pt x="573" y="356"/>
                  </a:lnTo>
                  <a:lnTo>
                    <a:pt x="476" y="356"/>
                  </a:lnTo>
                  <a:cubicBezTo>
                    <a:pt x="375" y="356"/>
                    <a:pt x="315" y="331"/>
                    <a:pt x="280" y="308"/>
                  </a:cubicBezTo>
                  <a:cubicBezTo>
                    <a:pt x="262" y="296"/>
                    <a:pt x="251" y="284"/>
                    <a:pt x="244" y="276"/>
                  </a:cubicBezTo>
                  <a:cubicBezTo>
                    <a:pt x="241" y="271"/>
                    <a:pt x="239" y="268"/>
                    <a:pt x="237" y="266"/>
                  </a:cubicBezTo>
                  <a:lnTo>
                    <a:pt x="236" y="263"/>
                  </a:lnTo>
                  <a:lnTo>
                    <a:pt x="236" y="263"/>
                  </a:lnTo>
                  <a:lnTo>
                    <a:pt x="236" y="263"/>
                  </a:lnTo>
                  <a:lnTo>
                    <a:pt x="226" y="267"/>
                  </a:lnTo>
                  <a:lnTo>
                    <a:pt x="236" y="263"/>
                  </a:lnTo>
                  <a:lnTo>
                    <a:pt x="236" y="263"/>
                  </a:lnTo>
                  <a:lnTo>
                    <a:pt x="226" y="267"/>
                  </a:lnTo>
                  <a:lnTo>
                    <a:pt x="236" y="263"/>
                  </a:lnTo>
                  <a:lnTo>
                    <a:pt x="231" y="253"/>
                  </a:lnTo>
                  <a:lnTo>
                    <a:pt x="18" y="253"/>
                  </a:lnTo>
                  <a:lnTo>
                    <a:pt x="18" y="270"/>
                  </a:lnTo>
                  <a:lnTo>
                    <a:pt x="35" y="271"/>
                  </a:lnTo>
                  <a:cubicBezTo>
                    <a:pt x="39" y="219"/>
                    <a:pt x="55" y="180"/>
                    <a:pt x="80" y="148"/>
                  </a:cubicBezTo>
                  <a:cubicBezTo>
                    <a:pt x="117" y="101"/>
                    <a:pt x="173" y="72"/>
                    <a:pt x="235" y="55"/>
                  </a:cubicBezTo>
                  <a:cubicBezTo>
                    <a:pt x="297" y="38"/>
                    <a:pt x="364" y="33"/>
                    <a:pt x="419" y="33"/>
                  </a:cubicBezTo>
                  <a:cubicBezTo>
                    <a:pt x="454" y="33"/>
                    <a:pt x="484" y="35"/>
                    <a:pt x="505" y="37"/>
                  </a:cubicBezTo>
                  <a:cubicBezTo>
                    <a:pt x="515" y="38"/>
                    <a:pt x="524" y="39"/>
                    <a:pt x="529" y="39"/>
                  </a:cubicBezTo>
                  <a:cubicBezTo>
                    <a:pt x="532" y="40"/>
                    <a:pt x="534" y="40"/>
                    <a:pt x="536" y="40"/>
                  </a:cubicBezTo>
                  <a:lnTo>
                    <a:pt x="538" y="41"/>
                  </a:lnTo>
                  <a:lnTo>
                    <a:pt x="543" y="8"/>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6" name="Freeform 1106">
              <a:extLst>
                <a:ext uri="{FF2B5EF4-FFF2-40B4-BE49-F238E27FC236}">
                  <a16:creationId xmlns:a16="http://schemas.microsoft.com/office/drawing/2014/main" id="{ACD8C4E7-19E5-A866-1ED2-714FF015A277}"/>
                </a:ext>
              </a:extLst>
            </p:cNvPr>
            <p:cNvSpPr>
              <a:spLocks/>
            </p:cNvSpPr>
            <p:nvPr/>
          </p:nvSpPr>
          <p:spPr bwMode="auto">
            <a:xfrm>
              <a:off x="3716338" y="3362325"/>
              <a:ext cx="61913" cy="98425"/>
            </a:xfrm>
            <a:custGeom>
              <a:avLst/>
              <a:gdLst>
                <a:gd name="T0" fmla="*/ 4 w 297"/>
                <a:gd name="T1" fmla="*/ 34 h 483"/>
                <a:gd name="T2" fmla="*/ 4 w 297"/>
                <a:gd name="T3" fmla="*/ 34 h 483"/>
                <a:gd name="T4" fmla="*/ 19 w 297"/>
                <a:gd name="T5" fmla="*/ 34 h 483"/>
                <a:gd name="T6" fmla="*/ 163 w 297"/>
                <a:gd name="T7" fmla="*/ 79 h 483"/>
                <a:gd name="T8" fmla="*/ 233 w 297"/>
                <a:gd name="T9" fmla="*/ 170 h 483"/>
                <a:gd name="T10" fmla="*/ 264 w 297"/>
                <a:gd name="T11" fmla="*/ 341 h 483"/>
                <a:gd name="T12" fmla="*/ 261 w 297"/>
                <a:gd name="T13" fmla="*/ 398 h 483"/>
                <a:gd name="T14" fmla="*/ 206 w 297"/>
                <a:gd name="T15" fmla="*/ 450 h 483"/>
                <a:gd name="T16" fmla="*/ 206 w 297"/>
                <a:gd name="T17" fmla="*/ 483 h 483"/>
                <a:gd name="T18" fmla="*/ 295 w 297"/>
                <a:gd name="T19" fmla="*/ 401 h 483"/>
                <a:gd name="T20" fmla="*/ 297 w 297"/>
                <a:gd name="T21" fmla="*/ 341 h 483"/>
                <a:gd name="T22" fmla="*/ 263 w 297"/>
                <a:gd name="T23" fmla="*/ 157 h 483"/>
                <a:gd name="T24" fmla="*/ 136 w 297"/>
                <a:gd name="T25" fmla="*/ 25 h 483"/>
                <a:gd name="T26" fmla="*/ 19 w 297"/>
                <a:gd name="T27" fmla="*/ 0 h 483"/>
                <a:gd name="T28" fmla="*/ 0 w 297"/>
                <a:gd name="T29" fmla="*/ 1 h 483"/>
                <a:gd name="T30" fmla="*/ 4 w 297"/>
                <a:gd name="T31" fmla="*/ 34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7" h="483">
                  <a:moveTo>
                    <a:pt x="4" y="34"/>
                  </a:moveTo>
                  <a:lnTo>
                    <a:pt x="4" y="34"/>
                  </a:lnTo>
                  <a:cubicBezTo>
                    <a:pt x="5" y="34"/>
                    <a:pt x="10" y="34"/>
                    <a:pt x="19" y="34"/>
                  </a:cubicBezTo>
                  <a:cubicBezTo>
                    <a:pt x="48" y="34"/>
                    <a:pt x="110" y="39"/>
                    <a:pt x="163" y="79"/>
                  </a:cubicBezTo>
                  <a:cubicBezTo>
                    <a:pt x="189" y="100"/>
                    <a:pt x="214" y="128"/>
                    <a:pt x="233" y="170"/>
                  </a:cubicBezTo>
                  <a:cubicBezTo>
                    <a:pt x="251" y="212"/>
                    <a:pt x="264" y="267"/>
                    <a:pt x="264" y="341"/>
                  </a:cubicBezTo>
                  <a:cubicBezTo>
                    <a:pt x="264" y="359"/>
                    <a:pt x="263" y="378"/>
                    <a:pt x="261" y="398"/>
                  </a:cubicBezTo>
                  <a:cubicBezTo>
                    <a:pt x="259" y="428"/>
                    <a:pt x="235" y="450"/>
                    <a:pt x="206" y="450"/>
                  </a:cubicBezTo>
                  <a:lnTo>
                    <a:pt x="206" y="483"/>
                  </a:lnTo>
                  <a:cubicBezTo>
                    <a:pt x="253" y="483"/>
                    <a:pt x="291" y="447"/>
                    <a:pt x="295" y="401"/>
                  </a:cubicBezTo>
                  <a:cubicBezTo>
                    <a:pt x="296" y="380"/>
                    <a:pt x="297" y="360"/>
                    <a:pt x="297" y="341"/>
                  </a:cubicBezTo>
                  <a:cubicBezTo>
                    <a:pt x="297" y="264"/>
                    <a:pt x="284" y="204"/>
                    <a:pt x="263" y="157"/>
                  </a:cubicBezTo>
                  <a:cubicBezTo>
                    <a:pt x="232" y="86"/>
                    <a:pt x="183" y="46"/>
                    <a:pt x="136" y="25"/>
                  </a:cubicBezTo>
                  <a:cubicBezTo>
                    <a:pt x="89" y="4"/>
                    <a:pt x="44" y="0"/>
                    <a:pt x="19" y="0"/>
                  </a:cubicBezTo>
                  <a:cubicBezTo>
                    <a:pt x="8" y="0"/>
                    <a:pt x="0" y="1"/>
                    <a:pt x="0" y="1"/>
                  </a:cubicBezTo>
                  <a:lnTo>
                    <a:pt x="4" y="34"/>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7" name="Freeform 1107">
              <a:extLst>
                <a:ext uri="{FF2B5EF4-FFF2-40B4-BE49-F238E27FC236}">
                  <a16:creationId xmlns:a16="http://schemas.microsoft.com/office/drawing/2014/main" id="{19ACBDF4-3269-2802-BDCB-536BDF954B51}"/>
                </a:ext>
              </a:extLst>
            </p:cNvPr>
            <p:cNvSpPr>
              <a:spLocks/>
            </p:cNvSpPr>
            <p:nvPr/>
          </p:nvSpPr>
          <p:spPr bwMode="auto">
            <a:xfrm>
              <a:off x="3625851" y="3400425"/>
              <a:ext cx="139700" cy="136525"/>
            </a:xfrm>
            <a:custGeom>
              <a:avLst/>
              <a:gdLst>
                <a:gd name="T0" fmla="*/ 12 w 677"/>
                <a:gd name="T1" fmla="*/ 191 h 657"/>
                <a:gd name="T2" fmla="*/ 32 w 677"/>
                <a:gd name="T3" fmla="*/ 263 h 657"/>
                <a:gd name="T4" fmla="*/ 0 w 677"/>
                <a:gd name="T5" fmla="*/ 383 h 657"/>
                <a:gd name="T6" fmla="*/ 142 w 677"/>
                <a:gd name="T7" fmla="*/ 631 h 657"/>
                <a:gd name="T8" fmla="*/ 286 w 677"/>
                <a:gd name="T9" fmla="*/ 640 h 657"/>
                <a:gd name="T10" fmla="*/ 307 w 677"/>
                <a:gd name="T11" fmla="*/ 657 h 657"/>
                <a:gd name="T12" fmla="*/ 582 w 677"/>
                <a:gd name="T13" fmla="*/ 553 h 657"/>
                <a:gd name="T14" fmla="*/ 621 w 677"/>
                <a:gd name="T15" fmla="*/ 401 h 657"/>
                <a:gd name="T16" fmla="*/ 621 w 677"/>
                <a:gd name="T17" fmla="*/ 402 h 657"/>
                <a:gd name="T18" fmla="*/ 604 w 677"/>
                <a:gd name="T19" fmla="*/ 328 h 657"/>
                <a:gd name="T20" fmla="*/ 606 w 677"/>
                <a:gd name="T21" fmla="*/ 345 h 657"/>
                <a:gd name="T22" fmla="*/ 606 w 677"/>
                <a:gd name="T23" fmla="*/ 202 h 657"/>
                <a:gd name="T24" fmla="*/ 590 w 677"/>
                <a:gd name="T25" fmla="*/ 219 h 657"/>
                <a:gd name="T26" fmla="*/ 608 w 677"/>
                <a:gd name="T27" fmla="*/ 185 h 657"/>
                <a:gd name="T28" fmla="*/ 561 w 677"/>
                <a:gd name="T29" fmla="*/ 13 h 657"/>
                <a:gd name="T30" fmla="*/ 568 w 677"/>
                <a:gd name="T31" fmla="*/ 106 h 657"/>
                <a:gd name="T32" fmla="*/ 574 w 677"/>
                <a:gd name="T33" fmla="*/ 209 h 657"/>
                <a:gd name="T34" fmla="*/ 574 w 677"/>
                <a:gd name="T35" fmla="*/ 217 h 657"/>
                <a:gd name="T36" fmla="*/ 606 w 677"/>
                <a:gd name="T37" fmla="*/ 235 h 657"/>
                <a:gd name="T38" fmla="*/ 606 w 677"/>
                <a:gd name="T39" fmla="*/ 311 h 657"/>
                <a:gd name="T40" fmla="*/ 588 w 677"/>
                <a:gd name="T41" fmla="*/ 311 h 657"/>
                <a:gd name="T42" fmla="*/ 588 w 677"/>
                <a:gd name="T43" fmla="*/ 404 h 657"/>
                <a:gd name="T44" fmla="*/ 556 w 677"/>
                <a:gd name="T45" fmla="*/ 533 h 657"/>
                <a:gd name="T46" fmla="*/ 307 w 677"/>
                <a:gd name="T47" fmla="*/ 624 h 657"/>
                <a:gd name="T48" fmla="*/ 288 w 677"/>
                <a:gd name="T49" fmla="*/ 623 h 657"/>
                <a:gd name="T50" fmla="*/ 286 w 677"/>
                <a:gd name="T51" fmla="*/ 623 h 657"/>
                <a:gd name="T52" fmla="*/ 155 w 677"/>
                <a:gd name="T53" fmla="*/ 600 h 657"/>
                <a:gd name="T54" fmla="*/ 33 w 677"/>
                <a:gd name="T55" fmla="*/ 383 h 657"/>
                <a:gd name="T56" fmla="*/ 46 w 677"/>
                <a:gd name="T57" fmla="*/ 276 h 657"/>
                <a:gd name="T58" fmla="*/ 48 w 677"/>
                <a:gd name="T59" fmla="*/ 268 h 657"/>
                <a:gd name="T60" fmla="*/ 49 w 677"/>
                <a:gd name="T61" fmla="*/ 264 h 657"/>
                <a:gd name="T62" fmla="*/ 45 w 677"/>
                <a:gd name="T63" fmla="*/ 191 h 657"/>
                <a:gd name="T64" fmla="*/ 50 w 677"/>
                <a:gd name="T65"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7" h="657">
                  <a:moveTo>
                    <a:pt x="50" y="0"/>
                  </a:moveTo>
                  <a:cubicBezTo>
                    <a:pt x="30" y="42"/>
                    <a:pt x="12" y="104"/>
                    <a:pt x="12" y="191"/>
                  </a:cubicBezTo>
                  <a:cubicBezTo>
                    <a:pt x="12" y="214"/>
                    <a:pt x="13" y="238"/>
                    <a:pt x="16" y="264"/>
                  </a:cubicBezTo>
                  <a:lnTo>
                    <a:pt x="32" y="263"/>
                  </a:lnTo>
                  <a:lnTo>
                    <a:pt x="16" y="258"/>
                  </a:lnTo>
                  <a:cubicBezTo>
                    <a:pt x="16" y="259"/>
                    <a:pt x="0" y="314"/>
                    <a:pt x="0" y="383"/>
                  </a:cubicBezTo>
                  <a:cubicBezTo>
                    <a:pt x="0" y="441"/>
                    <a:pt x="11" y="508"/>
                    <a:pt x="53" y="563"/>
                  </a:cubicBezTo>
                  <a:cubicBezTo>
                    <a:pt x="74" y="591"/>
                    <a:pt x="103" y="614"/>
                    <a:pt x="142" y="631"/>
                  </a:cubicBezTo>
                  <a:cubicBezTo>
                    <a:pt x="180" y="647"/>
                    <a:pt x="227" y="657"/>
                    <a:pt x="286" y="657"/>
                  </a:cubicBezTo>
                  <a:lnTo>
                    <a:pt x="286" y="640"/>
                  </a:lnTo>
                  <a:lnTo>
                    <a:pt x="285" y="657"/>
                  </a:lnTo>
                  <a:cubicBezTo>
                    <a:pt x="285" y="657"/>
                    <a:pt x="293" y="657"/>
                    <a:pt x="307" y="657"/>
                  </a:cubicBezTo>
                  <a:cubicBezTo>
                    <a:pt x="345" y="657"/>
                    <a:pt x="421" y="653"/>
                    <a:pt x="490" y="623"/>
                  </a:cubicBezTo>
                  <a:cubicBezTo>
                    <a:pt x="525" y="608"/>
                    <a:pt x="558" y="586"/>
                    <a:pt x="582" y="553"/>
                  </a:cubicBezTo>
                  <a:cubicBezTo>
                    <a:pt x="607" y="521"/>
                    <a:pt x="622" y="479"/>
                    <a:pt x="622" y="426"/>
                  </a:cubicBezTo>
                  <a:cubicBezTo>
                    <a:pt x="622" y="418"/>
                    <a:pt x="622" y="409"/>
                    <a:pt x="621" y="401"/>
                  </a:cubicBezTo>
                  <a:lnTo>
                    <a:pt x="604" y="402"/>
                  </a:lnTo>
                  <a:lnTo>
                    <a:pt x="621" y="402"/>
                  </a:lnTo>
                  <a:lnTo>
                    <a:pt x="621" y="328"/>
                  </a:lnTo>
                  <a:lnTo>
                    <a:pt x="604" y="328"/>
                  </a:lnTo>
                  <a:lnTo>
                    <a:pt x="604" y="345"/>
                  </a:lnTo>
                  <a:lnTo>
                    <a:pt x="606" y="345"/>
                  </a:lnTo>
                  <a:cubicBezTo>
                    <a:pt x="645" y="345"/>
                    <a:pt x="677" y="313"/>
                    <a:pt x="677" y="273"/>
                  </a:cubicBezTo>
                  <a:cubicBezTo>
                    <a:pt x="677" y="234"/>
                    <a:pt x="645" y="202"/>
                    <a:pt x="606" y="202"/>
                  </a:cubicBezTo>
                  <a:lnTo>
                    <a:pt x="590" y="202"/>
                  </a:lnTo>
                  <a:lnTo>
                    <a:pt x="590" y="219"/>
                  </a:lnTo>
                  <a:lnTo>
                    <a:pt x="607" y="220"/>
                  </a:lnTo>
                  <a:cubicBezTo>
                    <a:pt x="607" y="220"/>
                    <a:pt x="608" y="206"/>
                    <a:pt x="608" y="185"/>
                  </a:cubicBezTo>
                  <a:cubicBezTo>
                    <a:pt x="608" y="162"/>
                    <a:pt x="607" y="131"/>
                    <a:pt x="600" y="100"/>
                  </a:cubicBezTo>
                  <a:cubicBezTo>
                    <a:pt x="594" y="68"/>
                    <a:pt x="583" y="37"/>
                    <a:pt x="561" y="13"/>
                  </a:cubicBezTo>
                  <a:lnTo>
                    <a:pt x="537" y="36"/>
                  </a:lnTo>
                  <a:cubicBezTo>
                    <a:pt x="552" y="52"/>
                    <a:pt x="562" y="78"/>
                    <a:pt x="568" y="106"/>
                  </a:cubicBezTo>
                  <a:cubicBezTo>
                    <a:pt x="573" y="135"/>
                    <a:pt x="575" y="164"/>
                    <a:pt x="575" y="185"/>
                  </a:cubicBezTo>
                  <a:cubicBezTo>
                    <a:pt x="575" y="195"/>
                    <a:pt x="574" y="203"/>
                    <a:pt x="574" y="209"/>
                  </a:cubicBezTo>
                  <a:cubicBezTo>
                    <a:pt x="574" y="211"/>
                    <a:pt x="574" y="214"/>
                    <a:pt x="574" y="215"/>
                  </a:cubicBezTo>
                  <a:lnTo>
                    <a:pt x="574" y="217"/>
                  </a:lnTo>
                  <a:lnTo>
                    <a:pt x="572" y="235"/>
                  </a:lnTo>
                  <a:lnTo>
                    <a:pt x="606" y="235"/>
                  </a:lnTo>
                  <a:cubicBezTo>
                    <a:pt x="627" y="235"/>
                    <a:pt x="644" y="252"/>
                    <a:pt x="644" y="273"/>
                  </a:cubicBezTo>
                  <a:cubicBezTo>
                    <a:pt x="644" y="294"/>
                    <a:pt x="627" y="311"/>
                    <a:pt x="606" y="311"/>
                  </a:cubicBezTo>
                  <a:lnTo>
                    <a:pt x="604" y="311"/>
                  </a:lnTo>
                  <a:lnTo>
                    <a:pt x="588" y="311"/>
                  </a:lnTo>
                  <a:lnTo>
                    <a:pt x="588" y="403"/>
                  </a:lnTo>
                  <a:lnTo>
                    <a:pt x="588" y="404"/>
                  </a:lnTo>
                  <a:cubicBezTo>
                    <a:pt x="588" y="411"/>
                    <a:pt x="589" y="419"/>
                    <a:pt x="589" y="426"/>
                  </a:cubicBezTo>
                  <a:cubicBezTo>
                    <a:pt x="588" y="473"/>
                    <a:pt x="576" y="507"/>
                    <a:pt x="556" y="533"/>
                  </a:cubicBezTo>
                  <a:cubicBezTo>
                    <a:pt x="525" y="573"/>
                    <a:pt x="477" y="596"/>
                    <a:pt x="429" y="609"/>
                  </a:cubicBezTo>
                  <a:cubicBezTo>
                    <a:pt x="381" y="622"/>
                    <a:pt x="333" y="624"/>
                    <a:pt x="307" y="624"/>
                  </a:cubicBezTo>
                  <a:cubicBezTo>
                    <a:pt x="301" y="624"/>
                    <a:pt x="296" y="624"/>
                    <a:pt x="292" y="624"/>
                  </a:cubicBezTo>
                  <a:cubicBezTo>
                    <a:pt x="290" y="623"/>
                    <a:pt x="289" y="623"/>
                    <a:pt x="288" y="623"/>
                  </a:cubicBezTo>
                  <a:lnTo>
                    <a:pt x="287" y="623"/>
                  </a:lnTo>
                  <a:lnTo>
                    <a:pt x="286" y="623"/>
                  </a:lnTo>
                  <a:lnTo>
                    <a:pt x="286" y="623"/>
                  </a:lnTo>
                  <a:cubicBezTo>
                    <a:pt x="231" y="623"/>
                    <a:pt x="188" y="614"/>
                    <a:pt x="155" y="600"/>
                  </a:cubicBezTo>
                  <a:cubicBezTo>
                    <a:pt x="105" y="578"/>
                    <a:pt x="75" y="545"/>
                    <a:pt x="57" y="506"/>
                  </a:cubicBezTo>
                  <a:cubicBezTo>
                    <a:pt x="39" y="467"/>
                    <a:pt x="33" y="423"/>
                    <a:pt x="33" y="383"/>
                  </a:cubicBezTo>
                  <a:cubicBezTo>
                    <a:pt x="33" y="351"/>
                    <a:pt x="37" y="322"/>
                    <a:pt x="41" y="301"/>
                  </a:cubicBezTo>
                  <a:cubicBezTo>
                    <a:pt x="43" y="290"/>
                    <a:pt x="45" y="282"/>
                    <a:pt x="46" y="276"/>
                  </a:cubicBezTo>
                  <a:cubicBezTo>
                    <a:pt x="47" y="273"/>
                    <a:pt x="47" y="271"/>
                    <a:pt x="48" y="269"/>
                  </a:cubicBezTo>
                  <a:lnTo>
                    <a:pt x="48" y="268"/>
                  </a:lnTo>
                  <a:lnTo>
                    <a:pt x="48" y="267"/>
                  </a:lnTo>
                  <a:lnTo>
                    <a:pt x="49" y="264"/>
                  </a:lnTo>
                  <a:lnTo>
                    <a:pt x="49" y="261"/>
                  </a:lnTo>
                  <a:cubicBezTo>
                    <a:pt x="47" y="236"/>
                    <a:pt x="45" y="213"/>
                    <a:pt x="45" y="191"/>
                  </a:cubicBezTo>
                  <a:cubicBezTo>
                    <a:pt x="45" y="108"/>
                    <a:pt x="62" y="52"/>
                    <a:pt x="80" y="15"/>
                  </a:cubicBezTo>
                  <a:lnTo>
                    <a:pt x="5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8" name="Freeform 1108">
              <a:extLst>
                <a:ext uri="{FF2B5EF4-FFF2-40B4-BE49-F238E27FC236}">
                  <a16:creationId xmlns:a16="http://schemas.microsoft.com/office/drawing/2014/main" id="{5F87B64F-454F-9A5D-9D82-D95501B8CD09}"/>
                </a:ext>
              </a:extLst>
            </p:cNvPr>
            <p:cNvSpPr>
              <a:spLocks/>
            </p:cNvSpPr>
            <p:nvPr/>
          </p:nvSpPr>
          <p:spPr bwMode="auto">
            <a:xfrm>
              <a:off x="3656013" y="3462338"/>
              <a:ext cx="11113" cy="23813"/>
            </a:xfrm>
            <a:custGeom>
              <a:avLst/>
              <a:gdLst>
                <a:gd name="T0" fmla="*/ 39 w 57"/>
                <a:gd name="T1" fmla="*/ 0 h 113"/>
                <a:gd name="T2" fmla="*/ 20 w 57"/>
                <a:gd name="T3" fmla="*/ 18 h 113"/>
                <a:gd name="T4" fmla="*/ 0 w 57"/>
                <a:gd name="T5" fmla="*/ 70 h 113"/>
                <a:gd name="T6" fmla="*/ 12 w 57"/>
                <a:gd name="T7" fmla="*/ 113 h 113"/>
                <a:gd name="T8" fmla="*/ 41 w 57"/>
                <a:gd name="T9" fmla="*/ 97 h 113"/>
                <a:gd name="T10" fmla="*/ 34 w 57"/>
                <a:gd name="T11" fmla="*/ 70 h 113"/>
                <a:gd name="T12" fmla="*/ 46 w 57"/>
                <a:gd name="T13" fmla="*/ 39 h 113"/>
                <a:gd name="T14" fmla="*/ 54 w 57"/>
                <a:gd name="T15" fmla="*/ 31 h 113"/>
                <a:gd name="T16" fmla="*/ 57 w 57"/>
                <a:gd name="T17" fmla="*/ 29 h 113"/>
                <a:gd name="T18" fmla="*/ 57 w 57"/>
                <a:gd name="T19" fmla="*/ 28 h 113"/>
                <a:gd name="T20" fmla="*/ 57 w 57"/>
                <a:gd name="T21" fmla="*/ 28 h 113"/>
                <a:gd name="T22" fmla="*/ 57 w 57"/>
                <a:gd name="T23" fmla="*/ 28 h 113"/>
                <a:gd name="T24" fmla="*/ 57 w 57"/>
                <a:gd name="T25" fmla="*/ 28 h 113"/>
                <a:gd name="T26" fmla="*/ 57 w 57"/>
                <a:gd name="T27" fmla="*/ 28 h 113"/>
                <a:gd name="T28" fmla="*/ 57 w 57"/>
                <a:gd name="T29" fmla="*/ 28 h 113"/>
                <a:gd name="T30" fmla="*/ 39 w 57"/>
                <a:gd name="T31"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 h="113">
                  <a:moveTo>
                    <a:pt x="39" y="0"/>
                  </a:moveTo>
                  <a:cubicBezTo>
                    <a:pt x="38" y="1"/>
                    <a:pt x="29" y="7"/>
                    <a:pt x="20" y="18"/>
                  </a:cubicBezTo>
                  <a:cubicBezTo>
                    <a:pt x="10" y="29"/>
                    <a:pt x="0" y="47"/>
                    <a:pt x="0" y="70"/>
                  </a:cubicBezTo>
                  <a:cubicBezTo>
                    <a:pt x="0" y="83"/>
                    <a:pt x="4" y="98"/>
                    <a:pt x="12" y="113"/>
                  </a:cubicBezTo>
                  <a:lnTo>
                    <a:pt x="41" y="97"/>
                  </a:lnTo>
                  <a:cubicBezTo>
                    <a:pt x="36" y="86"/>
                    <a:pt x="34" y="78"/>
                    <a:pt x="34" y="70"/>
                  </a:cubicBezTo>
                  <a:cubicBezTo>
                    <a:pt x="34" y="57"/>
                    <a:pt x="39" y="47"/>
                    <a:pt x="46" y="39"/>
                  </a:cubicBezTo>
                  <a:cubicBezTo>
                    <a:pt x="49" y="36"/>
                    <a:pt x="52" y="33"/>
                    <a:pt x="54" y="31"/>
                  </a:cubicBezTo>
                  <a:lnTo>
                    <a:pt x="57" y="29"/>
                  </a:lnTo>
                  <a:lnTo>
                    <a:pt x="57" y="28"/>
                  </a:lnTo>
                  <a:lnTo>
                    <a:pt x="57" y="28"/>
                  </a:lnTo>
                  <a:lnTo>
                    <a:pt x="57" y="28"/>
                  </a:lnTo>
                  <a:lnTo>
                    <a:pt x="57" y="28"/>
                  </a:lnTo>
                  <a:lnTo>
                    <a:pt x="57" y="28"/>
                  </a:lnTo>
                  <a:lnTo>
                    <a:pt x="57" y="28"/>
                  </a:lnTo>
                  <a:lnTo>
                    <a:pt x="39"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9" name="Freeform 1109">
              <a:extLst>
                <a:ext uri="{FF2B5EF4-FFF2-40B4-BE49-F238E27FC236}">
                  <a16:creationId xmlns:a16="http://schemas.microsoft.com/office/drawing/2014/main" id="{6A924FB4-0F6D-1B14-316D-C8B2687C233F}"/>
                </a:ext>
              </a:extLst>
            </p:cNvPr>
            <p:cNvSpPr>
              <a:spLocks/>
            </p:cNvSpPr>
            <p:nvPr/>
          </p:nvSpPr>
          <p:spPr bwMode="auto">
            <a:xfrm>
              <a:off x="3654426" y="3497263"/>
              <a:ext cx="42863" cy="12700"/>
            </a:xfrm>
            <a:custGeom>
              <a:avLst/>
              <a:gdLst>
                <a:gd name="T0" fmla="*/ 0 w 208"/>
                <a:gd name="T1" fmla="*/ 29 h 56"/>
                <a:gd name="T2" fmla="*/ 108 w 208"/>
                <a:gd name="T3" fmla="*/ 56 h 56"/>
                <a:gd name="T4" fmla="*/ 208 w 208"/>
                <a:gd name="T5" fmla="*/ 29 h 56"/>
                <a:gd name="T6" fmla="*/ 191 w 208"/>
                <a:gd name="T7" fmla="*/ 0 h 56"/>
                <a:gd name="T8" fmla="*/ 108 w 208"/>
                <a:gd name="T9" fmla="*/ 23 h 56"/>
                <a:gd name="T10" fmla="*/ 42 w 208"/>
                <a:gd name="T11" fmla="*/ 12 h 56"/>
                <a:gd name="T12" fmla="*/ 23 w 208"/>
                <a:gd name="T13" fmla="*/ 4 h 56"/>
                <a:gd name="T14" fmla="*/ 18 w 208"/>
                <a:gd name="T15" fmla="*/ 1 h 56"/>
                <a:gd name="T16" fmla="*/ 17 w 208"/>
                <a:gd name="T17" fmla="*/ 1 h 56"/>
                <a:gd name="T18" fmla="*/ 16 w 208"/>
                <a:gd name="T19" fmla="*/ 0 h 56"/>
                <a:gd name="T20" fmla="*/ 15 w 208"/>
                <a:gd name="T21" fmla="*/ 2 h 56"/>
                <a:gd name="T22" fmla="*/ 16 w 208"/>
                <a:gd name="T23" fmla="*/ 0 h 56"/>
                <a:gd name="T24" fmla="*/ 16 w 208"/>
                <a:gd name="T25" fmla="*/ 0 h 56"/>
                <a:gd name="T26" fmla="*/ 15 w 208"/>
                <a:gd name="T27" fmla="*/ 2 h 56"/>
                <a:gd name="T28" fmla="*/ 16 w 208"/>
                <a:gd name="T29" fmla="*/ 0 h 56"/>
                <a:gd name="T30" fmla="*/ 0 w 208"/>
                <a:gd name="T31" fmla="*/ 29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8" h="56">
                  <a:moveTo>
                    <a:pt x="0" y="29"/>
                  </a:moveTo>
                  <a:cubicBezTo>
                    <a:pt x="1" y="30"/>
                    <a:pt x="46" y="56"/>
                    <a:pt x="108" y="56"/>
                  </a:cubicBezTo>
                  <a:cubicBezTo>
                    <a:pt x="138" y="56"/>
                    <a:pt x="173" y="49"/>
                    <a:pt x="208" y="29"/>
                  </a:cubicBezTo>
                  <a:lnTo>
                    <a:pt x="191" y="0"/>
                  </a:lnTo>
                  <a:cubicBezTo>
                    <a:pt x="162" y="17"/>
                    <a:pt x="133" y="23"/>
                    <a:pt x="108" y="23"/>
                  </a:cubicBezTo>
                  <a:cubicBezTo>
                    <a:pt x="82" y="23"/>
                    <a:pt x="58" y="17"/>
                    <a:pt x="42" y="12"/>
                  </a:cubicBezTo>
                  <a:cubicBezTo>
                    <a:pt x="34" y="9"/>
                    <a:pt x="27" y="6"/>
                    <a:pt x="23" y="4"/>
                  </a:cubicBezTo>
                  <a:cubicBezTo>
                    <a:pt x="21" y="3"/>
                    <a:pt x="19" y="2"/>
                    <a:pt x="18" y="1"/>
                  </a:cubicBezTo>
                  <a:lnTo>
                    <a:pt x="17" y="1"/>
                  </a:lnTo>
                  <a:lnTo>
                    <a:pt x="16" y="0"/>
                  </a:lnTo>
                  <a:lnTo>
                    <a:pt x="15" y="2"/>
                  </a:lnTo>
                  <a:lnTo>
                    <a:pt x="16" y="0"/>
                  </a:lnTo>
                  <a:lnTo>
                    <a:pt x="16" y="0"/>
                  </a:lnTo>
                  <a:lnTo>
                    <a:pt x="15" y="2"/>
                  </a:lnTo>
                  <a:lnTo>
                    <a:pt x="16" y="0"/>
                  </a:lnTo>
                  <a:lnTo>
                    <a:pt x="0" y="2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0" name="Rectangle 1110">
              <a:extLst>
                <a:ext uri="{FF2B5EF4-FFF2-40B4-BE49-F238E27FC236}">
                  <a16:creationId xmlns:a16="http://schemas.microsoft.com/office/drawing/2014/main" id="{BB9B56F6-6A0A-228A-0EDA-11E23677EC52}"/>
                </a:ext>
              </a:extLst>
            </p:cNvPr>
            <p:cNvSpPr>
              <a:spLocks noChangeArrowheads="1"/>
            </p:cNvSpPr>
            <p:nvPr/>
          </p:nvSpPr>
          <p:spPr bwMode="auto">
            <a:xfrm>
              <a:off x="3684588"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1" name="Rectangle 1111">
              <a:extLst>
                <a:ext uri="{FF2B5EF4-FFF2-40B4-BE49-F238E27FC236}">
                  <a16:creationId xmlns:a16="http://schemas.microsoft.com/office/drawing/2014/main" id="{70DE412A-51E2-CF46-AED8-10F2A34DCB86}"/>
                </a:ext>
              </a:extLst>
            </p:cNvPr>
            <p:cNvSpPr>
              <a:spLocks noChangeArrowheads="1"/>
            </p:cNvSpPr>
            <p:nvPr/>
          </p:nvSpPr>
          <p:spPr bwMode="auto">
            <a:xfrm>
              <a:off x="3636963"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2" name="Rectangle 1112">
              <a:extLst>
                <a:ext uri="{FF2B5EF4-FFF2-40B4-BE49-F238E27FC236}">
                  <a16:creationId xmlns:a16="http://schemas.microsoft.com/office/drawing/2014/main" id="{4DB37F5D-A0C7-6D4F-01B1-5E60BE611CA8}"/>
                </a:ext>
              </a:extLst>
            </p:cNvPr>
            <p:cNvSpPr>
              <a:spLocks noChangeArrowheads="1"/>
            </p:cNvSpPr>
            <p:nvPr/>
          </p:nvSpPr>
          <p:spPr bwMode="auto">
            <a:xfrm>
              <a:off x="3713163" y="3433763"/>
              <a:ext cx="34925"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3" name="Rectangle 1113">
              <a:extLst>
                <a:ext uri="{FF2B5EF4-FFF2-40B4-BE49-F238E27FC236}">
                  <a16:creationId xmlns:a16="http://schemas.microsoft.com/office/drawing/2014/main" id="{9AD3CFE6-8183-0910-A6CE-AAE31C7E3063}"/>
                </a:ext>
              </a:extLst>
            </p:cNvPr>
            <p:cNvSpPr>
              <a:spLocks noChangeArrowheads="1"/>
            </p:cNvSpPr>
            <p:nvPr/>
          </p:nvSpPr>
          <p:spPr bwMode="auto">
            <a:xfrm>
              <a:off x="3662363" y="3433763"/>
              <a:ext cx="1270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4" name="Rectangle 1114">
              <a:extLst>
                <a:ext uri="{FF2B5EF4-FFF2-40B4-BE49-F238E27FC236}">
                  <a16:creationId xmlns:a16="http://schemas.microsoft.com/office/drawing/2014/main" id="{27C4A39A-FAA6-982B-7142-8096F99E9495}"/>
                </a:ext>
              </a:extLst>
            </p:cNvPr>
            <p:cNvSpPr>
              <a:spLocks noChangeArrowheads="1"/>
            </p:cNvSpPr>
            <p:nvPr/>
          </p:nvSpPr>
          <p:spPr bwMode="auto">
            <a:xfrm>
              <a:off x="3657601" y="3400425"/>
              <a:ext cx="36513"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5" name="Freeform 1115">
              <a:extLst>
                <a:ext uri="{FF2B5EF4-FFF2-40B4-BE49-F238E27FC236}">
                  <a16:creationId xmlns:a16="http://schemas.microsoft.com/office/drawing/2014/main" id="{B53C679C-5FA0-3980-317A-7CDE470A8290}"/>
                </a:ext>
              </a:extLst>
            </p:cNvPr>
            <p:cNvSpPr>
              <a:spLocks/>
            </p:cNvSpPr>
            <p:nvPr/>
          </p:nvSpPr>
          <p:spPr bwMode="auto">
            <a:xfrm>
              <a:off x="3638551" y="3548063"/>
              <a:ext cx="66675" cy="53975"/>
            </a:xfrm>
            <a:custGeom>
              <a:avLst/>
              <a:gdLst>
                <a:gd name="T0" fmla="*/ 3 w 42"/>
                <a:gd name="T1" fmla="*/ 16 h 34"/>
                <a:gd name="T2" fmla="*/ 2 w 42"/>
                <a:gd name="T3" fmla="*/ 18 h 34"/>
                <a:gd name="T4" fmla="*/ 26 w 42"/>
                <a:gd name="T5" fmla="*/ 34 h 34"/>
                <a:gd name="T6" fmla="*/ 42 w 42"/>
                <a:gd name="T7" fmla="*/ 12 h 34"/>
                <a:gd name="T8" fmla="*/ 13 w 42"/>
                <a:gd name="T9" fmla="*/ 0 h 34"/>
                <a:gd name="T10" fmla="*/ 0 w 42"/>
                <a:gd name="T11" fmla="*/ 17 h 34"/>
                <a:gd name="T12" fmla="*/ 2 w 42"/>
                <a:gd name="T13" fmla="*/ 18 h 34"/>
                <a:gd name="T14" fmla="*/ 3 w 42"/>
                <a:gd name="T15" fmla="*/ 16 h 34"/>
                <a:gd name="T16" fmla="*/ 5 w 42"/>
                <a:gd name="T17" fmla="*/ 17 h 34"/>
                <a:gd name="T18" fmla="*/ 14 w 42"/>
                <a:gd name="T19" fmla="*/ 5 h 34"/>
                <a:gd name="T20" fmla="*/ 35 w 42"/>
                <a:gd name="T21" fmla="*/ 14 h 34"/>
                <a:gd name="T22" fmla="*/ 25 w 42"/>
                <a:gd name="T23" fmla="*/ 28 h 34"/>
                <a:gd name="T24" fmla="*/ 4 w 42"/>
                <a:gd name="T25" fmla="*/ 14 h 34"/>
                <a:gd name="T26" fmla="*/ 3 w 42"/>
                <a:gd name="T27" fmla="*/ 16 h 34"/>
                <a:gd name="T28" fmla="*/ 5 w 42"/>
                <a:gd name="T29" fmla="*/ 17 h 34"/>
                <a:gd name="T30" fmla="*/ 3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 y="16"/>
                  </a:moveTo>
                  <a:lnTo>
                    <a:pt x="2" y="18"/>
                  </a:lnTo>
                  <a:lnTo>
                    <a:pt x="26" y="34"/>
                  </a:lnTo>
                  <a:lnTo>
                    <a:pt x="42" y="12"/>
                  </a:lnTo>
                  <a:lnTo>
                    <a:pt x="13" y="0"/>
                  </a:lnTo>
                  <a:lnTo>
                    <a:pt x="0" y="17"/>
                  </a:lnTo>
                  <a:lnTo>
                    <a:pt x="2" y="18"/>
                  </a:lnTo>
                  <a:lnTo>
                    <a:pt x="3" y="16"/>
                  </a:lnTo>
                  <a:lnTo>
                    <a:pt x="5" y="17"/>
                  </a:lnTo>
                  <a:lnTo>
                    <a:pt x="14" y="5"/>
                  </a:lnTo>
                  <a:lnTo>
                    <a:pt x="35" y="14"/>
                  </a:lnTo>
                  <a:lnTo>
                    <a:pt x="25" y="28"/>
                  </a:lnTo>
                  <a:lnTo>
                    <a:pt x="4" y="14"/>
                  </a:lnTo>
                  <a:lnTo>
                    <a:pt x="3" y="16"/>
                  </a:lnTo>
                  <a:lnTo>
                    <a:pt x="5" y="17"/>
                  </a:lnTo>
                  <a:lnTo>
                    <a:pt x="3"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6" name="Freeform 1116">
              <a:extLst>
                <a:ext uri="{FF2B5EF4-FFF2-40B4-BE49-F238E27FC236}">
                  <a16:creationId xmlns:a16="http://schemas.microsoft.com/office/drawing/2014/main" id="{FBAE2F84-3A15-73DF-B590-28C959C95524}"/>
                </a:ext>
              </a:extLst>
            </p:cNvPr>
            <p:cNvSpPr>
              <a:spLocks/>
            </p:cNvSpPr>
            <p:nvPr/>
          </p:nvSpPr>
          <p:spPr bwMode="auto">
            <a:xfrm>
              <a:off x="3694113" y="3548063"/>
              <a:ext cx="66675" cy="53975"/>
            </a:xfrm>
            <a:custGeom>
              <a:avLst/>
              <a:gdLst>
                <a:gd name="T0" fmla="*/ 39 w 42"/>
                <a:gd name="T1" fmla="*/ 16 h 34"/>
                <a:gd name="T2" fmla="*/ 38 w 42"/>
                <a:gd name="T3" fmla="*/ 14 h 34"/>
                <a:gd name="T4" fmla="*/ 17 w 42"/>
                <a:gd name="T5" fmla="*/ 28 h 34"/>
                <a:gd name="T6" fmla="*/ 7 w 42"/>
                <a:gd name="T7" fmla="*/ 14 h 34"/>
                <a:gd name="T8" fmla="*/ 28 w 42"/>
                <a:gd name="T9" fmla="*/ 5 h 34"/>
                <a:gd name="T10" fmla="*/ 38 w 42"/>
                <a:gd name="T11" fmla="*/ 17 h 34"/>
                <a:gd name="T12" fmla="*/ 39 w 42"/>
                <a:gd name="T13" fmla="*/ 16 h 34"/>
                <a:gd name="T14" fmla="*/ 38 w 42"/>
                <a:gd name="T15" fmla="*/ 14 h 34"/>
                <a:gd name="T16" fmla="*/ 39 w 42"/>
                <a:gd name="T17" fmla="*/ 16 h 34"/>
                <a:gd name="T18" fmla="*/ 41 w 42"/>
                <a:gd name="T19" fmla="*/ 15 h 34"/>
                <a:gd name="T20" fmla="*/ 30 w 42"/>
                <a:gd name="T21" fmla="*/ 0 h 34"/>
                <a:gd name="T22" fmla="*/ 0 w 42"/>
                <a:gd name="T23" fmla="*/ 12 h 34"/>
                <a:gd name="T24" fmla="*/ 16 w 42"/>
                <a:gd name="T25" fmla="*/ 34 h 34"/>
                <a:gd name="T26" fmla="*/ 42 w 42"/>
                <a:gd name="T27" fmla="*/ 17 h 34"/>
                <a:gd name="T28" fmla="*/ 41 w 42"/>
                <a:gd name="T29" fmla="*/ 15 h 34"/>
                <a:gd name="T30" fmla="*/ 39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9" y="16"/>
                  </a:moveTo>
                  <a:lnTo>
                    <a:pt x="38" y="14"/>
                  </a:lnTo>
                  <a:lnTo>
                    <a:pt x="17" y="28"/>
                  </a:lnTo>
                  <a:lnTo>
                    <a:pt x="7" y="14"/>
                  </a:lnTo>
                  <a:lnTo>
                    <a:pt x="28" y="5"/>
                  </a:lnTo>
                  <a:lnTo>
                    <a:pt x="38" y="17"/>
                  </a:lnTo>
                  <a:lnTo>
                    <a:pt x="39" y="16"/>
                  </a:lnTo>
                  <a:lnTo>
                    <a:pt x="38" y="14"/>
                  </a:lnTo>
                  <a:lnTo>
                    <a:pt x="39" y="16"/>
                  </a:lnTo>
                  <a:lnTo>
                    <a:pt x="41" y="15"/>
                  </a:lnTo>
                  <a:lnTo>
                    <a:pt x="30" y="0"/>
                  </a:lnTo>
                  <a:lnTo>
                    <a:pt x="0" y="12"/>
                  </a:lnTo>
                  <a:lnTo>
                    <a:pt x="16" y="34"/>
                  </a:lnTo>
                  <a:lnTo>
                    <a:pt x="42" y="17"/>
                  </a:lnTo>
                  <a:lnTo>
                    <a:pt x="41" y="15"/>
                  </a:lnTo>
                  <a:lnTo>
                    <a:pt x="39"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7" name="Freeform 1117">
              <a:extLst>
                <a:ext uri="{FF2B5EF4-FFF2-40B4-BE49-F238E27FC236}">
                  <a16:creationId xmlns:a16="http://schemas.microsoft.com/office/drawing/2014/main" id="{B75FA920-8343-519A-8E80-9FCFE55D288E}"/>
                </a:ext>
              </a:extLst>
            </p:cNvPr>
            <p:cNvSpPr>
              <a:spLocks/>
            </p:cNvSpPr>
            <p:nvPr/>
          </p:nvSpPr>
          <p:spPr bwMode="auto">
            <a:xfrm>
              <a:off x="3683001" y="3587750"/>
              <a:ext cx="31750" cy="15875"/>
            </a:xfrm>
            <a:custGeom>
              <a:avLst/>
              <a:gdLst>
                <a:gd name="T0" fmla="*/ 0 w 20"/>
                <a:gd name="T1" fmla="*/ 3 h 10"/>
                <a:gd name="T2" fmla="*/ 11 w 20"/>
                <a:gd name="T3" fmla="*/ 10 h 10"/>
                <a:gd name="T4" fmla="*/ 20 w 20"/>
                <a:gd name="T5" fmla="*/ 3 h 10"/>
                <a:gd name="T6" fmla="*/ 18 w 20"/>
                <a:gd name="T7" fmla="*/ 0 h 10"/>
                <a:gd name="T8" fmla="*/ 11 w 20"/>
                <a:gd name="T9" fmla="*/ 5 h 10"/>
                <a:gd name="T10" fmla="*/ 2 w 20"/>
                <a:gd name="T11" fmla="*/ 0 h 10"/>
                <a:gd name="T12" fmla="*/ 0 w 20"/>
                <a:gd name="T13" fmla="*/ 3 h 10"/>
              </a:gdLst>
              <a:ahLst/>
              <a:cxnLst>
                <a:cxn ang="0">
                  <a:pos x="T0" y="T1"/>
                </a:cxn>
                <a:cxn ang="0">
                  <a:pos x="T2" y="T3"/>
                </a:cxn>
                <a:cxn ang="0">
                  <a:pos x="T4" y="T5"/>
                </a:cxn>
                <a:cxn ang="0">
                  <a:pos x="T6" y="T7"/>
                </a:cxn>
                <a:cxn ang="0">
                  <a:pos x="T8" y="T9"/>
                </a:cxn>
                <a:cxn ang="0">
                  <a:pos x="T10" y="T11"/>
                </a:cxn>
                <a:cxn ang="0">
                  <a:pos x="T12" y="T13"/>
                </a:cxn>
              </a:cxnLst>
              <a:rect l="0" t="0" r="r" b="b"/>
              <a:pathLst>
                <a:path w="20" h="10">
                  <a:moveTo>
                    <a:pt x="0" y="3"/>
                  </a:moveTo>
                  <a:lnTo>
                    <a:pt x="11" y="10"/>
                  </a:lnTo>
                  <a:lnTo>
                    <a:pt x="20" y="3"/>
                  </a:lnTo>
                  <a:lnTo>
                    <a:pt x="18" y="0"/>
                  </a:lnTo>
                  <a:lnTo>
                    <a:pt x="11" y="5"/>
                  </a:lnTo>
                  <a:lnTo>
                    <a:pt x="2" y="0"/>
                  </a:lnTo>
                  <a:lnTo>
                    <a:pt x="0" y="3"/>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8" name="Freeform 1118">
              <a:extLst>
                <a:ext uri="{FF2B5EF4-FFF2-40B4-BE49-F238E27FC236}">
                  <a16:creationId xmlns:a16="http://schemas.microsoft.com/office/drawing/2014/main" id="{92735659-87F8-E307-9550-AC106004C517}"/>
                </a:ext>
              </a:extLst>
            </p:cNvPr>
            <p:cNvSpPr>
              <a:spLocks/>
            </p:cNvSpPr>
            <p:nvPr/>
          </p:nvSpPr>
          <p:spPr bwMode="auto">
            <a:xfrm>
              <a:off x="3675063" y="3590925"/>
              <a:ext cx="17463" cy="46038"/>
            </a:xfrm>
            <a:custGeom>
              <a:avLst/>
              <a:gdLst>
                <a:gd name="T0" fmla="*/ 51 w 84"/>
                <a:gd name="T1" fmla="*/ 0 h 227"/>
                <a:gd name="T2" fmla="*/ 0 w 84"/>
                <a:gd name="T3" fmla="*/ 219 h 227"/>
                <a:gd name="T4" fmla="*/ 33 w 84"/>
                <a:gd name="T5" fmla="*/ 227 h 227"/>
                <a:gd name="T6" fmla="*/ 84 w 84"/>
                <a:gd name="T7" fmla="*/ 7 h 227"/>
              </a:gdLst>
              <a:ahLst/>
              <a:cxnLst>
                <a:cxn ang="0">
                  <a:pos x="T0" y="T1"/>
                </a:cxn>
                <a:cxn ang="0">
                  <a:pos x="T2" y="T3"/>
                </a:cxn>
                <a:cxn ang="0">
                  <a:pos x="T4" y="T5"/>
                </a:cxn>
                <a:cxn ang="0">
                  <a:pos x="T6" y="T7"/>
                </a:cxn>
              </a:cxnLst>
              <a:rect l="0" t="0" r="r" b="b"/>
              <a:pathLst>
                <a:path w="84" h="227">
                  <a:moveTo>
                    <a:pt x="51" y="0"/>
                  </a:moveTo>
                  <a:lnTo>
                    <a:pt x="0" y="219"/>
                  </a:lnTo>
                  <a:lnTo>
                    <a:pt x="33" y="227"/>
                  </a:lnTo>
                  <a:lnTo>
                    <a:pt x="84" y="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9" name="Freeform 1119">
              <a:extLst>
                <a:ext uri="{FF2B5EF4-FFF2-40B4-BE49-F238E27FC236}">
                  <a16:creationId xmlns:a16="http://schemas.microsoft.com/office/drawing/2014/main" id="{244CC1A0-0F14-B998-073A-ACA1410D116E}"/>
                </a:ext>
              </a:extLst>
            </p:cNvPr>
            <p:cNvSpPr>
              <a:spLocks/>
            </p:cNvSpPr>
            <p:nvPr/>
          </p:nvSpPr>
          <p:spPr bwMode="auto">
            <a:xfrm>
              <a:off x="3708401" y="3590925"/>
              <a:ext cx="17463" cy="46038"/>
            </a:xfrm>
            <a:custGeom>
              <a:avLst/>
              <a:gdLst>
                <a:gd name="T0" fmla="*/ 0 w 83"/>
                <a:gd name="T1" fmla="*/ 7 h 227"/>
                <a:gd name="T2" fmla="*/ 51 w 83"/>
                <a:gd name="T3" fmla="*/ 227 h 227"/>
                <a:gd name="T4" fmla="*/ 83 w 83"/>
                <a:gd name="T5" fmla="*/ 219 h 227"/>
                <a:gd name="T6" fmla="*/ 33 w 83"/>
                <a:gd name="T7" fmla="*/ 0 h 227"/>
              </a:gdLst>
              <a:ahLst/>
              <a:cxnLst>
                <a:cxn ang="0">
                  <a:pos x="T0" y="T1"/>
                </a:cxn>
                <a:cxn ang="0">
                  <a:pos x="T2" y="T3"/>
                </a:cxn>
                <a:cxn ang="0">
                  <a:pos x="T4" y="T5"/>
                </a:cxn>
                <a:cxn ang="0">
                  <a:pos x="T6" y="T7"/>
                </a:cxn>
              </a:cxnLst>
              <a:rect l="0" t="0" r="r" b="b"/>
              <a:pathLst>
                <a:path w="83" h="227">
                  <a:moveTo>
                    <a:pt x="0" y="7"/>
                  </a:moveTo>
                  <a:lnTo>
                    <a:pt x="51" y="227"/>
                  </a:lnTo>
                  <a:lnTo>
                    <a:pt x="83" y="219"/>
                  </a:lnTo>
                  <a:lnTo>
                    <a:pt x="33"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26" name="TextBox 625">
            <a:extLst>
              <a:ext uri="{FF2B5EF4-FFF2-40B4-BE49-F238E27FC236}">
                <a16:creationId xmlns:a16="http://schemas.microsoft.com/office/drawing/2014/main" id="{B361F17B-4725-2779-D8E4-DEE3E07FBFAB}"/>
              </a:ext>
            </a:extLst>
          </p:cNvPr>
          <p:cNvSpPr txBox="1"/>
          <p:nvPr/>
        </p:nvSpPr>
        <p:spPr>
          <a:xfrm>
            <a:off x="1260188" y="3473542"/>
            <a:ext cx="2082610" cy="1277273"/>
          </a:xfrm>
          <a:prstGeom prst="rect">
            <a:avLst/>
          </a:prstGeom>
          <a:noFill/>
        </p:spPr>
        <p:txBody>
          <a:bodyPr wrap="square" rtlCol="0">
            <a:spAutoFit/>
          </a:bodyPr>
          <a:lstStyle/>
          <a:p>
            <a:pPr marL="171450" marR="0" lvl="0" indent="-171450" fontAlgn="auto">
              <a:buClr>
                <a:schemeClr val="accent1"/>
              </a:buClr>
              <a:buSzTx/>
              <a:buFont typeface="Arial" panose="020B0604020202020204" pitchFamily="34" charset="0"/>
              <a:buChar char="•"/>
              <a:tabLst/>
              <a:defRPr/>
            </a:pPr>
            <a:r>
              <a:rPr lang="en-US" sz="700"/>
              <a:t>Understand Guidewire Product Capabilities</a:t>
            </a:r>
          </a:p>
          <a:p>
            <a:pPr marL="171450" marR="0" lvl="0" indent="-171450" fontAlgn="auto">
              <a:buClr>
                <a:schemeClr val="accent1"/>
              </a:buClr>
              <a:buSzTx/>
              <a:buFont typeface="Arial" panose="020B0604020202020204" pitchFamily="34" charset="0"/>
              <a:buChar char="•"/>
              <a:tabLst/>
              <a:defRPr/>
            </a:pPr>
            <a:r>
              <a:rPr lang="en-US" sz="700"/>
              <a:t>Deep-dive into Ways of working, Program methodology for Implementation phase</a:t>
            </a:r>
          </a:p>
          <a:p>
            <a:pPr marL="171450" marR="0" lvl="0" indent="-171450" fontAlgn="auto">
              <a:buClr>
                <a:schemeClr val="accent1"/>
              </a:buClr>
              <a:buSzTx/>
              <a:buFont typeface="Arial" panose="020B0604020202020204" pitchFamily="34" charset="0"/>
              <a:buChar char="•"/>
              <a:tabLst/>
              <a:defRPr/>
            </a:pPr>
            <a:r>
              <a:rPr lang="en-US" sz="700"/>
              <a:t>Understand Release Scope</a:t>
            </a:r>
          </a:p>
          <a:p>
            <a:pPr marL="171450" marR="0" lvl="0" indent="-171450" fontAlgn="auto">
              <a:buClr>
                <a:schemeClr val="accent1"/>
              </a:buClr>
              <a:buSzTx/>
              <a:buFont typeface="Arial" panose="020B0604020202020204" pitchFamily="34" charset="0"/>
              <a:buChar char="•"/>
              <a:tabLst/>
              <a:defRPr/>
            </a:pPr>
            <a:r>
              <a:rPr lang="en-US" sz="700"/>
              <a:t>Understanding base Architecture (e.g. Headless architecture for PolicyCenter)</a:t>
            </a:r>
          </a:p>
          <a:p>
            <a:pPr marL="171450" marR="0" lvl="0" indent="-171450" fontAlgn="auto">
              <a:buClr>
                <a:schemeClr val="accent1"/>
              </a:buClr>
              <a:buSzTx/>
              <a:buFont typeface="Arial" panose="020B0604020202020204" pitchFamily="34" charset="0"/>
              <a:buChar char="•"/>
              <a:tabLst/>
              <a:defRPr/>
            </a:pPr>
            <a:r>
              <a:rPr lang="en-US" sz="700"/>
              <a:t>Understanding UWWB Scope, capabilities and what has been built &amp; planned</a:t>
            </a:r>
          </a:p>
          <a:p>
            <a:pPr marL="171450" marR="0" lvl="0" indent="-171450" fontAlgn="auto">
              <a:buClr>
                <a:schemeClr val="accent1"/>
              </a:buClr>
              <a:buSzTx/>
              <a:buFont typeface="Arial" panose="020B0604020202020204" pitchFamily="34" charset="0"/>
              <a:buChar char="•"/>
              <a:tabLst/>
              <a:defRPr/>
            </a:pPr>
            <a:r>
              <a:rPr lang="en-US" sz="700"/>
              <a:t>Enabling SMEs with authority to decide</a:t>
            </a:r>
          </a:p>
          <a:p>
            <a:pPr marL="171450" marR="0" lvl="0" indent="-171450" fontAlgn="auto">
              <a:buClr>
                <a:schemeClr val="accent1"/>
              </a:buClr>
              <a:buSzTx/>
              <a:buFont typeface="Arial" panose="020B0604020202020204" pitchFamily="34" charset="0"/>
              <a:buChar char="•"/>
              <a:tabLst/>
              <a:defRPr/>
            </a:pPr>
            <a:r>
              <a:rPr lang="en-US" sz="700"/>
              <a:t>Adapt Vs Adopt</a:t>
            </a:r>
          </a:p>
        </p:txBody>
      </p:sp>
      <p:sp>
        <p:nvSpPr>
          <p:cNvPr id="4" name="Scroll: Vertical 3">
            <a:extLst>
              <a:ext uri="{FF2B5EF4-FFF2-40B4-BE49-F238E27FC236}">
                <a16:creationId xmlns:a16="http://schemas.microsoft.com/office/drawing/2014/main" id="{D813E4CE-E6DB-331A-F56C-5076FEEB61F5}"/>
              </a:ext>
            </a:extLst>
          </p:cNvPr>
          <p:cNvSpPr/>
          <p:nvPr/>
        </p:nvSpPr>
        <p:spPr>
          <a:xfrm>
            <a:off x="3922925" y="1197099"/>
            <a:ext cx="1218288" cy="945888"/>
          </a:xfrm>
          <a:prstGeom prst="verticalScroll">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b="1" i="1">
                <a:solidFill>
                  <a:schemeClr val="tx1"/>
                </a:solidFill>
              </a:rPr>
              <a:t>Mile-deep; Inch wide</a:t>
            </a:r>
            <a:endParaRPr lang="en-US" sz="1000" b="1" i="1" err="1">
              <a:solidFill>
                <a:schemeClr val="tx1"/>
              </a:solidFill>
            </a:endParaRPr>
          </a:p>
        </p:txBody>
      </p:sp>
      <p:sp>
        <p:nvSpPr>
          <p:cNvPr id="5" name="TextBox 4">
            <a:extLst>
              <a:ext uri="{FF2B5EF4-FFF2-40B4-BE49-F238E27FC236}">
                <a16:creationId xmlns:a16="http://schemas.microsoft.com/office/drawing/2014/main" id="{C4DD32DC-7DF5-0AB7-200E-06AB3A0EE834}"/>
              </a:ext>
            </a:extLst>
          </p:cNvPr>
          <p:cNvSpPr txBox="1"/>
          <p:nvPr/>
        </p:nvSpPr>
        <p:spPr>
          <a:xfrm>
            <a:off x="4034193" y="964209"/>
            <a:ext cx="1058101" cy="276999"/>
          </a:xfrm>
          <a:prstGeom prst="rect">
            <a:avLst/>
          </a:prstGeom>
          <a:noFill/>
        </p:spPr>
        <p:txBody>
          <a:bodyPr wrap="square" rtlCol="0">
            <a:spAutoFit/>
          </a:bodyPr>
          <a:lstStyle/>
          <a:p>
            <a:r>
              <a:rPr lang="en-GB" sz="1200" b="1"/>
              <a:t>Elaboration</a:t>
            </a:r>
            <a:endParaRPr lang="en-US" b="1"/>
          </a:p>
        </p:txBody>
      </p:sp>
      <p:sp>
        <p:nvSpPr>
          <p:cNvPr id="9" name="Frame 8">
            <a:extLst>
              <a:ext uri="{FF2B5EF4-FFF2-40B4-BE49-F238E27FC236}">
                <a16:creationId xmlns:a16="http://schemas.microsoft.com/office/drawing/2014/main" id="{4B648C71-CB7B-F65F-8680-42E32EF389B4}"/>
              </a:ext>
            </a:extLst>
          </p:cNvPr>
          <p:cNvSpPr/>
          <p:nvPr/>
        </p:nvSpPr>
        <p:spPr>
          <a:xfrm>
            <a:off x="3784785" y="940808"/>
            <a:ext cx="1494568" cy="1308008"/>
          </a:xfrm>
          <a:prstGeom prst="frame">
            <a:avLst>
              <a:gd name="adj1" fmla="val 3342"/>
            </a:avLst>
          </a:prstGeom>
          <a:solidFill>
            <a:schemeClr val="bg1">
              <a:lumMod val="95000"/>
            </a:scheme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endParaRPr>
          </a:p>
        </p:txBody>
      </p:sp>
      <p:grpSp>
        <p:nvGrpSpPr>
          <p:cNvPr id="10" name="Plan5" descr="{&quot;Key&quot;:&quot;POWER_USER_SHAPE_ICON&quot;,&quot;Value&quot;:&quot;POWER_USER_SHAPE_ICON_STYLE_1&quot;}">
            <a:extLst>
              <a:ext uri="{FF2B5EF4-FFF2-40B4-BE49-F238E27FC236}">
                <a16:creationId xmlns:a16="http://schemas.microsoft.com/office/drawing/2014/main" id="{1DEAA072-56C8-2247-4D72-8B3BC571126E}"/>
              </a:ext>
            </a:extLst>
          </p:cNvPr>
          <p:cNvGrpSpPr>
            <a:grpSpLocks noChangeAspect="1"/>
          </p:cNvGrpSpPr>
          <p:nvPr/>
        </p:nvGrpSpPr>
        <p:grpSpPr>
          <a:xfrm>
            <a:off x="7078343" y="857322"/>
            <a:ext cx="324000" cy="340341"/>
            <a:chOff x="8462963" y="1682750"/>
            <a:chExt cx="706430" cy="762001"/>
          </a:xfrm>
        </p:grpSpPr>
        <p:sp>
          <p:nvSpPr>
            <p:cNvPr id="11" name="Freeform 55">
              <a:extLst>
                <a:ext uri="{FF2B5EF4-FFF2-40B4-BE49-F238E27FC236}">
                  <a16:creationId xmlns:a16="http://schemas.microsoft.com/office/drawing/2014/main" id="{6C033B0E-C89A-8410-1380-2F4E4ED211EF}"/>
                </a:ext>
              </a:extLst>
            </p:cNvPr>
            <p:cNvSpPr>
              <a:spLocks/>
            </p:cNvSpPr>
            <p:nvPr/>
          </p:nvSpPr>
          <p:spPr bwMode="auto">
            <a:xfrm>
              <a:off x="8462963" y="2109788"/>
              <a:ext cx="317500" cy="244475"/>
            </a:xfrm>
            <a:custGeom>
              <a:avLst/>
              <a:gdLst>
                <a:gd name="T0" fmla="*/ 124 w 424"/>
                <a:gd name="T1" fmla="*/ 325 h 325"/>
                <a:gd name="T2" fmla="*/ 7 w 424"/>
                <a:gd name="T3" fmla="*/ 141 h 325"/>
                <a:gd name="T4" fmla="*/ 14 w 424"/>
                <a:gd name="T5" fmla="*/ 115 h 325"/>
                <a:gd name="T6" fmla="*/ 259 w 424"/>
                <a:gd name="T7" fmla="*/ 5 h 325"/>
                <a:gd name="T8" fmla="*/ 291 w 424"/>
                <a:gd name="T9" fmla="*/ 16 h 325"/>
                <a:gd name="T10" fmla="*/ 424 w 424"/>
                <a:gd name="T11" fmla="*/ 228 h 325"/>
              </a:gdLst>
              <a:ahLst/>
              <a:cxnLst>
                <a:cxn ang="0">
                  <a:pos x="T0" y="T1"/>
                </a:cxn>
                <a:cxn ang="0">
                  <a:pos x="T2" y="T3"/>
                </a:cxn>
                <a:cxn ang="0">
                  <a:pos x="T4" y="T5"/>
                </a:cxn>
                <a:cxn ang="0">
                  <a:pos x="T6" y="T7"/>
                </a:cxn>
                <a:cxn ang="0">
                  <a:pos x="T8" y="T9"/>
                </a:cxn>
                <a:cxn ang="0">
                  <a:pos x="T10" y="T11"/>
                </a:cxn>
              </a:cxnLst>
              <a:rect l="0" t="0" r="r" b="b"/>
              <a:pathLst>
                <a:path w="424" h="325">
                  <a:moveTo>
                    <a:pt x="124" y="325"/>
                  </a:moveTo>
                  <a:lnTo>
                    <a:pt x="7" y="141"/>
                  </a:lnTo>
                  <a:cubicBezTo>
                    <a:pt x="0" y="130"/>
                    <a:pt x="3" y="119"/>
                    <a:pt x="14" y="115"/>
                  </a:cubicBezTo>
                  <a:lnTo>
                    <a:pt x="259" y="5"/>
                  </a:lnTo>
                  <a:cubicBezTo>
                    <a:pt x="273" y="0"/>
                    <a:pt x="282" y="3"/>
                    <a:pt x="291" y="16"/>
                  </a:cubicBezTo>
                  <a:lnTo>
                    <a:pt x="424" y="228"/>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Freeform 56">
              <a:extLst>
                <a:ext uri="{FF2B5EF4-FFF2-40B4-BE49-F238E27FC236}">
                  <a16:creationId xmlns:a16="http://schemas.microsoft.com/office/drawing/2014/main" id="{A2751DBC-B20A-95E2-A1B9-B62E93C2AB97}"/>
                </a:ext>
              </a:extLst>
            </p:cNvPr>
            <p:cNvSpPr>
              <a:spLocks/>
            </p:cNvSpPr>
            <p:nvPr/>
          </p:nvSpPr>
          <p:spPr bwMode="auto">
            <a:xfrm>
              <a:off x="8547093" y="2035175"/>
              <a:ext cx="622300" cy="409576"/>
            </a:xfrm>
            <a:custGeom>
              <a:avLst/>
              <a:gdLst>
                <a:gd name="T0" fmla="*/ 516 w 828"/>
                <a:gd name="T1" fmla="*/ 518 h 544"/>
                <a:gd name="T2" fmla="*/ 828 w 828"/>
                <a:gd name="T3" fmla="*/ 518 h 544"/>
                <a:gd name="T4" fmla="*/ 784 w 828"/>
                <a:gd name="T5" fmla="*/ 202 h 544"/>
                <a:gd name="T6" fmla="*/ 577 w 828"/>
                <a:gd name="T7" fmla="*/ 0 h 544"/>
                <a:gd name="T8" fmla="*/ 390 w 828"/>
                <a:gd name="T9" fmla="*/ 142 h 544"/>
                <a:gd name="T10" fmla="*/ 292 w 828"/>
                <a:gd name="T11" fmla="*/ 372 h 544"/>
                <a:gd name="T12" fmla="*/ 49 w 828"/>
                <a:gd name="T13" fmla="*/ 397 h 544"/>
                <a:gd name="T14" fmla="*/ 0 w 828"/>
                <a:gd name="T15" fmla="*/ 469 h 544"/>
                <a:gd name="T16" fmla="*/ 86 w 828"/>
                <a:gd name="T17" fmla="*/ 544 h 544"/>
                <a:gd name="T18" fmla="*/ 365 w 828"/>
                <a:gd name="T19" fmla="*/ 544 h 544"/>
                <a:gd name="T20" fmla="*/ 456 w 828"/>
                <a:gd name="T21" fmla="*/ 481 h 544"/>
                <a:gd name="T22" fmla="*/ 559 w 828"/>
                <a:gd name="T23" fmla="*/ 270 h 544"/>
                <a:gd name="T24" fmla="*/ 559 w 828"/>
                <a:gd name="T25" fmla="*/ 27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8" h="544">
                  <a:moveTo>
                    <a:pt x="516" y="518"/>
                  </a:moveTo>
                  <a:lnTo>
                    <a:pt x="828" y="518"/>
                  </a:lnTo>
                  <a:lnTo>
                    <a:pt x="784" y="202"/>
                  </a:lnTo>
                  <a:cubicBezTo>
                    <a:pt x="762" y="62"/>
                    <a:pt x="683" y="0"/>
                    <a:pt x="577" y="0"/>
                  </a:cubicBezTo>
                  <a:cubicBezTo>
                    <a:pt x="501" y="0"/>
                    <a:pt x="430" y="43"/>
                    <a:pt x="390" y="142"/>
                  </a:cubicBezTo>
                  <a:lnTo>
                    <a:pt x="292" y="372"/>
                  </a:lnTo>
                  <a:lnTo>
                    <a:pt x="49" y="397"/>
                  </a:lnTo>
                  <a:cubicBezTo>
                    <a:pt x="20" y="406"/>
                    <a:pt x="0" y="428"/>
                    <a:pt x="0" y="469"/>
                  </a:cubicBezTo>
                  <a:cubicBezTo>
                    <a:pt x="0" y="518"/>
                    <a:pt x="32" y="544"/>
                    <a:pt x="86" y="544"/>
                  </a:cubicBezTo>
                  <a:lnTo>
                    <a:pt x="365" y="544"/>
                  </a:lnTo>
                  <a:cubicBezTo>
                    <a:pt x="405" y="544"/>
                    <a:pt x="436" y="521"/>
                    <a:pt x="456" y="481"/>
                  </a:cubicBezTo>
                  <a:cubicBezTo>
                    <a:pt x="483" y="426"/>
                    <a:pt x="530" y="330"/>
                    <a:pt x="559" y="270"/>
                  </a:cubicBezTo>
                  <a:lnTo>
                    <a:pt x="559" y="270"/>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Line 57">
              <a:extLst>
                <a:ext uri="{FF2B5EF4-FFF2-40B4-BE49-F238E27FC236}">
                  <a16:creationId xmlns:a16="http://schemas.microsoft.com/office/drawing/2014/main" id="{F698FC6E-2FB4-2314-8C8B-C57390821D51}"/>
                </a:ext>
              </a:extLst>
            </p:cNvPr>
            <p:cNvSpPr>
              <a:spLocks noChangeShapeType="1"/>
            </p:cNvSpPr>
            <p:nvPr/>
          </p:nvSpPr>
          <p:spPr bwMode="auto">
            <a:xfrm flipH="1">
              <a:off x="8593138" y="2265363"/>
              <a:ext cx="17463" cy="6667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58">
              <a:extLst>
                <a:ext uri="{FF2B5EF4-FFF2-40B4-BE49-F238E27FC236}">
                  <a16:creationId xmlns:a16="http://schemas.microsoft.com/office/drawing/2014/main" id="{A040A24D-0B26-EF9B-2598-CC955239BD0E}"/>
                </a:ext>
              </a:extLst>
            </p:cNvPr>
            <p:cNvSpPr>
              <a:spLocks/>
            </p:cNvSpPr>
            <p:nvPr/>
          </p:nvSpPr>
          <p:spPr bwMode="auto">
            <a:xfrm>
              <a:off x="8709025" y="1806575"/>
              <a:ext cx="279400" cy="204788"/>
            </a:xfrm>
            <a:custGeom>
              <a:avLst/>
              <a:gdLst>
                <a:gd name="T0" fmla="*/ 351 w 372"/>
                <a:gd name="T1" fmla="*/ 0 h 273"/>
                <a:gd name="T2" fmla="*/ 372 w 372"/>
                <a:gd name="T3" fmla="*/ 85 h 273"/>
                <a:gd name="T4" fmla="*/ 186 w 372"/>
                <a:gd name="T5" fmla="*/ 273 h 273"/>
                <a:gd name="T6" fmla="*/ 0 w 372"/>
                <a:gd name="T7" fmla="*/ 113 h 273"/>
              </a:gdLst>
              <a:ahLst/>
              <a:cxnLst>
                <a:cxn ang="0">
                  <a:pos x="T0" y="T1"/>
                </a:cxn>
                <a:cxn ang="0">
                  <a:pos x="T2" y="T3"/>
                </a:cxn>
                <a:cxn ang="0">
                  <a:pos x="T4" y="T5"/>
                </a:cxn>
                <a:cxn ang="0">
                  <a:pos x="T6" y="T7"/>
                </a:cxn>
              </a:cxnLst>
              <a:rect l="0" t="0" r="r" b="b"/>
              <a:pathLst>
                <a:path w="372" h="273">
                  <a:moveTo>
                    <a:pt x="351" y="0"/>
                  </a:moveTo>
                  <a:cubicBezTo>
                    <a:pt x="364" y="26"/>
                    <a:pt x="372" y="55"/>
                    <a:pt x="372" y="85"/>
                  </a:cubicBezTo>
                  <a:cubicBezTo>
                    <a:pt x="372" y="188"/>
                    <a:pt x="289" y="272"/>
                    <a:pt x="186" y="273"/>
                  </a:cubicBezTo>
                  <a:cubicBezTo>
                    <a:pt x="91" y="273"/>
                    <a:pt x="14" y="203"/>
                    <a:pt x="0" y="113"/>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Freeform 59">
              <a:extLst>
                <a:ext uri="{FF2B5EF4-FFF2-40B4-BE49-F238E27FC236}">
                  <a16:creationId xmlns:a16="http://schemas.microsoft.com/office/drawing/2014/main" id="{B77FEB7B-103A-6C9A-6463-7AD3AB580EA3}"/>
                </a:ext>
              </a:extLst>
            </p:cNvPr>
            <p:cNvSpPr>
              <a:spLocks/>
            </p:cNvSpPr>
            <p:nvPr/>
          </p:nvSpPr>
          <p:spPr bwMode="auto">
            <a:xfrm>
              <a:off x="8667750" y="1682750"/>
              <a:ext cx="312738" cy="206375"/>
            </a:xfrm>
            <a:custGeom>
              <a:avLst/>
              <a:gdLst>
                <a:gd name="T0" fmla="*/ 418 w 418"/>
                <a:gd name="T1" fmla="*/ 145 h 274"/>
                <a:gd name="T2" fmla="*/ 222 w 418"/>
                <a:gd name="T3" fmla="*/ 0 h 274"/>
                <a:gd name="T4" fmla="*/ 165 w 418"/>
                <a:gd name="T5" fmla="*/ 9 h 274"/>
                <a:gd name="T6" fmla="*/ 37 w 418"/>
                <a:gd name="T7" fmla="*/ 274 h 274"/>
              </a:gdLst>
              <a:ahLst/>
              <a:cxnLst>
                <a:cxn ang="0">
                  <a:pos x="T0" y="T1"/>
                </a:cxn>
                <a:cxn ang="0">
                  <a:pos x="T2" y="T3"/>
                </a:cxn>
                <a:cxn ang="0">
                  <a:pos x="T4" y="T5"/>
                </a:cxn>
                <a:cxn ang="0">
                  <a:pos x="T6" y="T7"/>
                </a:cxn>
              </a:cxnLst>
              <a:rect l="0" t="0" r="r" b="b"/>
              <a:pathLst>
                <a:path w="418" h="274">
                  <a:moveTo>
                    <a:pt x="418" y="145"/>
                  </a:moveTo>
                  <a:cubicBezTo>
                    <a:pt x="396" y="67"/>
                    <a:pt x="314" y="0"/>
                    <a:pt x="222" y="0"/>
                  </a:cubicBezTo>
                  <a:cubicBezTo>
                    <a:pt x="203" y="0"/>
                    <a:pt x="184" y="3"/>
                    <a:pt x="165" y="9"/>
                  </a:cubicBezTo>
                  <a:cubicBezTo>
                    <a:pt x="61" y="43"/>
                    <a:pt x="0" y="154"/>
                    <a:pt x="37" y="274"/>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Line 60">
              <a:extLst>
                <a:ext uri="{FF2B5EF4-FFF2-40B4-BE49-F238E27FC236}">
                  <a16:creationId xmlns:a16="http://schemas.microsoft.com/office/drawing/2014/main" id="{A6DED229-83D8-6940-6B37-127348E70360}"/>
                </a:ext>
              </a:extLst>
            </p:cNvPr>
            <p:cNvSpPr>
              <a:spLocks noChangeShapeType="1"/>
            </p:cNvSpPr>
            <p:nvPr/>
          </p:nvSpPr>
          <p:spPr bwMode="auto">
            <a:xfrm flipH="1">
              <a:off x="8645525" y="1792288"/>
              <a:ext cx="347663" cy="11112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8098280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 name="Text Placeholder 20">
            <a:extLst>
              <a:ext uri="{FF2B5EF4-FFF2-40B4-BE49-F238E27FC236}">
                <a16:creationId xmlns:a16="http://schemas.microsoft.com/office/drawing/2014/main" id="{78BB1F18-60A2-3691-0C96-DF06CA4A536C}"/>
              </a:ext>
            </a:extLst>
          </p:cNvPr>
          <p:cNvSpPr txBox="1">
            <a:spLocks/>
          </p:cNvSpPr>
          <p:nvPr/>
        </p:nvSpPr>
        <p:spPr>
          <a:xfrm>
            <a:off x="10382574" y="695359"/>
            <a:ext cx="1755746" cy="6006811"/>
          </a:xfrm>
          <a:prstGeom prst="rect">
            <a:avLst/>
          </a:prstGeom>
          <a:solidFill>
            <a:schemeClr val="accent2">
              <a:lumMod val="20000"/>
              <a:lumOff val="80000"/>
            </a:schemeClr>
          </a:solidFill>
        </p:spPr>
        <p:txBody>
          <a:bodyPr wrap="square" lIns="91440" tIns="91440" rIns="91440" bIns="91440" anchor="t" anchorCtr="0">
            <a:noAutofit/>
          </a:bodyPr>
          <a:lstStyle>
            <a:defPPr>
              <a:defRPr lang="pt-PT"/>
            </a:defPPr>
            <a:lvl1pPr marL="0" algn="r"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ts val="100"/>
              </a:spcBef>
              <a:spcAft>
                <a:spcPts val="100"/>
              </a:spcAft>
              <a:buClr>
                <a:srgbClr val="ECECEC"/>
              </a:buClr>
              <a:defRPr/>
            </a:pPr>
            <a:endParaRPr lang="en-US" sz="1600" b="1">
              <a:solidFill>
                <a:schemeClr val="accent1"/>
              </a:solidFill>
              <a:latin typeface="Ubuntu" panose="020B0504030602030204" pitchFamily="34" charset="0"/>
            </a:endParaRPr>
          </a:p>
        </p:txBody>
      </p:sp>
      <p:sp>
        <p:nvSpPr>
          <p:cNvPr id="418" name="Rounded Rectangle 67">
            <a:extLst>
              <a:ext uri="{FF2B5EF4-FFF2-40B4-BE49-F238E27FC236}">
                <a16:creationId xmlns:a16="http://schemas.microsoft.com/office/drawing/2014/main" id="{CF47D172-5A00-2222-9276-6B84393088EB}"/>
              </a:ext>
            </a:extLst>
          </p:cNvPr>
          <p:cNvSpPr>
            <a:spLocks/>
          </p:cNvSpPr>
          <p:nvPr/>
        </p:nvSpPr>
        <p:spPr>
          <a:xfrm>
            <a:off x="10474014" y="2861065"/>
            <a:ext cx="1618485" cy="2132527"/>
          </a:xfrm>
          <a:prstGeom prst="roundRect">
            <a:avLst>
              <a:gd name="adj" fmla="val 5380"/>
            </a:avLst>
          </a:prstGeom>
          <a:noFill/>
          <a:ln w="19050" cap="flat" cmpd="sng" algn="ctr">
            <a:solidFill>
              <a:schemeClr val="bg1">
                <a:lumMod val="8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3" name="Title 3">
            <a:extLst>
              <a:ext uri="{FF2B5EF4-FFF2-40B4-BE49-F238E27FC236}">
                <a16:creationId xmlns:a16="http://schemas.microsoft.com/office/drawing/2014/main" id="{AA517563-EC26-4A72-6E3A-2F909348303E}"/>
              </a:ext>
            </a:extLst>
          </p:cNvPr>
          <p:cNvSpPr txBox="1">
            <a:spLocks/>
          </p:cNvSpPr>
          <p:nvPr/>
        </p:nvSpPr>
        <p:spPr>
          <a:xfrm>
            <a:off x="212822" y="155830"/>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r>
              <a:rPr lang="en-GB" sz="2800" cap="none">
                <a:solidFill>
                  <a:srgbClr val="0070C0"/>
                </a:solidFill>
              </a:rPr>
              <a:t>‘A day in a life’ during Elaboration Playback sessions*</a:t>
            </a:r>
            <a:endParaRPr lang="en-US" sz="2800" cap="none">
              <a:solidFill>
                <a:srgbClr val="0070C0"/>
              </a:solidFill>
            </a:endParaRPr>
          </a:p>
        </p:txBody>
      </p:sp>
      <p:grpSp>
        <p:nvGrpSpPr>
          <p:cNvPr id="407" name="Groupe 303">
            <a:extLst>
              <a:ext uri="{FF2B5EF4-FFF2-40B4-BE49-F238E27FC236}">
                <a16:creationId xmlns:a16="http://schemas.microsoft.com/office/drawing/2014/main" id="{BFDF5E2C-2CA6-5DF7-3FDE-E6B7D4D1B7E5}"/>
              </a:ext>
            </a:extLst>
          </p:cNvPr>
          <p:cNvGrpSpPr>
            <a:grpSpLocks noChangeAspect="1"/>
          </p:cNvGrpSpPr>
          <p:nvPr/>
        </p:nvGrpSpPr>
        <p:grpSpPr>
          <a:xfrm>
            <a:off x="10519094" y="2584735"/>
            <a:ext cx="304203" cy="264784"/>
            <a:chOff x="5053013" y="5526088"/>
            <a:chExt cx="420688" cy="384176"/>
          </a:xfrm>
        </p:grpSpPr>
        <p:sp>
          <p:nvSpPr>
            <p:cNvPr id="408" name="Freeform 149">
              <a:extLst>
                <a:ext uri="{FF2B5EF4-FFF2-40B4-BE49-F238E27FC236}">
                  <a16:creationId xmlns:a16="http://schemas.microsoft.com/office/drawing/2014/main" id="{C7D07B8C-2989-8F5D-6111-BD1A2A36F681}"/>
                </a:ext>
              </a:extLst>
            </p:cNvPr>
            <p:cNvSpPr>
              <a:spLocks/>
            </p:cNvSpPr>
            <p:nvPr/>
          </p:nvSpPr>
          <p:spPr bwMode="auto">
            <a:xfrm>
              <a:off x="5429251" y="5526088"/>
              <a:ext cx="44450" cy="384175"/>
            </a:xfrm>
            <a:custGeom>
              <a:avLst/>
              <a:gdLst>
                <a:gd name="T0" fmla="*/ 12 w 12"/>
                <a:gd name="T1" fmla="*/ 102 h 102"/>
                <a:gd name="T2" fmla="*/ 0 w 12"/>
                <a:gd name="T3" fmla="*/ 102 h 102"/>
                <a:gd name="T4" fmla="*/ 0 w 12"/>
                <a:gd name="T5" fmla="*/ 0 h 102"/>
                <a:gd name="T6" fmla="*/ 9 w 12"/>
                <a:gd name="T7" fmla="*/ 0 h 102"/>
                <a:gd name="T8" fmla="*/ 12 w 12"/>
                <a:gd name="T9" fmla="*/ 4 h 102"/>
                <a:gd name="T10" fmla="*/ 12 w 12"/>
                <a:gd name="T11" fmla="*/ 102 h 102"/>
              </a:gdLst>
              <a:ahLst/>
              <a:cxnLst>
                <a:cxn ang="0">
                  <a:pos x="T0" y="T1"/>
                </a:cxn>
                <a:cxn ang="0">
                  <a:pos x="T2" y="T3"/>
                </a:cxn>
                <a:cxn ang="0">
                  <a:pos x="T4" y="T5"/>
                </a:cxn>
                <a:cxn ang="0">
                  <a:pos x="T6" y="T7"/>
                </a:cxn>
                <a:cxn ang="0">
                  <a:pos x="T8" y="T9"/>
                </a:cxn>
                <a:cxn ang="0">
                  <a:pos x="T10" y="T11"/>
                </a:cxn>
              </a:cxnLst>
              <a:rect l="0" t="0" r="r" b="b"/>
              <a:pathLst>
                <a:path w="12" h="102">
                  <a:moveTo>
                    <a:pt x="12" y="102"/>
                  </a:moveTo>
                  <a:cubicBezTo>
                    <a:pt x="0" y="102"/>
                    <a:pt x="0" y="102"/>
                    <a:pt x="0" y="102"/>
                  </a:cubicBezTo>
                  <a:cubicBezTo>
                    <a:pt x="0" y="102"/>
                    <a:pt x="0" y="20"/>
                    <a:pt x="0" y="0"/>
                  </a:cubicBezTo>
                  <a:cubicBezTo>
                    <a:pt x="1" y="1"/>
                    <a:pt x="9" y="0"/>
                    <a:pt x="9" y="0"/>
                  </a:cubicBezTo>
                  <a:cubicBezTo>
                    <a:pt x="10" y="0"/>
                    <a:pt x="12" y="2"/>
                    <a:pt x="12" y="4"/>
                  </a:cubicBezTo>
                  <a:lnTo>
                    <a:pt x="12" y="102"/>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09" name="Freeform 150">
              <a:extLst>
                <a:ext uri="{FF2B5EF4-FFF2-40B4-BE49-F238E27FC236}">
                  <a16:creationId xmlns:a16="http://schemas.microsoft.com/office/drawing/2014/main" id="{5BE55E81-37F9-7099-5ADF-949A6F8BE412}"/>
                </a:ext>
              </a:extLst>
            </p:cNvPr>
            <p:cNvSpPr>
              <a:spLocks/>
            </p:cNvSpPr>
            <p:nvPr/>
          </p:nvSpPr>
          <p:spPr bwMode="auto">
            <a:xfrm>
              <a:off x="5365751" y="5632451"/>
              <a:ext cx="44450" cy="277813"/>
            </a:xfrm>
            <a:custGeom>
              <a:avLst/>
              <a:gdLst>
                <a:gd name="T0" fmla="*/ 12 w 12"/>
                <a:gd name="T1" fmla="*/ 74 h 74"/>
                <a:gd name="T2" fmla="*/ 0 w 12"/>
                <a:gd name="T3" fmla="*/ 74 h 74"/>
                <a:gd name="T4" fmla="*/ 0 w 12"/>
                <a:gd name="T5" fmla="*/ 0 h 74"/>
                <a:gd name="T6" fmla="*/ 9 w 12"/>
                <a:gd name="T7" fmla="*/ 0 h 74"/>
                <a:gd name="T8" fmla="*/ 12 w 12"/>
                <a:gd name="T9" fmla="*/ 2 h 74"/>
                <a:gd name="T10" fmla="*/ 12 w 12"/>
                <a:gd name="T11" fmla="*/ 74 h 74"/>
              </a:gdLst>
              <a:ahLst/>
              <a:cxnLst>
                <a:cxn ang="0">
                  <a:pos x="T0" y="T1"/>
                </a:cxn>
                <a:cxn ang="0">
                  <a:pos x="T2" y="T3"/>
                </a:cxn>
                <a:cxn ang="0">
                  <a:pos x="T4" y="T5"/>
                </a:cxn>
                <a:cxn ang="0">
                  <a:pos x="T6" y="T7"/>
                </a:cxn>
                <a:cxn ang="0">
                  <a:pos x="T8" y="T9"/>
                </a:cxn>
                <a:cxn ang="0">
                  <a:pos x="T10" y="T11"/>
                </a:cxn>
              </a:cxnLst>
              <a:rect l="0" t="0" r="r" b="b"/>
              <a:pathLst>
                <a:path w="12" h="74">
                  <a:moveTo>
                    <a:pt x="12" y="74"/>
                  </a:moveTo>
                  <a:cubicBezTo>
                    <a:pt x="0" y="74"/>
                    <a:pt x="0" y="74"/>
                    <a:pt x="0" y="74"/>
                  </a:cubicBezTo>
                  <a:cubicBezTo>
                    <a:pt x="0" y="74"/>
                    <a:pt x="0" y="14"/>
                    <a:pt x="0" y="0"/>
                  </a:cubicBezTo>
                  <a:cubicBezTo>
                    <a:pt x="1" y="0"/>
                    <a:pt x="9" y="0"/>
                    <a:pt x="9" y="0"/>
                  </a:cubicBezTo>
                  <a:cubicBezTo>
                    <a:pt x="11" y="0"/>
                    <a:pt x="12" y="1"/>
                    <a:pt x="12" y="2"/>
                  </a:cubicBezTo>
                  <a:lnTo>
                    <a:pt x="12" y="74"/>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0" name="Freeform 151">
              <a:extLst>
                <a:ext uri="{FF2B5EF4-FFF2-40B4-BE49-F238E27FC236}">
                  <a16:creationId xmlns:a16="http://schemas.microsoft.com/office/drawing/2014/main" id="{E6778B4D-DF22-48BA-7F25-A4C246B52E99}"/>
                </a:ext>
              </a:extLst>
            </p:cNvPr>
            <p:cNvSpPr>
              <a:spLocks/>
            </p:cNvSpPr>
            <p:nvPr/>
          </p:nvSpPr>
          <p:spPr bwMode="auto">
            <a:xfrm>
              <a:off x="5300663" y="5688013"/>
              <a:ext cx="46038" cy="222250"/>
            </a:xfrm>
            <a:custGeom>
              <a:avLst/>
              <a:gdLst>
                <a:gd name="T0" fmla="*/ 12 w 12"/>
                <a:gd name="T1" fmla="*/ 59 h 59"/>
                <a:gd name="T2" fmla="*/ 0 w 12"/>
                <a:gd name="T3" fmla="*/ 59 h 59"/>
                <a:gd name="T4" fmla="*/ 0 w 12"/>
                <a:gd name="T5" fmla="*/ 0 h 59"/>
                <a:gd name="T6" fmla="*/ 9 w 12"/>
                <a:gd name="T7" fmla="*/ 0 h 59"/>
                <a:gd name="T8" fmla="*/ 12 w 12"/>
                <a:gd name="T9" fmla="*/ 2 h 59"/>
                <a:gd name="T10" fmla="*/ 12 w 12"/>
                <a:gd name="T11" fmla="*/ 59 h 59"/>
              </a:gdLst>
              <a:ahLst/>
              <a:cxnLst>
                <a:cxn ang="0">
                  <a:pos x="T0" y="T1"/>
                </a:cxn>
                <a:cxn ang="0">
                  <a:pos x="T2" y="T3"/>
                </a:cxn>
                <a:cxn ang="0">
                  <a:pos x="T4" y="T5"/>
                </a:cxn>
                <a:cxn ang="0">
                  <a:pos x="T6" y="T7"/>
                </a:cxn>
                <a:cxn ang="0">
                  <a:pos x="T8" y="T9"/>
                </a:cxn>
                <a:cxn ang="0">
                  <a:pos x="T10" y="T11"/>
                </a:cxn>
              </a:cxnLst>
              <a:rect l="0" t="0" r="r" b="b"/>
              <a:pathLst>
                <a:path w="12" h="59">
                  <a:moveTo>
                    <a:pt x="12" y="59"/>
                  </a:moveTo>
                  <a:cubicBezTo>
                    <a:pt x="0" y="59"/>
                    <a:pt x="0" y="59"/>
                    <a:pt x="0" y="59"/>
                  </a:cubicBezTo>
                  <a:cubicBezTo>
                    <a:pt x="0" y="59"/>
                    <a:pt x="0" y="11"/>
                    <a:pt x="0" y="0"/>
                  </a:cubicBezTo>
                  <a:cubicBezTo>
                    <a:pt x="2" y="0"/>
                    <a:pt x="9" y="0"/>
                    <a:pt x="9" y="0"/>
                  </a:cubicBezTo>
                  <a:cubicBezTo>
                    <a:pt x="11" y="0"/>
                    <a:pt x="12" y="1"/>
                    <a:pt x="12" y="2"/>
                  </a:cubicBezTo>
                  <a:lnTo>
                    <a:pt x="12" y="59"/>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1" name="Freeform 152">
              <a:extLst>
                <a:ext uri="{FF2B5EF4-FFF2-40B4-BE49-F238E27FC236}">
                  <a16:creationId xmlns:a16="http://schemas.microsoft.com/office/drawing/2014/main" id="{F23ECB59-52E6-2CD9-5234-145D3102BBDF}"/>
                </a:ext>
              </a:extLst>
            </p:cNvPr>
            <p:cNvSpPr>
              <a:spLocks/>
            </p:cNvSpPr>
            <p:nvPr/>
          </p:nvSpPr>
          <p:spPr bwMode="auto">
            <a:xfrm>
              <a:off x="5241926" y="5748338"/>
              <a:ext cx="44450" cy="161925"/>
            </a:xfrm>
            <a:custGeom>
              <a:avLst/>
              <a:gdLst>
                <a:gd name="T0" fmla="*/ 12 w 12"/>
                <a:gd name="T1" fmla="*/ 43 h 43"/>
                <a:gd name="T2" fmla="*/ 0 w 12"/>
                <a:gd name="T3" fmla="*/ 43 h 43"/>
                <a:gd name="T4" fmla="*/ 0 w 12"/>
                <a:gd name="T5" fmla="*/ 0 h 43"/>
                <a:gd name="T6" fmla="*/ 9 w 12"/>
                <a:gd name="T7" fmla="*/ 0 h 43"/>
                <a:gd name="T8" fmla="*/ 12 w 12"/>
                <a:gd name="T9" fmla="*/ 2 h 43"/>
                <a:gd name="T10" fmla="*/ 12 w 12"/>
                <a:gd name="T11" fmla="*/ 43 h 43"/>
              </a:gdLst>
              <a:ahLst/>
              <a:cxnLst>
                <a:cxn ang="0">
                  <a:pos x="T0" y="T1"/>
                </a:cxn>
                <a:cxn ang="0">
                  <a:pos x="T2" y="T3"/>
                </a:cxn>
                <a:cxn ang="0">
                  <a:pos x="T4" y="T5"/>
                </a:cxn>
                <a:cxn ang="0">
                  <a:pos x="T6" y="T7"/>
                </a:cxn>
                <a:cxn ang="0">
                  <a:pos x="T8" y="T9"/>
                </a:cxn>
                <a:cxn ang="0">
                  <a:pos x="T10" y="T11"/>
                </a:cxn>
              </a:cxnLst>
              <a:rect l="0" t="0" r="r" b="b"/>
              <a:pathLst>
                <a:path w="12" h="43">
                  <a:moveTo>
                    <a:pt x="12" y="43"/>
                  </a:moveTo>
                  <a:cubicBezTo>
                    <a:pt x="0" y="43"/>
                    <a:pt x="0" y="43"/>
                    <a:pt x="0" y="43"/>
                  </a:cubicBezTo>
                  <a:cubicBezTo>
                    <a:pt x="0" y="43"/>
                    <a:pt x="0" y="11"/>
                    <a:pt x="0" y="0"/>
                  </a:cubicBezTo>
                  <a:cubicBezTo>
                    <a:pt x="1" y="0"/>
                    <a:pt x="9" y="0"/>
                    <a:pt x="9" y="0"/>
                  </a:cubicBezTo>
                  <a:cubicBezTo>
                    <a:pt x="11" y="0"/>
                    <a:pt x="12" y="1"/>
                    <a:pt x="12" y="2"/>
                  </a:cubicBezTo>
                  <a:lnTo>
                    <a:pt x="12" y="43"/>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2" name="Freeform 153">
              <a:extLst>
                <a:ext uri="{FF2B5EF4-FFF2-40B4-BE49-F238E27FC236}">
                  <a16:creationId xmlns:a16="http://schemas.microsoft.com/office/drawing/2014/main" id="{EB346E18-3A4C-E0A2-BB3A-60ADFD386F88}"/>
                </a:ext>
              </a:extLst>
            </p:cNvPr>
            <p:cNvSpPr>
              <a:spLocks/>
            </p:cNvSpPr>
            <p:nvPr/>
          </p:nvSpPr>
          <p:spPr bwMode="auto">
            <a:xfrm>
              <a:off x="5181601" y="5792788"/>
              <a:ext cx="44450" cy="117475"/>
            </a:xfrm>
            <a:custGeom>
              <a:avLst/>
              <a:gdLst>
                <a:gd name="T0" fmla="*/ 12 w 12"/>
                <a:gd name="T1" fmla="*/ 31 h 31"/>
                <a:gd name="T2" fmla="*/ 0 w 12"/>
                <a:gd name="T3" fmla="*/ 31 h 31"/>
                <a:gd name="T4" fmla="*/ 0 w 12"/>
                <a:gd name="T5" fmla="*/ 0 h 31"/>
                <a:gd name="T6" fmla="*/ 9 w 12"/>
                <a:gd name="T7" fmla="*/ 0 h 31"/>
                <a:gd name="T8" fmla="*/ 12 w 12"/>
                <a:gd name="T9" fmla="*/ 2 h 31"/>
                <a:gd name="T10" fmla="*/ 12 w 12"/>
                <a:gd name="T11" fmla="*/ 31 h 31"/>
              </a:gdLst>
              <a:ahLst/>
              <a:cxnLst>
                <a:cxn ang="0">
                  <a:pos x="T0" y="T1"/>
                </a:cxn>
                <a:cxn ang="0">
                  <a:pos x="T2" y="T3"/>
                </a:cxn>
                <a:cxn ang="0">
                  <a:pos x="T4" y="T5"/>
                </a:cxn>
                <a:cxn ang="0">
                  <a:pos x="T6" y="T7"/>
                </a:cxn>
                <a:cxn ang="0">
                  <a:pos x="T8" y="T9"/>
                </a:cxn>
                <a:cxn ang="0">
                  <a:pos x="T10" y="T11"/>
                </a:cxn>
              </a:cxnLst>
              <a:rect l="0" t="0" r="r" b="b"/>
              <a:pathLst>
                <a:path w="12" h="31">
                  <a:moveTo>
                    <a:pt x="12" y="31"/>
                  </a:moveTo>
                  <a:cubicBezTo>
                    <a:pt x="0" y="31"/>
                    <a:pt x="0" y="31"/>
                    <a:pt x="0" y="31"/>
                  </a:cubicBezTo>
                  <a:cubicBezTo>
                    <a:pt x="0" y="31"/>
                    <a:pt x="0" y="12"/>
                    <a:pt x="0" y="0"/>
                  </a:cubicBezTo>
                  <a:cubicBezTo>
                    <a:pt x="1" y="1"/>
                    <a:pt x="9" y="0"/>
                    <a:pt x="9" y="0"/>
                  </a:cubicBezTo>
                  <a:cubicBezTo>
                    <a:pt x="11" y="0"/>
                    <a:pt x="12" y="1"/>
                    <a:pt x="12" y="2"/>
                  </a:cubicBezTo>
                  <a:lnTo>
                    <a:pt x="12" y="31"/>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3" name="Freeform 154">
              <a:extLst>
                <a:ext uri="{FF2B5EF4-FFF2-40B4-BE49-F238E27FC236}">
                  <a16:creationId xmlns:a16="http://schemas.microsoft.com/office/drawing/2014/main" id="{E5290AAF-C480-911E-1252-E1F60DAB4BFC}"/>
                </a:ext>
              </a:extLst>
            </p:cNvPr>
            <p:cNvSpPr>
              <a:spLocks/>
            </p:cNvSpPr>
            <p:nvPr/>
          </p:nvSpPr>
          <p:spPr bwMode="auto">
            <a:xfrm>
              <a:off x="5116513" y="5822951"/>
              <a:ext cx="46038" cy="87313"/>
            </a:xfrm>
            <a:custGeom>
              <a:avLst/>
              <a:gdLst>
                <a:gd name="T0" fmla="*/ 12 w 12"/>
                <a:gd name="T1" fmla="*/ 23 h 23"/>
                <a:gd name="T2" fmla="*/ 0 w 12"/>
                <a:gd name="T3" fmla="*/ 23 h 23"/>
                <a:gd name="T4" fmla="*/ 0 w 12"/>
                <a:gd name="T5" fmla="*/ 0 h 23"/>
                <a:gd name="T6" fmla="*/ 9 w 12"/>
                <a:gd name="T7" fmla="*/ 0 h 23"/>
                <a:gd name="T8" fmla="*/ 12 w 12"/>
                <a:gd name="T9" fmla="*/ 1 h 23"/>
                <a:gd name="T10" fmla="*/ 12 w 12"/>
                <a:gd name="T11" fmla="*/ 23 h 23"/>
              </a:gdLst>
              <a:ahLst/>
              <a:cxnLst>
                <a:cxn ang="0">
                  <a:pos x="T0" y="T1"/>
                </a:cxn>
                <a:cxn ang="0">
                  <a:pos x="T2" y="T3"/>
                </a:cxn>
                <a:cxn ang="0">
                  <a:pos x="T4" y="T5"/>
                </a:cxn>
                <a:cxn ang="0">
                  <a:pos x="T6" y="T7"/>
                </a:cxn>
                <a:cxn ang="0">
                  <a:pos x="T8" y="T9"/>
                </a:cxn>
                <a:cxn ang="0">
                  <a:pos x="T10" y="T11"/>
                </a:cxn>
              </a:cxnLst>
              <a:rect l="0" t="0" r="r" b="b"/>
              <a:pathLst>
                <a:path w="12" h="23">
                  <a:moveTo>
                    <a:pt x="12" y="23"/>
                  </a:moveTo>
                  <a:cubicBezTo>
                    <a:pt x="0" y="23"/>
                    <a:pt x="0" y="23"/>
                    <a:pt x="0" y="23"/>
                  </a:cubicBezTo>
                  <a:cubicBezTo>
                    <a:pt x="0" y="23"/>
                    <a:pt x="0" y="11"/>
                    <a:pt x="0" y="0"/>
                  </a:cubicBezTo>
                  <a:cubicBezTo>
                    <a:pt x="2" y="0"/>
                    <a:pt x="9" y="0"/>
                    <a:pt x="9" y="0"/>
                  </a:cubicBezTo>
                  <a:cubicBezTo>
                    <a:pt x="11" y="0"/>
                    <a:pt x="12" y="0"/>
                    <a:pt x="12" y="1"/>
                  </a:cubicBezTo>
                  <a:lnTo>
                    <a:pt x="12" y="23"/>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4" name="Freeform 155">
              <a:extLst>
                <a:ext uri="{FF2B5EF4-FFF2-40B4-BE49-F238E27FC236}">
                  <a16:creationId xmlns:a16="http://schemas.microsoft.com/office/drawing/2014/main" id="{F06BDD9F-7FFB-7DAE-68AB-C178450CC267}"/>
                </a:ext>
              </a:extLst>
            </p:cNvPr>
            <p:cNvSpPr>
              <a:spLocks/>
            </p:cNvSpPr>
            <p:nvPr/>
          </p:nvSpPr>
          <p:spPr bwMode="auto">
            <a:xfrm>
              <a:off x="5053013" y="5853113"/>
              <a:ext cx="46038" cy="57150"/>
            </a:xfrm>
            <a:custGeom>
              <a:avLst/>
              <a:gdLst>
                <a:gd name="T0" fmla="*/ 12 w 12"/>
                <a:gd name="T1" fmla="*/ 15 h 15"/>
                <a:gd name="T2" fmla="*/ 0 w 12"/>
                <a:gd name="T3" fmla="*/ 15 h 15"/>
                <a:gd name="T4" fmla="*/ 0 w 12"/>
                <a:gd name="T5" fmla="*/ 0 h 15"/>
                <a:gd name="T6" fmla="*/ 9 w 12"/>
                <a:gd name="T7" fmla="*/ 0 h 15"/>
                <a:gd name="T8" fmla="*/ 12 w 12"/>
                <a:gd name="T9" fmla="*/ 1 h 15"/>
                <a:gd name="T10" fmla="*/ 12 w 12"/>
                <a:gd name="T11" fmla="*/ 15 h 15"/>
              </a:gdLst>
              <a:ahLst/>
              <a:cxnLst>
                <a:cxn ang="0">
                  <a:pos x="T0" y="T1"/>
                </a:cxn>
                <a:cxn ang="0">
                  <a:pos x="T2" y="T3"/>
                </a:cxn>
                <a:cxn ang="0">
                  <a:pos x="T4" y="T5"/>
                </a:cxn>
                <a:cxn ang="0">
                  <a:pos x="T6" y="T7"/>
                </a:cxn>
                <a:cxn ang="0">
                  <a:pos x="T8" y="T9"/>
                </a:cxn>
                <a:cxn ang="0">
                  <a:pos x="T10" y="T11"/>
                </a:cxn>
              </a:cxnLst>
              <a:rect l="0" t="0" r="r" b="b"/>
              <a:pathLst>
                <a:path w="12" h="15">
                  <a:moveTo>
                    <a:pt x="12" y="15"/>
                  </a:moveTo>
                  <a:cubicBezTo>
                    <a:pt x="0" y="15"/>
                    <a:pt x="0" y="15"/>
                    <a:pt x="0" y="15"/>
                  </a:cubicBezTo>
                  <a:cubicBezTo>
                    <a:pt x="0" y="15"/>
                    <a:pt x="0" y="11"/>
                    <a:pt x="0" y="0"/>
                  </a:cubicBezTo>
                  <a:cubicBezTo>
                    <a:pt x="1" y="0"/>
                    <a:pt x="9" y="0"/>
                    <a:pt x="9" y="0"/>
                  </a:cubicBezTo>
                  <a:cubicBezTo>
                    <a:pt x="11" y="0"/>
                    <a:pt x="12" y="0"/>
                    <a:pt x="12" y="1"/>
                  </a:cubicBezTo>
                  <a:lnTo>
                    <a:pt x="12" y="15"/>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5" name="Freeform 156">
              <a:extLst>
                <a:ext uri="{FF2B5EF4-FFF2-40B4-BE49-F238E27FC236}">
                  <a16:creationId xmlns:a16="http://schemas.microsoft.com/office/drawing/2014/main" id="{43592698-AA1A-D5DC-B0E2-86720D42D3E4}"/>
                </a:ext>
              </a:extLst>
            </p:cNvPr>
            <p:cNvSpPr>
              <a:spLocks/>
            </p:cNvSpPr>
            <p:nvPr/>
          </p:nvSpPr>
          <p:spPr bwMode="auto">
            <a:xfrm>
              <a:off x="5099051" y="5575301"/>
              <a:ext cx="160338" cy="236538"/>
            </a:xfrm>
            <a:custGeom>
              <a:avLst/>
              <a:gdLst>
                <a:gd name="T0" fmla="*/ 6 w 43"/>
                <a:gd name="T1" fmla="*/ 63 h 63"/>
                <a:gd name="T2" fmla="*/ 11 w 43"/>
                <a:gd name="T3" fmla="*/ 63 h 63"/>
                <a:gd name="T4" fmla="*/ 14 w 43"/>
                <a:gd name="T5" fmla="*/ 46 h 63"/>
                <a:gd name="T6" fmla="*/ 12 w 43"/>
                <a:gd name="T7" fmla="*/ 33 h 63"/>
                <a:gd name="T8" fmla="*/ 24 w 43"/>
                <a:gd name="T9" fmla="*/ 36 h 63"/>
                <a:gd name="T10" fmla="*/ 28 w 43"/>
                <a:gd name="T11" fmla="*/ 54 h 63"/>
                <a:gd name="T12" fmla="*/ 34 w 43"/>
                <a:gd name="T13" fmla="*/ 54 h 63"/>
                <a:gd name="T14" fmla="*/ 32 w 43"/>
                <a:gd name="T15" fmla="*/ 35 h 63"/>
                <a:gd name="T16" fmla="*/ 27 w 43"/>
                <a:gd name="T17" fmla="*/ 30 h 63"/>
                <a:gd name="T18" fmla="*/ 15 w 43"/>
                <a:gd name="T19" fmla="*/ 26 h 63"/>
                <a:gd name="T20" fmla="*/ 19 w 43"/>
                <a:gd name="T21" fmla="*/ 17 h 63"/>
                <a:gd name="T22" fmla="*/ 26 w 43"/>
                <a:gd name="T23" fmla="*/ 22 h 63"/>
                <a:gd name="T24" fmla="*/ 43 w 43"/>
                <a:gd name="T25" fmla="*/ 26 h 63"/>
                <a:gd name="T26" fmla="*/ 43 w 43"/>
                <a:gd name="T27" fmla="*/ 22 h 63"/>
                <a:gd name="T28" fmla="*/ 29 w 43"/>
                <a:gd name="T29" fmla="*/ 18 h 63"/>
                <a:gd name="T30" fmla="*/ 22 w 43"/>
                <a:gd name="T31" fmla="*/ 9 h 63"/>
                <a:gd name="T32" fmla="*/ 5 w 43"/>
                <a:gd name="T33" fmla="*/ 7 h 63"/>
                <a:gd name="T34" fmla="*/ 2 w 43"/>
                <a:gd name="T35" fmla="*/ 21 h 63"/>
                <a:gd name="T36" fmla="*/ 1 w 43"/>
                <a:gd name="T37" fmla="*/ 31 h 63"/>
                <a:gd name="T38" fmla="*/ 6 w 43"/>
                <a:gd name="T39" fmla="*/ 45 h 63"/>
                <a:gd name="T40" fmla="*/ 6 w 43"/>
                <a:gd name="T41" fmla="*/ 6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3" h="63">
                  <a:moveTo>
                    <a:pt x="6" y="63"/>
                  </a:moveTo>
                  <a:cubicBezTo>
                    <a:pt x="11" y="63"/>
                    <a:pt x="11" y="63"/>
                    <a:pt x="11" y="63"/>
                  </a:cubicBezTo>
                  <a:cubicBezTo>
                    <a:pt x="14" y="46"/>
                    <a:pt x="14" y="46"/>
                    <a:pt x="14" y="46"/>
                  </a:cubicBezTo>
                  <a:cubicBezTo>
                    <a:pt x="12" y="33"/>
                    <a:pt x="12" y="33"/>
                    <a:pt x="12" y="33"/>
                  </a:cubicBezTo>
                  <a:cubicBezTo>
                    <a:pt x="24" y="36"/>
                    <a:pt x="24" y="36"/>
                    <a:pt x="24" y="36"/>
                  </a:cubicBezTo>
                  <a:cubicBezTo>
                    <a:pt x="28" y="54"/>
                    <a:pt x="28" y="54"/>
                    <a:pt x="28" y="54"/>
                  </a:cubicBezTo>
                  <a:cubicBezTo>
                    <a:pt x="34" y="54"/>
                    <a:pt x="34" y="54"/>
                    <a:pt x="34" y="54"/>
                  </a:cubicBezTo>
                  <a:cubicBezTo>
                    <a:pt x="32" y="35"/>
                    <a:pt x="32" y="35"/>
                    <a:pt x="32" y="35"/>
                  </a:cubicBezTo>
                  <a:cubicBezTo>
                    <a:pt x="32" y="32"/>
                    <a:pt x="28" y="31"/>
                    <a:pt x="27" y="30"/>
                  </a:cubicBezTo>
                  <a:cubicBezTo>
                    <a:pt x="15" y="26"/>
                    <a:pt x="15" y="26"/>
                    <a:pt x="15" y="26"/>
                  </a:cubicBezTo>
                  <a:cubicBezTo>
                    <a:pt x="19" y="17"/>
                    <a:pt x="19" y="17"/>
                    <a:pt x="19" y="17"/>
                  </a:cubicBezTo>
                  <a:cubicBezTo>
                    <a:pt x="26" y="22"/>
                    <a:pt x="26" y="22"/>
                    <a:pt x="26" y="22"/>
                  </a:cubicBezTo>
                  <a:cubicBezTo>
                    <a:pt x="43" y="26"/>
                    <a:pt x="43" y="26"/>
                    <a:pt x="43" y="26"/>
                  </a:cubicBezTo>
                  <a:cubicBezTo>
                    <a:pt x="43" y="22"/>
                    <a:pt x="43" y="22"/>
                    <a:pt x="43" y="22"/>
                  </a:cubicBezTo>
                  <a:cubicBezTo>
                    <a:pt x="29" y="18"/>
                    <a:pt x="29" y="18"/>
                    <a:pt x="29" y="18"/>
                  </a:cubicBezTo>
                  <a:cubicBezTo>
                    <a:pt x="22" y="9"/>
                    <a:pt x="22" y="9"/>
                    <a:pt x="22" y="9"/>
                  </a:cubicBezTo>
                  <a:cubicBezTo>
                    <a:pt x="19" y="6"/>
                    <a:pt x="7" y="0"/>
                    <a:pt x="5" y="7"/>
                  </a:cubicBezTo>
                  <a:cubicBezTo>
                    <a:pt x="2" y="21"/>
                    <a:pt x="2" y="21"/>
                    <a:pt x="2" y="21"/>
                  </a:cubicBezTo>
                  <a:cubicBezTo>
                    <a:pt x="1" y="25"/>
                    <a:pt x="0" y="28"/>
                    <a:pt x="1" y="31"/>
                  </a:cubicBezTo>
                  <a:cubicBezTo>
                    <a:pt x="6" y="45"/>
                    <a:pt x="6" y="45"/>
                    <a:pt x="6" y="45"/>
                  </a:cubicBezTo>
                  <a:cubicBezTo>
                    <a:pt x="6" y="60"/>
                    <a:pt x="6" y="60"/>
                    <a:pt x="6" y="60"/>
                  </a:cubicBezTo>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6" name="Freeform 157">
              <a:extLst>
                <a:ext uri="{FF2B5EF4-FFF2-40B4-BE49-F238E27FC236}">
                  <a16:creationId xmlns:a16="http://schemas.microsoft.com/office/drawing/2014/main" id="{45E0303F-74AA-F323-D9D5-7BD0F3432DA2}"/>
                </a:ext>
              </a:extLst>
            </p:cNvPr>
            <p:cNvSpPr>
              <a:spLocks/>
            </p:cNvSpPr>
            <p:nvPr/>
          </p:nvSpPr>
          <p:spPr bwMode="auto">
            <a:xfrm>
              <a:off x="5124451" y="5545138"/>
              <a:ext cx="52388" cy="49213"/>
            </a:xfrm>
            <a:custGeom>
              <a:avLst/>
              <a:gdLst>
                <a:gd name="T0" fmla="*/ 1 w 14"/>
                <a:gd name="T1" fmla="*/ 5 h 13"/>
                <a:gd name="T2" fmla="*/ 9 w 14"/>
                <a:gd name="T3" fmla="*/ 1 h 13"/>
                <a:gd name="T4" fmla="*/ 9 w 14"/>
                <a:gd name="T5" fmla="*/ 1 h 13"/>
                <a:gd name="T6" fmla="*/ 9 w 14"/>
                <a:gd name="T7" fmla="*/ 1 h 13"/>
                <a:gd name="T8" fmla="*/ 13 w 14"/>
                <a:gd name="T9" fmla="*/ 8 h 13"/>
                <a:gd name="T10" fmla="*/ 13 w 14"/>
                <a:gd name="T11" fmla="*/ 8 h 13"/>
                <a:gd name="T12" fmla="*/ 13 w 14"/>
                <a:gd name="T13" fmla="*/ 8 h 13"/>
                <a:gd name="T14" fmla="*/ 5 w 14"/>
                <a:gd name="T15" fmla="*/ 12 h 13"/>
                <a:gd name="T16" fmla="*/ 5 w 14"/>
                <a:gd name="T17" fmla="*/ 12 h 13"/>
                <a:gd name="T18" fmla="*/ 5 w 14"/>
                <a:gd name="T19" fmla="*/ 12 h 13"/>
                <a:gd name="T20" fmla="*/ 1 w 14"/>
                <a:gd name="T21" fmla="*/ 5 h 13"/>
                <a:gd name="T22" fmla="*/ 1 w 14"/>
                <a:gd name="T23" fmla="*/ 5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 h="13">
                  <a:moveTo>
                    <a:pt x="1" y="5"/>
                  </a:moveTo>
                  <a:cubicBezTo>
                    <a:pt x="2" y="2"/>
                    <a:pt x="5" y="0"/>
                    <a:pt x="9" y="1"/>
                  </a:cubicBezTo>
                  <a:cubicBezTo>
                    <a:pt x="9" y="1"/>
                    <a:pt x="9" y="1"/>
                    <a:pt x="9" y="1"/>
                  </a:cubicBezTo>
                  <a:cubicBezTo>
                    <a:pt x="9" y="1"/>
                    <a:pt x="9" y="1"/>
                    <a:pt x="9" y="1"/>
                  </a:cubicBezTo>
                  <a:cubicBezTo>
                    <a:pt x="12" y="1"/>
                    <a:pt x="14" y="5"/>
                    <a:pt x="13" y="8"/>
                  </a:cubicBezTo>
                  <a:cubicBezTo>
                    <a:pt x="13" y="8"/>
                    <a:pt x="13" y="8"/>
                    <a:pt x="13" y="8"/>
                  </a:cubicBezTo>
                  <a:cubicBezTo>
                    <a:pt x="13" y="8"/>
                    <a:pt x="13" y="8"/>
                    <a:pt x="13" y="8"/>
                  </a:cubicBezTo>
                  <a:cubicBezTo>
                    <a:pt x="12" y="11"/>
                    <a:pt x="9" y="13"/>
                    <a:pt x="5" y="12"/>
                  </a:cubicBezTo>
                  <a:cubicBezTo>
                    <a:pt x="5" y="12"/>
                    <a:pt x="5" y="12"/>
                    <a:pt x="5" y="12"/>
                  </a:cubicBezTo>
                  <a:cubicBezTo>
                    <a:pt x="5" y="12"/>
                    <a:pt x="5" y="12"/>
                    <a:pt x="5" y="12"/>
                  </a:cubicBezTo>
                  <a:cubicBezTo>
                    <a:pt x="2" y="11"/>
                    <a:pt x="0" y="8"/>
                    <a:pt x="1" y="5"/>
                  </a:cubicBezTo>
                  <a:cubicBezTo>
                    <a:pt x="1" y="5"/>
                    <a:pt x="1" y="5"/>
                    <a:pt x="1" y="5"/>
                  </a:cubicBezTo>
                  <a:close/>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grpSp>
      <p:sp>
        <p:nvSpPr>
          <p:cNvPr id="417" name="Gleichschenkliges Dreieck 2">
            <a:extLst>
              <a:ext uri="{FF2B5EF4-FFF2-40B4-BE49-F238E27FC236}">
                <a16:creationId xmlns:a16="http://schemas.microsoft.com/office/drawing/2014/main" id="{4983DF9E-3A76-8C69-EDF0-EB85CC91C525}"/>
              </a:ext>
            </a:extLst>
          </p:cNvPr>
          <p:cNvSpPr/>
          <p:nvPr/>
        </p:nvSpPr>
        <p:spPr bwMode="auto">
          <a:xfrm>
            <a:off x="10863262" y="2597636"/>
            <a:ext cx="1229237" cy="252000"/>
          </a:xfrm>
          <a:prstGeom prst="rect">
            <a:avLst/>
          </a:prstGeom>
          <a:solidFill>
            <a:srgbClr val="00B05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rPr>
              <a:t>Best Practices</a:t>
            </a:r>
          </a:p>
        </p:txBody>
      </p:sp>
      <p:sp>
        <p:nvSpPr>
          <p:cNvPr id="419" name="TextBox 418">
            <a:extLst>
              <a:ext uri="{FF2B5EF4-FFF2-40B4-BE49-F238E27FC236}">
                <a16:creationId xmlns:a16="http://schemas.microsoft.com/office/drawing/2014/main" id="{AD693A82-66F6-B7D4-4838-F4F945283413}"/>
              </a:ext>
            </a:extLst>
          </p:cNvPr>
          <p:cNvSpPr txBox="1"/>
          <p:nvPr/>
        </p:nvSpPr>
        <p:spPr>
          <a:xfrm>
            <a:off x="10464154" y="2880193"/>
            <a:ext cx="1588444" cy="2015936"/>
          </a:xfrm>
          <a:prstGeom prst="rect">
            <a:avLst/>
          </a:prstGeom>
          <a:noFill/>
          <a:ln>
            <a:noFill/>
          </a:ln>
        </p:spPr>
        <p:txBody>
          <a:bodyPr wrap="square" rtlCol="0">
            <a:spAutoFit/>
          </a:bodyPr>
          <a:lstStyle/>
          <a:p>
            <a:pPr marL="171450" indent="-171450">
              <a:spcBef>
                <a:spcPts val="200"/>
              </a:spcBef>
              <a:spcAft>
                <a:spcPts val="200"/>
              </a:spcAft>
              <a:buClr>
                <a:schemeClr val="accent1"/>
              </a:buClr>
              <a:buFont typeface="Wingdings" panose="05000000000000000000" pitchFamily="2" charset="2"/>
              <a:buChar char="§"/>
              <a:defRPr/>
            </a:pPr>
            <a:r>
              <a:rPr lang="en-US" sz="700">
                <a:cs typeface="Calibri" pitchFamily="34" charset="0"/>
              </a:rPr>
              <a:t>Bring all the required Stakeholders into the room</a:t>
            </a:r>
          </a:p>
          <a:p>
            <a:pPr marL="171450" indent="-171450">
              <a:spcBef>
                <a:spcPts val="200"/>
              </a:spcBef>
              <a:spcAft>
                <a:spcPts val="200"/>
              </a:spcAft>
              <a:buClr>
                <a:schemeClr val="accent1"/>
              </a:buClr>
              <a:buFont typeface="Wingdings" panose="05000000000000000000" pitchFamily="2" charset="2"/>
              <a:buChar char="§"/>
              <a:defRPr/>
            </a:pPr>
            <a:r>
              <a:rPr lang="en-US" sz="700">
                <a:cs typeface="Calibri" pitchFamily="34" charset="0"/>
              </a:rPr>
              <a:t>Ring fence Playback Scope to relevant User Stories &amp; requirements</a:t>
            </a:r>
          </a:p>
          <a:p>
            <a:pPr marL="171450" indent="-171450">
              <a:spcBef>
                <a:spcPts val="200"/>
              </a:spcBef>
              <a:spcAft>
                <a:spcPts val="200"/>
              </a:spcAft>
              <a:buClr>
                <a:schemeClr val="accent1"/>
              </a:buClr>
              <a:buFont typeface="Wingdings" panose="05000000000000000000" pitchFamily="2" charset="2"/>
              <a:buChar char="§"/>
              <a:defRPr/>
            </a:pPr>
            <a:r>
              <a:rPr lang="en-US" sz="700">
                <a:cs typeface="Calibri" pitchFamily="34" charset="0"/>
              </a:rPr>
              <a:t>Lead-support roleplay</a:t>
            </a:r>
          </a:p>
          <a:p>
            <a:pPr marL="171450" indent="-171450">
              <a:spcBef>
                <a:spcPts val="200"/>
              </a:spcBef>
              <a:spcAft>
                <a:spcPts val="200"/>
              </a:spcAft>
              <a:buClr>
                <a:schemeClr val="accent1"/>
              </a:buClr>
              <a:buFont typeface="Wingdings" panose="05000000000000000000" pitchFamily="2" charset="2"/>
              <a:buChar char="§"/>
              <a:defRPr/>
            </a:pPr>
            <a:r>
              <a:rPr lang="en-US" sz="700">
                <a:cs typeface="Calibri" pitchFamily="34" charset="0"/>
              </a:rPr>
              <a:t>Avoid any new requirements or changes to current requirements captured</a:t>
            </a:r>
          </a:p>
          <a:p>
            <a:pPr marL="171450" indent="-171450">
              <a:spcBef>
                <a:spcPts val="200"/>
              </a:spcBef>
              <a:spcAft>
                <a:spcPts val="200"/>
              </a:spcAft>
              <a:buClr>
                <a:schemeClr val="accent1"/>
              </a:buClr>
              <a:buFont typeface="Wingdings" panose="05000000000000000000" pitchFamily="2" charset="2"/>
              <a:buChar char="§"/>
              <a:defRPr/>
            </a:pPr>
            <a:r>
              <a:rPr lang="en-US" sz="700">
                <a:cs typeface="Calibri" pitchFamily="34" charset="0"/>
              </a:rPr>
              <a:t>Capture &amp; incorporate feedback online to the Pack</a:t>
            </a:r>
          </a:p>
          <a:p>
            <a:pPr marL="171450" indent="-171450">
              <a:spcBef>
                <a:spcPts val="200"/>
              </a:spcBef>
              <a:spcAft>
                <a:spcPts val="200"/>
              </a:spcAft>
              <a:buClr>
                <a:schemeClr val="accent1"/>
              </a:buClr>
              <a:buFont typeface="Wingdings" panose="05000000000000000000" pitchFamily="2" charset="2"/>
              <a:buChar char="§"/>
              <a:defRPr/>
            </a:pPr>
            <a:r>
              <a:rPr lang="en-US" sz="700">
                <a:cs typeface="Calibri" pitchFamily="34" charset="0"/>
              </a:rPr>
              <a:t>Capture any new risks, dependencies or issues raised to action offline</a:t>
            </a:r>
          </a:p>
          <a:p>
            <a:pPr>
              <a:spcBef>
                <a:spcPts val="200"/>
              </a:spcBef>
              <a:spcAft>
                <a:spcPts val="200"/>
              </a:spcAft>
              <a:buClr>
                <a:schemeClr val="accent1"/>
              </a:buClr>
              <a:defRPr/>
            </a:pPr>
            <a:endParaRPr lang="en-US" sz="700">
              <a:cs typeface="Calibri" pitchFamily="34" charset="0"/>
            </a:endParaRPr>
          </a:p>
        </p:txBody>
      </p:sp>
      <p:sp>
        <p:nvSpPr>
          <p:cNvPr id="424" name="Rounded Rectangle 67">
            <a:extLst>
              <a:ext uri="{FF2B5EF4-FFF2-40B4-BE49-F238E27FC236}">
                <a16:creationId xmlns:a16="http://schemas.microsoft.com/office/drawing/2014/main" id="{56E6359D-9E16-71FC-DAAF-6DC4F95B2C6E}"/>
              </a:ext>
            </a:extLst>
          </p:cNvPr>
          <p:cNvSpPr>
            <a:spLocks/>
          </p:cNvSpPr>
          <p:nvPr/>
        </p:nvSpPr>
        <p:spPr>
          <a:xfrm>
            <a:off x="10477580" y="5385273"/>
            <a:ext cx="1614920" cy="1116135"/>
          </a:xfrm>
          <a:prstGeom prst="roundRect">
            <a:avLst>
              <a:gd name="adj" fmla="val 5380"/>
            </a:avLst>
          </a:prstGeom>
          <a:noFill/>
          <a:ln w="19050" cap="flat" cmpd="sng" algn="ctr">
            <a:solidFill>
              <a:schemeClr val="bg1">
                <a:lumMod val="7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435" name="Gleichschenkliges Dreieck 2">
            <a:extLst>
              <a:ext uri="{FF2B5EF4-FFF2-40B4-BE49-F238E27FC236}">
                <a16:creationId xmlns:a16="http://schemas.microsoft.com/office/drawing/2014/main" id="{E0797AE8-F805-4867-6293-45B2BB4993B3}"/>
              </a:ext>
            </a:extLst>
          </p:cNvPr>
          <p:cNvSpPr/>
          <p:nvPr/>
        </p:nvSpPr>
        <p:spPr bwMode="auto">
          <a:xfrm>
            <a:off x="10866827" y="5132351"/>
            <a:ext cx="1225672" cy="252000"/>
          </a:xfrm>
          <a:prstGeom prst="rect">
            <a:avLst/>
          </a:prstGeom>
          <a:solidFill>
            <a:srgbClr val="FFC00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rPr>
              <a:t>Challenges</a:t>
            </a:r>
          </a:p>
        </p:txBody>
      </p:sp>
      <p:grpSp>
        <p:nvGrpSpPr>
          <p:cNvPr id="437" name="Group 436">
            <a:extLst>
              <a:ext uri="{FF2B5EF4-FFF2-40B4-BE49-F238E27FC236}">
                <a16:creationId xmlns:a16="http://schemas.microsoft.com/office/drawing/2014/main" id="{FC5E9492-D418-987F-2704-450445C0C317}"/>
              </a:ext>
            </a:extLst>
          </p:cNvPr>
          <p:cNvGrpSpPr>
            <a:grpSpLocks noChangeAspect="1"/>
          </p:cNvGrpSpPr>
          <p:nvPr/>
        </p:nvGrpSpPr>
        <p:grpSpPr>
          <a:xfrm>
            <a:off x="10541512" y="5087781"/>
            <a:ext cx="280916" cy="303133"/>
            <a:chOff x="9910960" y="2281694"/>
            <a:chExt cx="590557" cy="558400"/>
          </a:xfrm>
        </p:grpSpPr>
        <p:sp>
          <p:nvSpPr>
            <p:cNvPr id="438" name="Freeform 39">
              <a:extLst>
                <a:ext uri="{FF2B5EF4-FFF2-40B4-BE49-F238E27FC236}">
                  <a16:creationId xmlns:a16="http://schemas.microsoft.com/office/drawing/2014/main" id="{69732489-D9F2-F6A8-78D2-15E08E060E51}"/>
                </a:ext>
              </a:extLst>
            </p:cNvPr>
            <p:cNvSpPr>
              <a:spLocks noEditPoints="1"/>
            </p:cNvSpPr>
            <p:nvPr/>
          </p:nvSpPr>
          <p:spPr bwMode="auto">
            <a:xfrm>
              <a:off x="9910960" y="2397747"/>
              <a:ext cx="445479" cy="378434"/>
            </a:xfrm>
            <a:custGeom>
              <a:avLst/>
              <a:gdLst>
                <a:gd name="T0" fmla="*/ 102 w 110"/>
                <a:gd name="T1" fmla="*/ 30 h 95"/>
                <a:gd name="T2" fmla="*/ 101 w 110"/>
                <a:gd name="T3" fmla="*/ 29 h 95"/>
                <a:gd name="T4" fmla="*/ 81 w 110"/>
                <a:gd name="T5" fmla="*/ 15 h 95"/>
                <a:gd name="T6" fmla="*/ 32 w 110"/>
                <a:gd name="T7" fmla="*/ 1 h 95"/>
                <a:gd name="T8" fmla="*/ 29 w 110"/>
                <a:gd name="T9" fmla="*/ 0 h 95"/>
                <a:gd name="T10" fmla="*/ 0 w 110"/>
                <a:gd name="T11" fmla="*/ 34 h 95"/>
                <a:gd name="T12" fmla="*/ 16 w 110"/>
                <a:gd name="T13" fmla="*/ 50 h 95"/>
                <a:gd name="T14" fmla="*/ 55 w 110"/>
                <a:gd name="T15" fmla="*/ 95 h 95"/>
                <a:gd name="T16" fmla="*/ 66 w 110"/>
                <a:gd name="T17" fmla="*/ 89 h 95"/>
                <a:gd name="T18" fmla="*/ 87 w 110"/>
                <a:gd name="T19" fmla="*/ 76 h 95"/>
                <a:gd name="T20" fmla="*/ 95 w 110"/>
                <a:gd name="T21" fmla="*/ 66 h 95"/>
                <a:gd name="T22" fmla="*/ 108 w 110"/>
                <a:gd name="T23" fmla="*/ 55 h 95"/>
                <a:gd name="T24" fmla="*/ 109 w 110"/>
                <a:gd name="T25" fmla="*/ 51 h 95"/>
                <a:gd name="T26" fmla="*/ 55 w 110"/>
                <a:gd name="T27" fmla="*/ 87 h 95"/>
                <a:gd name="T28" fmla="*/ 45 w 110"/>
                <a:gd name="T29" fmla="*/ 78 h 95"/>
                <a:gd name="T30" fmla="*/ 51 w 110"/>
                <a:gd name="T31" fmla="*/ 72 h 95"/>
                <a:gd name="T32" fmla="*/ 58 w 110"/>
                <a:gd name="T33" fmla="*/ 86 h 95"/>
                <a:gd name="T34" fmla="*/ 66 w 110"/>
                <a:gd name="T35" fmla="*/ 81 h 95"/>
                <a:gd name="T36" fmla="*/ 54 w 110"/>
                <a:gd name="T37" fmla="*/ 70 h 95"/>
                <a:gd name="T38" fmla="*/ 61 w 110"/>
                <a:gd name="T39" fmla="*/ 64 h 95"/>
                <a:gd name="T40" fmla="*/ 69 w 110"/>
                <a:gd name="T41" fmla="*/ 80 h 95"/>
                <a:gd name="T42" fmla="*/ 77 w 110"/>
                <a:gd name="T43" fmla="*/ 75 h 95"/>
                <a:gd name="T44" fmla="*/ 64 w 110"/>
                <a:gd name="T45" fmla="*/ 62 h 95"/>
                <a:gd name="T46" fmla="*/ 70 w 110"/>
                <a:gd name="T47" fmla="*/ 56 h 95"/>
                <a:gd name="T48" fmla="*/ 80 w 110"/>
                <a:gd name="T49" fmla="*/ 74 h 95"/>
                <a:gd name="T50" fmla="*/ 85 w 110"/>
                <a:gd name="T51" fmla="*/ 64 h 95"/>
                <a:gd name="T52" fmla="*/ 74 w 110"/>
                <a:gd name="T53" fmla="*/ 53 h 95"/>
                <a:gd name="T54" fmla="*/ 80 w 110"/>
                <a:gd name="T55" fmla="*/ 48 h 95"/>
                <a:gd name="T56" fmla="*/ 88 w 110"/>
                <a:gd name="T57" fmla="*/ 63 h 95"/>
                <a:gd name="T58" fmla="*/ 87 w 110"/>
                <a:gd name="T59" fmla="*/ 44 h 95"/>
                <a:gd name="T60" fmla="*/ 52 w 110"/>
                <a:gd name="T61" fmla="*/ 43 h 95"/>
                <a:gd name="T62" fmla="*/ 24 w 110"/>
                <a:gd name="T63" fmla="*/ 48 h 95"/>
                <a:gd name="T64" fmla="*/ 23 w 110"/>
                <a:gd name="T65" fmla="*/ 46 h 95"/>
                <a:gd name="T66" fmla="*/ 29 w 110"/>
                <a:gd name="T67" fmla="*/ 9 h 95"/>
                <a:gd name="T68" fmla="*/ 45 w 110"/>
                <a:gd name="T69" fmla="*/ 22 h 95"/>
                <a:gd name="T70" fmla="*/ 78 w 110"/>
                <a:gd name="T71" fmla="*/ 22 h 95"/>
                <a:gd name="T72" fmla="*/ 101 w 110"/>
                <a:gd name="T73"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0" h="95">
                  <a:moveTo>
                    <a:pt x="109" y="51"/>
                  </a:moveTo>
                  <a:cubicBezTo>
                    <a:pt x="108" y="46"/>
                    <a:pt x="104" y="34"/>
                    <a:pt x="102" y="30"/>
                  </a:cubicBezTo>
                  <a:cubicBezTo>
                    <a:pt x="101" y="29"/>
                    <a:pt x="101" y="29"/>
                    <a:pt x="101" y="29"/>
                  </a:cubicBezTo>
                  <a:cubicBezTo>
                    <a:pt x="101" y="29"/>
                    <a:pt x="101" y="29"/>
                    <a:pt x="101" y="29"/>
                  </a:cubicBezTo>
                  <a:cubicBezTo>
                    <a:pt x="96" y="25"/>
                    <a:pt x="84" y="16"/>
                    <a:pt x="82" y="15"/>
                  </a:cubicBezTo>
                  <a:cubicBezTo>
                    <a:pt x="81" y="15"/>
                    <a:pt x="81" y="15"/>
                    <a:pt x="81" y="15"/>
                  </a:cubicBezTo>
                  <a:cubicBezTo>
                    <a:pt x="70" y="12"/>
                    <a:pt x="59" y="11"/>
                    <a:pt x="47" y="13"/>
                  </a:cubicBezTo>
                  <a:cubicBezTo>
                    <a:pt x="43" y="10"/>
                    <a:pt x="37" y="6"/>
                    <a:pt x="32" y="1"/>
                  </a:cubicBezTo>
                  <a:cubicBezTo>
                    <a:pt x="30" y="0"/>
                    <a:pt x="30" y="0"/>
                    <a:pt x="30" y="0"/>
                  </a:cubicBezTo>
                  <a:cubicBezTo>
                    <a:pt x="29" y="0"/>
                    <a:pt x="29" y="0"/>
                    <a:pt x="29" y="0"/>
                  </a:cubicBezTo>
                  <a:cubicBezTo>
                    <a:pt x="21" y="2"/>
                    <a:pt x="3" y="16"/>
                    <a:pt x="1" y="32"/>
                  </a:cubicBezTo>
                  <a:cubicBezTo>
                    <a:pt x="0" y="34"/>
                    <a:pt x="0" y="34"/>
                    <a:pt x="0" y="34"/>
                  </a:cubicBezTo>
                  <a:cubicBezTo>
                    <a:pt x="2" y="36"/>
                    <a:pt x="2" y="36"/>
                    <a:pt x="2" y="36"/>
                  </a:cubicBezTo>
                  <a:cubicBezTo>
                    <a:pt x="6" y="39"/>
                    <a:pt x="13" y="46"/>
                    <a:pt x="16" y="50"/>
                  </a:cubicBezTo>
                  <a:cubicBezTo>
                    <a:pt x="17" y="56"/>
                    <a:pt x="20" y="66"/>
                    <a:pt x="31" y="77"/>
                  </a:cubicBezTo>
                  <a:cubicBezTo>
                    <a:pt x="43" y="89"/>
                    <a:pt x="49" y="95"/>
                    <a:pt x="55" y="95"/>
                  </a:cubicBezTo>
                  <a:cubicBezTo>
                    <a:pt x="56" y="95"/>
                    <a:pt x="57" y="94"/>
                    <a:pt x="58" y="94"/>
                  </a:cubicBezTo>
                  <a:cubicBezTo>
                    <a:pt x="62" y="93"/>
                    <a:pt x="65" y="91"/>
                    <a:pt x="66" y="89"/>
                  </a:cubicBezTo>
                  <a:cubicBezTo>
                    <a:pt x="70" y="88"/>
                    <a:pt x="74" y="86"/>
                    <a:pt x="76" y="82"/>
                  </a:cubicBezTo>
                  <a:cubicBezTo>
                    <a:pt x="80" y="81"/>
                    <a:pt x="84" y="79"/>
                    <a:pt x="87" y="76"/>
                  </a:cubicBezTo>
                  <a:cubicBezTo>
                    <a:pt x="88" y="75"/>
                    <a:pt x="89" y="73"/>
                    <a:pt x="89" y="72"/>
                  </a:cubicBezTo>
                  <a:cubicBezTo>
                    <a:pt x="92" y="71"/>
                    <a:pt x="94" y="69"/>
                    <a:pt x="95" y="66"/>
                  </a:cubicBezTo>
                  <a:cubicBezTo>
                    <a:pt x="97" y="64"/>
                    <a:pt x="97" y="63"/>
                    <a:pt x="97" y="61"/>
                  </a:cubicBezTo>
                  <a:cubicBezTo>
                    <a:pt x="101" y="60"/>
                    <a:pt x="105" y="59"/>
                    <a:pt x="108" y="55"/>
                  </a:cubicBezTo>
                  <a:cubicBezTo>
                    <a:pt x="110" y="54"/>
                    <a:pt x="110" y="54"/>
                    <a:pt x="110" y="54"/>
                  </a:cubicBezTo>
                  <a:lnTo>
                    <a:pt x="109" y="51"/>
                  </a:lnTo>
                  <a:close/>
                  <a:moveTo>
                    <a:pt x="58" y="86"/>
                  </a:moveTo>
                  <a:cubicBezTo>
                    <a:pt x="57" y="87"/>
                    <a:pt x="56" y="87"/>
                    <a:pt x="55" y="87"/>
                  </a:cubicBezTo>
                  <a:cubicBezTo>
                    <a:pt x="54" y="87"/>
                    <a:pt x="52" y="87"/>
                    <a:pt x="52" y="86"/>
                  </a:cubicBezTo>
                  <a:cubicBezTo>
                    <a:pt x="45" y="78"/>
                    <a:pt x="45" y="78"/>
                    <a:pt x="45" y="78"/>
                  </a:cubicBezTo>
                  <a:cubicBezTo>
                    <a:pt x="44" y="76"/>
                    <a:pt x="44" y="73"/>
                    <a:pt x="46" y="72"/>
                  </a:cubicBezTo>
                  <a:cubicBezTo>
                    <a:pt x="47" y="70"/>
                    <a:pt x="50" y="71"/>
                    <a:pt x="51" y="72"/>
                  </a:cubicBezTo>
                  <a:cubicBezTo>
                    <a:pt x="58" y="80"/>
                    <a:pt x="58" y="80"/>
                    <a:pt x="58" y="80"/>
                  </a:cubicBezTo>
                  <a:cubicBezTo>
                    <a:pt x="60" y="82"/>
                    <a:pt x="59" y="85"/>
                    <a:pt x="58" y="86"/>
                  </a:cubicBezTo>
                  <a:close/>
                  <a:moveTo>
                    <a:pt x="69" y="80"/>
                  </a:moveTo>
                  <a:cubicBezTo>
                    <a:pt x="68" y="81"/>
                    <a:pt x="67" y="81"/>
                    <a:pt x="66" y="81"/>
                  </a:cubicBezTo>
                  <a:cubicBezTo>
                    <a:pt x="65" y="81"/>
                    <a:pt x="64" y="81"/>
                    <a:pt x="63" y="80"/>
                  </a:cubicBezTo>
                  <a:cubicBezTo>
                    <a:pt x="54" y="70"/>
                    <a:pt x="54" y="70"/>
                    <a:pt x="54" y="70"/>
                  </a:cubicBezTo>
                  <a:cubicBezTo>
                    <a:pt x="53" y="68"/>
                    <a:pt x="53" y="65"/>
                    <a:pt x="55" y="63"/>
                  </a:cubicBezTo>
                  <a:cubicBezTo>
                    <a:pt x="57" y="62"/>
                    <a:pt x="60" y="62"/>
                    <a:pt x="61" y="64"/>
                  </a:cubicBezTo>
                  <a:cubicBezTo>
                    <a:pt x="69" y="74"/>
                    <a:pt x="69" y="74"/>
                    <a:pt x="69" y="74"/>
                  </a:cubicBezTo>
                  <a:cubicBezTo>
                    <a:pt x="71" y="76"/>
                    <a:pt x="71" y="79"/>
                    <a:pt x="69" y="80"/>
                  </a:cubicBezTo>
                  <a:close/>
                  <a:moveTo>
                    <a:pt x="80" y="74"/>
                  </a:moveTo>
                  <a:cubicBezTo>
                    <a:pt x="79" y="75"/>
                    <a:pt x="78" y="75"/>
                    <a:pt x="77" y="75"/>
                  </a:cubicBezTo>
                  <a:cubicBezTo>
                    <a:pt x="76" y="75"/>
                    <a:pt x="74" y="75"/>
                    <a:pt x="73" y="74"/>
                  </a:cubicBezTo>
                  <a:cubicBezTo>
                    <a:pt x="64" y="62"/>
                    <a:pt x="64" y="62"/>
                    <a:pt x="64" y="62"/>
                  </a:cubicBezTo>
                  <a:cubicBezTo>
                    <a:pt x="62" y="60"/>
                    <a:pt x="62" y="57"/>
                    <a:pt x="64" y="56"/>
                  </a:cubicBezTo>
                  <a:cubicBezTo>
                    <a:pt x="66" y="54"/>
                    <a:pt x="69" y="55"/>
                    <a:pt x="70" y="56"/>
                  </a:cubicBezTo>
                  <a:cubicBezTo>
                    <a:pt x="80" y="68"/>
                    <a:pt x="80" y="68"/>
                    <a:pt x="80" y="68"/>
                  </a:cubicBezTo>
                  <a:cubicBezTo>
                    <a:pt x="82" y="70"/>
                    <a:pt x="82" y="73"/>
                    <a:pt x="80" y="74"/>
                  </a:cubicBezTo>
                  <a:close/>
                  <a:moveTo>
                    <a:pt x="88" y="63"/>
                  </a:moveTo>
                  <a:cubicBezTo>
                    <a:pt x="87" y="64"/>
                    <a:pt x="86" y="64"/>
                    <a:pt x="85" y="64"/>
                  </a:cubicBezTo>
                  <a:cubicBezTo>
                    <a:pt x="84" y="64"/>
                    <a:pt x="83" y="64"/>
                    <a:pt x="82" y="63"/>
                  </a:cubicBezTo>
                  <a:cubicBezTo>
                    <a:pt x="74" y="53"/>
                    <a:pt x="74" y="53"/>
                    <a:pt x="74" y="53"/>
                  </a:cubicBezTo>
                  <a:cubicBezTo>
                    <a:pt x="72" y="52"/>
                    <a:pt x="72" y="49"/>
                    <a:pt x="74" y="47"/>
                  </a:cubicBezTo>
                  <a:cubicBezTo>
                    <a:pt x="76" y="46"/>
                    <a:pt x="79" y="46"/>
                    <a:pt x="80" y="48"/>
                  </a:cubicBezTo>
                  <a:cubicBezTo>
                    <a:pt x="88" y="57"/>
                    <a:pt x="88" y="57"/>
                    <a:pt x="88" y="57"/>
                  </a:cubicBezTo>
                  <a:cubicBezTo>
                    <a:pt x="90" y="59"/>
                    <a:pt x="90" y="62"/>
                    <a:pt x="88" y="63"/>
                  </a:cubicBezTo>
                  <a:close/>
                  <a:moveTo>
                    <a:pt x="99" y="52"/>
                  </a:moveTo>
                  <a:cubicBezTo>
                    <a:pt x="94" y="53"/>
                    <a:pt x="89" y="50"/>
                    <a:pt x="87" y="44"/>
                  </a:cubicBezTo>
                  <a:cubicBezTo>
                    <a:pt x="84" y="44"/>
                    <a:pt x="79" y="42"/>
                    <a:pt x="76" y="38"/>
                  </a:cubicBezTo>
                  <a:cubicBezTo>
                    <a:pt x="71" y="40"/>
                    <a:pt x="62" y="45"/>
                    <a:pt x="52" y="43"/>
                  </a:cubicBezTo>
                  <a:cubicBezTo>
                    <a:pt x="31" y="65"/>
                    <a:pt x="31" y="65"/>
                    <a:pt x="31" y="65"/>
                  </a:cubicBezTo>
                  <a:cubicBezTo>
                    <a:pt x="25" y="57"/>
                    <a:pt x="24" y="51"/>
                    <a:pt x="24" y="48"/>
                  </a:cubicBezTo>
                  <a:cubicBezTo>
                    <a:pt x="24" y="47"/>
                    <a:pt x="24" y="47"/>
                    <a:pt x="24" y="47"/>
                  </a:cubicBezTo>
                  <a:cubicBezTo>
                    <a:pt x="23" y="46"/>
                    <a:pt x="23" y="46"/>
                    <a:pt x="23" y="46"/>
                  </a:cubicBezTo>
                  <a:cubicBezTo>
                    <a:pt x="21" y="43"/>
                    <a:pt x="14" y="36"/>
                    <a:pt x="9" y="31"/>
                  </a:cubicBezTo>
                  <a:cubicBezTo>
                    <a:pt x="12" y="21"/>
                    <a:pt x="23" y="11"/>
                    <a:pt x="29" y="9"/>
                  </a:cubicBezTo>
                  <a:cubicBezTo>
                    <a:pt x="34" y="13"/>
                    <a:pt x="39" y="17"/>
                    <a:pt x="44" y="21"/>
                  </a:cubicBezTo>
                  <a:cubicBezTo>
                    <a:pt x="45" y="22"/>
                    <a:pt x="45" y="22"/>
                    <a:pt x="45" y="22"/>
                  </a:cubicBezTo>
                  <a:cubicBezTo>
                    <a:pt x="47" y="21"/>
                    <a:pt x="47" y="21"/>
                    <a:pt x="47" y="21"/>
                  </a:cubicBezTo>
                  <a:cubicBezTo>
                    <a:pt x="57" y="19"/>
                    <a:pt x="68" y="19"/>
                    <a:pt x="78" y="22"/>
                  </a:cubicBezTo>
                  <a:cubicBezTo>
                    <a:pt x="81" y="24"/>
                    <a:pt x="91" y="31"/>
                    <a:pt x="95" y="34"/>
                  </a:cubicBezTo>
                  <a:cubicBezTo>
                    <a:pt x="96" y="38"/>
                    <a:pt x="99" y="46"/>
                    <a:pt x="101" y="51"/>
                  </a:cubicBezTo>
                  <a:cubicBezTo>
                    <a:pt x="100" y="52"/>
                    <a:pt x="100" y="52"/>
                    <a:pt x="99" y="52"/>
                  </a:cubicBezTo>
                  <a:close/>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39" name="Freeform 40">
              <a:extLst>
                <a:ext uri="{FF2B5EF4-FFF2-40B4-BE49-F238E27FC236}">
                  <a16:creationId xmlns:a16="http://schemas.microsoft.com/office/drawing/2014/main" id="{25D8CBD0-2361-2AC6-D0D9-D965E8614888}"/>
                </a:ext>
              </a:extLst>
            </p:cNvPr>
            <p:cNvSpPr>
              <a:spLocks noEditPoints="1"/>
            </p:cNvSpPr>
            <p:nvPr/>
          </p:nvSpPr>
          <p:spPr bwMode="auto">
            <a:xfrm>
              <a:off x="9939975" y="2281694"/>
              <a:ext cx="561542" cy="558400"/>
            </a:xfrm>
            <a:custGeom>
              <a:avLst/>
              <a:gdLst>
                <a:gd name="T0" fmla="*/ 134 w 139"/>
                <a:gd name="T1" fmla="*/ 18 h 140"/>
                <a:gd name="T2" fmla="*/ 134 w 139"/>
                <a:gd name="T3" fmla="*/ 18 h 140"/>
                <a:gd name="T4" fmla="*/ 116 w 139"/>
                <a:gd name="T5" fmla="*/ 35 h 140"/>
                <a:gd name="T6" fmla="*/ 116 w 139"/>
                <a:gd name="T7" fmla="*/ 35 h 140"/>
                <a:gd name="T8" fmla="*/ 104 w 139"/>
                <a:gd name="T9" fmla="*/ 23 h 140"/>
                <a:gd name="T10" fmla="*/ 104 w 139"/>
                <a:gd name="T11" fmla="*/ 23 h 140"/>
                <a:gd name="T12" fmla="*/ 122 w 139"/>
                <a:gd name="T13" fmla="*/ 5 h 140"/>
                <a:gd name="T14" fmla="*/ 122 w 139"/>
                <a:gd name="T15" fmla="*/ 5 h 140"/>
                <a:gd name="T16" fmla="*/ 93 w 139"/>
                <a:gd name="T17" fmla="*/ 9 h 140"/>
                <a:gd name="T18" fmla="*/ 88 w 139"/>
                <a:gd name="T19" fmla="*/ 13 h 140"/>
                <a:gd name="T20" fmla="*/ 82 w 139"/>
                <a:gd name="T21" fmla="*/ 37 h 140"/>
                <a:gd name="T22" fmla="*/ 82 w 139"/>
                <a:gd name="T23" fmla="*/ 37 h 140"/>
                <a:gd name="T24" fmla="*/ 71 w 139"/>
                <a:gd name="T25" fmla="*/ 48 h 140"/>
                <a:gd name="T26" fmla="*/ 79 w 139"/>
                <a:gd name="T27" fmla="*/ 53 h 140"/>
                <a:gd name="T28" fmla="*/ 94 w 139"/>
                <a:gd name="T29" fmla="*/ 66 h 140"/>
                <a:gd name="T30" fmla="*/ 102 w 139"/>
                <a:gd name="T31" fmla="*/ 58 h 140"/>
                <a:gd name="T32" fmla="*/ 102 w 139"/>
                <a:gd name="T33" fmla="*/ 58 h 140"/>
                <a:gd name="T34" fmla="*/ 126 w 139"/>
                <a:gd name="T35" fmla="*/ 51 h 140"/>
                <a:gd name="T36" fmla="*/ 130 w 139"/>
                <a:gd name="T37" fmla="*/ 47 h 140"/>
                <a:gd name="T38" fmla="*/ 134 w 139"/>
                <a:gd name="T39" fmla="*/ 18 h 140"/>
                <a:gd name="T40" fmla="*/ 6 w 139"/>
                <a:gd name="T41" fmla="*/ 113 h 140"/>
                <a:gd name="T42" fmla="*/ 6 w 139"/>
                <a:gd name="T43" fmla="*/ 134 h 140"/>
                <a:gd name="T44" fmla="*/ 27 w 139"/>
                <a:gd name="T45" fmla="*/ 133 h 140"/>
                <a:gd name="T46" fmla="*/ 43 w 139"/>
                <a:gd name="T47" fmla="*/ 117 h 140"/>
                <a:gd name="T48" fmla="*/ 22 w 139"/>
                <a:gd name="T49" fmla="*/ 97 h 140"/>
                <a:gd name="T50" fmla="*/ 6 w 139"/>
                <a:gd name="T51" fmla="*/ 113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9" h="140">
                  <a:moveTo>
                    <a:pt x="134" y="18"/>
                  </a:moveTo>
                  <a:cubicBezTo>
                    <a:pt x="134" y="17"/>
                    <a:pt x="134" y="17"/>
                    <a:pt x="134" y="18"/>
                  </a:cubicBezTo>
                  <a:cubicBezTo>
                    <a:pt x="116" y="35"/>
                    <a:pt x="116" y="35"/>
                    <a:pt x="116" y="35"/>
                  </a:cubicBezTo>
                  <a:cubicBezTo>
                    <a:pt x="116" y="35"/>
                    <a:pt x="116" y="35"/>
                    <a:pt x="116" y="35"/>
                  </a:cubicBezTo>
                  <a:cubicBezTo>
                    <a:pt x="104" y="23"/>
                    <a:pt x="104" y="23"/>
                    <a:pt x="104" y="23"/>
                  </a:cubicBezTo>
                  <a:cubicBezTo>
                    <a:pt x="104" y="23"/>
                    <a:pt x="104" y="23"/>
                    <a:pt x="104" y="23"/>
                  </a:cubicBezTo>
                  <a:cubicBezTo>
                    <a:pt x="122" y="5"/>
                    <a:pt x="122" y="5"/>
                    <a:pt x="122" y="5"/>
                  </a:cubicBezTo>
                  <a:cubicBezTo>
                    <a:pt x="122" y="5"/>
                    <a:pt x="122" y="5"/>
                    <a:pt x="122" y="5"/>
                  </a:cubicBezTo>
                  <a:cubicBezTo>
                    <a:pt x="112" y="0"/>
                    <a:pt x="100" y="1"/>
                    <a:pt x="93" y="9"/>
                  </a:cubicBezTo>
                  <a:cubicBezTo>
                    <a:pt x="88" y="13"/>
                    <a:pt x="88" y="13"/>
                    <a:pt x="88" y="13"/>
                  </a:cubicBezTo>
                  <a:cubicBezTo>
                    <a:pt x="81" y="20"/>
                    <a:pt x="77" y="26"/>
                    <a:pt x="82" y="37"/>
                  </a:cubicBezTo>
                  <a:cubicBezTo>
                    <a:pt x="82" y="37"/>
                    <a:pt x="82" y="37"/>
                    <a:pt x="82" y="37"/>
                  </a:cubicBezTo>
                  <a:cubicBezTo>
                    <a:pt x="71" y="48"/>
                    <a:pt x="71" y="48"/>
                    <a:pt x="71" y="48"/>
                  </a:cubicBezTo>
                  <a:cubicBezTo>
                    <a:pt x="79" y="53"/>
                    <a:pt x="79" y="53"/>
                    <a:pt x="79" y="53"/>
                  </a:cubicBezTo>
                  <a:cubicBezTo>
                    <a:pt x="94" y="66"/>
                    <a:pt x="94" y="66"/>
                    <a:pt x="94" y="66"/>
                  </a:cubicBezTo>
                  <a:cubicBezTo>
                    <a:pt x="102" y="58"/>
                    <a:pt x="102" y="58"/>
                    <a:pt x="102" y="58"/>
                  </a:cubicBezTo>
                  <a:cubicBezTo>
                    <a:pt x="102" y="58"/>
                    <a:pt x="102" y="58"/>
                    <a:pt x="102" y="58"/>
                  </a:cubicBezTo>
                  <a:cubicBezTo>
                    <a:pt x="113" y="62"/>
                    <a:pt x="119" y="58"/>
                    <a:pt x="126" y="51"/>
                  </a:cubicBezTo>
                  <a:cubicBezTo>
                    <a:pt x="130" y="47"/>
                    <a:pt x="130" y="47"/>
                    <a:pt x="130" y="47"/>
                  </a:cubicBezTo>
                  <a:cubicBezTo>
                    <a:pt x="138" y="39"/>
                    <a:pt x="139" y="27"/>
                    <a:pt x="134" y="18"/>
                  </a:cubicBezTo>
                  <a:close/>
                  <a:moveTo>
                    <a:pt x="6" y="113"/>
                  </a:moveTo>
                  <a:cubicBezTo>
                    <a:pt x="0" y="119"/>
                    <a:pt x="0" y="129"/>
                    <a:pt x="6" y="134"/>
                  </a:cubicBezTo>
                  <a:cubicBezTo>
                    <a:pt x="12" y="140"/>
                    <a:pt x="21" y="139"/>
                    <a:pt x="27" y="133"/>
                  </a:cubicBezTo>
                  <a:cubicBezTo>
                    <a:pt x="43" y="117"/>
                    <a:pt x="43" y="117"/>
                    <a:pt x="43" y="117"/>
                  </a:cubicBezTo>
                  <a:cubicBezTo>
                    <a:pt x="22" y="97"/>
                    <a:pt x="22" y="97"/>
                    <a:pt x="22" y="97"/>
                  </a:cubicBezTo>
                  <a:lnTo>
                    <a:pt x="6" y="113"/>
                  </a:lnTo>
                  <a:close/>
                </a:path>
              </a:pathLst>
            </a:custGeom>
            <a:solidFill>
              <a:srgbClr val="46106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grpSp>
      <p:sp>
        <p:nvSpPr>
          <p:cNvPr id="441" name="TextBox 440">
            <a:extLst>
              <a:ext uri="{FF2B5EF4-FFF2-40B4-BE49-F238E27FC236}">
                <a16:creationId xmlns:a16="http://schemas.microsoft.com/office/drawing/2014/main" id="{E2324D32-69C2-CF49-6472-731C1E718259}"/>
              </a:ext>
            </a:extLst>
          </p:cNvPr>
          <p:cNvSpPr txBox="1"/>
          <p:nvPr/>
        </p:nvSpPr>
        <p:spPr>
          <a:xfrm>
            <a:off x="10474014" y="5431971"/>
            <a:ext cx="1618485" cy="1000274"/>
          </a:xfrm>
          <a:prstGeom prst="rect">
            <a:avLst/>
          </a:prstGeom>
          <a:noFill/>
          <a:ln>
            <a:noFill/>
          </a:ln>
        </p:spPr>
        <p:txBody>
          <a:bodyPr wrap="square" rtlCol="0">
            <a:spAutoFit/>
          </a:bodyPr>
          <a:lstStyle/>
          <a:p>
            <a:pPr marL="171450" marR="0" lvl="0" indent="-171450" fontAlgn="auto">
              <a:spcBef>
                <a:spcPts val="200"/>
              </a:spcBef>
              <a:spcAft>
                <a:spcPts val="200"/>
              </a:spcAft>
              <a:buClr>
                <a:schemeClr val="accent1"/>
              </a:buClr>
              <a:buSzTx/>
              <a:buFont typeface="Wingdings" panose="05000000000000000000" pitchFamily="2" charset="2"/>
              <a:buChar char="§"/>
              <a:tabLst/>
              <a:defRPr/>
            </a:pPr>
            <a:r>
              <a:rPr lang="en-US" sz="700">
                <a:cs typeface="Calibri" pitchFamily="34" charset="0"/>
              </a:rPr>
              <a:t>Not having  the right participants in the room  delays the process</a:t>
            </a:r>
          </a:p>
          <a:p>
            <a:pPr marL="171450" marR="0" lvl="0" indent="-171450" fontAlgn="auto">
              <a:spcBef>
                <a:spcPts val="200"/>
              </a:spcBef>
              <a:spcAft>
                <a:spcPts val="200"/>
              </a:spcAft>
              <a:buClr>
                <a:schemeClr val="accent1"/>
              </a:buClr>
              <a:buSzTx/>
              <a:buFont typeface="Wingdings" panose="05000000000000000000" pitchFamily="2" charset="2"/>
              <a:buChar char="§"/>
              <a:tabLst/>
              <a:defRPr/>
            </a:pPr>
            <a:r>
              <a:rPr lang="en-US" sz="700">
                <a:cs typeface="Calibri" pitchFamily="34" charset="0"/>
              </a:rPr>
              <a:t>Missing the big picture</a:t>
            </a:r>
          </a:p>
          <a:p>
            <a:pPr marL="171450" marR="0" lvl="0" indent="-171450" fontAlgn="auto">
              <a:spcBef>
                <a:spcPts val="200"/>
              </a:spcBef>
              <a:spcAft>
                <a:spcPts val="200"/>
              </a:spcAft>
              <a:buClr>
                <a:schemeClr val="accent1"/>
              </a:buClr>
              <a:buSzTx/>
              <a:buFont typeface="Wingdings" panose="05000000000000000000" pitchFamily="2" charset="2"/>
              <a:buChar char="§"/>
              <a:tabLst/>
              <a:defRPr/>
            </a:pPr>
            <a:r>
              <a:rPr lang="en-US" sz="700">
                <a:cs typeface="Calibri" pitchFamily="34" charset="0"/>
              </a:rPr>
              <a:t>Trying to create Perfect Solution</a:t>
            </a:r>
          </a:p>
          <a:p>
            <a:pPr marL="171450" indent="-171450">
              <a:spcBef>
                <a:spcPts val="200"/>
              </a:spcBef>
              <a:spcAft>
                <a:spcPts val="200"/>
              </a:spcAft>
              <a:buClr>
                <a:schemeClr val="accent1"/>
              </a:buClr>
              <a:buFont typeface="Wingdings" panose="05000000000000000000" pitchFamily="2" charset="2"/>
              <a:buChar char="§"/>
              <a:defRPr/>
            </a:pPr>
            <a:r>
              <a:rPr lang="en-US" sz="700">
                <a:cs typeface="Calibri" pitchFamily="34" charset="0"/>
              </a:rPr>
              <a:t>Procrastination &amp; indecisive</a:t>
            </a:r>
          </a:p>
        </p:txBody>
      </p:sp>
      <p:sp>
        <p:nvSpPr>
          <p:cNvPr id="549" name="Freeform 402">
            <a:extLst>
              <a:ext uri="{FF2B5EF4-FFF2-40B4-BE49-F238E27FC236}">
                <a16:creationId xmlns:a16="http://schemas.microsoft.com/office/drawing/2014/main" id="{17D5E50A-5B7B-F5AA-C5B7-CF0B784B256C}"/>
              </a:ext>
            </a:extLst>
          </p:cNvPr>
          <p:cNvSpPr>
            <a:spLocks noEditPoints="1"/>
          </p:cNvSpPr>
          <p:nvPr/>
        </p:nvSpPr>
        <p:spPr bwMode="auto">
          <a:xfrm>
            <a:off x="10398288" y="831317"/>
            <a:ext cx="408938" cy="328738"/>
          </a:xfrm>
          <a:custGeom>
            <a:avLst/>
            <a:gdLst/>
            <a:ahLst/>
            <a:cxnLst>
              <a:cxn ang="0">
                <a:pos x="149" y="45"/>
              </a:cxn>
              <a:cxn ang="0">
                <a:pos x="169" y="94"/>
              </a:cxn>
              <a:cxn ang="0">
                <a:pos x="151" y="96"/>
              </a:cxn>
              <a:cxn ang="0">
                <a:pos x="176" y="48"/>
              </a:cxn>
              <a:cxn ang="0">
                <a:pos x="191" y="44"/>
              </a:cxn>
              <a:cxn ang="0">
                <a:pos x="179" y="29"/>
              </a:cxn>
              <a:cxn ang="0">
                <a:pos x="172" y="19"/>
              </a:cxn>
              <a:cxn ang="0">
                <a:pos x="164" y="0"/>
              </a:cxn>
              <a:cxn ang="0">
                <a:pos x="146" y="1"/>
              </a:cxn>
              <a:cxn ang="0">
                <a:pos x="139" y="20"/>
              </a:cxn>
              <a:cxn ang="0">
                <a:pos x="134" y="30"/>
              </a:cxn>
              <a:cxn ang="0">
                <a:pos x="122" y="46"/>
              </a:cxn>
              <a:cxn ang="0">
                <a:pos x="132" y="61"/>
              </a:cxn>
              <a:cxn ang="0">
                <a:pos x="151" y="58"/>
              </a:cxn>
              <a:cxn ang="0">
                <a:pos x="165" y="60"/>
              </a:cxn>
              <a:cxn ang="0">
                <a:pos x="177" y="76"/>
              </a:cxn>
              <a:cxn ang="0">
                <a:pos x="186" y="83"/>
              </a:cxn>
              <a:cxn ang="0">
                <a:pos x="204" y="92"/>
              </a:cxn>
              <a:cxn ang="0">
                <a:pos x="205" y="108"/>
              </a:cxn>
              <a:cxn ang="0">
                <a:pos x="189" y="120"/>
              </a:cxn>
              <a:cxn ang="0">
                <a:pos x="181" y="128"/>
              </a:cxn>
              <a:cxn ang="0">
                <a:pos x="173" y="146"/>
              </a:cxn>
              <a:cxn ang="0">
                <a:pos x="157" y="148"/>
              </a:cxn>
              <a:cxn ang="0">
                <a:pos x="145" y="132"/>
              </a:cxn>
              <a:cxn ang="0">
                <a:pos x="136" y="124"/>
              </a:cxn>
              <a:cxn ang="0">
                <a:pos x="118" y="115"/>
              </a:cxn>
              <a:cxn ang="0">
                <a:pos x="117" y="99"/>
              </a:cxn>
              <a:cxn ang="0">
                <a:pos x="132" y="86"/>
              </a:cxn>
              <a:cxn ang="0">
                <a:pos x="128" y="64"/>
              </a:cxn>
              <a:cxn ang="0">
                <a:pos x="105" y="47"/>
              </a:cxn>
              <a:cxn ang="0">
                <a:pos x="95" y="33"/>
              </a:cxn>
              <a:cxn ang="0">
                <a:pos x="82" y="7"/>
              </a:cxn>
              <a:cxn ang="0">
                <a:pos x="59" y="5"/>
              </a:cxn>
              <a:cxn ang="0">
                <a:pos x="42" y="28"/>
              </a:cxn>
              <a:cxn ang="0">
                <a:pos x="29" y="39"/>
              </a:cxn>
              <a:cxn ang="0">
                <a:pos x="2" y="51"/>
              </a:cxn>
              <a:cxn ang="0">
                <a:pos x="0" y="74"/>
              </a:cxn>
              <a:cxn ang="0">
                <a:pos x="23" y="91"/>
              </a:cxn>
              <a:cxn ang="0">
                <a:pos x="34" y="104"/>
              </a:cxn>
              <a:cxn ang="0">
                <a:pos x="46" y="131"/>
              </a:cxn>
              <a:cxn ang="0">
                <a:pos x="69" y="133"/>
              </a:cxn>
              <a:cxn ang="0">
                <a:pos x="87" y="110"/>
              </a:cxn>
              <a:cxn ang="0">
                <a:pos x="100" y="99"/>
              </a:cxn>
              <a:cxn ang="0">
                <a:pos x="61" y="51"/>
              </a:cxn>
            </a:cxnLst>
            <a:rect l="0" t="0" r="r" b="b"/>
            <a:pathLst>
              <a:path w="205" h="148">
                <a:moveTo>
                  <a:pt x="164" y="27"/>
                </a:moveTo>
                <a:cubicBezTo>
                  <a:pt x="169" y="31"/>
                  <a:pt x="169" y="38"/>
                  <a:pt x="165" y="43"/>
                </a:cubicBezTo>
                <a:cubicBezTo>
                  <a:pt x="161" y="48"/>
                  <a:pt x="154" y="49"/>
                  <a:pt x="149" y="45"/>
                </a:cubicBezTo>
                <a:cubicBezTo>
                  <a:pt x="144" y="41"/>
                  <a:pt x="143" y="33"/>
                  <a:pt x="147" y="28"/>
                </a:cubicBezTo>
                <a:cubicBezTo>
                  <a:pt x="152" y="23"/>
                  <a:pt x="159" y="23"/>
                  <a:pt x="164" y="27"/>
                </a:cubicBezTo>
                <a:close/>
                <a:moveTo>
                  <a:pt x="169" y="94"/>
                </a:moveTo>
                <a:cubicBezTo>
                  <a:pt x="174" y="98"/>
                  <a:pt x="175" y="106"/>
                  <a:pt x="171" y="112"/>
                </a:cubicBezTo>
                <a:cubicBezTo>
                  <a:pt x="166" y="117"/>
                  <a:pt x="158" y="118"/>
                  <a:pt x="153" y="113"/>
                </a:cubicBezTo>
                <a:cubicBezTo>
                  <a:pt x="147" y="109"/>
                  <a:pt x="147" y="101"/>
                  <a:pt x="151" y="96"/>
                </a:cubicBezTo>
                <a:cubicBezTo>
                  <a:pt x="156" y="90"/>
                  <a:pt x="164" y="89"/>
                  <a:pt x="169" y="94"/>
                </a:cubicBezTo>
                <a:close/>
                <a:moveTo>
                  <a:pt x="183" y="60"/>
                </a:moveTo>
                <a:cubicBezTo>
                  <a:pt x="176" y="48"/>
                  <a:pt x="176" y="48"/>
                  <a:pt x="176" y="48"/>
                </a:cubicBezTo>
                <a:cubicBezTo>
                  <a:pt x="176" y="48"/>
                  <a:pt x="177" y="47"/>
                  <a:pt x="177" y="46"/>
                </a:cubicBezTo>
                <a:cubicBezTo>
                  <a:pt x="178" y="46"/>
                  <a:pt x="178" y="45"/>
                  <a:pt x="178" y="44"/>
                </a:cubicBezTo>
                <a:cubicBezTo>
                  <a:pt x="191" y="44"/>
                  <a:pt x="191" y="44"/>
                  <a:pt x="191" y="44"/>
                </a:cubicBezTo>
                <a:cubicBezTo>
                  <a:pt x="192" y="37"/>
                  <a:pt x="192" y="37"/>
                  <a:pt x="192" y="37"/>
                </a:cubicBezTo>
                <a:cubicBezTo>
                  <a:pt x="180" y="33"/>
                  <a:pt x="180" y="33"/>
                  <a:pt x="180" y="33"/>
                </a:cubicBezTo>
                <a:cubicBezTo>
                  <a:pt x="180" y="31"/>
                  <a:pt x="179" y="30"/>
                  <a:pt x="179" y="29"/>
                </a:cubicBezTo>
                <a:cubicBezTo>
                  <a:pt x="189" y="20"/>
                  <a:pt x="189" y="20"/>
                  <a:pt x="189" y="20"/>
                </a:cubicBezTo>
                <a:cubicBezTo>
                  <a:pt x="185" y="14"/>
                  <a:pt x="185" y="14"/>
                  <a:pt x="185" y="14"/>
                </a:cubicBezTo>
                <a:cubicBezTo>
                  <a:pt x="172" y="19"/>
                  <a:pt x="172" y="19"/>
                  <a:pt x="172" y="19"/>
                </a:cubicBezTo>
                <a:cubicBezTo>
                  <a:pt x="171" y="18"/>
                  <a:pt x="170" y="17"/>
                  <a:pt x="169" y="16"/>
                </a:cubicBezTo>
                <a:cubicBezTo>
                  <a:pt x="171" y="3"/>
                  <a:pt x="171" y="3"/>
                  <a:pt x="171" y="3"/>
                </a:cubicBezTo>
                <a:cubicBezTo>
                  <a:pt x="164" y="0"/>
                  <a:pt x="164" y="0"/>
                  <a:pt x="164" y="0"/>
                </a:cubicBezTo>
                <a:cubicBezTo>
                  <a:pt x="158" y="12"/>
                  <a:pt x="158" y="12"/>
                  <a:pt x="158" y="12"/>
                </a:cubicBezTo>
                <a:cubicBezTo>
                  <a:pt x="156" y="12"/>
                  <a:pt x="155" y="12"/>
                  <a:pt x="153" y="12"/>
                </a:cubicBezTo>
                <a:cubicBezTo>
                  <a:pt x="146" y="1"/>
                  <a:pt x="146" y="1"/>
                  <a:pt x="146" y="1"/>
                </a:cubicBezTo>
                <a:cubicBezTo>
                  <a:pt x="140" y="4"/>
                  <a:pt x="140" y="4"/>
                  <a:pt x="140" y="4"/>
                </a:cubicBezTo>
                <a:cubicBezTo>
                  <a:pt x="142" y="17"/>
                  <a:pt x="142" y="17"/>
                  <a:pt x="142" y="17"/>
                </a:cubicBezTo>
                <a:cubicBezTo>
                  <a:pt x="141" y="18"/>
                  <a:pt x="140" y="19"/>
                  <a:pt x="139" y="20"/>
                </a:cubicBezTo>
                <a:cubicBezTo>
                  <a:pt x="127" y="16"/>
                  <a:pt x="127" y="16"/>
                  <a:pt x="127" y="16"/>
                </a:cubicBezTo>
                <a:cubicBezTo>
                  <a:pt x="123" y="22"/>
                  <a:pt x="123" y="22"/>
                  <a:pt x="123" y="22"/>
                </a:cubicBezTo>
                <a:cubicBezTo>
                  <a:pt x="134" y="30"/>
                  <a:pt x="134" y="30"/>
                  <a:pt x="134" y="30"/>
                </a:cubicBezTo>
                <a:cubicBezTo>
                  <a:pt x="133" y="32"/>
                  <a:pt x="133" y="33"/>
                  <a:pt x="133" y="34"/>
                </a:cubicBezTo>
                <a:cubicBezTo>
                  <a:pt x="121" y="39"/>
                  <a:pt x="121" y="39"/>
                  <a:pt x="121" y="39"/>
                </a:cubicBezTo>
                <a:cubicBezTo>
                  <a:pt x="122" y="46"/>
                  <a:pt x="122" y="46"/>
                  <a:pt x="122" y="46"/>
                </a:cubicBezTo>
                <a:cubicBezTo>
                  <a:pt x="136" y="46"/>
                  <a:pt x="136" y="46"/>
                  <a:pt x="136" y="46"/>
                </a:cubicBezTo>
                <a:cubicBezTo>
                  <a:pt x="136" y="47"/>
                  <a:pt x="137" y="49"/>
                  <a:pt x="138" y="50"/>
                </a:cubicBezTo>
                <a:cubicBezTo>
                  <a:pt x="132" y="61"/>
                  <a:pt x="132" y="61"/>
                  <a:pt x="132" y="61"/>
                </a:cubicBezTo>
                <a:cubicBezTo>
                  <a:pt x="137" y="66"/>
                  <a:pt x="137" y="66"/>
                  <a:pt x="137" y="66"/>
                </a:cubicBezTo>
                <a:cubicBezTo>
                  <a:pt x="147" y="57"/>
                  <a:pt x="147" y="57"/>
                  <a:pt x="147" y="57"/>
                </a:cubicBezTo>
                <a:cubicBezTo>
                  <a:pt x="149" y="58"/>
                  <a:pt x="150" y="58"/>
                  <a:pt x="151" y="58"/>
                </a:cubicBezTo>
                <a:cubicBezTo>
                  <a:pt x="155" y="71"/>
                  <a:pt x="155" y="71"/>
                  <a:pt x="155" y="71"/>
                </a:cubicBezTo>
                <a:cubicBezTo>
                  <a:pt x="161" y="72"/>
                  <a:pt x="161" y="72"/>
                  <a:pt x="161" y="72"/>
                </a:cubicBezTo>
                <a:cubicBezTo>
                  <a:pt x="165" y="60"/>
                  <a:pt x="165" y="60"/>
                  <a:pt x="165" y="60"/>
                </a:cubicBezTo>
                <a:cubicBezTo>
                  <a:pt x="172" y="61"/>
                  <a:pt x="172" y="61"/>
                  <a:pt x="172" y="61"/>
                </a:cubicBezTo>
                <a:cubicBezTo>
                  <a:pt x="172" y="74"/>
                  <a:pt x="172" y="74"/>
                  <a:pt x="172" y="74"/>
                </a:cubicBezTo>
                <a:cubicBezTo>
                  <a:pt x="174" y="74"/>
                  <a:pt x="175" y="75"/>
                  <a:pt x="177" y="76"/>
                </a:cubicBezTo>
                <a:cubicBezTo>
                  <a:pt x="187" y="68"/>
                  <a:pt x="187" y="68"/>
                  <a:pt x="187" y="68"/>
                </a:cubicBezTo>
                <a:cubicBezTo>
                  <a:pt x="192" y="72"/>
                  <a:pt x="192" y="72"/>
                  <a:pt x="192" y="72"/>
                </a:cubicBezTo>
                <a:cubicBezTo>
                  <a:pt x="186" y="83"/>
                  <a:pt x="186" y="83"/>
                  <a:pt x="186" y="83"/>
                </a:cubicBezTo>
                <a:cubicBezTo>
                  <a:pt x="187" y="85"/>
                  <a:pt x="188" y="86"/>
                  <a:pt x="189" y="87"/>
                </a:cubicBezTo>
                <a:cubicBezTo>
                  <a:pt x="201" y="85"/>
                  <a:pt x="201" y="85"/>
                  <a:pt x="201" y="85"/>
                </a:cubicBezTo>
                <a:cubicBezTo>
                  <a:pt x="204" y="92"/>
                  <a:pt x="204" y="92"/>
                  <a:pt x="204" y="92"/>
                </a:cubicBezTo>
                <a:cubicBezTo>
                  <a:pt x="193" y="98"/>
                  <a:pt x="193" y="98"/>
                  <a:pt x="193" y="98"/>
                </a:cubicBezTo>
                <a:cubicBezTo>
                  <a:pt x="193" y="100"/>
                  <a:pt x="193" y="102"/>
                  <a:pt x="193" y="103"/>
                </a:cubicBezTo>
                <a:cubicBezTo>
                  <a:pt x="205" y="108"/>
                  <a:pt x="205" y="108"/>
                  <a:pt x="205" y="108"/>
                </a:cubicBezTo>
                <a:cubicBezTo>
                  <a:pt x="204" y="115"/>
                  <a:pt x="204" y="115"/>
                  <a:pt x="204" y="115"/>
                </a:cubicBezTo>
                <a:cubicBezTo>
                  <a:pt x="191" y="115"/>
                  <a:pt x="191" y="115"/>
                  <a:pt x="191" y="115"/>
                </a:cubicBezTo>
                <a:cubicBezTo>
                  <a:pt x="190" y="117"/>
                  <a:pt x="190" y="118"/>
                  <a:pt x="189" y="120"/>
                </a:cubicBezTo>
                <a:cubicBezTo>
                  <a:pt x="197" y="129"/>
                  <a:pt x="197" y="129"/>
                  <a:pt x="197" y="129"/>
                </a:cubicBezTo>
                <a:cubicBezTo>
                  <a:pt x="192" y="135"/>
                  <a:pt x="192" y="135"/>
                  <a:pt x="192" y="135"/>
                </a:cubicBezTo>
                <a:cubicBezTo>
                  <a:pt x="181" y="128"/>
                  <a:pt x="181" y="128"/>
                  <a:pt x="181" y="128"/>
                </a:cubicBezTo>
                <a:cubicBezTo>
                  <a:pt x="180" y="130"/>
                  <a:pt x="179" y="131"/>
                  <a:pt x="177" y="131"/>
                </a:cubicBezTo>
                <a:cubicBezTo>
                  <a:pt x="179" y="144"/>
                  <a:pt x="179" y="144"/>
                  <a:pt x="179" y="144"/>
                </a:cubicBezTo>
                <a:cubicBezTo>
                  <a:pt x="173" y="146"/>
                  <a:pt x="173" y="146"/>
                  <a:pt x="173" y="146"/>
                </a:cubicBezTo>
                <a:cubicBezTo>
                  <a:pt x="166" y="135"/>
                  <a:pt x="166" y="135"/>
                  <a:pt x="166" y="135"/>
                </a:cubicBezTo>
                <a:cubicBezTo>
                  <a:pt x="165" y="136"/>
                  <a:pt x="163" y="136"/>
                  <a:pt x="161" y="136"/>
                </a:cubicBezTo>
                <a:cubicBezTo>
                  <a:pt x="157" y="148"/>
                  <a:pt x="157" y="148"/>
                  <a:pt x="157" y="148"/>
                </a:cubicBezTo>
                <a:cubicBezTo>
                  <a:pt x="150" y="147"/>
                  <a:pt x="150" y="147"/>
                  <a:pt x="150" y="147"/>
                </a:cubicBezTo>
                <a:cubicBezTo>
                  <a:pt x="150" y="134"/>
                  <a:pt x="150" y="134"/>
                  <a:pt x="150" y="134"/>
                </a:cubicBezTo>
                <a:cubicBezTo>
                  <a:pt x="148" y="133"/>
                  <a:pt x="147" y="132"/>
                  <a:pt x="145" y="132"/>
                </a:cubicBezTo>
                <a:cubicBezTo>
                  <a:pt x="135" y="140"/>
                  <a:pt x="135" y="140"/>
                  <a:pt x="135" y="140"/>
                </a:cubicBezTo>
                <a:cubicBezTo>
                  <a:pt x="130" y="135"/>
                  <a:pt x="130" y="135"/>
                  <a:pt x="130" y="135"/>
                </a:cubicBezTo>
                <a:cubicBezTo>
                  <a:pt x="136" y="124"/>
                  <a:pt x="136" y="124"/>
                  <a:pt x="136" y="124"/>
                </a:cubicBezTo>
                <a:cubicBezTo>
                  <a:pt x="135" y="123"/>
                  <a:pt x="134" y="121"/>
                  <a:pt x="133" y="120"/>
                </a:cubicBezTo>
                <a:cubicBezTo>
                  <a:pt x="121" y="122"/>
                  <a:pt x="121" y="122"/>
                  <a:pt x="121" y="122"/>
                </a:cubicBezTo>
                <a:cubicBezTo>
                  <a:pt x="118" y="115"/>
                  <a:pt x="118" y="115"/>
                  <a:pt x="118" y="115"/>
                </a:cubicBezTo>
                <a:cubicBezTo>
                  <a:pt x="129" y="109"/>
                  <a:pt x="129" y="109"/>
                  <a:pt x="129" y="109"/>
                </a:cubicBezTo>
                <a:cubicBezTo>
                  <a:pt x="129" y="107"/>
                  <a:pt x="129" y="106"/>
                  <a:pt x="129" y="104"/>
                </a:cubicBezTo>
                <a:cubicBezTo>
                  <a:pt x="117" y="99"/>
                  <a:pt x="117" y="99"/>
                  <a:pt x="117" y="99"/>
                </a:cubicBezTo>
                <a:cubicBezTo>
                  <a:pt x="118" y="92"/>
                  <a:pt x="118" y="92"/>
                  <a:pt x="118" y="92"/>
                </a:cubicBezTo>
                <a:cubicBezTo>
                  <a:pt x="131" y="92"/>
                  <a:pt x="131" y="92"/>
                  <a:pt x="131" y="92"/>
                </a:cubicBezTo>
                <a:cubicBezTo>
                  <a:pt x="131" y="91"/>
                  <a:pt x="131" y="88"/>
                  <a:pt x="132" y="86"/>
                </a:cubicBezTo>
                <a:cubicBezTo>
                  <a:pt x="111" y="81"/>
                  <a:pt x="111" y="81"/>
                  <a:pt x="111" y="81"/>
                </a:cubicBezTo>
                <a:cubicBezTo>
                  <a:pt x="111" y="81"/>
                  <a:pt x="111" y="73"/>
                  <a:pt x="111" y="70"/>
                </a:cubicBezTo>
                <a:cubicBezTo>
                  <a:pt x="128" y="64"/>
                  <a:pt x="128" y="64"/>
                  <a:pt x="128" y="64"/>
                </a:cubicBezTo>
                <a:cubicBezTo>
                  <a:pt x="127" y="54"/>
                  <a:pt x="127" y="54"/>
                  <a:pt x="127" y="54"/>
                </a:cubicBezTo>
                <a:cubicBezTo>
                  <a:pt x="108" y="53"/>
                  <a:pt x="108" y="53"/>
                  <a:pt x="108" y="53"/>
                </a:cubicBezTo>
                <a:cubicBezTo>
                  <a:pt x="107" y="51"/>
                  <a:pt x="106" y="49"/>
                  <a:pt x="105" y="47"/>
                </a:cubicBezTo>
                <a:cubicBezTo>
                  <a:pt x="117" y="33"/>
                  <a:pt x="117" y="33"/>
                  <a:pt x="117" y="33"/>
                </a:cubicBezTo>
                <a:cubicBezTo>
                  <a:pt x="111" y="25"/>
                  <a:pt x="111" y="25"/>
                  <a:pt x="111" y="25"/>
                </a:cubicBezTo>
                <a:cubicBezTo>
                  <a:pt x="95" y="33"/>
                  <a:pt x="95" y="33"/>
                  <a:pt x="95" y="33"/>
                </a:cubicBezTo>
                <a:cubicBezTo>
                  <a:pt x="93" y="32"/>
                  <a:pt x="91" y="30"/>
                  <a:pt x="89" y="29"/>
                </a:cubicBezTo>
                <a:cubicBezTo>
                  <a:pt x="92" y="11"/>
                  <a:pt x="92" y="11"/>
                  <a:pt x="92" y="11"/>
                </a:cubicBezTo>
                <a:cubicBezTo>
                  <a:pt x="82" y="7"/>
                  <a:pt x="82" y="7"/>
                  <a:pt x="82" y="7"/>
                </a:cubicBezTo>
                <a:cubicBezTo>
                  <a:pt x="73" y="23"/>
                  <a:pt x="73" y="23"/>
                  <a:pt x="73" y="23"/>
                </a:cubicBezTo>
                <a:cubicBezTo>
                  <a:pt x="70" y="23"/>
                  <a:pt x="68" y="22"/>
                  <a:pt x="65" y="22"/>
                </a:cubicBezTo>
                <a:cubicBezTo>
                  <a:pt x="59" y="5"/>
                  <a:pt x="59" y="5"/>
                  <a:pt x="59" y="5"/>
                </a:cubicBezTo>
                <a:cubicBezTo>
                  <a:pt x="49" y="6"/>
                  <a:pt x="49" y="6"/>
                  <a:pt x="49" y="6"/>
                </a:cubicBezTo>
                <a:cubicBezTo>
                  <a:pt x="49" y="25"/>
                  <a:pt x="49" y="25"/>
                  <a:pt x="49" y="25"/>
                </a:cubicBezTo>
                <a:cubicBezTo>
                  <a:pt x="46" y="26"/>
                  <a:pt x="44" y="27"/>
                  <a:pt x="42" y="28"/>
                </a:cubicBezTo>
                <a:cubicBezTo>
                  <a:pt x="28" y="16"/>
                  <a:pt x="28" y="16"/>
                  <a:pt x="28" y="16"/>
                </a:cubicBezTo>
                <a:cubicBezTo>
                  <a:pt x="20" y="22"/>
                  <a:pt x="20" y="22"/>
                  <a:pt x="20" y="22"/>
                </a:cubicBezTo>
                <a:cubicBezTo>
                  <a:pt x="29" y="39"/>
                  <a:pt x="29" y="39"/>
                  <a:pt x="29" y="39"/>
                </a:cubicBezTo>
                <a:cubicBezTo>
                  <a:pt x="27" y="40"/>
                  <a:pt x="26" y="42"/>
                  <a:pt x="24" y="44"/>
                </a:cubicBezTo>
                <a:cubicBezTo>
                  <a:pt x="6" y="41"/>
                  <a:pt x="6" y="41"/>
                  <a:pt x="6" y="41"/>
                </a:cubicBezTo>
                <a:cubicBezTo>
                  <a:pt x="2" y="51"/>
                  <a:pt x="2" y="51"/>
                  <a:pt x="2" y="51"/>
                </a:cubicBezTo>
                <a:cubicBezTo>
                  <a:pt x="18" y="60"/>
                  <a:pt x="18" y="60"/>
                  <a:pt x="18" y="60"/>
                </a:cubicBezTo>
                <a:cubicBezTo>
                  <a:pt x="18" y="63"/>
                  <a:pt x="18" y="65"/>
                  <a:pt x="18" y="68"/>
                </a:cubicBezTo>
                <a:cubicBezTo>
                  <a:pt x="0" y="74"/>
                  <a:pt x="0" y="74"/>
                  <a:pt x="0" y="74"/>
                </a:cubicBezTo>
                <a:cubicBezTo>
                  <a:pt x="2" y="84"/>
                  <a:pt x="2" y="84"/>
                  <a:pt x="2" y="84"/>
                </a:cubicBezTo>
                <a:cubicBezTo>
                  <a:pt x="20" y="84"/>
                  <a:pt x="20" y="84"/>
                  <a:pt x="20" y="84"/>
                </a:cubicBezTo>
                <a:cubicBezTo>
                  <a:pt x="21" y="87"/>
                  <a:pt x="22" y="89"/>
                  <a:pt x="23" y="91"/>
                </a:cubicBezTo>
                <a:cubicBezTo>
                  <a:pt x="11" y="105"/>
                  <a:pt x="11" y="105"/>
                  <a:pt x="11" y="105"/>
                </a:cubicBezTo>
                <a:cubicBezTo>
                  <a:pt x="18" y="113"/>
                  <a:pt x="18" y="113"/>
                  <a:pt x="18" y="113"/>
                </a:cubicBezTo>
                <a:cubicBezTo>
                  <a:pt x="34" y="104"/>
                  <a:pt x="34" y="104"/>
                  <a:pt x="34" y="104"/>
                </a:cubicBezTo>
                <a:cubicBezTo>
                  <a:pt x="36" y="106"/>
                  <a:pt x="38" y="107"/>
                  <a:pt x="40" y="109"/>
                </a:cubicBezTo>
                <a:cubicBezTo>
                  <a:pt x="36" y="127"/>
                  <a:pt x="36" y="127"/>
                  <a:pt x="36" y="127"/>
                </a:cubicBezTo>
                <a:cubicBezTo>
                  <a:pt x="46" y="131"/>
                  <a:pt x="46" y="131"/>
                  <a:pt x="46" y="131"/>
                </a:cubicBezTo>
                <a:cubicBezTo>
                  <a:pt x="56" y="115"/>
                  <a:pt x="56" y="115"/>
                  <a:pt x="56" y="115"/>
                </a:cubicBezTo>
                <a:cubicBezTo>
                  <a:pt x="58" y="115"/>
                  <a:pt x="61" y="115"/>
                  <a:pt x="63" y="115"/>
                </a:cubicBezTo>
                <a:cubicBezTo>
                  <a:pt x="69" y="133"/>
                  <a:pt x="69" y="133"/>
                  <a:pt x="69" y="133"/>
                </a:cubicBezTo>
                <a:cubicBezTo>
                  <a:pt x="79" y="131"/>
                  <a:pt x="79" y="131"/>
                  <a:pt x="79" y="131"/>
                </a:cubicBezTo>
                <a:cubicBezTo>
                  <a:pt x="80" y="113"/>
                  <a:pt x="80" y="113"/>
                  <a:pt x="80" y="113"/>
                </a:cubicBezTo>
                <a:cubicBezTo>
                  <a:pt x="82" y="112"/>
                  <a:pt x="84" y="111"/>
                  <a:pt x="87" y="110"/>
                </a:cubicBezTo>
                <a:cubicBezTo>
                  <a:pt x="101" y="122"/>
                  <a:pt x="101" y="122"/>
                  <a:pt x="101" y="122"/>
                </a:cubicBezTo>
                <a:cubicBezTo>
                  <a:pt x="109" y="116"/>
                  <a:pt x="109" y="116"/>
                  <a:pt x="109" y="116"/>
                </a:cubicBezTo>
                <a:cubicBezTo>
                  <a:pt x="100" y="99"/>
                  <a:pt x="100" y="99"/>
                  <a:pt x="100" y="99"/>
                </a:cubicBezTo>
                <a:moveTo>
                  <a:pt x="67" y="87"/>
                </a:moveTo>
                <a:cubicBezTo>
                  <a:pt x="57" y="89"/>
                  <a:pt x="48" y="82"/>
                  <a:pt x="46" y="72"/>
                </a:cubicBezTo>
                <a:cubicBezTo>
                  <a:pt x="44" y="62"/>
                  <a:pt x="51" y="52"/>
                  <a:pt x="61" y="51"/>
                </a:cubicBezTo>
                <a:cubicBezTo>
                  <a:pt x="71" y="49"/>
                  <a:pt x="81" y="56"/>
                  <a:pt x="82" y="66"/>
                </a:cubicBezTo>
                <a:cubicBezTo>
                  <a:pt x="84" y="76"/>
                  <a:pt x="77" y="85"/>
                  <a:pt x="67" y="87"/>
                </a:cubicBezTo>
                <a:close/>
              </a:path>
            </a:pathLst>
          </a:custGeom>
          <a:noFill/>
          <a:ln w="19050" cap="rnd">
            <a:solidFill>
              <a:schemeClr val="accent3">
                <a:lumMod val="75000"/>
              </a:scheme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a:ln>
                <a:noFill/>
              </a:ln>
              <a:solidFill>
                <a:prstClr val="black"/>
              </a:solidFill>
              <a:effectLst/>
              <a:uLnTx/>
              <a:uFillTx/>
              <a:latin typeface="Ubuntu Medium"/>
              <a:ea typeface="+mn-ea"/>
              <a:cs typeface="Arial" pitchFamily="34" charset="0"/>
            </a:endParaRPr>
          </a:p>
        </p:txBody>
      </p:sp>
      <p:sp>
        <p:nvSpPr>
          <p:cNvPr id="550" name="Rounded Rectangle 67">
            <a:extLst>
              <a:ext uri="{FF2B5EF4-FFF2-40B4-BE49-F238E27FC236}">
                <a16:creationId xmlns:a16="http://schemas.microsoft.com/office/drawing/2014/main" id="{7329D366-6BF8-1AF1-B394-54A75C6D8556}"/>
              </a:ext>
            </a:extLst>
          </p:cNvPr>
          <p:cNvSpPr>
            <a:spLocks/>
          </p:cNvSpPr>
          <p:nvPr/>
        </p:nvSpPr>
        <p:spPr>
          <a:xfrm>
            <a:off x="10448981" y="1147301"/>
            <a:ext cx="1618485" cy="1332594"/>
          </a:xfrm>
          <a:prstGeom prst="roundRect">
            <a:avLst>
              <a:gd name="adj" fmla="val 5380"/>
            </a:avLst>
          </a:prstGeom>
          <a:noFill/>
          <a:ln w="19050" cap="flat" cmpd="sng" algn="ctr">
            <a:solidFill>
              <a:schemeClr val="bg1">
                <a:lumMod val="7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561" name="Gleichschenkliges Dreieck 2">
            <a:extLst>
              <a:ext uri="{FF2B5EF4-FFF2-40B4-BE49-F238E27FC236}">
                <a16:creationId xmlns:a16="http://schemas.microsoft.com/office/drawing/2014/main" id="{15A99339-EFE8-1129-A78E-BBC4B7B4B087}"/>
              </a:ext>
            </a:extLst>
          </p:cNvPr>
          <p:cNvSpPr/>
          <p:nvPr/>
        </p:nvSpPr>
        <p:spPr bwMode="auto">
          <a:xfrm>
            <a:off x="10823361" y="852548"/>
            <a:ext cx="1229237" cy="288000"/>
          </a:xfrm>
          <a:prstGeom prst="rect">
            <a:avLst/>
          </a:prstGeom>
          <a:solidFill>
            <a:srgbClr val="0041C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rPr>
              <a:t>Accelerators / Tools</a:t>
            </a:r>
          </a:p>
        </p:txBody>
      </p:sp>
      <p:sp>
        <p:nvSpPr>
          <p:cNvPr id="562" name="TextBox 561">
            <a:extLst>
              <a:ext uri="{FF2B5EF4-FFF2-40B4-BE49-F238E27FC236}">
                <a16:creationId xmlns:a16="http://schemas.microsoft.com/office/drawing/2014/main" id="{0435C89F-1152-EA9D-CFFE-155AB3CA8520}"/>
              </a:ext>
            </a:extLst>
          </p:cNvPr>
          <p:cNvSpPr txBox="1"/>
          <p:nvPr/>
        </p:nvSpPr>
        <p:spPr>
          <a:xfrm>
            <a:off x="10439121" y="1187146"/>
            <a:ext cx="1588444" cy="943848"/>
          </a:xfrm>
          <a:prstGeom prst="rect">
            <a:avLst/>
          </a:prstGeom>
          <a:noFill/>
          <a:ln>
            <a:noFill/>
          </a:ln>
        </p:spPr>
        <p:txBody>
          <a:bodyPr wrap="square" rtlCol="0">
            <a:spAutoFit/>
          </a:bodyPr>
          <a:lstStyle/>
          <a:p>
            <a:pPr marL="171450" marR="0" lvl="0" indent="-171450" fontAlgn="auto">
              <a:spcBef>
                <a:spcPts val="200"/>
              </a:spcBef>
              <a:spcAft>
                <a:spcPts val="200"/>
              </a:spcAft>
              <a:buClr>
                <a:schemeClr val="accent1"/>
              </a:buClr>
              <a:buSzTx/>
              <a:buFont typeface="Wingdings" panose="05000000000000000000" pitchFamily="2" charset="2"/>
              <a:buChar char="§"/>
              <a:tabLst/>
              <a:defRPr/>
            </a:pPr>
            <a:r>
              <a:rPr lang="en-US" sz="700">
                <a:cs typeface="Calibri" pitchFamily="34" charset="0"/>
              </a:rPr>
              <a:t>Requirements gathered</a:t>
            </a:r>
          </a:p>
          <a:p>
            <a:pPr marL="171450" marR="0" lvl="0" indent="-171450" fontAlgn="auto">
              <a:spcBef>
                <a:spcPts val="200"/>
              </a:spcBef>
              <a:spcAft>
                <a:spcPts val="200"/>
              </a:spcAft>
              <a:buClr>
                <a:schemeClr val="accent1"/>
              </a:buClr>
              <a:buSzTx/>
              <a:buFont typeface="Wingdings" panose="05000000000000000000" pitchFamily="2" charset="2"/>
              <a:buChar char="§"/>
              <a:tabLst/>
              <a:defRPr/>
            </a:pPr>
            <a:r>
              <a:rPr lang="en-US" sz="700">
                <a:cs typeface="Calibri" pitchFamily="34" charset="0"/>
              </a:rPr>
              <a:t>Mockups</a:t>
            </a:r>
          </a:p>
          <a:p>
            <a:pPr marL="171450" marR="0" lvl="0" indent="-171450" fontAlgn="auto">
              <a:spcBef>
                <a:spcPts val="200"/>
              </a:spcBef>
              <a:spcAft>
                <a:spcPts val="200"/>
              </a:spcAft>
              <a:buClr>
                <a:schemeClr val="accent1"/>
              </a:buClr>
              <a:buSzTx/>
              <a:buFont typeface="Wingdings" panose="05000000000000000000" pitchFamily="2" charset="2"/>
              <a:buChar char="§"/>
              <a:tabLst/>
              <a:defRPr/>
            </a:pPr>
            <a:r>
              <a:rPr lang="en-US" sz="700">
                <a:cs typeface="Calibri" pitchFamily="34" charset="0"/>
              </a:rPr>
              <a:t>Data model changes</a:t>
            </a:r>
          </a:p>
          <a:p>
            <a:pPr marL="171450" marR="0" lvl="0" indent="-171450" fontAlgn="auto">
              <a:spcBef>
                <a:spcPts val="200"/>
              </a:spcBef>
              <a:spcAft>
                <a:spcPts val="200"/>
              </a:spcAft>
              <a:buClr>
                <a:schemeClr val="accent1"/>
              </a:buClr>
              <a:buSzTx/>
              <a:buFont typeface="Wingdings" panose="05000000000000000000" pitchFamily="2" charset="2"/>
              <a:buChar char="§"/>
              <a:tabLst/>
              <a:defRPr/>
            </a:pPr>
            <a:r>
              <a:rPr lang="en-US" sz="700">
                <a:cs typeface="Calibri" pitchFamily="34" charset="0"/>
              </a:rPr>
              <a:t>Business rules, FLS &amp; other templates</a:t>
            </a:r>
          </a:p>
          <a:p>
            <a:pPr marL="171450" marR="0" lvl="0" indent="-171450" fontAlgn="auto">
              <a:spcBef>
                <a:spcPts val="200"/>
              </a:spcBef>
              <a:spcAft>
                <a:spcPts val="200"/>
              </a:spcAft>
              <a:buClr>
                <a:schemeClr val="accent1"/>
              </a:buClr>
              <a:buSzTx/>
              <a:buFont typeface="Wingdings" panose="05000000000000000000" pitchFamily="2" charset="2"/>
              <a:buChar char="§"/>
              <a:tabLst/>
              <a:defRPr/>
            </a:pPr>
            <a:r>
              <a:rPr lang="en-US" sz="700">
                <a:cs typeface="Calibri" pitchFamily="34" charset="0"/>
              </a:rPr>
              <a:t>Actions &amp; resolutions</a:t>
            </a:r>
          </a:p>
        </p:txBody>
      </p:sp>
      <p:sp>
        <p:nvSpPr>
          <p:cNvPr id="893" name="Rectangle 892">
            <a:extLst>
              <a:ext uri="{FF2B5EF4-FFF2-40B4-BE49-F238E27FC236}">
                <a16:creationId xmlns:a16="http://schemas.microsoft.com/office/drawing/2014/main" id="{263B52EB-EB43-E332-D7C2-248B801C5EDA}"/>
              </a:ext>
            </a:extLst>
          </p:cNvPr>
          <p:cNvSpPr/>
          <p:nvPr/>
        </p:nvSpPr>
        <p:spPr>
          <a:xfrm>
            <a:off x="6936998" y="4379426"/>
            <a:ext cx="3240000" cy="70955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Ins="720000" rtlCol="0" anchor="ctr">
            <a:normAutofit/>
          </a:bodyPr>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kern="0"/>
              <a:t>The User Stories accepted during the play-back will be shared with PO for sign-off </a:t>
            </a:r>
            <a:endParaRPr kumimoji="0" lang="en-US" sz="1100" b="0" i="0" u="none" strike="noStrike" kern="0" cap="none" spc="0" normalizeH="0" baseline="0" noProof="0">
              <a:ln>
                <a:noFill/>
              </a:ln>
              <a:effectLst/>
              <a:uLnTx/>
              <a:uFillTx/>
            </a:endParaRPr>
          </a:p>
        </p:txBody>
      </p:sp>
      <p:sp>
        <p:nvSpPr>
          <p:cNvPr id="894" name="Rectangle 893">
            <a:extLst>
              <a:ext uri="{FF2B5EF4-FFF2-40B4-BE49-F238E27FC236}">
                <a16:creationId xmlns:a16="http://schemas.microsoft.com/office/drawing/2014/main" id="{2CAEB39C-0473-AC5F-A4D1-973E20C52321}"/>
              </a:ext>
            </a:extLst>
          </p:cNvPr>
          <p:cNvSpPr/>
          <p:nvPr/>
        </p:nvSpPr>
        <p:spPr>
          <a:xfrm>
            <a:off x="6936998" y="3649599"/>
            <a:ext cx="3240000" cy="7095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720000" bIns="45720" rtlCol="0" anchor="ctr">
            <a:noAutofit/>
          </a:bodyPr>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kern="0"/>
              <a:t>Capture and circulate the minutes from Playback-session</a:t>
            </a:r>
            <a:endParaRPr kumimoji="0" lang="en-US" sz="1100" b="0" i="0" u="none" strike="noStrike" kern="0" cap="none" spc="0" normalizeH="0" baseline="0" noProof="0">
              <a:ln>
                <a:noFill/>
              </a:ln>
              <a:effectLst/>
              <a:uLnTx/>
              <a:uFillTx/>
            </a:endParaRPr>
          </a:p>
        </p:txBody>
      </p:sp>
      <p:sp>
        <p:nvSpPr>
          <p:cNvPr id="895" name="Rectangle 894">
            <a:extLst>
              <a:ext uri="{FF2B5EF4-FFF2-40B4-BE49-F238E27FC236}">
                <a16:creationId xmlns:a16="http://schemas.microsoft.com/office/drawing/2014/main" id="{7EF9E9C2-1C4A-F8BC-CBDE-B7CA40BCF6F3}"/>
              </a:ext>
            </a:extLst>
          </p:cNvPr>
          <p:cNvSpPr/>
          <p:nvPr/>
        </p:nvSpPr>
        <p:spPr>
          <a:xfrm>
            <a:off x="6936998" y="1431206"/>
            <a:ext cx="3240000" cy="7095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Ins="720000" rtlCol="0" anchor="ctr">
            <a:normAutofit/>
          </a:bodyPr>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kern="0"/>
              <a:t>Capture/  incorporate feedback on the played-back requirements  </a:t>
            </a:r>
            <a:endParaRPr kumimoji="0" lang="en-US" sz="1100" b="0" i="0" u="none" strike="noStrike" kern="0" cap="none" spc="0" normalizeH="0" baseline="0" noProof="0">
              <a:ln>
                <a:noFill/>
              </a:ln>
              <a:effectLst/>
              <a:uLnTx/>
              <a:uFillTx/>
            </a:endParaRPr>
          </a:p>
        </p:txBody>
      </p:sp>
      <p:sp>
        <p:nvSpPr>
          <p:cNvPr id="896" name="Rectangle 895">
            <a:extLst>
              <a:ext uri="{FF2B5EF4-FFF2-40B4-BE49-F238E27FC236}">
                <a16:creationId xmlns:a16="http://schemas.microsoft.com/office/drawing/2014/main" id="{3C3B92FD-7AC1-8996-42C3-031D93B0CA49}"/>
              </a:ext>
            </a:extLst>
          </p:cNvPr>
          <p:cNvSpPr/>
          <p:nvPr/>
        </p:nvSpPr>
        <p:spPr>
          <a:xfrm>
            <a:off x="6936998" y="2174681"/>
            <a:ext cx="3240000" cy="70955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Ins="720000" rtlCol="0" anchor="ctr">
            <a:normAutofit lnSpcReduction="10000"/>
          </a:bodyPr>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kern="0"/>
              <a:t>User Story or Requirements document updated based on SME/PO feedback to existing requirements</a:t>
            </a:r>
            <a:endParaRPr kumimoji="0" lang="en-US" sz="1100" b="0" i="0" u="none" strike="noStrike" kern="0" cap="none" spc="0" normalizeH="0" baseline="0" noProof="0">
              <a:ln>
                <a:noFill/>
              </a:ln>
              <a:effectLst/>
              <a:uLnTx/>
              <a:uFillTx/>
            </a:endParaRPr>
          </a:p>
        </p:txBody>
      </p:sp>
      <p:sp>
        <p:nvSpPr>
          <p:cNvPr id="897" name="Rectangle 896">
            <a:extLst>
              <a:ext uri="{FF2B5EF4-FFF2-40B4-BE49-F238E27FC236}">
                <a16:creationId xmlns:a16="http://schemas.microsoft.com/office/drawing/2014/main" id="{EC7E989C-3635-1EA3-A174-7F3156E42D0F}"/>
              </a:ext>
            </a:extLst>
          </p:cNvPr>
          <p:cNvSpPr/>
          <p:nvPr/>
        </p:nvSpPr>
        <p:spPr>
          <a:xfrm>
            <a:off x="6936998" y="2911884"/>
            <a:ext cx="3240000" cy="7095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Ins="720000" rtlCol="0" anchor="ctr">
            <a:normAutofit lnSpcReduction="10000"/>
          </a:bodyPr>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kern="0"/>
              <a:t>A</a:t>
            </a:r>
            <a:r>
              <a:rPr lang="en-US" sz="1100" kern="0"/>
              <a:t>ny new or changes to existing requirements gathered to be taken-away for assessment &amp; plan of action</a:t>
            </a:r>
            <a:endParaRPr kumimoji="0" lang="en-US" sz="1100" b="0" i="0" u="none" strike="noStrike" kern="0" cap="none" spc="0" normalizeH="0" baseline="0" noProof="0">
              <a:ln>
                <a:noFill/>
              </a:ln>
              <a:effectLst/>
              <a:uLnTx/>
              <a:uFillTx/>
            </a:endParaRPr>
          </a:p>
        </p:txBody>
      </p:sp>
      <p:sp>
        <p:nvSpPr>
          <p:cNvPr id="899" name="Rectangle 898">
            <a:extLst>
              <a:ext uri="{FF2B5EF4-FFF2-40B4-BE49-F238E27FC236}">
                <a16:creationId xmlns:a16="http://schemas.microsoft.com/office/drawing/2014/main" id="{4E486DD8-0E44-9816-0981-43F7F37965C6}"/>
              </a:ext>
            </a:extLst>
          </p:cNvPr>
          <p:cNvSpPr/>
          <p:nvPr/>
        </p:nvSpPr>
        <p:spPr>
          <a:xfrm flipH="1">
            <a:off x="445851" y="4379426"/>
            <a:ext cx="3240000" cy="70955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tlCol="0" anchor="ctr">
            <a:normAutofit/>
          </a:bodyPr>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effectLst/>
                <a:uLnTx/>
                <a:uFillTx/>
              </a:rPr>
              <a:t>SMEs and Product Owner to validate and agree on every US requirements presented </a:t>
            </a:r>
          </a:p>
        </p:txBody>
      </p:sp>
      <p:sp>
        <p:nvSpPr>
          <p:cNvPr id="900" name="Rectangle 899">
            <a:extLst>
              <a:ext uri="{FF2B5EF4-FFF2-40B4-BE49-F238E27FC236}">
                <a16:creationId xmlns:a16="http://schemas.microsoft.com/office/drawing/2014/main" id="{9D317934-A9E1-5EC1-E397-2053EEC2CCE6}"/>
              </a:ext>
            </a:extLst>
          </p:cNvPr>
          <p:cNvSpPr/>
          <p:nvPr/>
        </p:nvSpPr>
        <p:spPr>
          <a:xfrm flipH="1">
            <a:off x="445851" y="3649599"/>
            <a:ext cx="3240000" cy="7095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tlCol="0" anchor="ctr">
            <a:normAutofit/>
          </a:bodyPr>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effectLst/>
                <a:uLnTx/>
                <a:uFillTx/>
              </a:rPr>
              <a:t>Repeat the exercise for all the Requirements/User Stories </a:t>
            </a:r>
          </a:p>
        </p:txBody>
      </p:sp>
      <p:sp>
        <p:nvSpPr>
          <p:cNvPr id="901" name="Rectangle 900">
            <a:extLst>
              <a:ext uri="{FF2B5EF4-FFF2-40B4-BE49-F238E27FC236}">
                <a16:creationId xmlns:a16="http://schemas.microsoft.com/office/drawing/2014/main" id="{2624650A-0ED6-A68A-82C2-2B9A735F32B6}"/>
              </a:ext>
            </a:extLst>
          </p:cNvPr>
          <p:cNvSpPr/>
          <p:nvPr/>
        </p:nvSpPr>
        <p:spPr>
          <a:xfrm flipH="1">
            <a:off x="445851" y="1431206"/>
            <a:ext cx="3240000" cy="7095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tlCol="0" anchor="ctr">
            <a:normAutofit/>
          </a:bodyPr>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kern="0"/>
              <a:t>Functional lead / BA to replay all the User Story requirements gathered from the Workshops</a:t>
            </a:r>
            <a:endParaRPr kumimoji="0" lang="en-US" sz="1100" b="0" i="0" u="none" strike="noStrike" kern="0" cap="none" spc="0" normalizeH="0" baseline="0" noProof="0">
              <a:ln>
                <a:noFill/>
              </a:ln>
              <a:effectLst/>
              <a:uLnTx/>
              <a:uFillTx/>
            </a:endParaRPr>
          </a:p>
        </p:txBody>
      </p:sp>
      <p:sp>
        <p:nvSpPr>
          <p:cNvPr id="902" name="Rectangle 901">
            <a:extLst>
              <a:ext uri="{FF2B5EF4-FFF2-40B4-BE49-F238E27FC236}">
                <a16:creationId xmlns:a16="http://schemas.microsoft.com/office/drawing/2014/main" id="{0C8E6312-1980-AA7A-CC1D-20B683E8161E}"/>
              </a:ext>
            </a:extLst>
          </p:cNvPr>
          <p:cNvSpPr/>
          <p:nvPr/>
        </p:nvSpPr>
        <p:spPr>
          <a:xfrm flipH="1">
            <a:off x="445851" y="2174681"/>
            <a:ext cx="3240000" cy="70955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tlCol="0" anchor="ctr">
            <a:noAutofit/>
          </a:bodyPr>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kern="0"/>
              <a:t>Walkthrough</a:t>
            </a:r>
            <a:r>
              <a:rPr kumimoji="0" lang="en-US" sz="1100" b="0" i="0" u="none" strike="noStrike" kern="0" cap="none" spc="0" normalizeH="0" baseline="0" noProof="0">
                <a:ln>
                  <a:noFill/>
                </a:ln>
                <a:effectLst/>
                <a:uLnTx/>
                <a:uFillTx/>
              </a:rPr>
              <a:t> Screen mockup &amp; data model changes, Business rules,  Activities and  Audit trail forming part of the User Story</a:t>
            </a:r>
          </a:p>
        </p:txBody>
      </p:sp>
      <p:sp>
        <p:nvSpPr>
          <p:cNvPr id="903" name="Rectangle 902">
            <a:extLst>
              <a:ext uri="{FF2B5EF4-FFF2-40B4-BE49-F238E27FC236}">
                <a16:creationId xmlns:a16="http://schemas.microsoft.com/office/drawing/2014/main" id="{6CCF143A-DF9F-E80D-745C-5C02FE1CFE31}"/>
              </a:ext>
            </a:extLst>
          </p:cNvPr>
          <p:cNvSpPr/>
          <p:nvPr/>
        </p:nvSpPr>
        <p:spPr>
          <a:xfrm flipH="1">
            <a:off x="445851" y="2911884"/>
            <a:ext cx="3240000" cy="7095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tlCol="0" anchor="ctr">
            <a:normAutofit/>
          </a:bodyPr>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effectLst/>
                <a:uLnTx/>
                <a:uFillTx/>
              </a:rPr>
              <a:t>Capture any pending actions, parked items &amp; impacts therefor to the current User Story/Sprint</a:t>
            </a:r>
          </a:p>
        </p:txBody>
      </p:sp>
      <p:sp>
        <p:nvSpPr>
          <p:cNvPr id="905" name="Freeform 32">
            <a:extLst>
              <a:ext uri="{FF2B5EF4-FFF2-40B4-BE49-F238E27FC236}">
                <a16:creationId xmlns:a16="http://schemas.microsoft.com/office/drawing/2014/main" id="{C4979DD0-DA70-4870-3E1C-2F283AAC2816}"/>
              </a:ext>
            </a:extLst>
          </p:cNvPr>
          <p:cNvSpPr/>
          <p:nvPr/>
        </p:nvSpPr>
        <p:spPr>
          <a:xfrm flipH="1" flipV="1">
            <a:off x="3685854" y="3972348"/>
            <a:ext cx="1025094" cy="1116628"/>
          </a:xfrm>
          <a:custGeom>
            <a:avLst/>
            <a:gdLst>
              <a:gd name="connsiteX0" fmla="*/ 1351128 w 1351128"/>
              <a:gd name="connsiteY0" fmla="*/ 0 h 1105468"/>
              <a:gd name="connsiteX1" fmla="*/ 1351128 w 1351128"/>
              <a:gd name="connsiteY1" fmla="*/ 696036 h 1105468"/>
              <a:gd name="connsiteX2" fmla="*/ 0 w 1351128"/>
              <a:gd name="connsiteY2" fmla="*/ 1105468 h 1105468"/>
              <a:gd name="connsiteX3" fmla="*/ 0 w 1351128"/>
              <a:gd name="connsiteY3" fmla="*/ 777922 h 1105468"/>
              <a:gd name="connsiteX4" fmla="*/ 1351128 w 1351128"/>
              <a:gd name="connsiteY4" fmla="*/ 0 h 1105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1128" h="1105468">
                <a:moveTo>
                  <a:pt x="1351128" y="0"/>
                </a:moveTo>
                <a:lnTo>
                  <a:pt x="1351128" y="696036"/>
                </a:lnTo>
                <a:lnTo>
                  <a:pt x="0" y="1105468"/>
                </a:lnTo>
                <a:lnTo>
                  <a:pt x="0" y="777922"/>
                </a:lnTo>
                <a:lnTo>
                  <a:pt x="1351128"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chemeClr val="bg1"/>
              </a:solidFill>
              <a:effectLst/>
              <a:uLnTx/>
              <a:uFillTx/>
            </a:endParaRPr>
          </a:p>
        </p:txBody>
      </p:sp>
      <p:sp>
        <p:nvSpPr>
          <p:cNvPr id="906" name="Freeform 33">
            <a:extLst>
              <a:ext uri="{FF2B5EF4-FFF2-40B4-BE49-F238E27FC236}">
                <a16:creationId xmlns:a16="http://schemas.microsoft.com/office/drawing/2014/main" id="{DD55207F-D5DC-E7F8-AAE5-7AAC2DFBB251}"/>
              </a:ext>
            </a:extLst>
          </p:cNvPr>
          <p:cNvSpPr/>
          <p:nvPr/>
        </p:nvSpPr>
        <p:spPr>
          <a:xfrm flipH="1" flipV="1">
            <a:off x="3685852" y="3649597"/>
            <a:ext cx="1025094" cy="707786"/>
          </a:xfrm>
          <a:custGeom>
            <a:avLst/>
            <a:gdLst>
              <a:gd name="connsiteX0" fmla="*/ 1350335 w 1350335"/>
              <a:gd name="connsiteY0" fmla="*/ 0 h 691116"/>
              <a:gd name="connsiteX1" fmla="*/ 1350335 w 1350335"/>
              <a:gd name="connsiteY1" fmla="*/ 691116 h 691116"/>
              <a:gd name="connsiteX2" fmla="*/ 0 w 1350335"/>
              <a:gd name="connsiteY2" fmla="*/ 691116 h 691116"/>
              <a:gd name="connsiteX3" fmla="*/ 0 w 1350335"/>
              <a:gd name="connsiteY3" fmla="*/ 382772 h 691116"/>
              <a:gd name="connsiteX4" fmla="*/ 1350335 w 1350335"/>
              <a:gd name="connsiteY4" fmla="*/ 0 h 691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335" h="691116">
                <a:moveTo>
                  <a:pt x="1350335" y="0"/>
                </a:moveTo>
                <a:lnTo>
                  <a:pt x="1350335" y="691116"/>
                </a:lnTo>
                <a:lnTo>
                  <a:pt x="0" y="691116"/>
                </a:lnTo>
                <a:lnTo>
                  <a:pt x="0" y="382772"/>
                </a:lnTo>
                <a:lnTo>
                  <a:pt x="1350335"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chemeClr val="bg1"/>
              </a:solidFill>
              <a:effectLst/>
              <a:uLnTx/>
              <a:uFillTx/>
            </a:endParaRPr>
          </a:p>
        </p:txBody>
      </p:sp>
      <p:sp>
        <p:nvSpPr>
          <p:cNvPr id="907" name="Freeform 37">
            <a:extLst>
              <a:ext uri="{FF2B5EF4-FFF2-40B4-BE49-F238E27FC236}">
                <a16:creationId xmlns:a16="http://schemas.microsoft.com/office/drawing/2014/main" id="{87A63FFC-7B0B-4228-B47A-156B6F310418}"/>
              </a:ext>
            </a:extLst>
          </p:cNvPr>
          <p:cNvSpPr/>
          <p:nvPr/>
        </p:nvSpPr>
        <p:spPr>
          <a:xfrm flipH="1">
            <a:off x="3685854" y="1429568"/>
            <a:ext cx="1025094" cy="1502628"/>
          </a:xfrm>
          <a:custGeom>
            <a:avLst/>
            <a:gdLst>
              <a:gd name="connsiteX0" fmla="*/ 1364776 w 1364776"/>
              <a:gd name="connsiteY0" fmla="*/ 0 h 1487606"/>
              <a:gd name="connsiteX1" fmla="*/ 1364776 w 1364776"/>
              <a:gd name="connsiteY1" fmla="*/ 709684 h 1487606"/>
              <a:gd name="connsiteX2" fmla="*/ 0 w 1364776"/>
              <a:gd name="connsiteY2" fmla="*/ 1487606 h 1487606"/>
              <a:gd name="connsiteX3" fmla="*/ 0 w 1364776"/>
              <a:gd name="connsiteY3" fmla="*/ 1160060 h 1487606"/>
              <a:gd name="connsiteX4" fmla="*/ 1364776 w 1364776"/>
              <a:gd name="connsiteY4" fmla="*/ 0 h 1487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4776" h="1487606">
                <a:moveTo>
                  <a:pt x="1364776" y="0"/>
                </a:moveTo>
                <a:lnTo>
                  <a:pt x="1364776" y="709684"/>
                </a:lnTo>
                <a:lnTo>
                  <a:pt x="0" y="1487606"/>
                </a:lnTo>
                <a:lnTo>
                  <a:pt x="0" y="1160060"/>
                </a:lnTo>
                <a:lnTo>
                  <a:pt x="1364776"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chemeClr val="bg1"/>
              </a:solidFill>
              <a:effectLst/>
              <a:uLnTx/>
              <a:uFillTx/>
            </a:endParaRPr>
          </a:p>
        </p:txBody>
      </p:sp>
      <p:sp>
        <p:nvSpPr>
          <p:cNvPr id="908" name="Freeform 38">
            <a:extLst>
              <a:ext uri="{FF2B5EF4-FFF2-40B4-BE49-F238E27FC236}">
                <a16:creationId xmlns:a16="http://schemas.microsoft.com/office/drawing/2014/main" id="{5753DE92-AC78-7E11-51B4-3C4ADC7BC72B}"/>
              </a:ext>
            </a:extLst>
          </p:cNvPr>
          <p:cNvSpPr/>
          <p:nvPr/>
        </p:nvSpPr>
        <p:spPr>
          <a:xfrm flipH="1">
            <a:off x="3685854" y="2174411"/>
            <a:ext cx="1025094" cy="1116898"/>
          </a:xfrm>
          <a:custGeom>
            <a:avLst/>
            <a:gdLst>
              <a:gd name="connsiteX0" fmla="*/ 1351128 w 1351128"/>
              <a:gd name="connsiteY0" fmla="*/ 0 h 1105468"/>
              <a:gd name="connsiteX1" fmla="*/ 1351128 w 1351128"/>
              <a:gd name="connsiteY1" fmla="*/ 696036 h 1105468"/>
              <a:gd name="connsiteX2" fmla="*/ 0 w 1351128"/>
              <a:gd name="connsiteY2" fmla="*/ 1105468 h 1105468"/>
              <a:gd name="connsiteX3" fmla="*/ 0 w 1351128"/>
              <a:gd name="connsiteY3" fmla="*/ 777922 h 1105468"/>
              <a:gd name="connsiteX4" fmla="*/ 1351128 w 1351128"/>
              <a:gd name="connsiteY4" fmla="*/ 0 h 1105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1128" h="1105468">
                <a:moveTo>
                  <a:pt x="1351128" y="0"/>
                </a:moveTo>
                <a:lnTo>
                  <a:pt x="1351128" y="696036"/>
                </a:lnTo>
                <a:lnTo>
                  <a:pt x="0" y="1105468"/>
                </a:lnTo>
                <a:lnTo>
                  <a:pt x="0" y="777922"/>
                </a:lnTo>
                <a:lnTo>
                  <a:pt x="135112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chemeClr val="bg1"/>
              </a:solidFill>
              <a:effectLst/>
              <a:uLnTx/>
              <a:uFillTx/>
            </a:endParaRPr>
          </a:p>
        </p:txBody>
      </p:sp>
      <p:sp>
        <p:nvSpPr>
          <p:cNvPr id="909" name="Freeform 39">
            <a:extLst>
              <a:ext uri="{FF2B5EF4-FFF2-40B4-BE49-F238E27FC236}">
                <a16:creationId xmlns:a16="http://schemas.microsoft.com/office/drawing/2014/main" id="{44D2A78A-833C-FC4D-8CFB-174589CCCC27}"/>
              </a:ext>
            </a:extLst>
          </p:cNvPr>
          <p:cNvSpPr/>
          <p:nvPr/>
        </p:nvSpPr>
        <p:spPr>
          <a:xfrm flipH="1">
            <a:off x="3685851" y="2911884"/>
            <a:ext cx="1025094" cy="709551"/>
          </a:xfrm>
          <a:custGeom>
            <a:avLst/>
            <a:gdLst>
              <a:gd name="connsiteX0" fmla="*/ 1350335 w 1350335"/>
              <a:gd name="connsiteY0" fmla="*/ 0 h 691116"/>
              <a:gd name="connsiteX1" fmla="*/ 1350335 w 1350335"/>
              <a:gd name="connsiteY1" fmla="*/ 691116 h 691116"/>
              <a:gd name="connsiteX2" fmla="*/ 0 w 1350335"/>
              <a:gd name="connsiteY2" fmla="*/ 691116 h 691116"/>
              <a:gd name="connsiteX3" fmla="*/ 0 w 1350335"/>
              <a:gd name="connsiteY3" fmla="*/ 382772 h 691116"/>
              <a:gd name="connsiteX4" fmla="*/ 1350335 w 1350335"/>
              <a:gd name="connsiteY4" fmla="*/ 0 h 691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335" h="691116">
                <a:moveTo>
                  <a:pt x="1350335" y="0"/>
                </a:moveTo>
                <a:lnTo>
                  <a:pt x="1350335" y="691116"/>
                </a:lnTo>
                <a:lnTo>
                  <a:pt x="0" y="691116"/>
                </a:lnTo>
                <a:lnTo>
                  <a:pt x="0" y="382772"/>
                </a:lnTo>
                <a:lnTo>
                  <a:pt x="1350335"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chemeClr val="bg1"/>
              </a:solidFill>
              <a:effectLst/>
              <a:uLnTx/>
              <a:uFillTx/>
            </a:endParaRPr>
          </a:p>
        </p:txBody>
      </p:sp>
      <p:sp>
        <p:nvSpPr>
          <p:cNvPr id="910" name="Rectangle 909">
            <a:extLst>
              <a:ext uri="{FF2B5EF4-FFF2-40B4-BE49-F238E27FC236}">
                <a16:creationId xmlns:a16="http://schemas.microsoft.com/office/drawing/2014/main" id="{22922565-4A5F-6F76-BE81-ADDDD584CEFE}"/>
              </a:ext>
            </a:extLst>
          </p:cNvPr>
          <p:cNvSpPr/>
          <p:nvPr/>
        </p:nvSpPr>
        <p:spPr>
          <a:xfrm>
            <a:off x="9727761" y="1431206"/>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chemeClr val="bg1"/>
              </a:solidFill>
              <a:effectLst/>
              <a:uLnTx/>
              <a:uFillTx/>
            </a:endParaRPr>
          </a:p>
        </p:txBody>
      </p:sp>
      <p:sp>
        <p:nvSpPr>
          <p:cNvPr id="911" name="Rectangle 910">
            <a:extLst>
              <a:ext uri="{FF2B5EF4-FFF2-40B4-BE49-F238E27FC236}">
                <a16:creationId xmlns:a16="http://schemas.microsoft.com/office/drawing/2014/main" id="{191A6145-70CB-BFFE-5766-DB876A8C8E82}"/>
              </a:ext>
            </a:extLst>
          </p:cNvPr>
          <p:cNvSpPr/>
          <p:nvPr/>
        </p:nvSpPr>
        <p:spPr>
          <a:xfrm>
            <a:off x="9727761" y="2174681"/>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chemeClr val="bg1"/>
              </a:solidFill>
              <a:effectLst/>
              <a:uLnTx/>
              <a:uFillTx/>
            </a:endParaRPr>
          </a:p>
        </p:txBody>
      </p:sp>
      <p:sp>
        <p:nvSpPr>
          <p:cNvPr id="912" name="Rectangle 911">
            <a:extLst>
              <a:ext uri="{FF2B5EF4-FFF2-40B4-BE49-F238E27FC236}">
                <a16:creationId xmlns:a16="http://schemas.microsoft.com/office/drawing/2014/main" id="{229A569D-393C-589E-09A8-F587D024CFFF}"/>
              </a:ext>
            </a:extLst>
          </p:cNvPr>
          <p:cNvSpPr/>
          <p:nvPr/>
        </p:nvSpPr>
        <p:spPr>
          <a:xfrm>
            <a:off x="9727761" y="2911884"/>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chemeClr val="bg1"/>
              </a:solidFill>
              <a:effectLst/>
              <a:uLnTx/>
              <a:uFillTx/>
            </a:endParaRPr>
          </a:p>
        </p:txBody>
      </p:sp>
      <p:sp>
        <p:nvSpPr>
          <p:cNvPr id="913" name="Rectangle 912">
            <a:extLst>
              <a:ext uri="{FF2B5EF4-FFF2-40B4-BE49-F238E27FC236}">
                <a16:creationId xmlns:a16="http://schemas.microsoft.com/office/drawing/2014/main" id="{391C4402-3707-0C81-9753-E677BDEFAF82}"/>
              </a:ext>
            </a:extLst>
          </p:cNvPr>
          <p:cNvSpPr/>
          <p:nvPr/>
        </p:nvSpPr>
        <p:spPr>
          <a:xfrm>
            <a:off x="9727761" y="3649599"/>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chemeClr val="bg1"/>
              </a:solidFill>
              <a:effectLst/>
              <a:uLnTx/>
              <a:uFillTx/>
            </a:endParaRPr>
          </a:p>
        </p:txBody>
      </p:sp>
      <p:sp>
        <p:nvSpPr>
          <p:cNvPr id="914" name="Rectangle 913">
            <a:extLst>
              <a:ext uri="{FF2B5EF4-FFF2-40B4-BE49-F238E27FC236}">
                <a16:creationId xmlns:a16="http://schemas.microsoft.com/office/drawing/2014/main" id="{9961F014-FBEA-DDDD-39EE-53697DAD7B84}"/>
              </a:ext>
            </a:extLst>
          </p:cNvPr>
          <p:cNvSpPr/>
          <p:nvPr/>
        </p:nvSpPr>
        <p:spPr>
          <a:xfrm>
            <a:off x="9727761" y="4379426"/>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chemeClr val="bg1"/>
              </a:solidFill>
              <a:effectLst/>
              <a:uLnTx/>
              <a:uFillTx/>
            </a:endParaRPr>
          </a:p>
        </p:txBody>
      </p:sp>
      <p:sp>
        <p:nvSpPr>
          <p:cNvPr id="916" name="Rectangle 915">
            <a:extLst>
              <a:ext uri="{FF2B5EF4-FFF2-40B4-BE49-F238E27FC236}">
                <a16:creationId xmlns:a16="http://schemas.microsoft.com/office/drawing/2014/main" id="{4A157C35-2C0C-E649-661A-22762DE61C35}"/>
              </a:ext>
            </a:extLst>
          </p:cNvPr>
          <p:cNvSpPr/>
          <p:nvPr/>
        </p:nvSpPr>
        <p:spPr>
          <a:xfrm>
            <a:off x="462806" y="1431206"/>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chemeClr val="bg1"/>
              </a:solidFill>
              <a:effectLst/>
              <a:uLnTx/>
              <a:uFillTx/>
            </a:endParaRPr>
          </a:p>
        </p:txBody>
      </p:sp>
      <p:sp>
        <p:nvSpPr>
          <p:cNvPr id="917" name="Rectangle 916">
            <a:extLst>
              <a:ext uri="{FF2B5EF4-FFF2-40B4-BE49-F238E27FC236}">
                <a16:creationId xmlns:a16="http://schemas.microsoft.com/office/drawing/2014/main" id="{43522993-FFE6-1F2E-DB56-62897158B7EF}"/>
              </a:ext>
            </a:extLst>
          </p:cNvPr>
          <p:cNvSpPr/>
          <p:nvPr/>
        </p:nvSpPr>
        <p:spPr>
          <a:xfrm>
            <a:off x="462806" y="2174681"/>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chemeClr val="bg1"/>
              </a:solidFill>
              <a:effectLst/>
              <a:uLnTx/>
              <a:uFillTx/>
            </a:endParaRPr>
          </a:p>
        </p:txBody>
      </p:sp>
      <p:sp>
        <p:nvSpPr>
          <p:cNvPr id="918" name="Rectangle 917">
            <a:extLst>
              <a:ext uri="{FF2B5EF4-FFF2-40B4-BE49-F238E27FC236}">
                <a16:creationId xmlns:a16="http://schemas.microsoft.com/office/drawing/2014/main" id="{C644CDE0-FD51-33FE-F6E7-9D1E133E2125}"/>
              </a:ext>
            </a:extLst>
          </p:cNvPr>
          <p:cNvSpPr/>
          <p:nvPr/>
        </p:nvSpPr>
        <p:spPr>
          <a:xfrm>
            <a:off x="462806" y="2918156"/>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chemeClr val="bg1"/>
              </a:solidFill>
              <a:effectLst/>
              <a:uLnTx/>
              <a:uFillTx/>
            </a:endParaRPr>
          </a:p>
        </p:txBody>
      </p:sp>
      <p:sp>
        <p:nvSpPr>
          <p:cNvPr id="919" name="Rectangle 918">
            <a:extLst>
              <a:ext uri="{FF2B5EF4-FFF2-40B4-BE49-F238E27FC236}">
                <a16:creationId xmlns:a16="http://schemas.microsoft.com/office/drawing/2014/main" id="{84F5D2B2-D274-8F93-BCDF-D60CB07E7A05}"/>
              </a:ext>
            </a:extLst>
          </p:cNvPr>
          <p:cNvSpPr/>
          <p:nvPr/>
        </p:nvSpPr>
        <p:spPr>
          <a:xfrm>
            <a:off x="462806" y="3649599"/>
            <a:ext cx="432000" cy="709551"/>
          </a:xfrm>
          <a:prstGeom prst="rect">
            <a:avLst/>
          </a:prstGeom>
          <a:solidFill>
            <a:srgbClr val="6774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chemeClr val="bg1"/>
              </a:solidFill>
              <a:effectLst/>
              <a:uLnTx/>
              <a:uFillTx/>
            </a:endParaRPr>
          </a:p>
        </p:txBody>
      </p:sp>
      <p:sp>
        <p:nvSpPr>
          <p:cNvPr id="920" name="Rectangle 919">
            <a:extLst>
              <a:ext uri="{FF2B5EF4-FFF2-40B4-BE49-F238E27FC236}">
                <a16:creationId xmlns:a16="http://schemas.microsoft.com/office/drawing/2014/main" id="{039FFD48-78C9-0308-34D2-B1646AAEB3B4}"/>
              </a:ext>
            </a:extLst>
          </p:cNvPr>
          <p:cNvSpPr/>
          <p:nvPr/>
        </p:nvSpPr>
        <p:spPr>
          <a:xfrm>
            <a:off x="462806" y="4379426"/>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chemeClr val="bg1"/>
              </a:solidFill>
              <a:effectLst/>
              <a:uLnTx/>
              <a:uFillTx/>
            </a:endParaRPr>
          </a:p>
        </p:txBody>
      </p:sp>
      <p:grpSp>
        <p:nvGrpSpPr>
          <p:cNvPr id="999" name="Hero2" descr="{&quot;Key&quot;:&quot;POWER_USER_SHAPE_ICON&quot;,&quot;Value&quot;:&quot;POWER_USER_SHAPE_ICON_STYLE_1&quot;}">
            <a:extLst>
              <a:ext uri="{FF2B5EF4-FFF2-40B4-BE49-F238E27FC236}">
                <a16:creationId xmlns:a16="http://schemas.microsoft.com/office/drawing/2014/main" id="{7D54C6AC-D95D-1755-3A2D-FA99F9D430EB}"/>
              </a:ext>
            </a:extLst>
          </p:cNvPr>
          <p:cNvGrpSpPr>
            <a:grpSpLocks noChangeAspect="1"/>
          </p:cNvGrpSpPr>
          <p:nvPr/>
        </p:nvGrpSpPr>
        <p:grpSpPr>
          <a:xfrm>
            <a:off x="4783033" y="3250043"/>
            <a:ext cx="1008000" cy="997967"/>
            <a:chOff x="2319338" y="1630363"/>
            <a:chExt cx="638175" cy="631825"/>
          </a:xfrm>
          <a:solidFill>
            <a:srgbClr val="7F7F7F"/>
          </a:solidFill>
        </p:grpSpPr>
        <p:sp>
          <p:nvSpPr>
            <p:cNvPr id="1000" name="Freeform 108">
              <a:extLst>
                <a:ext uri="{FF2B5EF4-FFF2-40B4-BE49-F238E27FC236}">
                  <a16:creationId xmlns:a16="http://schemas.microsoft.com/office/drawing/2014/main" id="{7F9F274D-FB63-8918-A362-6EB4D1CE4F49}"/>
                </a:ext>
              </a:extLst>
            </p:cNvPr>
            <p:cNvSpPr>
              <a:spLocks noEditPoints="1"/>
            </p:cNvSpPr>
            <p:nvPr/>
          </p:nvSpPr>
          <p:spPr bwMode="auto">
            <a:xfrm>
              <a:off x="2505075" y="1701801"/>
              <a:ext cx="112713" cy="112713"/>
            </a:xfrm>
            <a:custGeom>
              <a:avLst/>
              <a:gdLst>
                <a:gd name="T0" fmla="*/ 94 w 188"/>
                <a:gd name="T1" fmla="*/ 33 h 189"/>
                <a:gd name="T2" fmla="*/ 155 w 188"/>
                <a:gd name="T3" fmla="*/ 94 h 189"/>
                <a:gd name="T4" fmla="*/ 94 w 188"/>
                <a:gd name="T5" fmla="*/ 155 h 189"/>
                <a:gd name="T6" fmla="*/ 33 w 188"/>
                <a:gd name="T7" fmla="*/ 94 h 189"/>
                <a:gd name="T8" fmla="*/ 94 w 188"/>
                <a:gd name="T9" fmla="*/ 33 h 189"/>
                <a:gd name="T10" fmla="*/ 94 w 188"/>
                <a:gd name="T11" fmla="*/ 189 h 189"/>
                <a:gd name="T12" fmla="*/ 188 w 188"/>
                <a:gd name="T13" fmla="*/ 94 h 189"/>
                <a:gd name="T14" fmla="*/ 94 w 188"/>
                <a:gd name="T15" fmla="*/ 0 h 189"/>
                <a:gd name="T16" fmla="*/ 0 w 188"/>
                <a:gd name="T17" fmla="*/ 94 h 189"/>
                <a:gd name="T18" fmla="*/ 94 w 188"/>
                <a:gd name="T19" fmla="*/ 189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8" h="189">
                  <a:moveTo>
                    <a:pt x="94" y="33"/>
                  </a:moveTo>
                  <a:cubicBezTo>
                    <a:pt x="128" y="33"/>
                    <a:pt x="155" y="61"/>
                    <a:pt x="155" y="94"/>
                  </a:cubicBezTo>
                  <a:cubicBezTo>
                    <a:pt x="155" y="128"/>
                    <a:pt x="128" y="155"/>
                    <a:pt x="94" y="155"/>
                  </a:cubicBezTo>
                  <a:cubicBezTo>
                    <a:pt x="60" y="155"/>
                    <a:pt x="33" y="128"/>
                    <a:pt x="33" y="94"/>
                  </a:cubicBezTo>
                  <a:cubicBezTo>
                    <a:pt x="33" y="61"/>
                    <a:pt x="60" y="33"/>
                    <a:pt x="94" y="33"/>
                  </a:cubicBezTo>
                  <a:close/>
                  <a:moveTo>
                    <a:pt x="94" y="189"/>
                  </a:moveTo>
                  <a:cubicBezTo>
                    <a:pt x="146" y="189"/>
                    <a:pt x="188" y="146"/>
                    <a:pt x="188" y="94"/>
                  </a:cubicBezTo>
                  <a:cubicBezTo>
                    <a:pt x="188" y="42"/>
                    <a:pt x="146" y="0"/>
                    <a:pt x="94" y="0"/>
                  </a:cubicBezTo>
                  <a:cubicBezTo>
                    <a:pt x="42" y="0"/>
                    <a:pt x="0" y="42"/>
                    <a:pt x="0" y="94"/>
                  </a:cubicBezTo>
                  <a:cubicBezTo>
                    <a:pt x="0" y="146"/>
                    <a:pt x="42" y="189"/>
                    <a:pt x="94" y="189"/>
                  </a:cubicBezTo>
                  <a:close/>
                </a:path>
              </a:pathLst>
            </a:custGeom>
            <a:grpFill/>
            <a:ln w="9525">
              <a:noFill/>
              <a:round/>
              <a:headEnd/>
              <a:tailEnd/>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ea typeface="+mn-ea"/>
                <a:cs typeface="+mn-cs"/>
              </a:endParaRPr>
            </a:p>
          </p:txBody>
        </p:sp>
        <p:sp>
          <p:nvSpPr>
            <p:cNvPr id="1001" name="Freeform 109">
              <a:extLst>
                <a:ext uri="{FF2B5EF4-FFF2-40B4-BE49-F238E27FC236}">
                  <a16:creationId xmlns:a16="http://schemas.microsoft.com/office/drawing/2014/main" id="{1498F4C6-613F-7725-ED26-118CB8080420}"/>
                </a:ext>
              </a:extLst>
            </p:cNvPr>
            <p:cNvSpPr>
              <a:spLocks noEditPoints="1"/>
            </p:cNvSpPr>
            <p:nvPr/>
          </p:nvSpPr>
          <p:spPr bwMode="auto">
            <a:xfrm>
              <a:off x="2319338" y="1630363"/>
              <a:ext cx="638175" cy="631825"/>
            </a:xfrm>
            <a:custGeom>
              <a:avLst/>
              <a:gdLst>
                <a:gd name="T0" fmla="*/ 796 w 1069"/>
                <a:gd name="T1" fmla="*/ 85 h 1056"/>
                <a:gd name="T2" fmla="*/ 959 w 1069"/>
                <a:gd name="T3" fmla="*/ 148 h 1056"/>
                <a:gd name="T4" fmla="*/ 959 w 1069"/>
                <a:gd name="T5" fmla="*/ 171 h 1056"/>
                <a:gd name="T6" fmla="*/ 796 w 1069"/>
                <a:gd name="T7" fmla="*/ 234 h 1056"/>
                <a:gd name="T8" fmla="*/ 753 w 1069"/>
                <a:gd name="T9" fmla="*/ 1022 h 1056"/>
                <a:gd name="T10" fmla="*/ 743 w 1069"/>
                <a:gd name="T11" fmla="*/ 43 h 1056"/>
                <a:gd name="T12" fmla="*/ 762 w 1069"/>
                <a:gd name="T13" fmla="*/ 43 h 1056"/>
                <a:gd name="T14" fmla="*/ 547 w 1069"/>
                <a:gd name="T15" fmla="*/ 373 h 1056"/>
                <a:gd name="T16" fmla="*/ 488 w 1069"/>
                <a:gd name="T17" fmla="*/ 1004 h 1056"/>
                <a:gd name="T18" fmla="*/ 422 w 1069"/>
                <a:gd name="T19" fmla="*/ 1009 h 1056"/>
                <a:gd name="T20" fmla="*/ 405 w 1069"/>
                <a:gd name="T21" fmla="*/ 724 h 1056"/>
                <a:gd name="T22" fmla="*/ 388 w 1069"/>
                <a:gd name="T23" fmla="*/ 1011 h 1056"/>
                <a:gd name="T24" fmla="*/ 322 w 1069"/>
                <a:gd name="T25" fmla="*/ 1003 h 1056"/>
                <a:gd name="T26" fmla="*/ 305 w 1069"/>
                <a:gd name="T27" fmla="*/ 460 h 1056"/>
                <a:gd name="T28" fmla="*/ 288 w 1069"/>
                <a:gd name="T29" fmla="*/ 626 h 1056"/>
                <a:gd name="T30" fmla="*/ 204 w 1069"/>
                <a:gd name="T31" fmla="*/ 510 h 1056"/>
                <a:gd name="T32" fmla="*/ 344 w 1069"/>
                <a:gd name="T33" fmla="*/ 347 h 1056"/>
                <a:gd name="T34" fmla="*/ 406 w 1069"/>
                <a:gd name="T35" fmla="*/ 423 h 1056"/>
                <a:gd name="T36" fmla="*/ 455 w 1069"/>
                <a:gd name="T37" fmla="*/ 347 h 1056"/>
                <a:gd name="T38" fmla="*/ 710 w 1069"/>
                <a:gd name="T39" fmla="*/ 373 h 1056"/>
                <a:gd name="T40" fmla="*/ 208 w 1069"/>
                <a:gd name="T41" fmla="*/ 838 h 1056"/>
                <a:gd name="T42" fmla="*/ 226 w 1069"/>
                <a:gd name="T43" fmla="*/ 685 h 1056"/>
                <a:gd name="T44" fmla="*/ 206 w 1069"/>
                <a:gd name="T45" fmla="*/ 443 h 1056"/>
                <a:gd name="T46" fmla="*/ 180 w 1069"/>
                <a:gd name="T47" fmla="*/ 550 h 1056"/>
                <a:gd name="T48" fmla="*/ 288 w 1069"/>
                <a:gd name="T49" fmla="*/ 759 h 1056"/>
                <a:gd name="T50" fmla="*/ 995 w 1069"/>
                <a:gd name="T51" fmla="*/ 160 h 1056"/>
                <a:gd name="T52" fmla="*/ 1065 w 1069"/>
                <a:gd name="T53" fmla="*/ 67 h 1056"/>
                <a:gd name="T54" fmla="*/ 796 w 1069"/>
                <a:gd name="T55" fmla="*/ 52 h 1056"/>
                <a:gd name="T56" fmla="*/ 753 w 1069"/>
                <a:gd name="T57" fmla="*/ 0 h 1056"/>
                <a:gd name="T58" fmla="*/ 710 w 1069"/>
                <a:gd name="T59" fmla="*/ 314 h 1056"/>
                <a:gd name="T60" fmla="*/ 430 w 1069"/>
                <a:gd name="T61" fmla="*/ 323 h 1056"/>
                <a:gd name="T62" fmla="*/ 366 w 1069"/>
                <a:gd name="T63" fmla="*/ 321 h 1056"/>
                <a:gd name="T64" fmla="*/ 295 w 1069"/>
                <a:gd name="T65" fmla="*/ 314 h 1056"/>
                <a:gd name="T66" fmla="*/ 294 w 1069"/>
                <a:gd name="T67" fmla="*/ 314 h 1056"/>
                <a:gd name="T68" fmla="*/ 288 w 1069"/>
                <a:gd name="T69" fmla="*/ 315 h 1056"/>
                <a:gd name="T70" fmla="*/ 283 w 1069"/>
                <a:gd name="T71" fmla="*/ 319 h 1056"/>
                <a:gd name="T72" fmla="*/ 0 w 1069"/>
                <a:gd name="T73" fmla="*/ 563 h 1056"/>
                <a:gd name="T74" fmla="*/ 198 w 1069"/>
                <a:gd name="T75" fmla="*/ 707 h 1056"/>
                <a:gd name="T76" fmla="*/ 176 w 1069"/>
                <a:gd name="T77" fmla="*/ 885 h 1056"/>
                <a:gd name="T78" fmla="*/ 193 w 1069"/>
                <a:gd name="T79" fmla="*/ 887 h 1056"/>
                <a:gd name="T80" fmla="*/ 288 w 1069"/>
                <a:gd name="T81" fmla="*/ 1003 h 1056"/>
                <a:gd name="T82" fmla="*/ 357 w 1069"/>
                <a:gd name="T83" fmla="*/ 1055 h 1056"/>
                <a:gd name="T84" fmla="*/ 459 w 1069"/>
                <a:gd name="T85" fmla="*/ 1055 h 1056"/>
                <a:gd name="T86" fmla="*/ 521 w 1069"/>
                <a:gd name="T87" fmla="*/ 1004 h 1056"/>
                <a:gd name="T88" fmla="*/ 547 w 1069"/>
                <a:gd name="T89" fmla="*/ 406 h 1056"/>
                <a:gd name="T90" fmla="*/ 710 w 1069"/>
                <a:gd name="T91" fmla="*/ 1013 h 1056"/>
                <a:gd name="T92" fmla="*/ 796 w 1069"/>
                <a:gd name="T93" fmla="*/ 1013 h 1056"/>
                <a:gd name="T94" fmla="*/ 1042 w 1069"/>
                <a:gd name="T95" fmla="*/ 268 h 1056"/>
                <a:gd name="T96" fmla="*/ 1060 w 1069"/>
                <a:gd name="T97" fmla="*/ 225 h 10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069" h="1056">
                  <a:moveTo>
                    <a:pt x="796" y="234"/>
                  </a:moveTo>
                  <a:lnTo>
                    <a:pt x="796" y="85"/>
                  </a:lnTo>
                  <a:lnTo>
                    <a:pt x="1022" y="85"/>
                  </a:lnTo>
                  <a:lnTo>
                    <a:pt x="959" y="148"/>
                  </a:lnTo>
                  <a:cubicBezTo>
                    <a:pt x="956" y="151"/>
                    <a:pt x="954" y="155"/>
                    <a:pt x="954" y="160"/>
                  </a:cubicBezTo>
                  <a:cubicBezTo>
                    <a:pt x="954" y="164"/>
                    <a:pt x="956" y="168"/>
                    <a:pt x="959" y="171"/>
                  </a:cubicBezTo>
                  <a:lnTo>
                    <a:pt x="1022" y="234"/>
                  </a:lnTo>
                  <a:lnTo>
                    <a:pt x="796" y="234"/>
                  </a:lnTo>
                  <a:close/>
                  <a:moveTo>
                    <a:pt x="762" y="1013"/>
                  </a:moveTo>
                  <a:cubicBezTo>
                    <a:pt x="762" y="1018"/>
                    <a:pt x="758" y="1022"/>
                    <a:pt x="753" y="1022"/>
                  </a:cubicBezTo>
                  <a:cubicBezTo>
                    <a:pt x="748" y="1022"/>
                    <a:pt x="743" y="1018"/>
                    <a:pt x="743" y="1013"/>
                  </a:cubicBezTo>
                  <a:lnTo>
                    <a:pt x="743" y="43"/>
                  </a:lnTo>
                  <a:cubicBezTo>
                    <a:pt x="743" y="37"/>
                    <a:pt x="748" y="33"/>
                    <a:pt x="753" y="33"/>
                  </a:cubicBezTo>
                  <a:cubicBezTo>
                    <a:pt x="758" y="33"/>
                    <a:pt x="762" y="37"/>
                    <a:pt x="762" y="43"/>
                  </a:cubicBezTo>
                  <a:lnTo>
                    <a:pt x="762" y="1013"/>
                  </a:lnTo>
                  <a:close/>
                  <a:moveTo>
                    <a:pt x="547" y="373"/>
                  </a:moveTo>
                  <a:cubicBezTo>
                    <a:pt x="515" y="373"/>
                    <a:pt x="488" y="400"/>
                    <a:pt x="488" y="433"/>
                  </a:cubicBezTo>
                  <a:lnTo>
                    <a:pt x="488" y="1004"/>
                  </a:lnTo>
                  <a:cubicBezTo>
                    <a:pt x="488" y="1009"/>
                    <a:pt x="485" y="1013"/>
                    <a:pt x="482" y="1015"/>
                  </a:cubicBezTo>
                  <a:cubicBezTo>
                    <a:pt x="459" y="1029"/>
                    <a:pt x="433" y="1016"/>
                    <a:pt x="422" y="1009"/>
                  </a:cubicBezTo>
                  <a:lnTo>
                    <a:pt x="422" y="741"/>
                  </a:lnTo>
                  <a:cubicBezTo>
                    <a:pt x="422" y="732"/>
                    <a:pt x="414" y="724"/>
                    <a:pt x="405" y="724"/>
                  </a:cubicBezTo>
                  <a:cubicBezTo>
                    <a:pt x="396" y="724"/>
                    <a:pt x="388" y="732"/>
                    <a:pt x="388" y="741"/>
                  </a:cubicBezTo>
                  <a:lnTo>
                    <a:pt x="388" y="1011"/>
                  </a:lnTo>
                  <a:cubicBezTo>
                    <a:pt x="367" y="1028"/>
                    <a:pt x="345" y="1023"/>
                    <a:pt x="329" y="1015"/>
                  </a:cubicBezTo>
                  <a:cubicBezTo>
                    <a:pt x="324" y="1013"/>
                    <a:pt x="322" y="1008"/>
                    <a:pt x="322" y="1003"/>
                  </a:cubicBezTo>
                  <a:lnTo>
                    <a:pt x="322" y="476"/>
                  </a:lnTo>
                  <a:cubicBezTo>
                    <a:pt x="322" y="467"/>
                    <a:pt x="314" y="460"/>
                    <a:pt x="305" y="460"/>
                  </a:cubicBezTo>
                  <a:cubicBezTo>
                    <a:pt x="296" y="460"/>
                    <a:pt x="288" y="467"/>
                    <a:pt x="288" y="476"/>
                  </a:cubicBezTo>
                  <a:lnTo>
                    <a:pt x="288" y="626"/>
                  </a:lnTo>
                  <a:lnTo>
                    <a:pt x="206" y="529"/>
                  </a:lnTo>
                  <a:cubicBezTo>
                    <a:pt x="201" y="524"/>
                    <a:pt x="201" y="516"/>
                    <a:pt x="204" y="510"/>
                  </a:cubicBezTo>
                  <a:lnTo>
                    <a:pt x="305" y="347"/>
                  </a:lnTo>
                  <a:lnTo>
                    <a:pt x="344" y="347"/>
                  </a:lnTo>
                  <a:lnTo>
                    <a:pt x="391" y="416"/>
                  </a:lnTo>
                  <a:cubicBezTo>
                    <a:pt x="395" y="420"/>
                    <a:pt x="400" y="423"/>
                    <a:pt x="406" y="423"/>
                  </a:cubicBezTo>
                  <a:cubicBezTo>
                    <a:pt x="412" y="422"/>
                    <a:pt x="417" y="419"/>
                    <a:pt x="420" y="414"/>
                  </a:cubicBezTo>
                  <a:lnTo>
                    <a:pt x="455" y="347"/>
                  </a:lnTo>
                  <a:lnTo>
                    <a:pt x="710" y="347"/>
                  </a:lnTo>
                  <a:lnTo>
                    <a:pt x="710" y="373"/>
                  </a:lnTo>
                  <a:lnTo>
                    <a:pt x="547" y="373"/>
                  </a:lnTo>
                  <a:close/>
                  <a:moveTo>
                    <a:pt x="208" y="838"/>
                  </a:moveTo>
                  <a:lnTo>
                    <a:pt x="233" y="702"/>
                  </a:lnTo>
                  <a:cubicBezTo>
                    <a:pt x="234" y="695"/>
                    <a:pt x="231" y="689"/>
                    <a:pt x="226" y="685"/>
                  </a:cubicBezTo>
                  <a:lnTo>
                    <a:pt x="51" y="568"/>
                  </a:lnTo>
                  <a:cubicBezTo>
                    <a:pt x="97" y="542"/>
                    <a:pt x="156" y="491"/>
                    <a:pt x="206" y="443"/>
                  </a:cubicBezTo>
                  <a:lnTo>
                    <a:pt x="176" y="493"/>
                  </a:lnTo>
                  <a:cubicBezTo>
                    <a:pt x="165" y="511"/>
                    <a:pt x="167" y="534"/>
                    <a:pt x="180" y="550"/>
                  </a:cubicBezTo>
                  <a:lnTo>
                    <a:pt x="288" y="678"/>
                  </a:lnTo>
                  <a:lnTo>
                    <a:pt x="288" y="759"/>
                  </a:lnTo>
                  <a:cubicBezTo>
                    <a:pt x="270" y="792"/>
                    <a:pt x="234" y="820"/>
                    <a:pt x="208" y="838"/>
                  </a:cubicBezTo>
                  <a:close/>
                  <a:moveTo>
                    <a:pt x="995" y="160"/>
                  </a:moveTo>
                  <a:lnTo>
                    <a:pt x="1060" y="94"/>
                  </a:lnTo>
                  <a:cubicBezTo>
                    <a:pt x="1067" y="87"/>
                    <a:pt x="1069" y="76"/>
                    <a:pt x="1065" y="67"/>
                  </a:cubicBezTo>
                  <a:cubicBezTo>
                    <a:pt x="1061" y="58"/>
                    <a:pt x="1052" y="52"/>
                    <a:pt x="1042" y="52"/>
                  </a:cubicBezTo>
                  <a:lnTo>
                    <a:pt x="796" y="52"/>
                  </a:lnTo>
                  <a:lnTo>
                    <a:pt x="796" y="43"/>
                  </a:lnTo>
                  <a:cubicBezTo>
                    <a:pt x="796" y="19"/>
                    <a:pt x="776" y="0"/>
                    <a:pt x="753" y="0"/>
                  </a:cubicBezTo>
                  <a:cubicBezTo>
                    <a:pt x="729" y="0"/>
                    <a:pt x="710" y="19"/>
                    <a:pt x="710" y="43"/>
                  </a:cubicBezTo>
                  <a:lnTo>
                    <a:pt x="710" y="314"/>
                  </a:lnTo>
                  <a:lnTo>
                    <a:pt x="445" y="314"/>
                  </a:lnTo>
                  <a:cubicBezTo>
                    <a:pt x="439" y="314"/>
                    <a:pt x="433" y="317"/>
                    <a:pt x="430" y="323"/>
                  </a:cubicBezTo>
                  <a:lnTo>
                    <a:pt x="403" y="374"/>
                  </a:lnTo>
                  <a:lnTo>
                    <a:pt x="366" y="321"/>
                  </a:lnTo>
                  <a:cubicBezTo>
                    <a:pt x="363" y="316"/>
                    <a:pt x="358" y="314"/>
                    <a:pt x="353" y="314"/>
                  </a:cubicBezTo>
                  <a:lnTo>
                    <a:pt x="295" y="314"/>
                  </a:lnTo>
                  <a:cubicBezTo>
                    <a:pt x="295" y="314"/>
                    <a:pt x="295" y="314"/>
                    <a:pt x="295" y="314"/>
                  </a:cubicBezTo>
                  <a:cubicBezTo>
                    <a:pt x="295" y="314"/>
                    <a:pt x="294" y="314"/>
                    <a:pt x="294" y="314"/>
                  </a:cubicBezTo>
                  <a:cubicBezTo>
                    <a:pt x="292" y="314"/>
                    <a:pt x="291" y="314"/>
                    <a:pt x="289" y="315"/>
                  </a:cubicBezTo>
                  <a:cubicBezTo>
                    <a:pt x="289" y="315"/>
                    <a:pt x="288" y="315"/>
                    <a:pt x="288" y="315"/>
                  </a:cubicBezTo>
                  <a:cubicBezTo>
                    <a:pt x="286" y="316"/>
                    <a:pt x="285" y="317"/>
                    <a:pt x="283" y="319"/>
                  </a:cubicBezTo>
                  <a:cubicBezTo>
                    <a:pt x="283" y="319"/>
                    <a:pt x="283" y="319"/>
                    <a:pt x="283" y="319"/>
                  </a:cubicBezTo>
                  <a:cubicBezTo>
                    <a:pt x="230" y="376"/>
                    <a:pt x="78" y="528"/>
                    <a:pt x="12" y="550"/>
                  </a:cubicBezTo>
                  <a:cubicBezTo>
                    <a:pt x="6" y="552"/>
                    <a:pt x="1" y="557"/>
                    <a:pt x="0" y="563"/>
                  </a:cubicBezTo>
                  <a:cubicBezTo>
                    <a:pt x="0" y="570"/>
                    <a:pt x="2" y="576"/>
                    <a:pt x="8" y="579"/>
                  </a:cubicBezTo>
                  <a:lnTo>
                    <a:pt x="198" y="707"/>
                  </a:lnTo>
                  <a:lnTo>
                    <a:pt x="169" y="869"/>
                  </a:lnTo>
                  <a:cubicBezTo>
                    <a:pt x="168" y="875"/>
                    <a:pt x="170" y="882"/>
                    <a:pt x="176" y="885"/>
                  </a:cubicBezTo>
                  <a:cubicBezTo>
                    <a:pt x="178" y="888"/>
                    <a:pt x="182" y="889"/>
                    <a:pt x="185" y="889"/>
                  </a:cubicBezTo>
                  <a:cubicBezTo>
                    <a:pt x="188" y="889"/>
                    <a:pt x="191" y="888"/>
                    <a:pt x="193" y="887"/>
                  </a:cubicBezTo>
                  <a:cubicBezTo>
                    <a:pt x="196" y="885"/>
                    <a:pt x="249" y="857"/>
                    <a:pt x="288" y="814"/>
                  </a:cubicBezTo>
                  <a:lnTo>
                    <a:pt x="288" y="1003"/>
                  </a:lnTo>
                  <a:cubicBezTo>
                    <a:pt x="288" y="1021"/>
                    <a:pt x="298" y="1037"/>
                    <a:pt x="314" y="1045"/>
                  </a:cubicBezTo>
                  <a:cubicBezTo>
                    <a:pt x="328" y="1052"/>
                    <a:pt x="343" y="1055"/>
                    <a:pt x="357" y="1055"/>
                  </a:cubicBezTo>
                  <a:cubicBezTo>
                    <a:pt x="375" y="1055"/>
                    <a:pt x="391" y="1050"/>
                    <a:pt x="406" y="1039"/>
                  </a:cubicBezTo>
                  <a:cubicBezTo>
                    <a:pt x="418" y="1046"/>
                    <a:pt x="437" y="1055"/>
                    <a:pt x="459" y="1055"/>
                  </a:cubicBezTo>
                  <a:cubicBezTo>
                    <a:pt x="472" y="1055"/>
                    <a:pt x="485" y="1052"/>
                    <a:pt x="498" y="1044"/>
                  </a:cubicBezTo>
                  <a:cubicBezTo>
                    <a:pt x="512" y="1036"/>
                    <a:pt x="521" y="1020"/>
                    <a:pt x="521" y="1004"/>
                  </a:cubicBezTo>
                  <a:lnTo>
                    <a:pt x="521" y="433"/>
                  </a:lnTo>
                  <a:cubicBezTo>
                    <a:pt x="521" y="418"/>
                    <a:pt x="533" y="406"/>
                    <a:pt x="547" y="406"/>
                  </a:cubicBezTo>
                  <a:lnTo>
                    <a:pt x="710" y="406"/>
                  </a:lnTo>
                  <a:lnTo>
                    <a:pt x="710" y="1013"/>
                  </a:lnTo>
                  <a:cubicBezTo>
                    <a:pt x="710" y="1036"/>
                    <a:pt x="729" y="1056"/>
                    <a:pt x="753" y="1056"/>
                  </a:cubicBezTo>
                  <a:cubicBezTo>
                    <a:pt x="776" y="1056"/>
                    <a:pt x="796" y="1036"/>
                    <a:pt x="796" y="1013"/>
                  </a:cubicBezTo>
                  <a:lnTo>
                    <a:pt x="796" y="268"/>
                  </a:lnTo>
                  <a:lnTo>
                    <a:pt x="1042" y="268"/>
                  </a:lnTo>
                  <a:cubicBezTo>
                    <a:pt x="1052" y="268"/>
                    <a:pt x="1061" y="262"/>
                    <a:pt x="1065" y="252"/>
                  </a:cubicBezTo>
                  <a:cubicBezTo>
                    <a:pt x="1069" y="243"/>
                    <a:pt x="1067" y="232"/>
                    <a:pt x="1060" y="225"/>
                  </a:cubicBezTo>
                  <a:lnTo>
                    <a:pt x="995" y="160"/>
                  </a:lnTo>
                </a:path>
              </a:pathLst>
            </a:custGeom>
            <a:grpFill/>
            <a:ln w="9525">
              <a:noFill/>
              <a:round/>
              <a:headEnd/>
              <a:tailEnd/>
            </a:ln>
          </p:spPr>
          <p:txBody>
            <a:bodyPr vert="horz" wrap="square" lIns="91440" tIns="45720" rIns="91440" bIns="45720" numCol="1" anchor="t" anchorCtr="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ea typeface="+mn-ea"/>
                <a:cs typeface="+mn-cs"/>
              </a:endParaRPr>
            </a:p>
          </p:txBody>
        </p:sp>
      </p:grpSp>
      <p:grpSp>
        <p:nvGrpSpPr>
          <p:cNvPr id="1026" name="Plan4" descr="{&quot;Key&quot;:&quot;POWER_USER_SHAPE_ICON&quot;,&quot;Value&quot;:&quot;POWER_USER_SHAPE_ICON_STYLE_1&quot;}">
            <a:extLst>
              <a:ext uri="{FF2B5EF4-FFF2-40B4-BE49-F238E27FC236}">
                <a16:creationId xmlns:a16="http://schemas.microsoft.com/office/drawing/2014/main" id="{81F4D14B-52CD-76F8-B3BF-04AFE5F72215}"/>
              </a:ext>
            </a:extLst>
          </p:cNvPr>
          <p:cNvGrpSpPr>
            <a:grpSpLocks noChangeAspect="1"/>
          </p:cNvGrpSpPr>
          <p:nvPr/>
        </p:nvGrpSpPr>
        <p:grpSpPr>
          <a:xfrm>
            <a:off x="9763761" y="3039927"/>
            <a:ext cx="360000" cy="328154"/>
            <a:chOff x="2960688" y="5773738"/>
            <a:chExt cx="825500" cy="752475"/>
          </a:xfrm>
        </p:grpSpPr>
        <p:sp>
          <p:nvSpPr>
            <p:cNvPr id="1027" name="Freeform 185">
              <a:extLst>
                <a:ext uri="{FF2B5EF4-FFF2-40B4-BE49-F238E27FC236}">
                  <a16:creationId xmlns:a16="http://schemas.microsoft.com/office/drawing/2014/main" id="{11F9912E-CEC9-9DD5-EF2E-D7E06876F162}"/>
                </a:ext>
              </a:extLst>
            </p:cNvPr>
            <p:cNvSpPr>
              <a:spLocks/>
            </p:cNvSpPr>
            <p:nvPr/>
          </p:nvSpPr>
          <p:spPr bwMode="auto">
            <a:xfrm>
              <a:off x="3365500" y="6122988"/>
              <a:ext cx="420688" cy="331788"/>
            </a:xfrm>
            <a:custGeom>
              <a:avLst/>
              <a:gdLst>
                <a:gd name="T0" fmla="*/ 340 w 562"/>
                <a:gd name="T1" fmla="*/ 440 h 440"/>
                <a:gd name="T2" fmla="*/ 562 w 562"/>
                <a:gd name="T3" fmla="*/ 148 h 440"/>
                <a:gd name="T4" fmla="*/ 0 w 562"/>
                <a:gd name="T5" fmla="*/ 0 h 440"/>
              </a:gdLst>
              <a:ahLst/>
              <a:cxnLst>
                <a:cxn ang="0">
                  <a:pos x="T0" y="T1"/>
                </a:cxn>
                <a:cxn ang="0">
                  <a:pos x="T2" y="T3"/>
                </a:cxn>
                <a:cxn ang="0">
                  <a:pos x="T4" y="T5"/>
                </a:cxn>
              </a:cxnLst>
              <a:rect l="0" t="0" r="r" b="b"/>
              <a:pathLst>
                <a:path w="562" h="440">
                  <a:moveTo>
                    <a:pt x="340" y="440"/>
                  </a:moveTo>
                  <a:lnTo>
                    <a:pt x="562" y="148"/>
                  </a:lnTo>
                  <a:cubicBezTo>
                    <a:pt x="562" y="148"/>
                    <a:pt x="286" y="84"/>
                    <a:pt x="0" y="0"/>
                  </a:cubicBezTo>
                </a:path>
              </a:pathLst>
            </a:custGeom>
            <a:noFill/>
            <a:ln w="19050" cap="rnd">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ea typeface="+mn-ea"/>
                <a:cs typeface="+mn-cs"/>
              </a:endParaRPr>
            </a:p>
          </p:txBody>
        </p:sp>
        <p:sp>
          <p:nvSpPr>
            <p:cNvPr id="1028" name="Freeform 186">
              <a:extLst>
                <a:ext uri="{FF2B5EF4-FFF2-40B4-BE49-F238E27FC236}">
                  <a16:creationId xmlns:a16="http://schemas.microsoft.com/office/drawing/2014/main" id="{6D604DB6-6DDE-266C-9562-4559999D0490}"/>
                </a:ext>
              </a:extLst>
            </p:cNvPr>
            <p:cNvSpPr>
              <a:spLocks/>
            </p:cNvSpPr>
            <p:nvPr/>
          </p:nvSpPr>
          <p:spPr bwMode="auto">
            <a:xfrm>
              <a:off x="3138488" y="5895975"/>
              <a:ext cx="276225" cy="203200"/>
            </a:xfrm>
            <a:custGeom>
              <a:avLst/>
              <a:gdLst>
                <a:gd name="T0" fmla="*/ 21 w 367"/>
                <a:gd name="T1" fmla="*/ 0 h 269"/>
                <a:gd name="T2" fmla="*/ 0 w 367"/>
                <a:gd name="T3" fmla="*/ 84 h 269"/>
                <a:gd name="T4" fmla="*/ 184 w 367"/>
                <a:gd name="T5" fmla="*/ 269 h 269"/>
                <a:gd name="T6" fmla="*/ 367 w 367"/>
                <a:gd name="T7" fmla="*/ 111 h 269"/>
              </a:gdLst>
              <a:ahLst/>
              <a:cxnLst>
                <a:cxn ang="0">
                  <a:pos x="T0" y="T1"/>
                </a:cxn>
                <a:cxn ang="0">
                  <a:pos x="T2" y="T3"/>
                </a:cxn>
                <a:cxn ang="0">
                  <a:pos x="T4" y="T5"/>
                </a:cxn>
                <a:cxn ang="0">
                  <a:pos x="T6" y="T7"/>
                </a:cxn>
              </a:cxnLst>
              <a:rect l="0" t="0" r="r" b="b"/>
              <a:pathLst>
                <a:path w="367" h="269">
                  <a:moveTo>
                    <a:pt x="21" y="0"/>
                  </a:moveTo>
                  <a:cubicBezTo>
                    <a:pt x="8" y="25"/>
                    <a:pt x="0" y="53"/>
                    <a:pt x="0" y="84"/>
                  </a:cubicBezTo>
                  <a:cubicBezTo>
                    <a:pt x="0" y="186"/>
                    <a:pt x="82" y="269"/>
                    <a:pt x="184" y="269"/>
                  </a:cubicBezTo>
                  <a:cubicBezTo>
                    <a:pt x="277" y="269"/>
                    <a:pt x="354" y="200"/>
                    <a:pt x="367" y="111"/>
                  </a:cubicBezTo>
                </a:path>
              </a:pathLst>
            </a:custGeom>
            <a:noFill/>
            <a:ln w="19050" cap="flat">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ea typeface="+mn-ea"/>
                <a:cs typeface="+mn-cs"/>
              </a:endParaRPr>
            </a:p>
          </p:txBody>
        </p:sp>
        <p:sp>
          <p:nvSpPr>
            <p:cNvPr id="1029" name="Freeform 187">
              <a:extLst>
                <a:ext uri="{FF2B5EF4-FFF2-40B4-BE49-F238E27FC236}">
                  <a16:creationId xmlns:a16="http://schemas.microsoft.com/office/drawing/2014/main" id="{C38351D4-F7F0-FC9A-06D5-7A222D106593}"/>
                </a:ext>
              </a:extLst>
            </p:cNvPr>
            <p:cNvSpPr>
              <a:spLocks/>
            </p:cNvSpPr>
            <p:nvPr/>
          </p:nvSpPr>
          <p:spPr bwMode="auto">
            <a:xfrm>
              <a:off x="3144838" y="5773738"/>
              <a:ext cx="309563" cy="201613"/>
            </a:xfrm>
            <a:custGeom>
              <a:avLst/>
              <a:gdLst>
                <a:gd name="T0" fmla="*/ 377 w 412"/>
                <a:gd name="T1" fmla="*/ 269 h 269"/>
                <a:gd name="T2" fmla="*/ 250 w 412"/>
                <a:gd name="T3" fmla="*/ 10 h 269"/>
                <a:gd name="T4" fmla="*/ 193 w 412"/>
                <a:gd name="T5" fmla="*/ 1 h 269"/>
                <a:gd name="T6" fmla="*/ 0 w 412"/>
                <a:gd name="T7" fmla="*/ 144 h 269"/>
              </a:gdLst>
              <a:ahLst/>
              <a:cxnLst>
                <a:cxn ang="0">
                  <a:pos x="T0" y="T1"/>
                </a:cxn>
                <a:cxn ang="0">
                  <a:pos x="T2" y="T3"/>
                </a:cxn>
                <a:cxn ang="0">
                  <a:pos x="T4" y="T5"/>
                </a:cxn>
                <a:cxn ang="0">
                  <a:pos x="T6" y="T7"/>
                </a:cxn>
              </a:cxnLst>
              <a:rect l="0" t="0" r="r" b="b"/>
              <a:pathLst>
                <a:path w="412" h="269">
                  <a:moveTo>
                    <a:pt x="377" y="269"/>
                  </a:moveTo>
                  <a:cubicBezTo>
                    <a:pt x="412" y="151"/>
                    <a:pt x="352" y="43"/>
                    <a:pt x="250" y="10"/>
                  </a:cubicBezTo>
                  <a:cubicBezTo>
                    <a:pt x="231" y="3"/>
                    <a:pt x="212" y="1"/>
                    <a:pt x="193" y="1"/>
                  </a:cubicBezTo>
                  <a:cubicBezTo>
                    <a:pt x="103" y="0"/>
                    <a:pt x="22" y="67"/>
                    <a:pt x="0" y="144"/>
                  </a:cubicBezTo>
                </a:path>
              </a:pathLst>
            </a:custGeom>
            <a:noFill/>
            <a:ln w="19050" cap="flat">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ea typeface="+mn-ea"/>
                <a:cs typeface="+mn-cs"/>
              </a:endParaRPr>
            </a:p>
          </p:txBody>
        </p:sp>
        <p:sp>
          <p:nvSpPr>
            <p:cNvPr id="1030" name="Line 188">
              <a:extLst>
                <a:ext uri="{FF2B5EF4-FFF2-40B4-BE49-F238E27FC236}">
                  <a16:creationId xmlns:a16="http://schemas.microsoft.com/office/drawing/2014/main" id="{CE0F18A5-F84F-3E03-3013-A8DAE9170EF0}"/>
                </a:ext>
              </a:extLst>
            </p:cNvPr>
            <p:cNvSpPr>
              <a:spLocks noChangeShapeType="1"/>
            </p:cNvSpPr>
            <p:nvPr/>
          </p:nvSpPr>
          <p:spPr bwMode="auto">
            <a:xfrm>
              <a:off x="3133725" y="5881688"/>
              <a:ext cx="344488" cy="109538"/>
            </a:xfrm>
            <a:prstGeom prst="line">
              <a:avLst/>
            </a:prstGeom>
            <a:noFill/>
            <a:ln w="19050" cap="rnd">
              <a:solidFill>
                <a:schemeClr val="lt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ea typeface="+mn-ea"/>
                <a:cs typeface="+mn-cs"/>
              </a:endParaRPr>
            </a:p>
          </p:txBody>
        </p:sp>
        <p:sp>
          <p:nvSpPr>
            <p:cNvPr id="1031" name="Freeform 189">
              <a:extLst>
                <a:ext uri="{FF2B5EF4-FFF2-40B4-BE49-F238E27FC236}">
                  <a16:creationId xmlns:a16="http://schemas.microsoft.com/office/drawing/2014/main" id="{709B6B4F-D2B1-C9BD-507D-EA6F171FC526}"/>
                </a:ext>
              </a:extLst>
            </p:cNvPr>
            <p:cNvSpPr>
              <a:spLocks/>
            </p:cNvSpPr>
            <p:nvPr/>
          </p:nvSpPr>
          <p:spPr bwMode="auto">
            <a:xfrm>
              <a:off x="2960688" y="6121400"/>
              <a:ext cx="614363" cy="404813"/>
            </a:xfrm>
            <a:custGeom>
              <a:avLst/>
              <a:gdLst>
                <a:gd name="T0" fmla="*/ 318 w 818"/>
                <a:gd name="T1" fmla="*/ 511 h 537"/>
                <a:gd name="T2" fmla="*/ 0 w 818"/>
                <a:gd name="T3" fmla="*/ 511 h 537"/>
                <a:gd name="T4" fmla="*/ 43 w 818"/>
                <a:gd name="T5" fmla="*/ 199 h 537"/>
                <a:gd name="T6" fmla="*/ 248 w 818"/>
                <a:gd name="T7" fmla="*/ 0 h 537"/>
                <a:gd name="T8" fmla="*/ 433 w 818"/>
                <a:gd name="T9" fmla="*/ 140 h 537"/>
                <a:gd name="T10" fmla="*/ 529 w 818"/>
                <a:gd name="T11" fmla="*/ 367 h 537"/>
                <a:gd name="T12" fmla="*/ 770 w 818"/>
                <a:gd name="T13" fmla="*/ 392 h 537"/>
                <a:gd name="T14" fmla="*/ 818 w 818"/>
                <a:gd name="T15" fmla="*/ 463 h 537"/>
                <a:gd name="T16" fmla="*/ 733 w 818"/>
                <a:gd name="T17" fmla="*/ 537 h 537"/>
                <a:gd name="T18" fmla="*/ 458 w 818"/>
                <a:gd name="T19" fmla="*/ 537 h 537"/>
                <a:gd name="T20" fmla="*/ 367 w 818"/>
                <a:gd name="T21" fmla="*/ 475 h 537"/>
                <a:gd name="T22" fmla="*/ 266 w 818"/>
                <a:gd name="T23" fmla="*/ 267 h 537"/>
                <a:gd name="T24" fmla="*/ 266 w 818"/>
                <a:gd name="T25" fmla="*/ 26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8" h="537">
                  <a:moveTo>
                    <a:pt x="318" y="511"/>
                  </a:moveTo>
                  <a:lnTo>
                    <a:pt x="0" y="511"/>
                  </a:lnTo>
                  <a:lnTo>
                    <a:pt x="43" y="199"/>
                  </a:lnTo>
                  <a:cubicBezTo>
                    <a:pt x="65" y="61"/>
                    <a:pt x="144" y="0"/>
                    <a:pt x="248" y="0"/>
                  </a:cubicBezTo>
                  <a:cubicBezTo>
                    <a:pt x="323" y="0"/>
                    <a:pt x="393" y="42"/>
                    <a:pt x="433" y="140"/>
                  </a:cubicBezTo>
                  <a:lnTo>
                    <a:pt x="529" y="367"/>
                  </a:lnTo>
                  <a:lnTo>
                    <a:pt x="770" y="392"/>
                  </a:lnTo>
                  <a:cubicBezTo>
                    <a:pt x="798" y="401"/>
                    <a:pt x="818" y="422"/>
                    <a:pt x="818" y="463"/>
                  </a:cubicBezTo>
                  <a:cubicBezTo>
                    <a:pt x="818" y="511"/>
                    <a:pt x="787" y="537"/>
                    <a:pt x="733" y="537"/>
                  </a:cubicBezTo>
                  <a:lnTo>
                    <a:pt x="458" y="537"/>
                  </a:lnTo>
                  <a:cubicBezTo>
                    <a:pt x="418" y="537"/>
                    <a:pt x="387" y="515"/>
                    <a:pt x="367" y="475"/>
                  </a:cubicBezTo>
                  <a:cubicBezTo>
                    <a:pt x="341" y="420"/>
                    <a:pt x="295" y="326"/>
                    <a:pt x="266" y="267"/>
                  </a:cubicBezTo>
                  <a:lnTo>
                    <a:pt x="266" y="267"/>
                  </a:lnTo>
                </a:path>
              </a:pathLst>
            </a:custGeom>
            <a:noFill/>
            <a:ln w="19050" cap="flat">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ea typeface="+mn-ea"/>
                <a:cs typeface="+mn-cs"/>
              </a:endParaRPr>
            </a:p>
          </p:txBody>
        </p:sp>
        <p:sp>
          <p:nvSpPr>
            <p:cNvPr id="1032" name="Line 190">
              <a:extLst>
                <a:ext uri="{FF2B5EF4-FFF2-40B4-BE49-F238E27FC236}">
                  <a16:creationId xmlns:a16="http://schemas.microsoft.com/office/drawing/2014/main" id="{3848A1E8-8E7E-2C94-B281-FAF62B5AC886}"/>
                </a:ext>
              </a:extLst>
            </p:cNvPr>
            <p:cNvSpPr>
              <a:spLocks noChangeShapeType="1"/>
            </p:cNvSpPr>
            <p:nvPr/>
          </p:nvSpPr>
          <p:spPr bwMode="auto">
            <a:xfrm flipV="1">
              <a:off x="3546475" y="6359525"/>
              <a:ext cx="46038" cy="60325"/>
            </a:xfrm>
            <a:prstGeom prst="line">
              <a:avLst/>
            </a:prstGeom>
            <a:noFill/>
            <a:ln w="19050" cap="rnd">
              <a:solidFill>
                <a:schemeClr val="lt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ea typeface="+mn-ea"/>
                <a:cs typeface="+mn-cs"/>
              </a:endParaRPr>
            </a:p>
          </p:txBody>
        </p:sp>
        <p:sp>
          <p:nvSpPr>
            <p:cNvPr id="1033" name="Freeform 191">
              <a:extLst>
                <a:ext uri="{FF2B5EF4-FFF2-40B4-BE49-F238E27FC236}">
                  <a16:creationId xmlns:a16="http://schemas.microsoft.com/office/drawing/2014/main" id="{D16A31C2-E7F0-D0A6-F96B-EF6E0D57BF7B}"/>
                </a:ext>
              </a:extLst>
            </p:cNvPr>
            <p:cNvSpPr>
              <a:spLocks/>
            </p:cNvSpPr>
            <p:nvPr/>
          </p:nvSpPr>
          <p:spPr bwMode="auto">
            <a:xfrm>
              <a:off x="3311525" y="6199188"/>
              <a:ext cx="346075" cy="112713"/>
            </a:xfrm>
            <a:custGeom>
              <a:avLst/>
              <a:gdLst>
                <a:gd name="T0" fmla="*/ 422 w 461"/>
                <a:gd name="T1" fmla="*/ 150 h 150"/>
                <a:gd name="T2" fmla="*/ 461 w 461"/>
                <a:gd name="T3" fmla="*/ 101 h 150"/>
                <a:gd name="T4" fmla="*/ 87 w 461"/>
                <a:gd name="T5" fmla="*/ 0 h 150"/>
                <a:gd name="T6" fmla="*/ 0 w 461"/>
                <a:gd name="T7" fmla="*/ 104 h 150"/>
              </a:gdLst>
              <a:ahLst/>
              <a:cxnLst>
                <a:cxn ang="0">
                  <a:pos x="T0" y="T1"/>
                </a:cxn>
                <a:cxn ang="0">
                  <a:pos x="T2" y="T3"/>
                </a:cxn>
                <a:cxn ang="0">
                  <a:pos x="T4" y="T5"/>
                </a:cxn>
                <a:cxn ang="0">
                  <a:pos x="T6" y="T7"/>
                </a:cxn>
              </a:cxnLst>
              <a:rect l="0" t="0" r="r" b="b"/>
              <a:pathLst>
                <a:path w="461" h="150">
                  <a:moveTo>
                    <a:pt x="422" y="150"/>
                  </a:moveTo>
                  <a:lnTo>
                    <a:pt x="461" y="101"/>
                  </a:lnTo>
                  <a:lnTo>
                    <a:pt x="87" y="0"/>
                  </a:lnTo>
                  <a:lnTo>
                    <a:pt x="0" y="104"/>
                  </a:lnTo>
                </a:path>
              </a:pathLst>
            </a:custGeom>
            <a:noFill/>
            <a:ln w="19050" cap="rnd">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ea typeface="+mn-ea"/>
                <a:cs typeface="+mn-cs"/>
              </a:endParaRPr>
            </a:p>
          </p:txBody>
        </p:sp>
        <p:sp>
          <p:nvSpPr>
            <p:cNvPr id="1034" name="Freeform 192">
              <a:extLst>
                <a:ext uri="{FF2B5EF4-FFF2-40B4-BE49-F238E27FC236}">
                  <a16:creationId xmlns:a16="http://schemas.microsoft.com/office/drawing/2014/main" id="{2C36676D-C4B1-04F0-9981-061292710B7F}"/>
                </a:ext>
              </a:extLst>
            </p:cNvPr>
            <p:cNvSpPr>
              <a:spLocks/>
            </p:cNvSpPr>
            <p:nvPr/>
          </p:nvSpPr>
          <p:spPr bwMode="auto">
            <a:xfrm>
              <a:off x="3395663" y="6234113"/>
              <a:ext cx="109538" cy="88900"/>
            </a:xfrm>
            <a:custGeom>
              <a:avLst/>
              <a:gdLst>
                <a:gd name="T0" fmla="*/ 0 w 148"/>
                <a:gd name="T1" fmla="*/ 99 h 118"/>
                <a:gd name="T2" fmla="*/ 56 w 148"/>
                <a:gd name="T3" fmla="*/ 118 h 118"/>
                <a:gd name="T4" fmla="*/ 148 w 148"/>
                <a:gd name="T5" fmla="*/ 0 h 118"/>
              </a:gdLst>
              <a:ahLst/>
              <a:cxnLst>
                <a:cxn ang="0">
                  <a:pos x="T0" y="T1"/>
                </a:cxn>
                <a:cxn ang="0">
                  <a:pos x="T2" y="T3"/>
                </a:cxn>
                <a:cxn ang="0">
                  <a:pos x="T4" y="T5"/>
                </a:cxn>
              </a:cxnLst>
              <a:rect l="0" t="0" r="r" b="b"/>
              <a:pathLst>
                <a:path w="148" h="118">
                  <a:moveTo>
                    <a:pt x="0" y="99"/>
                  </a:moveTo>
                  <a:lnTo>
                    <a:pt x="56" y="118"/>
                  </a:lnTo>
                  <a:lnTo>
                    <a:pt x="148" y="0"/>
                  </a:lnTo>
                </a:path>
              </a:pathLst>
            </a:custGeom>
            <a:noFill/>
            <a:ln w="19050" cap="rnd">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ea typeface="+mn-ea"/>
                <a:cs typeface="+mn-cs"/>
              </a:endParaRPr>
            </a:p>
          </p:txBody>
        </p:sp>
      </p:grpSp>
      <p:sp>
        <p:nvSpPr>
          <p:cNvPr id="1078" name="Freeform 32">
            <a:extLst>
              <a:ext uri="{FF2B5EF4-FFF2-40B4-BE49-F238E27FC236}">
                <a16:creationId xmlns:a16="http://schemas.microsoft.com/office/drawing/2014/main" id="{FB397C14-8863-977D-48C9-C02FC2EE48E2}"/>
              </a:ext>
            </a:extLst>
          </p:cNvPr>
          <p:cNvSpPr/>
          <p:nvPr/>
        </p:nvSpPr>
        <p:spPr>
          <a:xfrm flipV="1">
            <a:off x="5897414" y="3972348"/>
            <a:ext cx="1025094" cy="1116628"/>
          </a:xfrm>
          <a:custGeom>
            <a:avLst/>
            <a:gdLst>
              <a:gd name="connsiteX0" fmla="*/ 1351128 w 1351128"/>
              <a:gd name="connsiteY0" fmla="*/ 0 h 1105468"/>
              <a:gd name="connsiteX1" fmla="*/ 1351128 w 1351128"/>
              <a:gd name="connsiteY1" fmla="*/ 696036 h 1105468"/>
              <a:gd name="connsiteX2" fmla="*/ 0 w 1351128"/>
              <a:gd name="connsiteY2" fmla="*/ 1105468 h 1105468"/>
              <a:gd name="connsiteX3" fmla="*/ 0 w 1351128"/>
              <a:gd name="connsiteY3" fmla="*/ 777922 h 1105468"/>
              <a:gd name="connsiteX4" fmla="*/ 1351128 w 1351128"/>
              <a:gd name="connsiteY4" fmla="*/ 0 h 1105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1128" h="1105468">
                <a:moveTo>
                  <a:pt x="1351128" y="0"/>
                </a:moveTo>
                <a:lnTo>
                  <a:pt x="1351128" y="696036"/>
                </a:lnTo>
                <a:lnTo>
                  <a:pt x="0" y="1105468"/>
                </a:lnTo>
                <a:lnTo>
                  <a:pt x="0" y="777922"/>
                </a:lnTo>
                <a:lnTo>
                  <a:pt x="1351128"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chemeClr val="bg1"/>
              </a:solidFill>
              <a:effectLst/>
              <a:uLnTx/>
              <a:uFillTx/>
            </a:endParaRPr>
          </a:p>
        </p:txBody>
      </p:sp>
      <p:sp>
        <p:nvSpPr>
          <p:cNvPr id="1079" name="Freeform 33">
            <a:extLst>
              <a:ext uri="{FF2B5EF4-FFF2-40B4-BE49-F238E27FC236}">
                <a16:creationId xmlns:a16="http://schemas.microsoft.com/office/drawing/2014/main" id="{F8E17C2B-02B8-6F45-2786-AA16ADCAE959}"/>
              </a:ext>
            </a:extLst>
          </p:cNvPr>
          <p:cNvSpPr/>
          <p:nvPr/>
        </p:nvSpPr>
        <p:spPr>
          <a:xfrm flipV="1">
            <a:off x="5897416" y="3649597"/>
            <a:ext cx="1025094" cy="707786"/>
          </a:xfrm>
          <a:custGeom>
            <a:avLst/>
            <a:gdLst>
              <a:gd name="connsiteX0" fmla="*/ 1350335 w 1350335"/>
              <a:gd name="connsiteY0" fmla="*/ 0 h 691116"/>
              <a:gd name="connsiteX1" fmla="*/ 1350335 w 1350335"/>
              <a:gd name="connsiteY1" fmla="*/ 691116 h 691116"/>
              <a:gd name="connsiteX2" fmla="*/ 0 w 1350335"/>
              <a:gd name="connsiteY2" fmla="*/ 691116 h 691116"/>
              <a:gd name="connsiteX3" fmla="*/ 0 w 1350335"/>
              <a:gd name="connsiteY3" fmla="*/ 382772 h 691116"/>
              <a:gd name="connsiteX4" fmla="*/ 1350335 w 1350335"/>
              <a:gd name="connsiteY4" fmla="*/ 0 h 691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335" h="691116">
                <a:moveTo>
                  <a:pt x="1350335" y="0"/>
                </a:moveTo>
                <a:lnTo>
                  <a:pt x="1350335" y="691116"/>
                </a:lnTo>
                <a:lnTo>
                  <a:pt x="0" y="691116"/>
                </a:lnTo>
                <a:lnTo>
                  <a:pt x="0" y="382772"/>
                </a:lnTo>
                <a:lnTo>
                  <a:pt x="1350335"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chemeClr val="bg1"/>
              </a:solidFill>
              <a:effectLst/>
              <a:uLnTx/>
              <a:uFillTx/>
            </a:endParaRPr>
          </a:p>
        </p:txBody>
      </p:sp>
      <p:sp>
        <p:nvSpPr>
          <p:cNvPr id="1080" name="Freeform 37">
            <a:extLst>
              <a:ext uri="{FF2B5EF4-FFF2-40B4-BE49-F238E27FC236}">
                <a16:creationId xmlns:a16="http://schemas.microsoft.com/office/drawing/2014/main" id="{29E53146-95BE-A486-2596-AA741F6C57E7}"/>
              </a:ext>
            </a:extLst>
          </p:cNvPr>
          <p:cNvSpPr/>
          <p:nvPr/>
        </p:nvSpPr>
        <p:spPr>
          <a:xfrm>
            <a:off x="5897414" y="1429568"/>
            <a:ext cx="1025094" cy="1502628"/>
          </a:xfrm>
          <a:custGeom>
            <a:avLst/>
            <a:gdLst>
              <a:gd name="connsiteX0" fmla="*/ 1364776 w 1364776"/>
              <a:gd name="connsiteY0" fmla="*/ 0 h 1487606"/>
              <a:gd name="connsiteX1" fmla="*/ 1364776 w 1364776"/>
              <a:gd name="connsiteY1" fmla="*/ 709684 h 1487606"/>
              <a:gd name="connsiteX2" fmla="*/ 0 w 1364776"/>
              <a:gd name="connsiteY2" fmla="*/ 1487606 h 1487606"/>
              <a:gd name="connsiteX3" fmla="*/ 0 w 1364776"/>
              <a:gd name="connsiteY3" fmla="*/ 1160060 h 1487606"/>
              <a:gd name="connsiteX4" fmla="*/ 1364776 w 1364776"/>
              <a:gd name="connsiteY4" fmla="*/ 0 h 1487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4776" h="1487606">
                <a:moveTo>
                  <a:pt x="1364776" y="0"/>
                </a:moveTo>
                <a:lnTo>
                  <a:pt x="1364776" y="709684"/>
                </a:lnTo>
                <a:lnTo>
                  <a:pt x="0" y="1487606"/>
                </a:lnTo>
                <a:lnTo>
                  <a:pt x="0" y="1160060"/>
                </a:lnTo>
                <a:lnTo>
                  <a:pt x="1364776"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chemeClr val="bg1"/>
              </a:solidFill>
              <a:effectLst/>
              <a:uLnTx/>
              <a:uFillTx/>
            </a:endParaRPr>
          </a:p>
        </p:txBody>
      </p:sp>
      <p:sp>
        <p:nvSpPr>
          <p:cNvPr id="1081" name="Freeform 38">
            <a:extLst>
              <a:ext uri="{FF2B5EF4-FFF2-40B4-BE49-F238E27FC236}">
                <a16:creationId xmlns:a16="http://schemas.microsoft.com/office/drawing/2014/main" id="{2BEAB8A0-BDC9-2A53-26C7-2542F99F8B08}"/>
              </a:ext>
            </a:extLst>
          </p:cNvPr>
          <p:cNvSpPr/>
          <p:nvPr/>
        </p:nvSpPr>
        <p:spPr>
          <a:xfrm>
            <a:off x="5897414" y="2174411"/>
            <a:ext cx="1025094" cy="1116898"/>
          </a:xfrm>
          <a:custGeom>
            <a:avLst/>
            <a:gdLst>
              <a:gd name="connsiteX0" fmla="*/ 1351128 w 1351128"/>
              <a:gd name="connsiteY0" fmla="*/ 0 h 1105468"/>
              <a:gd name="connsiteX1" fmla="*/ 1351128 w 1351128"/>
              <a:gd name="connsiteY1" fmla="*/ 696036 h 1105468"/>
              <a:gd name="connsiteX2" fmla="*/ 0 w 1351128"/>
              <a:gd name="connsiteY2" fmla="*/ 1105468 h 1105468"/>
              <a:gd name="connsiteX3" fmla="*/ 0 w 1351128"/>
              <a:gd name="connsiteY3" fmla="*/ 777922 h 1105468"/>
              <a:gd name="connsiteX4" fmla="*/ 1351128 w 1351128"/>
              <a:gd name="connsiteY4" fmla="*/ 0 h 1105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1128" h="1105468">
                <a:moveTo>
                  <a:pt x="1351128" y="0"/>
                </a:moveTo>
                <a:lnTo>
                  <a:pt x="1351128" y="696036"/>
                </a:lnTo>
                <a:lnTo>
                  <a:pt x="0" y="1105468"/>
                </a:lnTo>
                <a:lnTo>
                  <a:pt x="0" y="777922"/>
                </a:lnTo>
                <a:lnTo>
                  <a:pt x="135112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chemeClr val="bg1"/>
              </a:solidFill>
              <a:effectLst/>
              <a:uLnTx/>
              <a:uFillTx/>
            </a:endParaRPr>
          </a:p>
        </p:txBody>
      </p:sp>
      <p:sp>
        <p:nvSpPr>
          <p:cNvPr id="1082" name="Freeform 39">
            <a:extLst>
              <a:ext uri="{FF2B5EF4-FFF2-40B4-BE49-F238E27FC236}">
                <a16:creationId xmlns:a16="http://schemas.microsoft.com/office/drawing/2014/main" id="{BAD63A21-4FE7-A91C-6A99-F5EC39C3415C}"/>
              </a:ext>
            </a:extLst>
          </p:cNvPr>
          <p:cNvSpPr/>
          <p:nvPr/>
        </p:nvSpPr>
        <p:spPr>
          <a:xfrm>
            <a:off x="5897417" y="2911884"/>
            <a:ext cx="1025094" cy="709551"/>
          </a:xfrm>
          <a:custGeom>
            <a:avLst/>
            <a:gdLst>
              <a:gd name="connsiteX0" fmla="*/ 1350335 w 1350335"/>
              <a:gd name="connsiteY0" fmla="*/ 0 h 691116"/>
              <a:gd name="connsiteX1" fmla="*/ 1350335 w 1350335"/>
              <a:gd name="connsiteY1" fmla="*/ 691116 h 691116"/>
              <a:gd name="connsiteX2" fmla="*/ 0 w 1350335"/>
              <a:gd name="connsiteY2" fmla="*/ 691116 h 691116"/>
              <a:gd name="connsiteX3" fmla="*/ 0 w 1350335"/>
              <a:gd name="connsiteY3" fmla="*/ 382772 h 691116"/>
              <a:gd name="connsiteX4" fmla="*/ 1350335 w 1350335"/>
              <a:gd name="connsiteY4" fmla="*/ 0 h 691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335" h="691116">
                <a:moveTo>
                  <a:pt x="1350335" y="0"/>
                </a:moveTo>
                <a:lnTo>
                  <a:pt x="1350335" y="691116"/>
                </a:lnTo>
                <a:lnTo>
                  <a:pt x="0" y="691116"/>
                </a:lnTo>
                <a:lnTo>
                  <a:pt x="0" y="382772"/>
                </a:lnTo>
                <a:lnTo>
                  <a:pt x="1350335"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chemeClr val="bg1"/>
              </a:solidFill>
              <a:effectLst/>
              <a:uLnTx/>
              <a:uFillTx/>
            </a:endParaRPr>
          </a:p>
        </p:txBody>
      </p:sp>
      <p:sp>
        <p:nvSpPr>
          <p:cNvPr id="1084" name="Rectangle 1083">
            <a:extLst>
              <a:ext uri="{FF2B5EF4-FFF2-40B4-BE49-F238E27FC236}">
                <a16:creationId xmlns:a16="http://schemas.microsoft.com/office/drawing/2014/main" id="{D01F2B9F-DC1F-B83F-F523-3EBAFB3B4509}"/>
              </a:ext>
            </a:extLst>
          </p:cNvPr>
          <p:cNvSpPr/>
          <p:nvPr/>
        </p:nvSpPr>
        <p:spPr>
          <a:xfrm>
            <a:off x="1977621" y="5551946"/>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000">
                <a:solidFill>
                  <a:schemeClr val="tx1"/>
                </a:solidFill>
              </a:rPr>
              <a:t>Product Owner</a:t>
            </a:r>
            <a:endParaRPr lang="en-US" sz="1000" err="1">
              <a:solidFill>
                <a:schemeClr val="tx1"/>
              </a:solidFill>
            </a:endParaRPr>
          </a:p>
        </p:txBody>
      </p:sp>
      <p:sp>
        <p:nvSpPr>
          <p:cNvPr id="1085" name="Rectangle 1084">
            <a:extLst>
              <a:ext uri="{FF2B5EF4-FFF2-40B4-BE49-F238E27FC236}">
                <a16:creationId xmlns:a16="http://schemas.microsoft.com/office/drawing/2014/main" id="{0D40057E-0506-6917-BF52-054B82BB8729}"/>
              </a:ext>
            </a:extLst>
          </p:cNvPr>
          <p:cNvSpPr/>
          <p:nvPr/>
        </p:nvSpPr>
        <p:spPr>
          <a:xfrm>
            <a:off x="3300816" y="5551946"/>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000">
                <a:solidFill>
                  <a:schemeClr val="tx1"/>
                </a:solidFill>
              </a:rPr>
              <a:t>SMEs</a:t>
            </a:r>
            <a:endParaRPr lang="en-US" sz="1000" err="1">
              <a:solidFill>
                <a:schemeClr val="tx1"/>
              </a:solidFill>
            </a:endParaRPr>
          </a:p>
        </p:txBody>
      </p:sp>
      <p:sp>
        <p:nvSpPr>
          <p:cNvPr id="1086" name="Rectangle 1085">
            <a:extLst>
              <a:ext uri="{FF2B5EF4-FFF2-40B4-BE49-F238E27FC236}">
                <a16:creationId xmlns:a16="http://schemas.microsoft.com/office/drawing/2014/main" id="{18DF3404-11D8-1C4B-36DD-961E8FD5F64F}"/>
              </a:ext>
            </a:extLst>
          </p:cNvPr>
          <p:cNvSpPr/>
          <p:nvPr/>
        </p:nvSpPr>
        <p:spPr>
          <a:xfrm>
            <a:off x="4623465" y="5551946"/>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000">
                <a:solidFill>
                  <a:schemeClr val="tx1"/>
                </a:solidFill>
              </a:rPr>
              <a:t>Solution Architect</a:t>
            </a:r>
            <a:endParaRPr lang="en-US" sz="1000" err="1">
              <a:solidFill>
                <a:schemeClr val="tx1"/>
              </a:solidFill>
            </a:endParaRPr>
          </a:p>
        </p:txBody>
      </p:sp>
      <p:sp>
        <p:nvSpPr>
          <p:cNvPr id="1087" name="Rectangle 1086">
            <a:extLst>
              <a:ext uri="{FF2B5EF4-FFF2-40B4-BE49-F238E27FC236}">
                <a16:creationId xmlns:a16="http://schemas.microsoft.com/office/drawing/2014/main" id="{FCE377D7-E1B2-EB60-5673-71766BE1DE9C}"/>
              </a:ext>
            </a:extLst>
          </p:cNvPr>
          <p:cNvSpPr/>
          <p:nvPr/>
        </p:nvSpPr>
        <p:spPr>
          <a:xfrm>
            <a:off x="5932182" y="5551946"/>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000">
                <a:solidFill>
                  <a:schemeClr val="tx1"/>
                </a:solidFill>
              </a:rPr>
              <a:t>Team members</a:t>
            </a:r>
            <a:endParaRPr lang="en-US" sz="1000" err="1">
              <a:solidFill>
                <a:schemeClr val="tx1"/>
              </a:solidFill>
            </a:endParaRPr>
          </a:p>
        </p:txBody>
      </p:sp>
      <p:sp>
        <p:nvSpPr>
          <p:cNvPr id="1088" name="Rectangle 1087">
            <a:extLst>
              <a:ext uri="{FF2B5EF4-FFF2-40B4-BE49-F238E27FC236}">
                <a16:creationId xmlns:a16="http://schemas.microsoft.com/office/drawing/2014/main" id="{17E293F4-84A0-E29A-00DC-EB0F8366E731}"/>
              </a:ext>
            </a:extLst>
          </p:cNvPr>
          <p:cNvSpPr/>
          <p:nvPr/>
        </p:nvSpPr>
        <p:spPr>
          <a:xfrm>
            <a:off x="7257879" y="5551946"/>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000">
                <a:solidFill>
                  <a:schemeClr val="tx1"/>
                </a:solidFill>
              </a:rPr>
              <a:t>Functional Lead / BAs</a:t>
            </a:r>
            <a:endParaRPr lang="en-US" sz="1000" err="1">
              <a:solidFill>
                <a:schemeClr val="tx1"/>
              </a:solidFill>
            </a:endParaRPr>
          </a:p>
        </p:txBody>
      </p:sp>
      <p:grpSp>
        <p:nvGrpSpPr>
          <p:cNvPr id="1089" name="Teacher7" descr="{&quot;Key&quot;:&quot;POWER_USER_SHAPE_ICON&quot;,&quot;Value&quot;:&quot;POWER_USER_SHAPE_ICON_STYLE_1&quot;}">
            <a:extLst>
              <a:ext uri="{FF2B5EF4-FFF2-40B4-BE49-F238E27FC236}">
                <a16:creationId xmlns:a16="http://schemas.microsoft.com/office/drawing/2014/main" id="{0A234C22-39C9-248C-61F6-BDDCBB9017BB}"/>
              </a:ext>
            </a:extLst>
          </p:cNvPr>
          <p:cNvGrpSpPr>
            <a:grpSpLocks noChangeAspect="1"/>
          </p:cNvGrpSpPr>
          <p:nvPr/>
        </p:nvGrpSpPr>
        <p:grpSpPr>
          <a:xfrm>
            <a:off x="2382350" y="5926426"/>
            <a:ext cx="360000" cy="364929"/>
            <a:chOff x="6302376" y="1846263"/>
            <a:chExt cx="479425" cy="479425"/>
          </a:xfrm>
          <a:solidFill>
            <a:schemeClr val="accent1"/>
          </a:solidFill>
        </p:grpSpPr>
        <p:sp>
          <p:nvSpPr>
            <p:cNvPr id="1090" name="Rectangle 495">
              <a:extLst>
                <a:ext uri="{FF2B5EF4-FFF2-40B4-BE49-F238E27FC236}">
                  <a16:creationId xmlns:a16="http://schemas.microsoft.com/office/drawing/2014/main" id="{C0BEEB23-7C5E-2492-68DA-1FF83694CA39}"/>
                </a:ext>
              </a:extLst>
            </p:cNvPr>
            <p:cNvSpPr>
              <a:spLocks noChangeArrowheads="1"/>
            </p:cNvSpPr>
            <p:nvPr/>
          </p:nvSpPr>
          <p:spPr bwMode="auto">
            <a:xfrm>
              <a:off x="6586539" y="2144713"/>
              <a:ext cx="12700" cy="34925"/>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1" name="Freeform 496">
              <a:extLst>
                <a:ext uri="{FF2B5EF4-FFF2-40B4-BE49-F238E27FC236}">
                  <a16:creationId xmlns:a16="http://schemas.microsoft.com/office/drawing/2014/main" id="{EC384163-A867-098D-F107-1E5BB9ED0446}"/>
                </a:ext>
              </a:extLst>
            </p:cNvPr>
            <p:cNvSpPr>
              <a:spLocks/>
            </p:cNvSpPr>
            <p:nvPr/>
          </p:nvSpPr>
          <p:spPr bwMode="auto">
            <a:xfrm>
              <a:off x="6623051" y="2206626"/>
              <a:ext cx="158750" cy="117475"/>
            </a:xfrm>
            <a:custGeom>
              <a:avLst/>
              <a:gdLst>
                <a:gd name="T0" fmla="*/ 196 w 196"/>
                <a:gd name="T1" fmla="*/ 146 h 146"/>
                <a:gd name="T2" fmla="*/ 180 w 196"/>
                <a:gd name="T3" fmla="*/ 146 h 146"/>
                <a:gd name="T4" fmla="*/ 106 w 196"/>
                <a:gd name="T5" fmla="*/ 48 h 146"/>
                <a:gd name="T6" fmla="*/ 0 w 196"/>
                <a:gd name="T7" fmla="*/ 15 h 146"/>
                <a:gd name="T8" fmla="*/ 5 w 196"/>
                <a:gd name="T9" fmla="*/ 0 h 146"/>
                <a:gd name="T10" fmla="*/ 111 w 196"/>
                <a:gd name="T11" fmla="*/ 32 h 146"/>
                <a:gd name="T12" fmla="*/ 19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96" y="146"/>
                  </a:moveTo>
                  <a:lnTo>
                    <a:pt x="180" y="146"/>
                  </a:lnTo>
                  <a:cubicBezTo>
                    <a:pt x="180" y="101"/>
                    <a:pt x="150" y="61"/>
                    <a:pt x="106" y="48"/>
                  </a:cubicBezTo>
                  <a:lnTo>
                    <a:pt x="0" y="15"/>
                  </a:lnTo>
                  <a:lnTo>
                    <a:pt x="5" y="0"/>
                  </a:lnTo>
                  <a:lnTo>
                    <a:pt x="111" y="32"/>
                  </a:lnTo>
                  <a:cubicBezTo>
                    <a:pt x="162" y="47"/>
                    <a:pt x="196" y="93"/>
                    <a:pt x="19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2" name="Rectangle 497">
              <a:extLst>
                <a:ext uri="{FF2B5EF4-FFF2-40B4-BE49-F238E27FC236}">
                  <a16:creationId xmlns:a16="http://schemas.microsoft.com/office/drawing/2014/main" id="{8C2907F4-5E9C-7C3D-CA44-FCA5289AC50D}"/>
                </a:ext>
              </a:extLst>
            </p:cNvPr>
            <p:cNvSpPr>
              <a:spLocks noChangeArrowheads="1"/>
            </p:cNvSpPr>
            <p:nvPr/>
          </p:nvSpPr>
          <p:spPr bwMode="auto">
            <a:xfrm>
              <a:off x="6483351" y="2144713"/>
              <a:ext cx="12700" cy="39688"/>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3" name="Freeform 498">
              <a:extLst>
                <a:ext uri="{FF2B5EF4-FFF2-40B4-BE49-F238E27FC236}">
                  <a16:creationId xmlns:a16="http://schemas.microsoft.com/office/drawing/2014/main" id="{00FC45DC-2E87-8695-8311-B91127D87A1D}"/>
                </a:ext>
              </a:extLst>
            </p:cNvPr>
            <p:cNvSpPr>
              <a:spLocks/>
            </p:cNvSpPr>
            <p:nvPr/>
          </p:nvSpPr>
          <p:spPr bwMode="auto">
            <a:xfrm>
              <a:off x="6302376" y="2206626"/>
              <a:ext cx="157163" cy="117475"/>
            </a:xfrm>
            <a:custGeom>
              <a:avLst/>
              <a:gdLst>
                <a:gd name="T0" fmla="*/ 16 w 196"/>
                <a:gd name="T1" fmla="*/ 146 h 146"/>
                <a:gd name="T2" fmla="*/ 0 w 196"/>
                <a:gd name="T3" fmla="*/ 146 h 146"/>
                <a:gd name="T4" fmla="*/ 85 w 196"/>
                <a:gd name="T5" fmla="*/ 32 h 146"/>
                <a:gd name="T6" fmla="*/ 191 w 196"/>
                <a:gd name="T7" fmla="*/ 0 h 146"/>
                <a:gd name="T8" fmla="*/ 196 w 196"/>
                <a:gd name="T9" fmla="*/ 15 h 146"/>
                <a:gd name="T10" fmla="*/ 90 w 196"/>
                <a:gd name="T11" fmla="*/ 48 h 146"/>
                <a:gd name="T12" fmla="*/ 1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6" y="146"/>
                  </a:moveTo>
                  <a:lnTo>
                    <a:pt x="0" y="146"/>
                  </a:lnTo>
                  <a:cubicBezTo>
                    <a:pt x="0" y="93"/>
                    <a:pt x="34" y="47"/>
                    <a:pt x="85" y="32"/>
                  </a:cubicBezTo>
                  <a:lnTo>
                    <a:pt x="191" y="0"/>
                  </a:lnTo>
                  <a:lnTo>
                    <a:pt x="196" y="15"/>
                  </a:lnTo>
                  <a:lnTo>
                    <a:pt x="90" y="48"/>
                  </a:lnTo>
                  <a:cubicBezTo>
                    <a:pt x="46" y="61"/>
                    <a:pt x="16" y="101"/>
                    <a:pt x="1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4" name="Freeform 499">
              <a:extLst>
                <a:ext uri="{FF2B5EF4-FFF2-40B4-BE49-F238E27FC236}">
                  <a16:creationId xmlns:a16="http://schemas.microsoft.com/office/drawing/2014/main" id="{EFEF915B-9248-C86B-F0D6-3558BD40F6FE}"/>
                </a:ext>
              </a:extLst>
            </p:cNvPr>
            <p:cNvSpPr>
              <a:spLocks noEditPoints="1"/>
            </p:cNvSpPr>
            <p:nvPr/>
          </p:nvSpPr>
          <p:spPr bwMode="auto">
            <a:xfrm>
              <a:off x="6443664" y="1927226"/>
              <a:ext cx="195263" cy="250825"/>
            </a:xfrm>
            <a:custGeom>
              <a:avLst/>
              <a:gdLst>
                <a:gd name="T0" fmla="*/ 48 w 243"/>
                <a:gd name="T1" fmla="*/ 44 h 311"/>
                <a:gd name="T2" fmla="*/ 17 w 243"/>
                <a:gd name="T3" fmla="*/ 108 h 311"/>
                <a:gd name="T4" fmla="*/ 17 w 243"/>
                <a:gd name="T5" fmla="*/ 200 h 311"/>
                <a:gd name="T6" fmla="*/ 88 w 243"/>
                <a:gd name="T7" fmla="*/ 285 h 311"/>
                <a:gd name="T8" fmla="*/ 155 w 243"/>
                <a:gd name="T9" fmla="*/ 285 h 311"/>
                <a:gd name="T10" fmla="*/ 226 w 243"/>
                <a:gd name="T11" fmla="*/ 200 h 311"/>
                <a:gd name="T12" fmla="*/ 226 w 243"/>
                <a:gd name="T13" fmla="*/ 81 h 311"/>
                <a:gd name="T14" fmla="*/ 197 w 243"/>
                <a:gd name="T15" fmla="*/ 32 h 311"/>
                <a:gd name="T16" fmla="*/ 175 w 243"/>
                <a:gd name="T17" fmla="*/ 18 h 311"/>
                <a:gd name="T18" fmla="*/ 175 w 243"/>
                <a:gd name="T19" fmla="*/ 19 h 311"/>
                <a:gd name="T20" fmla="*/ 160 w 243"/>
                <a:gd name="T21" fmla="*/ 59 h 311"/>
                <a:gd name="T22" fmla="*/ 84 w 243"/>
                <a:gd name="T23" fmla="*/ 52 h 311"/>
                <a:gd name="T24" fmla="*/ 48 w 243"/>
                <a:gd name="T25" fmla="*/ 44 h 311"/>
                <a:gd name="T26" fmla="*/ 121 w 243"/>
                <a:gd name="T27" fmla="*/ 311 h 311"/>
                <a:gd name="T28" fmla="*/ 79 w 243"/>
                <a:gd name="T29" fmla="*/ 299 h 311"/>
                <a:gd name="T30" fmla="*/ 0 w 243"/>
                <a:gd name="T31" fmla="*/ 200 h 311"/>
                <a:gd name="T32" fmla="*/ 0 w 243"/>
                <a:gd name="T33" fmla="*/ 108 h 311"/>
                <a:gd name="T34" fmla="*/ 48 w 243"/>
                <a:gd name="T35" fmla="*/ 27 h 311"/>
                <a:gd name="T36" fmla="*/ 88 w 243"/>
                <a:gd name="T37" fmla="*/ 36 h 311"/>
                <a:gd name="T38" fmla="*/ 152 w 243"/>
                <a:gd name="T39" fmla="*/ 44 h 311"/>
                <a:gd name="T40" fmla="*/ 159 w 243"/>
                <a:gd name="T41" fmla="*/ 23 h 311"/>
                <a:gd name="T42" fmla="*/ 160 w 243"/>
                <a:gd name="T43" fmla="*/ 6 h 311"/>
                <a:gd name="T44" fmla="*/ 171 w 243"/>
                <a:gd name="T45" fmla="*/ 1 h 311"/>
                <a:gd name="T46" fmla="*/ 171 w 243"/>
                <a:gd name="T47" fmla="*/ 1 h 311"/>
                <a:gd name="T48" fmla="*/ 209 w 243"/>
                <a:gd name="T49" fmla="*/ 20 h 311"/>
                <a:gd name="T50" fmla="*/ 243 w 243"/>
                <a:gd name="T51" fmla="*/ 81 h 311"/>
                <a:gd name="T52" fmla="*/ 243 w 243"/>
                <a:gd name="T53" fmla="*/ 200 h 311"/>
                <a:gd name="T54" fmla="*/ 164 w 243"/>
                <a:gd name="T55" fmla="*/ 299 h 311"/>
                <a:gd name="T56" fmla="*/ 121 w 243"/>
                <a:gd name="T57" fmla="*/ 311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3" h="311">
                  <a:moveTo>
                    <a:pt x="48" y="44"/>
                  </a:moveTo>
                  <a:cubicBezTo>
                    <a:pt x="22" y="44"/>
                    <a:pt x="17" y="69"/>
                    <a:pt x="17" y="108"/>
                  </a:cubicBezTo>
                  <a:lnTo>
                    <a:pt x="17" y="200"/>
                  </a:lnTo>
                  <a:cubicBezTo>
                    <a:pt x="17" y="235"/>
                    <a:pt x="62" y="268"/>
                    <a:pt x="88" y="285"/>
                  </a:cubicBezTo>
                  <a:cubicBezTo>
                    <a:pt x="109" y="298"/>
                    <a:pt x="134" y="298"/>
                    <a:pt x="155" y="285"/>
                  </a:cubicBezTo>
                  <a:cubicBezTo>
                    <a:pt x="181" y="268"/>
                    <a:pt x="226" y="235"/>
                    <a:pt x="226" y="200"/>
                  </a:cubicBezTo>
                  <a:lnTo>
                    <a:pt x="226" y="81"/>
                  </a:lnTo>
                  <a:cubicBezTo>
                    <a:pt x="226" y="70"/>
                    <a:pt x="213" y="47"/>
                    <a:pt x="197" y="32"/>
                  </a:cubicBezTo>
                  <a:cubicBezTo>
                    <a:pt x="188" y="23"/>
                    <a:pt x="180" y="19"/>
                    <a:pt x="175" y="18"/>
                  </a:cubicBezTo>
                  <a:cubicBezTo>
                    <a:pt x="175" y="18"/>
                    <a:pt x="175" y="18"/>
                    <a:pt x="175" y="19"/>
                  </a:cubicBezTo>
                  <a:cubicBezTo>
                    <a:pt x="178" y="28"/>
                    <a:pt x="184" y="47"/>
                    <a:pt x="160" y="59"/>
                  </a:cubicBezTo>
                  <a:cubicBezTo>
                    <a:pt x="142" y="68"/>
                    <a:pt x="112" y="60"/>
                    <a:pt x="84" y="52"/>
                  </a:cubicBezTo>
                  <a:cubicBezTo>
                    <a:pt x="69" y="48"/>
                    <a:pt x="56" y="44"/>
                    <a:pt x="48" y="44"/>
                  </a:cubicBezTo>
                  <a:close/>
                  <a:moveTo>
                    <a:pt x="121" y="311"/>
                  </a:moveTo>
                  <a:cubicBezTo>
                    <a:pt x="107" y="311"/>
                    <a:pt x="92" y="307"/>
                    <a:pt x="79" y="299"/>
                  </a:cubicBezTo>
                  <a:cubicBezTo>
                    <a:pt x="43" y="276"/>
                    <a:pt x="0" y="241"/>
                    <a:pt x="0" y="200"/>
                  </a:cubicBezTo>
                  <a:lnTo>
                    <a:pt x="0" y="108"/>
                  </a:lnTo>
                  <a:cubicBezTo>
                    <a:pt x="0" y="84"/>
                    <a:pt x="0" y="27"/>
                    <a:pt x="48" y="27"/>
                  </a:cubicBezTo>
                  <a:cubicBezTo>
                    <a:pt x="58" y="27"/>
                    <a:pt x="72" y="31"/>
                    <a:pt x="88" y="36"/>
                  </a:cubicBezTo>
                  <a:cubicBezTo>
                    <a:pt x="111" y="42"/>
                    <a:pt x="140" y="50"/>
                    <a:pt x="152" y="44"/>
                  </a:cubicBezTo>
                  <a:cubicBezTo>
                    <a:pt x="164" y="39"/>
                    <a:pt x="162" y="33"/>
                    <a:pt x="159" y="23"/>
                  </a:cubicBezTo>
                  <a:cubicBezTo>
                    <a:pt x="158" y="18"/>
                    <a:pt x="156" y="12"/>
                    <a:pt x="160" y="6"/>
                  </a:cubicBezTo>
                  <a:cubicBezTo>
                    <a:pt x="162" y="3"/>
                    <a:pt x="166" y="1"/>
                    <a:pt x="171" y="1"/>
                  </a:cubicBezTo>
                  <a:lnTo>
                    <a:pt x="171" y="1"/>
                  </a:lnTo>
                  <a:cubicBezTo>
                    <a:pt x="185" y="0"/>
                    <a:pt x="199" y="11"/>
                    <a:pt x="209" y="20"/>
                  </a:cubicBezTo>
                  <a:cubicBezTo>
                    <a:pt x="225" y="36"/>
                    <a:pt x="243" y="63"/>
                    <a:pt x="243" y="81"/>
                  </a:cubicBezTo>
                  <a:lnTo>
                    <a:pt x="243" y="200"/>
                  </a:lnTo>
                  <a:cubicBezTo>
                    <a:pt x="243" y="241"/>
                    <a:pt x="200" y="276"/>
                    <a:pt x="164" y="299"/>
                  </a:cubicBezTo>
                  <a:cubicBezTo>
                    <a:pt x="151" y="307"/>
                    <a:pt x="136" y="311"/>
                    <a:pt x="121" y="311"/>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5" name="Freeform 500">
              <a:extLst>
                <a:ext uri="{FF2B5EF4-FFF2-40B4-BE49-F238E27FC236}">
                  <a16:creationId xmlns:a16="http://schemas.microsoft.com/office/drawing/2014/main" id="{3C7B413E-8A61-3BDA-14A4-D89253AB45A7}"/>
                </a:ext>
              </a:extLst>
            </p:cNvPr>
            <p:cNvSpPr>
              <a:spLocks noEditPoints="1"/>
            </p:cNvSpPr>
            <p:nvPr/>
          </p:nvSpPr>
          <p:spPr bwMode="auto">
            <a:xfrm>
              <a:off x="6413501" y="2011363"/>
              <a:ext cx="44450" cy="85725"/>
            </a:xfrm>
            <a:custGeom>
              <a:avLst/>
              <a:gdLst>
                <a:gd name="T0" fmla="*/ 27 w 55"/>
                <a:gd name="T1" fmla="*/ 17 h 107"/>
                <a:gd name="T2" fmla="*/ 16 w 55"/>
                <a:gd name="T3" fmla="*/ 27 h 107"/>
                <a:gd name="T4" fmla="*/ 16 w 55"/>
                <a:gd name="T5" fmla="*/ 30 h 107"/>
                <a:gd name="T6" fmla="*/ 26 w 55"/>
                <a:gd name="T7" fmla="*/ 75 h 107"/>
                <a:gd name="T8" fmla="*/ 39 w 55"/>
                <a:gd name="T9" fmla="*/ 89 h 107"/>
                <a:gd name="T10" fmla="*/ 38 w 55"/>
                <a:gd name="T11" fmla="*/ 17 h 107"/>
                <a:gd name="T12" fmla="*/ 27 w 55"/>
                <a:gd name="T13" fmla="*/ 17 h 107"/>
                <a:gd name="T14" fmla="*/ 55 w 55"/>
                <a:gd name="T15" fmla="*/ 107 h 107"/>
                <a:gd name="T16" fmla="*/ 47 w 55"/>
                <a:gd name="T17" fmla="*/ 107 h 107"/>
                <a:gd name="T18" fmla="*/ 12 w 55"/>
                <a:gd name="T19" fmla="*/ 82 h 107"/>
                <a:gd name="T20" fmla="*/ 0 w 55"/>
                <a:gd name="T21" fmla="*/ 30 h 107"/>
                <a:gd name="T22" fmla="*/ 0 w 55"/>
                <a:gd name="T23" fmla="*/ 27 h 107"/>
                <a:gd name="T24" fmla="*/ 27 w 55"/>
                <a:gd name="T25" fmla="*/ 0 h 107"/>
                <a:gd name="T26" fmla="*/ 55 w 55"/>
                <a:gd name="T27" fmla="*/ 0 h 107"/>
                <a:gd name="T28" fmla="*/ 55 w 55"/>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 h="107">
                  <a:moveTo>
                    <a:pt x="27" y="17"/>
                  </a:moveTo>
                  <a:cubicBezTo>
                    <a:pt x="21" y="17"/>
                    <a:pt x="16" y="21"/>
                    <a:pt x="16" y="27"/>
                  </a:cubicBezTo>
                  <a:lnTo>
                    <a:pt x="16" y="30"/>
                  </a:lnTo>
                  <a:cubicBezTo>
                    <a:pt x="16" y="46"/>
                    <a:pt x="20" y="62"/>
                    <a:pt x="26" y="75"/>
                  </a:cubicBezTo>
                  <a:cubicBezTo>
                    <a:pt x="31" y="83"/>
                    <a:pt x="34" y="87"/>
                    <a:pt x="39" y="89"/>
                  </a:cubicBezTo>
                  <a:lnTo>
                    <a:pt x="38" y="17"/>
                  </a:lnTo>
                  <a:lnTo>
                    <a:pt x="27" y="17"/>
                  </a:lnTo>
                  <a:close/>
                  <a:moveTo>
                    <a:pt x="55" y="107"/>
                  </a:moveTo>
                  <a:lnTo>
                    <a:pt x="47" y="107"/>
                  </a:lnTo>
                  <a:cubicBezTo>
                    <a:pt x="28" y="107"/>
                    <a:pt x="19" y="98"/>
                    <a:pt x="12" y="82"/>
                  </a:cubicBezTo>
                  <a:cubicBezTo>
                    <a:pt x="4" y="67"/>
                    <a:pt x="0" y="49"/>
                    <a:pt x="0" y="30"/>
                  </a:cubicBezTo>
                  <a:lnTo>
                    <a:pt x="0" y="27"/>
                  </a:lnTo>
                  <a:cubicBezTo>
                    <a:pt x="0" y="12"/>
                    <a:pt x="12" y="0"/>
                    <a:pt x="27" y="0"/>
                  </a:cubicBezTo>
                  <a:lnTo>
                    <a:pt x="55" y="0"/>
                  </a:lnTo>
                  <a:lnTo>
                    <a:pt x="55" y="10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6" name="Freeform 501">
              <a:extLst>
                <a:ext uri="{FF2B5EF4-FFF2-40B4-BE49-F238E27FC236}">
                  <a16:creationId xmlns:a16="http://schemas.microsoft.com/office/drawing/2014/main" id="{97074A5A-533A-64BD-D072-614ABBF50928}"/>
                </a:ext>
              </a:extLst>
            </p:cNvPr>
            <p:cNvSpPr>
              <a:spLocks/>
            </p:cNvSpPr>
            <p:nvPr/>
          </p:nvSpPr>
          <p:spPr bwMode="auto">
            <a:xfrm>
              <a:off x="6411914" y="1846263"/>
              <a:ext cx="260350" cy="174625"/>
            </a:xfrm>
            <a:custGeom>
              <a:avLst/>
              <a:gdLst>
                <a:gd name="T0" fmla="*/ 9 w 323"/>
                <a:gd name="T1" fmla="*/ 217 h 217"/>
                <a:gd name="T2" fmla="*/ 4 w 323"/>
                <a:gd name="T3" fmla="*/ 186 h 217"/>
                <a:gd name="T4" fmla="*/ 11 w 323"/>
                <a:gd name="T5" fmla="*/ 105 h 217"/>
                <a:gd name="T6" fmla="*/ 161 w 323"/>
                <a:gd name="T7" fmla="*/ 2 h 217"/>
                <a:gd name="T8" fmla="*/ 312 w 323"/>
                <a:gd name="T9" fmla="*/ 105 h 217"/>
                <a:gd name="T10" fmla="*/ 318 w 323"/>
                <a:gd name="T11" fmla="*/ 186 h 217"/>
                <a:gd name="T12" fmla="*/ 313 w 323"/>
                <a:gd name="T13" fmla="*/ 217 h 217"/>
                <a:gd name="T14" fmla="*/ 297 w 323"/>
                <a:gd name="T15" fmla="*/ 214 h 217"/>
                <a:gd name="T16" fmla="*/ 302 w 323"/>
                <a:gd name="T17" fmla="*/ 184 h 217"/>
                <a:gd name="T18" fmla="*/ 296 w 323"/>
                <a:gd name="T19" fmla="*/ 111 h 217"/>
                <a:gd name="T20" fmla="*/ 161 w 323"/>
                <a:gd name="T21" fmla="*/ 18 h 217"/>
                <a:gd name="T22" fmla="*/ 26 w 323"/>
                <a:gd name="T23" fmla="*/ 111 h 217"/>
                <a:gd name="T24" fmla="*/ 21 w 323"/>
                <a:gd name="T25" fmla="*/ 184 h 217"/>
                <a:gd name="T26" fmla="*/ 26 w 323"/>
                <a:gd name="T27" fmla="*/ 214 h 217"/>
                <a:gd name="T28" fmla="*/ 9 w 323"/>
                <a:gd name="T29" fmla="*/ 21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3" h="217">
                  <a:moveTo>
                    <a:pt x="9" y="217"/>
                  </a:moveTo>
                  <a:lnTo>
                    <a:pt x="4" y="186"/>
                  </a:lnTo>
                  <a:cubicBezTo>
                    <a:pt x="0" y="157"/>
                    <a:pt x="2" y="129"/>
                    <a:pt x="11" y="105"/>
                  </a:cubicBezTo>
                  <a:cubicBezTo>
                    <a:pt x="34" y="41"/>
                    <a:pt x="95" y="0"/>
                    <a:pt x="161" y="2"/>
                  </a:cubicBezTo>
                  <a:cubicBezTo>
                    <a:pt x="228" y="0"/>
                    <a:pt x="288" y="41"/>
                    <a:pt x="312" y="105"/>
                  </a:cubicBezTo>
                  <a:cubicBezTo>
                    <a:pt x="321" y="129"/>
                    <a:pt x="323" y="157"/>
                    <a:pt x="318" y="186"/>
                  </a:cubicBezTo>
                  <a:lnTo>
                    <a:pt x="313" y="217"/>
                  </a:lnTo>
                  <a:lnTo>
                    <a:pt x="297" y="214"/>
                  </a:lnTo>
                  <a:lnTo>
                    <a:pt x="302" y="184"/>
                  </a:lnTo>
                  <a:cubicBezTo>
                    <a:pt x="306" y="157"/>
                    <a:pt x="304" y="132"/>
                    <a:pt x="296" y="111"/>
                  </a:cubicBezTo>
                  <a:cubicBezTo>
                    <a:pt x="275" y="54"/>
                    <a:pt x="222" y="17"/>
                    <a:pt x="161" y="18"/>
                  </a:cubicBezTo>
                  <a:cubicBezTo>
                    <a:pt x="102" y="17"/>
                    <a:pt x="47" y="54"/>
                    <a:pt x="26" y="111"/>
                  </a:cubicBezTo>
                  <a:cubicBezTo>
                    <a:pt x="18" y="132"/>
                    <a:pt x="16" y="157"/>
                    <a:pt x="21" y="184"/>
                  </a:cubicBezTo>
                  <a:lnTo>
                    <a:pt x="26" y="214"/>
                  </a:lnTo>
                  <a:lnTo>
                    <a:pt x="9" y="21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7" name="Freeform 502">
              <a:extLst>
                <a:ext uri="{FF2B5EF4-FFF2-40B4-BE49-F238E27FC236}">
                  <a16:creationId xmlns:a16="http://schemas.microsoft.com/office/drawing/2014/main" id="{A570678F-21EE-9A2E-04B2-814F03EF7611}"/>
                </a:ext>
              </a:extLst>
            </p:cNvPr>
            <p:cNvSpPr>
              <a:spLocks noEditPoints="1"/>
            </p:cNvSpPr>
            <p:nvPr/>
          </p:nvSpPr>
          <p:spPr bwMode="auto">
            <a:xfrm>
              <a:off x="6626226" y="2011363"/>
              <a:ext cx="44450" cy="85725"/>
            </a:xfrm>
            <a:custGeom>
              <a:avLst/>
              <a:gdLst>
                <a:gd name="T0" fmla="*/ 17 w 56"/>
                <a:gd name="T1" fmla="*/ 17 h 107"/>
                <a:gd name="T2" fmla="*/ 17 w 56"/>
                <a:gd name="T3" fmla="*/ 89 h 107"/>
                <a:gd name="T4" fmla="*/ 29 w 56"/>
                <a:gd name="T5" fmla="*/ 75 h 107"/>
                <a:gd name="T6" fmla="*/ 40 w 56"/>
                <a:gd name="T7" fmla="*/ 30 h 107"/>
                <a:gd name="T8" fmla="*/ 40 w 56"/>
                <a:gd name="T9" fmla="*/ 27 h 107"/>
                <a:gd name="T10" fmla="*/ 29 w 56"/>
                <a:gd name="T11" fmla="*/ 17 h 107"/>
                <a:gd name="T12" fmla="*/ 17 w 56"/>
                <a:gd name="T13" fmla="*/ 17 h 107"/>
                <a:gd name="T14" fmla="*/ 9 w 56"/>
                <a:gd name="T15" fmla="*/ 107 h 107"/>
                <a:gd name="T16" fmla="*/ 0 w 56"/>
                <a:gd name="T17" fmla="*/ 107 h 107"/>
                <a:gd name="T18" fmla="*/ 1 w 56"/>
                <a:gd name="T19" fmla="*/ 0 h 107"/>
                <a:gd name="T20" fmla="*/ 29 w 56"/>
                <a:gd name="T21" fmla="*/ 0 h 107"/>
                <a:gd name="T22" fmla="*/ 56 w 56"/>
                <a:gd name="T23" fmla="*/ 27 h 107"/>
                <a:gd name="T24" fmla="*/ 56 w 56"/>
                <a:gd name="T25" fmla="*/ 30 h 107"/>
                <a:gd name="T26" fmla="*/ 44 w 56"/>
                <a:gd name="T27" fmla="*/ 82 h 107"/>
                <a:gd name="T28" fmla="*/ 9 w 56"/>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107">
                  <a:moveTo>
                    <a:pt x="17" y="17"/>
                  </a:moveTo>
                  <a:lnTo>
                    <a:pt x="17" y="89"/>
                  </a:lnTo>
                  <a:cubicBezTo>
                    <a:pt x="22" y="87"/>
                    <a:pt x="25" y="83"/>
                    <a:pt x="29" y="75"/>
                  </a:cubicBezTo>
                  <a:cubicBezTo>
                    <a:pt x="36" y="62"/>
                    <a:pt x="40" y="46"/>
                    <a:pt x="40" y="30"/>
                  </a:cubicBezTo>
                  <a:lnTo>
                    <a:pt x="40" y="27"/>
                  </a:lnTo>
                  <a:cubicBezTo>
                    <a:pt x="40" y="21"/>
                    <a:pt x="35" y="17"/>
                    <a:pt x="29" y="17"/>
                  </a:cubicBezTo>
                  <a:lnTo>
                    <a:pt x="17" y="17"/>
                  </a:lnTo>
                  <a:close/>
                  <a:moveTo>
                    <a:pt x="9" y="107"/>
                  </a:moveTo>
                  <a:lnTo>
                    <a:pt x="0" y="107"/>
                  </a:lnTo>
                  <a:lnTo>
                    <a:pt x="1" y="0"/>
                  </a:lnTo>
                  <a:lnTo>
                    <a:pt x="29" y="0"/>
                  </a:lnTo>
                  <a:cubicBezTo>
                    <a:pt x="44" y="0"/>
                    <a:pt x="56" y="12"/>
                    <a:pt x="56" y="27"/>
                  </a:cubicBezTo>
                  <a:lnTo>
                    <a:pt x="56" y="30"/>
                  </a:lnTo>
                  <a:cubicBezTo>
                    <a:pt x="56" y="49"/>
                    <a:pt x="52" y="67"/>
                    <a:pt x="44" y="82"/>
                  </a:cubicBezTo>
                  <a:cubicBezTo>
                    <a:pt x="36" y="98"/>
                    <a:pt x="28" y="107"/>
                    <a:pt x="9" y="107"/>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8" name="Freeform 503">
              <a:extLst>
                <a:ext uri="{FF2B5EF4-FFF2-40B4-BE49-F238E27FC236}">
                  <a16:creationId xmlns:a16="http://schemas.microsoft.com/office/drawing/2014/main" id="{9E4C931B-D7CC-822B-1D8D-858A1597C62D}"/>
                </a:ext>
              </a:extLst>
            </p:cNvPr>
            <p:cNvSpPr>
              <a:spLocks noEditPoints="1"/>
            </p:cNvSpPr>
            <p:nvPr/>
          </p:nvSpPr>
          <p:spPr bwMode="auto">
            <a:xfrm>
              <a:off x="6530976" y="2166938"/>
              <a:ext cx="103188" cy="103188"/>
            </a:xfrm>
            <a:custGeom>
              <a:avLst/>
              <a:gdLst>
                <a:gd name="T0" fmla="*/ 25 w 128"/>
                <a:gd name="T1" fmla="*/ 72 h 127"/>
                <a:gd name="T2" fmla="*/ 56 w 128"/>
                <a:gd name="T3" fmla="*/ 104 h 127"/>
                <a:gd name="T4" fmla="*/ 106 w 128"/>
                <a:gd name="T5" fmla="*/ 56 h 127"/>
                <a:gd name="T6" fmla="*/ 81 w 128"/>
                <a:gd name="T7" fmla="*/ 24 h 127"/>
                <a:gd name="T8" fmla="*/ 25 w 128"/>
                <a:gd name="T9" fmla="*/ 72 h 127"/>
                <a:gd name="T10" fmla="*/ 55 w 128"/>
                <a:gd name="T11" fmla="*/ 127 h 127"/>
                <a:gd name="T12" fmla="*/ 0 w 128"/>
                <a:gd name="T13" fmla="*/ 71 h 127"/>
                <a:gd name="T14" fmla="*/ 84 w 128"/>
                <a:gd name="T15" fmla="*/ 0 h 127"/>
                <a:gd name="T16" fmla="*/ 128 w 128"/>
                <a:gd name="T17" fmla="*/ 57 h 127"/>
                <a:gd name="T18" fmla="*/ 55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5" y="72"/>
                  </a:moveTo>
                  <a:lnTo>
                    <a:pt x="56" y="104"/>
                  </a:lnTo>
                  <a:lnTo>
                    <a:pt x="106" y="56"/>
                  </a:lnTo>
                  <a:lnTo>
                    <a:pt x="81" y="24"/>
                  </a:lnTo>
                  <a:lnTo>
                    <a:pt x="25" y="72"/>
                  </a:lnTo>
                  <a:close/>
                  <a:moveTo>
                    <a:pt x="55" y="127"/>
                  </a:moveTo>
                  <a:lnTo>
                    <a:pt x="0" y="71"/>
                  </a:lnTo>
                  <a:lnTo>
                    <a:pt x="84" y="0"/>
                  </a:lnTo>
                  <a:lnTo>
                    <a:pt x="128" y="57"/>
                  </a:lnTo>
                  <a:lnTo>
                    <a:pt x="55"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9" name="Freeform 504">
              <a:extLst>
                <a:ext uri="{FF2B5EF4-FFF2-40B4-BE49-F238E27FC236}">
                  <a16:creationId xmlns:a16="http://schemas.microsoft.com/office/drawing/2014/main" id="{B56318DA-A724-A5F0-D172-5DC818E355F9}"/>
                </a:ext>
              </a:extLst>
            </p:cNvPr>
            <p:cNvSpPr>
              <a:spLocks noEditPoints="1"/>
            </p:cNvSpPr>
            <p:nvPr/>
          </p:nvSpPr>
          <p:spPr bwMode="auto">
            <a:xfrm>
              <a:off x="6448426" y="2166938"/>
              <a:ext cx="103188" cy="103188"/>
            </a:xfrm>
            <a:custGeom>
              <a:avLst/>
              <a:gdLst>
                <a:gd name="T0" fmla="*/ 22 w 128"/>
                <a:gd name="T1" fmla="*/ 56 h 127"/>
                <a:gd name="T2" fmla="*/ 72 w 128"/>
                <a:gd name="T3" fmla="*/ 104 h 127"/>
                <a:gd name="T4" fmla="*/ 103 w 128"/>
                <a:gd name="T5" fmla="*/ 72 h 127"/>
                <a:gd name="T6" fmla="*/ 47 w 128"/>
                <a:gd name="T7" fmla="*/ 24 h 127"/>
                <a:gd name="T8" fmla="*/ 22 w 128"/>
                <a:gd name="T9" fmla="*/ 56 h 127"/>
                <a:gd name="T10" fmla="*/ 73 w 128"/>
                <a:gd name="T11" fmla="*/ 127 h 127"/>
                <a:gd name="T12" fmla="*/ 0 w 128"/>
                <a:gd name="T13" fmla="*/ 57 h 127"/>
                <a:gd name="T14" fmla="*/ 44 w 128"/>
                <a:gd name="T15" fmla="*/ 0 h 127"/>
                <a:gd name="T16" fmla="*/ 128 w 128"/>
                <a:gd name="T17" fmla="*/ 71 h 127"/>
                <a:gd name="T18" fmla="*/ 73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2" y="56"/>
                  </a:moveTo>
                  <a:lnTo>
                    <a:pt x="72" y="104"/>
                  </a:lnTo>
                  <a:lnTo>
                    <a:pt x="103" y="72"/>
                  </a:lnTo>
                  <a:lnTo>
                    <a:pt x="47" y="24"/>
                  </a:lnTo>
                  <a:lnTo>
                    <a:pt x="22" y="56"/>
                  </a:lnTo>
                  <a:close/>
                  <a:moveTo>
                    <a:pt x="73" y="127"/>
                  </a:moveTo>
                  <a:lnTo>
                    <a:pt x="0" y="57"/>
                  </a:lnTo>
                  <a:lnTo>
                    <a:pt x="44" y="0"/>
                  </a:lnTo>
                  <a:lnTo>
                    <a:pt x="128" y="71"/>
                  </a:lnTo>
                  <a:lnTo>
                    <a:pt x="73"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0" name="Freeform 505">
              <a:extLst>
                <a:ext uri="{FF2B5EF4-FFF2-40B4-BE49-F238E27FC236}">
                  <a16:creationId xmlns:a16="http://schemas.microsoft.com/office/drawing/2014/main" id="{DA37EFDB-4FEF-D51D-A665-8632B1183C3C}"/>
                </a:ext>
              </a:extLst>
            </p:cNvPr>
            <p:cNvSpPr>
              <a:spLocks/>
            </p:cNvSpPr>
            <p:nvPr/>
          </p:nvSpPr>
          <p:spPr bwMode="auto">
            <a:xfrm>
              <a:off x="6508751" y="2249488"/>
              <a:ext cx="66675" cy="31750"/>
            </a:xfrm>
            <a:custGeom>
              <a:avLst/>
              <a:gdLst>
                <a:gd name="T0" fmla="*/ 41 w 83"/>
                <a:gd name="T1" fmla="*/ 40 h 40"/>
                <a:gd name="T2" fmla="*/ 20 w 83"/>
                <a:gd name="T3" fmla="*/ 31 h 40"/>
                <a:gd name="T4" fmla="*/ 0 w 83"/>
                <a:gd name="T5" fmla="*/ 12 h 40"/>
                <a:gd name="T6" fmla="*/ 12 w 83"/>
                <a:gd name="T7" fmla="*/ 0 h 40"/>
                <a:gd name="T8" fmla="*/ 32 w 83"/>
                <a:gd name="T9" fmla="*/ 19 h 40"/>
                <a:gd name="T10" fmla="*/ 51 w 83"/>
                <a:gd name="T11" fmla="*/ 19 h 40"/>
                <a:gd name="T12" fmla="*/ 71 w 83"/>
                <a:gd name="T13" fmla="*/ 0 h 40"/>
                <a:gd name="T14" fmla="*/ 83 w 83"/>
                <a:gd name="T15" fmla="*/ 12 h 40"/>
                <a:gd name="T16" fmla="*/ 63 w 83"/>
                <a:gd name="T17" fmla="*/ 31 h 40"/>
                <a:gd name="T18" fmla="*/ 41 w 83"/>
                <a:gd name="T1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40">
                  <a:moveTo>
                    <a:pt x="41" y="40"/>
                  </a:moveTo>
                  <a:cubicBezTo>
                    <a:pt x="34" y="40"/>
                    <a:pt x="26" y="37"/>
                    <a:pt x="20" y="31"/>
                  </a:cubicBezTo>
                  <a:lnTo>
                    <a:pt x="0" y="12"/>
                  </a:lnTo>
                  <a:lnTo>
                    <a:pt x="12" y="0"/>
                  </a:lnTo>
                  <a:lnTo>
                    <a:pt x="32" y="19"/>
                  </a:lnTo>
                  <a:cubicBezTo>
                    <a:pt x="37" y="24"/>
                    <a:pt x="46" y="24"/>
                    <a:pt x="51" y="19"/>
                  </a:cubicBezTo>
                  <a:lnTo>
                    <a:pt x="71" y="0"/>
                  </a:lnTo>
                  <a:lnTo>
                    <a:pt x="83" y="12"/>
                  </a:lnTo>
                  <a:lnTo>
                    <a:pt x="63" y="31"/>
                  </a:lnTo>
                  <a:cubicBezTo>
                    <a:pt x="57" y="37"/>
                    <a:pt x="49" y="40"/>
                    <a:pt x="41" y="40"/>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1" name="Freeform 506">
              <a:extLst>
                <a:ext uri="{FF2B5EF4-FFF2-40B4-BE49-F238E27FC236}">
                  <a16:creationId xmlns:a16="http://schemas.microsoft.com/office/drawing/2014/main" id="{63AFEE70-8A75-8F8C-3984-67F84151ECD2}"/>
                </a:ext>
              </a:extLst>
            </p:cNvPr>
            <p:cNvSpPr>
              <a:spLocks/>
            </p:cNvSpPr>
            <p:nvPr/>
          </p:nvSpPr>
          <p:spPr bwMode="auto">
            <a:xfrm>
              <a:off x="6508751" y="2268538"/>
              <a:ext cx="25400" cy="57150"/>
            </a:xfrm>
            <a:custGeom>
              <a:avLst/>
              <a:gdLst>
                <a:gd name="T0" fmla="*/ 8 w 16"/>
                <a:gd name="T1" fmla="*/ 36 h 36"/>
                <a:gd name="T2" fmla="*/ 0 w 16"/>
                <a:gd name="T3" fmla="*/ 34 h 36"/>
                <a:gd name="T4" fmla="*/ 8 w 16"/>
                <a:gd name="T5" fmla="*/ 0 h 36"/>
                <a:gd name="T6" fmla="*/ 16 w 16"/>
                <a:gd name="T7" fmla="*/ 2 h 36"/>
                <a:gd name="T8" fmla="*/ 8 w 16"/>
                <a:gd name="T9" fmla="*/ 36 h 36"/>
              </a:gdLst>
              <a:ahLst/>
              <a:cxnLst>
                <a:cxn ang="0">
                  <a:pos x="T0" y="T1"/>
                </a:cxn>
                <a:cxn ang="0">
                  <a:pos x="T2" y="T3"/>
                </a:cxn>
                <a:cxn ang="0">
                  <a:pos x="T4" y="T5"/>
                </a:cxn>
                <a:cxn ang="0">
                  <a:pos x="T6" y="T7"/>
                </a:cxn>
                <a:cxn ang="0">
                  <a:pos x="T8" y="T9"/>
                </a:cxn>
              </a:cxnLst>
              <a:rect l="0" t="0" r="r" b="b"/>
              <a:pathLst>
                <a:path w="16" h="36">
                  <a:moveTo>
                    <a:pt x="8" y="36"/>
                  </a:moveTo>
                  <a:lnTo>
                    <a:pt x="0" y="34"/>
                  </a:lnTo>
                  <a:lnTo>
                    <a:pt x="8" y="0"/>
                  </a:lnTo>
                  <a:lnTo>
                    <a:pt x="16" y="2"/>
                  </a:lnTo>
                  <a:lnTo>
                    <a:pt x="8"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2" name="Freeform 507">
              <a:extLst>
                <a:ext uri="{FF2B5EF4-FFF2-40B4-BE49-F238E27FC236}">
                  <a16:creationId xmlns:a16="http://schemas.microsoft.com/office/drawing/2014/main" id="{0BBD64C5-8214-23FF-D33B-133E470AF9A8}"/>
                </a:ext>
              </a:extLst>
            </p:cNvPr>
            <p:cNvSpPr>
              <a:spLocks/>
            </p:cNvSpPr>
            <p:nvPr/>
          </p:nvSpPr>
          <p:spPr bwMode="auto">
            <a:xfrm>
              <a:off x="6548439" y="2268538"/>
              <a:ext cx="26988" cy="57150"/>
            </a:xfrm>
            <a:custGeom>
              <a:avLst/>
              <a:gdLst>
                <a:gd name="T0" fmla="*/ 9 w 17"/>
                <a:gd name="T1" fmla="*/ 36 h 36"/>
                <a:gd name="T2" fmla="*/ 0 w 17"/>
                <a:gd name="T3" fmla="*/ 2 h 36"/>
                <a:gd name="T4" fmla="*/ 9 w 17"/>
                <a:gd name="T5" fmla="*/ 0 h 36"/>
                <a:gd name="T6" fmla="*/ 17 w 17"/>
                <a:gd name="T7" fmla="*/ 34 h 36"/>
                <a:gd name="T8" fmla="*/ 9 w 17"/>
                <a:gd name="T9" fmla="*/ 36 h 36"/>
              </a:gdLst>
              <a:ahLst/>
              <a:cxnLst>
                <a:cxn ang="0">
                  <a:pos x="T0" y="T1"/>
                </a:cxn>
                <a:cxn ang="0">
                  <a:pos x="T2" y="T3"/>
                </a:cxn>
                <a:cxn ang="0">
                  <a:pos x="T4" y="T5"/>
                </a:cxn>
                <a:cxn ang="0">
                  <a:pos x="T6" y="T7"/>
                </a:cxn>
                <a:cxn ang="0">
                  <a:pos x="T8" y="T9"/>
                </a:cxn>
              </a:cxnLst>
              <a:rect l="0" t="0" r="r" b="b"/>
              <a:pathLst>
                <a:path w="17" h="36">
                  <a:moveTo>
                    <a:pt x="9" y="36"/>
                  </a:moveTo>
                  <a:lnTo>
                    <a:pt x="0" y="2"/>
                  </a:lnTo>
                  <a:lnTo>
                    <a:pt x="9" y="0"/>
                  </a:lnTo>
                  <a:lnTo>
                    <a:pt x="17" y="34"/>
                  </a:lnTo>
                  <a:lnTo>
                    <a:pt x="9"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04" name="Woman29" descr="{&quot;Key&quot;:&quot;POWER_USER_SHAPE_ICON&quot;,&quot;Value&quot;:&quot;POWER_USER_SHAPE_ICON_STYLE_1&quot;}">
            <a:extLst>
              <a:ext uri="{FF2B5EF4-FFF2-40B4-BE49-F238E27FC236}">
                <a16:creationId xmlns:a16="http://schemas.microsoft.com/office/drawing/2014/main" id="{C609D01E-A026-2257-ED1B-2A448E6C486A}"/>
              </a:ext>
            </a:extLst>
          </p:cNvPr>
          <p:cNvGrpSpPr>
            <a:grpSpLocks noChangeAspect="1"/>
          </p:cNvGrpSpPr>
          <p:nvPr/>
        </p:nvGrpSpPr>
        <p:grpSpPr>
          <a:xfrm>
            <a:off x="3599131" y="5897934"/>
            <a:ext cx="324000" cy="421913"/>
            <a:chOff x="3049573" y="285562"/>
            <a:chExt cx="588025" cy="755384"/>
          </a:xfrm>
        </p:grpSpPr>
        <p:sp>
          <p:nvSpPr>
            <p:cNvPr id="1105" name="Freeform: Shape 1104">
              <a:extLst>
                <a:ext uri="{FF2B5EF4-FFF2-40B4-BE49-F238E27FC236}">
                  <a16:creationId xmlns:a16="http://schemas.microsoft.com/office/drawing/2014/main" id="{0BBE4D0D-8708-C917-2982-0BE129EBB4C3}"/>
                </a:ext>
              </a:extLst>
            </p:cNvPr>
            <p:cNvSpPr/>
            <p:nvPr/>
          </p:nvSpPr>
          <p:spPr>
            <a:xfrm>
              <a:off x="3209793" y="747246"/>
              <a:ext cx="37681" cy="292030"/>
            </a:xfrm>
            <a:custGeom>
              <a:avLst/>
              <a:gdLst>
                <a:gd name="connsiteX0" fmla="*/ 38981 w 37681"/>
                <a:gd name="connsiteY0" fmla="*/ 293902 h 292030"/>
                <a:gd name="connsiteX1" fmla="*/ 0 w 37681"/>
                <a:gd name="connsiteY1" fmla="*/ 0 h 292030"/>
              </a:gdLst>
              <a:ahLst/>
              <a:cxnLst>
                <a:cxn ang="0">
                  <a:pos x="connsiteX0" y="connsiteY0"/>
                </a:cxn>
                <a:cxn ang="0">
                  <a:pos x="connsiteX1" y="connsiteY1"/>
                </a:cxn>
              </a:cxnLst>
              <a:rect l="l" t="t" r="r" b="b"/>
              <a:pathLst>
                <a:path w="37681" h="292030">
                  <a:moveTo>
                    <a:pt x="38981" y="293902"/>
                  </a:moveTo>
                  <a:cubicBezTo>
                    <a:pt x="38981" y="153702"/>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6" name="Freeform: Shape 1105">
              <a:extLst>
                <a:ext uri="{FF2B5EF4-FFF2-40B4-BE49-F238E27FC236}">
                  <a16:creationId xmlns:a16="http://schemas.microsoft.com/office/drawing/2014/main" id="{C6B71E36-0730-5C8B-DD1C-D077E20A9824}"/>
                </a:ext>
              </a:extLst>
            </p:cNvPr>
            <p:cNvSpPr/>
            <p:nvPr/>
          </p:nvSpPr>
          <p:spPr>
            <a:xfrm>
              <a:off x="3445840" y="747246"/>
              <a:ext cx="37681" cy="292030"/>
            </a:xfrm>
            <a:custGeom>
              <a:avLst/>
              <a:gdLst>
                <a:gd name="connsiteX0" fmla="*/ 0 w 37681"/>
                <a:gd name="connsiteY0" fmla="*/ 293902 h 292030"/>
                <a:gd name="connsiteX1" fmla="*/ 38981 w 37681"/>
                <a:gd name="connsiteY1" fmla="*/ 0 h 292030"/>
              </a:gdLst>
              <a:ahLst/>
              <a:cxnLst>
                <a:cxn ang="0">
                  <a:pos x="connsiteX0" y="connsiteY0"/>
                </a:cxn>
                <a:cxn ang="0">
                  <a:pos x="connsiteX1" y="connsiteY1"/>
                </a:cxn>
              </a:cxnLst>
              <a:rect l="l" t="t" r="r" b="b"/>
              <a:pathLst>
                <a:path w="37681" h="292030">
                  <a:moveTo>
                    <a:pt x="0" y="293902"/>
                  </a:moveTo>
                  <a:cubicBezTo>
                    <a:pt x="0" y="153702"/>
                    <a:pt x="38981" y="0"/>
                    <a:pt x="38981"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7" name="Freeform: Shape 1106">
              <a:extLst>
                <a:ext uri="{FF2B5EF4-FFF2-40B4-BE49-F238E27FC236}">
                  <a16:creationId xmlns:a16="http://schemas.microsoft.com/office/drawing/2014/main" id="{CB092E6B-9F8D-3749-8775-C5C434D04D92}"/>
                </a:ext>
              </a:extLst>
            </p:cNvPr>
            <p:cNvSpPr/>
            <p:nvPr/>
          </p:nvSpPr>
          <p:spPr>
            <a:xfrm>
              <a:off x="3229595" y="847629"/>
              <a:ext cx="226088" cy="37681"/>
            </a:xfrm>
            <a:custGeom>
              <a:avLst/>
              <a:gdLst>
                <a:gd name="connsiteX0" fmla="*/ 0 w 226087"/>
                <a:gd name="connsiteY0" fmla="*/ 0 h 37681"/>
                <a:gd name="connsiteX1" fmla="*/ 117705 w 226087"/>
                <a:gd name="connsiteY1" fmla="*/ 39629 h 37681"/>
                <a:gd name="connsiteX2" fmla="*/ 235415 w 226087"/>
                <a:gd name="connsiteY2" fmla="*/ 0 h 37681"/>
              </a:gdLst>
              <a:ahLst/>
              <a:cxnLst>
                <a:cxn ang="0">
                  <a:pos x="connsiteX0" y="connsiteY0"/>
                </a:cxn>
                <a:cxn ang="0">
                  <a:pos x="connsiteX1" y="connsiteY1"/>
                </a:cxn>
                <a:cxn ang="0">
                  <a:pos x="connsiteX2" y="connsiteY2"/>
                </a:cxn>
              </a:cxnLst>
              <a:rect l="l" t="t" r="r" b="b"/>
              <a:pathLst>
                <a:path w="226087" h="37681">
                  <a:moveTo>
                    <a:pt x="0" y="0"/>
                  </a:moveTo>
                  <a:cubicBezTo>
                    <a:pt x="23527" y="23677"/>
                    <a:pt x="67370" y="39629"/>
                    <a:pt x="117705" y="39629"/>
                  </a:cubicBezTo>
                  <a:cubicBezTo>
                    <a:pt x="168040" y="39629"/>
                    <a:pt x="211888" y="23677"/>
                    <a:pt x="235415" y="0"/>
                  </a:cubicBezTo>
                </a:path>
              </a:pathLst>
            </a:custGeom>
            <a:noFill/>
            <a:ln w="19050" cap="flat">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8" name="Freeform: Shape 1107">
              <a:extLst>
                <a:ext uri="{FF2B5EF4-FFF2-40B4-BE49-F238E27FC236}">
                  <a16:creationId xmlns:a16="http://schemas.microsoft.com/office/drawing/2014/main" id="{1854EACD-CC86-343F-F862-ADCDCEC34A53}"/>
                </a:ext>
              </a:extLst>
            </p:cNvPr>
            <p:cNvSpPr/>
            <p:nvPr/>
          </p:nvSpPr>
          <p:spPr>
            <a:xfrm>
              <a:off x="3049573" y="466306"/>
              <a:ext cx="405074" cy="574640"/>
            </a:xfrm>
            <a:custGeom>
              <a:avLst/>
              <a:gdLst>
                <a:gd name="connsiteX0" fmla="*/ 7668 w 405074"/>
                <a:gd name="connsiteY0" fmla="*/ 574841 h 574640"/>
                <a:gd name="connsiteX1" fmla="*/ 0 w 405074"/>
                <a:gd name="connsiteY1" fmla="*/ 427884 h 574640"/>
                <a:gd name="connsiteX2" fmla="*/ 160220 w 405074"/>
                <a:gd name="connsiteY2" fmla="*/ 280939 h 574640"/>
                <a:gd name="connsiteX3" fmla="*/ 223296 w 405074"/>
                <a:gd name="connsiteY3" fmla="*/ 264310 h 574640"/>
                <a:gd name="connsiteX4" fmla="*/ 220838 w 405074"/>
                <a:gd name="connsiteY4" fmla="*/ 199937 h 574640"/>
                <a:gd name="connsiteX5" fmla="*/ 189393 w 405074"/>
                <a:gd name="connsiteY5" fmla="*/ 0 h 574640"/>
                <a:gd name="connsiteX6" fmla="*/ 412242 w 405074"/>
                <a:gd name="connsiteY6" fmla="*/ 21667 h 57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5074" h="574640">
                  <a:moveTo>
                    <a:pt x="7668" y="574841"/>
                  </a:moveTo>
                  <a:lnTo>
                    <a:pt x="0" y="427884"/>
                  </a:lnTo>
                  <a:cubicBezTo>
                    <a:pt x="0" y="352283"/>
                    <a:pt x="75579" y="308886"/>
                    <a:pt x="160220" y="280939"/>
                  </a:cubicBezTo>
                  <a:cubicBezTo>
                    <a:pt x="176734" y="275488"/>
                    <a:pt x="223296" y="264310"/>
                    <a:pt x="223296" y="264310"/>
                  </a:cubicBezTo>
                  <a:cubicBezTo>
                    <a:pt x="223983" y="247604"/>
                    <a:pt x="223233" y="219645"/>
                    <a:pt x="220838" y="199937"/>
                  </a:cubicBezTo>
                  <a:cubicBezTo>
                    <a:pt x="170420" y="131972"/>
                    <a:pt x="174300" y="35848"/>
                    <a:pt x="189393" y="0"/>
                  </a:cubicBezTo>
                  <a:cubicBezTo>
                    <a:pt x="225352" y="22006"/>
                    <a:pt x="314663" y="46047"/>
                    <a:pt x="412242" y="21667"/>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9" name="Freeform: Shape 1108">
              <a:extLst>
                <a:ext uri="{FF2B5EF4-FFF2-40B4-BE49-F238E27FC236}">
                  <a16:creationId xmlns:a16="http://schemas.microsoft.com/office/drawing/2014/main" id="{350EC1AE-F4EA-1FDC-D172-E453F3B336A7}"/>
                </a:ext>
              </a:extLst>
            </p:cNvPr>
            <p:cNvSpPr/>
            <p:nvPr/>
          </p:nvSpPr>
          <p:spPr>
            <a:xfrm>
              <a:off x="3383249" y="443836"/>
              <a:ext cx="254349" cy="593481"/>
            </a:xfrm>
            <a:custGeom>
              <a:avLst/>
              <a:gdLst>
                <a:gd name="connsiteX0" fmla="*/ 254119 w 254348"/>
                <a:gd name="connsiteY0" fmla="*/ 597312 h 593480"/>
                <a:gd name="connsiteX1" fmla="*/ 261792 w 254348"/>
                <a:gd name="connsiteY1" fmla="*/ 450355 h 593480"/>
                <a:gd name="connsiteX2" fmla="*/ 101573 w 254348"/>
                <a:gd name="connsiteY2" fmla="*/ 303410 h 593480"/>
                <a:gd name="connsiteX3" fmla="*/ 38456 w 254348"/>
                <a:gd name="connsiteY3" fmla="*/ 286730 h 593480"/>
                <a:gd name="connsiteX4" fmla="*/ 40806 w 254348"/>
                <a:gd name="connsiteY4" fmla="*/ 223601 h 593480"/>
                <a:gd name="connsiteX5" fmla="*/ 78567 w 254348"/>
                <a:gd name="connsiteY5" fmla="*/ 44138 h 593480"/>
                <a:gd name="connsiteX6" fmla="*/ 0 w 254348"/>
                <a:gd name="connsiteY6" fmla="*/ 0 h 59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348" h="593480">
                  <a:moveTo>
                    <a:pt x="254119" y="597312"/>
                  </a:moveTo>
                  <a:lnTo>
                    <a:pt x="261792" y="450355"/>
                  </a:lnTo>
                  <a:cubicBezTo>
                    <a:pt x="261792" y="374754"/>
                    <a:pt x="192421" y="327174"/>
                    <a:pt x="101573" y="303410"/>
                  </a:cubicBezTo>
                  <a:cubicBezTo>
                    <a:pt x="85779" y="299278"/>
                    <a:pt x="38456" y="286730"/>
                    <a:pt x="38456" y="286730"/>
                  </a:cubicBezTo>
                  <a:cubicBezTo>
                    <a:pt x="37774" y="270363"/>
                    <a:pt x="38466" y="242756"/>
                    <a:pt x="40806" y="223601"/>
                  </a:cubicBezTo>
                  <a:cubicBezTo>
                    <a:pt x="93099" y="152522"/>
                    <a:pt x="96465" y="83929"/>
                    <a:pt x="78567" y="44138"/>
                  </a:cubicBezTo>
                  <a:cubicBezTo>
                    <a:pt x="39315" y="31703"/>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0" name="Freeform: Shape 1109">
              <a:extLst>
                <a:ext uri="{FF2B5EF4-FFF2-40B4-BE49-F238E27FC236}">
                  <a16:creationId xmlns:a16="http://schemas.microsoft.com/office/drawing/2014/main" id="{5C852A6A-0223-4A8D-0652-F079F7CF2F79}"/>
                </a:ext>
              </a:extLst>
            </p:cNvPr>
            <p:cNvSpPr/>
            <p:nvPr/>
          </p:nvSpPr>
          <p:spPr>
            <a:xfrm>
              <a:off x="3152851" y="285562"/>
              <a:ext cx="386234" cy="480437"/>
            </a:xfrm>
            <a:custGeom>
              <a:avLst/>
              <a:gdLst>
                <a:gd name="connsiteX0" fmla="*/ 383695 w 386233"/>
                <a:gd name="connsiteY0" fmla="*/ 479344 h 480436"/>
                <a:gd name="connsiteX1" fmla="*/ 388714 w 386233"/>
                <a:gd name="connsiteY1" fmla="*/ 209470 h 480436"/>
                <a:gd name="connsiteX2" fmla="*/ 194444 w 386233"/>
                <a:gd name="connsiteY2" fmla="*/ 0 h 480436"/>
                <a:gd name="connsiteX3" fmla="*/ 107 w 386233"/>
                <a:gd name="connsiteY3" fmla="*/ 209646 h 480436"/>
                <a:gd name="connsiteX4" fmla="*/ 792 w 386233"/>
                <a:gd name="connsiteY4" fmla="*/ 483062 h 480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33" h="480436">
                  <a:moveTo>
                    <a:pt x="383695" y="479344"/>
                  </a:moveTo>
                  <a:cubicBezTo>
                    <a:pt x="334827" y="447063"/>
                    <a:pt x="391221" y="320103"/>
                    <a:pt x="388714" y="209470"/>
                  </a:cubicBezTo>
                  <a:cubicBezTo>
                    <a:pt x="388837" y="102141"/>
                    <a:pt x="307022" y="0"/>
                    <a:pt x="194444" y="0"/>
                  </a:cubicBezTo>
                  <a:cubicBezTo>
                    <a:pt x="83073" y="0"/>
                    <a:pt x="107" y="102292"/>
                    <a:pt x="107" y="209646"/>
                  </a:cubicBezTo>
                  <a:cubicBezTo>
                    <a:pt x="-2593" y="321949"/>
                    <a:pt x="47325" y="453168"/>
                    <a:pt x="792" y="483062"/>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11" name="Employee6" descr="{&quot;Key&quot;:&quot;POWER_USER_SHAPE_ICON&quot;,&quot;Value&quot;:&quot;POWER_USER_SHAPE_ICON_STYLE_1&quot;}">
            <a:extLst>
              <a:ext uri="{FF2B5EF4-FFF2-40B4-BE49-F238E27FC236}">
                <a16:creationId xmlns:a16="http://schemas.microsoft.com/office/drawing/2014/main" id="{2EE7DACC-0110-3866-DA06-F4346A1E6BFD}"/>
              </a:ext>
            </a:extLst>
          </p:cNvPr>
          <p:cNvGrpSpPr>
            <a:grpSpLocks noChangeAspect="1"/>
          </p:cNvGrpSpPr>
          <p:nvPr/>
        </p:nvGrpSpPr>
        <p:grpSpPr>
          <a:xfrm>
            <a:off x="3977330" y="5900505"/>
            <a:ext cx="324000" cy="416771"/>
            <a:chOff x="3584576" y="3348038"/>
            <a:chExt cx="230188" cy="292100"/>
          </a:xfrm>
          <a:solidFill>
            <a:schemeClr val="accent1"/>
          </a:solidFill>
        </p:grpSpPr>
        <p:sp>
          <p:nvSpPr>
            <p:cNvPr id="1112" name="Freeform 1099">
              <a:extLst>
                <a:ext uri="{FF2B5EF4-FFF2-40B4-BE49-F238E27FC236}">
                  <a16:creationId xmlns:a16="http://schemas.microsoft.com/office/drawing/2014/main" id="{AF6782DE-4CC2-3BB3-ACD8-11CE80EBDB43}"/>
                </a:ext>
              </a:extLst>
            </p:cNvPr>
            <p:cNvSpPr>
              <a:spLocks/>
            </p:cNvSpPr>
            <p:nvPr/>
          </p:nvSpPr>
          <p:spPr bwMode="auto">
            <a:xfrm>
              <a:off x="3621088" y="3433763"/>
              <a:ext cx="44450" cy="36513"/>
            </a:xfrm>
            <a:custGeom>
              <a:avLst/>
              <a:gdLst>
                <a:gd name="T0" fmla="*/ 109 w 218"/>
                <a:gd name="T1" fmla="*/ 159 h 176"/>
                <a:gd name="T2" fmla="*/ 109 w 218"/>
                <a:gd name="T3" fmla="*/ 143 h 176"/>
                <a:gd name="T4" fmla="*/ 55 w 218"/>
                <a:gd name="T5" fmla="*/ 120 h 176"/>
                <a:gd name="T6" fmla="*/ 33 w 218"/>
                <a:gd name="T7" fmla="*/ 67 h 176"/>
                <a:gd name="T8" fmla="*/ 33 w 218"/>
                <a:gd name="T9" fmla="*/ 33 h 176"/>
                <a:gd name="T10" fmla="*/ 185 w 218"/>
                <a:gd name="T11" fmla="*/ 33 h 176"/>
                <a:gd name="T12" fmla="*/ 185 w 218"/>
                <a:gd name="T13" fmla="*/ 67 h 176"/>
                <a:gd name="T14" fmla="*/ 163 w 218"/>
                <a:gd name="T15" fmla="*/ 120 h 176"/>
                <a:gd name="T16" fmla="*/ 109 w 218"/>
                <a:gd name="T17" fmla="*/ 143 h 176"/>
                <a:gd name="T18" fmla="*/ 109 w 218"/>
                <a:gd name="T19" fmla="*/ 159 h 176"/>
                <a:gd name="T20" fmla="*/ 109 w 218"/>
                <a:gd name="T21" fmla="*/ 176 h 176"/>
                <a:gd name="T22" fmla="*/ 218 w 218"/>
                <a:gd name="T23" fmla="*/ 67 h 176"/>
                <a:gd name="T24" fmla="*/ 218 w 218"/>
                <a:gd name="T25" fmla="*/ 0 h 176"/>
                <a:gd name="T26" fmla="*/ 0 w 218"/>
                <a:gd name="T27" fmla="*/ 0 h 176"/>
                <a:gd name="T28" fmla="*/ 0 w 218"/>
                <a:gd name="T29" fmla="*/ 67 h 176"/>
                <a:gd name="T30" fmla="*/ 109 w 218"/>
                <a:gd name="T31" fmla="*/ 176 h 176"/>
                <a:gd name="T32" fmla="*/ 109 w 218"/>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8" h="176">
                  <a:moveTo>
                    <a:pt x="109" y="159"/>
                  </a:moveTo>
                  <a:lnTo>
                    <a:pt x="109" y="143"/>
                  </a:lnTo>
                  <a:cubicBezTo>
                    <a:pt x="88" y="143"/>
                    <a:pt x="69" y="134"/>
                    <a:pt x="55" y="120"/>
                  </a:cubicBezTo>
                  <a:cubicBezTo>
                    <a:pt x="41" y="107"/>
                    <a:pt x="33" y="88"/>
                    <a:pt x="33" y="67"/>
                  </a:cubicBezTo>
                  <a:lnTo>
                    <a:pt x="33" y="33"/>
                  </a:lnTo>
                  <a:lnTo>
                    <a:pt x="185" y="33"/>
                  </a:lnTo>
                  <a:lnTo>
                    <a:pt x="185" y="67"/>
                  </a:lnTo>
                  <a:cubicBezTo>
                    <a:pt x="185" y="88"/>
                    <a:pt x="176" y="107"/>
                    <a:pt x="163" y="120"/>
                  </a:cubicBezTo>
                  <a:cubicBezTo>
                    <a:pt x="149" y="134"/>
                    <a:pt x="130" y="143"/>
                    <a:pt x="109" y="143"/>
                  </a:cubicBezTo>
                  <a:lnTo>
                    <a:pt x="109" y="159"/>
                  </a:lnTo>
                  <a:lnTo>
                    <a:pt x="109" y="176"/>
                  </a:lnTo>
                  <a:cubicBezTo>
                    <a:pt x="169" y="176"/>
                    <a:pt x="218" y="127"/>
                    <a:pt x="218" y="67"/>
                  </a:cubicBezTo>
                  <a:lnTo>
                    <a:pt x="218" y="0"/>
                  </a:lnTo>
                  <a:lnTo>
                    <a:pt x="0" y="0"/>
                  </a:lnTo>
                  <a:lnTo>
                    <a:pt x="0" y="67"/>
                  </a:lnTo>
                  <a:cubicBezTo>
                    <a:pt x="0" y="127"/>
                    <a:pt x="48" y="176"/>
                    <a:pt x="109" y="176"/>
                  </a:cubicBezTo>
                  <a:lnTo>
                    <a:pt x="109" y="159"/>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3" name="Freeform 1100">
              <a:extLst>
                <a:ext uri="{FF2B5EF4-FFF2-40B4-BE49-F238E27FC236}">
                  <a16:creationId xmlns:a16="http://schemas.microsoft.com/office/drawing/2014/main" id="{5CA9F050-AD1B-9C37-BCAE-8C5CDF0BF03A}"/>
                </a:ext>
              </a:extLst>
            </p:cNvPr>
            <p:cNvSpPr>
              <a:spLocks/>
            </p:cNvSpPr>
            <p:nvPr/>
          </p:nvSpPr>
          <p:spPr bwMode="auto">
            <a:xfrm>
              <a:off x="3671888" y="3433763"/>
              <a:ext cx="44450" cy="36513"/>
            </a:xfrm>
            <a:custGeom>
              <a:avLst/>
              <a:gdLst>
                <a:gd name="T0" fmla="*/ 109 w 219"/>
                <a:gd name="T1" fmla="*/ 159 h 176"/>
                <a:gd name="T2" fmla="*/ 109 w 219"/>
                <a:gd name="T3" fmla="*/ 143 h 176"/>
                <a:gd name="T4" fmla="*/ 56 w 219"/>
                <a:gd name="T5" fmla="*/ 120 h 176"/>
                <a:gd name="T6" fmla="*/ 33 w 219"/>
                <a:gd name="T7" fmla="*/ 67 h 176"/>
                <a:gd name="T8" fmla="*/ 33 w 219"/>
                <a:gd name="T9" fmla="*/ 33 h 176"/>
                <a:gd name="T10" fmla="*/ 185 w 219"/>
                <a:gd name="T11" fmla="*/ 33 h 176"/>
                <a:gd name="T12" fmla="*/ 185 w 219"/>
                <a:gd name="T13" fmla="*/ 67 h 176"/>
                <a:gd name="T14" fmla="*/ 163 w 219"/>
                <a:gd name="T15" fmla="*/ 120 h 176"/>
                <a:gd name="T16" fmla="*/ 109 w 219"/>
                <a:gd name="T17" fmla="*/ 143 h 176"/>
                <a:gd name="T18" fmla="*/ 109 w 219"/>
                <a:gd name="T19" fmla="*/ 159 h 176"/>
                <a:gd name="T20" fmla="*/ 109 w 219"/>
                <a:gd name="T21" fmla="*/ 176 h 176"/>
                <a:gd name="T22" fmla="*/ 219 w 219"/>
                <a:gd name="T23" fmla="*/ 67 h 176"/>
                <a:gd name="T24" fmla="*/ 219 w 219"/>
                <a:gd name="T25" fmla="*/ 0 h 176"/>
                <a:gd name="T26" fmla="*/ 0 w 219"/>
                <a:gd name="T27" fmla="*/ 0 h 176"/>
                <a:gd name="T28" fmla="*/ 0 w 219"/>
                <a:gd name="T29" fmla="*/ 67 h 176"/>
                <a:gd name="T30" fmla="*/ 109 w 219"/>
                <a:gd name="T31" fmla="*/ 176 h 176"/>
                <a:gd name="T32" fmla="*/ 109 w 219"/>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9" h="176">
                  <a:moveTo>
                    <a:pt x="109" y="159"/>
                  </a:moveTo>
                  <a:lnTo>
                    <a:pt x="109" y="143"/>
                  </a:lnTo>
                  <a:cubicBezTo>
                    <a:pt x="88" y="143"/>
                    <a:pt x="69" y="134"/>
                    <a:pt x="56" y="120"/>
                  </a:cubicBezTo>
                  <a:cubicBezTo>
                    <a:pt x="42" y="107"/>
                    <a:pt x="33" y="88"/>
                    <a:pt x="33" y="67"/>
                  </a:cubicBezTo>
                  <a:lnTo>
                    <a:pt x="33" y="33"/>
                  </a:lnTo>
                  <a:lnTo>
                    <a:pt x="185" y="33"/>
                  </a:lnTo>
                  <a:lnTo>
                    <a:pt x="185" y="67"/>
                  </a:lnTo>
                  <a:cubicBezTo>
                    <a:pt x="185" y="88"/>
                    <a:pt x="177" y="107"/>
                    <a:pt x="163" y="120"/>
                  </a:cubicBezTo>
                  <a:cubicBezTo>
                    <a:pt x="149" y="134"/>
                    <a:pt x="130" y="143"/>
                    <a:pt x="109" y="143"/>
                  </a:cubicBezTo>
                  <a:lnTo>
                    <a:pt x="109" y="159"/>
                  </a:lnTo>
                  <a:lnTo>
                    <a:pt x="109" y="176"/>
                  </a:lnTo>
                  <a:cubicBezTo>
                    <a:pt x="170" y="176"/>
                    <a:pt x="219" y="127"/>
                    <a:pt x="219" y="67"/>
                  </a:cubicBezTo>
                  <a:lnTo>
                    <a:pt x="219" y="0"/>
                  </a:lnTo>
                  <a:lnTo>
                    <a:pt x="0" y="0"/>
                  </a:lnTo>
                  <a:lnTo>
                    <a:pt x="0" y="67"/>
                  </a:lnTo>
                  <a:cubicBezTo>
                    <a:pt x="0" y="127"/>
                    <a:pt x="49" y="176"/>
                    <a:pt x="109" y="176"/>
                  </a:cubicBezTo>
                  <a:lnTo>
                    <a:pt x="109" y="15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4" name="Freeform 1101">
              <a:extLst>
                <a:ext uri="{FF2B5EF4-FFF2-40B4-BE49-F238E27FC236}">
                  <a16:creationId xmlns:a16="http://schemas.microsoft.com/office/drawing/2014/main" id="{9252D9BC-FCD2-0FAD-9F3A-5C1AC6C2673B}"/>
                </a:ext>
              </a:extLst>
            </p:cNvPr>
            <p:cNvSpPr>
              <a:spLocks/>
            </p:cNvSpPr>
            <p:nvPr/>
          </p:nvSpPr>
          <p:spPr bwMode="auto">
            <a:xfrm>
              <a:off x="3584576" y="3570288"/>
              <a:ext cx="60325" cy="69850"/>
            </a:xfrm>
            <a:custGeom>
              <a:avLst/>
              <a:gdLst>
                <a:gd name="T0" fmla="*/ 280 w 290"/>
                <a:gd name="T1" fmla="*/ 0 h 339"/>
                <a:gd name="T2" fmla="*/ 142 w 290"/>
                <a:gd name="T3" fmla="*/ 43 h 339"/>
                <a:gd name="T4" fmla="*/ 142 w 290"/>
                <a:gd name="T5" fmla="*/ 43 h 339"/>
                <a:gd name="T6" fmla="*/ 0 w 290"/>
                <a:gd name="T7" fmla="*/ 248 h 339"/>
                <a:gd name="T8" fmla="*/ 0 w 290"/>
                <a:gd name="T9" fmla="*/ 339 h 339"/>
                <a:gd name="T10" fmla="*/ 33 w 290"/>
                <a:gd name="T11" fmla="*/ 339 h 339"/>
                <a:gd name="T12" fmla="*/ 33 w 290"/>
                <a:gd name="T13" fmla="*/ 248 h 339"/>
                <a:gd name="T14" fmla="*/ 153 w 290"/>
                <a:gd name="T15" fmla="*/ 75 h 339"/>
                <a:gd name="T16" fmla="*/ 148 w 290"/>
                <a:gd name="T17" fmla="*/ 59 h 339"/>
                <a:gd name="T18" fmla="*/ 153 w 290"/>
                <a:gd name="T19" fmla="*/ 75 h 339"/>
                <a:gd name="T20" fmla="*/ 290 w 290"/>
                <a:gd name="T21" fmla="*/ 32 h 339"/>
                <a:gd name="T22" fmla="*/ 280 w 290"/>
                <a:gd name="T2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280" y="0"/>
                  </a:moveTo>
                  <a:lnTo>
                    <a:pt x="142" y="43"/>
                  </a:lnTo>
                  <a:lnTo>
                    <a:pt x="142" y="43"/>
                  </a:lnTo>
                  <a:cubicBezTo>
                    <a:pt x="56" y="75"/>
                    <a:pt x="0" y="157"/>
                    <a:pt x="0" y="248"/>
                  </a:cubicBezTo>
                  <a:lnTo>
                    <a:pt x="0" y="339"/>
                  </a:lnTo>
                  <a:lnTo>
                    <a:pt x="33" y="339"/>
                  </a:lnTo>
                  <a:lnTo>
                    <a:pt x="33" y="248"/>
                  </a:lnTo>
                  <a:cubicBezTo>
                    <a:pt x="33" y="170"/>
                    <a:pt x="81" y="101"/>
                    <a:pt x="153" y="75"/>
                  </a:cubicBezTo>
                  <a:lnTo>
                    <a:pt x="148" y="59"/>
                  </a:lnTo>
                  <a:lnTo>
                    <a:pt x="153" y="75"/>
                  </a:lnTo>
                  <a:lnTo>
                    <a:pt x="290" y="32"/>
                  </a:lnTo>
                  <a:lnTo>
                    <a:pt x="28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5" name="Freeform 1102">
              <a:extLst>
                <a:ext uri="{FF2B5EF4-FFF2-40B4-BE49-F238E27FC236}">
                  <a16:creationId xmlns:a16="http://schemas.microsoft.com/office/drawing/2014/main" id="{75BD26A2-3A3D-D588-FE12-1266DD7649F4}"/>
                </a:ext>
              </a:extLst>
            </p:cNvPr>
            <p:cNvSpPr>
              <a:spLocks/>
            </p:cNvSpPr>
            <p:nvPr/>
          </p:nvSpPr>
          <p:spPr bwMode="auto">
            <a:xfrm>
              <a:off x="3660776" y="3530600"/>
              <a:ext cx="12700" cy="25400"/>
            </a:xfrm>
            <a:custGeom>
              <a:avLst/>
              <a:gdLst>
                <a:gd name="T0" fmla="*/ 27 w 60"/>
                <a:gd name="T1" fmla="*/ 2 h 124"/>
                <a:gd name="T2" fmla="*/ 27 w 60"/>
                <a:gd name="T3" fmla="*/ 2 h 124"/>
                <a:gd name="T4" fmla="*/ 27 w 60"/>
                <a:gd name="T5" fmla="*/ 5 h 124"/>
                <a:gd name="T6" fmla="*/ 0 w 60"/>
                <a:gd name="T7" fmla="*/ 108 h 124"/>
                <a:gd name="T8" fmla="*/ 29 w 60"/>
                <a:gd name="T9" fmla="*/ 124 h 124"/>
                <a:gd name="T10" fmla="*/ 60 w 60"/>
                <a:gd name="T11" fmla="*/ 5 h 124"/>
                <a:gd name="T12" fmla="*/ 60 w 60"/>
                <a:gd name="T13" fmla="*/ 0 h 124"/>
                <a:gd name="T14" fmla="*/ 27 w 60"/>
                <a:gd name="T15" fmla="*/ 2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124">
                  <a:moveTo>
                    <a:pt x="27" y="2"/>
                  </a:moveTo>
                  <a:lnTo>
                    <a:pt x="27" y="2"/>
                  </a:lnTo>
                  <a:cubicBezTo>
                    <a:pt x="27" y="3"/>
                    <a:pt x="27" y="4"/>
                    <a:pt x="27" y="5"/>
                  </a:cubicBezTo>
                  <a:cubicBezTo>
                    <a:pt x="27" y="17"/>
                    <a:pt x="25" y="60"/>
                    <a:pt x="0" y="108"/>
                  </a:cubicBezTo>
                  <a:lnTo>
                    <a:pt x="29" y="124"/>
                  </a:lnTo>
                  <a:cubicBezTo>
                    <a:pt x="58" y="69"/>
                    <a:pt x="60" y="21"/>
                    <a:pt x="60" y="5"/>
                  </a:cubicBezTo>
                  <a:cubicBezTo>
                    <a:pt x="60" y="2"/>
                    <a:pt x="60" y="1"/>
                    <a:pt x="60" y="0"/>
                  </a:cubicBezTo>
                  <a:lnTo>
                    <a:pt x="27" y="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6" name="Freeform 1103">
              <a:extLst>
                <a:ext uri="{FF2B5EF4-FFF2-40B4-BE49-F238E27FC236}">
                  <a16:creationId xmlns:a16="http://schemas.microsoft.com/office/drawing/2014/main" id="{3B02079E-AF1F-C3E7-FD8C-BACF342FF6AA}"/>
                </a:ext>
              </a:extLst>
            </p:cNvPr>
            <p:cNvSpPr>
              <a:spLocks/>
            </p:cNvSpPr>
            <p:nvPr/>
          </p:nvSpPr>
          <p:spPr bwMode="auto">
            <a:xfrm>
              <a:off x="3756026" y="3570288"/>
              <a:ext cx="58738" cy="69850"/>
            </a:xfrm>
            <a:custGeom>
              <a:avLst/>
              <a:gdLst>
                <a:gd name="T0" fmla="*/ 0 w 290"/>
                <a:gd name="T1" fmla="*/ 32 h 339"/>
                <a:gd name="T2" fmla="*/ 137 w 290"/>
                <a:gd name="T3" fmla="*/ 75 h 339"/>
                <a:gd name="T4" fmla="*/ 142 w 290"/>
                <a:gd name="T5" fmla="*/ 59 h 339"/>
                <a:gd name="T6" fmla="*/ 136 w 290"/>
                <a:gd name="T7" fmla="*/ 75 h 339"/>
                <a:gd name="T8" fmla="*/ 257 w 290"/>
                <a:gd name="T9" fmla="*/ 248 h 339"/>
                <a:gd name="T10" fmla="*/ 257 w 290"/>
                <a:gd name="T11" fmla="*/ 339 h 339"/>
                <a:gd name="T12" fmla="*/ 290 w 290"/>
                <a:gd name="T13" fmla="*/ 339 h 339"/>
                <a:gd name="T14" fmla="*/ 290 w 290"/>
                <a:gd name="T15" fmla="*/ 248 h 339"/>
                <a:gd name="T16" fmla="*/ 148 w 290"/>
                <a:gd name="T17" fmla="*/ 43 h 339"/>
                <a:gd name="T18" fmla="*/ 148 w 290"/>
                <a:gd name="T19" fmla="*/ 43 h 339"/>
                <a:gd name="T20" fmla="*/ 10 w 290"/>
                <a:gd name="T21" fmla="*/ 0 h 339"/>
                <a:gd name="T22" fmla="*/ 0 w 290"/>
                <a:gd name="T23" fmla="*/ 32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0" y="32"/>
                  </a:moveTo>
                  <a:lnTo>
                    <a:pt x="137" y="75"/>
                  </a:lnTo>
                  <a:lnTo>
                    <a:pt x="142" y="59"/>
                  </a:lnTo>
                  <a:lnTo>
                    <a:pt x="136" y="75"/>
                  </a:lnTo>
                  <a:cubicBezTo>
                    <a:pt x="209" y="101"/>
                    <a:pt x="257" y="170"/>
                    <a:pt x="257" y="248"/>
                  </a:cubicBezTo>
                  <a:lnTo>
                    <a:pt x="257" y="339"/>
                  </a:lnTo>
                  <a:lnTo>
                    <a:pt x="290" y="339"/>
                  </a:lnTo>
                  <a:lnTo>
                    <a:pt x="290" y="248"/>
                  </a:lnTo>
                  <a:cubicBezTo>
                    <a:pt x="290" y="157"/>
                    <a:pt x="233" y="75"/>
                    <a:pt x="148" y="43"/>
                  </a:cubicBezTo>
                  <a:lnTo>
                    <a:pt x="148" y="43"/>
                  </a:lnTo>
                  <a:lnTo>
                    <a:pt x="10" y="0"/>
                  </a:lnTo>
                  <a:lnTo>
                    <a:pt x="0" y="3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7" name="Freeform 1104">
              <a:extLst>
                <a:ext uri="{FF2B5EF4-FFF2-40B4-BE49-F238E27FC236}">
                  <a16:creationId xmlns:a16="http://schemas.microsoft.com/office/drawing/2014/main" id="{F72E5B39-6B55-3CAA-6C1D-934507B4B585}"/>
                </a:ext>
              </a:extLst>
            </p:cNvPr>
            <p:cNvSpPr>
              <a:spLocks/>
            </p:cNvSpPr>
            <p:nvPr/>
          </p:nvSpPr>
          <p:spPr bwMode="auto">
            <a:xfrm>
              <a:off x="3727451" y="3522663"/>
              <a:ext cx="11113" cy="33338"/>
            </a:xfrm>
            <a:custGeom>
              <a:avLst/>
              <a:gdLst>
                <a:gd name="T0" fmla="*/ 0 w 58"/>
                <a:gd name="T1" fmla="*/ 0 h 163"/>
                <a:gd name="T2" fmla="*/ 0 w 58"/>
                <a:gd name="T3" fmla="*/ 19 h 163"/>
                <a:gd name="T4" fmla="*/ 5 w 58"/>
                <a:gd name="T5" fmla="*/ 84 h 163"/>
                <a:gd name="T6" fmla="*/ 28 w 58"/>
                <a:gd name="T7" fmla="*/ 163 h 163"/>
                <a:gd name="T8" fmla="*/ 58 w 58"/>
                <a:gd name="T9" fmla="*/ 147 h 163"/>
                <a:gd name="T10" fmla="*/ 38 w 58"/>
                <a:gd name="T11" fmla="*/ 79 h 163"/>
                <a:gd name="T12" fmla="*/ 33 w 58"/>
                <a:gd name="T13" fmla="*/ 19 h 163"/>
                <a:gd name="T14" fmla="*/ 34 w 58"/>
                <a:gd name="T15" fmla="*/ 7 h 163"/>
                <a:gd name="T16" fmla="*/ 34 w 58"/>
                <a:gd name="T17" fmla="*/ 3 h 163"/>
                <a:gd name="T18" fmla="*/ 34 w 58"/>
                <a:gd name="T19" fmla="*/ 2 h 163"/>
                <a:gd name="T20" fmla="*/ 0 w 58"/>
                <a:gd name="T2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163">
                  <a:moveTo>
                    <a:pt x="0" y="0"/>
                  </a:moveTo>
                  <a:cubicBezTo>
                    <a:pt x="0" y="0"/>
                    <a:pt x="0" y="7"/>
                    <a:pt x="0" y="19"/>
                  </a:cubicBezTo>
                  <a:cubicBezTo>
                    <a:pt x="0" y="34"/>
                    <a:pt x="1" y="58"/>
                    <a:pt x="5" y="84"/>
                  </a:cubicBezTo>
                  <a:cubicBezTo>
                    <a:pt x="9" y="109"/>
                    <a:pt x="15" y="138"/>
                    <a:pt x="28" y="163"/>
                  </a:cubicBezTo>
                  <a:lnTo>
                    <a:pt x="58" y="147"/>
                  </a:lnTo>
                  <a:cubicBezTo>
                    <a:pt x="48" y="127"/>
                    <a:pt x="41" y="102"/>
                    <a:pt x="38" y="79"/>
                  </a:cubicBezTo>
                  <a:cubicBezTo>
                    <a:pt x="34" y="55"/>
                    <a:pt x="33" y="33"/>
                    <a:pt x="33" y="19"/>
                  </a:cubicBezTo>
                  <a:cubicBezTo>
                    <a:pt x="33" y="14"/>
                    <a:pt x="33" y="9"/>
                    <a:pt x="34" y="7"/>
                  </a:cubicBezTo>
                  <a:lnTo>
                    <a:pt x="34" y="3"/>
                  </a:lnTo>
                  <a:lnTo>
                    <a:pt x="34" y="2"/>
                  </a:lnTo>
                  <a:lnTo>
                    <a:pt x="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8" name="Freeform 1105">
              <a:extLst>
                <a:ext uri="{FF2B5EF4-FFF2-40B4-BE49-F238E27FC236}">
                  <a16:creationId xmlns:a16="http://schemas.microsoft.com/office/drawing/2014/main" id="{DBA66688-615B-C5DB-FDE9-502569D62E0D}"/>
                </a:ext>
              </a:extLst>
            </p:cNvPr>
            <p:cNvSpPr>
              <a:spLocks/>
            </p:cNvSpPr>
            <p:nvPr/>
          </p:nvSpPr>
          <p:spPr bwMode="auto">
            <a:xfrm>
              <a:off x="3611563" y="3348038"/>
              <a:ext cx="117475" cy="80963"/>
            </a:xfrm>
            <a:custGeom>
              <a:avLst/>
              <a:gdLst>
                <a:gd name="T0" fmla="*/ 543 w 573"/>
                <a:gd name="T1" fmla="*/ 8 h 389"/>
                <a:gd name="T2" fmla="*/ 419 w 573"/>
                <a:gd name="T3" fmla="*/ 0 h 389"/>
                <a:gd name="T4" fmla="*/ 162 w 573"/>
                <a:gd name="T5" fmla="*/ 46 h 389"/>
                <a:gd name="T6" fmla="*/ 53 w 573"/>
                <a:gd name="T7" fmla="*/ 128 h 389"/>
                <a:gd name="T8" fmla="*/ 1 w 573"/>
                <a:gd name="T9" fmla="*/ 269 h 389"/>
                <a:gd name="T10" fmla="*/ 0 w 573"/>
                <a:gd name="T11" fmla="*/ 287 h 389"/>
                <a:gd name="T12" fmla="*/ 221 w 573"/>
                <a:gd name="T13" fmla="*/ 287 h 389"/>
                <a:gd name="T14" fmla="*/ 221 w 573"/>
                <a:gd name="T15" fmla="*/ 270 h 389"/>
                <a:gd name="T16" fmla="*/ 206 w 573"/>
                <a:gd name="T17" fmla="*/ 277 h 389"/>
                <a:gd name="T18" fmla="*/ 261 w 573"/>
                <a:gd name="T19" fmla="*/ 335 h 389"/>
                <a:gd name="T20" fmla="*/ 476 w 573"/>
                <a:gd name="T21" fmla="*/ 389 h 389"/>
                <a:gd name="T22" fmla="*/ 573 w 573"/>
                <a:gd name="T23" fmla="*/ 389 h 389"/>
                <a:gd name="T24" fmla="*/ 573 w 573"/>
                <a:gd name="T25" fmla="*/ 356 h 389"/>
                <a:gd name="T26" fmla="*/ 476 w 573"/>
                <a:gd name="T27" fmla="*/ 356 h 389"/>
                <a:gd name="T28" fmla="*/ 280 w 573"/>
                <a:gd name="T29" fmla="*/ 308 h 389"/>
                <a:gd name="T30" fmla="*/ 244 w 573"/>
                <a:gd name="T31" fmla="*/ 276 h 389"/>
                <a:gd name="T32" fmla="*/ 237 w 573"/>
                <a:gd name="T33" fmla="*/ 266 h 389"/>
                <a:gd name="T34" fmla="*/ 236 w 573"/>
                <a:gd name="T35" fmla="*/ 263 h 389"/>
                <a:gd name="T36" fmla="*/ 236 w 573"/>
                <a:gd name="T37" fmla="*/ 263 h 389"/>
                <a:gd name="T38" fmla="*/ 236 w 573"/>
                <a:gd name="T39" fmla="*/ 263 h 389"/>
                <a:gd name="T40" fmla="*/ 226 w 573"/>
                <a:gd name="T41" fmla="*/ 267 h 389"/>
                <a:gd name="T42" fmla="*/ 236 w 573"/>
                <a:gd name="T43" fmla="*/ 263 h 389"/>
                <a:gd name="T44" fmla="*/ 236 w 573"/>
                <a:gd name="T45" fmla="*/ 263 h 389"/>
                <a:gd name="T46" fmla="*/ 226 w 573"/>
                <a:gd name="T47" fmla="*/ 267 h 389"/>
                <a:gd name="T48" fmla="*/ 236 w 573"/>
                <a:gd name="T49" fmla="*/ 263 h 389"/>
                <a:gd name="T50" fmla="*/ 231 w 573"/>
                <a:gd name="T51" fmla="*/ 253 h 389"/>
                <a:gd name="T52" fmla="*/ 18 w 573"/>
                <a:gd name="T53" fmla="*/ 253 h 389"/>
                <a:gd name="T54" fmla="*/ 18 w 573"/>
                <a:gd name="T55" fmla="*/ 270 h 389"/>
                <a:gd name="T56" fmla="*/ 35 w 573"/>
                <a:gd name="T57" fmla="*/ 271 h 389"/>
                <a:gd name="T58" fmla="*/ 80 w 573"/>
                <a:gd name="T59" fmla="*/ 148 h 389"/>
                <a:gd name="T60" fmla="*/ 235 w 573"/>
                <a:gd name="T61" fmla="*/ 55 h 389"/>
                <a:gd name="T62" fmla="*/ 419 w 573"/>
                <a:gd name="T63" fmla="*/ 33 h 389"/>
                <a:gd name="T64" fmla="*/ 505 w 573"/>
                <a:gd name="T65" fmla="*/ 37 h 389"/>
                <a:gd name="T66" fmla="*/ 529 w 573"/>
                <a:gd name="T67" fmla="*/ 39 h 389"/>
                <a:gd name="T68" fmla="*/ 536 w 573"/>
                <a:gd name="T69" fmla="*/ 40 h 389"/>
                <a:gd name="T70" fmla="*/ 538 w 573"/>
                <a:gd name="T71" fmla="*/ 41 h 389"/>
                <a:gd name="T72" fmla="*/ 543 w 573"/>
                <a:gd name="T73" fmla="*/ 8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73" h="389">
                  <a:moveTo>
                    <a:pt x="543" y="8"/>
                  </a:moveTo>
                  <a:cubicBezTo>
                    <a:pt x="542" y="7"/>
                    <a:pt x="491" y="0"/>
                    <a:pt x="419" y="0"/>
                  </a:cubicBezTo>
                  <a:cubicBezTo>
                    <a:pt x="343" y="0"/>
                    <a:pt x="245" y="8"/>
                    <a:pt x="162" y="46"/>
                  </a:cubicBezTo>
                  <a:cubicBezTo>
                    <a:pt x="120" y="65"/>
                    <a:pt x="82" y="91"/>
                    <a:pt x="53" y="128"/>
                  </a:cubicBezTo>
                  <a:cubicBezTo>
                    <a:pt x="25" y="164"/>
                    <a:pt x="6" y="211"/>
                    <a:pt x="1" y="269"/>
                  </a:cubicBezTo>
                  <a:lnTo>
                    <a:pt x="0" y="287"/>
                  </a:lnTo>
                  <a:lnTo>
                    <a:pt x="221" y="287"/>
                  </a:lnTo>
                  <a:lnTo>
                    <a:pt x="221" y="270"/>
                  </a:lnTo>
                  <a:lnTo>
                    <a:pt x="206" y="277"/>
                  </a:lnTo>
                  <a:cubicBezTo>
                    <a:pt x="207" y="279"/>
                    <a:pt x="220" y="307"/>
                    <a:pt x="261" y="335"/>
                  </a:cubicBezTo>
                  <a:cubicBezTo>
                    <a:pt x="302" y="363"/>
                    <a:pt x="370" y="389"/>
                    <a:pt x="476" y="389"/>
                  </a:cubicBezTo>
                  <a:lnTo>
                    <a:pt x="573" y="389"/>
                  </a:lnTo>
                  <a:lnTo>
                    <a:pt x="573" y="356"/>
                  </a:lnTo>
                  <a:lnTo>
                    <a:pt x="476" y="356"/>
                  </a:lnTo>
                  <a:cubicBezTo>
                    <a:pt x="375" y="356"/>
                    <a:pt x="315" y="331"/>
                    <a:pt x="280" y="308"/>
                  </a:cubicBezTo>
                  <a:cubicBezTo>
                    <a:pt x="262" y="296"/>
                    <a:pt x="251" y="284"/>
                    <a:pt x="244" y="276"/>
                  </a:cubicBezTo>
                  <a:cubicBezTo>
                    <a:pt x="241" y="271"/>
                    <a:pt x="239" y="268"/>
                    <a:pt x="237" y="266"/>
                  </a:cubicBezTo>
                  <a:lnTo>
                    <a:pt x="236" y="263"/>
                  </a:lnTo>
                  <a:lnTo>
                    <a:pt x="236" y="263"/>
                  </a:lnTo>
                  <a:lnTo>
                    <a:pt x="236" y="263"/>
                  </a:lnTo>
                  <a:lnTo>
                    <a:pt x="226" y="267"/>
                  </a:lnTo>
                  <a:lnTo>
                    <a:pt x="236" y="263"/>
                  </a:lnTo>
                  <a:lnTo>
                    <a:pt x="236" y="263"/>
                  </a:lnTo>
                  <a:lnTo>
                    <a:pt x="226" y="267"/>
                  </a:lnTo>
                  <a:lnTo>
                    <a:pt x="236" y="263"/>
                  </a:lnTo>
                  <a:lnTo>
                    <a:pt x="231" y="253"/>
                  </a:lnTo>
                  <a:lnTo>
                    <a:pt x="18" y="253"/>
                  </a:lnTo>
                  <a:lnTo>
                    <a:pt x="18" y="270"/>
                  </a:lnTo>
                  <a:lnTo>
                    <a:pt x="35" y="271"/>
                  </a:lnTo>
                  <a:cubicBezTo>
                    <a:pt x="39" y="219"/>
                    <a:pt x="55" y="180"/>
                    <a:pt x="80" y="148"/>
                  </a:cubicBezTo>
                  <a:cubicBezTo>
                    <a:pt x="117" y="101"/>
                    <a:pt x="173" y="72"/>
                    <a:pt x="235" y="55"/>
                  </a:cubicBezTo>
                  <a:cubicBezTo>
                    <a:pt x="297" y="38"/>
                    <a:pt x="364" y="33"/>
                    <a:pt x="419" y="33"/>
                  </a:cubicBezTo>
                  <a:cubicBezTo>
                    <a:pt x="454" y="33"/>
                    <a:pt x="484" y="35"/>
                    <a:pt x="505" y="37"/>
                  </a:cubicBezTo>
                  <a:cubicBezTo>
                    <a:pt x="515" y="38"/>
                    <a:pt x="524" y="39"/>
                    <a:pt x="529" y="39"/>
                  </a:cubicBezTo>
                  <a:cubicBezTo>
                    <a:pt x="532" y="40"/>
                    <a:pt x="534" y="40"/>
                    <a:pt x="536" y="40"/>
                  </a:cubicBezTo>
                  <a:lnTo>
                    <a:pt x="538" y="41"/>
                  </a:lnTo>
                  <a:lnTo>
                    <a:pt x="543" y="8"/>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9" name="Freeform 1106">
              <a:extLst>
                <a:ext uri="{FF2B5EF4-FFF2-40B4-BE49-F238E27FC236}">
                  <a16:creationId xmlns:a16="http://schemas.microsoft.com/office/drawing/2014/main" id="{8178E6B8-DF72-6B9D-684E-4D0A4B013F4B}"/>
                </a:ext>
              </a:extLst>
            </p:cNvPr>
            <p:cNvSpPr>
              <a:spLocks/>
            </p:cNvSpPr>
            <p:nvPr/>
          </p:nvSpPr>
          <p:spPr bwMode="auto">
            <a:xfrm>
              <a:off x="3716338" y="3362325"/>
              <a:ext cx="61913" cy="98425"/>
            </a:xfrm>
            <a:custGeom>
              <a:avLst/>
              <a:gdLst>
                <a:gd name="T0" fmla="*/ 4 w 297"/>
                <a:gd name="T1" fmla="*/ 34 h 483"/>
                <a:gd name="T2" fmla="*/ 4 w 297"/>
                <a:gd name="T3" fmla="*/ 34 h 483"/>
                <a:gd name="T4" fmla="*/ 19 w 297"/>
                <a:gd name="T5" fmla="*/ 34 h 483"/>
                <a:gd name="T6" fmla="*/ 163 w 297"/>
                <a:gd name="T7" fmla="*/ 79 h 483"/>
                <a:gd name="T8" fmla="*/ 233 w 297"/>
                <a:gd name="T9" fmla="*/ 170 h 483"/>
                <a:gd name="T10" fmla="*/ 264 w 297"/>
                <a:gd name="T11" fmla="*/ 341 h 483"/>
                <a:gd name="T12" fmla="*/ 261 w 297"/>
                <a:gd name="T13" fmla="*/ 398 h 483"/>
                <a:gd name="T14" fmla="*/ 206 w 297"/>
                <a:gd name="T15" fmla="*/ 450 h 483"/>
                <a:gd name="T16" fmla="*/ 206 w 297"/>
                <a:gd name="T17" fmla="*/ 483 h 483"/>
                <a:gd name="T18" fmla="*/ 295 w 297"/>
                <a:gd name="T19" fmla="*/ 401 h 483"/>
                <a:gd name="T20" fmla="*/ 297 w 297"/>
                <a:gd name="T21" fmla="*/ 341 h 483"/>
                <a:gd name="T22" fmla="*/ 263 w 297"/>
                <a:gd name="T23" fmla="*/ 157 h 483"/>
                <a:gd name="T24" fmla="*/ 136 w 297"/>
                <a:gd name="T25" fmla="*/ 25 h 483"/>
                <a:gd name="T26" fmla="*/ 19 w 297"/>
                <a:gd name="T27" fmla="*/ 0 h 483"/>
                <a:gd name="T28" fmla="*/ 0 w 297"/>
                <a:gd name="T29" fmla="*/ 1 h 483"/>
                <a:gd name="T30" fmla="*/ 4 w 297"/>
                <a:gd name="T31" fmla="*/ 34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7" h="483">
                  <a:moveTo>
                    <a:pt x="4" y="34"/>
                  </a:moveTo>
                  <a:lnTo>
                    <a:pt x="4" y="34"/>
                  </a:lnTo>
                  <a:cubicBezTo>
                    <a:pt x="5" y="34"/>
                    <a:pt x="10" y="34"/>
                    <a:pt x="19" y="34"/>
                  </a:cubicBezTo>
                  <a:cubicBezTo>
                    <a:pt x="48" y="34"/>
                    <a:pt x="110" y="39"/>
                    <a:pt x="163" y="79"/>
                  </a:cubicBezTo>
                  <a:cubicBezTo>
                    <a:pt x="189" y="100"/>
                    <a:pt x="214" y="128"/>
                    <a:pt x="233" y="170"/>
                  </a:cubicBezTo>
                  <a:cubicBezTo>
                    <a:pt x="251" y="212"/>
                    <a:pt x="264" y="267"/>
                    <a:pt x="264" y="341"/>
                  </a:cubicBezTo>
                  <a:cubicBezTo>
                    <a:pt x="264" y="359"/>
                    <a:pt x="263" y="378"/>
                    <a:pt x="261" y="398"/>
                  </a:cubicBezTo>
                  <a:cubicBezTo>
                    <a:pt x="259" y="428"/>
                    <a:pt x="235" y="450"/>
                    <a:pt x="206" y="450"/>
                  </a:cubicBezTo>
                  <a:lnTo>
                    <a:pt x="206" y="483"/>
                  </a:lnTo>
                  <a:cubicBezTo>
                    <a:pt x="253" y="483"/>
                    <a:pt x="291" y="447"/>
                    <a:pt x="295" y="401"/>
                  </a:cubicBezTo>
                  <a:cubicBezTo>
                    <a:pt x="296" y="380"/>
                    <a:pt x="297" y="360"/>
                    <a:pt x="297" y="341"/>
                  </a:cubicBezTo>
                  <a:cubicBezTo>
                    <a:pt x="297" y="264"/>
                    <a:pt x="284" y="204"/>
                    <a:pt x="263" y="157"/>
                  </a:cubicBezTo>
                  <a:cubicBezTo>
                    <a:pt x="232" y="86"/>
                    <a:pt x="183" y="46"/>
                    <a:pt x="136" y="25"/>
                  </a:cubicBezTo>
                  <a:cubicBezTo>
                    <a:pt x="89" y="4"/>
                    <a:pt x="44" y="0"/>
                    <a:pt x="19" y="0"/>
                  </a:cubicBezTo>
                  <a:cubicBezTo>
                    <a:pt x="8" y="0"/>
                    <a:pt x="0" y="1"/>
                    <a:pt x="0" y="1"/>
                  </a:cubicBezTo>
                  <a:lnTo>
                    <a:pt x="4" y="34"/>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0" name="Freeform 1107">
              <a:extLst>
                <a:ext uri="{FF2B5EF4-FFF2-40B4-BE49-F238E27FC236}">
                  <a16:creationId xmlns:a16="http://schemas.microsoft.com/office/drawing/2014/main" id="{AF35E4FE-AFD8-17D7-430B-7BBBAEF34300}"/>
                </a:ext>
              </a:extLst>
            </p:cNvPr>
            <p:cNvSpPr>
              <a:spLocks/>
            </p:cNvSpPr>
            <p:nvPr/>
          </p:nvSpPr>
          <p:spPr bwMode="auto">
            <a:xfrm>
              <a:off x="3625851" y="3400425"/>
              <a:ext cx="139700" cy="136525"/>
            </a:xfrm>
            <a:custGeom>
              <a:avLst/>
              <a:gdLst>
                <a:gd name="T0" fmla="*/ 12 w 677"/>
                <a:gd name="T1" fmla="*/ 191 h 657"/>
                <a:gd name="T2" fmla="*/ 32 w 677"/>
                <a:gd name="T3" fmla="*/ 263 h 657"/>
                <a:gd name="T4" fmla="*/ 0 w 677"/>
                <a:gd name="T5" fmla="*/ 383 h 657"/>
                <a:gd name="T6" fmla="*/ 142 w 677"/>
                <a:gd name="T7" fmla="*/ 631 h 657"/>
                <a:gd name="T8" fmla="*/ 286 w 677"/>
                <a:gd name="T9" fmla="*/ 640 h 657"/>
                <a:gd name="T10" fmla="*/ 307 w 677"/>
                <a:gd name="T11" fmla="*/ 657 h 657"/>
                <a:gd name="T12" fmla="*/ 582 w 677"/>
                <a:gd name="T13" fmla="*/ 553 h 657"/>
                <a:gd name="T14" fmla="*/ 621 w 677"/>
                <a:gd name="T15" fmla="*/ 401 h 657"/>
                <a:gd name="T16" fmla="*/ 621 w 677"/>
                <a:gd name="T17" fmla="*/ 402 h 657"/>
                <a:gd name="T18" fmla="*/ 604 w 677"/>
                <a:gd name="T19" fmla="*/ 328 h 657"/>
                <a:gd name="T20" fmla="*/ 606 w 677"/>
                <a:gd name="T21" fmla="*/ 345 h 657"/>
                <a:gd name="T22" fmla="*/ 606 w 677"/>
                <a:gd name="T23" fmla="*/ 202 h 657"/>
                <a:gd name="T24" fmla="*/ 590 w 677"/>
                <a:gd name="T25" fmla="*/ 219 h 657"/>
                <a:gd name="T26" fmla="*/ 608 w 677"/>
                <a:gd name="T27" fmla="*/ 185 h 657"/>
                <a:gd name="T28" fmla="*/ 561 w 677"/>
                <a:gd name="T29" fmla="*/ 13 h 657"/>
                <a:gd name="T30" fmla="*/ 568 w 677"/>
                <a:gd name="T31" fmla="*/ 106 h 657"/>
                <a:gd name="T32" fmla="*/ 574 w 677"/>
                <a:gd name="T33" fmla="*/ 209 h 657"/>
                <a:gd name="T34" fmla="*/ 574 w 677"/>
                <a:gd name="T35" fmla="*/ 217 h 657"/>
                <a:gd name="T36" fmla="*/ 606 w 677"/>
                <a:gd name="T37" fmla="*/ 235 h 657"/>
                <a:gd name="T38" fmla="*/ 606 w 677"/>
                <a:gd name="T39" fmla="*/ 311 h 657"/>
                <a:gd name="T40" fmla="*/ 588 w 677"/>
                <a:gd name="T41" fmla="*/ 311 h 657"/>
                <a:gd name="T42" fmla="*/ 588 w 677"/>
                <a:gd name="T43" fmla="*/ 404 h 657"/>
                <a:gd name="T44" fmla="*/ 556 w 677"/>
                <a:gd name="T45" fmla="*/ 533 h 657"/>
                <a:gd name="T46" fmla="*/ 307 w 677"/>
                <a:gd name="T47" fmla="*/ 624 h 657"/>
                <a:gd name="T48" fmla="*/ 288 w 677"/>
                <a:gd name="T49" fmla="*/ 623 h 657"/>
                <a:gd name="T50" fmla="*/ 286 w 677"/>
                <a:gd name="T51" fmla="*/ 623 h 657"/>
                <a:gd name="T52" fmla="*/ 155 w 677"/>
                <a:gd name="T53" fmla="*/ 600 h 657"/>
                <a:gd name="T54" fmla="*/ 33 w 677"/>
                <a:gd name="T55" fmla="*/ 383 h 657"/>
                <a:gd name="T56" fmla="*/ 46 w 677"/>
                <a:gd name="T57" fmla="*/ 276 h 657"/>
                <a:gd name="T58" fmla="*/ 48 w 677"/>
                <a:gd name="T59" fmla="*/ 268 h 657"/>
                <a:gd name="T60" fmla="*/ 49 w 677"/>
                <a:gd name="T61" fmla="*/ 264 h 657"/>
                <a:gd name="T62" fmla="*/ 45 w 677"/>
                <a:gd name="T63" fmla="*/ 191 h 657"/>
                <a:gd name="T64" fmla="*/ 50 w 677"/>
                <a:gd name="T65"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7" h="657">
                  <a:moveTo>
                    <a:pt x="50" y="0"/>
                  </a:moveTo>
                  <a:cubicBezTo>
                    <a:pt x="30" y="42"/>
                    <a:pt x="12" y="104"/>
                    <a:pt x="12" y="191"/>
                  </a:cubicBezTo>
                  <a:cubicBezTo>
                    <a:pt x="12" y="214"/>
                    <a:pt x="13" y="238"/>
                    <a:pt x="16" y="264"/>
                  </a:cubicBezTo>
                  <a:lnTo>
                    <a:pt x="32" y="263"/>
                  </a:lnTo>
                  <a:lnTo>
                    <a:pt x="16" y="258"/>
                  </a:lnTo>
                  <a:cubicBezTo>
                    <a:pt x="16" y="259"/>
                    <a:pt x="0" y="314"/>
                    <a:pt x="0" y="383"/>
                  </a:cubicBezTo>
                  <a:cubicBezTo>
                    <a:pt x="0" y="441"/>
                    <a:pt x="11" y="508"/>
                    <a:pt x="53" y="563"/>
                  </a:cubicBezTo>
                  <a:cubicBezTo>
                    <a:pt x="74" y="591"/>
                    <a:pt x="103" y="614"/>
                    <a:pt x="142" y="631"/>
                  </a:cubicBezTo>
                  <a:cubicBezTo>
                    <a:pt x="180" y="647"/>
                    <a:pt x="227" y="657"/>
                    <a:pt x="286" y="657"/>
                  </a:cubicBezTo>
                  <a:lnTo>
                    <a:pt x="286" y="640"/>
                  </a:lnTo>
                  <a:lnTo>
                    <a:pt x="285" y="657"/>
                  </a:lnTo>
                  <a:cubicBezTo>
                    <a:pt x="285" y="657"/>
                    <a:pt x="293" y="657"/>
                    <a:pt x="307" y="657"/>
                  </a:cubicBezTo>
                  <a:cubicBezTo>
                    <a:pt x="345" y="657"/>
                    <a:pt x="421" y="653"/>
                    <a:pt x="490" y="623"/>
                  </a:cubicBezTo>
                  <a:cubicBezTo>
                    <a:pt x="525" y="608"/>
                    <a:pt x="558" y="586"/>
                    <a:pt x="582" y="553"/>
                  </a:cubicBezTo>
                  <a:cubicBezTo>
                    <a:pt x="607" y="521"/>
                    <a:pt x="622" y="479"/>
                    <a:pt x="622" y="426"/>
                  </a:cubicBezTo>
                  <a:cubicBezTo>
                    <a:pt x="622" y="418"/>
                    <a:pt x="622" y="409"/>
                    <a:pt x="621" y="401"/>
                  </a:cubicBezTo>
                  <a:lnTo>
                    <a:pt x="604" y="402"/>
                  </a:lnTo>
                  <a:lnTo>
                    <a:pt x="621" y="402"/>
                  </a:lnTo>
                  <a:lnTo>
                    <a:pt x="621" y="328"/>
                  </a:lnTo>
                  <a:lnTo>
                    <a:pt x="604" y="328"/>
                  </a:lnTo>
                  <a:lnTo>
                    <a:pt x="604" y="345"/>
                  </a:lnTo>
                  <a:lnTo>
                    <a:pt x="606" y="345"/>
                  </a:lnTo>
                  <a:cubicBezTo>
                    <a:pt x="645" y="345"/>
                    <a:pt x="677" y="313"/>
                    <a:pt x="677" y="273"/>
                  </a:cubicBezTo>
                  <a:cubicBezTo>
                    <a:pt x="677" y="234"/>
                    <a:pt x="645" y="202"/>
                    <a:pt x="606" y="202"/>
                  </a:cubicBezTo>
                  <a:lnTo>
                    <a:pt x="590" y="202"/>
                  </a:lnTo>
                  <a:lnTo>
                    <a:pt x="590" y="219"/>
                  </a:lnTo>
                  <a:lnTo>
                    <a:pt x="607" y="220"/>
                  </a:lnTo>
                  <a:cubicBezTo>
                    <a:pt x="607" y="220"/>
                    <a:pt x="608" y="206"/>
                    <a:pt x="608" y="185"/>
                  </a:cubicBezTo>
                  <a:cubicBezTo>
                    <a:pt x="608" y="162"/>
                    <a:pt x="607" y="131"/>
                    <a:pt x="600" y="100"/>
                  </a:cubicBezTo>
                  <a:cubicBezTo>
                    <a:pt x="594" y="68"/>
                    <a:pt x="583" y="37"/>
                    <a:pt x="561" y="13"/>
                  </a:cubicBezTo>
                  <a:lnTo>
                    <a:pt x="537" y="36"/>
                  </a:lnTo>
                  <a:cubicBezTo>
                    <a:pt x="552" y="52"/>
                    <a:pt x="562" y="78"/>
                    <a:pt x="568" y="106"/>
                  </a:cubicBezTo>
                  <a:cubicBezTo>
                    <a:pt x="573" y="135"/>
                    <a:pt x="575" y="164"/>
                    <a:pt x="575" y="185"/>
                  </a:cubicBezTo>
                  <a:cubicBezTo>
                    <a:pt x="575" y="195"/>
                    <a:pt x="574" y="203"/>
                    <a:pt x="574" y="209"/>
                  </a:cubicBezTo>
                  <a:cubicBezTo>
                    <a:pt x="574" y="211"/>
                    <a:pt x="574" y="214"/>
                    <a:pt x="574" y="215"/>
                  </a:cubicBezTo>
                  <a:lnTo>
                    <a:pt x="574" y="217"/>
                  </a:lnTo>
                  <a:lnTo>
                    <a:pt x="572" y="235"/>
                  </a:lnTo>
                  <a:lnTo>
                    <a:pt x="606" y="235"/>
                  </a:lnTo>
                  <a:cubicBezTo>
                    <a:pt x="627" y="235"/>
                    <a:pt x="644" y="252"/>
                    <a:pt x="644" y="273"/>
                  </a:cubicBezTo>
                  <a:cubicBezTo>
                    <a:pt x="644" y="294"/>
                    <a:pt x="627" y="311"/>
                    <a:pt x="606" y="311"/>
                  </a:cubicBezTo>
                  <a:lnTo>
                    <a:pt x="604" y="311"/>
                  </a:lnTo>
                  <a:lnTo>
                    <a:pt x="588" y="311"/>
                  </a:lnTo>
                  <a:lnTo>
                    <a:pt x="588" y="403"/>
                  </a:lnTo>
                  <a:lnTo>
                    <a:pt x="588" y="404"/>
                  </a:lnTo>
                  <a:cubicBezTo>
                    <a:pt x="588" y="411"/>
                    <a:pt x="589" y="419"/>
                    <a:pt x="589" y="426"/>
                  </a:cubicBezTo>
                  <a:cubicBezTo>
                    <a:pt x="588" y="473"/>
                    <a:pt x="576" y="507"/>
                    <a:pt x="556" y="533"/>
                  </a:cubicBezTo>
                  <a:cubicBezTo>
                    <a:pt x="525" y="573"/>
                    <a:pt x="477" y="596"/>
                    <a:pt x="429" y="609"/>
                  </a:cubicBezTo>
                  <a:cubicBezTo>
                    <a:pt x="381" y="622"/>
                    <a:pt x="333" y="624"/>
                    <a:pt x="307" y="624"/>
                  </a:cubicBezTo>
                  <a:cubicBezTo>
                    <a:pt x="301" y="624"/>
                    <a:pt x="296" y="624"/>
                    <a:pt x="292" y="624"/>
                  </a:cubicBezTo>
                  <a:cubicBezTo>
                    <a:pt x="290" y="623"/>
                    <a:pt x="289" y="623"/>
                    <a:pt x="288" y="623"/>
                  </a:cubicBezTo>
                  <a:lnTo>
                    <a:pt x="287" y="623"/>
                  </a:lnTo>
                  <a:lnTo>
                    <a:pt x="286" y="623"/>
                  </a:lnTo>
                  <a:lnTo>
                    <a:pt x="286" y="623"/>
                  </a:lnTo>
                  <a:cubicBezTo>
                    <a:pt x="231" y="623"/>
                    <a:pt x="188" y="614"/>
                    <a:pt x="155" y="600"/>
                  </a:cubicBezTo>
                  <a:cubicBezTo>
                    <a:pt x="105" y="578"/>
                    <a:pt x="75" y="545"/>
                    <a:pt x="57" y="506"/>
                  </a:cubicBezTo>
                  <a:cubicBezTo>
                    <a:pt x="39" y="467"/>
                    <a:pt x="33" y="423"/>
                    <a:pt x="33" y="383"/>
                  </a:cubicBezTo>
                  <a:cubicBezTo>
                    <a:pt x="33" y="351"/>
                    <a:pt x="37" y="322"/>
                    <a:pt x="41" y="301"/>
                  </a:cubicBezTo>
                  <a:cubicBezTo>
                    <a:pt x="43" y="290"/>
                    <a:pt x="45" y="282"/>
                    <a:pt x="46" y="276"/>
                  </a:cubicBezTo>
                  <a:cubicBezTo>
                    <a:pt x="47" y="273"/>
                    <a:pt x="47" y="271"/>
                    <a:pt x="48" y="269"/>
                  </a:cubicBezTo>
                  <a:lnTo>
                    <a:pt x="48" y="268"/>
                  </a:lnTo>
                  <a:lnTo>
                    <a:pt x="48" y="267"/>
                  </a:lnTo>
                  <a:lnTo>
                    <a:pt x="49" y="264"/>
                  </a:lnTo>
                  <a:lnTo>
                    <a:pt x="49" y="261"/>
                  </a:lnTo>
                  <a:cubicBezTo>
                    <a:pt x="47" y="236"/>
                    <a:pt x="45" y="213"/>
                    <a:pt x="45" y="191"/>
                  </a:cubicBezTo>
                  <a:cubicBezTo>
                    <a:pt x="45" y="108"/>
                    <a:pt x="62" y="52"/>
                    <a:pt x="80" y="15"/>
                  </a:cubicBezTo>
                  <a:lnTo>
                    <a:pt x="5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1" name="Freeform 1108">
              <a:extLst>
                <a:ext uri="{FF2B5EF4-FFF2-40B4-BE49-F238E27FC236}">
                  <a16:creationId xmlns:a16="http://schemas.microsoft.com/office/drawing/2014/main" id="{89911108-4898-05F8-3D94-68D4B759B43B}"/>
                </a:ext>
              </a:extLst>
            </p:cNvPr>
            <p:cNvSpPr>
              <a:spLocks/>
            </p:cNvSpPr>
            <p:nvPr/>
          </p:nvSpPr>
          <p:spPr bwMode="auto">
            <a:xfrm>
              <a:off x="3656013" y="3462338"/>
              <a:ext cx="11113" cy="23813"/>
            </a:xfrm>
            <a:custGeom>
              <a:avLst/>
              <a:gdLst>
                <a:gd name="T0" fmla="*/ 39 w 57"/>
                <a:gd name="T1" fmla="*/ 0 h 113"/>
                <a:gd name="T2" fmla="*/ 20 w 57"/>
                <a:gd name="T3" fmla="*/ 18 h 113"/>
                <a:gd name="T4" fmla="*/ 0 w 57"/>
                <a:gd name="T5" fmla="*/ 70 h 113"/>
                <a:gd name="T6" fmla="*/ 12 w 57"/>
                <a:gd name="T7" fmla="*/ 113 h 113"/>
                <a:gd name="T8" fmla="*/ 41 w 57"/>
                <a:gd name="T9" fmla="*/ 97 h 113"/>
                <a:gd name="T10" fmla="*/ 34 w 57"/>
                <a:gd name="T11" fmla="*/ 70 h 113"/>
                <a:gd name="T12" fmla="*/ 46 w 57"/>
                <a:gd name="T13" fmla="*/ 39 h 113"/>
                <a:gd name="T14" fmla="*/ 54 w 57"/>
                <a:gd name="T15" fmla="*/ 31 h 113"/>
                <a:gd name="T16" fmla="*/ 57 w 57"/>
                <a:gd name="T17" fmla="*/ 29 h 113"/>
                <a:gd name="T18" fmla="*/ 57 w 57"/>
                <a:gd name="T19" fmla="*/ 28 h 113"/>
                <a:gd name="T20" fmla="*/ 57 w 57"/>
                <a:gd name="T21" fmla="*/ 28 h 113"/>
                <a:gd name="T22" fmla="*/ 57 w 57"/>
                <a:gd name="T23" fmla="*/ 28 h 113"/>
                <a:gd name="T24" fmla="*/ 57 w 57"/>
                <a:gd name="T25" fmla="*/ 28 h 113"/>
                <a:gd name="T26" fmla="*/ 57 w 57"/>
                <a:gd name="T27" fmla="*/ 28 h 113"/>
                <a:gd name="T28" fmla="*/ 57 w 57"/>
                <a:gd name="T29" fmla="*/ 28 h 113"/>
                <a:gd name="T30" fmla="*/ 39 w 57"/>
                <a:gd name="T31"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 h="113">
                  <a:moveTo>
                    <a:pt x="39" y="0"/>
                  </a:moveTo>
                  <a:cubicBezTo>
                    <a:pt x="38" y="1"/>
                    <a:pt x="29" y="7"/>
                    <a:pt x="20" y="18"/>
                  </a:cubicBezTo>
                  <a:cubicBezTo>
                    <a:pt x="10" y="29"/>
                    <a:pt x="0" y="47"/>
                    <a:pt x="0" y="70"/>
                  </a:cubicBezTo>
                  <a:cubicBezTo>
                    <a:pt x="0" y="83"/>
                    <a:pt x="4" y="98"/>
                    <a:pt x="12" y="113"/>
                  </a:cubicBezTo>
                  <a:lnTo>
                    <a:pt x="41" y="97"/>
                  </a:lnTo>
                  <a:cubicBezTo>
                    <a:pt x="36" y="86"/>
                    <a:pt x="34" y="78"/>
                    <a:pt x="34" y="70"/>
                  </a:cubicBezTo>
                  <a:cubicBezTo>
                    <a:pt x="34" y="57"/>
                    <a:pt x="39" y="47"/>
                    <a:pt x="46" y="39"/>
                  </a:cubicBezTo>
                  <a:cubicBezTo>
                    <a:pt x="49" y="36"/>
                    <a:pt x="52" y="33"/>
                    <a:pt x="54" y="31"/>
                  </a:cubicBezTo>
                  <a:lnTo>
                    <a:pt x="57" y="29"/>
                  </a:lnTo>
                  <a:lnTo>
                    <a:pt x="57" y="28"/>
                  </a:lnTo>
                  <a:lnTo>
                    <a:pt x="57" y="28"/>
                  </a:lnTo>
                  <a:lnTo>
                    <a:pt x="57" y="28"/>
                  </a:lnTo>
                  <a:lnTo>
                    <a:pt x="57" y="28"/>
                  </a:lnTo>
                  <a:lnTo>
                    <a:pt x="57" y="28"/>
                  </a:lnTo>
                  <a:lnTo>
                    <a:pt x="57" y="28"/>
                  </a:lnTo>
                  <a:lnTo>
                    <a:pt x="39"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2" name="Freeform 1109">
              <a:extLst>
                <a:ext uri="{FF2B5EF4-FFF2-40B4-BE49-F238E27FC236}">
                  <a16:creationId xmlns:a16="http://schemas.microsoft.com/office/drawing/2014/main" id="{51DF2C3A-7F36-6119-D83D-F68349A24FA9}"/>
                </a:ext>
              </a:extLst>
            </p:cNvPr>
            <p:cNvSpPr>
              <a:spLocks/>
            </p:cNvSpPr>
            <p:nvPr/>
          </p:nvSpPr>
          <p:spPr bwMode="auto">
            <a:xfrm>
              <a:off x="3654426" y="3497263"/>
              <a:ext cx="42863" cy="12700"/>
            </a:xfrm>
            <a:custGeom>
              <a:avLst/>
              <a:gdLst>
                <a:gd name="T0" fmla="*/ 0 w 208"/>
                <a:gd name="T1" fmla="*/ 29 h 56"/>
                <a:gd name="T2" fmla="*/ 108 w 208"/>
                <a:gd name="T3" fmla="*/ 56 h 56"/>
                <a:gd name="T4" fmla="*/ 208 w 208"/>
                <a:gd name="T5" fmla="*/ 29 h 56"/>
                <a:gd name="T6" fmla="*/ 191 w 208"/>
                <a:gd name="T7" fmla="*/ 0 h 56"/>
                <a:gd name="T8" fmla="*/ 108 w 208"/>
                <a:gd name="T9" fmla="*/ 23 h 56"/>
                <a:gd name="T10" fmla="*/ 42 w 208"/>
                <a:gd name="T11" fmla="*/ 12 h 56"/>
                <a:gd name="T12" fmla="*/ 23 w 208"/>
                <a:gd name="T13" fmla="*/ 4 h 56"/>
                <a:gd name="T14" fmla="*/ 18 w 208"/>
                <a:gd name="T15" fmla="*/ 1 h 56"/>
                <a:gd name="T16" fmla="*/ 17 w 208"/>
                <a:gd name="T17" fmla="*/ 1 h 56"/>
                <a:gd name="T18" fmla="*/ 16 w 208"/>
                <a:gd name="T19" fmla="*/ 0 h 56"/>
                <a:gd name="T20" fmla="*/ 15 w 208"/>
                <a:gd name="T21" fmla="*/ 2 h 56"/>
                <a:gd name="T22" fmla="*/ 16 w 208"/>
                <a:gd name="T23" fmla="*/ 0 h 56"/>
                <a:gd name="T24" fmla="*/ 16 w 208"/>
                <a:gd name="T25" fmla="*/ 0 h 56"/>
                <a:gd name="T26" fmla="*/ 15 w 208"/>
                <a:gd name="T27" fmla="*/ 2 h 56"/>
                <a:gd name="T28" fmla="*/ 16 w 208"/>
                <a:gd name="T29" fmla="*/ 0 h 56"/>
                <a:gd name="T30" fmla="*/ 0 w 208"/>
                <a:gd name="T31" fmla="*/ 29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8" h="56">
                  <a:moveTo>
                    <a:pt x="0" y="29"/>
                  </a:moveTo>
                  <a:cubicBezTo>
                    <a:pt x="1" y="30"/>
                    <a:pt x="46" y="56"/>
                    <a:pt x="108" y="56"/>
                  </a:cubicBezTo>
                  <a:cubicBezTo>
                    <a:pt x="138" y="56"/>
                    <a:pt x="173" y="49"/>
                    <a:pt x="208" y="29"/>
                  </a:cubicBezTo>
                  <a:lnTo>
                    <a:pt x="191" y="0"/>
                  </a:lnTo>
                  <a:cubicBezTo>
                    <a:pt x="162" y="17"/>
                    <a:pt x="133" y="23"/>
                    <a:pt x="108" y="23"/>
                  </a:cubicBezTo>
                  <a:cubicBezTo>
                    <a:pt x="82" y="23"/>
                    <a:pt x="58" y="17"/>
                    <a:pt x="42" y="12"/>
                  </a:cubicBezTo>
                  <a:cubicBezTo>
                    <a:pt x="34" y="9"/>
                    <a:pt x="27" y="6"/>
                    <a:pt x="23" y="4"/>
                  </a:cubicBezTo>
                  <a:cubicBezTo>
                    <a:pt x="21" y="3"/>
                    <a:pt x="19" y="2"/>
                    <a:pt x="18" y="1"/>
                  </a:cubicBezTo>
                  <a:lnTo>
                    <a:pt x="17" y="1"/>
                  </a:lnTo>
                  <a:lnTo>
                    <a:pt x="16" y="0"/>
                  </a:lnTo>
                  <a:lnTo>
                    <a:pt x="15" y="2"/>
                  </a:lnTo>
                  <a:lnTo>
                    <a:pt x="16" y="0"/>
                  </a:lnTo>
                  <a:lnTo>
                    <a:pt x="16" y="0"/>
                  </a:lnTo>
                  <a:lnTo>
                    <a:pt x="15" y="2"/>
                  </a:lnTo>
                  <a:lnTo>
                    <a:pt x="16" y="0"/>
                  </a:lnTo>
                  <a:lnTo>
                    <a:pt x="0" y="2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3" name="Rectangle 1110">
              <a:extLst>
                <a:ext uri="{FF2B5EF4-FFF2-40B4-BE49-F238E27FC236}">
                  <a16:creationId xmlns:a16="http://schemas.microsoft.com/office/drawing/2014/main" id="{C52EACCD-2841-CD6F-1636-2A18D52D5004}"/>
                </a:ext>
              </a:extLst>
            </p:cNvPr>
            <p:cNvSpPr>
              <a:spLocks noChangeArrowheads="1"/>
            </p:cNvSpPr>
            <p:nvPr/>
          </p:nvSpPr>
          <p:spPr bwMode="auto">
            <a:xfrm>
              <a:off x="3684588"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4" name="Rectangle 1111">
              <a:extLst>
                <a:ext uri="{FF2B5EF4-FFF2-40B4-BE49-F238E27FC236}">
                  <a16:creationId xmlns:a16="http://schemas.microsoft.com/office/drawing/2014/main" id="{32C58A98-E875-D524-1CE9-8F2B4BE7D9DC}"/>
                </a:ext>
              </a:extLst>
            </p:cNvPr>
            <p:cNvSpPr>
              <a:spLocks noChangeArrowheads="1"/>
            </p:cNvSpPr>
            <p:nvPr/>
          </p:nvSpPr>
          <p:spPr bwMode="auto">
            <a:xfrm>
              <a:off x="3636963"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5" name="Rectangle 1112">
              <a:extLst>
                <a:ext uri="{FF2B5EF4-FFF2-40B4-BE49-F238E27FC236}">
                  <a16:creationId xmlns:a16="http://schemas.microsoft.com/office/drawing/2014/main" id="{26D6C7FB-2BBF-A242-DBC1-FDB7BD562B4F}"/>
                </a:ext>
              </a:extLst>
            </p:cNvPr>
            <p:cNvSpPr>
              <a:spLocks noChangeArrowheads="1"/>
            </p:cNvSpPr>
            <p:nvPr/>
          </p:nvSpPr>
          <p:spPr bwMode="auto">
            <a:xfrm>
              <a:off x="3713163" y="3433763"/>
              <a:ext cx="34925"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6" name="Rectangle 1113">
              <a:extLst>
                <a:ext uri="{FF2B5EF4-FFF2-40B4-BE49-F238E27FC236}">
                  <a16:creationId xmlns:a16="http://schemas.microsoft.com/office/drawing/2014/main" id="{B0263338-7EAA-3121-AE9F-7DE893AEDE11}"/>
                </a:ext>
              </a:extLst>
            </p:cNvPr>
            <p:cNvSpPr>
              <a:spLocks noChangeArrowheads="1"/>
            </p:cNvSpPr>
            <p:nvPr/>
          </p:nvSpPr>
          <p:spPr bwMode="auto">
            <a:xfrm>
              <a:off x="3662363" y="3433763"/>
              <a:ext cx="1270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7" name="Rectangle 1114">
              <a:extLst>
                <a:ext uri="{FF2B5EF4-FFF2-40B4-BE49-F238E27FC236}">
                  <a16:creationId xmlns:a16="http://schemas.microsoft.com/office/drawing/2014/main" id="{9CF72DB1-0FC5-F4C0-1024-564B7EDDA030}"/>
                </a:ext>
              </a:extLst>
            </p:cNvPr>
            <p:cNvSpPr>
              <a:spLocks noChangeArrowheads="1"/>
            </p:cNvSpPr>
            <p:nvPr/>
          </p:nvSpPr>
          <p:spPr bwMode="auto">
            <a:xfrm>
              <a:off x="3657601" y="3400425"/>
              <a:ext cx="36513"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8" name="Freeform 1115">
              <a:extLst>
                <a:ext uri="{FF2B5EF4-FFF2-40B4-BE49-F238E27FC236}">
                  <a16:creationId xmlns:a16="http://schemas.microsoft.com/office/drawing/2014/main" id="{FFDE590D-F1A2-1D96-A0B3-311F505B3E3E}"/>
                </a:ext>
              </a:extLst>
            </p:cNvPr>
            <p:cNvSpPr>
              <a:spLocks/>
            </p:cNvSpPr>
            <p:nvPr/>
          </p:nvSpPr>
          <p:spPr bwMode="auto">
            <a:xfrm>
              <a:off x="3638551" y="3548063"/>
              <a:ext cx="66675" cy="53975"/>
            </a:xfrm>
            <a:custGeom>
              <a:avLst/>
              <a:gdLst>
                <a:gd name="T0" fmla="*/ 3 w 42"/>
                <a:gd name="T1" fmla="*/ 16 h 34"/>
                <a:gd name="T2" fmla="*/ 2 w 42"/>
                <a:gd name="T3" fmla="*/ 18 h 34"/>
                <a:gd name="T4" fmla="*/ 26 w 42"/>
                <a:gd name="T5" fmla="*/ 34 h 34"/>
                <a:gd name="T6" fmla="*/ 42 w 42"/>
                <a:gd name="T7" fmla="*/ 12 h 34"/>
                <a:gd name="T8" fmla="*/ 13 w 42"/>
                <a:gd name="T9" fmla="*/ 0 h 34"/>
                <a:gd name="T10" fmla="*/ 0 w 42"/>
                <a:gd name="T11" fmla="*/ 17 h 34"/>
                <a:gd name="T12" fmla="*/ 2 w 42"/>
                <a:gd name="T13" fmla="*/ 18 h 34"/>
                <a:gd name="T14" fmla="*/ 3 w 42"/>
                <a:gd name="T15" fmla="*/ 16 h 34"/>
                <a:gd name="T16" fmla="*/ 5 w 42"/>
                <a:gd name="T17" fmla="*/ 17 h 34"/>
                <a:gd name="T18" fmla="*/ 14 w 42"/>
                <a:gd name="T19" fmla="*/ 5 h 34"/>
                <a:gd name="T20" fmla="*/ 35 w 42"/>
                <a:gd name="T21" fmla="*/ 14 h 34"/>
                <a:gd name="T22" fmla="*/ 25 w 42"/>
                <a:gd name="T23" fmla="*/ 28 h 34"/>
                <a:gd name="T24" fmla="*/ 4 w 42"/>
                <a:gd name="T25" fmla="*/ 14 h 34"/>
                <a:gd name="T26" fmla="*/ 3 w 42"/>
                <a:gd name="T27" fmla="*/ 16 h 34"/>
                <a:gd name="T28" fmla="*/ 5 w 42"/>
                <a:gd name="T29" fmla="*/ 17 h 34"/>
                <a:gd name="T30" fmla="*/ 3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 y="16"/>
                  </a:moveTo>
                  <a:lnTo>
                    <a:pt x="2" y="18"/>
                  </a:lnTo>
                  <a:lnTo>
                    <a:pt x="26" y="34"/>
                  </a:lnTo>
                  <a:lnTo>
                    <a:pt x="42" y="12"/>
                  </a:lnTo>
                  <a:lnTo>
                    <a:pt x="13" y="0"/>
                  </a:lnTo>
                  <a:lnTo>
                    <a:pt x="0" y="17"/>
                  </a:lnTo>
                  <a:lnTo>
                    <a:pt x="2" y="18"/>
                  </a:lnTo>
                  <a:lnTo>
                    <a:pt x="3" y="16"/>
                  </a:lnTo>
                  <a:lnTo>
                    <a:pt x="5" y="17"/>
                  </a:lnTo>
                  <a:lnTo>
                    <a:pt x="14" y="5"/>
                  </a:lnTo>
                  <a:lnTo>
                    <a:pt x="35" y="14"/>
                  </a:lnTo>
                  <a:lnTo>
                    <a:pt x="25" y="28"/>
                  </a:lnTo>
                  <a:lnTo>
                    <a:pt x="4" y="14"/>
                  </a:lnTo>
                  <a:lnTo>
                    <a:pt x="3" y="16"/>
                  </a:lnTo>
                  <a:lnTo>
                    <a:pt x="5" y="17"/>
                  </a:lnTo>
                  <a:lnTo>
                    <a:pt x="3"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9" name="Freeform 1116">
              <a:extLst>
                <a:ext uri="{FF2B5EF4-FFF2-40B4-BE49-F238E27FC236}">
                  <a16:creationId xmlns:a16="http://schemas.microsoft.com/office/drawing/2014/main" id="{01C6A925-10C1-086D-5200-D9610F0E8BE7}"/>
                </a:ext>
              </a:extLst>
            </p:cNvPr>
            <p:cNvSpPr>
              <a:spLocks/>
            </p:cNvSpPr>
            <p:nvPr/>
          </p:nvSpPr>
          <p:spPr bwMode="auto">
            <a:xfrm>
              <a:off x="3694113" y="3548063"/>
              <a:ext cx="66675" cy="53975"/>
            </a:xfrm>
            <a:custGeom>
              <a:avLst/>
              <a:gdLst>
                <a:gd name="T0" fmla="*/ 39 w 42"/>
                <a:gd name="T1" fmla="*/ 16 h 34"/>
                <a:gd name="T2" fmla="*/ 38 w 42"/>
                <a:gd name="T3" fmla="*/ 14 h 34"/>
                <a:gd name="T4" fmla="*/ 17 w 42"/>
                <a:gd name="T5" fmla="*/ 28 h 34"/>
                <a:gd name="T6" fmla="*/ 7 w 42"/>
                <a:gd name="T7" fmla="*/ 14 h 34"/>
                <a:gd name="T8" fmla="*/ 28 w 42"/>
                <a:gd name="T9" fmla="*/ 5 h 34"/>
                <a:gd name="T10" fmla="*/ 38 w 42"/>
                <a:gd name="T11" fmla="*/ 17 h 34"/>
                <a:gd name="T12" fmla="*/ 39 w 42"/>
                <a:gd name="T13" fmla="*/ 16 h 34"/>
                <a:gd name="T14" fmla="*/ 38 w 42"/>
                <a:gd name="T15" fmla="*/ 14 h 34"/>
                <a:gd name="T16" fmla="*/ 39 w 42"/>
                <a:gd name="T17" fmla="*/ 16 h 34"/>
                <a:gd name="T18" fmla="*/ 41 w 42"/>
                <a:gd name="T19" fmla="*/ 15 h 34"/>
                <a:gd name="T20" fmla="*/ 30 w 42"/>
                <a:gd name="T21" fmla="*/ 0 h 34"/>
                <a:gd name="T22" fmla="*/ 0 w 42"/>
                <a:gd name="T23" fmla="*/ 12 h 34"/>
                <a:gd name="T24" fmla="*/ 16 w 42"/>
                <a:gd name="T25" fmla="*/ 34 h 34"/>
                <a:gd name="T26" fmla="*/ 42 w 42"/>
                <a:gd name="T27" fmla="*/ 17 h 34"/>
                <a:gd name="T28" fmla="*/ 41 w 42"/>
                <a:gd name="T29" fmla="*/ 15 h 34"/>
                <a:gd name="T30" fmla="*/ 39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9" y="16"/>
                  </a:moveTo>
                  <a:lnTo>
                    <a:pt x="38" y="14"/>
                  </a:lnTo>
                  <a:lnTo>
                    <a:pt x="17" y="28"/>
                  </a:lnTo>
                  <a:lnTo>
                    <a:pt x="7" y="14"/>
                  </a:lnTo>
                  <a:lnTo>
                    <a:pt x="28" y="5"/>
                  </a:lnTo>
                  <a:lnTo>
                    <a:pt x="38" y="17"/>
                  </a:lnTo>
                  <a:lnTo>
                    <a:pt x="39" y="16"/>
                  </a:lnTo>
                  <a:lnTo>
                    <a:pt x="38" y="14"/>
                  </a:lnTo>
                  <a:lnTo>
                    <a:pt x="39" y="16"/>
                  </a:lnTo>
                  <a:lnTo>
                    <a:pt x="41" y="15"/>
                  </a:lnTo>
                  <a:lnTo>
                    <a:pt x="30" y="0"/>
                  </a:lnTo>
                  <a:lnTo>
                    <a:pt x="0" y="12"/>
                  </a:lnTo>
                  <a:lnTo>
                    <a:pt x="16" y="34"/>
                  </a:lnTo>
                  <a:lnTo>
                    <a:pt x="42" y="17"/>
                  </a:lnTo>
                  <a:lnTo>
                    <a:pt x="41" y="15"/>
                  </a:lnTo>
                  <a:lnTo>
                    <a:pt x="39"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0" name="Freeform 1117">
              <a:extLst>
                <a:ext uri="{FF2B5EF4-FFF2-40B4-BE49-F238E27FC236}">
                  <a16:creationId xmlns:a16="http://schemas.microsoft.com/office/drawing/2014/main" id="{2962BF3A-0065-538F-7B2F-016D96F228FD}"/>
                </a:ext>
              </a:extLst>
            </p:cNvPr>
            <p:cNvSpPr>
              <a:spLocks/>
            </p:cNvSpPr>
            <p:nvPr/>
          </p:nvSpPr>
          <p:spPr bwMode="auto">
            <a:xfrm>
              <a:off x="3683001" y="3587750"/>
              <a:ext cx="31750" cy="15875"/>
            </a:xfrm>
            <a:custGeom>
              <a:avLst/>
              <a:gdLst>
                <a:gd name="T0" fmla="*/ 0 w 20"/>
                <a:gd name="T1" fmla="*/ 3 h 10"/>
                <a:gd name="T2" fmla="*/ 11 w 20"/>
                <a:gd name="T3" fmla="*/ 10 h 10"/>
                <a:gd name="T4" fmla="*/ 20 w 20"/>
                <a:gd name="T5" fmla="*/ 3 h 10"/>
                <a:gd name="T6" fmla="*/ 18 w 20"/>
                <a:gd name="T7" fmla="*/ 0 h 10"/>
                <a:gd name="T8" fmla="*/ 11 w 20"/>
                <a:gd name="T9" fmla="*/ 5 h 10"/>
                <a:gd name="T10" fmla="*/ 2 w 20"/>
                <a:gd name="T11" fmla="*/ 0 h 10"/>
                <a:gd name="T12" fmla="*/ 0 w 20"/>
                <a:gd name="T13" fmla="*/ 3 h 10"/>
              </a:gdLst>
              <a:ahLst/>
              <a:cxnLst>
                <a:cxn ang="0">
                  <a:pos x="T0" y="T1"/>
                </a:cxn>
                <a:cxn ang="0">
                  <a:pos x="T2" y="T3"/>
                </a:cxn>
                <a:cxn ang="0">
                  <a:pos x="T4" y="T5"/>
                </a:cxn>
                <a:cxn ang="0">
                  <a:pos x="T6" y="T7"/>
                </a:cxn>
                <a:cxn ang="0">
                  <a:pos x="T8" y="T9"/>
                </a:cxn>
                <a:cxn ang="0">
                  <a:pos x="T10" y="T11"/>
                </a:cxn>
                <a:cxn ang="0">
                  <a:pos x="T12" y="T13"/>
                </a:cxn>
              </a:cxnLst>
              <a:rect l="0" t="0" r="r" b="b"/>
              <a:pathLst>
                <a:path w="20" h="10">
                  <a:moveTo>
                    <a:pt x="0" y="3"/>
                  </a:moveTo>
                  <a:lnTo>
                    <a:pt x="11" y="10"/>
                  </a:lnTo>
                  <a:lnTo>
                    <a:pt x="20" y="3"/>
                  </a:lnTo>
                  <a:lnTo>
                    <a:pt x="18" y="0"/>
                  </a:lnTo>
                  <a:lnTo>
                    <a:pt x="11" y="5"/>
                  </a:lnTo>
                  <a:lnTo>
                    <a:pt x="2" y="0"/>
                  </a:lnTo>
                  <a:lnTo>
                    <a:pt x="0" y="3"/>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1" name="Freeform 1118">
              <a:extLst>
                <a:ext uri="{FF2B5EF4-FFF2-40B4-BE49-F238E27FC236}">
                  <a16:creationId xmlns:a16="http://schemas.microsoft.com/office/drawing/2014/main" id="{0EA88FF2-983B-EDA0-65E3-0EF219808302}"/>
                </a:ext>
              </a:extLst>
            </p:cNvPr>
            <p:cNvSpPr>
              <a:spLocks/>
            </p:cNvSpPr>
            <p:nvPr/>
          </p:nvSpPr>
          <p:spPr bwMode="auto">
            <a:xfrm>
              <a:off x="3675063" y="3590925"/>
              <a:ext cx="17463" cy="46038"/>
            </a:xfrm>
            <a:custGeom>
              <a:avLst/>
              <a:gdLst>
                <a:gd name="T0" fmla="*/ 51 w 84"/>
                <a:gd name="T1" fmla="*/ 0 h 227"/>
                <a:gd name="T2" fmla="*/ 0 w 84"/>
                <a:gd name="T3" fmla="*/ 219 h 227"/>
                <a:gd name="T4" fmla="*/ 33 w 84"/>
                <a:gd name="T5" fmla="*/ 227 h 227"/>
                <a:gd name="T6" fmla="*/ 84 w 84"/>
                <a:gd name="T7" fmla="*/ 7 h 227"/>
              </a:gdLst>
              <a:ahLst/>
              <a:cxnLst>
                <a:cxn ang="0">
                  <a:pos x="T0" y="T1"/>
                </a:cxn>
                <a:cxn ang="0">
                  <a:pos x="T2" y="T3"/>
                </a:cxn>
                <a:cxn ang="0">
                  <a:pos x="T4" y="T5"/>
                </a:cxn>
                <a:cxn ang="0">
                  <a:pos x="T6" y="T7"/>
                </a:cxn>
              </a:cxnLst>
              <a:rect l="0" t="0" r="r" b="b"/>
              <a:pathLst>
                <a:path w="84" h="227">
                  <a:moveTo>
                    <a:pt x="51" y="0"/>
                  </a:moveTo>
                  <a:lnTo>
                    <a:pt x="0" y="219"/>
                  </a:lnTo>
                  <a:lnTo>
                    <a:pt x="33" y="227"/>
                  </a:lnTo>
                  <a:lnTo>
                    <a:pt x="84" y="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2" name="Freeform 1119">
              <a:extLst>
                <a:ext uri="{FF2B5EF4-FFF2-40B4-BE49-F238E27FC236}">
                  <a16:creationId xmlns:a16="http://schemas.microsoft.com/office/drawing/2014/main" id="{4CE7E5BC-78C7-A032-73F6-0A25AB767CE5}"/>
                </a:ext>
              </a:extLst>
            </p:cNvPr>
            <p:cNvSpPr>
              <a:spLocks/>
            </p:cNvSpPr>
            <p:nvPr/>
          </p:nvSpPr>
          <p:spPr bwMode="auto">
            <a:xfrm>
              <a:off x="3708401" y="3590925"/>
              <a:ext cx="17463" cy="46038"/>
            </a:xfrm>
            <a:custGeom>
              <a:avLst/>
              <a:gdLst>
                <a:gd name="T0" fmla="*/ 0 w 83"/>
                <a:gd name="T1" fmla="*/ 7 h 227"/>
                <a:gd name="T2" fmla="*/ 51 w 83"/>
                <a:gd name="T3" fmla="*/ 227 h 227"/>
                <a:gd name="T4" fmla="*/ 83 w 83"/>
                <a:gd name="T5" fmla="*/ 219 h 227"/>
                <a:gd name="T6" fmla="*/ 33 w 83"/>
                <a:gd name="T7" fmla="*/ 0 h 227"/>
              </a:gdLst>
              <a:ahLst/>
              <a:cxnLst>
                <a:cxn ang="0">
                  <a:pos x="T0" y="T1"/>
                </a:cxn>
                <a:cxn ang="0">
                  <a:pos x="T2" y="T3"/>
                </a:cxn>
                <a:cxn ang="0">
                  <a:pos x="T4" y="T5"/>
                </a:cxn>
                <a:cxn ang="0">
                  <a:pos x="T6" y="T7"/>
                </a:cxn>
              </a:cxnLst>
              <a:rect l="0" t="0" r="r" b="b"/>
              <a:pathLst>
                <a:path w="83" h="227">
                  <a:moveTo>
                    <a:pt x="0" y="7"/>
                  </a:moveTo>
                  <a:lnTo>
                    <a:pt x="51" y="227"/>
                  </a:lnTo>
                  <a:lnTo>
                    <a:pt x="83" y="219"/>
                  </a:lnTo>
                  <a:lnTo>
                    <a:pt x="33"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33" name="Plan5" descr="{&quot;Key&quot;:&quot;POWER_USER_SHAPE_ICON&quot;,&quot;Value&quot;:&quot;POWER_USER_SHAPE_ICON_STYLE_1&quot;}">
            <a:extLst>
              <a:ext uri="{FF2B5EF4-FFF2-40B4-BE49-F238E27FC236}">
                <a16:creationId xmlns:a16="http://schemas.microsoft.com/office/drawing/2014/main" id="{DD7634C8-CE22-9851-7563-92D5CC10CF44}"/>
              </a:ext>
            </a:extLst>
          </p:cNvPr>
          <p:cNvGrpSpPr>
            <a:grpSpLocks noChangeAspect="1"/>
          </p:cNvGrpSpPr>
          <p:nvPr/>
        </p:nvGrpSpPr>
        <p:grpSpPr>
          <a:xfrm>
            <a:off x="4997023" y="5938083"/>
            <a:ext cx="359997" cy="393630"/>
            <a:chOff x="8462963" y="1682750"/>
            <a:chExt cx="706430" cy="762001"/>
          </a:xfrm>
        </p:grpSpPr>
        <p:sp>
          <p:nvSpPr>
            <p:cNvPr id="1134" name="Freeform 55">
              <a:extLst>
                <a:ext uri="{FF2B5EF4-FFF2-40B4-BE49-F238E27FC236}">
                  <a16:creationId xmlns:a16="http://schemas.microsoft.com/office/drawing/2014/main" id="{4516F38B-39F5-CDFC-8904-6529BDD08704}"/>
                </a:ext>
              </a:extLst>
            </p:cNvPr>
            <p:cNvSpPr>
              <a:spLocks/>
            </p:cNvSpPr>
            <p:nvPr/>
          </p:nvSpPr>
          <p:spPr bwMode="auto">
            <a:xfrm>
              <a:off x="8462963" y="2109788"/>
              <a:ext cx="317500" cy="244475"/>
            </a:xfrm>
            <a:custGeom>
              <a:avLst/>
              <a:gdLst>
                <a:gd name="T0" fmla="*/ 124 w 424"/>
                <a:gd name="T1" fmla="*/ 325 h 325"/>
                <a:gd name="T2" fmla="*/ 7 w 424"/>
                <a:gd name="T3" fmla="*/ 141 h 325"/>
                <a:gd name="T4" fmla="*/ 14 w 424"/>
                <a:gd name="T5" fmla="*/ 115 h 325"/>
                <a:gd name="T6" fmla="*/ 259 w 424"/>
                <a:gd name="T7" fmla="*/ 5 h 325"/>
                <a:gd name="T8" fmla="*/ 291 w 424"/>
                <a:gd name="T9" fmla="*/ 16 h 325"/>
                <a:gd name="T10" fmla="*/ 424 w 424"/>
                <a:gd name="T11" fmla="*/ 228 h 325"/>
              </a:gdLst>
              <a:ahLst/>
              <a:cxnLst>
                <a:cxn ang="0">
                  <a:pos x="T0" y="T1"/>
                </a:cxn>
                <a:cxn ang="0">
                  <a:pos x="T2" y="T3"/>
                </a:cxn>
                <a:cxn ang="0">
                  <a:pos x="T4" y="T5"/>
                </a:cxn>
                <a:cxn ang="0">
                  <a:pos x="T6" y="T7"/>
                </a:cxn>
                <a:cxn ang="0">
                  <a:pos x="T8" y="T9"/>
                </a:cxn>
                <a:cxn ang="0">
                  <a:pos x="T10" y="T11"/>
                </a:cxn>
              </a:cxnLst>
              <a:rect l="0" t="0" r="r" b="b"/>
              <a:pathLst>
                <a:path w="424" h="325">
                  <a:moveTo>
                    <a:pt x="124" y="325"/>
                  </a:moveTo>
                  <a:lnTo>
                    <a:pt x="7" y="141"/>
                  </a:lnTo>
                  <a:cubicBezTo>
                    <a:pt x="0" y="130"/>
                    <a:pt x="3" y="119"/>
                    <a:pt x="14" y="115"/>
                  </a:cubicBezTo>
                  <a:lnTo>
                    <a:pt x="259" y="5"/>
                  </a:lnTo>
                  <a:cubicBezTo>
                    <a:pt x="273" y="0"/>
                    <a:pt x="282" y="3"/>
                    <a:pt x="291" y="16"/>
                  </a:cubicBezTo>
                  <a:lnTo>
                    <a:pt x="424" y="228"/>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5" name="Freeform 56">
              <a:extLst>
                <a:ext uri="{FF2B5EF4-FFF2-40B4-BE49-F238E27FC236}">
                  <a16:creationId xmlns:a16="http://schemas.microsoft.com/office/drawing/2014/main" id="{A098F86B-AC38-DA77-E2C0-E2211F4F86C7}"/>
                </a:ext>
              </a:extLst>
            </p:cNvPr>
            <p:cNvSpPr>
              <a:spLocks/>
            </p:cNvSpPr>
            <p:nvPr/>
          </p:nvSpPr>
          <p:spPr bwMode="auto">
            <a:xfrm>
              <a:off x="8547093" y="2035175"/>
              <a:ext cx="622300" cy="409576"/>
            </a:xfrm>
            <a:custGeom>
              <a:avLst/>
              <a:gdLst>
                <a:gd name="T0" fmla="*/ 516 w 828"/>
                <a:gd name="T1" fmla="*/ 518 h 544"/>
                <a:gd name="T2" fmla="*/ 828 w 828"/>
                <a:gd name="T3" fmla="*/ 518 h 544"/>
                <a:gd name="T4" fmla="*/ 784 w 828"/>
                <a:gd name="T5" fmla="*/ 202 h 544"/>
                <a:gd name="T6" fmla="*/ 577 w 828"/>
                <a:gd name="T7" fmla="*/ 0 h 544"/>
                <a:gd name="T8" fmla="*/ 390 w 828"/>
                <a:gd name="T9" fmla="*/ 142 h 544"/>
                <a:gd name="T10" fmla="*/ 292 w 828"/>
                <a:gd name="T11" fmla="*/ 372 h 544"/>
                <a:gd name="T12" fmla="*/ 49 w 828"/>
                <a:gd name="T13" fmla="*/ 397 h 544"/>
                <a:gd name="T14" fmla="*/ 0 w 828"/>
                <a:gd name="T15" fmla="*/ 469 h 544"/>
                <a:gd name="T16" fmla="*/ 86 w 828"/>
                <a:gd name="T17" fmla="*/ 544 h 544"/>
                <a:gd name="T18" fmla="*/ 365 w 828"/>
                <a:gd name="T19" fmla="*/ 544 h 544"/>
                <a:gd name="T20" fmla="*/ 456 w 828"/>
                <a:gd name="T21" fmla="*/ 481 h 544"/>
                <a:gd name="T22" fmla="*/ 559 w 828"/>
                <a:gd name="T23" fmla="*/ 270 h 544"/>
                <a:gd name="T24" fmla="*/ 559 w 828"/>
                <a:gd name="T25" fmla="*/ 27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8" h="544">
                  <a:moveTo>
                    <a:pt x="516" y="518"/>
                  </a:moveTo>
                  <a:lnTo>
                    <a:pt x="828" y="518"/>
                  </a:lnTo>
                  <a:lnTo>
                    <a:pt x="784" y="202"/>
                  </a:lnTo>
                  <a:cubicBezTo>
                    <a:pt x="762" y="62"/>
                    <a:pt x="683" y="0"/>
                    <a:pt x="577" y="0"/>
                  </a:cubicBezTo>
                  <a:cubicBezTo>
                    <a:pt x="501" y="0"/>
                    <a:pt x="430" y="43"/>
                    <a:pt x="390" y="142"/>
                  </a:cubicBezTo>
                  <a:lnTo>
                    <a:pt x="292" y="372"/>
                  </a:lnTo>
                  <a:lnTo>
                    <a:pt x="49" y="397"/>
                  </a:lnTo>
                  <a:cubicBezTo>
                    <a:pt x="20" y="406"/>
                    <a:pt x="0" y="428"/>
                    <a:pt x="0" y="469"/>
                  </a:cubicBezTo>
                  <a:cubicBezTo>
                    <a:pt x="0" y="518"/>
                    <a:pt x="32" y="544"/>
                    <a:pt x="86" y="544"/>
                  </a:cubicBezTo>
                  <a:lnTo>
                    <a:pt x="365" y="544"/>
                  </a:lnTo>
                  <a:cubicBezTo>
                    <a:pt x="405" y="544"/>
                    <a:pt x="436" y="521"/>
                    <a:pt x="456" y="481"/>
                  </a:cubicBezTo>
                  <a:cubicBezTo>
                    <a:pt x="483" y="426"/>
                    <a:pt x="530" y="330"/>
                    <a:pt x="559" y="270"/>
                  </a:cubicBezTo>
                  <a:lnTo>
                    <a:pt x="559" y="270"/>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6" name="Line 57">
              <a:extLst>
                <a:ext uri="{FF2B5EF4-FFF2-40B4-BE49-F238E27FC236}">
                  <a16:creationId xmlns:a16="http://schemas.microsoft.com/office/drawing/2014/main" id="{2EC0E38F-96A2-86C0-2BD4-102256FDFD7C}"/>
                </a:ext>
              </a:extLst>
            </p:cNvPr>
            <p:cNvSpPr>
              <a:spLocks noChangeShapeType="1"/>
            </p:cNvSpPr>
            <p:nvPr/>
          </p:nvSpPr>
          <p:spPr bwMode="auto">
            <a:xfrm flipH="1">
              <a:off x="8593138" y="2265363"/>
              <a:ext cx="17463" cy="6667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7" name="Freeform 58">
              <a:extLst>
                <a:ext uri="{FF2B5EF4-FFF2-40B4-BE49-F238E27FC236}">
                  <a16:creationId xmlns:a16="http://schemas.microsoft.com/office/drawing/2014/main" id="{3225E61D-7026-35F2-B317-77543ABC3FF8}"/>
                </a:ext>
              </a:extLst>
            </p:cNvPr>
            <p:cNvSpPr>
              <a:spLocks/>
            </p:cNvSpPr>
            <p:nvPr/>
          </p:nvSpPr>
          <p:spPr bwMode="auto">
            <a:xfrm>
              <a:off x="8709025" y="1806575"/>
              <a:ext cx="279400" cy="204788"/>
            </a:xfrm>
            <a:custGeom>
              <a:avLst/>
              <a:gdLst>
                <a:gd name="T0" fmla="*/ 351 w 372"/>
                <a:gd name="T1" fmla="*/ 0 h 273"/>
                <a:gd name="T2" fmla="*/ 372 w 372"/>
                <a:gd name="T3" fmla="*/ 85 h 273"/>
                <a:gd name="T4" fmla="*/ 186 w 372"/>
                <a:gd name="T5" fmla="*/ 273 h 273"/>
                <a:gd name="T6" fmla="*/ 0 w 372"/>
                <a:gd name="T7" fmla="*/ 113 h 273"/>
              </a:gdLst>
              <a:ahLst/>
              <a:cxnLst>
                <a:cxn ang="0">
                  <a:pos x="T0" y="T1"/>
                </a:cxn>
                <a:cxn ang="0">
                  <a:pos x="T2" y="T3"/>
                </a:cxn>
                <a:cxn ang="0">
                  <a:pos x="T4" y="T5"/>
                </a:cxn>
                <a:cxn ang="0">
                  <a:pos x="T6" y="T7"/>
                </a:cxn>
              </a:cxnLst>
              <a:rect l="0" t="0" r="r" b="b"/>
              <a:pathLst>
                <a:path w="372" h="273">
                  <a:moveTo>
                    <a:pt x="351" y="0"/>
                  </a:moveTo>
                  <a:cubicBezTo>
                    <a:pt x="364" y="26"/>
                    <a:pt x="372" y="55"/>
                    <a:pt x="372" y="85"/>
                  </a:cubicBezTo>
                  <a:cubicBezTo>
                    <a:pt x="372" y="188"/>
                    <a:pt x="289" y="272"/>
                    <a:pt x="186" y="273"/>
                  </a:cubicBezTo>
                  <a:cubicBezTo>
                    <a:pt x="91" y="273"/>
                    <a:pt x="14" y="203"/>
                    <a:pt x="0" y="113"/>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8" name="Freeform 59">
              <a:extLst>
                <a:ext uri="{FF2B5EF4-FFF2-40B4-BE49-F238E27FC236}">
                  <a16:creationId xmlns:a16="http://schemas.microsoft.com/office/drawing/2014/main" id="{3B3DADD7-D6BA-FD05-6EF4-D332174E6EC2}"/>
                </a:ext>
              </a:extLst>
            </p:cNvPr>
            <p:cNvSpPr>
              <a:spLocks/>
            </p:cNvSpPr>
            <p:nvPr/>
          </p:nvSpPr>
          <p:spPr bwMode="auto">
            <a:xfrm>
              <a:off x="8667750" y="1682750"/>
              <a:ext cx="312738" cy="206375"/>
            </a:xfrm>
            <a:custGeom>
              <a:avLst/>
              <a:gdLst>
                <a:gd name="T0" fmla="*/ 418 w 418"/>
                <a:gd name="T1" fmla="*/ 145 h 274"/>
                <a:gd name="T2" fmla="*/ 222 w 418"/>
                <a:gd name="T3" fmla="*/ 0 h 274"/>
                <a:gd name="T4" fmla="*/ 165 w 418"/>
                <a:gd name="T5" fmla="*/ 9 h 274"/>
                <a:gd name="T6" fmla="*/ 37 w 418"/>
                <a:gd name="T7" fmla="*/ 274 h 274"/>
              </a:gdLst>
              <a:ahLst/>
              <a:cxnLst>
                <a:cxn ang="0">
                  <a:pos x="T0" y="T1"/>
                </a:cxn>
                <a:cxn ang="0">
                  <a:pos x="T2" y="T3"/>
                </a:cxn>
                <a:cxn ang="0">
                  <a:pos x="T4" y="T5"/>
                </a:cxn>
                <a:cxn ang="0">
                  <a:pos x="T6" y="T7"/>
                </a:cxn>
              </a:cxnLst>
              <a:rect l="0" t="0" r="r" b="b"/>
              <a:pathLst>
                <a:path w="418" h="274">
                  <a:moveTo>
                    <a:pt x="418" y="145"/>
                  </a:moveTo>
                  <a:cubicBezTo>
                    <a:pt x="396" y="67"/>
                    <a:pt x="314" y="0"/>
                    <a:pt x="222" y="0"/>
                  </a:cubicBezTo>
                  <a:cubicBezTo>
                    <a:pt x="203" y="0"/>
                    <a:pt x="184" y="3"/>
                    <a:pt x="165" y="9"/>
                  </a:cubicBezTo>
                  <a:cubicBezTo>
                    <a:pt x="61" y="43"/>
                    <a:pt x="0" y="154"/>
                    <a:pt x="37" y="274"/>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9" name="Line 60">
              <a:extLst>
                <a:ext uri="{FF2B5EF4-FFF2-40B4-BE49-F238E27FC236}">
                  <a16:creationId xmlns:a16="http://schemas.microsoft.com/office/drawing/2014/main" id="{5BDAB858-86FA-7D2D-A408-393C4430F48C}"/>
                </a:ext>
              </a:extLst>
            </p:cNvPr>
            <p:cNvSpPr>
              <a:spLocks noChangeShapeType="1"/>
            </p:cNvSpPr>
            <p:nvPr/>
          </p:nvSpPr>
          <p:spPr bwMode="auto">
            <a:xfrm flipH="1">
              <a:off x="8645525" y="1792288"/>
              <a:ext cx="347663" cy="11112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40" name="Team14" descr="{&quot;Key&quot;:&quot;POWER_USER_SHAPE_ICON&quot;,&quot;Value&quot;:&quot;POWER_USER_SHAPE_ICON_STYLE_1&quot;}">
            <a:extLst>
              <a:ext uri="{FF2B5EF4-FFF2-40B4-BE49-F238E27FC236}">
                <a16:creationId xmlns:a16="http://schemas.microsoft.com/office/drawing/2014/main" id="{B5A90F99-0792-D043-0B00-8AAAC617EC1C}"/>
              </a:ext>
            </a:extLst>
          </p:cNvPr>
          <p:cNvGrpSpPr>
            <a:grpSpLocks noChangeAspect="1"/>
          </p:cNvGrpSpPr>
          <p:nvPr>
            <p:custDataLst>
              <p:tags r:id="rId1"/>
            </p:custDataLst>
          </p:nvPr>
        </p:nvGrpSpPr>
        <p:grpSpPr>
          <a:xfrm>
            <a:off x="6377397" y="5943213"/>
            <a:ext cx="396000" cy="383370"/>
            <a:chOff x="8447088" y="3063875"/>
            <a:chExt cx="741362" cy="708025"/>
          </a:xfrm>
        </p:grpSpPr>
        <p:sp>
          <p:nvSpPr>
            <p:cNvPr id="1141" name="Oval 87">
              <a:extLst>
                <a:ext uri="{FF2B5EF4-FFF2-40B4-BE49-F238E27FC236}">
                  <a16:creationId xmlns:a16="http://schemas.microsoft.com/office/drawing/2014/main" id="{9645C6BF-09E7-8276-785F-F9840D42088D}"/>
                </a:ext>
              </a:extLst>
            </p:cNvPr>
            <p:cNvSpPr>
              <a:spLocks noChangeArrowheads="1"/>
            </p:cNvSpPr>
            <p:nvPr/>
          </p:nvSpPr>
          <p:spPr bwMode="auto">
            <a:xfrm>
              <a:off x="8521700" y="3227388"/>
              <a:ext cx="152400" cy="150813"/>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2" name="Oval 88">
              <a:extLst>
                <a:ext uri="{FF2B5EF4-FFF2-40B4-BE49-F238E27FC236}">
                  <a16:creationId xmlns:a16="http://schemas.microsoft.com/office/drawing/2014/main" id="{CC8DF309-6D59-D1BA-033D-AE2512F55E8A}"/>
                </a:ext>
              </a:extLst>
            </p:cNvPr>
            <p:cNvSpPr>
              <a:spLocks noChangeArrowheads="1"/>
            </p:cNvSpPr>
            <p:nvPr/>
          </p:nvSpPr>
          <p:spPr bwMode="auto">
            <a:xfrm>
              <a:off x="8623300" y="3063875"/>
              <a:ext cx="146050" cy="14605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3" name="Oval 89">
              <a:extLst>
                <a:ext uri="{FF2B5EF4-FFF2-40B4-BE49-F238E27FC236}">
                  <a16:creationId xmlns:a16="http://schemas.microsoft.com/office/drawing/2014/main" id="{BAD5A86A-6AD9-2FEA-F625-BBA643B3282E}"/>
                </a:ext>
              </a:extLst>
            </p:cNvPr>
            <p:cNvSpPr>
              <a:spLocks noChangeArrowheads="1"/>
            </p:cNvSpPr>
            <p:nvPr/>
          </p:nvSpPr>
          <p:spPr bwMode="auto">
            <a:xfrm>
              <a:off x="8874127" y="3063875"/>
              <a:ext cx="147638" cy="14605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4" name="Freeform 90">
              <a:extLst>
                <a:ext uri="{FF2B5EF4-FFF2-40B4-BE49-F238E27FC236}">
                  <a16:creationId xmlns:a16="http://schemas.microsoft.com/office/drawing/2014/main" id="{2BCE474F-43AE-F87F-85AC-F2818F0687DF}"/>
                </a:ext>
              </a:extLst>
            </p:cNvPr>
            <p:cNvSpPr>
              <a:spLocks/>
            </p:cNvSpPr>
            <p:nvPr/>
          </p:nvSpPr>
          <p:spPr bwMode="auto">
            <a:xfrm>
              <a:off x="8447088" y="3392488"/>
              <a:ext cx="87313" cy="76200"/>
            </a:xfrm>
            <a:custGeom>
              <a:avLst/>
              <a:gdLst>
                <a:gd name="T0" fmla="*/ 17 w 116"/>
                <a:gd name="T1" fmla="*/ 82 h 102"/>
                <a:gd name="T2" fmla="*/ 59 w 116"/>
                <a:gd name="T3" fmla="*/ 102 h 102"/>
                <a:gd name="T4" fmla="*/ 82 w 116"/>
                <a:gd name="T5" fmla="*/ 97 h 102"/>
                <a:gd name="T6" fmla="*/ 107 w 116"/>
                <a:gd name="T7" fmla="*/ 26 h 102"/>
                <a:gd name="T8" fmla="*/ 82 w 116"/>
                <a:gd name="T9" fmla="*/ 0 h 102"/>
                <a:gd name="T10" fmla="*/ 44 w 116"/>
                <a:gd name="T11" fmla="*/ 13 h 102"/>
                <a:gd name="T12" fmla="*/ 10 w 116"/>
                <a:gd name="T13" fmla="*/ 64 h 102"/>
                <a:gd name="T14" fmla="*/ 17 w 116"/>
                <a:gd name="T15" fmla="*/ 8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102">
                  <a:moveTo>
                    <a:pt x="17" y="82"/>
                  </a:moveTo>
                  <a:cubicBezTo>
                    <a:pt x="27" y="94"/>
                    <a:pt x="42" y="102"/>
                    <a:pt x="59" y="102"/>
                  </a:cubicBezTo>
                  <a:cubicBezTo>
                    <a:pt x="66" y="102"/>
                    <a:pt x="74" y="100"/>
                    <a:pt x="82" y="97"/>
                  </a:cubicBezTo>
                  <a:cubicBezTo>
                    <a:pt x="109" y="85"/>
                    <a:pt x="116" y="54"/>
                    <a:pt x="107" y="26"/>
                  </a:cubicBezTo>
                  <a:cubicBezTo>
                    <a:pt x="102" y="9"/>
                    <a:pt x="96" y="0"/>
                    <a:pt x="82" y="0"/>
                  </a:cubicBezTo>
                  <a:cubicBezTo>
                    <a:pt x="72" y="0"/>
                    <a:pt x="58" y="7"/>
                    <a:pt x="44" y="13"/>
                  </a:cubicBezTo>
                  <a:cubicBezTo>
                    <a:pt x="18" y="26"/>
                    <a:pt x="0" y="33"/>
                    <a:pt x="10" y="64"/>
                  </a:cubicBezTo>
                  <a:cubicBezTo>
                    <a:pt x="11" y="67"/>
                    <a:pt x="12" y="75"/>
                    <a:pt x="17" y="82"/>
                  </a:cubicBez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5" name="Oval 91">
              <a:extLst>
                <a:ext uri="{FF2B5EF4-FFF2-40B4-BE49-F238E27FC236}">
                  <a16:creationId xmlns:a16="http://schemas.microsoft.com/office/drawing/2014/main" id="{31D0A0D0-B00F-51E3-65B4-7C3BCD5C856D}"/>
                </a:ext>
              </a:extLst>
            </p:cNvPr>
            <p:cNvSpPr>
              <a:spLocks noChangeArrowheads="1"/>
            </p:cNvSpPr>
            <p:nvPr/>
          </p:nvSpPr>
          <p:spPr bwMode="auto">
            <a:xfrm>
              <a:off x="8742363" y="3208338"/>
              <a:ext cx="152400" cy="15240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6" name="Freeform 92">
              <a:extLst>
                <a:ext uri="{FF2B5EF4-FFF2-40B4-BE49-F238E27FC236}">
                  <a16:creationId xmlns:a16="http://schemas.microsoft.com/office/drawing/2014/main" id="{F4133866-5016-835D-404F-D087797DD5B2}"/>
                </a:ext>
              </a:extLst>
            </p:cNvPr>
            <p:cNvSpPr>
              <a:spLocks/>
            </p:cNvSpPr>
            <p:nvPr/>
          </p:nvSpPr>
          <p:spPr bwMode="auto">
            <a:xfrm>
              <a:off x="8702675" y="3296042"/>
              <a:ext cx="265627" cy="474270"/>
            </a:xfrm>
            <a:custGeom>
              <a:avLst/>
              <a:gdLst>
                <a:gd name="T0" fmla="*/ 268 w 307"/>
                <a:gd name="T1" fmla="*/ 503 h 503"/>
                <a:gd name="T2" fmla="*/ 269 w 307"/>
                <a:gd name="T3" fmla="*/ 130 h 503"/>
                <a:gd name="T4" fmla="*/ 307 w 307"/>
                <a:gd name="T5" fmla="*/ 24 h 503"/>
                <a:gd name="T6" fmla="*/ 212 w 307"/>
                <a:gd name="T7" fmla="*/ 0 h 503"/>
                <a:gd name="T8" fmla="*/ 153 w 307"/>
                <a:gd name="T9" fmla="*/ 59 h 503"/>
                <a:gd name="T10" fmla="*/ 95 w 307"/>
                <a:gd name="T11" fmla="*/ 0 h 503"/>
                <a:gd name="T12" fmla="*/ 0 w 307"/>
                <a:gd name="T13" fmla="*/ 24 h 503"/>
                <a:gd name="T14" fmla="*/ 38 w 307"/>
                <a:gd name="T15" fmla="*/ 130 h 503"/>
                <a:gd name="T16" fmla="*/ 39 w 307"/>
                <a:gd name="T17" fmla="*/ 503 h 503"/>
                <a:gd name="T18" fmla="*/ 268 w 307"/>
                <a:gd name="T19" fmla="*/ 503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7" h="503">
                  <a:moveTo>
                    <a:pt x="268" y="503"/>
                  </a:moveTo>
                  <a:lnTo>
                    <a:pt x="269" y="130"/>
                  </a:lnTo>
                  <a:cubicBezTo>
                    <a:pt x="269" y="75"/>
                    <a:pt x="293" y="44"/>
                    <a:pt x="307" y="24"/>
                  </a:cubicBezTo>
                  <a:cubicBezTo>
                    <a:pt x="284" y="5"/>
                    <a:pt x="255" y="1"/>
                    <a:pt x="212" y="0"/>
                  </a:cubicBezTo>
                  <a:lnTo>
                    <a:pt x="153" y="59"/>
                  </a:lnTo>
                  <a:lnTo>
                    <a:pt x="95" y="0"/>
                  </a:lnTo>
                  <a:cubicBezTo>
                    <a:pt x="52" y="1"/>
                    <a:pt x="22" y="5"/>
                    <a:pt x="0" y="24"/>
                  </a:cubicBezTo>
                  <a:cubicBezTo>
                    <a:pt x="0" y="24"/>
                    <a:pt x="38" y="65"/>
                    <a:pt x="38" y="130"/>
                  </a:cubicBezTo>
                  <a:cubicBezTo>
                    <a:pt x="38" y="267"/>
                    <a:pt x="39" y="503"/>
                    <a:pt x="39" y="503"/>
                  </a:cubicBezTo>
                  <a:lnTo>
                    <a:pt x="268" y="503"/>
                  </a:ln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7" name="Freeform 93">
              <a:extLst>
                <a:ext uri="{FF2B5EF4-FFF2-40B4-BE49-F238E27FC236}">
                  <a16:creationId xmlns:a16="http://schemas.microsoft.com/office/drawing/2014/main" id="{112E861C-A0F9-6378-7F3A-8C6971144713}"/>
                </a:ext>
              </a:extLst>
            </p:cNvPr>
            <p:cNvSpPr>
              <a:spLocks/>
            </p:cNvSpPr>
            <p:nvPr/>
          </p:nvSpPr>
          <p:spPr bwMode="auto">
            <a:xfrm>
              <a:off x="8528050" y="3409950"/>
              <a:ext cx="184150" cy="42863"/>
            </a:xfrm>
            <a:custGeom>
              <a:avLst/>
              <a:gdLst>
                <a:gd name="T0" fmla="*/ 0 w 246"/>
                <a:gd name="T1" fmla="*/ 6 h 56"/>
                <a:gd name="T2" fmla="*/ 38 w 246"/>
                <a:gd name="T3" fmla="*/ 0 h 56"/>
                <a:gd name="T4" fmla="*/ 93 w 246"/>
                <a:gd name="T5" fmla="*/ 56 h 56"/>
                <a:gd name="T6" fmla="*/ 149 w 246"/>
                <a:gd name="T7" fmla="*/ 0 h 56"/>
                <a:gd name="T8" fmla="*/ 246 w 246"/>
                <a:gd name="T9" fmla="*/ 17 h 56"/>
              </a:gdLst>
              <a:ahLst/>
              <a:cxnLst>
                <a:cxn ang="0">
                  <a:pos x="T0" y="T1"/>
                </a:cxn>
                <a:cxn ang="0">
                  <a:pos x="T2" y="T3"/>
                </a:cxn>
                <a:cxn ang="0">
                  <a:pos x="T4" y="T5"/>
                </a:cxn>
                <a:cxn ang="0">
                  <a:pos x="T6" y="T7"/>
                </a:cxn>
                <a:cxn ang="0">
                  <a:pos x="T8" y="T9"/>
                </a:cxn>
              </a:cxnLst>
              <a:rect l="0" t="0" r="r" b="b"/>
              <a:pathLst>
                <a:path w="246" h="56">
                  <a:moveTo>
                    <a:pt x="0" y="6"/>
                  </a:moveTo>
                  <a:cubicBezTo>
                    <a:pt x="12" y="2"/>
                    <a:pt x="24" y="0"/>
                    <a:pt x="38" y="0"/>
                  </a:cubicBezTo>
                  <a:lnTo>
                    <a:pt x="93" y="56"/>
                  </a:lnTo>
                  <a:lnTo>
                    <a:pt x="149" y="0"/>
                  </a:lnTo>
                  <a:cubicBezTo>
                    <a:pt x="186" y="0"/>
                    <a:pt x="228" y="3"/>
                    <a:pt x="246" y="17"/>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8" name="Freeform 94">
              <a:extLst>
                <a:ext uri="{FF2B5EF4-FFF2-40B4-BE49-F238E27FC236}">
                  <a16:creationId xmlns:a16="http://schemas.microsoft.com/office/drawing/2014/main" id="{930F83DC-A699-FD30-2AE6-4BE135605D7A}"/>
                </a:ext>
              </a:extLst>
            </p:cNvPr>
            <p:cNvSpPr>
              <a:spLocks/>
            </p:cNvSpPr>
            <p:nvPr/>
          </p:nvSpPr>
          <p:spPr bwMode="auto">
            <a:xfrm>
              <a:off x="8462963" y="3463925"/>
              <a:ext cx="268288" cy="307975"/>
            </a:xfrm>
            <a:custGeom>
              <a:avLst/>
              <a:gdLst>
                <a:gd name="T0" fmla="*/ 12 w 358"/>
                <a:gd name="T1" fmla="*/ 0 h 409"/>
                <a:gd name="T2" fmla="*/ 6 w 358"/>
                <a:gd name="T3" fmla="*/ 17 h 409"/>
                <a:gd name="T4" fmla="*/ 0 w 358"/>
                <a:gd name="T5" fmla="*/ 62 h 409"/>
                <a:gd name="T6" fmla="*/ 1 w 358"/>
                <a:gd name="T7" fmla="*/ 258 h 409"/>
                <a:gd name="T8" fmla="*/ 60 w 358"/>
                <a:gd name="T9" fmla="*/ 311 h 409"/>
                <a:gd name="T10" fmla="*/ 60 w 358"/>
                <a:gd name="T11" fmla="*/ 409 h 409"/>
                <a:gd name="T12" fmla="*/ 290 w 358"/>
                <a:gd name="T13" fmla="*/ 408 h 409"/>
                <a:gd name="T14" fmla="*/ 291 w 358"/>
                <a:gd name="T15" fmla="*/ 77 h 409"/>
                <a:gd name="T16" fmla="*/ 358 w 358"/>
                <a:gd name="T17" fmla="*/ 95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8" h="409">
                  <a:moveTo>
                    <a:pt x="12" y="0"/>
                  </a:moveTo>
                  <a:cubicBezTo>
                    <a:pt x="9" y="7"/>
                    <a:pt x="7" y="13"/>
                    <a:pt x="6" y="17"/>
                  </a:cubicBezTo>
                  <a:cubicBezTo>
                    <a:pt x="2" y="31"/>
                    <a:pt x="0" y="46"/>
                    <a:pt x="0" y="62"/>
                  </a:cubicBezTo>
                  <a:cubicBezTo>
                    <a:pt x="0" y="62"/>
                    <a:pt x="1" y="258"/>
                    <a:pt x="1" y="258"/>
                  </a:cubicBezTo>
                  <a:cubicBezTo>
                    <a:pt x="1" y="288"/>
                    <a:pt x="23" y="311"/>
                    <a:pt x="60" y="311"/>
                  </a:cubicBezTo>
                  <a:lnTo>
                    <a:pt x="60" y="409"/>
                  </a:lnTo>
                  <a:lnTo>
                    <a:pt x="290" y="408"/>
                  </a:lnTo>
                  <a:lnTo>
                    <a:pt x="291" y="77"/>
                  </a:lnTo>
                  <a:cubicBezTo>
                    <a:pt x="309" y="83"/>
                    <a:pt x="358" y="95"/>
                    <a:pt x="358" y="95"/>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9" name="Oval 95">
              <a:extLst>
                <a:ext uri="{FF2B5EF4-FFF2-40B4-BE49-F238E27FC236}">
                  <a16:creationId xmlns:a16="http://schemas.microsoft.com/office/drawing/2014/main" id="{B89794F2-F90B-AC97-3F4E-E27B4E12A177}"/>
                </a:ext>
              </a:extLst>
            </p:cNvPr>
            <p:cNvSpPr>
              <a:spLocks noChangeArrowheads="1"/>
            </p:cNvSpPr>
            <p:nvPr/>
          </p:nvSpPr>
          <p:spPr bwMode="auto">
            <a:xfrm>
              <a:off x="8961438" y="3227388"/>
              <a:ext cx="152400" cy="150813"/>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0" name="Freeform 96">
              <a:extLst>
                <a:ext uri="{FF2B5EF4-FFF2-40B4-BE49-F238E27FC236}">
                  <a16:creationId xmlns:a16="http://schemas.microsoft.com/office/drawing/2014/main" id="{0319C832-88DC-9F7F-0388-AC0E570B13E2}"/>
                </a:ext>
              </a:extLst>
            </p:cNvPr>
            <p:cNvSpPr>
              <a:spLocks/>
            </p:cNvSpPr>
            <p:nvPr/>
          </p:nvSpPr>
          <p:spPr bwMode="auto">
            <a:xfrm>
              <a:off x="9102725" y="3392488"/>
              <a:ext cx="85725" cy="76200"/>
            </a:xfrm>
            <a:custGeom>
              <a:avLst/>
              <a:gdLst>
                <a:gd name="T0" fmla="*/ 99 w 116"/>
                <a:gd name="T1" fmla="*/ 82 h 102"/>
                <a:gd name="T2" fmla="*/ 57 w 116"/>
                <a:gd name="T3" fmla="*/ 102 h 102"/>
                <a:gd name="T4" fmla="*/ 34 w 116"/>
                <a:gd name="T5" fmla="*/ 97 h 102"/>
                <a:gd name="T6" fmla="*/ 9 w 116"/>
                <a:gd name="T7" fmla="*/ 26 h 102"/>
                <a:gd name="T8" fmla="*/ 34 w 116"/>
                <a:gd name="T9" fmla="*/ 0 h 102"/>
                <a:gd name="T10" fmla="*/ 72 w 116"/>
                <a:gd name="T11" fmla="*/ 13 h 102"/>
                <a:gd name="T12" fmla="*/ 106 w 116"/>
                <a:gd name="T13" fmla="*/ 64 h 102"/>
                <a:gd name="T14" fmla="*/ 99 w 116"/>
                <a:gd name="T15" fmla="*/ 8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102">
                  <a:moveTo>
                    <a:pt x="99" y="82"/>
                  </a:moveTo>
                  <a:cubicBezTo>
                    <a:pt x="89" y="94"/>
                    <a:pt x="74" y="102"/>
                    <a:pt x="57" y="102"/>
                  </a:cubicBezTo>
                  <a:cubicBezTo>
                    <a:pt x="50" y="102"/>
                    <a:pt x="42" y="100"/>
                    <a:pt x="34" y="97"/>
                  </a:cubicBezTo>
                  <a:cubicBezTo>
                    <a:pt x="7" y="85"/>
                    <a:pt x="0" y="54"/>
                    <a:pt x="9" y="26"/>
                  </a:cubicBezTo>
                  <a:cubicBezTo>
                    <a:pt x="14" y="9"/>
                    <a:pt x="20" y="0"/>
                    <a:pt x="34" y="0"/>
                  </a:cubicBezTo>
                  <a:cubicBezTo>
                    <a:pt x="44" y="0"/>
                    <a:pt x="58" y="7"/>
                    <a:pt x="72" y="13"/>
                  </a:cubicBezTo>
                  <a:cubicBezTo>
                    <a:pt x="98" y="26"/>
                    <a:pt x="116" y="33"/>
                    <a:pt x="106" y="64"/>
                  </a:cubicBezTo>
                  <a:cubicBezTo>
                    <a:pt x="105" y="67"/>
                    <a:pt x="104" y="75"/>
                    <a:pt x="99" y="82"/>
                  </a:cubicBez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1" name="Freeform 97">
              <a:extLst>
                <a:ext uri="{FF2B5EF4-FFF2-40B4-BE49-F238E27FC236}">
                  <a16:creationId xmlns:a16="http://schemas.microsoft.com/office/drawing/2014/main" id="{7DE4F6DD-B247-9509-E17F-C8962FDC122E}"/>
                </a:ext>
              </a:extLst>
            </p:cNvPr>
            <p:cNvSpPr>
              <a:spLocks/>
            </p:cNvSpPr>
            <p:nvPr/>
          </p:nvSpPr>
          <p:spPr bwMode="auto">
            <a:xfrm>
              <a:off x="8923338" y="3409950"/>
              <a:ext cx="184150" cy="42863"/>
            </a:xfrm>
            <a:custGeom>
              <a:avLst/>
              <a:gdLst>
                <a:gd name="T0" fmla="*/ 246 w 246"/>
                <a:gd name="T1" fmla="*/ 6 h 56"/>
                <a:gd name="T2" fmla="*/ 208 w 246"/>
                <a:gd name="T3" fmla="*/ 0 h 56"/>
                <a:gd name="T4" fmla="*/ 153 w 246"/>
                <a:gd name="T5" fmla="*/ 56 h 56"/>
                <a:gd name="T6" fmla="*/ 97 w 246"/>
                <a:gd name="T7" fmla="*/ 0 h 56"/>
                <a:gd name="T8" fmla="*/ 0 w 246"/>
                <a:gd name="T9" fmla="*/ 17 h 56"/>
              </a:gdLst>
              <a:ahLst/>
              <a:cxnLst>
                <a:cxn ang="0">
                  <a:pos x="T0" y="T1"/>
                </a:cxn>
                <a:cxn ang="0">
                  <a:pos x="T2" y="T3"/>
                </a:cxn>
                <a:cxn ang="0">
                  <a:pos x="T4" y="T5"/>
                </a:cxn>
                <a:cxn ang="0">
                  <a:pos x="T6" y="T7"/>
                </a:cxn>
                <a:cxn ang="0">
                  <a:pos x="T8" y="T9"/>
                </a:cxn>
              </a:cxnLst>
              <a:rect l="0" t="0" r="r" b="b"/>
              <a:pathLst>
                <a:path w="246" h="56">
                  <a:moveTo>
                    <a:pt x="246" y="6"/>
                  </a:moveTo>
                  <a:cubicBezTo>
                    <a:pt x="234" y="2"/>
                    <a:pt x="222" y="0"/>
                    <a:pt x="208" y="0"/>
                  </a:cubicBezTo>
                  <a:lnTo>
                    <a:pt x="153" y="56"/>
                  </a:lnTo>
                  <a:lnTo>
                    <a:pt x="97" y="0"/>
                  </a:lnTo>
                  <a:cubicBezTo>
                    <a:pt x="61" y="0"/>
                    <a:pt x="18" y="3"/>
                    <a:pt x="0" y="17"/>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2" name="Freeform 98">
              <a:extLst>
                <a:ext uri="{FF2B5EF4-FFF2-40B4-BE49-F238E27FC236}">
                  <a16:creationId xmlns:a16="http://schemas.microsoft.com/office/drawing/2014/main" id="{CF292C1D-31C7-E302-BE51-B720F0BB1885}"/>
                </a:ext>
              </a:extLst>
            </p:cNvPr>
            <p:cNvSpPr>
              <a:spLocks/>
            </p:cNvSpPr>
            <p:nvPr/>
          </p:nvSpPr>
          <p:spPr bwMode="auto">
            <a:xfrm>
              <a:off x="8904288" y="3463925"/>
              <a:ext cx="269875" cy="307975"/>
            </a:xfrm>
            <a:custGeom>
              <a:avLst/>
              <a:gdLst>
                <a:gd name="T0" fmla="*/ 0 w 358"/>
                <a:gd name="T1" fmla="*/ 95 h 409"/>
                <a:gd name="T2" fmla="*/ 67 w 358"/>
                <a:gd name="T3" fmla="*/ 77 h 409"/>
                <a:gd name="T4" fmla="*/ 68 w 358"/>
                <a:gd name="T5" fmla="*/ 408 h 409"/>
                <a:gd name="T6" fmla="*/ 298 w 358"/>
                <a:gd name="T7" fmla="*/ 409 h 409"/>
                <a:gd name="T8" fmla="*/ 298 w 358"/>
                <a:gd name="T9" fmla="*/ 311 h 409"/>
                <a:gd name="T10" fmla="*/ 357 w 358"/>
                <a:gd name="T11" fmla="*/ 258 h 409"/>
                <a:gd name="T12" fmla="*/ 358 w 358"/>
                <a:gd name="T13" fmla="*/ 62 h 409"/>
                <a:gd name="T14" fmla="*/ 352 w 358"/>
                <a:gd name="T15" fmla="*/ 17 h 409"/>
                <a:gd name="T16" fmla="*/ 346 w 358"/>
                <a:gd name="T17" fmla="*/ 0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8" h="409">
                  <a:moveTo>
                    <a:pt x="0" y="95"/>
                  </a:moveTo>
                  <a:cubicBezTo>
                    <a:pt x="0" y="95"/>
                    <a:pt x="49" y="83"/>
                    <a:pt x="67" y="77"/>
                  </a:cubicBezTo>
                  <a:lnTo>
                    <a:pt x="68" y="408"/>
                  </a:lnTo>
                  <a:lnTo>
                    <a:pt x="298" y="409"/>
                  </a:lnTo>
                  <a:lnTo>
                    <a:pt x="298" y="311"/>
                  </a:lnTo>
                  <a:cubicBezTo>
                    <a:pt x="335" y="311"/>
                    <a:pt x="357" y="288"/>
                    <a:pt x="357" y="258"/>
                  </a:cubicBezTo>
                  <a:cubicBezTo>
                    <a:pt x="357" y="258"/>
                    <a:pt x="358" y="62"/>
                    <a:pt x="358" y="62"/>
                  </a:cubicBezTo>
                  <a:cubicBezTo>
                    <a:pt x="358" y="46"/>
                    <a:pt x="356" y="31"/>
                    <a:pt x="352" y="17"/>
                  </a:cubicBezTo>
                  <a:cubicBezTo>
                    <a:pt x="351" y="13"/>
                    <a:pt x="349" y="7"/>
                    <a:pt x="346" y="0"/>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53" name="Presentation9" descr="{&quot;Key&quot;:&quot;POWER_USER_SHAPE_ICON&quot;,&quot;Value&quot;:&quot;POWER_USER_SHAPE_ICON_STYLE_1&quot;}">
            <a:extLst>
              <a:ext uri="{FF2B5EF4-FFF2-40B4-BE49-F238E27FC236}">
                <a16:creationId xmlns:a16="http://schemas.microsoft.com/office/drawing/2014/main" id="{EE28E1E2-137C-7110-FE29-130319FC66F2}"/>
              </a:ext>
            </a:extLst>
          </p:cNvPr>
          <p:cNvGrpSpPr>
            <a:grpSpLocks noChangeAspect="1"/>
          </p:cNvGrpSpPr>
          <p:nvPr>
            <p:custDataLst>
              <p:tags r:id="rId2"/>
            </p:custDataLst>
          </p:nvPr>
        </p:nvGrpSpPr>
        <p:grpSpPr>
          <a:xfrm>
            <a:off x="7686114" y="6020604"/>
            <a:ext cx="396000" cy="307732"/>
            <a:chOff x="6796088" y="1851026"/>
            <a:chExt cx="884238" cy="677862"/>
          </a:xfrm>
          <a:noFill/>
        </p:grpSpPr>
        <p:sp>
          <p:nvSpPr>
            <p:cNvPr id="1154" name="Freeform 157">
              <a:extLst>
                <a:ext uri="{FF2B5EF4-FFF2-40B4-BE49-F238E27FC236}">
                  <a16:creationId xmlns:a16="http://schemas.microsoft.com/office/drawing/2014/main" id="{B6B69DFE-8266-017B-CA3D-D15A487B8E4A}"/>
                </a:ext>
              </a:extLst>
            </p:cNvPr>
            <p:cNvSpPr>
              <a:spLocks/>
            </p:cNvSpPr>
            <p:nvPr/>
          </p:nvSpPr>
          <p:spPr bwMode="auto">
            <a:xfrm>
              <a:off x="7018338" y="1851026"/>
              <a:ext cx="661988" cy="512763"/>
            </a:xfrm>
            <a:custGeom>
              <a:avLst/>
              <a:gdLst>
                <a:gd name="T0" fmla="*/ 54 w 870"/>
                <a:gd name="T1" fmla="*/ 54 h 673"/>
                <a:gd name="T2" fmla="*/ 816 w 870"/>
                <a:gd name="T3" fmla="*/ 54 h 673"/>
                <a:gd name="T4" fmla="*/ 816 w 870"/>
                <a:gd name="T5" fmla="*/ 619 h 673"/>
                <a:gd name="T6" fmla="*/ 394 w 870"/>
                <a:gd name="T7" fmla="*/ 619 h 673"/>
                <a:gd name="T8" fmla="*/ 295 w 870"/>
                <a:gd name="T9" fmla="*/ 673 h 673"/>
                <a:gd name="T10" fmla="*/ 817 w 870"/>
                <a:gd name="T11" fmla="*/ 673 h 673"/>
                <a:gd name="T12" fmla="*/ 870 w 870"/>
                <a:gd name="T13" fmla="*/ 620 h 673"/>
                <a:gd name="T14" fmla="*/ 870 w 870"/>
                <a:gd name="T15" fmla="*/ 53 h 673"/>
                <a:gd name="T16" fmla="*/ 817 w 870"/>
                <a:gd name="T17" fmla="*/ 0 h 673"/>
                <a:gd name="T18" fmla="*/ 53 w 870"/>
                <a:gd name="T19" fmla="*/ 0 h 673"/>
                <a:gd name="T20" fmla="*/ 0 w 870"/>
                <a:gd name="T21" fmla="*/ 53 h 673"/>
                <a:gd name="T22" fmla="*/ 0 w 870"/>
                <a:gd name="T23" fmla="*/ 185 h 673"/>
                <a:gd name="T24" fmla="*/ 54 w 870"/>
                <a:gd name="T25" fmla="*/ 215 h 673"/>
                <a:gd name="T26" fmla="*/ 54 w 870"/>
                <a:gd name="T27" fmla="*/ 54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0" h="673">
                  <a:moveTo>
                    <a:pt x="54" y="54"/>
                  </a:moveTo>
                  <a:lnTo>
                    <a:pt x="816" y="54"/>
                  </a:lnTo>
                  <a:lnTo>
                    <a:pt x="816" y="619"/>
                  </a:lnTo>
                  <a:lnTo>
                    <a:pt x="394" y="619"/>
                  </a:lnTo>
                  <a:cubicBezTo>
                    <a:pt x="363" y="638"/>
                    <a:pt x="330" y="656"/>
                    <a:pt x="295" y="673"/>
                  </a:cubicBezTo>
                  <a:lnTo>
                    <a:pt x="817" y="673"/>
                  </a:lnTo>
                  <a:cubicBezTo>
                    <a:pt x="846" y="673"/>
                    <a:pt x="870" y="650"/>
                    <a:pt x="870" y="620"/>
                  </a:cubicBezTo>
                  <a:lnTo>
                    <a:pt x="870" y="53"/>
                  </a:lnTo>
                  <a:cubicBezTo>
                    <a:pt x="870" y="23"/>
                    <a:pt x="846" y="0"/>
                    <a:pt x="817" y="0"/>
                  </a:cubicBezTo>
                  <a:lnTo>
                    <a:pt x="53" y="0"/>
                  </a:lnTo>
                  <a:cubicBezTo>
                    <a:pt x="24" y="0"/>
                    <a:pt x="0" y="23"/>
                    <a:pt x="0" y="53"/>
                  </a:cubicBezTo>
                  <a:lnTo>
                    <a:pt x="0" y="185"/>
                  </a:lnTo>
                  <a:cubicBezTo>
                    <a:pt x="20" y="192"/>
                    <a:pt x="38" y="202"/>
                    <a:pt x="54" y="215"/>
                  </a:cubicBezTo>
                  <a:lnTo>
                    <a:pt x="54" y="54"/>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5" name="Freeform 158">
              <a:extLst>
                <a:ext uri="{FF2B5EF4-FFF2-40B4-BE49-F238E27FC236}">
                  <a16:creationId xmlns:a16="http://schemas.microsoft.com/office/drawing/2014/main" id="{ED024208-8D08-7FBC-D925-D75F884B86D4}"/>
                </a:ext>
              </a:extLst>
            </p:cNvPr>
            <p:cNvSpPr>
              <a:spLocks/>
            </p:cNvSpPr>
            <p:nvPr/>
          </p:nvSpPr>
          <p:spPr bwMode="auto">
            <a:xfrm>
              <a:off x="6796088" y="2162175"/>
              <a:ext cx="573088" cy="366713"/>
            </a:xfrm>
            <a:custGeom>
              <a:avLst/>
              <a:gdLst>
                <a:gd name="T0" fmla="*/ 122 w 753"/>
                <a:gd name="T1" fmla="*/ 359 h 482"/>
                <a:gd name="T2" fmla="*/ 154 w 753"/>
                <a:gd name="T3" fmla="*/ 359 h 482"/>
                <a:gd name="T4" fmla="*/ 164 w 753"/>
                <a:gd name="T5" fmla="*/ 482 h 482"/>
                <a:gd name="T6" fmla="*/ 399 w 753"/>
                <a:gd name="T7" fmla="*/ 482 h 482"/>
                <a:gd name="T8" fmla="*/ 399 w 753"/>
                <a:gd name="T9" fmla="*/ 279 h 482"/>
                <a:gd name="T10" fmla="*/ 716 w 753"/>
                <a:gd name="T11" fmla="*/ 121 h 482"/>
                <a:gd name="T12" fmla="*/ 727 w 753"/>
                <a:gd name="T13" fmla="*/ 23 h 482"/>
                <a:gd name="T14" fmla="*/ 679 w 753"/>
                <a:gd name="T15" fmla="*/ 0 h 482"/>
                <a:gd name="T16" fmla="*/ 653 w 753"/>
                <a:gd name="T17" fmla="*/ 7 h 482"/>
                <a:gd name="T18" fmla="*/ 317 w 753"/>
                <a:gd name="T19" fmla="*/ 123 h 482"/>
                <a:gd name="T20" fmla="*/ 230 w 753"/>
                <a:gd name="T21" fmla="*/ 190 h 482"/>
                <a:gd name="T22" fmla="*/ 149 w 753"/>
                <a:gd name="T23" fmla="*/ 129 h 482"/>
                <a:gd name="T24" fmla="*/ 0 w 753"/>
                <a:gd name="T25" fmla="*/ 309 h 482"/>
                <a:gd name="T26" fmla="*/ 0 w 753"/>
                <a:gd name="T27" fmla="*/ 482 h 482"/>
                <a:gd name="T28" fmla="*/ 122 w 753"/>
                <a:gd name="T29" fmla="*/ 482 h 482"/>
                <a:gd name="T30" fmla="*/ 122 w 753"/>
                <a:gd name="T31" fmla="*/ 359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3" h="482">
                  <a:moveTo>
                    <a:pt x="122" y="359"/>
                  </a:moveTo>
                  <a:lnTo>
                    <a:pt x="154" y="359"/>
                  </a:lnTo>
                  <a:lnTo>
                    <a:pt x="164" y="482"/>
                  </a:lnTo>
                  <a:lnTo>
                    <a:pt x="399" y="482"/>
                  </a:lnTo>
                  <a:lnTo>
                    <a:pt x="399" y="279"/>
                  </a:lnTo>
                  <a:cubicBezTo>
                    <a:pt x="529" y="237"/>
                    <a:pt x="643" y="176"/>
                    <a:pt x="716" y="121"/>
                  </a:cubicBezTo>
                  <a:cubicBezTo>
                    <a:pt x="747" y="98"/>
                    <a:pt x="753" y="55"/>
                    <a:pt x="727" y="23"/>
                  </a:cubicBezTo>
                  <a:cubicBezTo>
                    <a:pt x="715" y="9"/>
                    <a:pt x="697" y="0"/>
                    <a:pt x="679" y="0"/>
                  </a:cubicBezTo>
                  <a:cubicBezTo>
                    <a:pt x="670" y="0"/>
                    <a:pt x="661" y="3"/>
                    <a:pt x="653" y="7"/>
                  </a:cubicBezTo>
                  <a:cubicBezTo>
                    <a:pt x="488" y="100"/>
                    <a:pt x="404" y="119"/>
                    <a:pt x="317" y="123"/>
                  </a:cubicBezTo>
                  <a:lnTo>
                    <a:pt x="230" y="190"/>
                  </a:lnTo>
                  <a:lnTo>
                    <a:pt x="149" y="129"/>
                  </a:lnTo>
                  <a:cubicBezTo>
                    <a:pt x="60" y="145"/>
                    <a:pt x="0" y="199"/>
                    <a:pt x="0" y="309"/>
                  </a:cubicBezTo>
                  <a:lnTo>
                    <a:pt x="0" y="482"/>
                  </a:lnTo>
                  <a:lnTo>
                    <a:pt x="122" y="482"/>
                  </a:lnTo>
                  <a:lnTo>
                    <a:pt x="122" y="359"/>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6" name="Oval 159">
              <a:extLst>
                <a:ext uri="{FF2B5EF4-FFF2-40B4-BE49-F238E27FC236}">
                  <a16:creationId xmlns:a16="http://schemas.microsoft.com/office/drawing/2014/main" id="{25938DBE-2444-82EF-C03C-0A8F9BD9B5F9}"/>
                </a:ext>
              </a:extLst>
            </p:cNvPr>
            <p:cNvSpPr>
              <a:spLocks noChangeArrowheads="1"/>
            </p:cNvSpPr>
            <p:nvPr/>
          </p:nvSpPr>
          <p:spPr bwMode="auto">
            <a:xfrm>
              <a:off x="6867526" y="2022475"/>
              <a:ext cx="206375" cy="204788"/>
            </a:xfrm>
            <a:prstGeom prst="ellipse">
              <a:avLst/>
            </a:pr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7" name="Freeform 160">
              <a:extLst>
                <a:ext uri="{FF2B5EF4-FFF2-40B4-BE49-F238E27FC236}">
                  <a16:creationId xmlns:a16="http://schemas.microsoft.com/office/drawing/2014/main" id="{2C2A6A46-1C9D-91B7-9236-B53A92D3DC65}"/>
                </a:ext>
              </a:extLst>
            </p:cNvPr>
            <p:cNvSpPr>
              <a:spLocks/>
            </p:cNvSpPr>
            <p:nvPr/>
          </p:nvSpPr>
          <p:spPr bwMode="auto">
            <a:xfrm>
              <a:off x="7173913" y="1997075"/>
              <a:ext cx="382588" cy="165100"/>
            </a:xfrm>
            <a:custGeom>
              <a:avLst/>
              <a:gdLst>
                <a:gd name="T0" fmla="*/ 489 w 503"/>
                <a:gd name="T1" fmla="*/ 117 h 216"/>
                <a:gd name="T2" fmla="*/ 494 w 503"/>
                <a:gd name="T3" fmla="*/ 111 h 216"/>
                <a:gd name="T4" fmla="*/ 502 w 503"/>
                <a:gd name="T5" fmla="*/ 8 h 216"/>
                <a:gd name="T6" fmla="*/ 500 w 503"/>
                <a:gd name="T7" fmla="*/ 2 h 216"/>
                <a:gd name="T8" fmla="*/ 494 w 503"/>
                <a:gd name="T9" fmla="*/ 0 h 216"/>
                <a:gd name="T10" fmla="*/ 391 w 503"/>
                <a:gd name="T11" fmla="*/ 9 h 216"/>
                <a:gd name="T12" fmla="*/ 385 w 503"/>
                <a:gd name="T13" fmla="*/ 14 h 216"/>
                <a:gd name="T14" fmla="*/ 387 w 503"/>
                <a:gd name="T15" fmla="*/ 21 h 216"/>
                <a:gd name="T16" fmla="*/ 416 w 503"/>
                <a:gd name="T17" fmla="*/ 50 h 216"/>
                <a:gd name="T18" fmla="*/ 292 w 503"/>
                <a:gd name="T19" fmla="*/ 152 h 216"/>
                <a:gd name="T20" fmla="*/ 190 w 503"/>
                <a:gd name="T21" fmla="*/ 73 h 216"/>
                <a:gd name="T22" fmla="*/ 161 w 503"/>
                <a:gd name="T23" fmla="*/ 72 h 216"/>
                <a:gd name="T24" fmla="*/ 0 w 503"/>
                <a:gd name="T25" fmla="*/ 174 h 216"/>
                <a:gd name="T26" fmla="*/ 27 w 503"/>
                <a:gd name="T27" fmla="*/ 216 h 216"/>
                <a:gd name="T28" fmla="*/ 173 w 503"/>
                <a:gd name="T29" fmla="*/ 124 h 216"/>
                <a:gd name="T30" fmla="*/ 278 w 503"/>
                <a:gd name="T31" fmla="*/ 205 h 216"/>
                <a:gd name="T32" fmla="*/ 309 w 503"/>
                <a:gd name="T33" fmla="*/ 204 h 216"/>
                <a:gd name="T34" fmla="*/ 452 w 503"/>
                <a:gd name="T35" fmla="*/ 86 h 216"/>
                <a:gd name="T36" fmla="*/ 482 w 503"/>
                <a:gd name="T37" fmla="*/ 116 h 216"/>
                <a:gd name="T38" fmla="*/ 489 w 503"/>
                <a:gd name="T39" fmla="*/ 11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3" h="216">
                  <a:moveTo>
                    <a:pt x="489" y="117"/>
                  </a:moveTo>
                  <a:cubicBezTo>
                    <a:pt x="492" y="116"/>
                    <a:pt x="494" y="114"/>
                    <a:pt x="494" y="111"/>
                  </a:cubicBezTo>
                  <a:lnTo>
                    <a:pt x="502" y="8"/>
                  </a:lnTo>
                  <a:cubicBezTo>
                    <a:pt x="503" y="6"/>
                    <a:pt x="502" y="4"/>
                    <a:pt x="500" y="2"/>
                  </a:cubicBezTo>
                  <a:cubicBezTo>
                    <a:pt x="499" y="0"/>
                    <a:pt x="497" y="0"/>
                    <a:pt x="494" y="0"/>
                  </a:cubicBezTo>
                  <a:lnTo>
                    <a:pt x="391" y="9"/>
                  </a:lnTo>
                  <a:cubicBezTo>
                    <a:pt x="388" y="9"/>
                    <a:pt x="386" y="11"/>
                    <a:pt x="385" y="14"/>
                  </a:cubicBezTo>
                  <a:cubicBezTo>
                    <a:pt x="384" y="16"/>
                    <a:pt x="385" y="19"/>
                    <a:pt x="387" y="21"/>
                  </a:cubicBezTo>
                  <a:lnTo>
                    <a:pt x="416" y="50"/>
                  </a:lnTo>
                  <a:lnTo>
                    <a:pt x="292" y="152"/>
                  </a:lnTo>
                  <a:lnTo>
                    <a:pt x="190" y="73"/>
                  </a:lnTo>
                  <a:cubicBezTo>
                    <a:pt x="182" y="67"/>
                    <a:pt x="170" y="66"/>
                    <a:pt x="161" y="72"/>
                  </a:cubicBezTo>
                  <a:lnTo>
                    <a:pt x="0" y="174"/>
                  </a:lnTo>
                  <a:lnTo>
                    <a:pt x="27" y="216"/>
                  </a:lnTo>
                  <a:lnTo>
                    <a:pt x="173" y="124"/>
                  </a:lnTo>
                  <a:lnTo>
                    <a:pt x="278" y="205"/>
                  </a:lnTo>
                  <a:cubicBezTo>
                    <a:pt x="287" y="212"/>
                    <a:pt x="300" y="212"/>
                    <a:pt x="309" y="204"/>
                  </a:cubicBezTo>
                  <a:lnTo>
                    <a:pt x="452" y="86"/>
                  </a:lnTo>
                  <a:lnTo>
                    <a:pt x="482" y="116"/>
                  </a:lnTo>
                  <a:cubicBezTo>
                    <a:pt x="485" y="119"/>
                    <a:pt x="488" y="118"/>
                    <a:pt x="489" y="117"/>
                  </a:cubicBez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158" name="Rectangle 1157">
            <a:extLst>
              <a:ext uri="{FF2B5EF4-FFF2-40B4-BE49-F238E27FC236}">
                <a16:creationId xmlns:a16="http://schemas.microsoft.com/office/drawing/2014/main" id="{AD45B670-CB53-4243-3880-7102A37195AA}"/>
              </a:ext>
            </a:extLst>
          </p:cNvPr>
          <p:cNvSpPr/>
          <p:nvPr/>
        </p:nvSpPr>
        <p:spPr>
          <a:xfrm>
            <a:off x="656917" y="5549255"/>
            <a:ext cx="1313426"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a:solidFill>
                  <a:schemeClr val="tx1"/>
                </a:solidFill>
              </a:rPr>
              <a:t>Actors</a:t>
            </a:r>
            <a:endParaRPr lang="en-US" sz="1100" b="1" err="1">
              <a:solidFill>
                <a:schemeClr val="tx1"/>
              </a:solidFill>
            </a:endParaRPr>
          </a:p>
        </p:txBody>
      </p:sp>
      <p:sp>
        <p:nvSpPr>
          <p:cNvPr id="1159" name="Rectangle 1158">
            <a:extLst>
              <a:ext uri="{FF2B5EF4-FFF2-40B4-BE49-F238E27FC236}">
                <a16:creationId xmlns:a16="http://schemas.microsoft.com/office/drawing/2014/main" id="{026DAA9C-19E5-89FE-4068-A40C00742867}"/>
              </a:ext>
            </a:extLst>
          </p:cNvPr>
          <p:cNvSpPr/>
          <p:nvPr/>
        </p:nvSpPr>
        <p:spPr>
          <a:xfrm>
            <a:off x="8556998" y="5558710"/>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1000">
                <a:solidFill>
                  <a:schemeClr val="tx1"/>
                </a:solidFill>
              </a:rPr>
              <a:t>Test teams</a:t>
            </a:r>
            <a:endParaRPr lang="en-US" sz="1000" err="1">
              <a:solidFill>
                <a:schemeClr val="tx1"/>
              </a:solidFill>
            </a:endParaRPr>
          </a:p>
        </p:txBody>
      </p:sp>
      <p:grpSp>
        <p:nvGrpSpPr>
          <p:cNvPr id="1160" name="Customer_satisfaction5" descr="{&quot;Key&quot;:&quot;POWER_USER_SHAPE_ICON&quot;,&quot;Value&quot;:&quot;POWER_USER_SHAPE_ICON_STYLE_1&quot;}">
            <a:extLst>
              <a:ext uri="{FF2B5EF4-FFF2-40B4-BE49-F238E27FC236}">
                <a16:creationId xmlns:a16="http://schemas.microsoft.com/office/drawing/2014/main" id="{4A823E44-1BB7-84D2-D1C3-78E1433F5EEA}"/>
              </a:ext>
            </a:extLst>
          </p:cNvPr>
          <p:cNvGrpSpPr>
            <a:grpSpLocks noChangeAspect="1"/>
          </p:cNvGrpSpPr>
          <p:nvPr/>
        </p:nvGrpSpPr>
        <p:grpSpPr>
          <a:xfrm>
            <a:off x="8941819" y="5915907"/>
            <a:ext cx="432000" cy="425471"/>
            <a:chOff x="8404226" y="2581275"/>
            <a:chExt cx="630238" cy="620713"/>
          </a:xfrm>
          <a:noFill/>
        </p:grpSpPr>
        <p:sp>
          <p:nvSpPr>
            <p:cNvPr id="1161" name="Freeform 981">
              <a:extLst>
                <a:ext uri="{FF2B5EF4-FFF2-40B4-BE49-F238E27FC236}">
                  <a16:creationId xmlns:a16="http://schemas.microsoft.com/office/drawing/2014/main" id="{5EB50532-E01C-3BEE-3B81-1E92D988CE31}"/>
                </a:ext>
              </a:extLst>
            </p:cNvPr>
            <p:cNvSpPr>
              <a:spLocks/>
            </p:cNvSpPr>
            <p:nvPr/>
          </p:nvSpPr>
          <p:spPr bwMode="auto">
            <a:xfrm>
              <a:off x="8967788" y="3032125"/>
              <a:ext cx="1588" cy="3175"/>
            </a:xfrm>
            <a:custGeom>
              <a:avLst/>
              <a:gdLst>
                <a:gd name="T0" fmla="*/ 0 w 3"/>
                <a:gd name="T1" fmla="*/ 4 h 4"/>
                <a:gd name="T2" fmla="*/ 3 w 3"/>
                <a:gd name="T3" fmla="*/ 0 h 4"/>
                <a:gd name="T4" fmla="*/ 3 w 3"/>
                <a:gd name="T5" fmla="*/ 0 h 4"/>
                <a:gd name="T6" fmla="*/ 0 w 3"/>
                <a:gd name="T7" fmla="*/ 4 h 4"/>
              </a:gdLst>
              <a:ahLst/>
              <a:cxnLst>
                <a:cxn ang="0">
                  <a:pos x="T0" y="T1"/>
                </a:cxn>
                <a:cxn ang="0">
                  <a:pos x="T2" y="T3"/>
                </a:cxn>
                <a:cxn ang="0">
                  <a:pos x="T4" y="T5"/>
                </a:cxn>
                <a:cxn ang="0">
                  <a:pos x="T6" y="T7"/>
                </a:cxn>
              </a:cxnLst>
              <a:rect l="0" t="0" r="r" b="b"/>
              <a:pathLst>
                <a:path w="3" h="4">
                  <a:moveTo>
                    <a:pt x="0" y="4"/>
                  </a:moveTo>
                  <a:cubicBezTo>
                    <a:pt x="1" y="3"/>
                    <a:pt x="2" y="2"/>
                    <a:pt x="3" y="0"/>
                  </a:cubicBezTo>
                  <a:cubicBezTo>
                    <a:pt x="3" y="0"/>
                    <a:pt x="3" y="0"/>
                    <a:pt x="3" y="0"/>
                  </a:cubicBezTo>
                  <a:cubicBezTo>
                    <a:pt x="2" y="1"/>
                    <a:pt x="1" y="3"/>
                    <a:pt x="0" y="4"/>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2" name="Freeform 982">
              <a:extLst>
                <a:ext uri="{FF2B5EF4-FFF2-40B4-BE49-F238E27FC236}">
                  <a16:creationId xmlns:a16="http://schemas.microsoft.com/office/drawing/2014/main" id="{05BFFE41-54D9-9E2D-A116-7E3B256843D7}"/>
                </a:ext>
              </a:extLst>
            </p:cNvPr>
            <p:cNvSpPr>
              <a:spLocks/>
            </p:cNvSpPr>
            <p:nvPr/>
          </p:nvSpPr>
          <p:spPr bwMode="auto">
            <a:xfrm>
              <a:off x="8626476" y="2995613"/>
              <a:ext cx="134938" cy="57150"/>
            </a:xfrm>
            <a:custGeom>
              <a:avLst/>
              <a:gdLst>
                <a:gd name="T0" fmla="*/ 183 w 183"/>
                <a:gd name="T1" fmla="*/ 0 h 76"/>
                <a:gd name="T2" fmla="*/ 91 w 183"/>
                <a:gd name="T3" fmla="*/ 59 h 76"/>
                <a:gd name="T4" fmla="*/ 0 w 183"/>
                <a:gd name="T5" fmla="*/ 0 h 76"/>
                <a:gd name="T6" fmla="*/ 0 w 183"/>
                <a:gd name="T7" fmla="*/ 35 h 76"/>
                <a:gd name="T8" fmla="*/ 91 w 183"/>
                <a:gd name="T9" fmla="*/ 76 h 76"/>
                <a:gd name="T10" fmla="*/ 183 w 183"/>
                <a:gd name="T11" fmla="*/ 35 h 76"/>
                <a:gd name="T12" fmla="*/ 183 w 183"/>
                <a:gd name="T13" fmla="*/ 0 h 76"/>
              </a:gdLst>
              <a:ahLst/>
              <a:cxnLst>
                <a:cxn ang="0">
                  <a:pos x="T0" y="T1"/>
                </a:cxn>
                <a:cxn ang="0">
                  <a:pos x="T2" y="T3"/>
                </a:cxn>
                <a:cxn ang="0">
                  <a:pos x="T4" y="T5"/>
                </a:cxn>
                <a:cxn ang="0">
                  <a:pos x="T6" y="T7"/>
                </a:cxn>
                <a:cxn ang="0">
                  <a:pos x="T8" y="T9"/>
                </a:cxn>
                <a:cxn ang="0">
                  <a:pos x="T10" y="T11"/>
                </a:cxn>
                <a:cxn ang="0">
                  <a:pos x="T12" y="T13"/>
                </a:cxn>
              </a:cxnLst>
              <a:rect l="0" t="0" r="r" b="b"/>
              <a:pathLst>
                <a:path w="183" h="76">
                  <a:moveTo>
                    <a:pt x="183" y="0"/>
                  </a:moveTo>
                  <a:cubicBezTo>
                    <a:pt x="181" y="7"/>
                    <a:pt x="163" y="59"/>
                    <a:pt x="91" y="59"/>
                  </a:cubicBezTo>
                  <a:cubicBezTo>
                    <a:pt x="19" y="59"/>
                    <a:pt x="2" y="7"/>
                    <a:pt x="0" y="0"/>
                  </a:cubicBezTo>
                  <a:lnTo>
                    <a:pt x="0" y="35"/>
                  </a:lnTo>
                  <a:cubicBezTo>
                    <a:pt x="15" y="54"/>
                    <a:pt x="42" y="76"/>
                    <a:pt x="91" y="76"/>
                  </a:cubicBezTo>
                  <a:cubicBezTo>
                    <a:pt x="141" y="76"/>
                    <a:pt x="168" y="54"/>
                    <a:pt x="183" y="35"/>
                  </a:cubicBezTo>
                  <a:lnTo>
                    <a:pt x="183"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3" name="Freeform 983">
              <a:extLst>
                <a:ext uri="{FF2B5EF4-FFF2-40B4-BE49-F238E27FC236}">
                  <a16:creationId xmlns:a16="http://schemas.microsoft.com/office/drawing/2014/main" id="{30ACCC85-2D63-A654-4DFC-6135BC7DC2E0}"/>
                </a:ext>
              </a:extLst>
            </p:cNvPr>
            <p:cNvSpPr>
              <a:spLocks noEditPoints="1"/>
            </p:cNvSpPr>
            <p:nvPr/>
          </p:nvSpPr>
          <p:spPr bwMode="auto">
            <a:xfrm>
              <a:off x="8562976" y="2581275"/>
              <a:ext cx="261938" cy="223838"/>
            </a:xfrm>
            <a:custGeom>
              <a:avLst/>
              <a:gdLst>
                <a:gd name="T0" fmla="*/ 160 w 353"/>
                <a:gd name="T1" fmla="*/ 0 h 300"/>
                <a:gd name="T2" fmla="*/ 0 w 353"/>
                <a:gd name="T3" fmla="*/ 163 h 300"/>
                <a:gd name="T4" fmla="*/ 26 w 353"/>
                <a:gd name="T5" fmla="*/ 300 h 300"/>
                <a:gd name="T6" fmla="*/ 35 w 353"/>
                <a:gd name="T7" fmla="*/ 180 h 300"/>
                <a:gd name="T8" fmla="*/ 44 w 353"/>
                <a:gd name="T9" fmla="*/ 158 h 300"/>
                <a:gd name="T10" fmla="*/ 141 w 353"/>
                <a:gd name="T11" fmla="*/ 180 h 300"/>
                <a:gd name="T12" fmla="*/ 283 w 353"/>
                <a:gd name="T13" fmla="*/ 134 h 300"/>
                <a:gd name="T14" fmla="*/ 300 w 353"/>
                <a:gd name="T15" fmla="*/ 145 h 300"/>
                <a:gd name="T16" fmla="*/ 326 w 353"/>
                <a:gd name="T17" fmla="*/ 300 h 300"/>
                <a:gd name="T18" fmla="*/ 353 w 353"/>
                <a:gd name="T19" fmla="*/ 163 h 300"/>
                <a:gd name="T20" fmla="*/ 282 w 353"/>
                <a:gd name="T21" fmla="*/ 39 h 300"/>
                <a:gd name="T22" fmla="*/ 160 w 353"/>
                <a:gd name="T23" fmla="*/ 0 h 300"/>
                <a:gd name="T24" fmla="*/ 160 w 353"/>
                <a:gd name="T25" fmla="*/ 16 h 300"/>
                <a:gd name="T26" fmla="*/ 270 w 353"/>
                <a:gd name="T27" fmla="*/ 50 h 300"/>
                <a:gd name="T28" fmla="*/ 275 w 353"/>
                <a:gd name="T29" fmla="*/ 56 h 300"/>
                <a:gd name="T30" fmla="*/ 282 w 353"/>
                <a:gd name="T31" fmla="*/ 56 h 300"/>
                <a:gd name="T32" fmla="*/ 336 w 353"/>
                <a:gd name="T33" fmla="*/ 163 h 300"/>
                <a:gd name="T34" fmla="*/ 335 w 353"/>
                <a:gd name="T35" fmla="*/ 189 h 300"/>
                <a:gd name="T36" fmla="*/ 314 w 353"/>
                <a:gd name="T37" fmla="*/ 137 h 300"/>
                <a:gd name="T38" fmla="*/ 283 w 353"/>
                <a:gd name="T39" fmla="*/ 117 h 300"/>
                <a:gd name="T40" fmla="*/ 241 w 353"/>
                <a:gd name="T41" fmla="*/ 133 h 300"/>
                <a:gd name="T42" fmla="*/ 141 w 353"/>
                <a:gd name="T43" fmla="*/ 164 h 300"/>
                <a:gd name="T44" fmla="*/ 63 w 353"/>
                <a:gd name="T45" fmla="*/ 147 h 300"/>
                <a:gd name="T46" fmla="*/ 44 w 353"/>
                <a:gd name="T47" fmla="*/ 141 h 300"/>
                <a:gd name="T48" fmla="*/ 44 w 353"/>
                <a:gd name="T49" fmla="*/ 141 h 300"/>
                <a:gd name="T50" fmla="*/ 19 w 353"/>
                <a:gd name="T51" fmla="*/ 178 h 300"/>
                <a:gd name="T52" fmla="*/ 17 w 353"/>
                <a:gd name="T53" fmla="*/ 189 h 300"/>
                <a:gd name="T54" fmla="*/ 17 w 353"/>
                <a:gd name="T55" fmla="*/ 163 h 300"/>
                <a:gd name="T56" fmla="*/ 160 w 353"/>
                <a:gd name="T57" fmla="*/ 16 h 300"/>
                <a:gd name="T58" fmla="*/ 160 w 353"/>
                <a:gd name="T59" fmla="*/ 16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3" h="300">
                  <a:moveTo>
                    <a:pt x="160" y="0"/>
                  </a:moveTo>
                  <a:cubicBezTo>
                    <a:pt x="27" y="0"/>
                    <a:pt x="0" y="83"/>
                    <a:pt x="0" y="163"/>
                  </a:cubicBezTo>
                  <a:cubicBezTo>
                    <a:pt x="0" y="250"/>
                    <a:pt x="26" y="300"/>
                    <a:pt x="26" y="300"/>
                  </a:cubicBezTo>
                  <a:cubicBezTo>
                    <a:pt x="29" y="268"/>
                    <a:pt x="29" y="229"/>
                    <a:pt x="35" y="180"/>
                  </a:cubicBezTo>
                  <a:cubicBezTo>
                    <a:pt x="37" y="164"/>
                    <a:pt x="39" y="158"/>
                    <a:pt x="44" y="158"/>
                  </a:cubicBezTo>
                  <a:cubicBezTo>
                    <a:pt x="54" y="158"/>
                    <a:pt x="76" y="180"/>
                    <a:pt x="141" y="180"/>
                  </a:cubicBezTo>
                  <a:cubicBezTo>
                    <a:pt x="218" y="180"/>
                    <a:pt x="259" y="134"/>
                    <a:pt x="283" y="134"/>
                  </a:cubicBezTo>
                  <a:cubicBezTo>
                    <a:pt x="290" y="134"/>
                    <a:pt x="295" y="137"/>
                    <a:pt x="300" y="145"/>
                  </a:cubicBezTo>
                  <a:cubicBezTo>
                    <a:pt x="335" y="207"/>
                    <a:pt x="321" y="261"/>
                    <a:pt x="326" y="300"/>
                  </a:cubicBezTo>
                  <a:cubicBezTo>
                    <a:pt x="326" y="300"/>
                    <a:pt x="353" y="248"/>
                    <a:pt x="353" y="163"/>
                  </a:cubicBezTo>
                  <a:cubicBezTo>
                    <a:pt x="353" y="111"/>
                    <a:pt x="344" y="39"/>
                    <a:pt x="282" y="39"/>
                  </a:cubicBezTo>
                  <a:cubicBezTo>
                    <a:pt x="256" y="9"/>
                    <a:pt x="214" y="0"/>
                    <a:pt x="160" y="0"/>
                  </a:cubicBezTo>
                  <a:close/>
                  <a:moveTo>
                    <a:pt x="160" y="16"/>
                  </a:moveTo>
                  <a:cubicBezTo>
                    <a:pt x="216" y="16"/>
                    <a:pt x="250" y="27"/>
                    <a:pt x="270" y="50"/>
                  </a:cubicBezTo>
                  <a:lnTo>
                    <a:pt x="275" y="56"/>
                  </a:lnTo>
                  <a:lnTo>
                    <a:pt x="282" y="56"/>
                  </a:lnTo>
                  <a:cubicBezTo>
                    <a:pt x="296" y="56"/>
                    <a:pt x="336" y="56"/>
                    <a:pt x="336" y="163"/>
                  </a:cubicBezTo>
                  <a:cubicBezTo>
                    <a:pt x="336" y="172"/>
                    <a:pt x="336" y="181"/>
                    <a:pt x="335" y="189"/>
                  </a:cubicBezTo>
                  <a:cubicBezTo>
                    <a:pt x="331" y="172"/>
                    <a:pt x="325" y="155"/>
                    <a:pt x="314" y="137"/>
                  </a:cubicBezTo>
                  <a:cubicBezTo>
                    <a:pt x="305" y="121"/>
                    <a:pt x="292" y="117"/>
                    <a:pt x="283" y="117"/>
                  </a:cubicBezTo>
                  <a:cubicBezTo>
                    <a:pt x="270" y="117"/>
                    <a:pt x="258" y="124"/>
                    <a:pt x="241" y="133"/>
                  </a:cubicBezTo>
                  <a:cubicBezTo>
                    <a:pt x="217" y="147"/>
                    <a:pt x="186" y="164"/>
                    <a:pt x="141" y="164"/>
                  </a:cubicBezTo>
                  <a:cubicBezTo>
                    <a:pt x="98" y="164"/>
                    <a:pt x="76" y="153"/>
                    <a:pt x="63" y="147"/>
                  </a:cubicBezTo>
                  <a:cubicBezTo>
                    <a:pt x="56" y="144"/>
                    <a:pt x="50" y="141"/>
                    <a:pt x="44" y="141"/>
                  </a:cubicBezTo>
                  <a:lnTo>
                    <a:pt x="44" y="141"/>
                  </a:lnTo>
                  <a:cubicBezTo>
                    <a:pt x="23" y="141"/>
                    <a:pt x="20" y="163"/>
                    <a:pt x="19" y="178"/>
                  </a:cubicBezTo>
                  <a:cubicBezTo>
                    <a:pt x="18" y="182"/>
                    <a:pt x="18" y="185"/>
                    <a:pt x="17" y="189"/>
                  </a:cubicBezTo>
                  <a:cubicBezTo>
                    <a:pt x="17" y="181"/>
                    <a:pt x="17" y="172"/>
                    <a:pt x="17" y="163"/>
                  </a:cubicBezTo>
                  <a:cubicBezTo>
                    <a:pt x="17" y="63"/>
                    <a:pt x="62" y="16"/>
                    <a:pt x="160" y="16"/>
                  </a:cubicBezTo>
                  <a:lnTo>
                    <a:pt x="160" y="16"/>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4" name="Freeform 984">
              <a:extLst>
                <a:ext uri="{FF2B5EF4-FFF2-40B4-BE49-F238E27FC236}">
                  <a16:creationId xmlns:a16="http://schemas.microsoft.com/office/drawing/2014/main" id="{94200CDB-E6D2-C93C-C109-B5AAA33E514A}"/>
                </a:ext>
              </a:extLst>
            </p:cNvPr>
            <p:cNvSpPr>
              <a:spLocks/>
            </p:cNvSpPr>
            <p:nvPr/>
          </p:nvSpPr>
          <p:spPr bwMode="auto">
            <a:xfrm>
              <a:off x="8755063" y="2916238"/>
              <a:ext cx="12700" cy="101600"/>
            </a:xfrm>
            <a:custGeom>
              <a:avLst/>
              <a:gdLst>
                <a:gd name="T0" fmla="*/ 17 w 17"/>
                <a:gd name="T1" fmla="*/ 0 h 137"/>
                <a:gd name="T2" fmla="*/ 14 w 17"/>
                <a:gd name="T3" fmla="*/ 0 h 137"/>
                <a:gd name="T4" fmla="*/ 0 w 17"/>
                <a:gd name="T5" fmla="*/ 16 h 137"/>
                <a:gd name="T6" fmla="*/ 1 w 17"/>
                <a:gd name="T7" fmla="*/ 16 h 137"/>
                <a:gd name="T8" fmla="*/ 1 w 17"/>
                <a:gd name="T9" fmla="*/ 137 h 137"/>
                <a:gd name="T10" fmla="*/ 17 w 17"/>
                <a:gd name="T11" fmla="*/ 79 h 137"/>
                <a:gd name="T12" fmla="*/ 17 w 17"/>
                <a:gd name="T13" fmla="*/ 0 h 137"/>
              </a:gdLst>
              <a:ahLst/>
              <a:cxnLst>
                <a:cxn ang="0">
                  <a:pos x="T0" y="T1"/>
                </a:cxn>
                <a:cxn ang="0">
                  <a:pos x="T2" y="T3"/>
                </a:cxn>
                <a:cxn ang="0">
                  <a:pos x="T4" y="T5"/>
                </a:cxn>
                <a:cxn ang="0">
                  <a:pos x="T6" y="T7"/>
                </a:cxn>
                <a:cxn ang="0">
                  <a:pos x="T8" y="T9"/>
                </a:cxn>
                <a:cxn ang="0">
                  <a:pos x="T10" y="T11"/>
                </a:cxn>
                <a:cxn ang="0">
                  <a:pos x="T12" y="T13"/>
                </a:cxn>
              </a:cxnLst>
              <a:rect l="0" t="0" r="r" b="b"/>
              <a:pathLst>
                <a:path w="17" h="137">
                  <a:moveTo>
                    <a:pt x="17" y="0"/>
                  </a:moveTo>
                  <a:lnTo>
                    <a:pt x="14" y="0"/>
                  </a:lnTo>
                  <a:cubicBezTo>
                    <a:pt x="10" y="0"/>
                    <a:pt x="5" y="0"/>
                    <a:pt x="0" y="16"/>
                  </a:cubicBezTo>
                  <a:lnTo>
                    <a:pt x="1" y="16"/>
                  </a:lnTo>
                  <a:lnTo>
                    <a:pt x="1" y="137"/>
                  </a:lnTo>
                  <a:lnTo>
                    <a:pt x="17" y="79"/>
                  </a:lnTo>
                  <a:lnTo>
                    <a:pt x="17" y="0"/>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5" name="Freeform 985">
              <a:extLst>
                <a:ext uri="{FF2B5EF4-FFF2-40B4-BE49-F238E27FC236}">
                  <a16:creationId xmlns:a16="http://schemas.microsoft.com/office/drawing/2014/main" id="{EE629328-43CB-4394-98BA-8BE1DADC27C0}"/>
                </a:ext>
              </a:extLst>
            </p:cNvPr>
            <p:cNvSpPr>
              <a:spLocks/>
            </p:cNvSpPr>
            <p:nvPr/>
          </p:nvSpPr>
          <p:spPr bwMode="auto">
            <a:xfrm>
              <a:off x="8618538" y="2916238"/>
              <a:ext cx="14288" cy="101600"/>
            </a:xfrm>
            <a:custGeom>
              <a:avLst/>
              <a:gdLst>
                <a:gd name="T0" fmla="*/ 17 w 18"/>
                <a:gd name="T1" fmla="*/ 16 h 137"/>
                <a:gd name="T2" fmla="*/ 18 w 18"/>
                <a:gd name="T3" fmla="*/ 16 h 137"/>
                <a:gd name="T4" fmla="*/ 3 w 18"/>
                <a:gd name="T5" fmla="*/ 0 h 137"/>
                <a:gd name="T6" fmla="*/ 0 w 18"/>
                <a:gd name="T7" fmla="*/ 0 h 137"/>
                <a:gd name="T8" fmla="*/ 0 w 18"/>
                <a:gd name="T9" fmla="*/ 79 h 137"/>
                <a:gd name="T10" fmla="*/ 17 w 18"/>
                <a:gd name="T11" fmla="*/ 137 h 137"/>
                <a:gd name="T12" fmla="*/ 17 w 18"/>
                <a:gd name="T13" fmla="*/ 16 h 137"/>
              </a:gdLst>
              <a:ahLst/>
              <a:cxnLst>
                <a:cxn ang="0">
                  <a:pos x="T0" y="T1"/>
                </a:cxn>
                <a:cxn ang="0">
                  <a:pos x="T2" y="T3"/>
                </a:cxn>
                <a:cxn ang="0">
                  <a:pos x="T4" y="T5"/>
                </a:cxn>
                <a:cxn ang="0">
                  <a:pos x="T6" y="T7"/>
                </a:cxn>
                <a:cxn ang="0">
                  <a:pos x="T8" y="T9"/>
                </a:cxn>
                <a:cxn ang="0">
                  <a:pos x="T10" y="T11"/>
                </a:cxn>
                <a:cxn ang="0">
                  <a:pos x="T12" y="T13"/>
                </a:cxn>
              </a:cxnLst>
              <a:rect l="0" t="0" r="r" b="b"/>
              <a:pathLst>
                <a:path w="18" h="137">
                  <a:moveTo>
                    <a:pt x="17" y="16"/>
                  </a:moveTo>
                  <a:lnTo>
                    <a:pt x="18" y="16"/>
                  </a:lnTo>
                  <a:cubicBezTo>
                    <a:pt x="13" y="0"/>
                    <a:pt x="8" y="0"/>
                    <a:pt x="3" y="0"/>
                  </a:cubicBezTo>
                  <a:lnTo>
                    <a:pt x="0" y="0"/>
                  </a:lnTo>
                  <a:lnTo>
                    <a:pt x="0" y="79"/>
                  </a:lnTo>
                  <a:lnTo>
                    <a:pt x="17" y="137"/>
                  </a:lnTo>
                  <a:lnTo>
                    <a:pt x="17"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6" name="Freeform 986">
              <a:extLst>
                <a:ext uri="{FF2B5EF4-FFF2-40B4-BE49-F238E27FC236}">
                  <a16:creationId xmlns:a16="http://schemas.microsoft.com/office/drawing/2014/main" id="{CC68C1D3-9E18-0323-BEFF-B9D160204446}"/>
                </a:ext>
              </a:extLst>
            </p:cNvPr>
            <p:cNvSpPr>
              <a:spLocks/>
            </p:cNvSpPr>
            <p:nvPr/>
          </p:nvSpPr>
          <p:spPr bwMode="auto">
            <a:xfrm>
              <a:off x="8702676" y="2967038"/>
              <a:ext cx="153988" cy="227013"/>
            </a:xfrm>
            <a:custGeom>
              <a:avLst/>
              <a:gdLst>
                <a:gd name="T0" fmla="*/ 169 w 208"/>
                <a:gd name="T1" fmla="*/ 100 h 305"/>
                <a:gd name="T2" fmla="*/ 208 w 208"/>
                <a:gd name="T3" fmla="*/ 80 h 305"/>
                <a:gd name="T4" fmla="*/ 177 w 208"/>
                <a:gd name="T5" fmla="*/ 23 h 305"/>
                <a:gd name="T6" fmla="*/ 82 w 208"/>
                <a:gd name="T7" fmla="*/ 0 h 305"/>
                <a:gd name="T8" fmla="*/ 0 w 208"/>
                <a:gd name="T9" fmla="*/ 305 h 305"/>
                <a:gd name="T10" fmla="*/ 18 w 208"/>
                <a:gd name="T11" fmla="*/ 305 h 305"/>
                <a:gd name="T12" fmla="*/ 94 w 208"/>
                <a:gd name="T13" fmla="*/ 20 h 305"/>
                <a:gd name="T14" fmla="*/ 166 w 208"/>
                <a:gd name="T15" fmla="*/ 38 h 305"/>
                <a:gd name="T16" fmla="*/ 185 w 208"/>
                <a:gd name="T17" fmla="*/ 73 h 305"/>
                <a:gd name="T18" fmla="*/ 141 w 208"/>
                <a:gd name="T19" fmla="*/ 95 h 305"/>
                <a:gd name="T20" fmla="*/ 177 w 208"/>
                <a:gd name="T21" fmla="*/ 132 h 305"/>
                <a:gd name="T22" fmla="*/ 60 w 208"/>
                <a:gd name="T23" fmla="*/ 300 h 305"/>
                <a:gd name="T24" fmla="*/ 84 w 208"/>
                <a:gd name="T25" fmla="*/ 286 h 305"/>
                <a:gd name="T26" fmla="*/ 199 w 208"/>
                <a:gd name="T27" fmla="*/ 130 h 305"/>
                <a:gd name="T28" fmla="*/ 169 w 208"/>
                <a:gd name="T29" fmla="*/ 100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8" h="305">
                  <a:moveTo>
                    <a:pt x="169" y="100"/>
                  </a:moveTo>
                  <a:lnTo>
                    <a:pt x="208" y="80"/>
                  </a:lnTo>
                  <a:lnTo>
                    <a:pt x="177" y="23"/>
                  </a:lnTo>
                  <a:lnTo>
                    <a:pt x="82" y="0"/>
                  </a:lnTo>
                  <a:lnTo>
                    <a:pt x="0" y="305"/>
                  </a:lnTo>
                  <a:cubicBezTo>
                    <a:pt x="6" y="305"/>
                    <a:pt x="12" y="305"/>
                    <a:pt x="18" y="305"/>
                  </a:cubicBezTo>
                  <a:lnTo>
                    <a:pt x="94" y="20"/>
                  </a:lnTo>
                  <a:lnTo>
                    <a:pt x="166" y="38"/>
                  </a:lnTo>
                  <a:lnTo>
                    <a:pt x="185" y="73"/>
                  </a:lnTo>
                  <a:lnTo>
                    <a:pt x="141" y="95"/>
                  </a:lnTo>
                  <a:lnTo>
                    <a:pt x="177" y="132"/>
                  </a:lnTo>
                  <a:lnTo>
                    <a:pt x="60" y="300"/>
                  </a:lnTo>
                  <a:cubicBezTo>
                    <a:pt x="68" y="298"/>
                    <a:pt x="76" y="288"/>
                    <a:pt x="84" y="286"/>
                  </a:cubicBezTo>
                  <a:lnTo>
                    <a:pt x="199" y="130"/>
                  </a:lnTo>
                  <a:lnTo>
                    <a:pt x="169" y="10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7" name="Freeform 987">
              <a:extLst>
                <a:ext uri="{FF2B5EF4-FFF2-40B4-BE49-F238E27FC236}">
                  <a16:creationId xmlns:a16="http://schemas.microsoft.com/office/drawing/2014/main" id="{448AE483-F66D-4F32-4EC8-ABB49AD01E8B}"/>
                </a:ext>
              </a:extLst>
            </p:cNvPr>
            <p:cNvSpPr>
              <a:spLocks/>
            </p:cNvSpPr>
            <p:nvPr/>
          </p:nvSpPr>
          <p:spPr bwMode="auto">
            <a:xfrm>
              <a:off x="8531226" y="2967038"/>
              <a:ext cx="153988" cy="227013"/>
            </a:xfrm>
            <a:custGeom>
              <a:avLst/>
              <a:gdLst>
                <a:gd name="T0" fmla="*/ 30 w 208"/>
                <a:gd name="T1" fmla="*/ 132 h 305"/>
                <a:gd name="T2" fmla="*/ 67 w 208"/>
                <a:gd name="T3" fmla="*/ 95 h 305"/>
                <a:gd name="T4" fmla="*/ 22 w 208"/>
                <a:gd name="T5" fmla="*/ 73 h 305"/>
                <a:gd name="T6" fmla="*/ 42 w 208"/>
                <a:gd name="T7" fmla="*/ 38 h 305"/>
                <a:gd name="T8" fmla="*/ 113 w 208"/>
                <a:gd name="T9" fmla="*/ 20 h 305"/>
                <a:gd name="T10" fmla="*/ 190 w 208"/>
                <a:gd name="T11" fmla="*/ 305 h 305"/>
                <a:gd name="T12" fmla="*/ 208 w 208"/>
                <a:gd name="T13" fmla="*/ 305 h 305"/>
                <a:gd name="T14" fmla="*/ 125 w 208"/>
                <a:gd name="T15" fmla="*/ 0 h 305"/>
                <a:gd name="T16" fmla="*/ 30 w 208"/>
                <a:gd name="T17" fmla="*/ 23 h 305"/>
                <a:gd name="T18" fmla="*/ 0 w 208"/>
                <a:gd name="T19" fmla="*/ 80 h 305"/>
                <a:gd name="T20" fmla="*/ 39 w 208"/>
                <a:gd name="T21" fmla="*/ 100 h 305"/>
                <a:gd name="T22" fmla="*/ 8 w 208"/>
                <a:gd name="T23" fmla="*/ 130 h 305"/>
                <a:gd name="T24" fmla="*/ 123 w 208"/>
                <a:gd name="T25" fmla="*/ 286 h 305"/>
                <a:gd name="T26" fmla="*/ 147 w 208"/>
                <a:gd name="T27" fmla="*/ 300 h 305"/>
                <a:gd name="T28" fmla="*/ 30 w 208"/>
                <a:gd name="T29" fmla="*/ 13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8" h="305">
                  <a:moveTo>
                    <a:pt x="30" y="132"/>
                  </a:moveTo>
                  <a:lnTo>
                    <a:pt x="67" y="95"/>
                  </a:lnTo>
                  <a:lnTo>
                    <a:pt x="22" y="73"/>
                  </a:lnTo>
                  <a:lnTo>
                    <a:pt x="42" y="38"/>
                  </a:lnTo>
                  <a:lnTo>
                    <a:pt x="113" y="20"/>
                  </a:lnTo>
                  <a:lnTo>
                    <a:pt x="190" y="305"/>
                  </a:lnTo>
                  <a:cubicBezTo>
                    <a:pt x="196" y="305"/>
                    <a:pt x="202" y="305"/>
                    <a:pt x="208" y="305"/>
                  </a:cubicBezTo>
                  <a:lnTo>
                    <a:pt x="125" y="0"/>
                  </a:lnTo>
                  <a:lnTo>
                    <a:pt x="30" y="23"/>
                  </a:lnTo>
                  <a:lnTo>
                    <a:pt x="0" y="80"/>
                  </a:lnTo>
                  <a:lnTo>
                    <a:pt x="39" y="100"/>
                  </a:lnTo>
                  <a:lnTo>
                    <a:pt x="8" y="130"/>
                  </a:lnTo>
                  <a:lnTo>
                    <a:pt x="123" y="286"/>
                  </a:lnTo>
                  <a:cubicBezTo>
                    <a:pt x="131" y="288"/>
                    <a:pt x="139" y="298"/>
                    <a:pt x="147" y="300"/>
                  </a:cubicBezTo>
                  <a:lnTo>
                    <a:pt x="30" y="13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8" name="Freeform 988">
              <a:extLst>
                <a:ext uri="{FF2B5EF4-FFF2-40B4-BE49-F238E27FC236}">
                  <a16:creationId xmlns:a16="http://schemas.microsoft.com/office/drawing/2014/main" id="{4CAAA9B3-6E63-71E2-2F33-E020934A996D}"/>
                </a:ext>
              </a:extLst>
            </p:cNvPr>
            <p:cNvSpPr>
              <a:spLocks/>
            </p:cNvSpPr>
            <p:nvPr/>
          </p:nvSpPr>
          <p:spPr bwMode="auto">
            <a:xfrm>
              <a:off x="8569326" y="2806700"/>
              <a:ext cx="247650" cy="155575"/>
            </a:xfrm>
            <a:custGeom>
              <a:avLst/>
              <a:gdLst>
                <a:gd name="T0" fmla="*/ 316 w 333"/>
                <a:gd name="T1" fmla="*/ 17 h 208"/>
                <a:gd name="T2" fmla="*/ 316 w 333"/>
                <a:gd name="T3" fmla="*/ 16 h 208"/>
                <a:gd name="T4" fmla="*/ 316 w 333"/>
                <a:gd name="T5" fmla="*/ 16 h 208"/>
                <a:gd name="T6" fmla="*/ 299 w 333"/>
                <a:gd name="T7" fmla="*/ 32 h 208"/>
                <a:gd name="T8" fmla="*/ 166 w 333"/>
                <a:gd name="T9" fmla="*/ 192 h 208"/>
                <a:gd name="T10" fmla="*/ 33 w 333"/>
                <a:gd name="T11" fmla="*/ 32 h 208"/>
                <a:gd name="T12" fmla="*/ 17 w 333"/>
                <a:gd name="T13" fmla="*/ 16 h 208"/>
                <a:gd name="T14" fmla="*/ 17 w 333"/>
                <a:gd name="T15" fmla="*/ 16 h 208"/>
                <a:gd name="T16" fmla="*/ 16 w 333"/>
                <a:gd name="T17" fmla="*/ 17 h 208"/>
                <a:gd name="T18" fmla="*/ 0 w 333"/>
                <a:gd name="T19" fmla="*/ 0 h 208"/>
                <a:gd name="T20" fmla="*/ 0 w 333"/>
                <a:gd name="T21" fmla="*/ 17 h 208"/>
                <a:gd name="T22" fmla="*/ 16 w 333"/>
                <a:gd name="T23" fmla="*/ 33 h 208"/>
                <a:gd name="T24" fmla="*/ 17 w 333"/>
                <a:gd name="T25" fmla="*/ 33 h 208"/>
                <a:gd name="T26" fmla="*/ 166 w 333"/>
                <a:gd name="T27" fmla="*/ 208 h 208"/>
                <a:gd name="T28" fmla="*/ 316 w 333"/>
                <a:gd name="T29" fmla="*/ 33 h 208"/>
                <a:gd name="T30" fmla="*/ 316 w 333"/>
                <a:gd name="T31" fmla="*/ 33 h 208"/>
                <a:gd name="T32" fmla="*/ 333 w 333"/>
                <a:gd name="T33" fmla="*/ 17 h 208"/>
                <a:gd name="T34" fmla="*/ 333 w 333"/>
                <a:gd name="T35" fmla="*/ 0 h 208"/>
                <a:gd name="T36" fmla="*/ 316 w 333"/>
                <a:gd name="T37" fmla="*/ 1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33" h="208">
                  <a:moveTo>
                    <a:pt x="316" y="17"/>
                  </a:moveTo>
                  <a:cubicBezTo>
                    <a:pt x="316" y="17"/>
                    <a:pt x="316" y="16"/>
                    <a:pt x="316" y="16"/>
                  </a:cubicBezTo>
                  <a:lnTo>
                    <a:pt x="316" y="16"/>
                  </a:lnTo>
                  <a:cubicBezTo>
                    <a:pt x="307" y="16"/>
                    <a:pt x="300" y="23"/>
                    <a:pt x="299" y="32"/>
                  </a:cubicBezTo>
                  <a:cubicBezTo>
                    <a:pt x="295" y="110"/>
                    <a:pt x="226" y="192"/>
                    <a:pt x="166" y="192"/>
                  </a:cubicBezTo>
                  <a:cubicBezTo>
                    <a:pt x="106" y="192"/>
                    <a:pt x="38" y="110"/>
                    <a:pt x="33" y="32"/>
                  </a:cubicBezTo>
                  <a:cubicBezTo>
                    <a:pt x="33" y="23"/>
                    <a:pt x="26" y="16"/>
                    <a:pt x="17" y="16"/>
                  </a:cubicBezTo>
                  <a:lnTo>
                    <a:pt x="17" y="16"/>
                  </a:lnTo>
                  <a:cubicBezTo>
                    <a:pt x="17" y="16"/>
                    <a:pt x="16" y="17"/>
                    <a:pt x="16" y="17"/>
                  </a:cubicBezTo>
                  <a:cubicBezTo>
                    <a:pt x="7" y="17"/>
                    <a:pt x="0" y="9"/>
                    <a:pt x="0" y="0"/>
                  </a:cubicBezTo>
                  <a:lnTo>
                    <a:pt x="0" y="17"/>
                  </a:lnTo>
                  <a:cubicBezTo>
                    <a:pt x="0" y="26"/>
                    <a:pt x="7" y="33"/>
                    <a:pt x="16" y="33"/>
                  </a:cubicBezTo>
                  <a:cubicBezTo>
                    <a:pt x="16" y="33"/>
                    <a:pt x="17" y="33"/>
                    <a:pt x="17" y="33"/>
                  </a:cubicBezTo>
                  <a:cubicBezTo>
                    <a:pt x="21" y="114"/>
                    <a:pt x="94" y="208"/>
                    <a:pt x="166" y="208"/>
                  </a:cubicBezTo>
                  <a:cubicBezTo>
                    <a:pt x="239" y="208"/>
                    <a:pt x="311" y="114"/>
                    <a:pt x="316" y="33"/>
                  </a:cubicBezTo>
                  <a:cubicBezTo>
                    <a:pt x="316" y="33"/>
                    <a:pt x="316" y="33"/>
                    <a:pt x="316" y="33"/>
                  </a:cubicBezTo>
                  <a:cubicBezTo>
                    <a:pt x="325" y="33"/>
                    <a:pt x="333" y="26"/>
                    <a:pt x="333" y="17"/>
                  </a:cubicBezTo>
                  <a:lnTo>
                    <a:pt x="333" y="0"/>
                  </a:lnTo>
                  <a:cubicBezTo>
                    <a:pt x="333" y="9"/>
                    <a:pt x="325" y="17"/>
                    <a:pt x="316" y="17"/>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9" name="Freeform 989">
              <a:extLst>
                <a:ext uri="{FF2B5EF4-FFF2-40B4-BE49-F238E27FC236}">
                  <a16:creationId xmlns:a16="http://schemas.microsoft.com/office/drawing/2014/main" id="{893F2CA7-3AD8-0FD7-462C-F1EF36E9DC38}"/>
                </a:ext>
              </a:extLst>
            </p:cNvPr>
            <p:cNvSpPr>
              <a:spLocks/>
            </p:cNvSpPr>
            <p:nvPr/>
          </p:nvSpPr>
          <p:spPr bwMode="auto">
            <a:xfrm>
              <a:off x="8763001" y="2968625"/>
              <a:ext cx="193675" cy="49213"/>
            </a:xfrm>
            <a:custGeom>
              <a:avLst/>
              <a:gdLst>
                <a:gd name="T0" fmla="*/ 211 w 262"/>
                <a:gd name="T1" fmla="*/ 66 h 66"/>
                <a:gd name="T2" fmla="*/ 241 w 262"/>
                <a:gd name="T3" fmla="*/ 63 h 66"/>
                <a:gd name="T4" fmla="*/ 262 w 262"/>
                <a:gd name="T5" fmla="*/ 65 h 66"/>
                <a:gd name="T6" fmla="*/ 243 w 262"/>
                <a:gd name="T7" fmla="*/ 57 h 66"/>
                <a:gd name="T8" fmla="*/ 161 w 262"/>
                <a:gd name="T9" fmla="*/ 38 h 66"/>
                <a:gd name="T10" fmla="*/ 0 w 262"/>
                <a:gd name="T11" fmla="*/ 0 h 66"/>
                <a:gd name="T12" fmla="*/ 0 w 262"/>
                <a:gd name="T13" fmla="*/ 18 h 66"/>
                <a:gd name="T14" fmla="*/ 157 w 262"/>
                <a:gd name="T15" fmla="*/ 54 h 66"/>
                <a:gd name="T16" fmla="*/ 211 w 262"/>
                <a:gd name="T17"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2" h="66">
                  <a:moveTo>
                    <a:pt x="211" y="66"/>
                  </a:moveTo>
                  <a:cubicBezTo>
                    <a:pt x="221" y="64"/>
                    <a:pt x="231" y="63"/>
                    <a:pt x="241" y="63"/>
                  </a:cubicBezTo>
                  <a:cubicBezTo>
                    <a:pt x="248" y="63"/>
                    <a:pt x="255" y="64"/>
                    <a:pt x="262" y="65"/>
                  </a:cubicBezTo>
                  <a:cubicBezTo>
                    <a:pt x="255" y="61"/>
                    <a:pt x="249" y="58"/>
                    <a:pt x="243" y="57"/>
                  </a:cubicBezTo>
                  <a:cubicBezTo>
                    <a:pt x="220" y="51"/>
                    <a:pt x="192" y="45"/>
                    <a:pt x="161" y="38"/>
                  </a:cubicBezTo>
                  <a:cubicBezTo>
                    <a:pt x="114" y="27"/>
                    <a:pt x="51" y="13"/>
                    <a:pt x="0" y="0"/>
                  </a:cubicBezTo>
                  <a:lnTo>
                    <a:pt x="0" y="18"/>
                  </a:lnTo>
                  <a:cubicBezTo>
                    <a:pt x="39" y="27"/>
                    <a:pt x="91" y="39"/>
                    <a:pt x="157" y="54"/>
                  </a:cubicBezTo>
                  <a:cubicBezTo>
                    <a:pt x="176" y="58"/>
                    <a:pt x="195" y="63"/>
                    <a:pt x="211" y="66"/>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0" name="Freeform 990">
              <a:extLst>
                <a:ext uri="{FF2B5EF4-FFF2-40B4-BE49-F238E27FC236}">
                  <a16:creationId xmlns:a16="http://schemas.microsoft.com/office/drawing/2014/main" id="{446FFC54-0A90-1074-0E14-B805389E37E2}"/>
                </a:ext>
              </a:extLst>
            </p:cNvPr>
            <p:cNvSpPr>
              <a:spLocks/>
            </p:cNvSpPr>
            <p:nvPr/>
          </p:nvSpPr>
          <p:spPr bwMode="auto">
            <a:xfrm>
              <a:off x="8404226" y="2968625"/>
              <a:ext cx="449263" cy="233363"/>
            </a:xfrm>
            <a:custGeom>
              <a:avLst/>
              <a:gdLst>
                <a:gd name="T0" fmla="*/ 598 w 604"/>
                <a:gd name="T1" fmla="*/ 243 h 313"/>
                <a:gd name="T2" fmla="*/ 389 w 604"/>
                <a:gd name="T3" fmla="*/ 296 h 313"/>
                <a:gd name="T4" fmla="*/ 22 w 604"/>
                <a:gd name="T5" fmla="*/ 93 h 313"/>
                <a:gd name="T6" fmla="*/ 57 w 604"/>
                <a:gd name="T7" fmla="*/ 73 h 313"/>
                <a:gd name="T8" fmla="*/ 142 w 604"/>
                <a:gd name="T9" fmla="*/ 53 h 313"/>
                <a:gd name="T10" fmla="*/ 299 w 604"/>
                <a:gd name="T11" fmla="*/ 17 h 313"/>
                <a:gd name="T12" fmla="*/ 299 w 604"/>
                <a:gd name="T13" fmla="*/ 0 h 313"/>
                <a:gd name="T14" fmla="*/ 139 w 604"/>
                <a:gd name="T15" fmla="*/ 37 h 313"/>
                <a:gd name="T16" fmla="*/ 53 w 604"/>
                <a:gd name="T17" fmla="*/ 56 h 313"/>
                <a:gd name="T18" fmla="*/ 0 w 604"/>
                <a:gd name="T19" fmla="*/ 89 h 313"/>
                <a:gd name="T20" fmla="*/ 389 w 604"/>
                <a:gd name="T21" fmla="*/ 313 h 313"/>
                <a:gd name="T22" fmla="*/ 604 w 604"/>
                <a:gd name="T23" fmla="*/ 258 h 313"/>
                <a:gd name="T24" fmla="*/ 598 w 604"/>
                <a:gd name="T25" fmla="*/ 243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04" h="313">
                  <a:moveTo>
                    <a:pt x="598" y="243"/>
                  </a:moveTo>
                  <a:cubicBezTo>
                    <a:pt x="536" y="277"/>
                    <a:pt x="465" y="296"/>
                    <a:pt x="389" y="296"/>
                  </a:cubicBezTo>
                  <a:cubicBezTo>
                    <a:pt x="235" y="296"/>
                    <a:pt x="99" y="215"/>
                    <a:pt x="22" y="93"/>
                  </a:cubicBezTo>
                  <a:cubicBezTo>
                    <a:pt x="33" y="83"/>
                    <a:pt x="45" y="76"/>
                    <a:pt x="57" y="73"/>
                  </a:cubicBezTo>
                  <a:cubicBezTo>
                    <a:pt x="81" y="67"/>
                    <a:pt x="110" y="60"/>
                    <a:pt x="142" y="53"/>
                  </a:cubicBezTo>
                  <a:cubicBezTo>
                    <a:pt x="208" y="38"/>
                    <a:pt x="260" y="26"/>
                    <a:pt x="299" y="17"/>
                  </a:cubicBezTo>
                  <a:lnTo>
                    <a:pt x="299" y="0"/>
                  </a:lnTo>
                  <a:cubicBezTo>
                    <a:pt x="249" y="12"/>
                    <a:pt x="187" y="26"/>
                    <a:pt x="139" y="37"/>
                  </a:cubicBezTo>
                  <a:cubicBezTo>
                    <a:pt x="107" y="44"/>
                    <a:pt x="77" y="52"/>
                    <a:pt x="53" y="56"/>
                  </a:cubicBezTo>
                  <a:cubicBezTo>
                    <a:pt x="33" y="60"/>
                    <a:pt x="10" y="78"/>
                    <a:pt x="0" y="89"/>
                  </a:cubicBezTo>
                  <a:cubicBezTo>
                    <a:pt x="78" y="223"/>
                    <a:pt x="223" y="313"/>
                    <a:pt x="389" y="313"/>
                  </a:cubicBezTo>
                  <a:cubicBezTo>
                    <a:pt x="467" y="313"/>
                    <a:pt x="541" y="293"/>
                    <a:pt x="604" y="258"/>
                  </a:cubicBezTo>
                  <a:cubicBezTo>
                    <a:pt x="602" y="253"/>
                    <a:pt x="600" y="248"/>
                    <a:pt x="598" y="243"/>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1" name="Freeform 991">
              <a:extLst>
                <a:ext uri="{FF2B5EF4-FFF2-40B4-BE49-F238E27FC236}">
                  <a16:creationId xmlns:a16="http://schemas.microsoft.com/office/drawing/2014/main" id="{A516A30F-901E-D5C7-4443-A4E201FFF5C7}"/>
                </a:ext>
              </a:extLst>
            </p:cNvPr>
            <p:cNvSpPr>
              <a:spLocks/>
            </p:cNvSpPr>
            <p:nvPr/>
          </p:nvSpPr>
          <p:spPr bwMode="auto">
            <a:xfrm>
              <a:off x="8855076" y="3027363"/>
              <a:ext cx="173038" cy="174625"/>
            </a:xfrm>
            <a:custGeom>
              <a:avLst/>
              <a:gdLst>
                <a:gd name="T0" fmla="*/ 212 w 233"/>
                <a:gd name="T1" fmla="*/ 85 h 233"/>
                <a:gd name="T2" fmla="*/ 217 w 233"/>
                <a:gd name="T3" fmla="*/ 116 h 233"/>
                <a:gd name="T4" fmla="*/ 117 w 233"/>
                <a:gd name="T5" fmla="*/ 216 h 233"/>
                <a:gd name="T6" fmla="*/ 17 w 233"/>
                <a:gd name="T7" fmla="*/ 116 h 233"/>
                <a:gd name="T8" fmla="*/ 117 w 233"/>
                <a:gd name="T9" fmla="*/ 16 h 233"/>
                <a:gd name="T10" fmla="*/ 184 w 233"/>
                <a:gd name="T11" fmla="*/ 42 h 233"/>
                <a:gd name="T12" fmla="*/ 195 w 233"/>
                <a:gd name="T13" fmla="*/ 30 h 233"/>
                <a:gd name="T14" fmla="*/ 117 w 233"/>
                <a:gd name="T15" fmla="*/ 0 h 233"/>
                <a:gd name="T16" fmla="*/ 0 w 233"/>
                <a:gd name="T17" fmla="*/ 116 h 233"/>
                <a:gd name="T18" fmla="*/ 117 w 233"/>
                <a:gd name="T19" fmla="*/ 233 h 233"/>
                <a:gd name="T20" fmla="*/ 233 w 233"/>
                <a:gd name="T21" fmla="*/ 116 h 233"/>
                <a:gd name="T22" fmla="*/ 224 w 233"/>
                <a:gd name="T23" fmla="*/ 72 h 233"/>
                <a:gd name="T24" fmla="*/ 212 w 233"/>
                <a:gd name="T25" fmla="*/ 85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3" h="233">
                  <a:moveTo>
                    <a:pt x="212" y="85"/>
                  </a:moveTo>
                  <a:cubicBezTo>
                    <a:pt x="215" y="95"/>
                    <a:pt x="217" y="106"/>
                    <a:pt x="217" y="116"/>
                  </a:cubicBezTo>
                  <a:cubicBezTo>
                    <a:pt x="217" y="171"/>
                    <a:pt x="172" y="216"/>
                    <a:pt x="117" y="216"/>
                  </a:cubicBezTo>
                  <a:cubicBezTo>
                    <a:pt x="62" y="216"/>
                    <a:pt x="17" y="171"/>
                    <a:pt x="17" y="116"/>
                  </a:cubicBezTo>
                  <a:cubicBezTo>
                    <a:pt x="17" y="61"/>
                    <a:pt x="62" y="16"/>
                    <a:pt x="117" y="16"/>
                  </a:cubicBezTo>
                  <a:cubicBezTo>
                    <a:pt x="142" y="16"/>
                    <a:pt x="166" y="26"/>
                    <a:pt x="184" y="42"/>
                  </a:cubicBezTo>
                  <a:lnTo>
                    <a:pt x="195" y="30"/>
                  </a:lnTo>
                  <a:cubicBezTo>
                    <a:pt x="174" y="11"/>
                    <a:pt x="147" y="0"/>
                    <a:pt x="117" y="0"/>
                  </a:cubicBezTo>
                  <a:cubicBezTo>
                    <a:pt x="52" y="0"/>
                    <a:pt x="0" y="52"/>
                    <a:pt x="0" y="116"/>
                  </a:cubicBezTo>
                  <a:cubicBezTo>
                    <a:pt x="0" y="181"/>
                    <a:pt x="52" y="233"/>
                    <a:pt x="117" y="233"/>
                  </a:cubicBezTo>
                  <a:cubicBezTo>
                    <a:pt x="181" y="233"/>
                    <a:pt x="233" y="181"/>
                    <a:pt x="233" y="116"/>
                  </a:cubicBezTo>
                  <a:cubicBezTo>
                    <a:pt x="233" y="101"/>
                    <a:pt x="230" y="85"/>
                    <a:pt x="224" y="72"/>
                  </a:cubicBezTo>
                  <a:lnTo>
                    <a:pt x="212" y="85"/>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2" name="Freeform 992">
              <a:extLst>
                <a:ext uri="{FF2B5EF4-FFF2-40B4-BE49-F238E27FC236}">
                  <a16:creationId xmlns:a16="http://schemas.microsoft.com/office/drawing/2014/main" id="{EC7CCF05-15D1-C75A-034A-880061B8C93E}"/>
                </a:ext>
              </a:extLst>
            </p:cNvPr>
            <p:cNvSpPr>
              <a:spLocks/>
            </p:cNvSpPr>
            <p:nvPr/>
          </p:nvSpPr>
          <p:spPr bwMode="auto">
            <a:xfrm>
              <a:off x="8893176" y="3040063"/>
              <a:ext cx="141288" cy="106363"/>
            </a:xfrm>
            <a:custGeom>
              <a:avLst/>
              <a:gdLst>
                <a:gd name="T0" fmla="*/ 64 w 190"/>
                <a:gd name="T1" fmla="*/ 144 h 144"/>
                <a:gd name="T2" fmla="*/ 64 w 190"/>
                <a:gd name="T3" fmla="*/ 144 h 144"/>
                <a:gd name="T4" fmla="*/ 58 w 190"/>
                <a:gd name="T5" fmla="*/ 141 h 144"/>
                <a:gd name="T6" fmla="*/ 0 w 190"/>
                <a:gd name="T7" fmla="*/ 72 h 144"/>
                <a:gd name="T8" fmla="*/ 13 w 190"/>
                <a:gd name="T9" fmla="*/ 61 h 144"/>
                <a:gd name="T10" fmla="*/ 65 w 190"/>
                <a:gd name="T11" fmla="*/ 123 h 144"/>
                <a:gd name="T12" fmla="*/ 178 w 190"/>
                <a:gd name="T13" fmla="*/ 0 h 144"/>
                <a:gd name="T14" fmla="*/ 190 w 190"/>
                <a:gd name="T15" fmla="*/ 11 h 144"/>
                <a:gd name="T16" fmla="*/ 71 w 190"/>
                <a:gd name="T17" fmla="*/ 142 h 144"/>
                <a:gd name="T18" fmla="*/ 64 w 190"/>
                <a:gd name="T1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0" h="144">
                  <a:moveTo>
                    <a:pt x="64" y="144"/>
                  </a:moveTo>
                  <a:lnTo>
                    <a:pt x="64" y="144"/>
                  </a:lnTo>
                  <a:cubicBezTo>
                    <a:pt x="62" y="144"/>
                    <a:pt x="60" y="143"/>
                    <a:pt x="58" y="141"/>
                  </a:cubicBezTo>
                  <a:lnTo>
                    <a:pt x="0" y="72"/>
                  </a:lnTo>
                  <a:lnTo>
                    <a:pt x="13" y="61"/>
                  </a:lnTo>
                  <a:lnTo>
                    <a:pt x="65" y="123"/>
                  </a:lnTo>
                  <a:lnTo>
                    <a:pt x="178" y="0"/>
                  </a:lnTo>
                  <a:lnTo>
                    <a:pt x="190" y="11"/>
                  </a:lnTo>
                  <a:lnTo>
                    <a:pt x="71" y="142"/>
                  </a:lnTo>
                  <a:cubicBezTo>
                    <a:pt x="69" y="143"/>
                    <a:pt x="67" y="144"/>
                    <a:pt x="64" y="144"/>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74" name="Play2" descr="{&quot;Key&quot;:&quot;POWER_USER_SHAPE_ICON&quot;,&quot;Value&quot;:&quot;POWER_USER_SHAPE_ICON_STYLE_1&quot;}">
            <a:extLst>
              <a:ext uri="{FF2B5EF4-FFF2-40B4-BE49-F238E27FC236}">
                <a16:creationId xmlns:a16="http://schemas.microsoft.com/office/drawing/2014/main" id="{F77200CF-D636-CE32-9C32-FC75FC010643}"/>
              </a:ext>
            </a:extLst>
          </p:cNvPr>
          <p:cNvGrpSpPr>
            <a:grpSpLocks noChangeAspect="1"/>
          </p:cNvGrpSpPr>
          <p:nvPr>
            <p:custDataLst>
              <p:tags r:id="rId3"/>
            </p:custDataLst>
          </p:nvPr>
        </p:nvGrpSpPr>
        <p:grpSpPr bwMode="auto">
          <a:xfrm>
            <a:off x="435114" y="1590601"/>
            <a:ext cx="432000" cy="432891"/>
            <a:chOff x="2347" y="664"/>
            <a:chExt cx="2910" cy="2916"/>
          </a:xfrm>
          <a:solidFill>
            <a:schemeClr val="bg1"/>
          </a:solidFill>
        </p:grpSpPr>
        <p:sp>
          <p:nvSpPr>
            <p:cNvPr id="1175" name="Freeform 496">
              <a:extLst>
                <a:ext uri="{FF2B5EF4-FFF2-40B4-BE49-F238E27FC236}">
                  <a16:creationId xmlns:a16="http://schemas.microsoft.com/office/drawing/2014/main" id="{68D37ED1-467D-3106-2D83-5A3EBBE154B5}"/>
                </a:ext>
              </a:extLst>
            </p:cNvPr>
            <p:cNvSpPr>
              <a:spLocks noEditPoints="1"/>
            </p:cNvSpPr>
            <p:nvPr/>
          </p:nvSpPr>
          <p:spPr bwMode="auto">
            <a:xfrm>
              <a:off x="2347" y="664"/>
              <a:ext cx="2910" cy="2916"/>
            </a:xfrm>
            <a:custGeom>
              <a:avLst/>
              <a:gdLst>
                <a:gd name="T0" fmla="*/ 366 w 733"/>
                <a:gd name="T1" fmla="*/ 66 h 733"/>
                <a:gd name="T2" fmla="*/ 666 w 733"/>
                <a:gd name="T3" fmla="*/ 366 h 733"/>
                <a:gd name="T4" fmla="*/ 366 w 733"/>
                <a:gd name="T5" fmla="*/ 666 h 733"/>
                <a:gd name="T6" fmla="*/ 66 w 733"/>
                <a:gd name="T7" fmla="*/ 366 h 733"/>
                <a:gd name="T8" fmla="*/ 366 w 733"/>
                <a:gd name="T9" fmla="*/ 66 h 733"/>
                <a:gd name="T10" fmla="*/ 366 w 733"/>
                <a:gd name="T11" fmla="*/ 733 h 733"/>
                <a:gd name="T12" fmla="*/ 733 w 733"/>
                <a:gd name="T13" fmla="*/ 366 h 733"/>
                <a:gd name="T14" fmla="*/ 366 w 733"/>
                <a:gd name="T15" fmla="*/ 0 h 733"/>
                <a:gd name="T16" fmla="*/ 0 w 733"/>
                <a:gd name="T17" fmla="*/ 366 h 733"/>
                <a:gd name="T18" fmla="*/ 366 w 733"/>
                <a:gd name="T19" fmla="*/ 733 h 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33" h="733">
                  <a:moveTo>
                    <a:pt x="366" y="66"/>
                  </a:moveTo>
                  <a:cubicBezTo>
                    <a:pt x="532" y="66"/>
                    <a:pt x="666" y="201"/>
                    <a:pt x="666" y="366"/>
                  </a:cubicBezTo>
                  <a:cubicBezTo>
                    <a:pt x="666" y="532"/>
                    <a:pt x="532" y="666"/>
                    <a:pt x="366" y="666"/>
                  </a:cubicBezTo>
                  <a:cubicBezTo>
                    <a:pt x="201" y="666"/>
                    <a:pt x="66" y="532"/>
                    <a:pt x="66" y="366"/>
                  </a:cubicBezTo>
                  <a:cubicBezTo>
                    <a:pt x="66" y="201"/>
                    <a:pt x="201" y="66"/>
                    <a:pt x="366" y="66"/>
                  </a:cubicBezTo>
                  <a:close/>
                  <a:moveTo>
                    <a:pt x="366" y="733"/>
                  </a:moveTo>
                  <a:cubicBezTo>
                    <a:pt x="569" y="733"/>
                    <a:pt x="733" y="569"/>
                    <a:pt x="733" y="366"/>
                  </a:cubicBezTo>
                  <a:cubicBezTo>
                    <a:pt x="733" y="164"/>
                    <a:pt x="569" y="0"/>
                    <a:pt x="366" y="0"/>
                  </a:cubicBezTo>
                  <a:cubicBezTo>
                    <a:pt x="164" y="0"/>
                    <a:pt x="0" y="164"/>
                    <a:pt x="0" y="366"/>
                  </a:cubicBezTo>
                  <a:cubicBezTo>
                    <a:pt x="0" y="569"/>
                    <a:pt x="164" y="733"/>
                    <a:pt x="366" y="733"/>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6" name="Freeform 497">
              <a:extLst>
                <a:ext uri="{FF2B5EF4-FFF2-40B4-BE49-F238E27FC236}">
                  <a16:creationId xmlns:a16="http://schemas.microsoft.com/office/drawing/2014/main" id="{131405E7-9436-56A3-B37A-C08B8521BC22}"/>
                </a:ext>
              </a:extLst>
            </p:cNvPr>
            <p:cNvSpPr>
              <a:spLocks/>
            </p:cNvSpPr>
            <p:nvPr/>
          </p:nvSpPr>
          <p:spPr bwMode="auto">
            <a:xfrm>
              <a:off x="3403" y="1412"/>
              <a:ext cx="1060" cy="1412"/>
            </a:xfrm>
            <a:custGeom>
              <a:avLst/>
              <a:gdLst>
                <a:gd name="T0" fmla="*/ 17 w 267"/>
                <a:gd name="T1" fmla="*/ 351 h 355"/>
                <a:gd name="T2" fmla="*/ 34 w 267"/>
                <a:gd name="T3" fmla="*/ 355 h 355"/>
                <a:gd name="T4" fmla="*/ 50 w 267"/>
                <a:gd name="T5" fmla="*/ 351 h 355"/>
                <a:gd name="T6" fmla="*/ 250 w 267"/>
                <a:gd name="T7" fmla="*/ 207 h 355"/>
                <a:gd name="T8" fmla="*/ 267 w 267"/>
                <a:gd name="T9" fmla="*/ 178 h 355"/>
                <a:gd name="T10" fmla="*/ 250 w 267"/>
                <a:gd name="T11" fmla="*/ 149 h 355"/>
                <a:gd name="T12" fmla="*/ 50 w 267"/>
                <a:gd name="T13" fmla="*/ 6 h 355"/>
                <a:gd name="T14" fmla="*/ 17 w 267"/>
                <a:gd name="T15" fmla="*/ 6 h 355"/>
                <a:gd name="T16" fmla="*/ 0 w 267"/>
                <a:gd name="T17" fmla="*/ 35 h 355"/>
                <a:gd name="T18" fmla="*/ 0 w 267"/>
                <a:gd name="T19" fmla="*/ 322 h 355"/>
                <a:gd name="T20" fmla="*/ 17 w 267"/>
                <a:gd name="T21" fmla="*/ 351 h 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7" h="355">
                  <a:moveTo>
                    <a:pt x="17" y="351"/>
                  </a:moveTo>
                  <a:cubicBezTo>
                    <a:pt x="22" y="354"/>
                    <a:pt x="28" y="355"/>
                    <a:pt x="34" y="355"/>
                  </a:cubicBezTo>
                  <a:cubicBezTo>
                    <a:pt x="39" y="355"/>
                    <a:pt x="45" y="354"/>
                    <a:pt x="50" y="351"/>
                  </a:cubicBezTo>
                  <a:lnTo>
                    <a:pt x="250" y="207"/>
                  </a:lnTo>
                  <a:cubicBezTo>
                    <a:pt x="261" y="201"/>
                    <a:pt x="267" y="190"/>
                    <a:pt x="267" y="178"/>
                  </a:cubicBezTo>
                  <a:cubicBezTo>
                    <a:pt x="267" y="166"/>
                    <a:pt x="261" y="155"/>
                    <a:pt x="250" y="149"/>
                  </a:cubicBezTo>
                  <a:lnTo>
                    <a:pt x="50" y="6"/>
                  </a:lnTo>
                  <a:cubicBezTo>
                    <a:pt x="40" y="0"/>
                    <a:pt x="27" y="0"/>
                    <a:pt x="17" y="6"/>
                  </a:cubicBezTo>
                  <a:cubicBezTo>
                    <a:pt x="7" y="12"/>
                    <a:pt x="0" y="23"/>
                    <a:pt x="0" y="35"/>
                  </a:cubicBezTo>
                  <a:lnTo>
                    <a:pt x="0" y="322"/>
                  </a:lnTo>
                  <a:cubicBezTo>
                    <a:pt x="0" y="334"/>
                    <a:pt x="7" y="345"/>
                    <a:pt x="17" y="351"/>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77" name="Pedagogy" descr="{&quot;Key&quot;:&quot;POWER_USER_SHAPE_ICON&quot;,&quot;Value&quot;:&quot;POWER_USER_SHAPE_ICON_STYLE_1&quot;}">
            <a:extLst>
              <a:ext uri="{FF2B5EF4-FFF2-40B4-BE49-F238E27FC236}">
                <a16:creationId xmlns:a16="http://schemas.microsoft.com/office/drawing/2014/main" id="{DDC4F90C-8EEF-8100-5B3D-D300EF273141}"/>
              </a:ext>
            </a:extLst>
          </p:cNvPr>
          <p:cNvGrpSpPr>
            <a:grpSpLocks noChangeAspect="1"/>
          </p:cNvGrpSpPr>
          <p:nvPr>
            <p:custDataLst>
              <p:tags r:id="rId4"/>
            </p:custDataLst>
          </p:nvPr>
        </p:nvGrpSpPr>
        <p:grpSpPr>
          <a:xfrm>
            <a:off x="468546" y="2290460"/>
            <a:ext cx="432000" cy="484523"/>
            <a:chOff x="5837239" y="3568700"/>
            <a:chExt cx="522288" cy="585788"/>
          </a:xfrm>
          <a:solidFill>
            <a:schemeClr val="bg1"/>
          </a:solidFill>
        </p:grpSpPr>
        <p:sp>
          <p:nvSpPr>
            <p:cNvPr id="1178" name="Freeform 48">
              <a:extLst>
                <a:ext uri="{FF2B5EF4-FFF2-40B4-BE49-F238E27FC236}">
                  <a16:creationId xmlns:a16="http://schemas.microsoft.com/office/drawing/2014/main" id="{362FDD25-C4E5-0836-A936-AFB7CAACF3F0}"/>
                </a:ext>
              </a:extLst>
            </p:cNvPr>
            <p:cNvSpPr>
              <a:spLocks noEditPoints="1"/>
            </p:cNvSpPr>
            <p:nvPr/>
          </p:nvSpPr>
          <p:spPr bwMode="auto">
            <a:xfrm>
              <a:off x="5873751" y="3608388"/>
              <a:ext cx="122238" cy="122238"/>
            </a:xfrm>
            <a:custGeom>
              <a:avLst/>
              <a:gdLst>
                <a:gd name="T0" fmla="*/ 144 w 178"/>
                <a:gd name="T1" fmla="*/ 90 h 179"/>
                <a:gd name="T2" fmla="*/ 89 w 178"/>
                <a:gd name="T3" fmla="*/ 144 h 179"/>
                <a:gd name="T4" fmla="*/ 34 w 178"/>
                <a:gd name="T5" fmla="*/ 90 h 179"/>
                <a:gd name="T6" fmla="*/ 89 w 178"/>
                <a:gd name="T7" fmla="*/ 35 h 179"/>
                <a:gd name="T8" fmla="*/ 144 w 178"/>
                <a:gd name="T9" fmla="*/ 90 h 179"/>
                <a:gd name="T10" fmla="*/ 0 w 178"/>
                <a:gd name="T11" fmla="*/ 90 h 179"/>
                <a:gd name="T12" fmla="*/ 89 w 178"/>
                <a:gd name="T13" fmla="*/ 179 h 179"/>
                <a:gd name="T14" fmla="*/ 178 w 178"/>
                <a:gd name="T15" fmla="*/ 90 h 179"/>
                <a:gd name="T16" fmla="*/ 89 w 178"/>
                <a:gd name="T17" fmla="*/ 0 h 179"/>
                <a:gd name="T18" fmla="*/ 0 w 178"/>
                <a:gd name="T19" fmla="*/ 90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 h="179">
                  <a:moveTo>
                    <a:pt x="144" y="90"/>
                  </a:moveTo>
                  <a:cubicBezTo>
                    <a:pt x="144" y="120"/>
                    <a:pt x="119" y="144"/>
                    <a:pt x="89" y="144"/>
                  </a:cubicBezTo>
                  <a:cubicBezTo>
                    <a:pt x="59" y="144"/>
                    <a:pt x="34" y="120"/>
                    <a:pt x="34" y="90"/>
                  </a:cubicBezTo>
                  <a:cubicBezTo>
                    <a:pt x="34" y="59"/>
                    <a:pt x="59" y="35"/>
                    <a:pt x="89" y="35"/>
                  </a:cubicBezTo>
                  <a:cubicBezTo>
                    <a:pt x="119" y="35"/>
                    <a:pt x="144" y="59"/>
                    <a:pt x="144" y="90"/>
                  </a:cubicBezTo>
                  <a:close/>
                  <a:moveTo>
                    <a:pt x="0" y="90"/>
                  </a:moveTo>
                  <a:cubicBezTo>
                    <a:pt x="0" y="139"/>
                    <a:pt x="40" y="179"/>
                    <a:pt x="89" y="179"/>
                  </a:cubicBezTo>
                  <a:cubicBezTo>
                    <a:pt x="138" y="179"/>
                    <a:pt x="178" y="139"/>
                    <a:pt x="178" y="90"/>
                  </a:cubicBezTo>
                  <a:cubicBezTo>
                    <a:pt x="178" y="40"/>
                    <a:pt x="138" y="0"/>
                    <a:pt x="89" y="0"/>
                  </a:cubicBezTo>
                  <a:cubicBezTo>
                    <a:pt x="40" y="0"/>
                    <a:pt x="0" y="40"/>
                    <a:pt x="0" y="9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9" name="Freeform 49">
              <a:extLst>
                <a:ext uri="{FF2B5EF4-FFF2-40B4-BE49-F238E27FC236}">
                  <a16:creationId xmlns:a16="http://schemas.microsoft.com/office/drawing/2014/main" id="{A31960E7-483A-52CB-79B3-A4BBD68A7C94}"/>
                </a:ext>
              </a:extLst>
            </p:cNvPr>
            <p:cNvSpPr>
              <a:spLocks/>
            </p:cNvSpPr>
            <p:nvPr/>
          </p:nvSpPr>
          <p:spPr bwMode="auto">
            <a:xfrm>
              <a:off x="5837239" y="3568700"/>
              <a:ext cx="522288" cy="415925"/>
            </a:xfrm>
            <a:custGeom>
              <a:avLst/>
              <a:gdLst>
                <a:gd name="T0" fmla="*/ 17 w 763"/>
                <a:gd name="T1" fmla="*/ 246 h 607"/>
                <a:gd name="T2" fmla="*/ 34 w 763"/>
                <a:gd name="T3" fmla="*/ 229 h 607"/>
                <a:gd name="T4" fmla="*/ 34 w 763"/>
                <a:gd name="T5" fmla="*/ 35 h 607"/>
                <a:gd name="T6" fmla="*/ 694 w 763"/>
                <a:gd name="T7" fmla="*/ 35 h 607"/>
                <a:gd name="T8" fmla="*/ 694 w 763"/>
                <a:gd name="T9" fmla="*/ 494 h 607"/>
                <a:gd name="T10" fmla="*/ 338 w 763"/>
                <a:gd name="T11" fmla="*/ 494 h 607"/>
                <a:gd name="T12" fmla="*/ 321 w 763"/>
                <a:gd name="T13" fmla="*/ 512 h 607"/>
                <a:gd name="T14" fmla="*/ 338 w 763"/>
                <a:gd name="T15" fmla="*/ 529 h 607"/>
                <a:gd name="T16" fmla="*/ 706 w 763"/>
                <a:gd name="T17" fmla="*/ 529 h 607"/>
                <a:gd name="T18" fmla="*/ 728 w 763"/>
                <a:gd name="T19" fmla="*/ 551 h 607"/>
                <a:gd name="T20" fmla="*/ 706 w 763"/>
                <a:gd name="T21" fmla="*/ 573 h 607"/>
                <a:gd name="T22" fmla="*/ 304 w 763"/>
                <a:gd name="T23" fmla="*/ 573 h 607"/>
                <a:gd name="T24" fmla="*/ 287 w 763"/>
                <a:gd name="T25" fmla="*/ 590 h 607"/>
                <a:gd name="T26" fmla="*/ 304 w 763"/>
                <a:gd name="T27" fmla="*/ 607 h 607"/>
                <a:gd name="T28" fmla="*/ 706 w 763"/>
                <a:gd name="T29" fmla="*/ 607 h 607"/>
                <a:gd name="T30" fmla="*/ 763 w 763"/>
                <a:gd name="T31" fmla="*/ 551 h 607"/>
                <a:gd name="T32" fmla="*/ 729 w 763"/>
                <a:gd name="T33" fmla="*/ 499 h 607"/>
                <a:gd name="T34" fmla="*/ 729 w 763"/>
                <a:gd name="T35" fmla="*/ 18 h 607"/>
                <a:gd name="T36" fmla="*/ 712 w 763"/>
                <a:gd name="T37" fmla="*/ 0 h 607"/>
                <a:gd name="T38" fmla="*/ 17 w 763"/>
                <a:gd name="T39" fmla="*/ 0 h 607"/>
                <a:gd name="T40" fmla="*/ 0 w 763"/>
                <a:gd name="T41" fmla="*/ 18 h 607"/>
                <a:gd name="T42" fmla="*/ 0 w 763"/>
                <a:gd name="T43" fmla="*/ 229 h 607"/>
                <a:gd name="T44" fmla="*/ 17 w 763"/>
                <a:gd name="T45" fmla="*/ 246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63" h="607">
                  <a:moveTo>
                    <a:pt x="17" y="246"/>
                  </a:moveTo>
                  <a:cubicBezTo>
                    <a:pt x="27" y="246"/>
                    <a:pt x="34" y="239"/>
                    <a:pt x="34" y="229"/>
                  </a:cubicBezTo>
                  <a:lnTo>
                    <a:pt x="34" y="35"/>
                  </a:lnTo>
                  <a:lnTo>
                    <a:pt x="694" y="35"/>
                  </a:lnTo>
                  <a:lnTo>
                    <a:pt x="694" y="494"/>
                  </a:lnTo>
                  <a:lnTo>
                    <a:pt x="338" y="494"/>
                  </a:lnTo>
                  <a:cubicBezTo>
                    <a:pt x="328" y="494"/>
                    <a:pt x="321" y="502"/>
                    <a:pt x="321" y="512"/>
                  </a:cubicBezTo>
                  <a:cubicBezTo>
                    <a:pt x="321" y="521"/>
                    <a:pt x="328" y="529"/>
                    <a:pt x="338" y="529"/>
                  </a:cubicBezTo>
                  <a:lnTo>
                    <a:pt x="706" y="529"/>
                  </a:lnTo>
                  <a:cubicBezTo>
                    <a:pt x="718" y="529"/>
                    <a:pt x="728" y="539"/>
                    <a:pt x="728" y="551"/>
                  </a:cubicBezTo>
                  <a:cubicBezTo>
                    <a:pt x="728" y="563"/>
                    <a:pt x="718" y="573"/>
                    <a:pt x="706" y="573"/>
                  </a:cubicBezTo>
                  <a:lnTo>
                    <a:pt x="304" y="573"/>
                  </a:lnTo>
                  <a:cubicBezTo>
                    <a:pt x="294" y="573"/>
                    <a:pt x="287" y="581"/>
                    <a:pt x="287" y="590"/>
                  </a:cubicBezTo>
                  <a:cubicBezTo>
                    <a:pt x="287" y="600"/>
                    <a:pt x="294" y="607"/>
                    <a:pt x="304" y="607"/>
                  </a:cubicBezTo>
                  <a:lnTo>
                    <a:pt x="706" y="607"/>
                  </a:lnTo>
                  <a:cubicBezTo>
                    <a:pt x="737" y="607"/>
                    <a:pt x="763" y="582"/>
                    <a:pt x="763" y="551"/>
                  </a:cubicBezTo>
                  <a:cubicBezTo>
                    <a:pt x="763" y="528"/>
                    <a:pt x="749" y="508"/>
                    <a:pt x="729" y="499"/>
                  </a:cubicBezTo>
                  <a:lnTo>
                    <a:pt x="729" y="18"/>
                  </a:lnTo>
                  <a:cubicBezTo>
                    <a:pt x="729" y="8"/>
                    <a:pt x="721" y="0"/>
                    <a:pt x="712" y="0"/>
                  </a:cubicBezTo>
                  <a:lnTo>
                    <a:pt x="17" y="0"/>
                  </a:lnTo>
                  <a:cubicBezTo>
                    <a:pt x="8" y="0"/>
                    <a:pt x="0" y="8"/>
                    <a:pt x="0" y="18"/>
                  </a:cubicBezTo>
                  <a:lnTo>
                    <a:pt x="0" y="229"/>
                  </a:lnTo>
                  <a:cubicBezTo>
                    <a:pt x="0" y="239"/>
                    <a:pt x="8" y="246"/>
                    <a:pt x="17" y="246"/>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0" name="Freeform 50">
              <a:extLst>
                <a:ext uri="{FF2B5EF4-FFF2-40B4-BE49-F238E27FC236}">
                  <a16:creationId xmlns:a16="http://schemas.microsoft.com/office/drawing/2014/main" id="{A03120B7-8A8E-3091-08A2-508C807977D1}"/>
                </a:ext>
              </a:extLst>
            </p:cNvPr>
            <p:cNvSpPr>
              <a:spLocks noEditPoints="1"/>
            </p:cNvSpPr>
            <p:nvPr/>
          </p:nvSpPr>
          <p:spPr bwMode="auto">
            <a:xfrm>
              <a:off x="6034089" y="3995738"/>
              <a:ext cx="325438" cy="158750"/>
            </a:xfrm>
            <a:custGeom>
              <a:avLst/>
              <a:gdLst>
                <a:gd name="T0" fmla="*/ 35 w 476"/>
                <a:gd name="T1" fmla="*/ 198 h 232"/>
                <a:gd name="T2" fmla="*/ 96 w 476"/>
                <a:gd name="T3" fmla="*/ 143 h 232"/>
                <a:gd name="T4" fmla="*/ 152 w 476"/>
                <a:gd name="T5" fmla="*/ 177 h 232"/>
                <a:gd name="T6" fmla="*/ 167 w 476"/>
                <a:gd name="T7" fmla="*/ 187 h 232"/>
                <a:gd name="T8" fmla="*/ 167 w 476"/>
                <a:gd name="T9" fmla="*/ 187 h 232"/>
                <a:gd name="T10" fmla="*/ 182 w 476"/>
                <a:gd name="T11" fmla="*/ 177 h 232"/>
                <a:gd name="T12" fmla="*/ 238 w 476"/>
                <a:gd name="T13" fmla="*/ 143 h 232"/>
                <a:gd name="T14" fmla="*/ 293 w 476"/>
                <a:gd name="T15" fmla="*/ 177 h 232"/>
                <a:gd name="T16" fmla="*/ 308 w 476"/>
                <a:gd name="T17" fmla="*/ 187 h 232"/>
                <a:gd name="T18" fmla="*/ 308 w 476"/>
                <a:gd name="T19" fmla="*/ 187 h 232"/>
                <a:gd name="T20" fmla="*/ 324 w 476"/>
                <a:gd name="T21" fmla="*/ 177 h 232"/>
                <a:gd name="T22" fmla="*/ 379 w 476"/>
                <a:gd name="T23" fmla="*/ 143 h 232"/>
                <a:gd name="T24" fmla="*/ 441 w 476"/>
                <a:gd name="T25" fmla="*/ 198 h 232"/>
                <a:gd name="T26" fmla="*/ 35 w 476"/>
                <a:gd name="T27" fmla="*/ 198 h 232"/>
                <a:gd name="T28" fmla="*/ 96 w 476"/>
                <a:gd name="T29" fmla="*/ 35 h 232"/>
                <a:gd name="T30" fmla="*/ 124 w 476"/>
                <a:gd name="T31" fmla="*/ 63 h 232"/>
                <a:gd name="T32" fmla="*/ 96 w 476"/>
                <a:gd name="T33" fmla="*/ 91 h 232"/>
                <a:gd name="T34" fmla="*/ 68 w 476"/>
                <a:gd name="T35" fmla="*/ 63 h 232"/>
                <a:gd name="T36" fmla="*/ 96 w 476"/>
                <a:gd name="T37" fmla="*/ 35 h 232"/>
                <a:gd name="T38" fmla="*/ 238 w 476"/>
                <a:gd name="T39" fmla="*/ 35 h 232"/>
                <a:gd name="T40" fmla="*/ 266 w 476"/>
                <a:gd name="T41" fmla="*/ 63 h 232"/>
                <a:gd name="T42" fmla="*/ 238 w 476"/>
                <a:gd name="T43" fmla="*/ 91 h 232"/>
                <a:gd name="T44" fmla="*/ 210 w 476"/>
                <a:gd name="T45" fmla="*/ 63 h 232"/>
                <a:gd name="T46" fmla="*/ 238 w 476"/>
                <a:gd name="T47" fmla="*/ 35 h 232"/>
                <a:gd name="T48" fmla="*/ 379 w 476"/>
                <a:gd name="T49" fmla="*/ 35 h 232"/>
                <a:gd name="T50" fmla="*/ 407 w 476"/>
                <a:gd name="T51" fmla="*/ 63 h 232"/>
                <a:gd name="T52" fmla="*/ 379 w 476"/>
                <a:gd name="T53" fmla="*/ 91 h 232"/>
                <a:gd name="T54" fmla="*/ 351 w 476"/>
                <a:gd name="T55" fmla="*/ 63 h 232"/>
                <a:gd name="T56" fmla="*/ 379 w 476"/>
                <a:gd name="T57" fmla="*/ 35 h 232"/>
                <a:gd name="T58" fmla="*/ 414 w 476"/>
                <a:gd name="T59" fmla="*/ 115 h 232"/>
                <a:gd name="T60" fmla="*/ 442 w 476"/>
                <a:gd name="T61" fmla="*/ 63 h 232"/>
                <a:gd name="T62" fmla="*/ 379 w 476"/>
                <a:gd name="T63" fmla="*/ 0 h 232"/>
                <a:gd name="T64" fmla="*/ 317 w 476"/>
                <a:gd name="T65" fmla="*/ 63 h 232"/>
                <a:gd name="T66" fmla="*/ 344 w 476"/>
                <a:gd name="T67" fmla="*/ 115 h 232"/>
                <a:gd name="T68" fmla="*/ 308 w 476"/>
                <a:gd name="T69" fmla="*/ 139 h 232"/>
                <a:gd name="T70" fmla="*/ 273 w 476"/>
                <a:gd name="T71" fmla="*/ 115 h 232"/>
                <a:gd name="T72" fmla="*/ 300 w 476"/>
                <a:gd name="T73" fmla="*/ 63 h 232"/>
                <a:gd name="T74" fmla="*/ 238 w 476"/>
                <a:gd name="T75" fmla="*/ 0 h 232"/>
                <a:gd name="T76" fmla="*/ 175 w 476"/>
                <a:gd name="T77" fmla="*/ 63 h 232"/>
                <a:gd name="T78" fmla="*/ 202 w 476"/>
                <a:gd name="T79" fmla="*/ 115 h 232"/>
                <a:gd name="T80" fmla="*/ 167 w 476"/>
                <a:gd name="T81" fmla="*/ 139 h 232"/>
                <a:gd name="T82" fmla="*/ 131 w 476"/>
                <a:gd name="T83" fmla="*/ 115 h 232"/>
                <a:gd name="T84" fmla="*/ 159 w 476"/>
                <a:gd name="T85" fmla="*/ 63 h 232"/>
                <a:gd name="T86" fmla="*/ 96 w 476"/>
                <a:gd name="T87" fmla="*/ 0 h 232"/>
                <a:gd name="T88" fmla="*/ 34 w 476"/>
                <a:gd name="T89" fmla="*/ 63 h 232"/>
                <a:gd name="T90" fmla="*/ 61 w 476"/>
                <a:gd name="T91" fmla="*/ 115 h 232"/>
                <a:gd name="T92" fmla="*/ 0 w 476"/>
                <a:gd name="T93" fmla="*/ 205 h 232"/>
                <a:gd name="T94" fmla="*/ 0 w 476"/>
                <a:gd name="T95" fmla="*/ 215 h 232"/>
                <a:gd name="T96" fmla="*/ 17 w 476"/>
                <a:gd name="T97" fmla="*/ 232 h 232"/>
                <a:gd name="T98" fmla="*/ 458 w 476"/>
                <a:gd name="T99" fmla="*/ 232 h 232"/>
                <a:gd name="T100" fmla="*/ 476 w 476"/>
                <a:gd name="T101" fmla="*/ 215 h 232"/>
                <a:gd name="T102" fmla="*/ 476 w 476"/>
                <a:gd name="T103" fmla="*/ 205 h 232"/>
                <a:gd name="T104" fmla="*/ 414 w 476"/>
                <a:gd name="T105" fmla="*/ 115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76" h="232">
                  <a:moveTo>
                    <a:pt x="35" y="198"/>
                  </a:moveTo>
                  <a:cubicBezTo>
                    <a:pt x="38" y="167"/>
                    <a:pt x="64" y="143"/>
                    <a:pt x="96" y="143"/>
                  </a:cubicBezTo>
                  <a:cubicBezTo>
                    <a:pt x="120" y="143"/>
                    <a:pt x="141" y="156"/>
                    <a:pt x="152" y="177"/>
                  </a:cubicBezTo>
                  <a:cubicBezTo>
                    <a:pt x="154" y="183"/>
                    <a:pt x="160" y="187"/>
                    <a:pt x="167" y="187"/>
                  </a:cubicBezTo>
                  <a:lnTo>
                    <a:pt x="167" y="187"/>
                  </a:lnTo>
                  <a:cubicBezTo>
                    <a:pt x="174" y="187"/>
                    <a:pt x="179" y="183"/>
                    <a:pt x="182" y="177"/>
                  </a:cubicBezTo>
                  <a:cubicBezTo>
                    <a:pt x="193" y="156"/>
                    <a:pt x="214" y="143"/>
                    <a:pt x="238" y="143"/>
                  </a:cubicBezTo>
                  <a:cubicBezTo>
                    <a:pt x="261" y="143"/>
                    <a:pt x="282" y="156"/>
                    <a:pt x="293" y="177"/>
                  </a:cubicBezTo>
                  <a:cubicBezTo>
                    <a:pt x="296" y="183"/>
                    <a:pt x="302" y="187"/>
                    <a:pt x="308" y="187"/>
                  </a:cubicBezTo>
                  <a:lnTo>
                    <a:pt x="308" y="187"/>
                  </a:lnTo>
                  <a:cubicBezTo>
                    <a:pt x="315" y="187"/>
                    <a:pt x="321" y="183"/>
                    <a:pt x="324" y="177"/>
                  </a:cubicBezTo>
                  <a:cubicBezTo>
                    <a:pt x="335" y="156"/>
                    <a:pt x="356" y="143"/>
                    <a:pt x="379" y="143"/>
                  </a:cubicBezTo>
                  <a:cubicBezTo>
                    <a:pt x="411" y="143"/>
                    <a:pt x="437" y="167"/>
                    <a:pt x="441" y="198"/>
                  </a:cubicBezTo>
                  <a:lnTo>
                    <a:pt x="35" y="198"/>
                  </a:lnTo>
                  <a:close/>
                  <a:moveTo>
                    <a:pt x="96" y="35"/>
                  </a:moveTo>
                  <a:cubicBezTo>
                    <a:pt x="112" y="35"/>
                    <a:pt x="124" y="47"/>
                    <a:pt x="124" y="63"/>
                  </a:cubicBezTo>
                  <a:cubicBezTo>
                    <a:pt x="124" y="79"/>
                    <a:pt x="112" y="91"/>
                    <a:pt x="96" y="91"/>
                  </a:cubicBezTo>
                  <a:cubicBezTo>
                    <a:pt x="81" y="91"/>
                    <a:pt x="68" y="79"/>
                    <a:pt x="68" y="63"/>
                  </a:cubicBezTo>
                  <a:cubicBezTo>
                    <a:pt x="68" y="47"/>
                    <a:pt x="81" y="35"/>
                    <a:pt x="96" y="35"/>
                  </a:cubicBezTo>
                  <a:close/>
                  <a:moveTo>
                    <a:pt x="238" y="35"/>
                  </a:moveTo>
                  <a:cubicBezTo>
                    <a:pt x="253" y="35"/>
                    <a:pt x="266" y="47"/>
                    <a:pt x="266" y="63"/>
                  </a:cubicBezTo>
                  <a:cubicBezTo>
                    <a:pt x="266" y="79"/>
                    <a:pt x="253" y="91"/>
                    <a:pt x="238" y="91"/>
                  </a:cubicBezTo>
                  <a:cubicBezTo>
                    <a:pt x="222" y="91"/>
                    <a:pt x="210" y="79"/>
                    <a:pt x="210" y="63"/>
                  </a:cubicBezTo>
                  <a:cubicBezTo>
                    <a:pt x="210" y="47"/>
                    <a:pt x="222" y="35"/>
                    <a:pt x="238" y="35"/>
                  </a:cubicBezTo>
                  <a:close/>
                  <a:moveTo>
                    <a:pt x="379" y="35"/>
                  </a:moveTo>
                  <a:cubicBezTo>
                    <a:pt x="395" y="35"/>
                    <a:pt x="407" y="47"/>
                    <a:pt x="407" y="63"/>
                  </a:cubicBezTo>
                  <a:cubicBezTo>
                    <a:pt x="407" y="79"/>
                    <a:pt x="395" y="91"/>
                    <a:pt x="379" y="91"/>
                  </a:cubicBezTo>
                  <a:cubicBezTo>
                    <a:pt x="364" y="91"/>
                    <a:pt x="351" y="79"/>
                    <a:pt x="351" y="63"/>
                  </a:cubicBezTo>
                  <a:cubicBezTo>
                    <a:pt x="351" y="47"/>
                    <a:pt x="364" y="35"/>
                    <a:pt x="379" y="35"/>
                  </a:cubicBezTo>
                  <a:close/>
                  <a:moveTo>
                    <a:pt x="414" y="115"/>
                  </a:moveTo>
                  <a:cubicBezTo>
                    <a:pt x="431" y="103"/>
                    <a:pt x="442" y="84"/>
                    <a:pt x="442" y="63"/>
                  </a:cubicBezTo>
                  <a:cubicBezTo>
                    <a:pt x="442" y="28"/>
                    <a:pt x="414" y="0"/>
                    <a:pt x="379" y="0"/>
                  </a:cubicBezTo>
                  <a:cubicBezTo>
                    <a:pt x="345" y="0"/>
                    <a:pt x="317" y="28"/>
                    <a:pt x="317" y="63"/>
                  </a:cubicBezTo>
                  <a:cubicBezTo>
                    <a:pt x="317" y="84"/>
                    <a:pt x="327" y="103"/>
                    <a:pt x="344" y="115"/>
                  </a:cubicBezTo>
                  <a:cubicBezTo>
                    <a:pt x="330" y="120"/>
                    <a:pt x="318" y="128"/>
                    <a:pt x="308" y="139"/>
                  </a:cubicBezTo>
                  <a:cubicBezTo>
                    <a:pt x="299" y="128"/>
                    <a:pt x="286" y="120"/>
                    <a:pt x="273" y="115"/>
                  </a:cubicBezTo>
                  <a:cubicBezTo>
                    <a:pt x="289" y="103"/>
                    <a:pt x="300" y="84"/>
                    <a:pt x="300" y="63"/>
                  </a:cubicBezTo>
                  <a:cubicBezTo>
                    <a:pt x="300" y="28"/>
                    <a:pt x="272" y="0"/>
                    <a:pt x="238" y="0"/>
                  </a:cubicBezTo>
                  <a:cubicBezTo>
                    <a:pt x="203" y="0"/>
                    <a:pt x="175" y="28"/>
                    <a:pt x="175" y="63"/>
                  </a:cubicBezTo>
                  <a:cubicBezTo>
                    <a:pt x="175" y="84"/>
                    <a:pt x="186" y="103"/>
                    <a:pt x="202" y="115"/>
                  </a:cubicBezTo>
                  <a:cubicBezTo>
                    <a:pt x="189" y="120"/>
                    <a:pt x="177" y="128"/>
                    <a:pt x="167" y="139"/>
                  </a:cubicBezTo>
                  <a:cubicBezTo>
                    <a:pt x="157" y="128"/>
                    <a:pt x="145" y="120"/>
                    <a:pt x="131" y="115"/>
                  </a:cubicBezTo>
                  <a:cubicBezTo>
                    <a:pt x="148" y="103"/>
                    <a:pt x="159" y="84"/>
                    <a:pt x="159" y="63"/>
                  </a:cubicBezTo>
                  <a:cubicBezTo>
                    <a:pt x="159" y="28"/>
                    <a:pt x="131" y="0"/>
                    <a:pt x="96" y="0"/>
                  </a:cubicBezTo>
                  <a:cubicBezTo>
                    <a:pt x="62" y="0"/>
                    <a:pt x="34" y="28"/>
                    <a:pt x="34" y="63"/>
                  </a:cubicBezTo>
                  <a:cubicBezTo>
                    <a:pt x="34" y="84"/>
                    <a:pt x="44" y="103"/>
                    <a:pt x="61" y="115"/>
                  </a:cubicBezTo>
                  <a:cubicBezTo>
                    <a:pt x="25" y="129"/>
                    <a:pt x="0" y="164"/>
                    <a:pt x="0" y="205"/>
                  </a:cubicBezTo>
                  <a:lnTo>
                    <a:pt x="0" y="215"/>
                  </a:lnTo>
                  <a:cubicBezTo>
                    <a:pt x="0" y="224"/>
                    <a:pt x="7" y="232"/>
                    <a:pt x="17" y="232"/>
                  </a:cubicBezTo>
                  <a:lnTo>
                    <a:pt x="458" y="232"/>
                  </a:lnTo>
                  <a:cubicBezTo>
                    <a:pt x="468" y="232"/>
                    <a:pt x="476" y="224"/>
                    <a:pt x="476" y="215"/>
                  </a:cubicBezTo>
                  <a:lnTo>
                    <a:pt x="476" y="205"/>
                  </a:lnTo>
                  <a:cubicBezTo>
                    <a:pt x="476" y="164"/>
                    <a:pt x="450" y="129"/>
                    <a:pt x="414" y="115"/>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1" name="Freeform 51">
              <a:extLst>
                <a:ext uri="{FF2B5EF4-FFF2-40B4-BE49-F238E27FC236}">
                  <a16:creationId xmlns:a16="http://schemas.microsoft.com/office/drawing/2014/main" id="{4465F310-F719-AF09-0516-788D25F3452B}"/>
                </a:ext>
              </a:extLst>
            </p:cNvPr>
            <p:cNvSpPr>
              <a:spLocks noEditPoints="1"/>
            </p:cNvSpPr>
            <p:nvPr/>
          </p:nvSpPr>
          <p:spPr bwMode="auto">
            <a:xfrm>
              <a:off x="5837239" y="3652838"/>
              <a:ext cx="419100" cy="501650"/>
            </a:xfrm>
            <a:custGeom>
              <a:avLst/>
              <a:gdLst>
                <a:gd name="T0" fmla="*/ 254 w 613"/>
                <a:gd name="T1" fmla="*/ 282 h 733"/>
                <a:gd name="T2" fmla="*/ 244 w 613"/>
                <a:gd name="T3" fmla="*/ 415 h 733"/>
                <a:gd name="T4" fmla="*/ 224 w 613"/>
                <a:gd name="T5" fmla="*/ 432 h 733"/>
                <a:gd name="T6" fmla="*/ 200 w 613"/>
                <a:gd name="T7" fmla="*/ 699 h 733"/>
                <a:gd name="T8" fmla="*/ 177 w 613"/>
                <a:gd name="T9" fmla="*/ 469 h 733"/>
                <a:gd name="T10" fmla="*/ 144 w 613"/>
                <a:gd name="T11" fmla="*/ 437 h 733"/>
                <a:gd name="T12" fmla="*/ 112 w 613"/>
                <a:gd name="T13" fmla="*/ 469 h 733"/>
                <a:gd name="T14" fmla="*/ 88 w 613"/>
                <a:gd name="T15" fmla="*/ 699 h 733"/>
                <a:gd name="T16" fmla="*/ 64 w 613"/>
                <a:gd name="T17" fmla="*/ 432 h 733"/>
                <a:gd name="T18" fmla="*/ 45 w 613"/>
                <a:gd name="T19" fmla="*/ 415 h 733"/>
                <a:gd name="T20" fmla="*/ 34 w 613"/>
                <a:gd name="T21" fmla="*/ 195 h 733"/>
                <a:gd name="T22" fmla="*/ 129 w 613"/>
                <a:gd name="T23" fmla="*/ 212 h 733"/>
                <a:gd name="T24" fmla="*/ 159 w 613"/>
                <a:gd name="T25" fmla="*/ 212 h 733"/>
                <a:gd name="T26" fmla="*/ 213 w 613"/>
                <a:gd name="T27" fmla="*/ 164 h 733"/>
                <a:gd name="T28" fmla="*/ 245 w 613"/>
                <a:gd name="T29" fmla="*/ 179 h 733"/>
                <a:gd name="T30" fmla="*/ 247 w 613"/>
                <a:gd name="T31" fmla="*/ 181 h 733"/>
                <a:gd name="T32" fmla="*/ 342 w 613"/>
                <a:gd name="T33" fmla="*/ 245 h 733"/>
                <a:gd name="T34" fmla="*/ 434 w 613"/>
                <a:gd name="T35" fmla="*/ 159 h 733"/>
                <a:gd name="T36" fmla="*/ 457 w 613"/>
                <a:gd name="T37" fmla="*/ 181 h 733"/>
                <a:gd name="T38" fmla="*/ 348 w 613"/>
                <a:gd name="T39" fmla="*/ 305 h 733"/>
                <a:gd name="T40" fmla="*/ 317 w 613"/>
                <a:gd name="T41" fmla="*/ 307 h 733"/>
                <a:gd name="T42" fmla="*/ 265 w 613"/>
                <a:gd name="T43" fmla="*/ 266 h 733"/>
                <a:gd name="T44" fmla="*/ 292 w 613"/>
                <a:gd name="T45" fmla="*/ 330 h 733"/>
                <a:gd name="T46" fmla="*/ 331 w 613"/>
                <a:gd name="T47" fmla="*/ 347 h 733"/>
                <a:gd name="T48" fmla="*/ 475 w 613"/>
                <a:gd name="T49" fmla="*/ 222 h 733"/>
                <a:gd name="T50" fmla="*/ 484 w 613"/>
                <a:gd name="T51" fmla="*/ 154 h 733"/>
                <a:gd name="T52" fmla="*/ 606 w 613"/>
                <a:gd name="T53" fmla="*/ 7 h 733"/>
                <a:gd name="T54" fmla="*/ 459 w 613"/>
                <a:gd name="T55" fmla="*/ 130 h 733"/>
                <a:gd name="T56" fmla="*/ 392 w 613"/>
                <a:gd name="T57" fmla="*/ 142 h 733"/>
                <a:gd name="T58" fmla="*/ 270 w 613"/>
                <a:gd name="T59" fmla="*/ 156 h 733"/>
                <a:gd name="T60" fmla="*/ 265 w 613"/>
                <a:gd name="T61" fmla="*/ 151 h 733"/>
                <a:gd name="T62" fmla="*/ 185 w 613"/>
                <a:gd name="T63" fmla="*/ 123 h 733"/>
                <a:gd name="T64" fmla="*/ 163 w 613"/>
                <a:gd name="T65" fmla="*/ 132 h 733"/>
                <a:gd name="T66" fmla="*/ 126 w 613"/>
                <a:gd name="T67" fmla="*/ 132 h 733"/>
                <a:gd name="T68" fmla="*/ 103 w 613"/>
                <a:gd name="T69" fmla="*/ 123 h 733"/>
                <a:gd name="T70" fmla="*/ 0 w 613"/>
                <a:gd name="T71" fmla="*/ 194 h 733"/>
                <a:gd name="T72" fmla="*/ 30 w 613"/>
                <a:gd name="T73" fmla="*/ 446 h 733"/>
                <a:gd name="T74" fmla="*/ 88 w 613"/>
                <a:gd name="T75" fmla="*/ 733 h 733"/>
                <a:gd name="T76" fmla="*/ 200 w 613"/>
                <a:gd name="T77" fmla="*/ 733 h 733"/>
                <a:gd name="T78" fmla="*/ 259 w 613"/>
                <a:gd name="T79" fmla="*/ 446 h 733"/>
                <a:gd name="T80" fmla="*/ 289 w 613"/>
                <a:gd name="T81" fmla="*/ 327 h 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13" h="733">
                  <a:moveTo>
                    <a:pt x="265" y="266"/>
                  </a:moveTo>
                  <a:cubicBezTo>
                    <a:pt x="259" y="268"/>
                    <a:pt x="254" y="275"/>
                    <a:pt x="254" y="282"/>
                  </a:cubicBezTo>
                  <a:lnTo>
                    <a:pt x="254" y="403"/>
                  </a:lnTo>
                  <a:cubicBezTo>
                    <a:pt x="254" y="409"/>
                    <a:pt x="250" y="414"/>
                    <a:pt x="244" y="415"/>
                  </a:cubicBezTo>
                  <a:cubicBezTo>
                    <a:pt x="243" y="415"/>
                    <a:pt x="242" y="415"/>
                    <a:pt x="241" y="415"/>
                  </a:cubicBezTo>
                  <a:cubicBezTo>
                    <a:pt x="232" y="415"/>
                    <a:pt x="224" y="422"/>
                    <a:pt x="224" y="432"/>
                  </a:cubicBezTo>
                  <a:lnTo>
                    <a:pt x="224" y="675"/>
                  </a:lnTo>
                  <a:cubicBezTo>
                    <a:pt x="224" y="688"/>
                    <a:pt x="214" y="699"/>
                    <a:pt x="200" y="699"/>
                  </a:cubicBezTo>
                  <a:cubicBezTo>
                    <a:pt x="187" y="699"/>
                    <a:pt x="177" y="688"/>
                    <a:pt x="177" y="675"/>
                  </a:cubicBezTo>
                  <a:lnTo>
                    <a:pt x="177" y="469"/>
                  </a:lnTo>
                  <a:cubicBezTo>
                    <a:pt x="177" y="452"/>
                    <a:pt x="163" y="437"/>
                    <a:pt x="145" y="437"/>
                  </a:cubicBezTo>
                  <a:lnTo>
                    <a:pt x="144" y="437"/>
                  </a:lnTo>
                  <a:lnTo>
                    <a:pt x="144" y="437"/>
                  </a:lnTo>
                  <a:cubicBezTo>
                    <a:pt x="126" y="437"/>
                    <a:pt x="112" y="452"/>
                    <a:pt x="112" y="469"/>
                  </a:cubicBezTo>
                  <a:lnTo>
                    <a:pt x="112" y="675"/>
                  </a:lnTo>
                  <a:cubicBezTo>
                    <a:pt x="112" y="688"/>
                    <a:pt x="101" y="699"/>
                    <a:pt x="88" y="699"/>
                  </a:cubicBezTo>
                  <a:cubicBezTo>
                    <a:pt x="75" y="699"/>
                    <a:pt x="64" y="688"/>
                    <a:pt x="64" y="675"/>
                  </a:cubicBezTo>
                  <a:lnTo>
                    <a:pt x="64" y="432"/>
                  </a:lnTo>
                  <a:cubicBezTo>
                    <a:pt x="64" y="422"/>
                    <a:pt x="57" y="415"/>
                    <a:pt x="47" y="415"/>
                  </a:cubicBezTo>
                  <a:cubicBezTo>
                    <a:pt x="46" y="415"/>
                    <a:pt x="45" y="415"/>
                    <a:pt x="45" y="415"/>
                  </a:cubicBezTo>
                  <a:cubicBezTo>
                    <a:pt x="39" y="414"/>
                    <a:pt x="34" y="409"/>
                    <a:pt x="34" y="403"/>
                  </a:cubicBezTo>
                  <a:lnTo>
                    <a:pt x="34" y="195"/>
                  </a:lnTo>
                  <a:cubicBezTo>
                    <a:pt x="38" y="171"/>
                    <a:pt x="78" y="162"/>
                    <a:pt x="101" y="159"/>
                  </a:cubicBezTo>
                  <a:lnTo>
                    <a:pt x="129" y="212"/>
                  </a:lnTo>
                  <a:cubicBezTo>
                    <a:pt x="132" y="218"/>
                    <a:pt x="138" y="221"/>
                    <a:pt x="144" y="221"/>
                  </a:cubicBezTo>
                  <a:cubicBezTo>
                    <a:pt x="151" y="221"/>
                    <a:pt x="156" y="218"/>
                    <a:pt x="159" y="212"/>
                  </a:cubicBezTo>
                  <a:lnTo>
                    <a:pt x="188" y="159"/>
                  </a:lnTo>
                  <a:cubicBezTo>
                    <a:pt x="195" y="160"/>
                    <a:pt x="204" y="162"/>
                    <a:pt x="213" y="164"/>
                  </a:cubicBezTo>
                  <a:cubicBezTo>
                    <a:pt x="215" y="165"/>
                    <a:pt x="216" y="165"/>
                    <a:pt x="218" y="165"/>
                  </a:cubicBezTo>
                  <a:cubicBezTo>
                    <a:pt x="222" y="166"/>
                    <a:pt x="235" y="172"/>
                    <a:pt x="245" y="179"/>
                  </a:cubicBezTo>
                  <a:cubicBezTo>
                    <a:pt x="245" y="180"/>
                    <a:pt x="246" y="180"/>
                    <a:pt x="246" y="181"/>
                  </a:cubicBezTo>
                  <a:cubicBezTo>
                    <a:pt x="247" y="181"/>
                    <a:pt x="247" y="181"/>
                    <a:pt x="247" y="181"/>
                  </a:cubicBezTo>
                  <a:lnTo>
                    <a:pt x="318" y="245"/>
                  </a:lnTo>
                  <a:cubicBezTo>
                    <a:pt x="325" y="252"/>
                    <a:pt x="335" y="251"/>
                    <a:pt x="342" y="245"/>
                  </a:cubicBezTo>
                  <a:lnTo>
                    <a:pt x="417" y="166"/>
                  </a:lnTo>
                  <a:cubicBezTo>
                    <a:pt x="421" y="161"/>
                    <a:pt x="427" y="159"/>
                    <a:pt x="434" y="159"/>
                  </a:cubicBezTo>
                  <a:cubicBezTo>
                    <a:pt x="440" y="159"/>
                    <a:pt x="445" y="161"/>
                    <a:pt x="450" y="165"/>
                  </a:cubicBezTo>
                  <a:cubicBezTo>
                    <a:pt x="454" y="169"/>
                    <a:pt x="457" y="175"/>
                    <a:pt x="457" y="181"/>
                  </a:cubicBezTo>
                  <a:cubicBezTo>
                    <a:pt x="457" y="187"/>
                    <a:pt x="455" y="193"/>
                    <a:pt x="450" y="198"/>
                  </a:cubicBezTo>
                  <a:lnTo>
                    <a:pt x="348" y="305"/>
                  </a:lnTo>
                  <a:cubicBezTo>
                    <a:pt x="344" y="310"/>
                    <a:pt x="338" y="312"/>
                    <a:pt x="331" y="312"/>
                  </a:cubicBezTo>
                  <a:cubicBezTo>
                    <a:pt x="326" y="312"/>
                    <a:pt x="321" y="310"/>
                    <a:pt x="317" y="307"/>
                  </a:cubicBezTo>
                  <a:lnTo>
                    <a:pt x="284" y="270"/>
                  </a:lnTo>
                  <a:cubicBezTo>
                    <a:pt x="279" y="265"/>
                    <a:pt x="272" y="263"/>
                    <a:pt x="265" y="266"/>
                  </a:cubicBezTo>
                  <a:close/>
                  <a:moveTo>
                    <a:pt x="289" y="327"/>
                  </a:moveTo>
                  <a:lnTo>
                    <a:pt x="292" y="330"/>
                  </a:lnTo>
                  <a:cubicBezTo>
                    <a:pt x="292" y="331"/>
                    <a:pt x="292" y="331"/>
                    <a:pt x="293" y="332"/>
                  </a:cubicBezTo>
                  <a:cubicBezTo>
                    <a:pt x="303" y="341"/>
                    <a:pt x="317" y="347"/>
                    <a:pt x="331" y="347"/>
                  </a:cubicBezTo>
                  <a:cubicBezTo>
                    <a:pt x="347" y="347"/>
                    <a:pt x="362" y="340"/>
                    <a:pt x="373" y="329"/>
                  </a:cubicBezTo>
                  <a:lnTo>
                    <a:pt x="475" y="222"/>
                  </a:lnTo>
                  <a:cubicBezTo>
                    <a:pt x="486" y="210"/>
                    <a:pt x="492" y="196"/>
                    <a:pt x="491" y="180"/>
                  </a:cubicBezTo>
                  <a:cubicBezTo>
                    <a:pt x="491" y="171"/>
                    <a:pt x="489" y="162"/>
                    <a:pt x="484" y="154"/>
                  </a:cubicBezTo>
                  <a:lnTo>
                    <a:pt x="606" y="31"/>
                  </a:lnTo>
                  <a:cubicBezTo>
                    <a:pt x="613" y="24"/>
                    <a:pt x="613" y="13"/>
                    <a:pt x="606" y="7"/>
                  </a:cubicBezTo>
                  <a:cubicBezTo>
                    <a:pt x="599" y="0"/>
                    <a:pt x="588" y="0"/>
                    <a:pt x="582" y="7"/>
                  </a:cubicBezTo>
                  <a:lnTo>
                    <a:pt x="459" y="130"/>
                  </a:lnTo>
                  <a:cubicBezTo>
                    <a:pt x="451" y="126"/>
                    <a:pt x="443" y="124"/>
                    <a:pt x="434" y="124"/>
                  </a:cubicBezTo>
                  <a:cubicBezTo>
                    <a:pt x="418" y="124"/>
                    <a:pt x="403" y="131"/>
                    <a:pt x="392" y="142"/>
                  </a:cubicBezTo>
                  <a:lnTo>
                    <a:pt x="329" y="209"/>
                  </a:lnTo>
                  <a:lnTo>
                    <a:pt x="270" y="156"/>
                  </a:lnTo>
                  <a:cubicBezTo>
                    <a:pt x="269" y="154"/>
                    <a:pt x="267" y="153"/>
                    <a:pt x="266" y="152"/>
                  </a:cubicBezTo>
                  <a:cubicBezTo>
                    <a:pt x="266" y="152"/>
                    <a:pt x="265" y="151"/>
                    <a:pt x="265" y="151"/>
                  </a:cubicBezTo>
                  <a:cubicBezTo>
                    <a:pt x="254" y="144"/>
                    <a:pt x="234" y="132"/>
                    <a:pt x="221" y="131"/>
                  </a:cubicBezTo>
                  <a:cubicBezTo>
                    <a:pt x="207" y="127"/>
                    <a:pt x="194" y="125"/>
                    <a:pt x="185" y="123"/>
                  </a:cubicBezTo>
                  <a:cubicBezTo>
                    <a:pt x="184" y="123"/>
                    <a:pt x="182" y="123"/>
                    <a:pt x="181" y="123"/>
                  </a:cubicBezTo>
                  <a:cubicBezTo>
                    <a:pt x="174" y="122"/>
                    <a:pt x="166" y="125"/>
                    <a:pt x="163" y="132"/>
                  </a:cubicBezTo>
                  <a:lnTo>
                    <a:pt x="144" y="167"/>
                  </a:lnTo>
                  <a:lnTo>
                    <a:pt x="126" y="132"/>
                  </a:lnTo>
                  <a:cubicBezTo>
                    <a:pt x="122" y="125"/>
                    <a:pt x="115" y="122"/>
                    <a:pt x="108" y="123"/>
                  </a:cubicBezTo>
                  <a:cubicBezTo>
                    <a:pt x="106" y="123"/>
                    <a:pt x="105" y="123"/>
                    <a:pt x="103" y="123"/>
                  </a:cubicBezTo>
                  <a:cubicBezTo>
                    <a:pt x="77" y="127"/>
                    <a:pt x="6" y="138"/>
                    <a:pt x="0" y="192"/>
                  </a:cubicBezTo>
                  <a:cubicBezTo>
                    <a:pt x="0" y="193"/>
                    <a:pt x="0" y="194"/>
                    <a:pt x="0" y="194"/>
                  </a:cubicBezTo>
                  <a:lnTo>
                    <a:pt x="0" y="403"/>
                  </a:lnTo>
                  <a:cubicBezTo>
                    <a:pt x="0" y="423"/>
                    <a:pt x="12" y="440"/>
                    <a:pt x="30" y="446"/>
                  </a:cubicBezTo>
                  <a:lnTo>
                    <a:pt x="30" y="675"/>
                  </a:lnTo>
                  <a:cubicBezTo>
                    <a:pt x="30" y="707"/>
                    <a:pt x="56" y="733"/>
                    <a:pt x="88" y="733"/>
                  </a:cubicBezTo>
                  <a:cubicBezTo>
                    <a:pt x="115" y="733"/>
                    <a:pt x="137" y="715"/>
                    <a:pt x="144" y="690"/>
                  </a:cubicBezTo>
                  <a:cubicBezTo>
                    <a:pt x="151" y="715"/>
                    <a:pt x="174" y="733"/>
                    <a:pt x="200" y="733"/>
                  </a:cubicBezTo>
                  <a:cubicBezTo>
                    <a:pt x="233" y="733"/>
                    <a:pt x="259" y="707"/>
                    <a:pt x="259" y="675"/>
                  </a:cubicBezTo>
                  <a:lnTo>
                    <a:pt x="259" y="446"/>
                  </a:lnTo>
                  <a:cubicBezTo>
                    <a:pt x="276" y="440"/>
                    <a:pt x="289" y="423"/>
                    <a:pt x="289" y="403"/>
                  </a:cubicBezTo>
                  <a:lnTo>
                    <a:pt x="289" y="327"/>
                  </a:ln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82" name="Checklist" descr="{&quot;Key&quot;:&quot;POWER_USER_SHAPE_ICON&quot;,&quot;Value&quot;:&quot;POWER_USER_SHAPE_ICON_STYLE_1&quot;}">
            <a:extLst>
              <a:ext uri="{FF2B5EF4-FFF2-40B4-BE49-F238E27FC236}">
                <a16:creationId xmlns:a16="http://schemas.microsoft.com/office/drawing/2014/main" id="{6D4419A7-7E1E-1F1C-142A-AE9716946D0E}"/>
              </a:ext>
            </a:extLst>
          </p:cNvPr>
          <p:cNvGrpSpPr>
            <a:grpSpLocks noChangeAspect="1"/>
          </p:cNvGrpSpPr>
          <p:nvPr>
            <p:custDataLst>
              <p:tags r:id="rId5"/>
            </p:custDataLst>
          </p:nvPr>
        </p:nvGrpSpPr>
        <p:grpSpPr bwMode="auto">
          <a:xfrm>
            <a:off x="491771" y="2997916"/>
            <a:ext cx="432000" cy="571310"/>
            <a:chOff x="91" y="47"/>
            <a:chExt cx="307" cy="406"/>
          </a:xfrm>
          <a:solidFill>
            <a:schemeClr val="bg1"/>
          </a:solidFill>
        </p:grpSpPr>
        <p:sp>
          <p:nvSpPr>
            <p:cNvPr id="1183" name="Checklist">
              <a:extLst>
                <a:ext uri="{FF2B5EF4-FFF2-40B4-BE49-F238E27FC236}">
                  <a16:creationId xmlns:a16="http://schemas.microsoft.com/office/drawing/2014/main" id="{FEF771D1-9E75-CA41-7721-C776FA25E4AC}"/>
                </a:ext>
              </a:extLst>
            </p:cNvPr>
            <p:cNvSpPr>
              <a:spLocks/>
            </p:cNvSpPr>
            <p:nvPr>
              <p:custDataLst>
                <p:tags r:id="rId7"/>
              </p:custDataLst>
            </p:nvPr>
          </p:nvSpPr>
          <p:spPr bwMode="auto">
            <a:xfrm>
              <a:off x="136" y="326"/>
              <a:ext cx="76" cy="75"/>
            </a:xfrm>
            <a:custGeom>
              <a:avLst/>
              <a:gdLst>
                <a:gd name="T0" fmla="*/ 174 w 194"/>
                <a:gd name="T1" fmla="*/ 193 h 193"/>
                <a:gd name="T2" fmla="*/ 21 w 194"/>
                <a:gd name="T3" fmla="*/ 193 h 193"/>
                <a:gd name="T4" fmla="*/ 0 w 194"/>
                <a:gd name="T5" fmla="*/ 172 h 193"/>
                <a:gd name="T6" fmla="*/ 0 w 194"/>
                <a:gd name="T7" fmla="*/ 20 h 193"/>
                <a:gd name="T8" fmla="*/ 21 w 194"/>
                <a:gd name="T9" fmla="*/ 0 h 193"/>
                <a:gd name="T10" fmla="*/ 174 w 194"/>
                <a:gd name="T11" fmla="*/ 0 h 193"/>
                <a:gd name="T12" fmla="*/ 194 w 194"/>
                <a:gd name="T13" fmla="*/ 20 h 193"/>
                <a:gd name="T14" fmla="*/ 194 w 194"/>
                <a:gd name="T15" fmla="*/ 172 h 193"/>
                <a:gd name="T16" fmla="*/ 174 w 194"/>
                <a:gd name="T17" fmla="*/ 193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4" h="193">
                  <a:moveTo>
                    <a:pt x="174" y="193"/>
                  </a:moveTo>
                  <a:lnTo>
                    <a:pt x="21" y="193"/>
                  </a:lnTo>
                  <a:cubicBezTo>
                    <a:pt x="9" y="193"/>
                    <a:pt x="0" y="183"/>
                    <a:pt x="0" y="172"/>
                  </a:cubicBezTo>
                  <a:lnTo>
                    <a:pt x="0" y="20"/>
                  </a:lnTo>
                  <a:cubicBezTo>
                    <a:pt x="0" y="9"/>
                    <a:pt x="9" y="0"/>
                    <a:pt x="21" y="0"/>
                  </a:cubicBezTo>
                  <a:lnTo>
                    <a:pt x="174" y="0"/>
                  </a:lnTo>
                  <a:cubicBezTo>
                    <a:pt x="185" y="0"/>
                    <a:pt x="194" y="9"/>
                    <a:pt x="194" y="20"/>
                  </a:cubicBezTo>
                  <a:lnTo>
                    <a:pt x="194" y="172"/>
                  </a:lnTo>
                  <a:cubicBezTo>
                    <a:pt x="194" y="183"/>
                    <a:pt x="185" y="193"/>
                    <a:pt x="174" y="193"/>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4" name="Checklist">
              <a:extLst>
                <a:ext uri="{FF2B5EF4-FFF2-40B4-BE49-F238E27FC236}">
                  <a16:creationId xmlns:a16="http://schemas.microsoft.com/office/drawing/2014/main" id="{B6068EBB-92D1-06D8-E052-46C370044F3D}"/>
                </a:ext>
              </a:extLst>
            </p:cNvPr>
            <p:cNvSpPr>
              <a:spLocks noEditPoints="1"/>
            </p:cNvSpPr>
            <p:nvPr>
              <p:custDataLst>
                <p:tags r:id="rId8"/>
              </p:custDataLst>
            </p:nvPr>
          </p:nvSpPr>
          <p:spPr bwMode="auto">
            <a:xfrm>
              <a:off x="91" y="47"/>
              <a:ext cx="307" cy="406"/>
            </a:xfrm>
            <a:custGeom>
              <a:avLst/>
              <a:gdLst>
                <a:gd name="T0" fmla="*/ 714 w 787"/>
                <a:gd name="T1" fmla="*/ 1038 h 1038"/>
                <a:gd name="T2" fmla="*/ 72 w 787"/>
                <a:gd name="T3" fmla="*/ 1038 h 1038"/>
                <a:gd name="T4" fmla="*/ 0 w 787"/>
                <a:gd name="T5" fmla="*/ 965 h 1038"/>
                <a:gd name="T6" fmla="*/ 0 w 787"/>
                <a:gd name="T7" fmla="*/ 72 h 1038"/>
                <a:gd name="T8" fmla="*/ 72 w 787"/>
                <a:gd name="T9" fmla="*/ 0 h 1038"/>
                <a:gd name="T10" fmla="*/ 714 w 787"/>
                <a:gd name="T11" fmla="*/ 0 h 1038"/>
                <a:gd name="T12" fmla="*/ 787 w 787"/>
                <a:gd name="T13" fmla="*/ 72 h 1038"/>
                <a:gd name="T14" fmla="*/ 787 w 787"/>
                <a:gd name="T15" fmla="*/ 965 h 1038"/>
                <a:gd name="T16" fmla="*/ 714 w 787"/>
                <a:gd name="T17" fmla="*/ 1038 h 1038"/>
                <a:gd name="T18" fmla="*/ 72 w 787"/>
                <a:gd name="T19" fmla="*/ 17 h 1038"/>
                <a:gd name="T20" fmla="*/ 17 w 787"/>
                <a:gd name="T21" fmla="*/ 72 h 1038"/>
                <a:gd name="T22" fmla="*/ 17 w 787"/>
                <a:gd name="T23" fmla="*/ 965 h 1038"/>
                <a:gd name="T24" fmla="*/ 72 w 787"/>
                <a:gd name="T25" fmla="*/ 1020 h 1038"/>
                <a:gd name="T26" fmla="*/ 714 w 787"/>
                <a:gd name="T27" fmla="*/ 1020 h 1038"/>
                <a:gd name="T28" fmla="*/ 770 w 787"/>
                <a:gd name="T29" fmla="*/ 965 h 1038"/>
                <a:gd name="T30" fmla="*/ 770 w 787"/>
                <a:gd name="T31" fmla="*/ 72 h 1038"/>
                <a:gd name="T32" fmla="*/ 714 w 787"/>
                <a:gd name="T33" fmla="*/ 17 h 1038"/>
                <a:gd name="T34" fmla="*/ 72 w 787"/>
                <a:gd name="T35" fmla="*/ 17 h 10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87" h="1038">
                  <a:moveTo>
                    <a:pt x="714" y="1038"/>
                  </a:moveTo>
                  <a:lnTo>
                    <a:pt x="72" y="1038"/>
                  </a:lnTo>
                  <a:cubicBezTo>
                    <a:pt x="32" y="1038"/>
                    <a:pt x="0" y="1005"/>
                    <a:pt x="0" y="965"/>
                  </a:cubicBezTo>
                  <a:lnTo>
                    <a:pt x="0" y="72"/>
                  </a:lnTo>
                  <a:cubicBezTo>
                    <a:pt x="0" y="32"/>
                    <a:pt x="32" y="0"/>
                    <a:pt x="72" y="0"/>
                  </a:cubicBezTo>
                  <a:lnTo>
                    <a:pt x="714" y="0"/>
                  </a:lnTo>
                  <a:cubicBezTo>
                    <a:pt x="754" y="0"/>
                    <a:pt x="787" y="32"/>
                    <a:pt x="787" y="72"/>
                  </a:cubicBezTo>
                  <a:lnTo>
                    <a:pt x="787" y="965"/>
                  </a:lnTo>
                  <a:cubicBezTo>
                    <a:pt x="787" y="1005"/>
                    <a:pt x="754" y="1038"/>
                    <a:pt x="714" y="1038"/>
                  </a:cubicBezTo>
                  <a:close/>
                  <a:moveTo>
                    <a:pt x="72" y="17"/>
                  </a:moveTo>
                  <a:cubicBezTo>
                    <a:pt x="41" y="17"/>
                    <a:pt x="17" y="42"/>
                    <a:pt x="17" y="72"/>
                  </a:cubicBezTo>
                  <a:lnTo>
                    <a:pt x="17" y="965"/>
                  </a:lnTo>
                  <a:cubicBezTo>
                    <a:pt x="17" y="996"/>
                    <a:pt x="41" y="1020"/>
                    <a:pt x="72" y="1020"/>
                  </a:cubicBezTo>
                  <a:lnTo>
                    <a:pt x="714" y="1020"/>
                  </a:lnTo>
                  <a:cubicBezTo>
                    <a:pt x="745" y="1020"/>
                    <a:pt x="770" y="996"/>
                    <a:pt x="770" y="965"/>
                  </a:cubicBezTo>
                  <a:lnTo>
                    <a:pt x="770" y="72"/>
                  </a:lnTo>
                  <a:cubicBezTo>
                    <a:pt x="770" y="42"/>
                    <a:pt x="745" y="17"/>
                    <a:pt x="714" y="17"/>
                  </a:cubicBezTo>
                  <a:lnTo>
                    <a:pt x="72" y="17"/>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5" name="Checklist">
              <a:extLst>
                <a:ext uri="{FF2B5EF4-FFF2-40B4-BE49-F238E27FC236}">
                  <a16:creationId xmlns:a16="http://schemas.microsoft.com/office/drawing/2014/main" id="{E0D6AAC6-39FC-7814-FA87-576B5165C661}"/>
                </a:ext>
              </a:extLst>
            </p:cNvPr>
            <p:cNvSpPr>
              <a:spLocks/>
            </p:cNvSpPr>
            <p:nvPr>
              <p:custDataLst>
                <p:tags r:id="rId9"/>
              </p:custDataLst>
            </p:nvPr>
          </p:nvSpPr>
          <p:spPr bwMode="auto">
            <a:xfrm>
              <a:off x="136" y="99"/>
              <a:ext cx="76" cy="76"/>
            </a:xfrm>
            <a:custGeom>
              <a:avLst/>
              <a:gdLst>
                <a:gd name="T0" fmla="*/ 174 w 194"/>
                <a:gd name="T1" fmla="*/ 194 h 194"/>
                <a:gd name="T2" fmla="*/ 21 w 194"/>
                <a:gd name="T3" fmla="*/ 194 h 194"/>
                <a:gd name="T4" fmla="*/ 0 w 194"/>
                <a:gd name="T5" fmla="*/ 173 h 194"/>
                <a:gd name="T6" fmla="*/ 0 w 194"/>
                <a:gd name="T7" fmla="*/ 20 h 194"/>
                <a:gd name="T8" fmla="*/ 21 w 194"/>
                <a:gd name="T9" fmla="*/ 0 h 194"/>
                <a:gd name="T10" fmla="*/ 174 w 194"/>
                <a:gd name="T11" fmla="*/ 0 h 194"/>
                <a:gd name="T12" fmla="*/ 194 w 194"/>
                <a:gd name="T13" fmla="*/ 20 h 194"/>
                <a:gd name="T14" fmla="*/ 194 w 194"/>
                <a:gd name="T15" fmla="*/ 172 h 194"/>
                <a:gd name="T16" fmla="*/ 174 w 194"/>
                <a:gd name="T17" fmla="*/ 194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4" h="194">
                  <a:moveTo>
                    <a:pt x="174" y="194"/>
                  </a:moveTo>
                  <a:lnTo>
                    <a:pt x="21" y="194"/>
                  </a:lnTo>
                  <a:cubicBezTo>
                    <a:pt x="9" y="194"/>
                    <a:pt x="0" y="184"/>
                    <a:pt x="0" y="173"/>
                  </a:cubicBezTo>
                  <a:lnTo>
                    <a:pt x="0" y="20"/>
                  </a:lnTo>
                  <a:cubicBezTo>
                    <a:pt x="0" y="9"/>
                    <a:pt x="9" y="0"/>
                    <a:pt x="21" y="0"/>
                  </a:cubicBezTo>
                  <a:lnTo>
                    <a:pt x="174" y="0"/>
                  </a:lnTo>
                  <a:cubicBezTo>
                    <a:pt x="185" y="0"/>
                    <a:pt x="194" y="9"/>
                    <a:pt x="194" y="20"/>
                  </a:cubicBezTo>
                  <a:lnTo>
                    <a:pt x="194" y="172"/>
                  </a:lnTo>
                  <a:cubicBezTo>
                    <a:pt x="194" y="184"/>
                    <a:pt x="185" y="194"/>
                    <a:pt x="174" y="194"/>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6" name="Checklist">
              <a:extLst>
                <a:ext uri="{FF2B5EF4-FFF2-40B4-BE49-F238E27FC236}">
                  <a16:creationId xmlns:a16="http://schemas.microsoft.com/office/drawing/2014/main" id="{CBB25675-30B5-2858-2FFF-B2F0FEC5E110}"/>
                </a:ext>
              </a:extLst>
            </p:cNvPr>
            <p:cNvSpPr>
              <a:spLocks noEditPoints="1"/>
            </p:cNvSpPr>
            <p:nvPr>
              <p:custDataLst>
                <p:tags r:id="rId10"/>
              </p:custDataLst>
            </p:nvPr>
          </p:nvSpPr>
          <p:spPr bwMode="auto">
            <a:xfrm>
              <a:off x="132" y="95"/>
              <a:ext cx="83" cy="83"/>
            </a:xfrm>
            <a:custGeom>
              <a:avLst/>
              <a:gdLst>
                <a:gd name="T0" fmla="*/ 183 w 212"/>
                <a:gd name="T1" fmla="*/ 211 h 211"/>
                <a:gd name="T2" fmla="*/ 30 w 212"/>
                <a:gd name="T3" fmla="*/ 211 h 211"/>
                <a:gd name="T4" fmla="*/ 0 w 212"/>
                <a:gd name="T5" fmla="*/ 182 h 211"/>
                <a:gd name="T6" fmla="*/ 0 w 212"/>
                <a:gd name="T7" fmla="*/ 29 h 211"/>
                <a:gd name="T8" fmla="*/ 30 w 212"/>
                <a:gd name="T9" fmla="*/ 0 h 211"/>
                <a:gd name="T10" fmla="*/ 183 w 212"/>
                <a:gd name="T11" fmla="*/ 0 h 211"/>
                <a:gd name="T12" fmla="*/ 212 w 212"/>
                <a:gd name="T13" fmla="*/ 29 h 211"/>
                <a:gd name="T14" fmla="*/ 212 w 212"/>
                <a:gd name="T15" fmla="*/ 181 h 211"/>
                <a:gd name="T16" fmla="*/ 183 w 212"/>
                <a:gd name="T17" fmla="*/ 211 h 211"/>
                <a:gd name="T18" fmla="*/ 30 w 212"/>
                <a:gd name="T19" fmla="*/ 17 h 211"/>
                <a:gd name="T20" fmla="*/ 18 w 212"/>
                <a:gd name="T21" fmla="*/ 29 h 211"/>
                <a:gd name="T22" fmla="*/ 18 w 212"/>
                <a:gd name="T23" fmla="*/ 181 h 211"/>
                <a:gd name="T24" fmla="*/ 30 w 212"/>
                <a:gd name="T25" fmla="*/ 193 h 211"/>
                <a:gd name="T26" fmla="*/ 183 w 212"/>
                <a:gd name="T27" fmla="*/ 193 h 211"/>
                <a:gd name="T28" fmla="*/ 195 w 212"/>
                <a:gd name="T29" fmla="*/ 181 h 211"/>
                <a:gd name="T30" fmla="*/ 195 w 212"/>
                <a:gd name="T31" fmla="*/ 29 h 211"/>
                <a:gd name="T32" fmla="*/ 183 w 212"/>
                <a:gd name="T33" fmla="*/ 17 h 211"/>
                <a:gd name="T34" fmla="*/ 30 w 212"/>
                <a:gd name="T35" fmla="*/ 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211">
                  <a:moveTo>
                    <a:pt x="183" y="211"/>
                  </a:moveTo>
                  <a:lnTo>
                    <a:pt x="30" y="211"/>
                  </a:lnTo>
                  <a:cubicBezTo>
                    <a:pt x="13" y="211"/>
                    <a:pt x="0" y="198"/>
                    <a:pt x="0" y="182"/>
                  </a:cubicBezTo>
                  <a:lnTo>
                    <a:pt x="0" y="29"/>
                  </a:lnTo>
                  <a:cubicBezTo>
                    <a:pt x="0" y="13"/>
                    <a:pt x="13" y="0"/>
                    <a:pt x="30" y="0"/>
                  </a:cubicBezTo>
                  <a:lnTo>
                    <a:pt x="183" y="0"/>
                  </a:lnTo>
                  <a:cubicBezTo>
                    <a:pt x="199" y="0"/>
                    <a:pt x="212" y="13"/>
                    <a:pt x="212" y="29"/>
                  </a:cubicBezTo>
                  <a:lnTo>
                    <a:pt x="212" y="181"/>
                  </a:lnTo>
                  <a:cubicBezTo>
                    <a:pt x="212" y="198"/>
                    <a:pt x="199" y="211"/>
                    <a:pt x="183" y="211"/>
                  </a:cubicBezTo>
                  <a:close/>
                  <a:moveTo>
                    <a:pt x="30" y="17"/>
                  </a:moveTo>
                  <a:cubicBezTo>
                    <a:pt x="23" y="17"/>
                    <a:pt x="18" y="22"/>
                    <a:pt x="18" y="29"/>
                  </a:cubicBezTo>
                  <a:lnTo>
                    <a:pt x="18" y="181"/>
                  </a:lnTo>
                  <a:cubicBezTo>
                    <a:pt x="18" y="188"/>
                    <a:pt x="23" y="193"/>
                    <a:pt x="30" y="193"/>
                  </a:cubicBezTo>
                  <a:lnTo>
                    <a:pt x="183" y="193"/>
                  </a:lnTo>
                  <a:cubicBezTo>
                    <a:pt x="190" y="193"/>
                    <a:pt x="195" y="188"/>
                    <a:pt x="195" y="181"/>
                  </a:cubicBezTo>
                  <a:lnTo>
                    <a:pt x="195" y="29"/>
                  </a:lnTo>
                  <a:cubicBezTo>
                    <a:pt x="195" y="22"/>
                    <a:pt x="190" y="17"/>
                    <a:pt x="183" y="17"/>
                  </a:cubicBezTo>
                  <a:lnTo>
                    <a:pt x="30" y="17"/>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7" name="Checklist">
              <a:extLst>
                <a:ext uri="{FF2B5EF4-FFF2-40B4-BE49-F238E27FC236}">
                  <a16:creationId xmlns:a16="http://schemas.microsoft.com/office/drawing/2014/main" id="{E43DB4B2-8B65-8AEE-52B9-C99E93A4E635}"/>
                </a:ext>
              </a:extLst>
            </p:cNvPr>
            <p:cNvSpPr>
              <a:spLocks/>
            </p:cNvSpPr>
            <p:nvPr>
              <p:custDataLst>
                <p:tags r:id="rId11"/>
              </p:custDataLst>
            </p:nvPr>
          </p:nvSpPr>
          <p:spPr bwMode="auto">
            <a:xfrm>
              <a:off x="136" y="212"/>
              <a:ext cx="76" cy="76"/>
            </a:xfrm>
            <a:custGeom>
              <a:avLst/>
              <a:gdLst>
                <a:gd name="T0" fmla="*/ 174 w 194"/>
                <a:gd name="T1" fmla="*/ 194 h 194"/>
                <a:gd name="T2" fmla="*/ 21 w 194"/>
                <a:gd name="T3" fmla="*/ 194 h 194"/>
                <a:gd name="T4" fmla="*/ 0 w 194"/>
                <a:gd name="T5" fmla="*/ 173 h 194"/>
                <a:gd name="T6" fmla="*/ 0 w 194"/>
                <a:gd name="T7" fmla="*/ 20 h 194"/>
                <a:gd name="T8" fmla="*/ 21 w 194"/>
                <a:gd name="T9" fmla="*/ 0 h 194"/>
                <a:gd name="T10" fmla="*/ 174 w 194"/>
                <a:gd name="T11" fmla="*/ 0 h 194"/>
                <a:gd name="T12" fmla="*/ 194 w 194"/>
                <a:gd name="T13" fmla="*/ 20 h 194"/>
                <a:gd name="T14" fmla="*/ 194 w 194"/>
                <a:gd name="T15" fmla="*/ 173 h 194"/>
                <a:gd name="T16" fmla="*/ 174 w 194"/>
                <a:gd name="T17" fmla="*/ 194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4" h="194">
                  <a:moveTo>
                    <a:pt x="174" y="194"/>
                  </a:moveTo>
                  <a:lnTo>
                    <a:pt x="21" y="194"/>
                  </a:lnTo>
                  <a:cubicBezTo>
                    <a:pt x="9" y="194"/>
                    <a:pt x="0" y="184"/>
                    <a:pt x="0" y="173"/>
                  </a:cubicBezTo>
                  <a:lnTo>
                    <a:pt x="0" y="20"/>
                  </a:lnTo>
                  <a:cubicBezTo>
                    <a:pt x="0" y="9"/>
                    <a:pt x="9" y="0"/>
                    <a:pt x="21" y="0"/>
                  </a:cubicBezTo>
                  <a:lnTo>
                    <a:pt x="174" y="0"/>
                  </a:lnTo>
                  <a:cubicBezTo>
                    <a:pt x="185" y="0"/>
                    <a:pt x="194" y="9"/>
                    <a:pt x="194" y="20"/>
                  </a:cubicBezTo>
                  <a:lnTo>
                    <a:pt x="194" y="173"/>
                  </a:lnTo>
                  <a:cubicBezTo>
                    <a:pt x="194" y="184"/>
                    <a:pt x="185" y="194"/>
                    <a:pt x="174" y="194"/>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8" name="Checklist">
              <a:extLst>
                <a:ext uri="{FF2B5EF4-FFF2-40B4-BE49-F238E27FC236}">
                  <a16:creationId xmlns:a16="http://schemas.microsoft.com/office/drawing/2014/main" id="{39211342-0351-318A-4015-E5FB928969D3}"/>
                </a:ext>
              </a:extLst>
            </p:cNvPr>
            <p:cNvSpPr>
              <a:spLocks noEditPoints="1"/>
            </p:cNvSpPr>
            <p:nvPr>
              <p:custDataLst>
                <p:tags r:id="rId12"/>
              </p:custDataLst>
            </p:nvPr>
          </p:nvSpPr>
          <p:spPr bwMode="auto">
            <a:xfrm>
              <a:off x="132" y="209"/>
              <a:ext cx="83" cy="82"/>
            </a:xfrm>
            <a:custGeom>
              <a:avLst/>
              <a:gdLst>
                <a:gd name="T0" fmla="*/ 183 w 212"/>
                <a:gd name="T1" fmla="*/ 211 h 211"/>
                <a:gd name="T2" fmla="*/ 30 w 212"/>
                <a:gd name="T3" fmla="*/ 211 h 211"/>
                <a:gd name="T4" fmla="*/ 0 w 212"/>
                <a:gd name="T5" fmla="*/ 182 h 211"/>
                <a:gd name="T6" fmla="*/ 0 w 212"/>
                <a:gd name="T7" fmla="*/ 29 h 211"/>
                <a:gd name="T8" fmla="*/ 30 w 212"/>
                <a:gd name="T9" fmla="*/ 0 h 211"/>
                <a:gd name="T10" fmla="*/ 183 w 212"/>
                <a:gd name="T11" fmla="*/ 0 h 211"/>
                <a:gd name="T12" fmla="*/ 212 w 212"/>
                <a:gd name="T13" fmla="*/ 29 h 211"/>
                <a:gd name="T14" fmla="*/ 212 w 212"/>
                <a:gd name="T15" fmla="*/ 182 h 211"/>
                <a:gd name="T16" fmla="*/ 183 w 212"/>
                <a:gd name="T17" fmla="*/ 211 h 211"/>
                <a:gd name="T18" fmla="*/ 30 w 212"/>
                <a:gd name="T19" fmla="*/ 17 h 211"/>
                <a:gd name="T20" fmla="*/ 18 w 212"/>
                <a:gd name="T21" fmla="*/ 29 h 211"/>
                <a:gd name="T22" fmla="*/ 18 w 212"/>
                <a:gd name="T23" fmla="*/ 182 h 211"/>
                <a:gd name="T24" fmla="*/ 30 w 212"/>
                <a:gd name="T25" fmla="*/ 194 h 211"/>
                <a:gd name="T26" fmla="*/ 183 w 212"/>
                <a:gd name="T27" fmla="*/ 194 h 211"/>
                <a:gd name="T28" fmla="*/ 195 w 212"/>
                <a:gd name="T29" fmla="*/ 182 h 211"/>
                <a:gd name="T30" fmla="*/ 195 w 212"/>
                <a:gd name="T31" fmla="*/ 29 h 211"/>
                <a:gd name="T32" fmla="*/ 183 w 212"/>
                <a:gd name="T33" fmla="*/ 17 h 211"/>
                <a:gd name="T34" fmla="*/ 30 w 212"/>
                <a:gd name="T35" fmla="*/ 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211">
                  <a:moveTo>
                    <a:pt x="183" y="211"/>
                  </a:moveTo>
                  <a:lnTo>
                    <a:pt x="30" y="211"/>
                  </a:lnTo>
                  <a:cubicBezTo>
                    <a:pt x="13" y="211"/>
                    <a:pt x="0" y="198"/>
                    <a:pt x="0" y="182"/>
                  </a:cubicBezTo>
                  <a:lnTo>
                    <a:pt x="0" y="29"/>
                  </a:lnTo>
                  <a:cubicBezTo>
                    <a:pt x="0" y="13"/>
                    <a:pt x="13" y="0"/>
                    <a:pt x="30" y="0"/>
                  </a:cubicBezTo>
                  <a:lnTo>
                    <a:pt x="183" y="0"/>
                  </a:lnTo>
                  <a:cubicBezTo>
                    <a:pt x="199" y="0"/>
                    <a:pt x="212" y="13"/>
                    <a:pt x="212" y="29"/>
                  </a:cubicBezTo>
                  <a:lnTo>
                    <a:pt x="212" y="182"/>
                  </a:lnTo>
                  <a:cubicBezTo>
                    <a:pt x="212" y="198"/>
                    <a:pt x="199" y="211"/>
                    <a:pt x="183" y="211"/>
                  </a:cubicBezTo>
                  <a:close/>
                  <a:moveTo>
                    <a:pt x="30" y="17"/>
                  </a:moveTo>
                  <a:cubicBezTo>
                    <a:pt x="23" y="17"/>
                    <a:pt x="18" y="22"/>
                    <a:pt x="18" y="29"/>
                  </a:cubicBezTo>
                  <a:lnTo>
                    <a:pt x="18" y="182"/>
                  </a:lnTo>
                  <a:cubicBezTo>
                    <a:pt x="18" y="189"/>
                    <a:pt x="23" y="194"/>
                    <a:pt x="30" y="194"/>
                  </a:cubicBezTo>
                  <a:lnTo>
                    <a:pt x="183" y="194"/>
                  </a:lnTo>
                  <a:cubicBezTo>
                    <a:pt x="190" y="194"/>
                    <a:pt x="195" y="189"/>
                    <a:pt x="195" y="182"/>
                  </a:cubicBezTo>
                  <a:lnTo>
                    <a:pt x="195" y="29"/>
                  </a:lnTo>
                  <a:cubicBezTo>
                    <a:pt x="195" y="22"/>
                    <a:pt x="190" y="17"/>
                    <a:pt x="183" y="17"/>
                  </a:cubicBezTo>
                  <a:lnTo>
                    <a:pt x="30" y="17"/>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9" name="Checklist">
              <a:extLst>
                <a:ext uri="{FF2B5EF4-FFF2-40B4-BE49-F238E27FC236}">
                  <a16:creationId xmlns:a16="http://schemas.microsoft.com/office/drawing/2014/main" id="{967BE611-C425-D85B-3C77-E81CA1395C83}"/>
                </a:ext>
              </a:extLst>
            </p:cNvPr>
            <p:cNvSpPr>
              <a:spLocks noEditPoints="1"/>
            </p:cNvSpPr>
            <p:nvPr>
              <p:custDataLst>
                <p:tags r:id="rId13"/>
              </p:custDataLst>
            </p:nvPr>
          </p:nvSpPr>
          <p:spPr bwMode="auto">
            <a:xfrm>
              <a:off x="132" y="322"/>
              <a:ext cx="83" cy="82"/>
            </a:xfrm>
            <a:custGeom>
              <a:avLst/>
              <a:gdLst>
                <a:gd name="T0" fmla="*/ 183 w 212"/>
                <a:gd name="T1" fmla="*/ 210 h 210"/>
                <a:gd name="T2" fmla="*/ 30 w 212"/>
                <a:gd name="T3" fmla="*/ 210 h 210"/>
                <a:gd name="T4" fmla="*/ 0 w 212"/>
                <a:gd name="T5" fmla="*/ 181 h 210"/>
                <a:gd name="T6" fmla="*/ 0 w 212"/>
                <a:gd name="T7" fmla="*/ 29 h 210"/>
                <a:gd name="T8" fmla="*/ 30 w 212"/>
                <a:gd name="T9" fmla="*/ 0 h 210"/>
                <a:gd name="T10" fmla="*/ 183 w 212"/>
                <a:gd name="T11" fmla="*/ 0 h 210"/>
                <a:gd name="T12" fmla="*/ 212 w 212"/>
                <a:gd name="T13" fmla="*/ 29 h 210"/>
                <a:gd name="T14" fmla="*/ 212 w 212"/>
                <a:gd name="T15" fmla="*/ 181 h 210"/>
                <a:gd name="T16" fmla="*/ 183 w 212"/>
                <a:gd name="T17" fmla="*/ 210 h 210"/>
                <a:gd name="T18" fmla="*/ 30 w 212"/>
                <a:gd name="T19" fmla="*/ 16 h 210"/>
                <a:gd name="T20" fmla="*/ 18 w 212"/>
                <a:gd name="T21" fmla="*/ 28 h 210"/>
                <a:gd name="T22" fmla="*/ 18 w 212"/>
                <a:gd name="T23" fmla="*/ 180 h 210"/>
                <a:gd name="T24" fmla="*/ 30 w 212"/>
                <a:gd name="T25" fmla="*/ 192 h 210"/>
                <a:gd name="T26" fmla="*/ 183 w 212"/>
                <a:gd name="T27" fmla="*/ 192 h 210"/>
                <a:gd name="T28" fmla="*/ 195 w 212"/>
                <a:gd name="T29" fmla="*/ 180 h 210"/>
                <a:gd name="T30" fmla="*/ 195 w 212"/>
                <a:gd name="T31" fmla="*/ 29 h 210"/>
                <a:gd name="T32" fmla="*/ 183 w 212"/>
                <a:gd name="T33" fmla="*/ 17 h 210"/>
                <a:gd name="T34" fmla="*/ 30 w 212"/>
                <a:gd name="T35" fmla="*/ 17 h 210"/>
                <a:gd name="T36" fmla="*/ 30 w 212"/>
                <a:gd name="T37" fmla="*/ 1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2" h="210">
                  <a:moveTo>
                    <a:pt x="183" y="210"/>
                  </a:moveTo>
                  <a:lnTo>
                    <a:pt x="30" y="210"/>
                  </a:lnTo>
                  <a:cubicBezTo>
                    <a:pt x="13" y="210"/>
                    <a:pt x="0" y="197"/>
                    <a:pt x="0" y="181"/>
                  </a:cubicBezTo>
                  <a:lnTo>
                    <a:pt x="0" y="29"/>
                  </a:lnTo>
                  <a:cubicBezTo>
                    <a:pt x="0" y="13"/>
                    <a:pt x="13" y="0"/>
                    <a:pt x="30" y="0"/>
                  </a:cubicBezTo>
                  <a:lnTo>
                    <a:pt x="183" y="0"/>
                  </a:lnTo>
                  <a:cubicBezTo>
                    <a:pt x="199" y="0"/>
                    <a:pt x="212" y="13"/>
                    <a:pt x="212" y="29"/>
                  </a:cubicBezTo>
                  <a:lnTo>
                    <a:pt x="212" y="181"/>
                  </a:lnTo>
                  <a:cubicBezTo>
                    <a:pt x="212" y="197"/>
                    <a:pt x="199" y="210"/>
                    <a:pt x="183" y="210"/>
                  </a:cubicBezTo>
                  <a:close/>
                  <a:moveTo>
                    <a:pt x="30" y="16"/>
                  </a:moveTo>
                  <a:cubicBezTo>
                    <a:pt x="23" y="16"/>
                    <a:pt x="18" y="21"/>
                    <a:pt x="18" y="28"/>
                  </a:cubicBezTo>
                  <a:lnTo>
                    <a:pt x="18" y="180"/>
                  </a:lnTo>
                  <a:cubicBezTo>
                    <a:pt x="18" y="187"/>
                    <a:pt x="23" y="192"/>
                    <a:pt x="30" y="192"/>
                  </a:cubicBezTo>
                  <a:lnTo>
                    <a:pt x="183" y="192"/>
                  </a:lnTo>
                  <a:cubicBezTo>
                    <a:pt x="190" y="192"/>
                    <a:pt x="195" y="187"/>
                    <a:pt x="195" y="180"/>
                  </a:cubicBezTo>
                  <a:lnTo>
                    <a:pt x="195" y="29"/>
                  </a:lnTo>
                  <a:cubicBezTo>
                    <a:pt x="195" y="22"/>
                    <a:pt x="190" y="17"/>
                    <a:pt x="183" y="17"/>
                  </a:cubicBezTo>
                  <a:lnTo>
                    <a:pt x="30" y="17"/>
                  </a:lnTo>
                  <a:lnTo>
                    <a:pt x="30" y="16"/>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0" name="Checklist">
              <a:extLst>
                <a:ext uri="{FF2B5EF4-FFF2-40B4-BE49-F238E27FC236}">
                  <a16:creationId xmlns:a16="http://schemas.microsoft.com/office/drawing/2014/main" id="{B11EB431-BCFF-F903-FA88-8F3AA4610BD4}"/>
                </a:ext>
              </a:extLst>
            </p:cNvPr>
            <p:cNvSpPr>
              <a:spLocks noEditPoints="1"/>
            </p:cNvSpPr>
            <p:nvPr>
              <p:custDataLst>
                <p:tags r:id="rId14"/>
              </p:custDataLst>
            </p:nvPr>
          </p:nvSpPr>
          <p:spPr bwMode="auto">
            <a:xfrm>
              <a:off x="132" y="95"/>
              <a:ext cx="83" cy="83"/>
            </a:xfrm>
            <a:custGeom>
              <a:avLst/>
              <a:gdLst>
                <a:gd name="T0" fmla="*/ 183 w 212"/>
                <a:gd name="T1" fmla="*/ 211 h 211"/>
                <a:gd name="T2" fmla="*/ 30 w 212"/>
                <a:gd name="T3" fmla="*/ 211 h 211"/>
                <a:gd name="T4" fmla="*/ 0 w 212"/>
                <a:gd name="T5" fmla="*/ 182 h 211"/>
                <a:gd name="T6" fmla="*/ 0 w 212"/>
                <a:gd name="T7" fmla="*/ 29 h 211"/>
                <a:gd name="T8" fmla="*/ 30 w 212"/>
                <a:gd name="T9" fmla="*/ 0 h 211"/>
                <a:gd name="T10" fmla="*/ 183 w 212"/>
                <a:gd name="T11" fmla="*/ 0 h 211"/>
                <a:gd name="T12" fmla="*/ 212 w 212"/>
                <a:gd name="T13" fmla="*/ 29 h 211"/>
                <a:gd name="T14" fmla="*/ 212 w 212"/>
                <a:gd name="T15" fmla="*/ 181 h 211"/>
                <a:gd name="T16" fmla="*/ 183 w 212"/>
                <a:gd name="T17" fmla="*/ 211 h 211"/>
                <a:gd name="T18" fmla="*/ 30 w 212"/>
                <a:gd name="T19" fmla="*/ 17 h 211"/>
                <a:gd name="T20" fmla="*/ 18 w 212"/>
                <a:gd name="T21" fmla="*/ 29 h 211"/>
                <a:gd name="T22" fmla="*/ 18 w 212"/>
                <a:gd name="T23" fmla="*/ 181 h 211"/>
                <a:gd name="T24" fmla="*/ 30 w 212"/>
                <a:gd name="T25" fmla="*/ 193 h 211"/>
                <a:gd name="T26" fmla="*/ 183 w 212"/>
                <a:gd name="T27" fmla="*/ 193 h 211"/>
                <a:gd name="T28" fmla="*/ 195 w 212"/>
                <a:gd name="T29" fmla="*/ 181 h 211"/>
                <a:gd name="T30" fmla="*/ 195 w 212"/>
                <a:gd name="T31" fmla="*/ 29 h 211"/>
                <a:gd name="T32" fmla="*/ 183 w 212"/>
                <a:gd name="T33" fmla="*/ 17 h 211"/>
                <a:gd name="T34" fmla="*/ 30 w 212"/>
                <a:gd name="T35" fmla="*/ 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211">
                  <a:moveTo>
                    <a:pt x="183" y="211"/>
                  </a:moveTo>
                  <a:lnTo>
                    <a:pt x="30" y="211"/>
                  </a:lnTo>
                  <a:cubicBezTo>
                    <a:pt x="13" y="211"/>
                    <a:pt x="0" y="198"/>
                    <a:pt x="0" y="182"/>
                  </a:cubicBezTo>
                  <a:lnTo>
                    <a:pt x="0" y="29"/>
                  </a:lnTo>
                  <a:cubicBezTo>
                    <a:pt x="0" y="13"/>
                    <a:pt x="13" y="0"/>
                    <a:pt x="30" y="0"/>
                  </a:cubicBezTo>
                  <a:lnTo>
                    <a:pt x="183" y="0"/>
                  </a:lnTo>
                  <a:cubicBezTo>
                    <a:pt x="199" y="0"/>
                    <a:pt x="212" y="13"/>
                    <a:pt x="212" y="29"/>
                  </a:cubicBezTo>
                  <a:lnTo>
                    <a:pt x="212" y="181"/>
                  </a:lnTo>
                  <a:cubicBezTo>
                    <a:pt x="212" y="198"/>
                    <a:pt x="199" y="211"/>
                    <a:pt x="183" y="211"/>
                  </a:cubicBezTo>
                  <a:close/>
                  <a:moveTo>
                    <a:pt x="30" y="17"/>
                  </a:moveTo>
                  <a:cubicBezTo>
                    <a:pt x="23" y="17"/>
                    <a:pt x="18" y="22"/>
                    <a:pt x="18" y="29"/>
                  </a:cubicBezTo>
                  <a:lnTo>
                    <a:pt x="18" y="181"/>
                  </a:lnTo>
                  <a:cubicBezTo>
                    <a:pt x="18" y="188"/>
                    <a:pt x="23" y="193"/>
                    <a:pt x="30" y="193"/>
                  </a:cubicBezTo>
                  <a:lnTo>
                    <a:pt x="183" y="193"/>
                  </a:lnTo>
                  <a:cubicBezTo>
                    <a:pt x="190" y="193"/>
                    <a:pt x="195" y="188"/>
                    <a:pt x="195" y="181"/>
                  </a:cubicBezTo>
                  <a:lnTo>
                    <a:pt x="195" y="29"/>
                  </a:lnTo>
                  <a:cubicBezTo>
                    <a:pt x="195" y="22"/>
                    <a:pt x="190" y="17"/>
                    <a:pt x="183" y="17"/>
                  </a:cubicBezTo>
                  <a:lnTo>
                    <a:pt x="30" y="17"/>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1" name="Checklist">
              <a:extLst>
                <a:ext uri="{FF2B5EF4-FFF2-40B4-BE49-F238E27FC236}">
                  <a16:creationId xmlns:a16="http://schemas.microsoft.com/office/drawing/2014/main" id="{45ADC912-B6BF-8B5A-1A52-B16DF272BFE5}"/>
                </a:ext>
              </a:extLst>
            </p:cNvPr>
            <p:cNvSpPr>
              <a:spLocks noEditPoints="1"/>
            </p:cNvSpPr>
            <p:nvPr>
              <p:custDataLst>
                <p:tags r:id="rId15"/>
              </p:custDataLst>
            </p:nvPr>
          </p:nvSpPr>
          <p:spPr bwMode="auto">
            <a:xfrm>
              <a:off x="132" y="209"/>
              <a:ext cx="83" cy="82"/>
            </a:xfrm>
            <a:custGeom>
              <a:avLst/>
              <a:gdLst>
                <a:gd name="T0" fmla="*/ 183 w 212"/>
                <a:gd name="T1" fmla="*/ 211 h 211"/>
                <a:gd name="T2" fmla="*/ 30 w 212"/>
                <a:gd name="T3" fmla="*/ 211 h 211"/>
                <a:gd name="T4" fmla="*/ 0 w 212"/>
                <a:gd name="T5" fmla="*/ 182 h 211"/>
                <a:gd name="T6" fmla="*/ 0 w 212"/>
                <a:gd name="T7" fmla="*/ 29 h 211"/>
                <a:gd name="T8" fmla="*/ 30 w 212"/>
                <a:gd name="T9" fmla="*/ 0 h 211"/>
                <a:gd name="T10" fmla="*/ 183 w 212"/>
                <a:gd name="T11" fmla="*/ 0 h 211"/>
                <a:gd name="T12" fmla="*/ 212 w 212"/>
                <a:gd name="T13" fmla="*/ 29 h 211"/>
                <a:gd name="T14" fmla="*/ 212 w 212"/>
                <a:gd name="T15" fmla="*/ 182 h 211"/>
                <a:gd name="T16" fmla="*/ 183 w 212"/>
                <a:gd name="T17" fmla="*/ 211 h 211"/>
                <a:gd name="T18" fmla="*/ 30 w 212"/>
                <a:gd name="T19" fmla="*/ 17 h 211"/>
                <a:gd name="T20" fmla="*/ 18 w 212"/>
                <a:gd name="T21" fmla="*/ 29 h 211"/>
                <a:gd name="T22" fmla="*/ 18 w 212"/>
                <a:gd name="T23" fmla="*/ 182 h 211"/>
                <a:gd name="T24" fmla="*/ 30 w 212"/>
                <a:gd name="T25" fmla="*/ 194 h 211"/>
                <a:gd name="T26" fmla="*/ 183 w 212"/>
                <a:gd name="T27" fmla="*/ 194 h 211"/>
                <a:gd name="T28" fmla="*/ 195 w 212"/>
                <a:gd name="T29" fmla="*/ 182 h 211"/>
                <a:gd name="T30" fmla="*/ 195 w 212"/>
                <a:gd name="T31" fmla="*/ 29 h 211"/>
                <a:gd name="T32" fmla="*/ 183 w 212"/>
                <a:gd name="T33" fmla="*/ 17 h 211"/>
                <a:gd name="T34" fmla="*/ 30 w 212"/>
                <a:gd name="T35" fmla="*/ 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211">
                  <a:moveTo>
                    <a:pt x="183" y="211"/>
                  </a:moveTo>
                  <a:lnTo>
                    <a:pt x="30" y="211"/>
                  </a:lnTo>
                  <a:cubicBezTo>
                    <a:pt x="13" y="211"/>
                    <a:pt x="0" y="198"/>
                    <a:pt x="0" y="182"/>
                  </a:cubicBezTo>
                  <a:lnTo>
                    <a:pt x="0" y="29"/>
                  </a:lnTo>
                  <a:cubicBezTo>
                    <a:pt x="0" y="13"/>
                    <a:pt x="13" y="0"/>
                    <a:pt x="30" y="0"/>
                  </a:cubicBezTo>
                  <a:lnTo>
                    <a:pt x="183" y="0"/>
                  </a:lnTo>
                  <a:cubicBezTo>
                    <a:pt x="199" y="0"/>
                    <a:pt x="212" y="13"/>
                    <a:pt x="212" y="29"/>
                  </a:cubicBezTo>
                  <a:lnTo>
                    <a:pt x="212" y="182"/>
                  </a:lnTo>
                  <a:cubicBezTo>
                    <a:pt x="212" y="198"/>
                    <a:pt x="199" y="211"/>
                    <a:pt x="183" y="211"/>
                  </a:cubicBezTo>
                  <a:close/>
                  <a:moveTo>
                    <a:pt x="30" y="17"/>
                  </a:moveTo>
                  <a:cubicBezTo>
                    <a:pt x="23" y="17"/>
                    <a:pt x="18" y="22"/>
                    <a:pt x="18" y="29"/>
                  </a:cubicBezTo>
                  <a:lnTo>
                    <a:pt x="18" y="182"/>
                  </a:lnTo>
                  <a:cubicBezTo>
                    <a:pt x="18" y="189"/>
                    <a:pt x="23" y="194"/>
                    <a:pt x="30" y="194"/>
                  </a:cubicBezTo>
                  <a:lnTo>
                    <a:pt x="183" y="194"/>
                  </a:lnTo>
                  <a:cubicBezTo>
                    <a:pt x="190" y="194"/>
                    <a:pt x="195" y="189"/>
                    <a:pt x="195" y="182"/>
                  </a:cubicBezTo>
                  <a:lnTo>
                    <a:pt x="195" y="29"/>
                  </a:lnTo>
                  <a:cubicBezTo>
                    <a:pt x="195" y="22"/>
                    <a:pt x="190" y="17"/>
                    <a:pt x="183" y="17"/>
                  </a:cubicBezTo>
                  <a:lnTo>
                    <a:pt x="30" y="17"/>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2" name="Checklist">
              <a:extLst>
                <a:ext uri="{FF2B5EF4-FFF2-40B4-BE49-F238E27FC236}">
                  <a16:creationId xmlns:a16="http://schemas.microsoft.com/office/drawing/2014/main" id="{F03DE743-4C39-396B-59DC-F504A5ED045B}"/>
                </a:ext>
              </a:extLst>
            </p:cNvPr>
            <p:cNvSpPr>
              <a:spLocks noEditPoints="1"/>
            </p:cNvSpPr>
            <p:nvPr>
              <p:custDataLst>
                <p:tags r:id="rId16"/>
              </p:custDataLst>
            </p:nvPr>
          </p:nvSpPr>
          <p:spPr bwMode="auto">
            <a:xfrm>
              <a:off x="132" y="322"/>
              <a:ext cx="83" cy="82"/>
            </a:xfrm>
            <a:custGeom>
              <a:avLst/>
              <a:gdLst>
                <a:gd name="T0" fmla="*/ 183 w 212"/>
                <a:gd name="T1" fmla="*/ 210 h 210"/>
                <a:gd name="T2" fmla="*/ 30 w 212"/>
                <a:gd name="T3" fmla="*/ 210 h 210"/>
                <a:gd name="T4" fmla="*/ 0 w 212"/>
                <a:gd name="T5" fmla="*/ 181 h 210"/>
                <a:gd name="T6" fmla="*/ 0 w 212"/>
                <a:gd name="T7" fmla="*/ 29 h 210"/>
                <a:gd name="T8" fmla="*/ 30 w 212"/>
                <a:gd name="T9" fmla="*/ 0 h 210"/>
                <a:gd name="T10" fmla="*/ 183 w 212"/>
                <a:gd name="T11" fmla="*/ 0 h 210"/>
                <a:gd name="T12" fmla="*/ 212 w 212"/>
                <a:gd name="T13" fmla="*/ 29 h 210"/>
                <a:gd name="T14" fmla="*/ 212 w 212"/>
                <a:gd name="T15" fmla="*/ 181 h 210"/>
                <a:gd name="T16" fmla="*/ 183 w 212"/>
                <a:gd name="T17" fmla="*/ 210 h 210"/>
                <a:gd name="T18" fmla="*/ 30 w 212"/>
                <a:gd name="T19" fmla="*/ 16 h 210"/>
                <a:gd name="T20" fmla="*/ 18 w 212"/>
                <a:gd name="T21" fmla="*/ 28 h 210"/>
                <a:gd name="T22" fmla="*/ 18 w 212"/>
                <a:gd name="T23" fmla="*/ 180 h 210"/>
                <a:gd name="T24" fmla="*/ 30 w 212"/>
                <a:gd name="T25" fmla="*/ 192 h 210"/>
                <a:gd name="T26" fmla="*/ 183 w 212"/>
                <a:gd name="T27" fmla="*/ 192 h 210"/>
                <a:gd name="T28" fmla="*/ 195 w 212"/>
                <a:gd name="T29" fmla="*/ 180 h 210"/>
                <a:gd name="T30" fmla="*/ 195 w 212"/>
                <a:gd name="T31" fmla="*/ 29 h 210"/>
                <a:gd name="T32" fmla="*/ 183 w 212"/>
                <a:gd name="T33" fmla="*/ 17 h 210"/>
                <a:gd name="T34" fmla="*/ 30 w 212"/>
                <a:gd name="T35" fmla="*/ 17 h 210"/>
                <a:gd name="T36" fmla="*/ 30 w 212"/>
                <a:gd name="T37" fmla="*/ 1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2" h="210">
                  <a:moveTo>
                    <a:pt x="183" y="210"/>
                  </a:moveTo>
                  <a:lnTo>
                    <a:pt x="30" y="210"/>
                  </a:lnTo>
                  <a:cubicBezTo>
                    <a:pt x="13" y="210"/>
                    <a:pt x="0" y="197"/>
                    <a:pt x="0" y="181"/>
                  </a:cubicBezTo>
                  <a:lnTo>
                    <a:pt x="0" y="29"/>
                  </a:lnTo>
                  <a:cubicBezTo>
                    <a:pt x="0" y="13"/>
                    <a:pt x="13" y="0"/>
                    <a:pt x="30" y="0"/>
                  </a:cubicBezTo>
                  <a:lnTo>
                    <a:pt x="183" y="0"/>
                  </a:lnTo>
                  <a:cubicBezTo>
                    <a:pt x="199" y="0"/>
                    <a:pt x="212" y="13"/>
                    <a:pt x="212" y="29"/>
                  </a:cubicBezTo>
                  <a:lnTo>
                    <a:pt x="212" y="181"/>
                  </a:lnTo>
                  <a:cubicBezTo>
                    <a:pt x="212" y="197"/>
                    <a:pt x="199" y="210"/>
                    <a:pt x="183" y="210"/>
                  </a:cubicBezTo>
                  <a:close/>
                  <a:moveTo>
                    <a:pt x="30" y="16"/>
                  </a:moveTo>
                  <a:cubicBezTo>
                    <a:pt x="23" y="16"/>
                    <a:pt x="18" y="21"/>
                    <a:pt x="18" y="28"/>
                  </a:cubicBezTo>
                  <a:lnTo>
                    <a:pt x="18" y="180"/>
                  </a:lnTo>
                  <a:cubicBezTo>
                    <a:pt x="18" y="187"/>
                    <a:pt x="23" y="192"/>
                    <a:pt x="30" y="192"/>
                  </a:cubicBezTo>
                  <a:lnTo>
                    <a:pt x="183" y="192"/>
                  </a:lnTo>
                  <a:cubicBezTo>
                    <a:pt x="190" y="192"/>
                    <a:pt x="195" y="187"/>
                    <a:pt x="195" y="180"/>
                  </a:cubicBezTo>
                  <a:lnTo>
                    <a:pt x="195" y="29"/>
                  </a:lnTo>
                  <a:cubicBezTo>
                    <a:pt x="195" y="22"/>
                    <a:pt x="190" y="17"/>
                    <a:pt x="183" y="17"/>
                  </a:cubicBezTo>
                  <a:lnTo>
                    <a:pt x="30" y="17"/>
                  </a:lnTo>
                  <a:lnTo>
                    <a:pt x="30" y="16"/>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3" name="Checklist">
              <a:extLst>
                <a:ext uri="{FF2B5EF4-FFF2-40B4-BE49-F238E27FC236}">
                  <a16:creationId xmlns:a16="http://schemas.microsoft.com/office/drawing/2014/main" id="{3D737F26-93BD-2FCF-094C-039931B318B5}"/>
                </a:ext>
              </a:extLst>
            </p:cNvPr>
            <p:cNvSpPr>
              <a:spLocks/>
            </p:cNvSpPr>
            <p:nvPr>
              <p:custDataLst>
                <p:tags r:id="rId17"/>
              </p:custDataLst>
            </p:nvPr>
          </p:nvSpPr>
          <p:spPr bwMode="auto">
            <a:xfrm>
              <a:off x="256" y="133"/>
              <a:ext cx="99" cy="7"/>
            </a:xfrm>
            <a:custGeom>
              <a:avLst/>
              <a:gdLst>
                <a:gd name="T0" fmla="*/ 244 w 253"/>
                <a:gd name="T1" fmla="*/ 17 h 17"/>
                <a:gd name="T2" fmla="*/ 9 w 253"/>
                <a:gd name="T3" fmla="*/ 17 h 17"/>
                <a:gd name="T4" fmla="*/ 0 w 253"/>
                <a:gd name="T5" fmla="*/ 9 h 17"/>
                <a:gd name="T6" fmla="*/ 9 w 253"/>
                <a:gd name="T7" fmla="*/ 0 h 17"/>
                <a:gd name="T8" fmla="*/ 244 w 253"/>
                <a:gd name="T9" fmla="*/ 0 h 17"/>
                <a:gd name="T10" fmla="*/ 253 w 253"/>
                <a:gd name="T11" fmla="*/ 9 h 17"/>
                <a:gd name="T12" fmla="*/ 244 w 253"/>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253" h="17">
                  <a:moveTo>
                    <a:pt x="244" y="17"/>
                  </a:moveTo>
                  <a:lnTo>
                    <a:pt x="9" y="17"/>
                  </a:lnTo>
                  <a:cubicBezTo>
                    <a:pt x="4" y="17"/>
                    <a:pt x="0" y="14"/>
                    <a:pt x="0" y="9"/>
                  </a:cubicBezTo>
                  <a:cubicBezTo>
                    <a:pt x="0" y="4"/>
                    <a:pt x="4" y="0"/>
                    <a:pt x="9" y="0"/>
                  </a:cubicBezTo>
                  <a:lnTo>
                    <a:pt x="244" y="0"/>
                  </a:lnTo>
                  <a:cubicBezTo>
                    <a:pt x="249" y="0"/>
                    <a:pt x="253" y="4"/>
                    <a:pt x="253" y="9"/>
                  </a:cubicBezTo>
                  <a:cubicBezTo>
                    <a:pt x="253" y="14"/>
                    <a:pt x="249" y="17"/>
                    <a:pt x="244" y="17"/>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4" name="Checklist">
              <a:extLst>
                <a:ext uri="{FF2B5EF4-FFF2-40B4-BE49-F238E27FC236}">
                  <a16:creationId xmlns:a16="http://schemas.microsoft.com/office/drawing/2014/main" id="{030D91F8-81EE-6985-D844-A18BA40C213A}"/>
                </a:ext>
              </a:extLst>
            </p:cNvPr>
            <p:cNvSpPr>
              <a:spLocks/>
            </p:cNvSpPr>
            <p:nvPr>
              <p:custDataLst>
                <p:tags r:id="rId18"/>
              </p:custDataLst>
            </p:nvPr>
          </p:nvSpPr>
          <p:spPr bwMode="auto">
            <a:xfrm>
              <a:off x="256" y="246"/>
              <a:ext cx="99" cy="7"/>
            </a:xfrm>
            <a:custGeom>
              <a:avLst/>
              <a:gdLst>
                <a:gd name="T0" fmla="*/ 244 w 253"/>
                <a:gd name="T1" fmla="*/ 17 h 17"/>
                <a:gd name="T2" fmla="*/ 9 w 253"/>
                <a:gd name="T3" fmla="*/ 17 h 17"/>
                <a:gd name="T4" fmla="*/ 0 w 253"/>
                <a:gd name="T5" fmla="*/ 9 h 17"/>
                <a:gd name="T6" fmla="*/ 9 w 253"/>
                <a:gd name="T7" fmla="*/ 0 h 17"/>
                <a:gd name="T8" fmla="*/ 244 w 253"/>
                <a:gd name="T9" fmla="*/ 0 h 17"/>
                <a:gd name="T10" fmla="*/ 253 w 253"/>
                <a:gd name="T11" fmla="*/ 9 h 17"/>
                <a:gd name="T12" fmla="*/ 244 w 253"/>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253" h="17">
                  <a:moveTo>
                    <a:pt x="244" y="17"/>
                  </a:moveTo>
                  <a:lnTo>
                    <a:pt x="9" y="17"/>
                  </a:lnTo>
                  <a:cubicBezTo>
                    <a:pt x="4" y="17"/>
                    <a:pt x="0" y="14"/>
                    <a:pt x="0" y="9"/>
                  </a:cubicBezTo>
                  <a:cubicBezTo>
                    <a:pt x="0" y="4"/>
                    <a:pt x="4" y="0"/>
                    <a:pt x="9" y="0"/>
                  </a:cubicBezTo>
                  <a:lnTo>
                    <a:pt x="244" y="0"/>
                  </a:lnTo>
                  <a:cubicBezTo>
                    <a:pt x="249" y="0"/>
                    <a:pt x="253" y="4"/>
                    <a:pt x="253" y="9"/>
                  </a:cubicBezTo>
                  <a:cubicBezTo>
                    <a:pt x="253" y="14"/>
                    <a:pt x="249" y="17"/>
                    <a:pt x="244" y="17"/>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5" name="Checklist">
              <a:extLst>
                <a:ext uri="{FF2B5EF4-FFF2-40B4-BE49-F238E27FC236}">
                  <a16:creationId xmlns:a16="http://schemas.microsoft.com/office/drawing/2014/main" id="{398A6F78-E9D0-6C06-729E-602EB7EB05FC}"/>
                </a:ext>
              </a:extLst>
            </p:cNvPr>
            <p:cNvSpPr>
              <a:spLocks/>
            </p:cNvSpPr>
            <p:nvPr>
              <p:custDataLst>
                <p:tags r:id="rId19"/>
              </p:custDataLst>
            </p:nvPr>
          </p:nvSpPr>
          <p:spPr bwMode="auto">
            <a:xfrm>
              <a:off x="255" y="360"/>
              <a:ext cx="99" cy="6"/>
            </a:xfrm>
            <a:custGeom>
              <a:avLst/>
              <a:gdLst>
                <a:gd name="T0" fmla="*/ 244 w 253"/>
                <a:gd name="T1" fmla="*/ 17 h 17"/>
                <a:gd name="T2" fmla="*/ 9 w 253"/>
                <a:gd name="T3" fmla="*/ 17 h 17"/>
                <a:gd name="T4" fmla="*/ 0 w 253"/>
                <a:gd name="T5" fmla="*/ 9 h 17"/>
                <a:gd name="T6" fmla="*/ 9 w 253"/>
                <a:gd name="T7" fmla="*/ 0 h 17"/>
                <a:gd name="T8" fmla="*/ 244 w 253"/>
                <a:gd name="T9" fmla="*/ 0 h 17"/>
                <a:gd name="T10" fmla="*/ 253 w 253"/>
                <a:gd name="T11" fmla="*/ 9 h 17"/>
                <a:gd name="T12" fmla="*/ 244 w 253"/>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253" h="17">
                  <a:moveTo>
                    <a:pt x="244" y="17"/>
                  </a:moveTo>
                  <a:lnTo>
                    <a:pt x="9" y="17"/>
                  </a:lnTo>
                  <a:cubicBezTo>
                    <a:pt x="4" y="17"/>
                    <a:pt x="0" y="14"/>
                    <a:pt x="0" y="9"/>
                  </a:cubicBezTo>
                  <a:cubicBezTo>
                    <a:pt x="0" y="4"/>
                    <a:pt x="4" y="0"/>
                    <a:pt x="9" y="0"/>
                  </a:cubicBezTo>
                  <a:lnTo>
                    <a:pt x="244" y="0"/>
                  </a:lnTo>
                  <a:cubicBezTo>
                    <a:pt x="250" y="0"/>
                    <a:pt x="253" y="4"/>
                    <a:pt x="253" y="9"/>
                  </a:cubicBezTo>
                  <a:cubicBezTo>
                    <a:pt x="253" y="14"/>
                    <a:pt x="249" y="17"/>
                    <a:pt x="244" y="17"/>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96" name="Repeatability" descr="{&quot;Key&quot;:&quot;POWER_USER_SHAPE_ICON&quot;,&quot;Value&quot;:&quot;POWER_USER_SHAPE_ICON_STYLE_1&quot;}">
            <a:extLst>
              <a:ext uri="{FF2B5EF4-FFF2-40B4-BE49-F238E27FC236}">
                <a16:creationId xmlns:a16="http://schemas.microsoft.com/office/drawing/2014/main" id="{764D9D13-5843-4383-E185-F293CBCA31AD}"/>
              </a:ext>
            </a:extLst>
          </p:cNvPr>
          <p:cNvGrpSpPr>
            <a:grpSpLocks noChangeAspect="1"/>
          </p:cNvGrpSpPr>
          <p:nvPr/>
        </p:nvGrpSpPr>
        <p:grpSpPr>
          <a:xfrm>
            <a:off x="445781" y="3786688"/>
            <a:ext cx="432000" cy="472616"/>
            <a:chOff x="3697288" y="2995613"/>
            <a:chExt cx="742950" cy="812801"/>
          </a:xfrm>
          <a:solidFill>
            <a:schemeClr val="tx1">
              <a:lumMod val="50000"/>
              <a:lumOff val="50000"/>
            </a:schemeClr>
          </a:solidFill>
        </p:grpSpPr>
        <p:sp>
          <p:nvSpPr>
            <p:cNvPr id="1197" name="Freeform 440">
              <a:extLst>
                <a:ext uri="{FF2B5EF4-FFF2-40B4-BE49-F238E27FC236}">
                  <a16:creationId xmlns:a16="http://schemas.microsoft.com/office/drawing/2014/main" id="{F8ABE442-8130-8C95-10D5-B45F84E2917C}"/>
                </a:ext>
              </a:extLst>
            </p:cNvPr>
            <p:cNvSpPr>
              <a:spLocks/>
            </p:cNvSpPr>
            <p:nvPr/>
          </p:nvSpPr>
          <p:spPr bwMode="auto">
            <a:xfrm>
              <a:off x="3795713" y="3128963"/>
              <a:ext cx="546100" cy="547688"/>
            </a:xfrm>
            <a:custGeom>
              <a:avLst/>
              <a:gdLst>
                <a:gd name="T0" fmla="*/ 810 w 810"/>
                <a:gd name="T1" fmla="*/ 359 h 810"/>
                <a:gd name="T2" fmla="*/ 749 w 810"/>
                <a:gd name="T3" fmla="*/ 323 h 810"/>
                <a:gd name="T4" fmla="*/ 697 w 810"/>
                <a:gd name="T5" fmla="*/ 263 h 810"/>
                <a:gd name="T6" fmla="*/ 721 w 810"/>
                <a:gd name="T7" fmla="*/ 203 h 810"/>
                <a:gd name="T8" fmla="*/ 659 w 810"/>
                <a:gd name="T9" fmla="*/ 86 h 810"/>
                <a:gd name="T10" fmla="*/ 591 w 810"/>
                <a:gd name="T11" fmla="*/ 104 h 810"/>
                <a:gd name="T12" fmla="*/ 512 w 810"/>
                <a:gd name="T13" fmla="*/ 98 h 810"/>
                <a:gd name="T14" fmla="*/ 486 w 810"/>
                <a:gd name="T15" fmla="*/ 39 h 810"/>
                <a:gd name="T16" fmla="*/ 359 w 810"/>
                <a:gd name="T17" fmla="*/ 0 h 810"/>
                <a:gd name="T18" fmla="*/ 323 w 810"/>
                <a:gd name="T19" fmla="*/ 60 h 810"/>
                <a:gd name="T20" fmla="*/ 264 w 810"/>
                <a:gd name="T21" fmla="*/ 112 h 810"/>
                <a:gd name="T22" fmla="*/ 204 w 810"/>
                <a:gd name="T23" fmla="*/ 88 h 810"/>
                <a:gd name="T24" fmla="*/ 86 w 810"/>
                <a:gd name="T25" fmla="*/ 151 h 810"/>
                <a:gd name="T26" fmla="*/ 104 w 810"/>
                <a:gd name="T27" fmla="*/ 219 h 810"/>
                <a:gd name="T28" fmla="*/ 99 w 810"/>
                <a:gd name="T29" fmla="*/ 296 h 810"/>
                <a:gd name="T30" fmla="*/ 35 w 810"/>
                <a:gd name="T31" fmla="*/ 323 h 810"/>
                <a:gd name="T32" fmla="*/ 0 w 810"/>
                <a:gd name="T33" fmla="*/ 451 h 810"/>
                <a:gd name="T34" fmla="*/ 61 w 810"/>
                <a:gd name="T35" fmla="*/ 486 h 810"/>
                <a:gd name="T36" fmla="*/ 113 w 810"/>
                <a:gd name="T37" fmla="*/ 546 h 810"/>
                <a:gd name="T38" fmla="*/ 88 w 810"/>
                <a:gd name="T39" fmla="*/ 606 h 810"/>
                <a:gd name="T40" fmla="*/ 151 w 810"/>
                <a:gd name="T41" fmla="*/ 723 h 810"/>
                <a:gd name="T42" fmla="*/ 219 w 810"/>
                <a:gd name="T43" fmla="*/ 706 h 810"/>
                <a:gd name="T44" fmla="*/ 298 w 810"/>
                <a:gd name="T45" fmla="*/ 711 h 810"/>
                <a:gd name="T46" fmla="*/ 323 w 810"/>
                <a:gd name="T47" fmla="*/ 771 h 810"/>
                <a:gd name="T48" fmla="*/ 451 w 810"/>
                <a:gd name="T49" fmla="*/ 810 h 810"/>
                <a:gd name="T50" fmla="*/ 486 w 810"/>
                <a:gd name="T51" fmla="*/ 749 h 810"/>
                <a:gd name="T52" fmla="*/ 546 w 810"/>
                <a:gd name="T53" fmla="*/ 697 h 810"/>
                <a:gd name="T54" fmla="*/ 606 w 810"/>
                <a:gd name="T55" fmla="*/ 721 h 810"/>
                <a:gd name="T56" fmla="*/ 724 w 810"/>
                <a:gd name="T57" fmla="*/ 658 h 810"/>
                <a:gd name="T58" fmla="*/ 706 w 810"/>
                <a:gd name="T59" fmla="*/ 590 h 810"/>
                <a:gd name="T60" fmla="*/ 711 w 810"/>
                <a:gd name="T61" fmla="*/ 513 h 810"/>
                <a:gd name="T62" fmla="*/ 774 w 810"/>
                <a:gd name="T63" fmla="*/ 486 h 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10" h="810">
                  <a:moveTo>
                    <a:pt x="810" y="451"/>
                  </a:moveTo>
                  <a:lnTo>
                    <a:pt x="810" y="359"/>
                  </a:lnTo>
                  <a:cubicBezTo>
                    <a:pt x="810" y="339"/>
                    <a:pt x="794" y="323"/>
                    <a:pt x="774" y="323"/>
                  </a:cubicBezTo>
                  <a:lnTo>
                    <a:pt x="749" y="323"/>
                  </a:lnTo>
                  <a:cubicBezTo>
                    <a:pt x="732" y="323"/>
                    <a:pt x="717" y="312"/>
                    <a:pt x="711" y="296"/>
                  </a:cubicBezTo>
                  <a:cubicBezTo>
                    <a:pt x="707" y="285"/>
                    <a:pt x="702" y="274"/>
                    <a:pt x="697" y="263"/>
                  </a:cubicBezTo>
                  <a:cubicBezTo>
                    <a:pt x="690" y="249"/>
                    <a:pt x="693" y="231"/>
                    <a:pt x="705" y="220"/>
                  </a:cubicBezTo>
                  <a:lnTo>
                    <a:pt x="721" y="203"/>
                  </a:lnTo>
                  <a:cubicBezTo>
                    <a:pt x="738" y="187"/>
                    <a:pt x="738" y="165"/>
                    <a:pt x="724" y="151"/>
                  </a:cubicBezTo>
                  <a:lnTo>
                    <a:pt x="659" y="86"/>
                  </a:lnTo>
                  <a:cubicBezTo>
                    <a:pt x="645" y="72"/>
                    <a:pt x="622" y="72"/>
                    <a:pt x="608" y="86"/>
                  </a:cubicBezTo>
                  <a:lnTo>
                    <a:pt x="591" y="104"/>
                  </a:lnTo>
                  <a:cubicBezTo>
                    <a:pt x="579" y="116"/>
                    <a:pt x="560" y="119"/>
                    <a:pt x="545" y="112"/>
                  </a:cubicBezTo>
                  <a:cubicBezTo>
                    <a:pt x="534" y="107"/>
                    <a:pt x="523" y="102"/>
                    <a:pt x="512" y="98"/>
                  </a:cubicBezTo>
                  <a:cubicBezTo>
                    <a:pt x="496" y="93"/>
                    <a:pt x="486" y="78"/>
                    <a:pt x="486" y="62"/>
                  </a:cubicBezTo>
                  <a:lnTo>
                    <a:pt x="486" y="39"/>
                  </a:lnTo>
                  <a:cubicBezTo>
                    <a:pt x="486" y="15"/>
                    <a:pt x="471" y="0"/>
                    <a:pt x="451" y="0"/>
                  </a:cubicBezTo>
                  <a:lnTo>
                    <a:pt x="359" y="0"/>
                  </a:lnTo>
                  <a:cubicBezTo>
                    <a:pt x="339" y="0"/>
                    <a:pt x="323" y="16"/>
                    <a:pt x="323" y="35"/>
                  </a:cubicBezTo>
                  <a:lnTo>
                    <a:pt x="323" y="60"/>
                  </a:lnTo>
                  <a:cubicBezTo>
                    <a:pt x="323" y="77"/>
                    <a:pt x="313" y="93"/>
                    <a:pt x="297" y="99"/>
                  </a:cubicBezTo>
                  <a:cubicBezTo>
                    <a:pt x="285" y="103"/>
                    <a:pt x="274" y="107"/>
                    <a:pt x="264" y="112"/>
                  </a:cubicBezTo>
                  <a:cubicBezTo>
                    <a:pt x="249" y="119"/>
                    <a:pt x="232" y="116"/>
                    <a:pt x="220" y="105"/>
                  </a:cubicBezTo>
                  <a:lnTo>
                    <a:pt x="204" y="88"/>
                  </a:lnTo>
                  <a:cubicBezTo>
                    <a:pt x="187" y="72"/>
                    <a:pt x="165" y="72"/>
                    <a:pt x="151" y="86"/>
                  </a:cubicBezTo>
                  <a:lnTo>
                    <a:pt x="86" y="151"/>
                  </a:lnTo>
                  <a:cubicBezTo>
                    <a:pt x="72" y="165"/>
                    <a:pt x="72" y="187"/>
                    <a:pt x="86" y="201"/>
                  </a:cubicBezTo>
                  <a:lnTo>
                    <a:pt x="104" y="219"/>
                  </a:lnTo>
                  <a:cubicBezTo>
                    <a:pt x="116" y="231"/>
                    <a:pt x="119" y="249"/>
                    <a:pt x="112" y="265"/>
                  </a:cubicBezTo>
                  <a:cubicBezTo>
                    <a:pt x="107" y="275"/>
                    <a:pt x="103" y="286"/>
                    <a:pt x="99" y="296"/>
                  </a:cubicBezTo>
                  <a:cubicBezTo>
                    <a:pt x="93" y="312"/>
                    <a:pt x="78" y="323"/>
                    <a:pt x="61" y="323"/>
                  </a:cubicBezTo>
                  <a:lnTo>
                    <a:pt x="35" y="323"/>
                  </a:lnTo>
                  <a:cubicBezTo>
                    <a:pt x="16" y="323"/>
                    <a:pt x="0" y="339"/>
                    <a:pt x="0" y="359"/>
                  </a:cubicBezTo>
                  <a:lnTo>
                    <a:pt x="0" y="451"/>
                  </a:lnTo>
                  <a:cubicBezTo>
                    <a:pt x="0" y="470"/>
                    <a:pt x="16" y="486"/>
                    <a:pt x="35" y="486"/>
                  </a:cubicBezTo>
                  <a:lnTo>
                    <a:pt x="61" y="486"/>
                  </a:lnTo>
                  <a:cubicBezTo>
                    <a:pt x="78" y="486"/>
                    <a:pt x="93" y="497"/>
                    <a:pt x="99" y="513"/>
                  </a:cubicBezTo>
                  <a:cubicBezTo>
                    <a:pt x="103" y="524"/>
                    <a:pt x="107" y="535"/>
                    <a:pt x="113" y="546"/>
                  </a:cubicBezTo>
                  <a:cubicBezTo>
                    <a:pt x="120" y="560"/>
                    <a:pt x="116" y="578"/>
                    <a:pt x="105" y="589"/>
                  </a:cubicBezTo>
                  <a:lnTo>
                    <a:pt x="88" y="606"/>
                  </a:lnTo>
                  <a:cubicBezTo>
                    <a:pt x="72" y="622"/>
                    <a:pt x="72" y="644"/>
                    <a:pt x="86" y="658"/>
                  </a:cubicBezTo>
                  <a:lnTo>
                    <a:pt x="151" y="723"/>
                  </a:lnTo>
                  <a:cubicBezTo>
                    <a:pt x="165" y="737"/>
                    <a:pt x="187" y="737"/>
                    <a:pt x="201" y="723"/>
                  </a:cubicBezTo>
                  <a:lnTo>
                    <a:pt x="219" y="706"/>
                  </a:lnTo>
                  <a:cubicBezTo>
                    <a:pt x="231" y="694"/>
                    <a:pt x="250" y="690"/>
                    <a:pt x="265" y="697"/>
                  </a:cubicBezTo>
                  <a:cubicBezTo>
                    <a:pt x="276" y="703"/>
                    <a:pt x="287" y="707"/>
                    <a:pt x="298" y="711"/>
                  </a:cubicBezTo>
                  <a:cubicBezTo>
                    <a:pt x="313" y="716"/>
                    <a:pt x="323" y="731"/>
                    <a:pt x="323" y="747"/>
                  </a:cubicBezTo>
                  <a:lnTo>
                    <a:pt x="323" y="771"/>
                  </a:lnTo>
                  <a:cubicBezTo>
                    <a:pt x="323" y="794"/>
                    <a:pt x="339" y="810"/>
                    <a:pt x="359" y="810"/>
                  </a:cubicBezTo>
                  <a:lnTo>
                    <a:pt x="451" y="810"/>
                  </a:lnTo>
                  <a:cubicBezTo>
                    <a:pt x="471" y="810"/>
                    <a:pt x="486" y="794"/>
                    <a:pt x="486" y="774"/>
                  </a:cubicBezTo>
                  <a:lnTo>
                    <a:pt x="486" y="749"/>
                  </a:lnTo>
                  <a:cubicBezTo>
                    <a:pt x="486" y="732"/>
                    <a:pt x="497" y="716"/>
                    <a:pt x="513" y="711"/>
                  </a:cubicBezTo>
                  <a:cubicBezTo>
                    <a:pt x="524" y="707"/>
                    <a:pt x="535" y="702"/>
                    <a:pt x="546" y="697"/>
                  </a:cubicBezTo>
                  <a:cubicBezTo>
                    <a:pt x="561" y="690"/>
                    <a:pt x="578" y="693"/>
                    <a:pt x="590" y="705"/>
                  </a:cubicBezTo>
                  <a:lnTo>
                    <a:pt x="606" y="721"/>
                  </a:lnTo>
                  <a:cubicBezTo>
                    <a:pt x="622" y="737"/>
                    <a:pt x="645" y="737"/>
                    <a:pt x="659" y="723"/>
                  </a:cubicBezTo>
                  <a:lnTo>
                    <a:pt x="724" y="658"/>
                  </a:lnTo>
                  <a:cubicBezTo>
                    <a:pt x="738" y="644"/>
                    <a:pt x="738" y="622"/>
                    <a:pt x="724" y="608"/>
                  </a:cubicBezTo>
                  <a:lnTo>
                    <a:pt x="706" y="590"/>
                  </a:lnTo>
                  <a:cubicBezTo>
                    <a:pt x="694" y="578"/>
                    <a:pt x="690" y="560"/>
                    <a:pt x="698" y="545"/>
                  </a:cubicBezTo>
                  <a:cubicBezTo>
                    <a:pt x="703" y="534"/>
                    <a:pt x="707" y="524"/>
                    <a:pt x="711" y="513"/>
                  </a:cubicBezTo>
                  <a:cubicBezTo>
                    <a:pt x="717" y="497"/>
                    <a:pt x="732" y="486"/>
                    <a:pt x="749" y="486"/>
                  </a:cubicBezTo>
                  <a:lnTo>
                    <a:pt x="774" y="486"/>
                  </a:lnTo>
                  <a:cubicBezTo>
                    <a:pt x="794" y="486"/>
                    <a:pt x="810" y="470"/>
                    <a:pt x="810" y="451"/>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8" name="Freeform 441">
              <a:extLst>
                <a:ext uri="{FF2B5EF4-FFF2-40B4-BE49-F238E27FC236}">
                  <a16:creationId xmlns:a16="http://schemas.microsoft.com/office/drawing/2014/main" id="{C4846165-7C95-5F2A-C202-639D2EAC83E1}"/>
                </a:ext>
              </a:extLst>
            </p:cNvPr>
            <p:cNvSpPr>
              <a:spLocks/>
            </p:cNvSpPr>
            <p:nvPr/>
          </p:nvSpPr>
          <p:spPr bwMode="auto">
            <a:xfrm>
              <a:off x="3935413" y="3267076"/>
              <a:ext cx="268288" cy="269875"/>
            </a:xfrm>
            <a:custGeom>
              <a:avLst/>
              <a:gdLst>
                <a:gd name="T0" fmla="*/ 229 w 400"/>
                <a:gd name="T1" fmla="*/ 381 h 400"/>
                <a:gd name="T2" fmla="*/ 19 w 400"/>
                <a:gd name="T3" fmla="*/ 171 h 400"/>
                <a:gd name="T4" fmla="*/ 171 w 400"/>
                <a:gd name="T5" fmla="*/ 19 h 400"/>
                <a:gd name="T6" fmla="*/ 381 w 400"/>
                <a:gd name="T7" fmla="*/ 229 h 400"/>
                <a:gd name="T8" fmla="*/ 229 w 400"/>
                <a:gd name="T9" fmla="*/ 381 h 400"/>
              </a:gdLst>
              <a:ahLst/>
              <a:cxnLst>
                <a:cxn ang="0">
                  <a:pos x="T0" y="T1"/>
                </a:cxn>
                <a:cxn ang="0">
                  <a:pos x="T2" y="T3"/>
                </a:cxn>
                <a:cxn ang="0">
                  <a:pos x="T4" y="T5"/>
                </a:cxn>
                <a:cxn ang="0">
                  <a:pos x="T6" y="T7"/>
                </a:cxn>
                <a:cxn ang="0">
                  <a:pos x="T8" y="T9"/>
                </a:cxn>
              </a:cxnLst>
              <a:rect l="0" t="0" r="r" b="b"/>
              <a:pathLst>
                <a:path w="400" h="400">
                  <a:moveTo>
                    <a:pt x="229" y="381"/>
                  </a:moveTo>
                  <a:cubicBezTo>
                    <a:pt x="105" y="400"/>
                    <a:pt x="0" y="294"/>
                    <a:pt x="19" y="171"/>
                  </a:cubicBezTo>
                  <a:cubicBezTo>
                    <a:pt x="31" y="93"/>
                    <a:pt x="94" y="30"/>
                    <a:pt x="171" y="19"/>
                  </a:cubicBezTo>
                  <a:cubicBezTo>
                    <a:pt x="295" y="0"/>
                    <a:pt x="400" y="105"/>
                    <a:pt x="381" y="229"/>
                  </a:cubicBezTo>
                  <a:cubicBezTo>
                    <a:pt x="369" y="306"/>
                    <a:pt x="306" y="369"/>
                    <a:pt x="229" y="381"/>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9" name="Freeform 442">
              <a:extLst>
                <a:ext uri="{FF2B5EF4-FFF2-40B4-BE49-F238E27FC236}">
                  <a16:creationId xmlns:a16="http://schemas.microsoft.com/office/drawing/2014/main" id="{ACAE7108-BD26-E45B-4CED-B268001C1394}"/>
                </a:ext>
              </a:extLst>
            </p:cNvPr>
            <p:cNvSpPr>
              <a:spLocks noEditPoints="1"/>
            </p:cNvSpPr>
            <p:nvPr/>
          </p:nvSpPr>
          <p:spPr bwMode="auto">
            <a:xfrm>
              <a:off x="3790951" y="3122613"/>
              <a:ext cx="557213" cy="558800"/>
            </a:xfrm>
            <a:custGeom>
              <a:avLst/>
              <a:gdLst>
                <a:gd name="T0" fmla="*/ 309 w 826"/>
                <a:gd name="T1" fmla="*/ 712 h 827"/>
                <a:gd name="T2" fmla="*/ 367 w 826"/>
                <a:gd name="T3" fmla="*/ 810 h 827"/>
                <a:gd name="T4" fmla="*/ 486 w 826"/>
                <a:gd name="T5" fmla="*/ 758 h 827"/>
                <a:gd name="T6" fmla="*/ 603 w 826"/>
                <a:gd name="T7" fmla="*/ 708 h 827"/>
                <a:gd name="T8" fmla="*/ 726 w 826"/>
                <a:gd name="T9" fmla="*/ 661 h 827"/>
                <a:gd name="T10" fmla="*/ 708 w 826"/>
                <a:gd name="T11" fmla="*/ 605 h 827"/>
                <a:gd name="T12" fmla="*/ 757 w 826"/>
                <a:gd name="T13" fmla="*/ 487 h 827"/>
                <a:gd name="T14" fmla="*/ 810 w 826"/>
                <a:gd name="T15" fmla="*/ 368 h 827"/>
                <a:gd name="T16" fmla="*/ 711 w 826"/>
                <a:gd name="T17" fmla="*/ 308 h 827"/>
                <a:gd name="T18" fmla="*/ 724 w 826"/>
                <a:gd name="T19" fmla="*/ 207 h 827"/>
                <a:gd name="T20" fmla="*/ 622 w 826"/>
                <a:gd name="T21" fmla="*/ 101 h 827"/>
                <a:gd name="T22" fmla="*/ 517 w 826"/>
                <a:gd name="T23" fmla="*/ 115 h 827"/>
                <a:gd name="T24" fmla="*/ 459 w 826"/>
                <a:gd name="T25" fmla="*/ 17 h 827"/>
                <a:gd name="T26" fmla="*/ 340 w 826"/>
                <a:gd name="T27" fmla="*/ 69 h 827"/>
                <a:gd name="T28" fmla="*/ 222 w 826"/>
                <a:gd name="T29" fmla="*/ 119 h 827"/>
                <a:gd name="T30" fmla="*/ 100 w 826"/>
                <a:gd name="T31" fmla="*/ 166 h 827"/>
                <a:gd name="T32" fmla="*/ 118 w 826"/>
                <a:gd name="T33" fmla="*/ 222 h 827"/>
                <a:gd name="T34" fmla="*/ 69 w 826"/>
                <a:gd name="T35" fmla="*/ 340 h 827"/>
                <a:gd name="T36" fmla="*/ 16 w 826"/>
                <a:gd name="T37" fmla="*/ 460 h 827"/>
                <a:gd name="T38" fmla="*/ 115 w 826"/>
                <a:gd name="T39" fmla="*/ 519 h 827"/>
                <a:gd name="T40" fmla="*/ 102 w 826"/>
                <a:gd name="T41" fmla="*/ 621 h 827"/>
                <a:gd name="T42" fmla="*/ 165 w 826"/>
                <a:gd name="T43" fmla="*/ 727 h 827"/>
                <a:gd name="T44" fmla="*/ 256 w 826"/>
                <a:gd name="T45" fmla="*/ 694 h 827"/>
                <a:gd name="T46" fmla="*/ 323 w 826"/>
                <a:gd name="T47" fmla="*/ 780 h 827"/>
                <a:gd name="T48" fmla="*/ 269 w 826"/>
                <a:gd name="T49" fmla="*/ 714 h 827"/>
                <a:gd name="T50" fmla="*/ 153 w 826"/>
                <a:gd name="T51" fmla="*/ 738 h 827"/>
                <a:gd name="T52" fmla="*/ 91 w 826"/>
                <a:gd name="T53" fmla="*/ 609 h 827"/>
                <a:gd name="T54" fmla="*/ 99 w 826"/>
                <a:gd name="T55" fmla="*/ 524 h 827"/>
                <a:gd name="T56" fmla="*/ 0 w 826"/>
                <a:gd name="T57" fmla="*/ 460 h 827"/>
                <a:gd name="T58" fmla="*/ 69 w 826"/>
                <a:gd name="T59" fmla="*/ 324 h 827"/>
                <a:gd name="T60" fmla="*/ 106 w 826"/>
                <a:gd name="T61" fmla="*/ 234 h 827"/>
                <a:gd name="T62" fmla="*/ 153 w 826"/>
                <a:gd name="T63" fmla="*/ 89 h 827"/>
                <a:gd name="T64" fmla="*/ 268 w 826"/>
                <a:gd name="T65" fmla="*/ 114 h 827"/>
                <a:gd name="T66" fmla="*/ 323 w 826"/>
                <a:gd name="T67" fmla="*/ 44 h 827"/>
                <a:gd name="T68" fmla="*/ 503 w 826"/>
                <a:gd name="T69" fmla="*/ 48 h 827"/>
                <a:gd name="T70" fmla="*/ 556 w 826"/>
                <a:gd name="T71" fmla="*/ 113 h 827"/>
                <a:gd name="T72" fmla="*/ 673 w 826"/>
                <a:gd name="T73" fmla="*/ 89 h 827"/>
                <a:gd name="T74" fmla="*/ 719 w 826"/>
                <a:gd name="T75" fmla="*/ 235 h 827"/>
                <a:gd name="T76" fmla="*/ 757 w 826"/>
                <a:gd name="T77" fmla="*/ 324 h 827"/>
                <a:gd name="T78" fmla="*/ 826 w 826"/>
                <a:gd name="T79" fmla="*/ 460 h 827"/>
                <a:gd name="T80" fmla="*/ 727 w 826"/>
                <a:gd name="T81" fmla="*/ 524 h 827"/>
                <a:gd name="T82" fmla="*/ 738 w 826"/>
                <a:gd name="T83" fmla="*/ 611 h 827"/>
                <a:gd name="T84" fmla="*/ 673 w 826"/>
                <a:gd name="T85" fmla="*/ 738 h 827"/>
                <a:gd name="T86" fmla="*/ 558 w 826"/>
                <a:gd name="T87" fmla="*/ 713 h 827"/>
                <a:gd name="T88" fmla="*/ 503 w 826"/>
                <a:gd name="T89" fmla="*/ 783 h 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26" h="827">
                  <a:moveTo>
                    <a:pt x="256" y="694"/>
                  </a:moveTo>
                  <a:cubicBezTo>
                    <a:pt x="263" y="694"/>
                    <a:pt x="270" y="696"/>
                    <a:pt x="277" y="699"/>
                  </a:cubicBezTo>
                  <a:cubicBezTo>
                    <a:pt x="287" y="704"/>
                    <a:pt x="298" y="708"/>
                    <a:pt x="309" y="712"/>
                  </a:cubicBezTo>
                  <a:cubicBezTo>
                    <a:pt x="327" y="719"/>
                    <a:pt x="340" y="736"/>
                    <a:pt x="340" y="756"/>
                  </a:cubicBezTo>
                  <a:lnTo>
                    <a:pt x="340" y="780"/>
                  </a:lnTo>
                  <a:cubicBezTo>
                    <a:pt x="340" y="797"/>
                    <a:pt x="351" y="810"/>
                    <a:pt x="367" y="810"/>
                  </a:cubicBezTo>
                  <a:lnTo>
                    <a:pt x="459" y="810"/>
                  </a:lnTo>
                  <a:cubicBezTo>
                    <a:pt x="474" y="810"/>
                    <a:pt x="486" y="798"/>
                    <a:pt x="486" y="783"/>
                  </a:cubicBezTo>
                  <a:lnTo>
                    <a:pt x="486" y="758"/>
                  </a:lnTo>
                  <a:cubicBezTo>
                    <a:pt x="486" y="737"/>
                    <a:pt x="499" y="718"/>
                    <a:pt x="518" y="712"/>
                  </a:cubicBezTo>
                  <a:cubicBezTo>
                    <a:pt x="529" y="708"/>
                    <a:pt x="540" y="703"/>
                    <a:pt x="550" y="698"/>
                  </a:cubicBezTo>
                  <a:cubicBezTo>
                    <a:pt x="568" y="690"/>
                    <a:pt x="589" y="694"/>
                    <a:pt x="603" y="708"/>
                  </a:cubicBezTo>
                  <a:lnTo>
                    <a:pt x="620" y="724"/>
                  </a:lnTo>
                  <a:cubicBezTo>
                    <a:pt x="632" y="737"/>
                    <a:pt x="650" y="738"/>
                    <a:pt x="661" y="727"/>
                  </a:cubicBezTo>
                  <a:lnTo>
                    <a:pt x="726" y="661"/>
                  </a:lnTo>
                  <a:cubicBezTo>
                    <a:pt x="731" y="656"/>
                    <a:pt x="734" y="650"/>
                    <a:pt x="734" y="642"/>
                  </a:cubicBezTo>
                  <a:cubicBezTo>
                    <a:pt x="734" y="635"/>
                    <a:pt x="731" y="628"/>
                    <a:pt x="726" y="623"/>
                  </a:cubicBezTo>
                  <a:lnTo>
                    <a:pt x="708" y="605"/>
                  </a:lnTo>
                  <a:cubicBezTo>
                    <a:pt x="693" y="590"/>
                    <a:pt x="689" y="568"/>
                    <a:pt x="698" y="550"/>
                  </a:cubicBezTo>
                  <a:cubicBezTo>
                    <a:pt x="703" y="540"/>
                    <a:pt x="707" y="529"/>
                    <a:pt x="711" y="519"/>
                  </a:cubicBezTo>
                  <a:cubicBezTo>
                    <a:pt x="718" y="500"/>
                    <a:pt x="736" y="487"/>
                    <a:pt x="757" y="487"/>
                  </a:cubicBezTo>
                  <a:lnTo>
                    <a:pt x="782" y="487"/>
                  </a:lnTo>
                  <a:cubicBezTo>
                    <a:pt x="797" y="487"/>
                    <a:pt x="810" y="475"/>
                    <a:pt x="810" y="460"/>
                  </a:cubicBezTo>
                  <a:lnTo>
                    <a:pt x="810" y="368"/>
                  </a:lnTo>
                  <a:cubicBezTo>
                    <a:pt x="810" y="353"/>
                    <a:pt x="797" y="340"/>
                    <a:pt x="782" y="340"/>
                  </a:cubicBezTo>
                  <a:lnTo>
                    <a:pt x="757" y="340"/>
                  </a:lnTo>
                  <a:cubicBezTo>
                    <a:pt x="736" y="340"/>
                    <a:pt x="718" y="327"/>
                    <a:pt x="711" y="308"/>
                  </a:cubicBezTo>
                  <a:cubicBezTo>
                    <a:pt x="707" y="297"/>
                    <a:pt x="703" y="286"/>
                    <a:pt x="698" y="276"/>
                  </a:cubicBezTo>
                  <a:cubicBezTo>
                    <a:pt x="689" y="258"/>
                    <a:pt x="693" y="237"/>
                    <a:pt x="707" y="223"/>
                  </a:cubicBezTo>
                  <a:lnTo>
                    <a:pt x="724" y="207"/>
                  </a:lnTo>
                  <a:cubicBezTo>
                    <a:pt x="736" y="194"/>
                    <a:pt x="737" y="177"/>
                    <a:pt x="726" y="166"/>
                  </a:cubicBezTo>
                  <a:lnTo>
                    <a:pt x="661" y="101"/>
                  </a:lnTo>
                  <a:cubicBezTo>
                    <a:pt x="650" y="90"/>
                    <a:pt x="633" y="90"/>
                    <a:pt x="622" y="101"/>
                  </a:cubicBezTo>
                  <a:lnTo>
                    <a:pt x="604" y="118"/>
                  </a:lnTo>
                  <a:cubicBezTo>
                    <a:pt x="590" y="133"/>
                    <a:pt x="568" y="137"/>
                    <a:pt x="549" y="128"/>
                  </a:cubicBezTo>
                  <a:cubicBezTo>
                    <a:pt x="539" y="123"/>
                    <a:pt x="528" y="119"/>
                    <a:pt x="517" y="115"/>
                  </a:cubicBezTo>
                  <a:cubicBezTo>
                    <a:pt x="499" y="109"/>
                    <a:pt x="486" y="91"/>
                    <a:pt x="486" y="71"/>
                  </a:cubicBezTo>
                  <a:lnTo>
                    <a:pt x="486" y="48"/>
                  </a:lnTo>
                  <a:cubicBezTo>
                    <a:pt x="486" y="30"/>
                    <a:pt x="475" y="17"/>
                    <a:pt x="459" y="17"/>
                  </a:cubicBezTo>
                  <a:lnTo>
                    <a:pt x="367" y="17"/>
                  </a:lnTo>
                  <a:cubicBezTo>
                    <a:pt x="352" y="17"/>
                    <a:pt x="340" y="29"/>
                    <a:pt x="340" y="44"/>
                  </a:cubicBezTo>
                  <a:lnTo>
                    <a:pt x="340" y="69"/>
                  </a:lnTo>
                  <a:cubicBezTo>
                    <a:pt x="340" y="90"/>
                    <a:pt x="327" y="109"/>
                    <a:pt x="308" y="115"/>
                  </a:cubicBezTo>
                  <a:cubicBezTo>
                    <a:pt x="297" y="119"/>
                    <a:pt x="286" y="124"/>
                    <a:pt x="275" y="129"/>
                  </a:cubicBezTo>
                  <a:cubicBezTo>
                    <a:pt x="258" y="137"/>
                    <a:pt x="236" y="134"/>
                    <a:pt x="222" y="119"/>
                  </a:cubicBezTo>
                  <a:lnTo>
                    <a:pt x="206" y="103"/>
                  </a:lnTo>
                  <a:cubicBezTo>
                    <a:pt x="193" y="90"/>
                    <a:pt x="176" y="89"/>
                    <a:pt x="165" y="101"/>
                  </a:cubicBezTo>
                  <a:lnTo>
                    <a:pt x="100" y="166"/>
                  </a:lnTo>
                  <a:cubicBezTo>
                    <a:pt x="95" y="171"/>
                    <a:pt x="92" y="178"/>
                    <a:pt x="92" y="185"/>
                  </a:cubicBezTo>
                  <a:cubicBezTo>
                    <a:pt x="92" y="192"/>
                    <a:pt x="95" y="199"/>
                    <a:pt x="100" y="204"/>
                  </a:cubicBezTo>
                  <a:lnTo>
                    <a:pt x="118" y="222"/>
                  </a:lnTo>
                  <a:cubicBezTo>
                    <a:pt x="132" y="237"/>
                    <a:pt x="136" y="259"/>
                    <a:pt x="128" y="277"/>
                  </a:cubicBezTo>
                  <a:cubicBezTo>
                    <a:pt x="123" y="287"/>
                    <a:pt x="118" y="298"/>
                    <a:pt x="115" y="308"/>
                  </a:cubicBezTo>
                  <a:cubicBezTo>
                    <a:pt x="108" y="327"/>
                    <a:pt x="90" y="340"/>
                    <a:pt x="69" y="340"/>
                  </a:cubicBezTo>
                  <a:lnTo>
                    <a:pt x="43" y="340"/>
                  </a:lnTo>
                  <a:cubicBezTo>
                    <a:pt x="28" y="340"/>
                    <a:pt x="16" y="353"/>
                    <a:pt x="16" y="368"/>
                  </a:cubicBezTo>
                  <a:lnTo>
                    <a:pt x="16" y="460"/>
                  </a:lnTo>
                  <a:cubicBezTo>
                    <a:pt x="16" y="475"/>
                    <a:pt x="28" y="487"/>
                    <a:pt x="43" y="487"/>
                  </a:cubicBezTo>
                  <a:lnTo>
                    <a:pt x="69" y="487"/>
                  </a:lnTo>
                  <a:cubicBezTo>
                    <a:pt x="90" y="487"/>
                    <a:pt x="108" y="500"/>
                    <a:pt x="115" y="519"/>
                  </a:cubicBezTo>
                  <a:cubicBezTo>
                    <a:pt x="119" y="530"/>
                    <a:pt x="123" y="541"/>
                    <a:pt x="128" y="551"/>
                  </a:cubicBezTo>
                  <a:cubicBezTo>
                    <a:pt x="137" y="569"/>
                    <a:pt x="133" y="590"/>
                    <a:pt x="119" y="604"/>
                  </a:cubicBezTo>
                  <a:lnTo>
                    <a:pt x="102" y="621"/>
                  </a:lnTo>
                  <a:cubicBezTo>
                    <a:pt x="96" y="627"/>
                    <a:pt x="92" y="635"/>
                    <a:pt x="92" y="642"/>
                  </a:cubicBezTo>
                  <a:cubicBezTo>
                    <a:pt x="92" y="649"/>
                    <a:pt x="95" y="656"/>
                    <a:pt x="100" y="661"/>
                  </a:cubicBezTo>
                  <a:lnTo>
                    <a:pt x="165" y="727"/>
                  </a:lnTo>
                  <a:cubicBezTo>
                    <a:pt x="176" y="737"/>
                    <a:pt x="193" y="737"/>
                    <a:pt x="203" y="727"/>
                  </a:cubicBezTo>
                  <a:lnTo>
                    <a:pt x="221" y="709"/>
                  </a:lnTo>
                  <a:cubicBezTo>
                    <a:pt x="231" y="699"/>
                    <a:pt x="243" y="694"/>
                    <a:pt x="256" y="694"/>
                  </a:cubicBezTo>
                  <a:close/>
                  <a:moveTo>
                    <a:pt x="459" y="827"/>
                  </a:moveTo>
                  <a:lnTo>
                    <a:pt x="367" y="827"/>
                  </a:lnTo>
                  <a:cubicBezTo>
                    <a:pt x="342" y="827"/>
                    <a:pt x="323" y="807"/>
                    <a:pt x="323" y="780"/>
                  </a:cubicBezTo>
                  <a:lnTo>
                    <a:pt x="323" y="756"/>
                  </a:lnTo>
                  <a:cubicBezTo>
                    <a:pt x="323" y="743"/>
                    <a:pt x="315" y="732"/>
                    <a:pt x="303" y="728"/>
                  </a:cubicBezTo>
                  <a:cubicBezTo>
                    <a:pt x="292" y="724"/>
                    <a:pt x="280" y="719"/>
                    <a:pt x="269" y="714"/>
                  </a:cubicBezTo>
                  <a:cubicBezTo>
                    <a:pt x="257" y="708"/>
                    <a:pt x="243" y="711"/>
                    <a:pt x="233" y="720"/>
                  </a:cubicBezTo>
                  <a:lnTo>
                    <a:pt x="215" y="738"/>
                  </a:lnTo>
                  <a:cubicBezTo>
                    <a:pt x="198" y="755"/>
                    <a:pt x="170" y="755"/>
                    <a:pt x="153" y="738"/>
                  </a:cubicBezTo>
                  <a:lnTo>
                    <a:pt x="88" y="673"/>
                  </a:lnTo>
                  <a:cubicBezTo>
                    <a:pt x="80" y="665"/>
                    <a:pt x="75" y="654"/>
                    <a:pt x="76" y="642"/>
                  </a:cubicBezTo>
                  <a:cubicBezTo>
                    <a:pt x="76" y="630"/>
                    <a:pt x="81" y="618"/>
                    <a:pt x="91" y="609"/>
                  </a:cubicBezTo>
                  <a:lnTo>
                    <a:pt x="107" y="592"/>
                  </a:lnTo>
                  <a:cubicBezTo>
                    <a:pt x="116" y="583"/>
                    <a:pt x="119" y="570"/>
                    <a:pt x="113" y="558"/>
                  </a:cubicBezTo>
                  <a:cubicBezTo>
                    <a:pt x="108" y="547"/>
                    <a:pt x="103" y="536"/>
                    <a:pt x="99" y="524"/>
                  </a:cubicBezTo>
                  <a:cubicBezTo>
                    <a:pt x="95" y="512"/>
                    <a:pt x="82" y="503"/>
                    <a:pt x="69" y="503"/>
                  </a:cubicBezTo>
                  <a:lnTo>
                    <a:pt x="43" y="503"/>
                  </a:lnTo>
                  <a:cubicBezTo>
                    <a:pt x="19" y="503"/>
                    <a:pt x="0" y="484"/>
                    <a:pt x="0" y="460"/>
                  </a:cubicBezTo>
                  <a:lnTo>
                    <a:pt x="0" y="368"/>
                  </a:lnTo>
                  <a:cubicBezTo>
                    <a:pt x="0" y="343"/>
                    <a:pt x="19" y="324"/>
                    <a:pt x="43" y="324"/>
                  </a:cubicBezTo>
                  <a:lnTo>
                    <a:pt x="69" y="324"/>
                  </a:lnTo>
                  <a:cubicBezTo>
                    <a:pt x="82" y="324"/>
                    <a:pt x="95" y="315"/>
                    <a:pt x="99" y="303"/>
                  </a:cubicBezTo>
                  <a:cubicBezTo>
                    <a:pt x="103" y="292"/>
                    <a:pt x="107" y="281"/>
                    <a:pt x="113" y="270"/>
                  </a:cubicBezTo>
                  <a:cubicBezTo>
                    <a:pt x="118" y="258"/>
                    <a:pt x="116" y="243"/>
                    <a:pt x="106" y="234"/>
                  </a:cubicBezTo>
                  <a:lnTo>
                    <a:pt x="88" y="216"/>
                  </a:lnTo>
                  <a:cubicBezTo>
                    <a:pt x="71" y="199"/>
                    <a:pt x="71" y="171"/>
                    <a:pt x="88" y="154"/>
                  </a:cubicBezTo>
                  <a:lnTo>
                    <a:pt x="153" y="89"/>
                  </a:lnTo>
                  <a:cubicBezTo>
                    <a:pt x="171" y="71"/>
                    <a:pt x="199" y="72"/>
                    <a:pt x="218" y="91"/>
                  </a:cubicBezTo>
                  <a:lnTo>
                    <a:pt x="234" y="108"/>
                  </a:lnTo>
                  <a:cubicBezTo>
                    <a:pt x="243" y="117"/>
                    <a:pt x="257" y="119"/>
                    <a:pt x="268" y="114"/>
                  </a:cubicBezTo>
                  <a:cubicBezTo>
                    <a:pt x="279" y="108"/>
                    <a:pt x="290" y="104"/>
                    <a:pt x="302" y="100"/>
                  </a:cubicBezTo>
                  <a:cubicBezTo>
                    <a:pt x="315" y="95"/>
                    <a:pt x="323" y="83"/>
                    <a:pt x="323" y="69"/>
                  </a:cubicBezTo>
                  <a:lnTo>
                    <a:pt x="323" y="44"/>
                  </a:lnTo>
                  <a:cubicBezTo>
                    <a:pt x="323" y="20"/>
                    <a:pt x="343" y="0"/>
                    <a:pt x="367" y="0"/>
                  </a:cubicBezTo>
                  <a:lnTo>
                    <a:pt x="459" y="0"/>
                  </a:lnTo>
                  <a:cubicBezTo>
                    <a:pt x="484" y="0"/>
                    <a:pt x="503" y="21"/>
                    <a:pt x="503" y="48"/>
                  </a:cubicBezTo>
                  <a:lnTo>
                    <a:pt x="503" y="71"/>
                  </a:lnTo>
                  <a:cubicBezTo>
                    <a:pt x="503" y="84"/>
                    <a:pt x="511" y="95"/>
                    <a:pt x="522" y="99"/>
                  </a:cubicBezTo>
                  <a:cubicBezTo>
                    <a:pt x="534" y="103"/>
                    <a:pt x="546" y="108"/>
                    <a:pt x="556" y="113"/>
                  </a:cubicBezTo>
                  <a:cubicBezTo>
                    <a:pt x="568" y="119"/>
                    <a:pt x="583" y="116"/>
                    <a:pt x="593" y="107"/>
                  </a:cubicBezTo>
                  <a:lnTo>
                    <a:pt x="611" y="89"/>
                  </a:lnTo>
                  <a:cubicBezTo>
                    <a:pt x="628" y="72"/>
                    <a:pt x="655" y="72"/>
                    <a:pt x="673" y="89"/>
                  </a:cubicBezTo>
                  <a:lnTo>
                    <a:pt x="738" y="154"/>
                  </a:lnTo>
                  <a:cubicBezTo>
                    <a:pt x="755" y="172"/>
                    <a:pt x="754" y="199"/>
                    <a:pt x="735" y="218"/>
                  </a:cubicBezTo>
                  <a:lnTo>
                    <a:pt x="719" y="235"/>
                  </a:lnTo>
                  <a:cubicBezTo>
                    <a:pt x="710" y="244"/>
                    <a:pt x="707" y="258"/>
                    <a:pt x="713" y="269"/>
                  </a:cubicBezTo>
                  <a:cubicBezTo>
                    <a:pt x="718" y="280"/>
                    <a:pt x="723" y="291"/>
                    <a:pt x="727" y="303"/>
                  </a:cubicBezTo>
                  <a:cubicBezTo>
                    <a:pt x="731" y="315"/>
                    <a:pt x="743" y="324"/>
                    <a:pt x="757" y="324"/>
                  </a:cubicBezTo>
                  <a:lnTo>
                    <a:pt x="782" y="324"/>
                  </a:lnTo>
                  <a:cubicBezTo>
                    <a:pt x="807" y="324"/>
                    <a:pt x="826" y="343"/>
                    <a:pt x="826" y="368"/>
                  </a:cubicBezTo>
                  <a:lnTo>
                    <a:pt x="826" y="460"/>
                  </a:lnTo>
                  <a:cubicBezTo>
                    <a:pt x="826" y="484"/>
                    <a:pt x="807" y="503"/>
                    <a:pt x="782" y="503"/>
                  </a:cubicBezTo>
                  <a:lnTo>
                    <a:pt x="757" y="503"/>
                  </a:lnTo>
                  <a:cubicBezTo>
                    <a:pt x="743" y="503"/>
                    <a:pt x="731" y="512"/>
                    <a:pt x="727" y="524"/>
                  </a:cubicBezTo>
                  <a:cubicBezTo>
                    <a:pt x="723" y="536"/>
                    <a:pt x="718" y="547"/>
                    <a:pt x="713" y="557"/>
                  </a:cubicBezTo>
                  <a:cubicBezTo>
                    <a:pt x="708" y="569"/>
                    <a:pt x="710" y="584"/>
                    <a:pt x="720" y="593"/>
                  </a:cubicBezTo>
                  <a:lnTo>
                    <a:pt x="738" y="611"/>
                  </a:lnTo>
                  <a:cubicBezTo>
                    <a:pt x="746" y="619"/>
                    <a:pt x="751" y="631"/>
                    <a:pt x="751" y="642"/>
                  </a:cubicBezTo>
                  <a:cubicBezTo>
                    <a:pt x="751" y="654"/>
                    <a:pt x="746" y="665"/>
                    <a:pt x="738" y="673"/>
                  </a:cubicBezTo>
                  <a:lnTo>
                    <a:pt x="673" y="738"/>
                  </a:lnTo>
                  <a:cubicBezTo>
                    <a:pt x="655" y="756"/>
                    <a:pt x="627" y="755"/>
                    <a:pt x="608" y="736"/>
                  </a:cubicBezTo>
                  <a:lnTo>
                    <a:pt x="592" y="719"/>
                  </a:lnTo>
                  <a:cubicBezTo>
                    <a:pt x="583" y="710"/>
                    <a:pt x="569" y="708"/>
                    <a:pt x="558" y="713"/>
                  </a:cubicBezTo>
                  <a:cubicBezTo>
                    <a:pt x="547" y="719"/>
                    <a:pt x="535" y="723"/>
                    <a:pt x="524" y="727"/>
                  </a:cubicBezTo>
                  <a:cubicBezTo>
                    <a:pt x="511" y="732"/>
                    <a:pt x="503" y="744"/>
                    <a:pt x="503" y="758"/>
                  </a:cubicBezTo>
                  <a:lnTo>
                    <a:pt x="503" y="783"/>
                  </a:lnTo>
                  <a:cubicBezTo>
                    <a:pt x="503" y="807"/>
                    <a:pt x="483" y="827"/>
                    <a:pt x="459" y="827"/>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0" name="Freeform 443">
              <a:extLst>
                <a:ext uri="{FF2B5EF4-FFF2-40B4-BE49-F238E27FC236}">
                  <a16:creationId xmlns:a16="http://schemas.microsoft.com/office/drawing/2014/main" id="{591293D4-CEF1-813F-9531-7546C72DA539}"/>
                </a:ext>
              </a:extLst>
            </p:cNvPr>
            <p:cNvSpPr>
              <a:spLocks noEditPoints="1"/>
            </p:cNvSpPr>
            <p:nvPr/>
          </p:nvSpPr>
          <p:spPr bwMode="auto">
            <a:xfrm>
              <a:off x="3935413" y="3268663"/>
              <a:ext cx="268288" cy="261938"/>
            </a:xfrm>
            <a:custGeom>
              <a:avLst/>
              <a:gdLst>
                <a:gd name="T0" fmla="*/ 199 w 398"/>
                <a:gd name="T1" fmla="*/ 24 h 390"/>
                <a:gd name="T2" fmla="*/ 171 w 398"/>
                <a:gd name="T3" fmla="*/ 26 h 390"/>
                <a:gd name="T4" fmla="*/ 26 w 398"/>
                <a:gd name="T5" fmla="*/ 171 h 390"/>
                <a:gd name="T6" fmla="*/ 75 w 398"/>
                <a:gd name="T7" fmla="*/ 322 h 390"/>
                <a:gd name="T8" fmla="*/ 227 w 398"/>
                <a:gd name="T9" fmla="*/ 371 h 390"/>
                <a:gd name="T10" fmla="*/ 227 w 398"/>
                <a:gd name="T11" fmla="*/ 371 h 390"/>
                <a:gd name="T12" fmla="*/ 372 w 398"/>
                <a:gd name="T13" fmla="*/ 226 h 390"/>
                <a:gd name="T14" fmla="*/ 323 w 398"/>
                <a:gd name="T15" fmla="*/ 75 h 390"/>
                <a:gd name="T16" fmla="*/ 199 w 398"/>
                <a:gd name="T17" fmla="*/ 24 h 390"/>
                <a:gd name="T18" fmla="*/ 199 w 398"/>
                <a:gd name="T19" fmla="*/ 390 h 390"/>
                <a:gd name="T20" fmla="*/ 63 w 398"/>
                <a:gd name="T21" fmla="*/ 334 h 390"/>
                <a:gd name="T22" fmla="*/ 10 w 398"/>
                <a:gd name="T23" fmla="*/ 168 h 390"/>
                <a:gd name="T24" fmla="*/ 169 w 398"/>
                <a:gd name="T25" fmla="*/ 9 h 390"/>
                <a:gd name="T26" fmla="*/ 334 w 398"/>
                <a:gd name="T27" fmla="*/ 63 h 390"/>
                <a:gd name="T28" fmla="*/ 388 w 398"/>
                <a:gd name="T29" fmla="*/ 229 h 390"/>
                <a:gd name="T30" fmla="*/ 229 w 398"/>
                <a:gd name="T31" fmla="*/ 388 h 390"/>
                <a:gd name="T32" fmla="*/ 229 w 398"/>
                <a:gd name="T33" fmla="*/ 388 h 390"/>
                <a:gd name="T34" fmla="*/ 199 w 398"/>
                <a:gd name="T35"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8" h="390">
                  <a:moveTo>
                    <a:pt x="199" y="24"/>
                  </a:moveTo>
                  <a:cubicBezTo>
                    <a:pt x="190" y="24"/>
                    <a:pt x="180" y="24"/>
                    <a:pt x="171" y="26"/>
                  </a:cubicBezTo>
                  <a:cubicBezTo>
                    <a:pt x="97" y="37"/>
                    <a:pt x="37" y="97"/>
                    <a:pt x="26" y="171"/>
                  </a:cubicBezTo>
                  <a:cubicBezTo>
                    <a:pt x="17" y="227"/>
                    <a:pt x="35" y="282"/>
                    <a:pt x="75" y="322"/>
                  </a:cubicBezTo>
                  <a:cubicBezTo>
                    <a:pt x="115" y="362"/>
                    <a:pt x="170" y="380"/>
                    <a:pt x="227" y="371"/>
                  </a:cubicBezTo>
                  <a:lnTo>
                    <a:pt x="227" y="371"/>
                  </a:lnTo>
                  <a:cubicBezTo>
                    <a:pt x="301" y="360"/>
                    <a:pt x="360" y="300"/>
                    <a:pt x="372" y="226"/>
                  </a:cubicBezTo>
                  <a:cubicBezTo>
                    <a:pt x="380" y="170"/>
                    <a:pt x="362" y="115"/>
                    <a:pt x="323" y="75"/>
                  </a:cubicBezTo>
                  <a:cubicBezTo>
                    <a:pt x="289" y="42"/>
                    <a:pt x="245" y="24"/>
                    <a:pt x="199" y="24"/>
                  </a:cubicBezTo>
                  <a:close/>
                  <a:moveTo>
                    <a:pt x="199" y="390"/>
                  </a:moveTo>
                  <a:cubicBezTo>
                    <a:pt x="148" y="390"/>
                    <a:pt x="100" y="370"/>
                    <a:pt x="63" y="334"/>
                  </a:cubicBezTo>
                  <a:cubicBezTo>
                    <a:pt x="20" y="290"/>
                    <a:pt x="0" y="230"/>
                    <a:pt x="10" y="168"/>
                  </a:cubicBezTo>
                  <a:cubicBezTo>
                    <a:pt x="22" y="87"/>
                    <a:pt x="87" y="22"/>
                    <a:pt x="169" y="9"/>
                  </a:cubicBezTo>
                  <a:cubicBezTo>
                    <a:pt x="230" y="0"/>
                    <a:pt x="291" y="19"/>
                    <a:pt x="334" y="63"/>
                  </a:cubicBezTo>
                  <a:cubicBezTo>
                    <a:pt x="378" y="107"/>
                    <a:pt x="398" y="167"/>
                    <a:pt x="388" y="229"/>
                  </a:cubicBezTo>
                  <a:cubicBezTo>
                    <a:pt x="376" y="310"/>
                    <a:pt x="310" y="375"/>
                    <a:pt x="229" y="388"/>
                  </a:cubicBezTo>
                  <a:lnTo>
                    <a:pt x="229" y="388"/>
                  </a:lnTo>
                  <a:cubicBezTo>
                    <a:pt x="219" y="389"/>
                    <a:pt x="209" y="390"/>
                    <a:pt x="199" y="390"/>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1" name="Freeform 444">
              <a:extLst>
                <a:ext uri="{FF2B5EF4-FFF2-40B4-BE49-F238E27FC236}">
                  <a16:creationId xmlns:a16="http://schemas.microsoft.com/office/drawing/2014/main" id="{9734972C-D276-D4A4-3B31-D779A4936CE9}"/>
                </a:ext>
              </a:extLst>
            </p:cNvPr>
            <p:cNvSpPr>
              <a:spLocks/>
            </p:cNvSpPr>
            <p:nvPr/>
          </p:nvSpPr>
          <p:spPr bwMode="auto">
            <a:xfrm>
              <a:off x="3697288" y="3030538"/>
              <a:ext cx="381000" cy="690563"/>
            </a:xfrm>
            <a:custGeom>
              <a:avLst/>
              <a:gdLst>
                <a:gd name="T0" fmla="*/ 269 w 563"/>
                <a:gd name="T1" fmla="*/ 1024 h 1024"/>
                <a:gd name="T2" fmla="*/ 162 w 563"/>
                <a:gd name="T3" fmla="*/ 940 h 1024"/>
                <a:gd name="T4" fmla="*/ 41 w 563"/>
                <a:gd name="T5" fmla="*/ 758 h 1024"/>
                <a:gd name="T6" fmla="*/ 0 w 563"/>
                <a:gd name="T7" fmla="*/ 551 h 1024"/>
                <a:gd name="T8" fmla="*/ 41 w 563"/>
                <a:gd name="T9" fmla="*/ 343 h 1024"/>
                <a:gd name="T10" fmla="*/ 162 w 563"/>
                <a:gd name="T11" fmla="*/ 161 h 1024"/>
                <a:gd name="T12" fmla="*/ 344 w 563"/>
                <a:gd name="T13" fmla="*/ 40 h 1024"/>
                <a:gd name="T14" fmla="*/ 563 w 563"/>
                <a:gd name="T15" fmla="*/ 0 h 1024"/>
                <a:gd name="T16" fmla="*/ 563 w 563"/>
                <a:gd name="T17" fmla="*/ 17 h 1024"/>
                <a:gd name="T18" fmla="*/ 350 w 563"/>
                <a:gd name="T19" fmla="*/ 56 h 1024"/>
                <a:gd name="T20" fmla="*/ 173 w 563"/>
                <a:gd name="T21" fmla="*/ 173 h 1024"/>
                <a:gd name="T22" fmla="*/ 56 w 563"/>
                <a:gd name="T23" fmla="*/ 350 h 1024"/>
                <a:gd name="T24" fmla="*/ 17 w 563"/>
                <a:gd name="T25" fmla="*/ 551 h 1024"/>
                <a:gd name="T26" fmla="*/ 56 w 563"/>
                <a:gd name="T27" fmla="*/ 752 h 1024"/>
                <a:gd name="T28" fmla="*/ 173 w 563"/>
                <a:gd name="T29" fmla="*/ 928 h 1024"/>
                <a:gd name="T30" fmla="*/ 277 w 563"/>
                <a:gd name="T31" fmla="*/ 1009 h 1024"/>
                <a:gd name="T32" fmla="*/ 269 w 563"/>
                <a:gd name="T33" fmla="*/ 1024 h 10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3" h="1024">
                  <a:moveTo>
                    <a:pt x="269" y="1024"/>
                  </a:moveTo>
                  <a:cubicBezTo>
                    <a:pt x="230" y="1000"/>
                    <a:pt x="194" y="972"/>
                    <a:pt x="162" y="940"/>
                  </a:cubicBezTo>
                  <a:cubicBezTo>
                    <a:pt x="109" y="887"/>
                    <a:pt x="68" y="826"/>
                    <a:pt x="41" y="758"/>
                  </a:cubicBezTo>
                  <a:cubicBezTo>
                    <a:pt x="14" y="692"/>
                    <a:pt x="0" y="622"/>
                    <a:pt x="0" y="551"/>
                  </a:cubicBezTo>
                  <a:cubicBezTo>
                    <a:pt x="0" y="479"/>
                    <a:pt x="14" y="409"/>
                    <a:pt x="41" y="343"/>
                  </a:cubicBezTo>
                  <a:cubicBezTo>
                    <a:pt x="68" y="275"/>
                    <a:pt x="109" y="214"/>
                    <a:pt x="162" y="161"/>
                  </a:cubicBezTo>
                  <a:cubicBezTo>
                    <a:pt x="214" y="109"/>
                    <a:pt x="275" y="68"/>
                    <a:pt x="344" y="40"/>
                  </a:cubicBezTo>
                  <a:cubicBezTo>
                    <a:pt x="406" y="15"/>
                    <a:pt x="488" y="0"/>
                    <a:pt x="563" y="0"/>
                  </a:cubicBezTo>
                  <a:lnTo>
                    <a:pt x="563" y="17"/>
                  </a:lnTo>
                  <a:cubicBezTo>
                    <a:pt x="490" y="17"/>
                    <a:pt x="410" y="31"/>
                    <a:pt x="350" y="56"/>
                  </a:cubicBezTo>
                  <a:cubicBezTo>
                    <a:pt x="284" y="83"/>
                    <a:pt x="224" y="122"/>
                    <a:pt x="173" y="173"/>
                  </a:cubicBezTo>
                  <a:cubicBezTo>
                    <a:pt x="122" y="224"/>
                    <a:pt x="83" y="283"/>
                    <a:pt x="56" y="350"/>
                  </a:cubicBezTo>
                  <a:cubicBezTo>
                    <a:pt x="30" y="414"/>
                    <a:pt x="17" y="481"/>
                    <a:pt x="17" y="551"/>
                  </a:cubicBezTo>
                  <a:cubicBezTo>
                    <a:pt x="17" y="620"/>
                    <a:pt x="30" y="688"/>
                    <a:pt x="56" y="752"/>
                  </a:cubicBezTo>
                  <a:cubicBezTo>
                    <a:pt x="83" y="818"/>
                    <a:pt x="122" y="877"/>
                    <a:pt x="173" y="928"/>
                  </a:cubicBezTo>
                  <a:cubicBezTo>
                    <a:pt x="205" y="959"/>
                    <a:pt x="240" y="987"/>
                    <a:pt x="277" y="1009"/>
                  </a:cubicBezTo>
                  <a:lnTo>
                    <a:pt x="269" y="1024"/>
                  </a:ln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2" name="Freeform 445">
              <a:extLst>
                <a:ext uri="{FF2B5EF4-FFF2-40B4-BE49-F238E27FC236}">
                  <a16:creationId xmlns:a16="http://schemas.microsoft.com/office/drawing/2014/main" id="{83FC3FD0-ED72-1667-2FCD-BD57DBD82FA6}"/>
                </a:ext>
              </a:extLst>
            </p:cNvPr>
            <p:cNvSpPr>
              <a:spLocks/>
            </p:cNvSpPr>
            <p:nvPr/>
          </p:nvSpPr>
          <p:spPr bwMode="auto">
            <a:xfrm>
              <a:off x="3905251" y="3725863"/>
              <a:ext cx="28575" cy="20638"/>
            </a:xfrm>
            <a:custGeom>
              <a:avLst/>
              <a:gdLst>
                <a:gd name="T0" fmla="*/ 37 w 43"/>
                <a:gd name="T1" fmla="*/ 32 h 32"/>
                <a:gd name="T2" fmla="*/ 0 w 43"/>
                <a:gd name="T3" fmla="*/ 15 h 32"/>
                <a:gd name="T4" fmla="*/ 7 w 43"/>
                <a:gd name="T5" fmla="*/ 0 h 32"/>
                <a:gd name="T6" fmla="*/ 43 w 43"/>
                <a:gd name="T7" fmla="*/ 16 h 32"/>
                <a:gd name="T8" fmla="*/ 37 w 43"/>
                <a:gd name="T9" fmla="*/ 32 h 32"/>
              </a:gdLst>
              <a:ahLst/>
              <a:cxnLst>
                <a:cxn ang="0">
                  <a:pos x="T0" y="T1"/>
                </a:cxn>
                <a:cxn ang="0">
                  <a:pos x="T2" y="T3"/>
                </a:cxn>
                <a:cxn ang="0">
                  <a:pos x="T4" y="T5"/>
                </a:cxn>
                <a:cxn ang="0">
                  <a:pos x="T6" y="T7"/>
                </a:cxn>
                <a:cxn ang="0">
                  <a:pos x="T8" y="T9"/>
                </a:cxn>
              </a:cxnLst>
              <a:rect l="0" t="0" r="r" b="b"/>
              <a:pathLst>
                <a:path w="43" h="32">
                  <a:moveTo>
                    <a:pt x="37" y="32"/>
                  </a:moveTo>
                  <a:cubicBezTo>
                    <a:pt x="24" y="27"/>
                    <a:pt x="12" y="21"/>
                    <a:pt x="0" y="15"/>
                  </a:cubicBezTo>
                  <a:lnTo>
                    <a:pt x="7" y="0"/>
                  </a:lnTo>
                  <a:cubicBezTo>
                    <a:pt x="19" y="6"/>
                    <a:pt x="31" y="12"/>
                    <a:pt x="43" y="16"/>
                  </a:cubicBezTo>
                  <a:lnTo>
                    <a:pt x="37" y="32"/>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3" name="Freeform 446">
              <a:extLst>
                <a:ext uri="{FF2B5EF4-FFF2-40B4-BE49-F238E27FC236}">
                  <a16:creationId xmlns:a16="http://schemas.microsoft.com/office/drawing/2014/main" id="{D2F89433-F7C4-4EB8-51F1-16C34BB08F27}"/>
                </a:ext>
              </a:extLst>
            </p:cNvPr>
            <p:cNvSpPr>
              <a:spLocks/>
            </p:cNvSpPr>
            <p:nvPr/>
          </p:nvSpPr>
          <p:spPr bwMode="auto">
            <a:xfrm>
              <a:off x="4068763" y="3082926"/>
              <a:ext cx="371475" cy="690563"/>
            </a:xfrm>
            <a:custGeom>
              <a:avLst/>
              <a:gdLst>
                <a:gd name="T0" fmla="*/ 0 w 551"/>
                <a:gd name="T1" fmla="*/ 1024 h 1024"/>
                <a:gd name="T2" fmla="*/ 0 w 551"/>
                <a:gd name="T3" fmla="*/ 1008 h 1024"/>
                <a:gd name="T4" fmla="*/ 201 w 551"/>
                <a:gd name="T5" fmla="*/ 968 h 1024"/>
                <a:gd name="T6" fmla="*/ 377 w 551"/>
                <a:gd name="T7" fmla="*/ 851 h 1024"/>
                <a:gd name="T8" fmla="*/ 495 w 551"/>
                <a:gd name="T9" fmla="*/ 675 h 1024"/>
                <a:gd name="T10" fmla="*/ 534 w 551"/>
                <a:gd name="T11" fmla="*/ 474 h 1024"/>
                <a:gd name="T12" fmla="*/ 495 w 551"/>
                <a:gd name="T13" fmla="*/ 273 h 1024"/>
                <a:gd name="T14" fmla="*/ 377 w 551"/>
                <a:gd name="T15" fmla="*/ 96 h 1024"/>
                <a:gd name="T16" fmla="*/ 272 w 551"/>
                <a:gd name="T17" fmla="*/ 14 h 1024"/>
                <a:gd name="T18" fmla="*/ 281 w 551"/>
                <a:gd name="T19" fmla="*/ 0 h 1024"/>
                <a:gd name="T20" fmla="*/ 389 w 551"/>
                <a:gd name="T21" fmla="*/ 84 h 1024"/>
                <a:gd name="T22" fmla="*/ 510 w 551"/>
                <a:gd name="T23" fmla="*/ 266 h 1024"/>
                <a:gd name="T24" fmla="*/ 551 w 551"/>
                <a:gd name="T25" fmla="*/ 474 h 1024"/>
                <a:gd name="T26" fmla="*/ 510 w 551"/>
                <a:gd name="T27" fmla="*/ 681 h 1024"/>
                <a:gd name="T28" fmla="*/ 389 w 551"/>
                <a:gd name="T29" fmla="*/ 863 h 1024"/>
                <a:gd name="T30" fmla="*/ 207 w 551"/>
                <a:gd name="T31" fmla="*/ 984 h 1024"/>
                <a:gd name="T32" fmla="*/ 0 w 551"/>
                <a:gd name="T33" fmla="*/ 1024 h 10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51" h="1024">
                  <a:moveTo>
                    <a:pt x="0" y="1024"/>
                  </a:moveTo>
                  <a:lnTo>
                    <a:pt x="0" y="1008"/>
                  </a:lnTo>
                  <a:cubicBezTo>
                    <a:pt x="69" y="1008"/>
                    <a:pt x="137" y="994"/>
                    <a:pt x="201" y="968"/>
                  </a:cubicBezTo>
                  <a:cubicBezTo>
                    <a:pt x="267" y="942"/>
                    <a:pt x="327" y="902"/>
                    <a:pt x="377" y="851"/>
                  </a:cubicBezTo>
                  <a:cubicBezTo>
                    <a:pt x="428" y="800"/>
                    <a:pt x="468" y="741"/>
                    <a:pt x="495" y="675"/>
                  </a:cubicBezTo>
                  <a:cubicBezTo>
                    <a:pt x="521" y="611"/>
                    <a:pt x="534" y="543"/>
                    <a:pt x="534" y="474"/>
                  </a:cubicBezTo>
                  <a:cubicBezTo>
                    <a:pt x="534" y="404"/>
                    <a:pt x="521" y="337"/>
                    <a:pt x="495" y="273"/>
                  </a:cubicBezTo>
                  <a:cubicBezTo>
                    <a:pt x="468" y="206"/>
                    <a:pt x="428" y="147"/>
                    <a:pt x="377" y="96"/>
                  </a:cubicBezTo>
                  <a:cubicBezTo>
                    <a:pt x="346" y="64"/>
                    <a:pt x="310" y="37"/>
                    <a:pt x="272" y="14"/>
                  </a:cubicBezTo>
                  <a:lnTo>
                    <a:pt x="281" y="0"/>
                  </a:lnTo>
                  <a:cubicBezTo>
                    <a:pt x="320" y="23"/>
                    <a:pt x="357" y="51"/>
                    <a:pt x="389" y="84"/>
                  </a:cubicBezTo>
                  <a:cubicBezTo>
                    <a:pt x="442" y="137"/>
                    <a:pt x="483" y="198"/>
                    <a:pt x="510" y="266"/>
                  </a:cubicBezTo>
                  <a:cubicBezTo>
                    <a:pt x="537" y="332"/>
                    <a:pt x="551" y="402"/>
                    <a:pt x="551" y="474"/>
                  </a:cubicBezTo>
                  <a:cubicBezTo>
                    <a:pt x="551" y="545"/>
                    <a:pt x="537" y="615"/>
                    <a:pt x="510" y="681"/>
                  </a:cubicBezTo>
                  <a:cubicBezTo>
                    <a:pt x="483" y="749"/>
                    <a:pt x="442" y="810"/>
                    <a:pt x="389" y="863"/>
                  </a:cubicBezTo>
                  <a:cubicBezTo>
                    <a:pt x="337" y="916"/>
                    <a:pt x="275" y="956"/>
                    <a:pt x="207" y="984"/>
                  </a:cubicBezTo>
                  <a:cubicBezTo>
                    <a:pt x="141" y="1011"/>
                    <a:pt x="71" y="1024"/>
                    <a:pt x="0" y="1024"/>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4" name="Freeform 447">
              <a:extLst>
                <a:ext uri="{FF2B5EF4-FFF2-40B4-BE49-F238E27FC236}">
                  <a16:creationId xmlns:a16="http://schemas.microsoft.com/office/drawing/2014/main" id="{C36B552B-3ABD-8CB1-D471-B89CABD0BD27}"/>
                </a:ext>
              </a:extLst>
            </p:cNvPr>
            <p:cNvSpPr>
              <a:spLocks/>
            </p:cNvSpPr>
            <p:nvPr/>
          </p:nvSpPr>
          <p:spPr bwMode="auto">
            <a:xfrm>
              <a:off x="4205288" y="3057526"/>
              <a:ext cx="26988" cy="20638"/>
            </a:xfrm>
            <a:custGeom>
              <a:avLst/>
              <a:gdLst>
                <a:gd name="T0" fmla="*/ 33 w 40"/>
                <a:gd name="T1" fmla="*/ 30 h 30"/>
                <a:gd name="T2" fmla="*/ 0 w 40"/>
                <a:gd name="T3" fmla="*/ 16 h 30"/>
                <a:gd name="T4" fmla="*/ 6 w 40"/>
                <a:gd name="T5" fmla="*/ 0 h 30"/>
                <a:gd name="T6" fmla="*/ 40 w 40"/>
                <a:gd name="T7" fmla="*/ 15 h 30"/>
                <a:gd name="T8" fmla="*/ 33 w 40"/>
                <a:gd name="T9" fmla="*/ 30 h 30"/>
              </a:gdLst>
              <a:ahLst/>
              <a:cxnLst>
                <a:cxn ang="0">
                  <a:pos x="T0" y="T1"/>
                </a:cxn>
                <a:cxn ang="0">
                  <a:pos x="T2" y="T3"/>
                </a:cxn>
                <a:cxn ang="0">
                  <a:pos x="T4" y="T5"/>
                </a:cxn>
                <a:cxn ang="0">
                  <a:pos x="T6" y="T7"/>
                </a:cxn>
                <a:cxn ang="0">
                  <a:pos x="T8" y="T9"/>
                </a:cxn>
              </a:cxnLst>
              <a:rect l="0" t="0" r="r" b="b"/>
              <a:pathLst>
                <a:path w="40" h="30">
                  <a:moveTo>
                    <a:pt x="33" y="30"/>
                  </a:moveTo>
                  <a:cubicBezTo>
                    <a:pt x="22" y="25"/>
                    <a:pt x="11" y="20"/>
                    <a:pt x="0" y="16"/>
                  </a:cubicBezTo>
                  <a:lnTo>
                    <a:pt x="6" y="0"/>
                  </a:lnTo>
                  <a:cubicBezTo>
                    <a:pt x="18" y="5"/>
                    <a:pt x="29" y="10"/>
                    <a:pt x="40" y="15"/>
                  </a:cubicBezTo>
                  <a:lnTo>
                    <a:pt x="33" y="30"/>
                  </a:ln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5" name="Freeform 448">
              <a:extLst>
                <a:ext uri="{FF2B5EF4-FFF2-40B4-BE49-F238E27FC236}">
                  <a16:creationId xmlns:a16="http://schemas.microsoft.com/office/drawing/2014/main" id="{0D253CF1-B75F-E95E-3720-480AF80A5ABF}"/>
                </a:ext>
              </a:extLst>
            </p:cNvPr>
            <p:cNvSpPr>
              <a:spLocks/>
            </p:cNvSpPr>
            <p:nvPr/>
          </p:nvSpPr>
          <p:spPr bwMode="auto">
            <a:xfrm>
              <a:off x="4037013" y="2995613"/>
              <a:ext cx="49213" cy="80963"/>
            </a:xfrm>
            <a:custGeom>
              <a:avLst/>
              <a:gdLst>
                <a:gd name="T0" fmla="*/ 6 w 31"/>
                <a:gd name="T1" fmla="*/ 51 h 51"/>
                <a:gd name="T2" fmla="*/ 0 w 31"/>
                <a:gd name="T3" fmla="*/ 46 h 51"/>
                <a:gd name="T4" fmla="*/ 21 w 31"/>
                <a:gd name="T5" fmla="*/ 25 h 51"/>
                <a:gd name="T6" fmla="*/ 0 w 31"/>
                <a:gd name="T7" fmla="*/ 4 h 51"/>
                <a:gd name="T8" fmla="*/ 6 w 31"/>
                <a:gd name="T9" fmla="*/ 0 h 51"/>
                <a:gd name="T10" fmla="*/ 31 w 31"/>
                <a:gd name="T11" fmla="*/ 25 h 51"/>
                <a:gd name="T12" fmla="*/ 6 w 31"/>
                <a:gd name="T13" fmla="*/ 51 h 51"/>
              </a:gdLst>
              <a:ahLst/>
              <a:cxnLst>
                <a:cxn ang="0">
                  <a:pos x="T0" y="T1"/>
                </a:cxn>
                <a:cxn ang="0">
                  <a:pos x="T2" y="T3"/>
                </a:cxn>
                <a:cxn ang="0">
                  <a:pos x="T4" y="T5"/>
                </a:cxn>
                <a:cxn ang="0">
                  <a:pos x="T6" y="T7"/>
                </a:cxn>
                <a:cxn ang="0">
                  <a:pos x="T8" y="T9"/>
                </a:cxn>
                <a:cxn ang="0">
                  <a:pos x="T10" y="T11"/>
                </a:cxn>
                <a:cxn ang="0">
                  <a:pos x="T12" y="T13"/>
                </a:cxn>
              </a:cxnLst>
              <a:rect l="0" t="0" r="r" b="b"/>
              <a:pathLst>
                <a:path w="31" h="51">
                  <a:moveTo>
                    <a:pt x="6" y="51"/>
                  </a:moveTo>
                  <a:lnTo>
                    <a:pt x="0" y="46"/>
                  </a:lnTo>
                  <a:lnTo>
                    <a:pt x="21" y="25"/>
                  </a:lnTo>
                  <a:lnTo>
                    <a:pt x="0" y="4"/>
                  </a:lnTo>
                  <a:lnTo>
                    <a:pt x="6" y="0"/>
                  </a:lnTo>
                  <a:lnTo>
                    <a:pt x="31" y="25"/>
                  </a:lnTo>
                  <a:lnTo>
                    <a:pt x="6" y="51"/>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6" name="Freeform 449">
              <a:extLst>
                <a:ext uri="{FF2B5EF4-FFF2-40B4-BE49-F238E27FC236}">
                  <a16:creationId xmlns:a16="http://schemas.microsoft.com/office/drawing/2014/main" id="{05EB53C9-F7D5-E11F-1F8A-7055F21984F5}"/>
                </a:ext>
              </a:extLst>
            </p:cNvPr>
            <p:cNvSpPr>
              <a:spLocks/>
            </p:cNvSpPr>
            <p:nvPr/>
          </p:nvSpPr>
          <p:spPr bwMode="auto">
            <a:xfrm>
              <a:off x="4060826" y="3727451"/>
              <a:ext cx="47625" cy="80963"/>
            </a:xfrm>
            <a:custGeom>
              <a:avLst/>
              <a:gdLst>
                <a:gd name="T0" fmla="*/ 25 w 30"/>
                <a:gd name="T1" fmla="*/ 51 h 51"/>
                <a:gd name="T2" fmla="*/ 0 w 30"/>
                <a:gd name="T3" fmla="*/ 26 h 51"/>
                <a:gd name="T4" fmla="*/ 25 w 30"/>
                <a:gd name="T5" fmla="*/ 0 h 51"/>
                <a:gd name="T6" fmla="*/ 30 w 30"/>
                <a:gd name="T7" fmla="*/ 5 h 51"/>
                <a:gd name="T8" fmla="*/ 9 w 30"/>
                <a:gd name="T9" fmla="*/ 26 h 51"/>
                <a:gd name="T10" fmla="*/ 30 w 30"/>
                <a:gd name="T11" fmla="*/ 47 h 51"/>
                <a:gd name="T12" fmla="*/ 25 w 30"/>
                <a:gd name="T13" fmla="*/ 51 h 51"/>
              </a:gdLst>
              <a:ahLst/>
              <a:cxnLst>
                <a:cxn ang="0">
                  <a:pos x="T0" y="T1"/>
                </a:cxn>
                <a:cxn ang="0">
                  <a:pos x="T2" y="T3"/>
                </a:cxn>
                <a:cxn ang="0">
                  <a:pos x="T4" y="T5"/>
                </a:cxn>
                <a:cxn ang="0">
                  <a:pos x="T6" y="T7"/>
                </a:cxn>
                <a:cxn ang="0">
                  <a:pos x="T8" y="T9"/>
                </a:cxn>
                <a:cxn ang="0">
                  <a:pos x="T10" y="T11"/>
                </a:cxn>
                <a:cxn ang="0">
                  <a:pos x="T12" y="T13"/>
                </a:cxn>
              </a:cxnLst>
              <a:rect l="0" t="0" r="r" b="b"/>
              <a:pathLst>
                <a:path w="30" h="51">
                  <a:moveTo>
                    <a:pt x="25" y="51"/>
                  </a:moveTo>
                  <a:lnTo>
                    <a:pt x="0" y="26"/>
                  </a:lnTo>
                  <a:lnTo>
                    <a:pt x="25" y="0"/>
                  </a:lnTo>
                  <a:lnTo>
                    <a:pt x="30" y="5"/>
                  </a:lnTo>
                  <a:lnTo>
                    <a:pt x="9" y="26"/>
                  </a:lnTo>
                  <a:lnTo>
                    <a:pt x="30" y="47"/>
                  </a:lnTo>
                  <a:lnTo>
                    <a:pt x="25" y="51"/>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11" name="Checklist4" descr="{&quot;Key&quot;:&quot;POWER_USER_SHAPE_ICON&quot;,&quot;Value&quot;:&quot;POWER_USER_SHAPE_ICON_STYLE_1&quot;}">
            <a:extLst>
              <a:ext uri="{FF2B5EF4-FFF2-40B4-BE49-F238E27FC236}">
                <a16:creationId xmlns:a16="http://schemas.microsoft.com/office/drawing/2014/main" id="{DA93E25D-6CA6-49C9-34FF-C8F1CD435741}"/>
              </a:ext>
            </a:extLst>
          </p:cNvPr>
          <p:cNvSpPr>
            <a:spLocks noChangeAspect="1" noEditPoints="1"/>
          </p:cNvSpPr>
          <p:nvPr>
            <p:custDataLst>
              <p:tags r:id="rId6"/>
            </p:custDataLst>
          </p:nvPr>
        </p:nvSpPr>
        <p:spPr bwMode="auto">
          <a:xfrm>
            <a:off x="445781" y="4334568"/>
            <a:ext cx="432000" cy="682351"/>
          </a:xfrm>
          <a:custGeom>
            <a:avLst/>
            <a:gdLst>
              <a:gd name="T0" fmla="*/ 741 w 978"/>
              <a:gd name="T1" fmla="*/ 651 h 1543"/>
              <a:gd name="T2" fmla="*/ 719 w 978"/>
              <a:gd name="T3" fmla="*/ 663 h 1543"/>
              <a:gd name="T4" fmla="*/ 616 w 978"/>
              <a:gd name="T5" fmla="*/ 553 h 1543"/>
              <a:gd name="T6" fmla="*/ 657 w 978"/>
              <a:gd name="T7" fmla="*/ 519 h 1543"/>
              <a:gd name="T8" fmla="*/ 803 w 978"/>
              <a:gd name="T9" fmla="*/ 467 h 1543"/>
              <a:gd name="T10" fmla="*/ 847 w 978"/>
              <a:gd name="T11" fmla="*/ 497 h 1543"/>
              <a:gd name="T12" fmla="*/ 741 w 978"/>
              <a:gd name="T13" fmla="*/ 1014 h 1543"/>
              <a:gd name="T14" fmla="*/ 719 w 978"/>
              <a:gd name="T15" fmla="*/ 1026 h 1543"/>
              <a:gd name="T16" fmla="*/ 616 w 978"/>
              <a:gd name="T17" fmla="*/ 916 h 1543"/>
              <a:gd name="T18" fmla="*/ 657 w 978"/>
              <a:gd name="T19" fmla="*/ 882 h 1543"/>
              <a:gd name="T20" fmla="*/ 803 w 978"/>
              <a:gd name="T21" fmla="*/ 830 h 1543"/>
              <a:gd name="T22" fmla="*/ 847 w 978"/>
              <a:gd name="T23" fmla="*/ 860 h 1543"/>
              <a:gd name="T24" fmla="*/ 815 w 978"/>
              <a:gd name="T25" fmla="*/ 1381 h 1543"/>
              <a:gd name="T26" fmla="*/ 770 w 978"/>
              <a:gd name="T27" fmla="*/ 1381 h 1543"/>
              <a:gd name="T28" fmla="*/ 666 w 978"/>
              <a:gd name="T29" fmla="*/ 1381 h 1543"/>
              <a:gd name="T30" fmla="*/ 621 w 978"/>
              <a:gd name="T31" fmla="*/ 1381 h 1543"/>
              <a:gd name="T32" fmla="*/ 673 w 978"/>
              <a:gd name="T33" fmla="*/ 1284 h 1543"/>
              <a:gd name="T34" fmla="*/ 621 w 978"/>
              <a:gd name="T35" fmla="*/ 1186 h 1543"/>
              <a:gd name="T36" fmla="*/ 718 w 978"/>
              <a:gd name="T37" fmla="*/ 1238 h 1543"/>
              <a:gd name="T38" fmla="*/ 815 w 978"/>
              <a:gd name="T39" fmla="*/ 1186 h 1543"/>
              <a:gd name="T40" fmla="*/ 763 w 978"/>
              <a:gd name="T41" fmla="*/ 1284 h 1543"/>
              <a:gd name="T42" fmla="*/ 465 w 978"/>
              <a:gd name="T43" fmla="*/ 539 h 1543"/>
              <a:gd name="T44" fmla="*/ 155 w 978"/>
              <a:gd name="T45" fmla="*/ 509 h 1543"/>
              <a:gd name="T46" fmla="*/ 465 w 978"/>
              <a:gd name="T47" fmla="*/ 480 h 1543"/>
              <a:gd name="T48" fmla="*/ 465 w 978"/>
              <a:gd name="T49" fmla="*/ 539 h 1543"/>
              <a:gd name="T50" fmla="*/ 185 w 978"/>
              <a:gd name="T51" fmla="*/ 671 h 1543"/>
              <a:gd name="T52" fmla="*/ 185 w 978"/>
              <a:gd name="T53" fmla="*/ 611 h 1543"/>
              <a:gd name="T54" fmla="*/ 495 w 978"/>
              <a:gd name="T55" fmla="*/ 641 h 1543"/>
              <a:gd name="T56" fmla="*/ 465 w 978"/>
              <a:gd name="T57" fmla="*/ 891 h 1543"/>
              <a:gd name="T58" fmla="*/ 155 w 978"/>
              <a:gd name="T59" fmla="*/ 861 h 1543"/>
              <a:gd name="T60" fmla="*/ 465 w 978"/>
              <a:gd name="T61" fmla="*/ 831 h 1543"/>
              <a:gd name="T62" fmla="*/ 465 w 978"/>
              <a:gd name="T63" fmla="*/ 891 h 1543"/>
              <a:gd name="T64" fmla="*/ 185 w 978"/>
              <a:gd name="T65" fmla="*/ 1022 h 1543"/>
              <a:gd name="T66" fmla="*/ 185 w 978"/>
              <a:gd name="T67" fmla="*/ 963 h 1543"/>
              <a:gd name="T68" fmla="*/ 495 w 978"/>
              <a:gd name="T69" fmla="*/ 992 h 1543"/>
              <a:gd name="T70" fmla="*/ 465 w 978"/>
              <a:gd name="T71" fmla="*/ 1243 h 1543"/>
              <a:gd name="T72" fmla="*/ 155 w 978"/>
              <a:gd name="T73" fmla="*/ 1213 h 1543"/>
              <a:gd name="T74" fmla="*/ 465 w 978"/>
              <a:gd name="T75" fmla="*/ 1183 h 1543"/>
              <a:gd name="T76" fmla="*/ 465 w 978"/>
              <a:gd name="T77" fmla="*/ 1243 h 1543"/>
              <a:gd name="T78" fmla="*/ 185 w 978"/>
              <a:gd name="T79" fmla="*/ 1374 h 1543"/>
              <a:gd name="T80" fmla="*/ 185 w 978"/>
              <a:gd name="T81" fmla="*/ 1314 h 1543"/>
              <a:gd name="T82" fmla="*/ 495 w 978"/>
              <a:gd name="T83" fmla="*/ 1344 h 1543"/>
              <a:gd name="T84" fmla="*/ 303 w 978"/>
              <a:gd name="T85" fmla="*/ 280 h 1543"/>
              <a:gd name="T86" fmla="*/ 677 w 978"/>
              <a:gd name="T87" fmla="*/ 198 h 1543"/>
              <a:gd name="T88" fmla="*/ 303 w 978"/>
              <a:gd name="T89" fmla="*/ 324 h 1543"/>
              <a:gd name="T90" fmla="*/ 484 w 978"/>
              <a:gd name="T91" fmla="*/ 60 h 1543"/>
              <a:gd name="T92" fmla="*/ 391 w 978"/>
              <a:gd name="T93" fmla="*/ 138 h 1543"/>
              <a:gd name="T94" fmla="*/ 872 w 978"/>
              <a:gd name="T95" fmla="*/ 221 h 1543"/>
              <a:gd name="T96" fmla="*/ 737 w 978"/>
              <a:gd name="T97" fmla="*/ 168 h 1543"/>
              <a:gd name="T98" fmla="*/ 637 w 978"/>
              <a:gd name="T99" fmla="*/ 138 h 1543"/>
              <a:gd name="T100" fmla="*/ 330 w 978"/>
              <a:gd name="T101" fmla="*/ 138 h 1543"/>
              <a:gd name="T102" fmla="*/ 244 w 978"/>
              <a:gd name="T103" fmla="*/ 168 h 1543"/>
              <a:gd name="T104" fmla="*/ 107 w 978"/>
              <a:gd name="T105" fmla="*/ 221 h 1543"/>
              <a:gd name="T106" fmla="*/ 0 w 978"/>
              <a:gd name="T107" fmla="*/ 1436 h 1543"/>
              <a:gd name="T108" fmla="*/ 872 w 978"/>
              <a:gd name="T109" fmla="*/ 1543 h 1543"/>
              <a:gd name="T110" fmla="*/ 978 w 978"/>
              <a:gd name="T111" fmla="*/ 327 h 1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78" h="1543">
                <a:moveTo>
                  <a:pt x="847" y="497"/>
                </a:moveTo>
                <a:lnTo>
                  <a:pt x="741" y="651"/>
                </a:lnTo>
                <a:cubicBezTo>
                  <a:pt x="736" y="658"/>
                  <a:pt x="728" y="662"/>
                  <a:pt x="720" y="663"/>
                </a:cubicBezTo>
                <a:cubicBezTo>
                  <a:pt x="719" y="663"/>
                  <a:pt x="719" y="663"/>
                  <a:pt x="719" y="663"/>
                </a:cubicBezTo>
                <a:cubicBezTo>
                  <a:pt x="711" y="663"/>
                  <a:pt x="703" y="659"/>
                  <a:pt x="698" y="653"/>
                </a:cubicBezTo>
                <a:lnTo>
                  <a:pt x="616" y="553"/>
                </a:lnTo>
                <a:cubicBezTo>
                  <a:pt x="607" y="541"/>
                  <a:pt x="608" y="525"/>
                  <a:pt x="620" y="515"/>
                </a:cubicBezTo>
                <a:cubicBezTo>
                  <a:pt x="631" y="506"/>
                  <a:pt x="648" y="508"/>
                  <a:pt x="657" y="519"/>
                </a:cubicBezTo>
                <a:lnTo>
                  <a:pt x="717" y="592"/>
                </a:lnTo>
                <a:lnTo>
                  <a:pt x="803" y="467"/>
                </a:lnTo>
                <a:cubicBezTo>
                  <a:pt x="811" y="455"/>
                  <a:pt x="828" y="452"/>
                  <a:pt x="840" y="460"/>
                </a:cubicBezTo>
                <a:cubicBezTo>
                  <a:pt x="852" y="468"/>
                  <a:pt x="855" y="485"/>
                  <a:pt x="847" y="497"/>
                </a:cubicBezTo>
                <a:close/>
                <a:moveTo>
                  <a:pt x="847" y="860"/>
                </a:moveTo>
                <a:lnTo>
                  <a:pt x="741" y="1014"/>
                </a:lnTo>
                <a:cubicBezTo>
                  <a:pt x="736" y="1021"/>
                  <a:pt x="728" y="1025"/>
                  <a:pt x="720" y="1026"/>
                </a:cubicBezTo>
                <a:cubicBezTo>
                  <a:pt x="719" y="1026"/>
                  <a:pt x="719" y="1026"/>
                  <a:pt x="719" y="1026"/>
                </a:cubicBezTo>
                <a:cubicBezTo>
                  <a:pt x="711" y="1026"/>
                  <a:pt x="703" y="1022"/>
                  <a:pt x="698" y="1016"/>
                </a:cubicBezTo>
                <a:lnTo>
                  <a:pt x="616" y="916"/>
                </a:lnTo>
                <a:cubicBezTo>
                  <a:pt x="607" y="904"/>
                  <a:pt x="608" y="888"/>
                  <a:pt x="620" y="878"/>
                </a:cubicBezTo>
                <a:cubicBezTo>
                  <a:pt x="631" y="869"/>
                  <a:pt x="648" y="871"/>
                  <a:pt x="657" y="882"/>
                </a:cubicBezTo>
                <a:lnTo>
                  <a:pt x="717" y="955"/>
                </a:lnTo>
                <a:lnTo>
                  <a:pt x="803" y="830"/>
                </a:lnTo>
                <a:cubicBezTo>
                  <a:pt x="811" y="818"/>
                  <a:pt x="828" y="815"/>
                  <a:pt x="840" y="823"/>
                </a:cubicBezTo>
                <a:cubicBezTo>
                  <a:pt x="852" y="831"/>
                  <a:pt x="855" y="848"/>
                  <a:pt x="847" y="860"/>
                </a:cubicBezTo>
                <a:close/>
                <a:moveTo>
                  <a:pt x="815" y="1336"/>
                </a:moveTo>
                <a:cubicBezTo>
                  <a:pt x="828" y="1348"/>
                  <a:pt x="828" y="1369"/>
                  <a:pt x="815" y="1381"/>
                </a:cubicBezTo>
                <a:cubicBezTo>
                  <a:pt x="809" y="1387"/>
                  <a:pt x="801" y="1390"/>
                  <a:pt x="793" y="1390"/>
                </a:cubicBezTo>
                <a:cubicBezTo>
                  <a:pt x="785" y="1390"/>
                  <a:pt x="776" y="1387"/>
                  <a:pt x="770" y="1381"/>
                </a:cubicBezTo>
                <a:lnTo>
                  <a:pt x="718" y="1329"/>
                </a:lnTo>
                <a:lnTo>
                  <a:pt x="666" y="1381"/>
                </a:lnTo>
                <a:cubicBezTo>
                  <a:pt x="660" y="1387"/>
                  <a:pt x="652" y="1390"/>
                  <a:pt x="643" y="1390"/>
                </a:cubicBezTo>
                <a:cubicBezTo>
                  <a:pt x="635" y="1390"/>
                  <a:pt x="627" y="1387"/>
                  <a:pt x="621" y="1381"/>
                </a:cubicBezTo>
                <a:cubicBezTo>
                  <a:pt x="608" y="1369"/>
                  <a:pt x="608" y="1348"/>
                  <a:pt x="621" y="1336"/>
                </a:cubicBezTo>
                <a:lnTo>
                  <a:pt x="673" y="1284"/>
                </a:lnTo>
                <a:lnTo>
                  <a:pt x="621" y="1232"/>
                </a:lnTo>
                <a:cubicBezTo>
                  <a:pt x="608" y="1219"/>
                  <a:pt x="608" y="1199"/>
                  <a:pt x="621" y="1186"/>
                </a:cubicBezTo>
                <a:cubicBezTo>
                  <a:pt x="633" y="1174"/>
                  <a:pt x="654" y="1174"/>
                  <a:pt x="666" y="1186"/>
                </a:cubicBezTo>
                <a:lnTo>
                  <a:pt x="718" y="1238"/>
                </a:lnTo>
                <a:lnTo>
                  <a:pt x="770" y="1186"/>
                </a:lnTo>
                <a:cubicBezTo>
                  <a:pt x="783" y="1174"/>
                  <a:pt x="803" y="1174"/>
                  <a:pt x="815" y="1186"/>
                </a:cubicBezTo>
                <a:cubicBezTo>
                  <a:pt x="828" y="1199"/>
                  <a:pt x="828" y="1219"/>
                  <a:pt x="815" y="1232"/>
                </a:cubicBezTo>
                <a:lnTo>
                  <a:pt x="763" y="1284"/>
                </a:lnTo>
                <a:lnTo>
                  <a:pt x="815" y="1336"/>
                </a:lnTo>
                <a:close/>
                <a:moveTo>
                  <a:pt x="465" y="539"/>
                </a:moveTo>
                <a:lnTo>
                  <a:pt x="185" y="539"/>
                </a:lnTo>
                <a:cubicBezTo>
                  <a:pt x="168" y="539"/>
                  <a:pt x="155" y="526"/>
                  <a:pt x="155" y="509"/>
                </a:cubicBezTo>
                <a:cubicBezTo>
                  <a:pt x="155" y="493"/>
                  <a:pt x="168" y="480"/>
                  <a:pt x="185" y="480"/>
                </a:cubicBezTo>
                <a:lnTo>
                  <a:pt x="465" y="480"/>
                </a:lnTo>
                <a:cubicBezTo>
                  <a:pt x="481" y="480"/>
                  <a:pt x="495" y="493"/>
                  <a:pt x="495" y="509"/>
                </a:cubicBezTo>
                <a:cubicBezTo>
                  <a:pt x="495" y="526"/>
                  <a:pt x="481" y="539"/>
                  <a:pt x="465" y="539"/>
                </a:cubicBezTo>
                <a:close/>
                <a:moveTo>
                  <a:pt x="465" y="671"/>
                </a:moveTo>
                <a:lnTo>
                  <a:pt x="185" y="671"/>
                </a:lnTo>
                <a:cubicBezTo>
                  <a:pt x="168" y="671"/>
                  <a:pt x="155" y="657"/>
                  <a:pt x="155" y="641"/>
                </a:cubicBezTo>
                <a:cubicBezTo>
                  <a:pt x="155" y="624"/>
                  <a:pt x="168" y="611"/>
                  <a:pt x="185" y="611"/>
                </a:cubicBezTo>
                <a:lnTo>
                  <a:pt x="465" y="611"/>
                </a:lnTo>
                <a:cubicBezTo>
                  <a:pt x="481" y="611"/>
                  <a:pt x="495" y="624"/>
                  <a:pt x="495" y="641"/>
                </a:cubicBezTo>
                <a:cubicBezTo>
                  <a:pt x="495" y="657"/>
                  <a:pt x="481" y="671"/>
                  <a:pt x="465" y="671"/>
                </a:cubicBezTo>
                <a:close/>
                <a:moveTo>
                  <a:pt x="465" y="891"/>
                </a:moveTo>
                <a:lnTo>
                  <a:pt x="185" y="891"/>
                </a:lnTo>
                <a:cubicBezTo>
                  <a:pt x="168" y="891"/>
                  <a:pt x="155" y="878"/>
                  <a:pt x="155" y="861"/>
                </a:cubicBezTo>
                <a:cubicBezTo>
                  <a:pt x="155" y="845"/>
                  <a:pt x="168" y="831"/>
                  <a:pt x="185" y="831"/>
                </a:cubicBezTo>
                <a:lnTo>
                  <a:pt x="465" y="831"/>
                </a:lnTo>
                <a:cubicBezTo>
                  <a:pt x="481" y="831"/>
                  <a:pt x="495" y="845"/>
                  <a:pt x="495" y="861"/>
                </a:cubicBezTo>
                <a:cubicBezTo>
                  <a:pt x="495" y="878"/>
                  <a:pt x="481" y="891"/>
                  <a:pt x="465" y="891"/>
                </a:cubicBezTo>
                <a:close/>
                <a:moveTo>
                  <a:pt x="465" y="1022"/>
                </a:moveTo>
                <a:lnTo>
                  <a:pt x="185" y="1022"/>
                </a:lnTo>
                <a:cubicBezTo>
                  <a:pt x="168" y="1022"/>
                  <a:pt x="155" y="1009"/>
                  <a:pt x="155" y="992"/>
                </a:cubicBezTo>
                <a:cubicBezTo>
                  <a:pt x="155" y="976"/>
                  <a:pt x="168" y="963"/>
                  <a:pt x="185" y="963"/>
                </a:cubicBezTo>
                <a:lnTo>
                  <a:pt x="465" y="963"/>
                </a:lnTo>
                <a:cubicBezTo>
                  <a:pt x="481" y="963"/>
                  <a:pt x="495" y="976"/>
                  <a:pt x="495" y="992"/>
                </a:cubicBezTo>
                <a:cubicBezTo>
                  <a:pt x="495" y="1009"/>
                  <a:pt x="481" y="1022"/>
                  <a:pt x="465" y="1022"/>
                </a:cubicBezTo>
                <a:close/>
                <a:moveTo>
                  <a:pt x="465" y="1243"/>
                </a:moveTo>
                <a:lnTo>
                  <a:pt x="185" y="1243"/>
                </a:lnTo>
                <a:cubicBezTo>
                  <a:pt x="168" y="1243"/>
                  <a:pt x="155" y="1229"/>
                  <a:pt x="155" y="1213"/>
                </a:cubicBezTo>
                <a:cubicBezTo>
                  <a:pt x="155" y="1196"/>
                  <a:pt x="168" y="1183"/>
                  <a:pt x="185" y="1183"/>
                </a:cubicBezTo>
                <a:lnTo>
                  <a:pt x="465" y="1183"/>
                </a:lnTo>
                <a:cubicBezTo>
                  <a:pt x="481" y="1183"/>
                  <a:pt x="495" y="1196"/>
                  <a:pt x="495" y="1213"/>
                </a:cubicBezTo>
                <a:cubicBezTo>
                  <a:pt x="495" y="1229"/>
                  <a:pt x="481" y="1243"/>
                  <a:pt x="465" y="1243"/>
                </a:cubicBezTo>
                <a:close/>
                <a:moveTo>
                  <a:pt x="465" y="1374"/>
                </a:moveTo>
                <a:lnTo>
                  <a:pt x="185" y="1374"/>
                </a:lnTo>
                <a:cubicBezTo>
                  <a:pt x="168" y="1374"/>
                  <a:pt x="155" y="1361"/>
                  <a:pt x="155" y="1344"/>
                </a:cubicBezTo>
                <a:cubicBezTo>
                  <a:pt x="155" y="1328"/>
                  <a:pt x="168" y="1314"/>
                  <a:pt x="185" y="1314"/>
                </a:cubicBezTo>
                <a:lnTo>
                  <a:pt x="465" y="1314"/>
                </a:lnTo>
                <a:cubicBezTo>
                  <a:pt x="481" y="1314"/>
                  <a:pt x="495" y="1328"/>
                  <a:pt x="495" y="1344"/>
                </a:cubicBezTo>
                <a:cubicBezTo>
                  <a:pt x="495" y="1361"/>
                  <a:pt x="481" y="1374"/>
                  <a:pt x="465" y="1374"/>
                </a:cubicBezTo>
                <a:close/>
                <a:moveTo>
                  <a:pt x="303" y="280"/>
                </a:moveTo>
                <a:lnTo>
                  <a:pt x="303" y="198"/>
                </a:lnTo>
                <a:lnTo>
                  <a:pt x="677" y="198"/>
                </a:lnTo>
                <a:lnTo>
                  <a:pt x="677" y="324"/>
                </a:lnTo>
                <a:lnTo>
                  <a:pt x="303" y="324"/>
                </a:lnTo>
                <a:lnTo>
                  <a:pt x="303" y="280"/>
                </a:lnTo>
                <a:close/>
                <a:moveTo>
                  <a:pt x="484" y="60"/>
                </a:moveTo>
                <a:cubicBezTo>
                  <a:pt x="530" y="60"/>
                  <a:pt x="569" y="94"/>
                  <a:pt x="577" y="138"/>
                </a:cubicBezTo>
                <a:lnTo>
                  <a:pt x="391" y="138"/>
                </a:lnTo>
                <a:cubicBezTo>
                  <a:pt x="398" y="94"/>
                  <a:pt x="437" y="60"/>
                  <a:pt x="484" y="60"/>
                </a:cubicBezTo>
                <a:close/>
                <a:moveTo>
                  <a:pt x="872" y="221"/>
                </a:moveTo>
                <a:lnTo>
                  <a:pt x="737" y="221"/>
                </a:lnTo>
                <a:lnTo>
                  <a:pt x="737" y="168"/>
                </a:lnTo>
                <a:cubicBezTo>
                  <a:pt x="737" y="152"/>
                  <a:pt x="723" y="138"/>
                  <a:pt x="707" y="138"/>
                </a:cubicBezTo>
                <a:lnTo>
                  <a:pt x="637" y="138"/>
                </a:lnTo>
                <a:cubicBezTo>
                  <a:pt x="629" y="61"/>
                  <a:pt x="563" y="0"/>
                  <a:pt x="484" y="0"/>
                </a:cubicBezTo>
                <a:cubicBezTo>
                  <a:pt x="404" y="0"/>
                  <a:pt x="338" y="61"/>
                  <a:pt x="330" y="138"/>
                </a:cubicBezTo>
                <a:lnTo>
                  <a:pt x="273" y="138"/>
                </a:lnTo>
                <a:cubicBezTo>
                  <a:pt x="257" y="138"/>
                  <a:pt x="244" y="152"/>
                  <a:pt x="244" y="168"/>
                </a:cubicBezTo>
                <a:lnTo>
                  <a:pt x="244" y="221"/>
                </a:lnTo>
                <a:lnTo>
                  <a:pt x="107" y="221"/>
                </a:lnTo>
                <a:cubicBezTo>
                  <a:pt x="48" y="221"/>
                  <a:pt x="0" y="268"/>
                  <a:pt x="0" y="327"/>
                </a:cubicBezTo>
                <a:lnTo>
                  <a:pt x="0" y="1436"/>
                </a:lnTo>
                <a:cubicBezTo>
                  <a:pt x="0" y="1495"/>
                  <a:pt x="48" y="1543"/>
                  <a:pt x="107" y="1543"/>
                </a:cubicBezTo>
                <a:lnTo>
                  <a:pt x="872" y="1543"/>
                </a:lnTo>
                <a:cubicBezTo>
                  <a:pt x="930" y="1543"/>
                  <a:pt x="978" y="1495"/>
                  <a:pt x="978" y="1436"/>
                </a:cubicBezTo>
                <a:lnTo>
                  <a:pt x="978" y="327"/>
                </a:lnTo>
                <a:cubicBezTo>
                  <a:pt x="978" y="268"/>
                  <a:pt x="930" y="221"/>
                  <a:pt x="872" y="221"/>
                </a:cubicBezTo>
                <a:close/>
              </a:path>
            </a:pathLst>
          </a:custGeom>
          <a:solidFill>
            <a:schemeClr val="tx1">
              <a:lumMod val="50000"/>
              <a:lumOff val="50000"/>
            </a:schemeClr>
          </a:solidFill>
          <a:ln w="19050">
            <a:solidFill>
              <a:schemeClr val="bg1"/>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212" name="Notepad" descr="{&quot;Key&quot;:&quot;POWER_USER_SHAPE_ICON&quot;,&quot;Value&quot;:&quot;POWER_USER_SHAPE_ICON_STYLE_1&quot;}">
            <a:extLst>
              <a:ext uri="{FF2B5EF4-FFF2-40B4-BE49-F238E27FC236}">
                <a16:creationId xmlns:a16="http://schemas.microsoft.com/office/drawing/2014/main" id="{BA09D25B-F593-7A5B-8D52-DEA5C373E874}"/>
              </a:ext>
            </a:extLst>
          </p:cNvPr>
          <p:cNvGrpSpPr>
            <a:grpSpLocks noChangeAspect="1"/>
          </p:cNvGrpSpPr>
          <p:nvPr/>
        </p:nvGrpSpPr>
        <p:grpSpPr>
          <a:xfrm>
            <a:off x="9784308" y="1565961"/>
            <a:ext cx="432000" cy="468097"/>
            <a:chOff x="6288088" y="2614613"/>
            <a:chExt cx="588963" cy="638175"/>
          </a:xfrm>
          <a:solidFill>
            <a:srgbClr val="677489"/>
          </a:solidFill>
        </p:grpSpPr>
        <p:sp>
          <p:nvSpPr>
            <p:cNvPr id="1213" name="Freeform 269">
              <a:extLst>
                <a:ext uri="{FF2B5EF4-FFF2-40B4-BE49-F238E27FC236}">
                  <a16:creationId xmlns:a16="http://schemas.microsoft.com/office/drawing/2014/main" id="{85DD6F31-0ECA-201A-5BA9-9AC072B5ABED}"/>
                </a:ext>
              </a:extLst>
            </p:cNvPr>
            <p:cNvSpPr>
              <a:spLocks/>
            </p:cNvSpPr>
            <p:nvPr/>
          </p:nvSpPr>
          <p:spPr bwMode="auto">
            <a:xfrm>
              <a:off x="6338888" y="2862263"/>
              <a:ext cx="320675" cy="20638"/>
            </a:xfrm>
            <a:custGeom>
              <a:avLst/>
              <a:gdLst>
                <a:gd name="T0" fmla="*/ 538 w 538"/>
                <a:gd name="T1" fmla="*/ 16 h 33"/>
                <a:gd name="T2" fmla="*/ 521 w 538"/>
                <a:gd name="T3" fmla="*/ 0 h 33"/>
                <a:gd name="T4" fmla="*/ 17 w 538"/>
                <a:gd name="T5" fmla="*/ 0 h 33"/>
                <a:gd name="T6" fmla="*/ 0 w 538"/>
                <a:gd name="T7" fmla="*/ 16 h 33"/>
                <a:gd name="T8" fmla="*/ 17 w 538"/>
                <a:gd name="T9" fmla="*/ 33 h 33"/>
                <a:gd name="T10" fmla="*/ 521 w 538"/>
                <a:gd name="T11" fmla="*/ 33 h 33"/>
                <a:gd name="T12" fmla="*/ 538 w 538"/>
                <a:gd name="T13" fmla="*/ 16 h 33"/>
              </a:gdLst>
              <a:ahLst/>
              <a:cxnLst>
                <a:cxn ang="0">
                  <a:pos x="T0" y="T1"/>
                </a:cxn>
                <a:cxn ang="0">
                  <a:pos x="T2" y="T3"/>
                </a:cxn>
                <a:cxn ang="0">
                  <a:pos x="T4" y="T5"/>
                </a:cxn>
                <a:cxn ang="0">
                  <a:pos x="T6" y="T7"/>
                </a:cxn>
                <a:cxn ang="0">
                  <a:pos x="T8" y="T9"/>
                </a:cxn>
                <a:cxn ang="0">
                  <a:pos x="T10" y="T11"/>
                </a:cxn>
                <a:cxn ang="0">
                  <a:pos x="T12" y="T13"/>
                </a:cxn>
              </a:cxnLst>
              <a:rect l="0" t="0" r="r" b="b"/>
              <a:pathLst>
                <a:path w="538" h="33">
                  <a:moveTo>
                    <a:pt x="538" y="16"/>
                  </a:moveTo>
                  <a:cubicBezTo>
                    <a:pt x="538" y="7"/>
                    <a:pt x="531" y="0"/>
                    <a:pt x="521" y="0"/>
                  </a:cubicBezTo>
                  <a:lnTo>
                    <a:pt x="17" y="0"/>
                  </a:lnTo>
                  <a:cubicBezTo>
                    <a:pt x="8" y="0"/>
                    <a:pt x="0" y="7"/>
                    <a:pt x="0" y="16"/>
                  </a:cubicBezTo>
                  <a:cubicBezTo>
                    <a:pt x="0" y="26"/>
                    <a:pt x="8" y="33"/>
                    <a:pt x="17" y="33"/>
                  </a:cubicBezTo>
                  <a:lnTo>
                    <a:pt x="521" y="33"/>
                  </a:lnTo>
                  <a:cubicBezTo>
                    <a:pt x="531" y="33"/>
                    <a:pt x="538" y="26"/>
                    <a:pt x="538" y="16"/>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4" name="Freeform 270">
              <a:extLst>
                <a:ext uri="{FF2B5EF4-FFF2-40B4-BE49-F238E27FC236}">
                  <a16:creationId xmlns:a16="http://schemas.microsoft.com/office/drawing/2014/main" id="{811757A3-D5C2-86DD-2E62-C6868E5761D4}"/>
                </a:ext>
              </a:extLst>
            </p:cNvPr>
            <p:cNvSpPr>
              <a:spLocks/>
            </p:cNvSpPr>
            <p:nvPr/>
          </p:nvSpPr>
          <p:spPr bwMode="auto">
            <a:xfrm>
              <a:off x="6338888" y="2938463"/>
              <a:ext cx="314325" cy="19050"/>
            </a:xfrm>
            <a:custGeom>
              <a:avLst/>
              <a:gdLst>
                <a:gd name="T0" fmla="*/ 526 w 526"/>
                <a:gd name="T1" fmla="*/ 17 h 33"/>
                <a:gd name="T2" fmla="*/ 510 w 526"/>
                <a:gd name="T3" fmla="*/ 0 h 33"/>
                <a:gd name="T4" fmla="*/ 17 w 526"/>
                <a:gd name="T5" fmla="*/ 0 h 33"/>
                <a:gd name="T6" fmla="*/ 0 w 526"/>
                <a:gd name="T7" fmla="*/ 17 h 33"/>
                <a:gd name="T8" fmla="*/ 17 w 526"/>
                <a:gd name="T9" fmla="*/ 33 h 33"/>
                <a:gd name="T10" fmla="*/ 510 w 526"/>
                <a:gd name="T11" fmla="*/ 33 h 33"/>
                <a:gd name="T12" fmla="*/ 526 w 526"/>
                <a:gd name="T13" fmla="*/ 17 h 33"/>
              </a:gdLst>
              <a:ahLst/>
              <a:cxnLst>
                <a:cxn ang="0">
                  <a:pos x="T0" y="T1"/>
                </a:cxn>
                <a:cxn ang="0">
                  <a:pos x="T2" y="T3"/>
                </a:cxn>
                <a:cxn ang="0">
                  <a:pos x="T4" y="T5"/>
                </a:cxn>
                <a:cxn ang="0">
                  <a:pos x="T6" y="T7"/>
                </a:cxn>
                <a:cxn ang="0">
                  <a:pos x="T8" y="T9"/>
                </a:cxn>
                <a:cxn ang="0">
                  <a:pos x="T10" y="T11"/>
                </a:cxn>
                <a:cxn ang="0">
                  <a:pos x="T12" y="T13"/>
                </a:cxn>
              </a:cxnLst>
              <a:rect l="0" t="0" r="r" b="b"/>
              <a:pathLst>
                <a:path w="526" h="33">
                  <a:moveTo>
                    <a:pt x="526" y="17"/>
                  </a:moveTo>
                  <a:cubicBezTo>
                    <a:pt x="526" y="7"/>
                    <a:pt x="519" y="0"/>
                    <a:pt x="510" y="0"/>
                  </a:cubicBezTo>
                  <a:lnTo>
                    <a:pt x="17" y="0"/>
                  </a:lnTo>
                  <a:cubicBezTo>
                    <a:pt x="8" y="0"/>
                    <a:pt x="0" y="7"/>
                    <a:pt x="0" y="17"/>
                  </a:cubicBezTo>
                  <a:cubicBezTo>
                    <a:pt x="0" y="26"/>
                    <a:pt x="8" y="33"/>
                    <a:pt x="17" y="33"/>
                  </a:cubicBezTo>
                  <a:lnTo>
                    <a:pt x="510" y="33"/>
                  </a:lnTo>
                  <a:cubicBezTo>
                    <a:pt x="519" y="33"/>
                    <a:pt x="526" y="26"/>
                    <a:pt x="526" y="17"/>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5" name="Freeform 271">
              <a:extLst>
                <a:ext uri="{FF2B5EF4-FFF2-40B4-BE49-F238E27FC236}">
                  <a16:creationId xmlns:a16="http://schemas.microsoft.com/office/drawing/2014/main" id="{1BD22944-8DB4-3F2F-2113-F595309C8CBF}"/>
                </a:ext>
              </a:extLst>
            </p:cNvPr>
            <p:cNvSpPr>
              <a:spLocks/>
            </p:cNvSpPr>
            <p:nvPr/>
          </p:nvSpPr>
          <p:spPr bwMode="auto">
            <a:xfrm>
              <a:off x="6338888" y="3013076"/>
              <a:ext cx="239713" cy="20638"/>
            </a:xfrm>
            <a:custGeom>
              <a:avLst/>
              <a:gdLst>
                <a:gd name="T0" fmla="*/ 402 w 402"/>
                <a:gd name="T1" fmla="*/ 17 h 33"/>
                <a:gd name="T2" fmla="*/ 386 w 402"/>
                <a:gd name="T3" fmla="*/ 0 h 33"/>
                <a:gd name="T4" fmla="*/ 17 w 402"/>
                <a:gd name="T5" fmla="*/ 0 h 33"/>
                <a:gd name="T6" fmla="*/ 0 w 402"/>
                <a:gd name="T7" fmla="*/ 17 h 33"/>
                <a:gd name="T8" fmla="*/ 17 w 402"/>
                <a:gd name="T9" fmla="*/ 33 h 33"/>
                <a:gd name="T10" fmla="*/ 386 w 402"/>
                <a:gd name="T11" fmla="*/ 33 h 33"/>
                <a:gd name="T12" fmla="*/ 402 w 402"/>
                <a:gd name="T13" fmla="*/ 17 h 33"/>
              </a:gdLst>
              <a:ahLst/>
              <a:cxnLst>
                <a:cxn ang="0">
                  <a:pos x="T0" y="T1"/>
                </a:cxn>
                <a:cxn ang="0">
                  <a:pos x="T2" y="T3"/>
                </a:cxn>
                <a:cxn ang="0">
                  <a:pos x="T4" y="T5"/>
                </a:cxn>
                <a:cxn ang="0">
                  <a:pos x="T6" y="T7"/>
                </a:cxn>
                <a:cxn ang="0">
                  <a:pos x="T8" y="T9"/>
                </a:cxn>
                <a:cxn ang="0">
                  <a:pos x="T10" y="T11"/>
                </a:cxn>
                <a:cxn ang="0">
                  <a:pos x="T12" y="T13"/>
                </a:cxn>
              </a:cxnLst>
              <a:rect l="0" t="0" r="r" b="b"/>
              <a:pathLst>
                <a:path w="402" h="33">
                  <a:moveTo>
                    <a:pt x="402" y="17"/>
                  </a:moveTo>
                  <a:cubicBezTo>
                    <a:pt x="402" y="7"/>
                    <a:pt x="395" y="0"/>
                    <a:pt x="386" y="0"/>
                  </a:cubicBezTo>
                  <a:lnTo>
                    <a:pt x="17" y="0"/>
                  </a:lnTo>
                  <a:cubicBezTo>
                    <a:pt x="8" y="0"/>
                    <a:pt x="0" y="7"/>
                    <a:pt x="0" y="17"/>
                  </a:cubicBezTo>
                  <a:cubicBezTo>
                    <a:pt x="0" y="26"/>
                    <a:pt x="8" y="33"/>
                    <a:pt x="17" y="33"/>
                  </a:cubicBezTo>
                  <a:lnTo>
                    <a:pt x="386" y="33"/>
                  </a:lnTo>
                  <a:cubicBezTo>
                    <a:pt x="395" y="33"/>
                    <a:pt x="402" y="26"/>
                    <a:pt x="402" y="17"/>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6" name="Freeform 272">
              <a:extLst>
                <a:ext uri="{FF2B5EF4-FFF2-40B4-BE49-F238E27FC236}">
                  <a16:creationId xmlns:a16="http://schemas.microsoft.com/office/drawing/2014/main" id="{4AABD28E-057D-9709-5F34-FED57969E5A9}"/>
                </a:ext>
              </a:extLst>
            </p:cNvPr>
            <p:cNvSpPr>
              <a:spLocks/>
            </p:cNvSpPr>
            <p:nvPr/>
          </p:nvSpPr>
          <p:spPr bwMode="auto">
            <a:xfrm>
              <a:off x="6338888" y="3089276"/>
              <a:ext cx="171450" cy="19050"/>
            </a:xfrm>
            <a:custGeom>
              <a:avLst/>
              <a:gdLst>
                <a:gd name="T0" fmla="*/ 17 w 286"/>
                <a:gd name="T1" fmla="*/ 0 h 34"/>
                <a:gd name="T2" fmla="*/ 0 w 286"/>
                <a:gd name="T3" fmla="*/ 17 h 34"/>
                <a:gd name="T4" fmla="*/ 17 w 286"/>
                <a:gd name="T5" fmla="*/ 34 h 34"/>
                <a:gd name="T6" fmla="*/ 269 w 286"/>
                <a:gd name="T7" fmla="*/ 34 h 34"/>
                <a:gd name="T8" fmla="*/ 286 w 286"/>
                <a:gd name="T9" fmla="*/ 17 h 34"/>
                <a:gd name="T10" fmla="*/ 269 w 286"/>
                <a:gd name="T11" fmla="*/ 0 h 34"/>
                <a:gd name="T12" fmla="*/ 17 w 286"/>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286" h="34">
                  <a:moveTo>
                    <a:pt x="17" y="0"/>
                  </a:moveTo>
                  <a:cubicBezTo>
                    <a:pt x="8" y="0"/>
                    <a:pt x="0" y="8"/>
                    <a:pt x="0" y="17"/>
                  </a:cubicBezTo>
                  <a:cubicBezTo>
                    <a:pt x="0" y="26"/>
                    <a:pt x="8" y="34"/>
                    <a:pt x="17" y="34"/>
                  </a:cubicBezTo>
                  <a:lnTo>
                    <a:pt x="269" y="34"/>
                  </a:lnTo>
                  <a:cubicBezTo>
                    <a:pt x="278" y="34"/>
                    <a:pt x="286" y="26"/>
                    <a:pt x="286" y="17"/>
                  </a:cubicBezTo>
                  <a:cubicBezTo>
                    <a:pt x="286" y="8"/>
                    <a:pt x="278" y="0"/>
                    <a:pt x="269" y="0"/>
                  </a:cubicBezTo>
                  <a:lnTo>
                    <a:pt x="17"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7" name="Freeform 273">
              <a:extLst>
                <a:ext uri="{FF2B5EF4-FFF2-40B4-BE49-F238E27FC236}">
                  <a16:creationId xmlns:a16="http://schemas.microsoft.com/office/drawing/2014/main" id="{F3821D5B-8CE0-3C10-3B45-14D96E8451C0}"/>
                </a:ext>
              </a:extLst>
            </p:cNvPr>
            <p:cNvSpPr>
              <a:spLocks/>
            </p:cNvSpPr>
            <p:nvPr/>
          </p:nvSpPr>
          <p:spPr bwMode="auto">
            <a:xfrm>
              <a:off x="6338888" y="2786063"/>
              <a:ext cx="320675" cy="20638"/>
            </a:xfrm>
            <a:custGeom>
              <a:avLst/>
              <a:gdLst>
                <a:gd name="T0" fmla="*/ 521 w 538"/>
                <a:gd name="T1" fmla="*/ 0 h 34"/>
                <a:gd name="T2" fmla="*/ 17 w 538"/>
                <a:gd name="T3" fmla="*/ 0 h 34"/>
                <a:gd name="T4" fmla="*/ 0 w 538"/>
                <a:gd name="T5" fmla="*/ 17 h 34"/>
                <a:gd name="T6" fmla="*/ 17 w 538"/>
                <a:gd name="T7" fmla="*/ 34 h 34"/>
                <a:gd name="T8" fmla="*/ 521 w 538"/>
                <a:gd name="T9" fmla="*/ 34 h 34"/>
                <a:gd name="T10" fmla="*/ 538 w 538"/>
                <a:gd name="T11" fmla="*/ 17 h 34"/>
                <a:gd name="T12" fmla="*/ 521 w 538"/>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538" h="34">
                  <a:moveTo>
                    <a:pt x="521" y="0"/>
                  </a:moveTo>
                  <a:lnTo>
                    <a:pt x="17" y="0"/>
                  </a:lnTo>
                  <a:cubicBezTo>
                    <a:pt x="8" y="0"/>
                    <a:pt x="0" y="8"/>
                    <a:pt x="0" y="17"/>
                  </a:cubicBezTo>
                  <a:cubicBezTo>
                    <a:pt x="0" y="26"/>
                    <a:pt x="8" y="34"/>
                    <a:pt x="17" y="34"/>
                  </a:cubicBezTo>
                  <a:lnTo>
                    <a:pt x="521" y="34"/>
                  </a:lnTo>
                  <a:cubicBezTo>
                    <a:pt x="531" y="34"/>
                    <a:pt x="538" y="26"/>
                    <a:pt x="538" y="17"/>
                  </a:cubicBezTo>
                  <a:cubicBezTo>
                    <a:pt x="538" y="8"/>
                    <a:pt x="531" y="0"/>
                    <a:pt x="521" y="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8" name="Freeform 274">
              <a:extLst>
                <a:ext uri="{FF2B5EF4-FFF2-40B4-BE49-F238E27FC236}">
                  <a16:creationId xmlns:a16="http://schemas.microsoft.com/office/drawing/2014/main" id="{4B3B1BA2-5677-1CAB-5ED6-899C9EF57BB8}"/>
                </a:ext>
              </a:extLst>
            </p:cNvPr>
            <p:cNvSpPr>
              <a:spLocks/>
            </p:cNvSpPr>
            <p:nvPr/>
          </p:nvSpPr>
          <p:spPr bwMode="auto">
            <a:xfrm>
              <a:off x="6338888" y="2711451"/>
              <a:ext cx="320675" cy="20638"/>
            </a:xfrm>
            <a:custGeom>
              <a:avLst/>
              <a:gdLst>
                <a:gd name="T0" fmla="*/ 521 w 538"/>
                <a:gd name="T1" fmla="*/ 0 h 34"/>
                <a:gd name="T2" fmla="*/ 17 w 538"/>
                <a:gd name="T3" fmla="*/ 0 h 34"/>
                <a:gd name="T4" fmla="*/ 0 w 538"/>
                <a:gd name="T5" fmla="*/ 17 h 34"/>
                <a:gd name="T6" fmla="*/ 17 w 538"/>
                <a:gd name="T7" fmla="*/ 34 h 34"/>
                <a:gd name="T8" fmla="*/ 521 w 538"/>
                <a:gd name="T9" fmla="*/ 34 h 34"/>
                <a:gd name="T10" fmla="*/ 538 w 538"/>
                <a:gd name="T11" fmla="*/ 17 h 34"/>
                <a:gd name="T12" fmla="*/ 521 w 538"/>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538" h="34">
                  <a:moveTo>
                    <a:pt x="521" y="0"/>
                  </a:moveTo>
                  <a:lnTo>
                    <a:pt x="17" y="0"/>
                  </a:lnTo>
                  <a:cubicBezTo>
                    <a:pt x="8" y="0"/>
                    <a:pt x="0" y="8"/>
                    <a:pt x="0" y="17"/>
                  </a:cubicBezTo>
                  <a:cubicBezTo>
                    <a:pt x="0" y="26"/>
                    <a:pt x="8" y="34"/>
                    <a:pt x="17" y="34"/>
                  </a:cubicBezTo>
                  <a:lnTo>
                    <a:pt x="521" y="34"/>
                  </a:lnTo>
                  <a:cubicBezTo>
                    <a:pt x="531" y="34"/>
                    <a:pt x="538" y="26"/>
                    <a:pt x="538" y="17"/>
                  </a:cubicBezTo>
                  <a:cubicBezTo>
                    <a:pt x="538" y="8"/>
                    <a:pt x="531" y="0"/>
                    <a:pt x="521" y="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9" name="Freeform 275">
              <a:extLst>
                <a:ext uri="{FF2B5EF4-FFF2-40B4-BE49-F238E27FC236}">
                  <a16:creationId xmlns:a16="http://schemas.microsoft.com/office/drawing/2014/main" id="{BE5933B8-EF8F-B506-94C8-DE188C37A6D9}"/>
                </a:ext>
              </a:extLst>
            </p:cNvPr>
            <p:cNvSpPr>
              <a:spLocks/>
            </p:cNvSpPr>
            <p:nvPr/>
          </p:nvSpPr>
          <p:spPr bwMode="auto">
            <a:xfrm>
              <a:off x="6635750" y="3128963"/>
              <a:ext cx="74613" cy="76200"/>
            </a:xfrm>
            <a:custGeom>
              <a:avLst/>
              <a:gdLst>
                <a:gd name="T0" fmla="*/ 109 w 125"/>
                <a:gd name="T1" fmla="*/ 0 h 126"/>
                <a:gd name="T2" fmla="*/ 92 w 125"/>
                <a:gd name="T3" fmla="*/ 16 h 126"/>
                <a:gd name="T4" fmla="*/ 92 w 125"/>
                <a:gd name="T5" fmla="*/ 63 h 126"/>
                <a:gd name="T6" fmla="*/ 61 w 125"/>
                <a:gd name="T7" fmla="*/ 93 h 126"/>
                <a:gd name="T8" fmla="*/ 16 w 125"/>
                <a:gd name="T9" fmla="*/ 93 h 126"/>
                <a:gd name="T10" fmla="*/ 0 w 125"/>
                <a:gd name="T11" fmla="*/ 110 h 126"/>
                <a:gd name="T12" fmla="*/ 16 w 125"/>
                <a:gd name="T13" fmla="*/ 126 h 126"/>
                <a:gd name="T14" fmla="*/ 61 w 125"/>
                <a:gd name="T15" fmla="*/ 126 h 126"/>
                <a:gd name="T16" fmla="*/ 125 w 125"/>
                <a:gd name="T17" fmla="*/ 63 h 126"/>
                <a:gd name="T18" fmla="*/ 125 w 125"/>
                <a:gd name="T19" fmla="*/ 16 h 126"/>
                <a:gd name="T20" fmla="*/ 109 w 125"/>
                <a:gd name="T21"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5" h="126">
                  <a:moveTo>
                    <a:pt x="109" y="0"/>
                  </a:moveTo>
                  <a:cubicBezTo>
                    <a:pt x="99" y="0"/>
                    <a:pt x="92" y="7"/>
                    <a:pt x="92" y="16"/>
                  </a:cubicBezTo>
                  <a:lnTo>
                    <a:pt x="92" y="63"/>
                  </a:lnTo>
                  <a:cubicBezTo>
                    <a:pt x="92" y="79"/>
                    <a:pt x="78" y="93"/>
                    <a:pt x="61" y="93"/>
                  </a:cubicBezTo>
                  <a:lnTo>
                    <a:pt x="16" y="93"/>
                  </a:lnTo>
                  <a:cubicBezTo>
                    <a:pt x="7" y="93"/>
                    <a:pt x="0" y="101"/>
                    <a:pt x="0" y="110"/>
                  </a:cubicBezTo>
                  <a:cubicBezTo>
                    <a:pt x="0" y="119"/>
                    <a:pt x="7" y="126"/>
                    <a:pt x="16" y="126"/>
                  </a:cubicBezTo>
                  <a:lnTo>
                    <a:pt x="61" y="126"/>
                  </a:lnTo>
                  <a:cubicBezTo>
                    <a:pt x="97" y="126"/>
                    <a:pt x="125" y="98"/>
                    <a:pt x="125" y="63"/>
                  </a:cubicBezTo>
                  <a:lnTo>
                    <a:pt x="125" y="16"/>
                  </a:lnTo>
                  <a:cubicBezTo>
                    <a:pt x="125" y="7"/>
                    <a:pt x="118" y="0"/>
                    <a:pt x="109" y="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0" name="Freeform 276">
              <a:extLst>
                <a:ext uri="{FF2B5EF4-FFF2-40B4-BE49-F238E27FC236}">
                  <a16:creationId xmlns:a16="http://schemas.microsoft.com/office/drawing/2014/main" id="{72E32EAF-284C-C7E8-4157-C3BBE36D597D}"/>
                </a:ext>
              </a:extLst>
            </p:cNvPr>
            <p:cNvSpPr>
              <a:spLocks/>
            </p:cNvSpPr>
            <p:nvPr/>
          </p:nvSpPr>
          <p:spPr bwMode="auto">
            <a:xfrm>
              <a:off x="6288088" y="2614613"/>
              <a:ext cx="422275" cy="590550"/>
            </a:xfrm>
            <a:custGeom>
              <a:avLst/>
              <a:gdLst>
                <a:gd name="T0" fmla="*/ 272 w 706"/>
                <a:gd name="T1" fmla="*/ 953 h 986"/>
                <a:gd name="T2" fmla="*/ 64 w 706"/>
                <a:gd name="T3" fmla="*/ 953 h 986"/>
                <a:gd name="T4" fmla="*/ 33 w 706"/>
                <a:gd name="T5" fmla="*/ 923 h 986"/>
                <a:gd name="T6" fmla="*/ 33 w 706"/>
                <a:gd name="T7" fmla="*/ 64 h 986"/>
                <a:gd name="T8" fmla="*/ 64 w 706"/>
                <a:gd name="T9" fmla="*/ 34 h 986"/>
                <a:gd name="T10" fmla="*/ 218 w 706"/>
                <a:gd name="T11" fmla="*/ 34 h 986"/>
                <a:gd name="T12" fmla="*/ 643 w 706"/>
                <a:gd name="T13" fmla="*/ 34 h 986"/>
                <a:gd name="T14" fmla="*/ 673 w 706"/>
                <a:gd name="T15" fmla="*/ 64 h 986"/>
                <a:gd name="T16" fmla="*/ 673 w 706"/>
                <a:gd name="T17" fmla="*/ 479 h 986"/>
                <a:gd name="T18" fmla="*/ 690 w 706"/>
                <a:gd name="T19" fmla="*/ 496 h 986"/>
                <a:gd name="T20" fmla="*/ 706 w 706"/>
                <a:gd name="T21" fmla="*/ 479 h 986"/>
                <a:gd name="T22" fmla="*/ 706 w 706"/>
                <a:gd name="T23" fmla="*/ 64 h 986"/>
                <a:gd name="T24" fmla="*/ 643 w 706"/>
                <a:gd name="T25" fmla="*/ 0 h 986"/>
                <a:gd name="T26" fmla="*/ 218 w 706"/>
                <a:gd name="T27" fmla="*/ 0 h 986"/>
                <a:gd name="T28" fmla="*/ 64 w 706"/>
                <a:gd name="T29" fmla="*/ 0 h 986"/>
                <a:gd name="T30" fmla="*/ 0 w 706"/>
                <a:gd name="T31" fmla="*/ 64 h 986"/>
                <a:gd name="T32" fmla="*/ 0 w 706"/>
                <a:gd name="T33" fmla="*/ 923 h 986"/>
                <a:gd name="T34" fmla="*/ 64 w 706"/>
                <a:gd name="T35" fmla="*/ 986 h 986"/>
                <a:gd name="T36" fmla="*/ 272 w 706"/>
                <a:gd name="T37" fmla="*/ 986 h 986"/>
                <a:gd name="T38" fmla="*/ 289 w 706"/>
                <a:gd name="T39" fmla="*/ 970 h 986"/>
                <a:gd name="T40" fmla="*/ 272 w 706"/>
                <a:gd name="T41" fmla="*/ 953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06" h="986">
                  <a:moveTo>
                    <a:pt x="272" y="953"/>
                  </a:moveTo>
                  <a:lnTo>
                    <a:pt x="64" y="953"/>
                  </a:lnTo>
                  <a:cubicBezTo>
                    <a:pt x="47" y="953"/>
                    <a:pt x="33" y="939"/>
                    <a:pt x="33" y="923"/>
                  </a:cubicBezTo>
                  <a:lnTo>
                    <a:pt x="33" y="64"/>
                  </a:lnTo>
                  <a:cubicBezTo>
                    <a:pt x="33" y="47"/>
                    <a:pt x="47" y="34"/>
                    <a:pt x="64" y="34"/>
                  </a:cubicBezTo>
                  <a:lnTo>
                    <a:pt x="218" y="34"/>
                  </a:lnTo>
                  <a:lnTo>
                    <a:pt x="643" y="34"/>
                  </a:lnTo>
                  <a:cubicBezTo>
                    <a:pt x="659" y="34"/>
                    <a:pt x="673" y="47"/>
                    <a:pt x="673" y="64"/>
                  </a:cubicBezTo>
                  <a:lnTo>
                    <a:pt x="673" y="479"/>
                  </a:lnTo>
                  <a:cubicBezTo>
                    <a:pt x="673" y="488"/>
                    <a:pt x="680" y="496"/>
                    <a:pt x="690" y="496"/>
                  </a:cubicBezTo>
                  <a:cubicBezTo>
                    <a:pt x="699" y="496"/>
                    <a:pt x="706" y="488"/>
                    <a:pt x="706" y="479"/>
                  </a:cubicBezTo>
                  <a:lnTo>
                    <a:pt x="706" y="64"/>
                  </a:lnTo>
                  <a:cubicBezTo>
                    <a:pt x="706" y="29"/>
                    <a:pt x="678" y="0"/>
                    <a:pt x="643" y="0"/>
                  </a:cubicBezTo>
                  <a:lnTo>
                    <a:pt x="218" y="0"/>
                  </a:lnTo>
                  <a:lnTo>
                    <a:pt x="64" y="0"/>
                  </a:lnTo>
                  <a:cubicBezTo>
                    <a:pt x="28" y="0"/>
                    <a:pt x="0" y="29"/>
                    <a:pt x="0" y="64"/>
                  </a:cubicBezTo>
                  <a:lnTo>
                    <a:pt x="0" y="923"/>
                  </a:lnTo>
                  <a:cubicBezTo>
                    <a:pt x="0" y="958"/>
                    <a:pt x="29" y="986"/>
                    <a:pt x="64" y="986"/>
                  </a:cubicBezTo>
                  <a:lnTo>
                    <a:pt x="272" y="986"/>
                  </a:lnTo>
                  <a:cubicBezTo>
                    <a:pt x="282" y="986"/>
                    <a:pt x="289" y="979"/>
                    <a:pt x="289" y="970"/>
                  </a:cubicBezTo>
                  <a:cubicBezTo>
                    <a:pt x="289" y="961"/>
                    <a:pt x="282" y="953"/>
                    <a:pt x="272" y="953"/>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1" name="Freeform 277">
              <a:extLst>
                <a:ext uri="{FF2B5EF4-FFF2-40B4-BE49-F238E27FC236}">
                  <a16:creationId xmlns:a16="http://schemas.microsoft.com/office/drawing/2014/main" id="{2523AA97-19EA-DDD4-F07D-91B9666538A7}"/>
                </a:ext>
              </a:extLst>
            </p:cNvPr>
            <p:cNvSpPr>
              <a:spLocks noEditPoints="1"/>
            </p:cNvSpPr>
            <p:nvPr/>
          </p:nvSpPr>
          <p:spPr bwMode="auto">
            <a:xfrm>
              <a:off x="6469063" y="2846388"/>
              <a:ext cx="407988" cy="406400"/>
            </a:xfrm>
            <a:custGeom>
              <a:avLst/>
              <a:gdLst>
                <a:gd name="T0" fmla="*/ 639 w 684"/>
                <a:gd name="T1" fmla="*/ 136 h 681"/>
                <a:gd name="T2" fmla="*/ 583 w 684"/>
                <a:gd name="T3" fmla="*/ 192 h 681"/>
                <a:gd name="T4" fmla="*/ 537 w 684"/>
                <a:gd name="T5" fmla="*/ 146 h 681"/>
                <a:gd name="T6" fmla="*/ 537 w 684"/>
                <a:gd name="T7" fmla="*/ 146 h 681"/>
                <a:gd name="T8" fmla="*/ 537 w 684"/>
                <a:gd name="T9" fmla="*/ 146 h 681"/>
                <a:gd name="T10" fmla="*/ 491 w 684"/>
                <a:gd name="T11" fmla="*/ 100 h 681"/>
                <a:gd name="T12" fmla="*/ 547 w 684"/>
                <a:gd name="T13" fmla="*/ 44 h 681"/>
                <a:gd name="T14" fmla="*/ 577 w 684"/>
                <a:gd name="T15" fmla="*/ 44 h 681"/>
                <a:gd name="T16" fmla="*/ 639 w 684"/>
                <a:gd name="T17" fmla="*/ 106 h 681"/>
                <a:gd name="T18" fmla="*/ 639 w 684"/>
                <a:gd name="T19" fmla="*/ 136 h 681"/>
                <a:gd name="T20" fmla="*/ 186 w 684"/>
                <a:gd name="T21" fmla="*/ 589 h 681"/>
                <a:gd name="T22" fmla="*/ 109 w 684"/>
                <a:gd name="T23" fmla="*/ 617 h 681"/>
                <a:gd name="T24" fmla="*/ 66 w 684"/>
                <a:gd name="T25" fmla="*/ 574 h 681"/>
                <a:gd name="T26" fmla="*/ 94 w 684"/>
                <a:gd name="T27" fmla="*/ 497 h 681"/>
                <a:gd name="T28" fmla="*/ 467 w 684"/>
                <a:gd name="T29" fmla="*/ 124 h 681"/>
                <a:gd name="T30" fmla="*/ 501 w 684"/>
                <a:gd name="T31" fmla="*/ 158 h 681"/>
                <a:gd name="T32" fmla="*/ 126 w 684"/>
                <a:gd name="T33" fmla="*/ 534 h 681"/>
                <a:gd name="T34" fmla="*/ 126 w 684"/>
                <a:gd name="T35" fmla="*/ 557 h 681"/>
                <a:gd name="T36" fmla="*/ 138 w 684"/>
                <a:gd name="T37" fmla="*/ 562 h 681"/>
                <a:gd name="T38" fmla="*/ 149 w 684"/>
                <a:gd name="T39" fmla="*/ 557 h 681"/>
                <a:gd name="T40" fmla="*/ 525 w 684"/>
                <a:gd name="T41" fmla="*/ 182 h 681"/>
                <a:gd name="T42" fmla="*/ 559 w 684"/>
                <a:gd name="T43" fmla="*/ 216 h 681"/>
                <a:gd name="T44" fmla="*/ 186 w 684"/>
                <a:gd name="T45" fmla="*/ 589 h 681"/>
                <a:gd name="T46" fmla="*/ 54 w 684"/>
                <a:gd name="T47" fmla="*/ 609 h 681"/>
                <a:gd name="T48" fmla="*/ 74 w 684"/>
                <a:gd name="T49" fmla="*/ 630 h 681"/>
                <a:gd name="T50" fmla="*/ 42 w 684"/>
                <a:gd name="T51" fmla="*/ 641 h 681"/>
                <a:gd name="T52" fmla="*/ 54 w 684"/>
                <a:gd name="T53" fmla="*/ 609 h 681"/>
                <a:gd name="T54" fmla="*/ 662 w 684"/>
                <a:gd name="T55" fmla="*/ 83 h 681"/>
                <a:gd name="T56" fmla="*/ 601 w 684"/>
                <a:gd name="T57" fmla="*/ 21 h 681"/>
                <a:gd name="T58" fmla="*/ 523 w 684"/>
                <a:gd name="T59" fmla="*/ 21 h 681"/>
                <a:gd name="T60" fmla="*/ 467 w 684"/>
                <a:gd name="T61" fmla="*/ 77 h 681"/>
                <a:gd name="T62" fmla="*/ 467 w 684"/>
                <a:gd name="T63" fmla="*/ 77 h 681"/>
                <a:gd name="T64" fmla="*/ 69 w 684"/>
                <a:gd name="T65" fmla="*/ 475 h 681"/>
                <a:gd name="T66" fmla="*/ 64 w 684"/>
                <a:gd name="T67" fmla="*/ 483 h 681"/>
                <a:gd name="T68" fmla="*/ 4 w 684"/>
                <a:gd name="T69" fmla="*/ 649 h 681"/>
                <a:gd name="T70" fmla="*/ 9 w 684"/>
                <a:gd name="T71" fmla="*/ 674 h 681"/>
                <a:gd name="T72" fmla="*/ 26 w 684"/>
                <a:gd name="T73" fmla="*/ 681 h 681"/>
                <a:gd name="T74" fmla="*/ 34 w 684"/>
                <a:gd name="T75" fmla="*/ 680 h 681"/>
                <a:gd name="T76" fmla="*/ 200 w 684"/>
                <a:gd name="T77" fmla="*/ 619 h 681"/>
                <a:gd name="T78" fmla="*/ 208 w 684"/>
                <a:gd name="T79" fmla="*/ 614 h 681"/>
                <a:gd name="T80" fmla="*/ 595 w 684"/>
                <a:gd name="T81" fmla="*/ 228 h 681"/>
                <a:gd name="T82" fmla="*/ 595 w 684"/>
                <a:gd name="T83" fmla="*/ 228 h 681"/>
                <a:gd name="T84" fmla="*/ 662 w 684"/>
                <a:gd name="T85" fmla="*/ 160 h 681"/>
                <a:gd name="T86" fmla="*/ 662 w 684"/>
                <a:gd name="T87" fmla="*/ 83 h 6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84" h="681">
                  <a:moveTo>
                    <a:pt x="639" y="136"/>
                  </a:moveTo>
                  <a:lnTo>
                    <a:pt x="583" y="192"/>
                  </a:lnTo>
                  <a:lnTo>
                    <a:pt x="537" y="146"/>
                  </a:lnTo>
                  <a:lnTo>
                    <a:pt x="537" y="146"/>
                  </a:lnTo>
                  <a:cubicBezTo>
                    <a:pt x="537" y="146"/>
                    <a:pt x="537" y="146"/>
                    <a:pt x="537" y="146"/>
                  </a:cubicBezTo>
                  <a:lnTo>
                    <a:pt x="491" y="100"/>
                  </a:lnTo>
                  <a:lnTo>
                    <a:pt x="547" y="44"/>
                  </a:lnTo>
                  <a:cubicBezTo>
                    <a:pt x="555" y="36"/>
                    <a:pt x="569" y="36"/>
                    <a:pt x="577" y="44"/>
                  </a:cubicBezTo>
                  <a:lnTo>
                    <a:pt x="639" y="106"/>
                  </a:lnTo>
                  <a:cubicBezTo>
                    <a:pt x="647" y="114"/>
                    <a:pt x="647" y="128"/>
                    <a:pt x="639" y="136"/>
                  </a:cubicBezTo>
                  <a:close/>
                  <a:moveTo>
                    <a:pt x="186" y="589"/>
                  </a:moveTo>
                  <a:lnTo>
                    <a:pt x="109" y="617"/>
                  </a:lnTo>
                  <a:lnTo>
                    <a:pt x="66" y="574"/>
                  </a:lnTo>
                  <a:lnTo>
                    <a:pt x="94" y="497"/>
                  </a:lnTo>
                  <a:lnTo>
                    <a:pt x="467" y="124"/>
                  </a:lnTo>
                  <a:lnTo>
                    <a:pt x="501" y="158"/>
                  </a:lnTo>
                  <a:lnTo>
                    <a:pt x="126" y="534"/>
                  </a:lnTo>
                  <a:cubicBezTo>
                    <a:pt x="119" y="540"/>
                    <a:pt x="119" y="551"/>
                    <a:pt x="126" y="557"/>
                  </a:cubicBezTo>
                  <a:cubicBezTo>
                    <a:pt x="129" y="560"/>
                    <a:pt x="133" y="562"/>
                    <a:pt x="138" y="562"/>
                  </a:cubicBezTo>
                  <a:cubicBezTo>
                    <a:pt x="142" y="562"/>
                    <a:pt x="146" y="560"/>
                    <a:pt x="149" y="557"/>
                  </a:cubicBezTo>
                  <a:lnTo>
                    <a:pt x="525" y="182"/>
                  </a:lnTo>
                  <a:lnTo>
                    <a:pt x="559" y="216"/>
                  </a:lnTo>
                  <a:lnTo>
                    <a:pt x="186" y="589"/>
                  </a:lnTo>
                  <a:close/>
                  <a:moveTo>
                    <a:pt x="54" y="609"/>
                  </a:moveTo>
                  <a:lnTo>
                    <a:pt x="74" y="630"/>
                  </a:lnTo>
                  <a:lnTo>
                    <a:pt x="42" y="641"/>
                  </a:lnTo>
                  <a:lnTo>
                    <a:pt x="54" y="609"/>
                  </a:lnTo>
                  <a:close/>
                  <a:moveTo>
                    <a:pt x="662" y="83"/>
                  </a:moveTo>
                  <a:lnTo>
                    <a:pt x="601" y="21"/>
                  </a:lnTo>
                  <a:cubicBezTo>
                    <a:pt x="580" y="0"/>
                    <a:pt x="544" y="0"/>
                    <a:pt x="523" y="21"/>
                  </a:cubicBezTo>
                  <a:lnTo>
                    <a:pt x="467" y="77"/>
                  </a:lnTo>
                  <a:lnTo>
                    <a:pt x="467" y="77"/>
                  </a:lnTo>
                  <a:lnTo>
                    <a:pt x="69" y="475"/>
                  </a:lnTo>
                  <a:cubicBezTo>
                    <a:pt x="67" y="477"/>
                    <a:pt x="65" y="480"/>
                    <a:pt x="64" y="483"/>
                  </a:cubicBezTo>
                  <a:lnTo>
                    <a:pt x="4" y="649"/>
                  </a:lnTo>
                  <a:cubicBezTo>
                    <a:pt x="0" y="658"/>
                    <a:pt x="2" y="667"/>
                    <a:pt x="9" y="674"/>
                  </a:cubicBezTo>
                  <a:cubicBezTo>
                    <a:pt x="14" y="679"/>
                    <a:pt x="20" y="681"/>
                    <a:pt x="26" y="681"/>
                  </a:cubicBezTo>
                  <a:cubicBezTo>
                    <a:pt x="29" y="681"/>
                    <a:pt x="31" y="681"/>
                    <a:pt x="34" y="680"/>
                  </a:cubicBezTo>
                  <a:lnTo>
                    <a:pt x="200" y="619"/>
                  </a:lnTo>
                  <a:cubicBezTo>
                    <a:pt x="203" y="618"/>
                    <a:pt x="206" y="616"/>
                    <a:pt x="208" y="614"/>
                  </a:cubicBezTo>
                  <a:lnTo>
                    <a:pt x="595" y="228"/>
                  </a:lnTo>
                  <a:lnTo>
                    <a:pt x="595" y="228"/>
                  </a:lnTo>
                  <a:lnTo>
                    <a:pt x="662" y="160"/>
                  </a:lnTo>
                  <a:cubicBezTo>
                    <a:pt x="684" y="138"/>
                    <a:pt x="684" y="104"/>
                    <a:pt x="662" y="83"/>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22" name="Employee5" descr="{&quot;Key&quot;:&quot;POWER_USER_SHAPE_ICON&quot;,&quot;Value&quot;:&quot;POWER_USER_SHAPE_ICON_STYLE_1&quot;}">
            <a:extLst>
              <a:ext uri="{FF2B5EF4-FFF2-40B4-BE49-F238E27FC236}">
                <a16:creationId xmlns:a16="http://schemas.microsoft.com/office/drawing/2014/main" id="{D683F479-37C5-3AF6-737F-1C437B07E429}"/>
              </a:ext>
            </a:extLst>
          </p:cNvPr>
          <p:cNvGrpSpPr>
            <a:grpSpLocks noChangeAspect="1"/>
          </p:cNvGrpSpPr>
          <p:nvPr/>
        </p:nvGrpSpPr>
        <p:grpSpPr>
          <a:xfrm>
            <a:off x="9739776" y="2253638"/>
            <a:ext cx="432000" cy="567775"/>
            <a:chOff x="8500131" y="1616930"/>
            <a:chExt cx="665326" cy="874433"/>
          </a:xfrm>
          <a:solidFill>
            <a:schemeClr val="tx1">
              <a:lumMod val="50000"/>
              <a:lumOff val="50000"/>
            </a:schemeClr>
          </a:solidFill>
        </p:grpSpPr>
        <p:sp>
          <p:nvSpPr>
            <p:cNvPr id="1223" name="Freeform: Shape 1222">
              <a:extLst>
                <a:ext uri="{FF2B5EF4-FFF2-40B4-BE49-F238E27FC236}">
                  <a16:creationId xmlns:a16="http://schemas.microsoft.com/office/drawing/2014/main" id="{E2A99211-9639-F6CB-D37D-93B83DF0D8A8}"/>
                </a:ext>
              </a:extLst>
            </p:cNvPr>
            <p:cNvSpPr/>
            <p:nvPr/>
          </p:nvSpPr>
          <p:spPr>
            <a:xfrm>
              <a:off x="9052413" y="2347345"/>
              <a:ext cx="113044" cy="9420"/>
            </a:xfrm>
            <a:custGeom>
              <a:avLst/>
              <a:gdLst>
                <a:gd name="connsiteX0" fmla="*/ 0 w 113043"/>
                <a:gd name="connsiteY0" fmla="*/ 0 h 0"/>
                <a:gd name="connsiteX1" fmla="*/ 117516 w 113043"/>
                <a:gd name="connsiteY1" fmla="*/ 0 h 0"/>
              </a:gdLst>
              <a:ahLst/>
              <a:cxnLst>
                <a:cxn ang="0">
                  <a:pos x="connsiteX0" y="connsiteY0"/>
                </a:cxn>
                <a:cxn ang="0">
                  <a:pos x="connsiteX1" y="connsiteY1"/>
                </a:cxn>
              </a:cxnLst>
              <a:rect l="l" t="t" r="r" b="b"/>
              <a:pathLst>
                <a:path w="113043">
                  <a:moveTo>
                    <a:pt x="0" y="0"/>
                  </a:moveTo>
                  <a:lnTo>
                    <a:pt x="117516"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4" name="Freeform: Shape 1223">
              <a:extLst>
                <a:ext uri="{FF2B5EF4-FFF2-40B4-BE49-F238E27FC236}">
                  <a16:creationId xmlns:a16="http://schemas.microsoft.com/office/drawing/2014/main" id="{F284BA67-01E2-FC4E-2972-F681EA58C03E}"/>
                </a:ext>
              </a:extLst>
            </p:cNvPr>
            <p:cNvSpPr/>
            <p:nvPr/>
          </p:nvSpPr>
          <p:spPr>
            <a:xfrm>
              <a:off x="8500131" y="2347345"/>
              <a:ext cx="113044" cy="9420"/>
            </a:xfrm>
            <a:custGeom>
              <a:avLst/>
              <a:gdLst>
                <a:gd name="connsiteX0" fmla="*/ 0 w 113043"/>
                <a:gd name="connsiteY0" fmla="*/ 0 h 0"/>
                <a:gd name="connsiteX1" fmla="*/ 117541 w 113043"/>
                <a:gd name="connsiteY1" fmla="*/ 0 h 0"/>
              </a:gdLst>
              <a:ahLst/>
              <a:cxnLst>
                <a:cxn ang="0">
                  <a:pos x="connsiteX0" y="connsiteY0"/>
                </a:cxn>
                <a:cxn ang="0">
                  <a:pos x="connsiteX1" y="connsiteY1"/>
                </a:cxn>
              </a:cxnLst>
              <a:rect l="l" t="t" r="r" b="b"/>
              <a:pathLst>
                <a:path w="113043">
                  <a:moveTo>
                    <a:pt x="0" y="0"/>
                  </a:moveTo>
                  <a:lnTo>
                    <a:pt x="117541"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5" name="Freeform: Shape 1224">
              <a:extLst>
                <a:ext uri="{FF2B5EF4-FFF2-40B4-BE49-F238E27FC236}">
                  <a16:creationId xmlns:a16="http://schemas.microsoft.com/office/drawing/2014/main" id="{FA0344D1-289E-12D5-6E33-C4DDDA976ACE}"/>
                </a:ext>
              </a:extLst>
            </p:cNvPr>
            <p:cNvSpPr/>
            <p:nvPr/>
          </p:nvSpPr>
          <p:spPr>
            <a:xfrm>
              <a:off x="8555123" y="2400250"/>
              <a:ext cx="555799" cy="84783"/>
            </a:xfrm>
            <a:custGeom>
              <a:avLst/>
              <a:gdLst>
                <a:gd name="connsiteX0" fmla="*/ 497291 w 555799"/>
                <a:gd name="connsiteY0" fmla="*/ 0 h 84782"/>
                <a:gd name="connsiteX1" fmla="*/ 549504 w 555799"/>
                <a:gd name="connsiteY1" fmla="*/ 0 h 84782"/>
                <a:gd name="connsiteX2" fmla="*/ 558473 w 555799"/>
                <a:gd name="connsiteY2" fmla="*/ 14784 h 84782"/>
                <a:gd name="connsiteX3" fmla="*/ 503420 w 555799"/>
                <a:gd name="connsiteY3" fmla="*/ 86466 h 84782"/>
                <a:gd name="connsiteX4" fmla="*/ 484102 w 555799"/>
                <a:gd name="connsiteY4" fmla="*/ 92721 h 84782"/>
                <a:gd name="connsiteX5" fmla="*/ 75725 w 555799"/>
                <a:gd name="connsiteY5" fmla="*/ 92721 h 84782"/>
                <a:gd name="connsiteX6" fmla="*/ 60678 w 555799"/>
                <a:gd name="connsiteY6" fmla="*/ 87182 h 84782"/>
                <a:gd name="connsiteX7" fmla="*/ 1380 w 555799"/>
                <a:gd name="connsiteY7" fmla="*/ 14784 h 84782"/>
                <a:gd name="connsiteX8" fmla="*/ 10310 w 555799"/>
                <a:gd name="connsiteY8" fmla="*/ 0 h 84782"/>
                <a:gd name="connsiteX9" fmla="*/ 62549 w 555799"/>
                <a:gd name="connsiteY9" fmla="*/ 0 h 84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5799" h="84782">
                  <a:moveTo>
                    <a:pt x="497291" y="0"/>
                  </a:moveTo>
                  <a:lnTo>
                    <a:pt x="549504" y="0"/>
                  </a:lnTo>
                  <a:cubicBezTo>
                    <a:pt x="558172" y="0"/>
                    <a:pt x="562140" y="6720"/>
                    <a:pt x="558473" y="14784"/>
                  </a:cubicBezTo>
                  <a:lnTo>
                    <a:pt x="503420" y="86466"/>
                  </a:lnTo>
                  <a:cubicBezTo>
                    <a:pt x="497203" y="94656"/>
                    <a:pt x="491375" y="92721"/>
                    <a:pt x="484102" y="92721"/>
                  </a:cubicBezTo>
                  <a:lnTo>
                    <a:pt x="75725" y="92721"/>
                  </a:lnTo>
                  <a:cubicBezTo>
                    <a:pt x="68440" y="92721"/>
                    <a:pt x="64747" y="94115"/>
                    <a:pt x="60678" y="87182"/>
                  </a:cubicBezTo>
                  <a:lnTo>
                    <a:pt x="1380" y="14784"/>
                  </a:lnTo>
                  <a:cubicBezTo>
                    <a:pt x="-2313" y="6720"/>
                    <a:pt x="1656" y="0"/>
                    <a:pt x="10310" y="0"/>
                  </a:cubicBezTo>
                  <a:lnTo>
                    <a:pt x="62549"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6" name="Freeform: Shape 1225">
              <a:extLst>
                <a:ext uri="{FF2B5EF4-FFF2-40B4-BE49-F238E27FC236}">
                  <a16:creationId xmlns:a16="http://schemas.microsoft.com/office/drawing/2014/main" id="{ABFEB17A-5FCC-8FC5-B893-769481F3FC89}"/>
                </a:ext>
              </a:extLst>
            </p:cNvPr>
            <p:cNvSpPr/>
            <p:nvPr/>
          </p:nvSpPr>
          <p:spPr>
            <a:xfrm>
              <a:off x="8617671" y="2199333"/>
              <a:ext cx="433335" cy="292030"/>
            </a:xfrm>
            <a:custGeom>
              <a:avLst/>
              <a:gdLst>
                <a:gd name="connsiteX0" fmla="*/ 0 w 433335"/>
                <a:gd name="connsiteY0" fmla="*/ 290674 h 292030"/>
                <a:gd name="connsiteX1" fmla="*/ 0 w 433335"/>
                <a:gd name="connsiteY1" fmla="*/ 13163 h 292030"/>
                <a:gd name="connsiteX2" fmla="*/ 13176 w 433335"/>
                <a:gd name="connsiteY2" fmla="*/ 0 h 292030"/>
                <a:gd name="connsiteX3" fmla="*/ 421554 w 433335"/>
                <a:gd name="connsiteY3" fmla="*/ 0 h 292030"/>
                <a:gd name="connsiteX4" fmla="*/ 434742 w 433335"/>
                <a:gd name="connsiteY4" fmla="*/ 13163 h 292030"/>
                <a:gd name="connsiteX5" fmla="*/ 434742 w 433335"/>
                <a:gd name="connsiteY5" fmla="*/ 292583 h 292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3335" h="292030">
                  <a:moveTo>
                    <a:pt x="0" y="290674"/>
                  </a:moveTo>
                  <a:lnTo>
                    <a:pt x="0" y="13163"/>
                  </a:lnTo>
                  <a:cubicBezTo>
                    <a:pt x="0" y="5903"/>
                    <a:pt x="5891" y="0"/>
                    <a:pt x="13176" y="0"/>
                  </a:cubicBezTo>
                  <a:lnTo>
                    <a:pt x="421554" y="0"/>
                  </a:lnTo>
                  <a:cubicBezTo>
                    <a:pt x="428826" y="0"/>
                    <a:pt x="434742" y="5903"/>
                    <a:pt x="434742" y="13163"/>
                  </a:cubicBezTo>
                  <a:lnTo>
                    <a:pt x="434742" y="292583"/>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7" name="Freeform: Shape 1226">
              <a:extLst>
                <a:ext uri="{FF2B5EF4-FFF2-40B4-BE49-F238E27FC236}">
                  <a16:creationId xmlns:a16="http://schemas.microsoft.com/office/drawing/2014/main" id="{10E7591E-137B-60E0-DDE0-6B3271E5BD48}"/>
                </a:ext>
              </a:extLst>
            </p:cNvPr>
            <p:cNvSpPr/>
            <p:nvPr/>
          </p:nvSpPr>
          <p:spPr>
            <a:xfrm>
              <a:off x="8723782" y="2108169"/>
              <a:ext cx="216668" cy="28261"/>
            </a:xfrm>
            <a:custGeom>
              <a:avLst/>
              <a:gdLst>
                <a:gd name="connsiteX0" fmla="*/ 0 w 216667"/>
                <a:gd name="connsiteY0" fmla="*/ 0 h 28260"/>
                <a:gd name="connsiteX1" fmla="*/ 111248 w 216667"/>
                <a:gd name="connsiteY1" fmla="*/ 37468 h 28260"/>
                <a:gd name="connsiteX2" fmla="*/ 222521 w 216667"/>
                <a:gd name="connsiteY2" fmla="*/ 0 h 28260"/>
              </a:gdLst>
              <a:ahLst/>
              <a:cxnLst>
                <a:cxn ang="0">
                  <a:pos x="connsiteX0" y="connsiteY0"/>
                </a:cxn>
                <a:cxn ang="0">
                  <a:pos x="connsiteX1" y="connsiteY1"/>
                </a:cxn>
                <a:cxn ang="0">
                  <a:pos x="connsiteX2" y="connsiteY2"/>
                </a:cxn>
              </a:cxnLst>
              <a:rect l="l" t="t" r="r" b="b"/>
              <a:pathLst>
                <a:path w="216667" h="28260">
                  <a:moveTo>
                    <a:pt x="0" y="0"/>
                  </a:moveTo>
                  <a:cubicBezTo>
                    <a:pt x="22207" y="22395"/>
                    <a:pt x="63669" y="37468"/>
                    <a:pt x="111248" y="37468"/>
                  </a:cubicBezTo>
                  <a:cubicBezTo>
                    <a:pt x="158827" y="37468"/>
                    <a:pt x="200289" y="22395"/>
                    <a:pt x="222521" y="0"/>
                  </a:cubicBez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8" name="Freeform: Shape 1227">
              <a:extLst>
                <a:ext uri="{FF2B5EF4-FFF2-40B4-BE49-F238E27FC236}">
                  <a16:creationId xmlns:a16="http://schemas.microsoft.com/office/drawing/2014/main" id="{94F4CB7E-3AB8-4818-D91F-B8DD90CA10AC}"/>
                </a:ext>
              </a:extLst>
            </p:cNvPr>
            <p:cNvSpPr/>
            <p:nvPr/>
          </p:nvSpPr>
          <p:spPr>
            <a:xfrm>
              <a:off x="8559416" y="1784273"/>
              <a:ext cx="376813" cy="555799"/>
            </a:xfrm>
            <a:custGeom>
              <a:avLst/>
              <a:gdLst>
                <a:gd name="connsiteX0" fmla="*/ 381636 w 376813"/>
                <a:gd name="connsiteY0" fmla="*/ 20046 h 555799"/>
                <a:gd name="connsiteX1" fmla="*/ 175319 w 376813"/>
                <a:gd name="connsiteY1" fmla="*/ 0 h 555799"/>
                <a:gd name="connsiteX2" fmla="*/ 204433 w 376813"/>
                <a:gd name="connsiteY2" fmla="*/ 185090 h 555799"/>
                <a:gd name="connsiteX3" fmla="*/ 206720 w 376813"/>
                <a:gd name="connsiteY3" fmla="*/ 244690 h 555799"/>
                <a:gd name="connsiteX4" fmla="*/ 148339 w 376813"/>
                <a:gd name="connsiteY4" fmla="*/ 260077 h 555799"/>
                <a:gd name="connsiteX5" fmla="*/ 0 w 376813"/>
                <a:gd name="connsiteY5" fmla="*/ 396106 h 555799"/>
                <a:gd name="connsiteX6" fmla="*/ 0 w 376813"/>
                <a:gd name="connsiteY6" fmla="*/ 563072 h 555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6813" h="555799">
                  <a:moveTo>
                    <a:pt x="381636" y="20046"/>
                  </a:moveTo>
                  <a:cubicBezTo>
                    <a:pt x="291302" y="42630"/>
                    <a:pt x="208591" y="20373"/>
                    <a:pt x="175319" y="0"/>
                  </a:cubicBezTo>
                  <a:cubicBezTo>
                    <a:pt x="161351" y="33197"/>
                    <a:pt x="157759" y="122175"/>
                    <a:pt x="204433" y="185090"/>
                  </a:cubicBezTo>
                  <a:cubicBezTo>
                    <a:pt x="206657" y="203328"/>
                    <a:pt x="207348" y="229190"/>
                    <a:pt x="206720" y="244690"/>
                  </a:cubicBezTo>
                  <a:cubicBezTo>
                    <a:pt x="206720" y="244690"/>
                    <a:pt x="163612" y="255027"/>
                    <a:pt x="148339" y="260077"/>
                  </a:cubicBezTo>
                  <a:cubicBezTo>
                    <a:pt x="69962" y="285963"/>
                    <a:pt x="0" y="326119"/>
                    <a:pt x="0" y="396106"/>
                  </a:cubicBezTo>
                  <a:lnTo>
                    <a:pt x="0" y="563072"/>
                  </a:ln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9" name="Freeform: Shape 1228">
              <a:extLst>
                <a:ext uri="{FF2B5EF4-FFF2-40B4-BE49-F238E27FC236}">
                  <a16:creationId xmlns:a16="http://schemas.microsoft.com/office/drawing/2014/main" id="{AD53D9CA-68CD-71C7-7DD7-71CDC946267C}"/>
                </a:ext>
              </a:extLst>
            </p:cNvPr>
            <p:cNvSpPr/>
            <p:nvPr/>
          </p:nvSpPr>
          <p:spPr>
            <a:xfrm>
              <a:off x="8868327" y="1763473"/>
              <a:ext cx="235508" cy="574640"/>
            </a:xfrm>
            <a:custGeom>
              <a:avLst/>
              <a:gdLst>
                <a:gd name="connsiteX0" fmla="*/ 0 w 235508"/>
                <a:gd name="connsiteY0" fmla="*/ 0 h 574640"/>
                <a:gd name="connsiteX1" fmla="*/ 72725 w 235508"/>
                <a:gd name="connsiteY1" fmla="*/ 40847 h 574640"/>
                <a:gd name="connsiteX2" fmla="*/ 37757 w 235508"/>
                <a:gd name="connsiteY2" fmla="*/ 206996 h 574640"/>
                <a:gd name="connsiteX3" fmla="*/ 35609 w 235508"/>
                <a:gd name="connsiteY3" fmla="*/ 265452 h 574640"/>
                <a:gd name="connsiteX4" fmla="*/ 94002 w 235508"/>
                <a:gd name="connsiteY4" fmla="*/ 280877 h 574640"/>
                <a:gd name="connsiteX5" fmla="*/ 242341 w 235508"/>
                <a:gd name="connsiteY5" fmla="*/ 416906 h 574640"/>
                <a:gd name="connsiteX6" fmla="*/ 242341 w 235508"/>
                <a:gd name="connsiteY6" fmla="*/ 583872 h 57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5508" h="574640">
                  <a:moveTo>
                    <a:pt x="0" y="0"/>
                  </a:moveTo>
                  <a:cubicBezTo>
                    <a:pt x="0" y="0"/>
                    <a:pt x="36375" y="29329"/>
                    <a:pt x="72725" y="40847"/>
                  </a:cubicBezTo>
                  <a:cubicBezTo>
                    <a:pt x="89280" y="77699"/>
                    <a:pt x="86165" y="141179"/>
                    <a:pt x="37757" y="206996"/>
                  </a:cubicBezTo>
                  <a:cubicBezTo>
                    <a:pt x="35609" y="224744"/>
                    <a:pt x="34968" y="250267"/>
                    <a:pt x="35609" y="265452"/>
                  </a:cubicBezTo>
                  <a:cubicBezTo>
                    <a:pt x="35609" y="265452"/>
                    <a:pt x="79394" y="277071"/>
                    <a:pt x="94002" y="280877"/>
                  </a:cubicBezTo>
                  <a:cubicBezTo>
                    <a:pt x="178095" y="302882"/>
                    <a:pt x="242341" y="346919"/>
                    <a:pt x="242341" y="416906"/>
                  </a:cubicBezTo>
                  <a:lnTo>
                    <a:pt x="242341" y="583872"/>
                  </a:ln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0" name="Freeform: Shape 1229">
              <a:extLst>
                <a:ext uri="{FF2B5EF4-FFF2-40B4-BE49-F238E27FC236}">
                  <a16:creationId xmlns:a16="http://schemas.microsoft.com/office/drawing/2014/main" id="{82C5A3E4-F2FB-C514-19A5-5AC2C6C66152}"/>
                </a:ext>
              </a:extLst>
            </p:cNvPr>
            <p:cNvSpPr/>
            <p:nvPr/>
          </p:nvSpPr>
          <p:spPr>
            <a:xfrm>
              <a:off x="8655027" y="1616930"/>
              <a:ext cx="357973" cy="442755"/>
            </a:xfrm>
            <a:custGeom>
              <a:avLst/>
              <a:gdLst>
                <a:gd name="connsiteX0" fmla="*/ 355196 w 357972"/>
                <a:gd name="connsiteY0" fmla="*/ 443761 h 442755"/>
                <a:gd name="connsiteX1" fmla="*/ 359843 w 357972"/>
                <a:gd name="connsiteY1" fmla="*/ 193921 h 442755"/>
                <a:gd name="connsiteX2" fmla="*/ 180003 w 357972"/>
                <a:gd name="connsiteY2" fmla="*/ 0 h 442755"/>
                <a:gd name="connsiteX3" fmla="*/ 100 w 357972"/>
                <a:gd name="connsiteY3" fmla="*/ 194109 h 442755"/>
                <a:gd name="connsiteX4" fmla="*/ 715 w 357972"/>
                <a:gd name="connsiteY4" fmla="*/ 447215 h 442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972" h="442755">
                  <a:moveTo>
                    <a:pt x="355196" y="443761"/>
                  </a:moveTo>
                  <a:cubicBezTo>
                    <a:pt x="309965" y="413879"/>
                    <a:pt x="362167" y="296351"/>
                    <a:pt x="359843" y="193921"/>
                  </a:cubicBezTo>
                  <a:cubicBezTo>
                    <a:pt x="359969" y="94568"/>
                    <a:pt x="284216" y="0"/>
                    <a:pt x="180003" y="0"/>
                  </a:cubicBezTo>
                  <a:cubicBezTo>
                    <a:pt x="76907" y="0"/>
                    <a:pt x="100" y="94718"/>
                    <a:pt x="100" y="194109"/>
                  </a:cubicBezTo>
                  <a:cubicBezTo>
                    <a:pt x="-2412" y="298047"/>
                    <a:pt x="43797" y="419544"/>
                    <a:pt x="715" y="447215"/>
                  </a:cubicBez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1" name="Freeform: Shape 1230">
              <a:extLst>
                <a:ext uri="{FF2B5EF4-FFF2-40B4-BE49-F238E27FC236}">
                  <a16:creationId xmlns:a16="http://schemas.microsoft.com/office/drawing/2014/main" id="{82902D26-F03D-BBDB-D4A2-C53DFCF7302E}"/>
                </a:ext>
              </a:extLst>
            </p:cNvPr>
            <p:cNvSpPr/>
            <p:nvPr/>
          </p:nvSpPr>
          <p:spPr>
            <a:xfrm>
              <a:off x="8707755" y="2044350"/>
              <a:ext cx="18841" cy="150725"/>
            </a:xfrm>
            <a:custGeom>
              <a:avLst/>
              <a:gdLst>
                <a:gd name="connsiteX0" fmla="*/ 28110 w 18840"/>
                <a:gd name="connsiteY0" fmla="*/ 154983 h 150725"/>
                <a:gd name="connsiteX1" fmla="*/ 0 w 18840"/>
                <a:gd name="connsiteY1" fmla="*/ 0 h 150725"/>
              </a:gdLst>
              <a:ahLst/>
              <a:cxnLst>
                <a:cxn ang="0">
                  <a:pos x="connsiteX0" y="connsiteY0"/>
                </a:cxn>
                <a:cxn ang="0">
                  <a:pos x="connsiteX1" y="connsiteY1"/>
                </a:cxn>
              </a:cxnLst>
              <a:rect l="l" t="t" r="r" b="b"/>
              <a:pathLst>
                <a:path w="18840" h="150725">
                  <a:moveTo>
                    <a:pt x="28110" y="154983"/>
                  </a:moveTo>
                  <a:cubicBezTo>
                    <a:pt x="16027" y="66658"/>
                    <a:pt x="0" y="0"/>
                    <a:pt x="0" y="0"/>
                  </a:cubicBez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2" name="Freeform: Shape 1231">
              <a:extLst>
                <a:ext uri="{FF2B5EF4-FFF2-40B4-BE49-F238E27FC236}">
                  <a16:creationId xmlns:a16="http://schemas.microsoft.com/office/drawing/2014/main" id="{397938AB-A649-77A1-E9DD-1C3A4854C863}"/>
                </a:ext>
              </a:extLst>
            </p:cNvPr>
            <p:cNvSpPr/>
            <p:nvPr/>
          </p:nvSpPr>
          <p:spPr>
            <a:xfrm>
              <a:off x="8934245" y="2044350"/>
              <a:ext cx="18841" cy="150725"/>
            </a:xfrm>
            <a:custGeom>
              <a:avLst/>
              <a:gdLst>
                <a:gd name="connsiteX0" fmla="*/ 0 w 18840"/>
                <a:gd name="connsiteY0" fmla="*/ 154983 h 150725"/>
                <a:gd name="connsiteX1" fmla="*/ 28085 w 18840"/>
                <a:gd name="connsiteY1" fmla="*/ 0 h 150725"/>
              </a:gdLst>
              <a:ahLst/>
              <a:cxnLst>
                <a:cxn ang="0">
                  <a:pos x="connsiteX0" y="connsiteY0"/>
                </a:cxn>
                <a:cxn ang="0">
                  <a:pos x="connsiteX1" y="connsiteY1"/>
                </a:cxn>
              </a:cxnLst>
              <a:rect l="l" t="t" r="r" b="b"/>
              <a:pathLst>
                <a:path w="18840" h="150725">
                  <a:moveTo>
                    <a:pt x="0" y="154983"/>
                  </a:moveTo>
                  <a:cubicBezTo>
                    <a:pt x="12058" y="65515"/>
                    <a:pt x="28085" y="0"/>
                    <a:pt x="28085" y="0"/>
                  </a:cubicBez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3" name="Freeform: Shape 1232">
              <a:extLst>
                <a:ext uri="{FF2B5EF4-FFF2-40B4-BE49-F238E27FC236}">
                  <a16:creationId xmlns:a16="http://schemas.microsoft.com/office/drawing/2014/main" id="{2A6E5C99-0279-83D8-EDF2-DE8B7A06C63E}"/>
                </a:ext>
              </a:extLst>
            </p:cNvPr>
            <p:cNvSpPr/>
            <p:nvPr/>
          </p:nvSpPr>
          <p:spPr>
            <a:xfrm>
              <a:off x="8833146" y="2345624"/>
              <a:ext cx="9420" cy="9420"/>
            </a:xfrm>
            <a:custGeom>
              <a:avLst/>
              <a:gdLst>
                <a:gd name="connsiteX0" fmla="*/ 3793 w 0"/>
                <a:gd name="connsiteY0" fmla="*/ 0 h 0"/>
                <a:gd name="connsiteX1" fmla="*/ 1884 w 0"/>
                <a:gd name="connsiteY1" fmla="*/ 0 h 0"/>
                <a:gd name="connsiteX2" fmla="*/ 0 w 0"/>
                <a:gd name="connsiteY2" fmla="*/ 0 h 0"/>
                <a:gd name="connsiteX3" fmla="*/ 1884 w 0"/>
                <a:gd name="connsiteY3" fmla="*/ 0 h 0"/>
                <a:gd name="connsiteX4" fmla="*/ 3793 w 0"/>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a:moveTo>
                    <a:pt x="3793" y="0"/>
                  </a:moveTo>
                  <a:cubicBezTo>
                    <a:pt x="3793" y="0"/>
                    <a:pt x="2939" y="0"/>
                    <a:pt x="1884" y="0"/>
                  </a:cubicBezTo>
                  <a:cubicBezTo>
                    <a:pt x="841" y="0"/>
                    <a:pt x="0" y="0"/>
                    <a:pt x="0" y="0"/>
                  </a:cubicBezTo>
                  <a:cubicBezTo>
                    <a:pt x="0" y="0"/>
                    <a:pt x="841" y="0"/>
                    <a:pt x="1884" y="0"/>
                  </a:cubicBezTo>
                  <a:cubicBezTo>
                    <a:pt x="2939" y="0"/>
                    <a:pt x="3793" y="0"/>
                    <a:pt x="3793" y="0"/>
                  </a:cubicBezTo>
                  <a:close/>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34" name="Love_letter" descr="{&quot;Key&quot;:&quot;POWER_USER_SHAPE_ICON&quot;,&quot;Value&quot;:&quot;POWER_USER_SHAPE_ICON_STYLE_1&quot;}">
            <a:extLst>
              <a:ext uri="{FF2B5EF4-FFF2-40B4-BE49-F238E27FC236}">
                <a16:creationId xmlns:a16="http://schemas.microsoft.com/office/drawing/2014/main" id="{424DA397-45A0-B9EF-11B0-4C7998537C11}"/>
              </a:ext>
            </a:extLst>
          </p:cNvPr>
          <p:cNvGrpSpPr>
            <a:grpSpLocks noChangeAspect="1"/>
          </p:cNvGrpSpPr>
          <p:nvPr/>
        </p:nvGrpSpPr>
        <p:grpSpPr>
          <a:xfrm>
            <a:off x="9699765" y="3786688"/>
            <a:ext cx="432000" cy="446242"/>
            <a:chOff x="5495926" y="852488"/>
            <a:chExt cx="433388" cy="447675"/>
          </a:xfrm>
          <a:solidFill>
            <a:schemeClr val="accent1"/>
          </a:solidFill>
        </p:grpSpPr>
        <p:sp>
          <p:nvSpPr>
            <p:cNvPr id="1235" name="Freeform 31">
              <a:extLst>
                <a:ext uri="{FF2B5EF4-FFF2-40B4-BE49-F238E27FC236}">
                  <a16:creationId xmlns:a16="http://schemas.microsoft.com/office/drawing/2014/main" id="{06ED874E-B6A8-5483-DAD5-BB6DB099977D}"/>
                </a:ext>
              </a:extLst>
            </p:cNvPr>
            <p:cNvSpPr>
              <a:spLocks/>
            </p:cNvSpPr>
            <p:nvPr/>
          </p:nvSpPr>
          <p:spPr bwMode="auto">
            <a:xfrm>
              <a:off x="5637213" y="1036638"/>
              <a:ext cx="66675" cy="50800"/>
            </a:xfrm>
            <a:custGeom>
              <a:avLst/>
              <a:gdLst>
                <a:gd name="T0" fmla="*/ 345 w 387"/>
                <a:gd name="T1" fmla="*/ 302 h 302"/>
                <a:gd name="T2" fmla="*/ 344 w 387"/>
                <a:gd name="T3" fmla="*/ 302 h 302"/>
                <a:gd name="T4" fmla="*/ 26 w 387"/>
                <a:gd name="T5" fmla="*/ 204 h 302"/>
                <a:gd name="T6" fmla="*/ 22 w 387"/>
                <a:gd name="T7" fmla="*/ 96 h 302"/>
                <a:gd name="T8" fmla="*/ 138 w 387"/>
                <a:gd name="T9" fmla="*/ 6 h 302"/>
                <a:gd name="T10" fmla="*/ 261 w 387"/>
                <a:gd name="T11" fmla="*/ 48 h 302"/>
                <a:gd name="T12" fmla="*/ 255 w 387"/>
                <a:gd name="T13" fmla="*/ 107 h 302"/>
                <a:gd name="T14" fmla="*/ 197 w 387"/>
                <a:gd name="T15" fmla="*/ 102 h 302"/>
                <a:gd name="T16" fmla="*/ 149 w 387"/>
                <a:gd name="T17" fmla="*/ 90 h 302"/>
                <a:gd name="T18" fmla="*/ 98 w 387"/>
                <a:gd name="T19" fmla="*/ 132 h 302"/>
                <a:gd name="T20" fmla="*/ 97 w 387"/>
                <a:gd name="T21" fmla="*/ 164 h 302"/>
                <a:gd name="T22" fmla="*/ 346 w 387"/>
                <a:gd name="T23" fmla="*/ 226 h 302"/>
                <a:gd name="T24" fmla="*/ 387 w 387"/>
                <a:gd name="T25" fmla="*/ 265 h 302"/>
                <a:gd name="T26" fmla="*/ 345 w 387"/>
                <a:gd name="T27" fmla="*/ 302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7" h="302">
                  <a:moveTo>
                    <a:pt x="345" y="302"/>
                  </a:moveTo>
                  <a:lnTo>
                    <a:pt x="344" y="302"/>
                  </a:lnTo>
                  <a:cubicBezTo>
                    <a:pt x="171" y="302"/>
                    <a:pt x="65" y="266"/>
                    <a:pt x="26" y="204"/>
                  </a:cubicBezTo>
                  <a:cubicBezTo>
                    <a:pt x="12" y="182"/>
                    <a:pt x="0" y="146"/>
                    <a:pt x="22" y="96"/>
                  </a:cubicBezTo>
                  <a:cubicBezTo>
                    <a:pt x="46" y="44"/>
                    <a:pt x="86" y="13"/>
                    <a:pt x="138" y="6"/>
                  </a:cubicBezTo>
                  <a:cubicBezTo>
                    <a:pt x="185" y="0"/>
                    <a:pt x="236" y="17"/>
                    <a:pt x="261" y="48"/>
                  </a:cubicBezTo>
                  <a:cubicBezTo>
                    <a:pt x="276" y="66"/>
                    <a:pt x="273" y="93"/>
                    <a:pt x="255" y="107"/>
                  </a:cubicBezTo>
                  <a:cubicBezTo>
                    <a:pt x="237" y="122"/>
                    <a:pt x="211" y="119"/>
                    <a:pt x="197" y="102"/>
                  </a:cubicBezTo>
                  <a:cubicBezTo>
                    <a:pt x="193" y="97"/>
                    <a:pt x="172" y="86"/>
                    <a:pt x="149" y="90"/>
                  </a:cubicBezTo>
                  <a:cubicBezTo>
                    <a:pt x="127" y="92"/>
                    <a:pt x="110" y="107"/>
                    <a:pt x="98" y="132"/>
                  </a:cubicBezTo>
                  <a:cubicBezTo>
                    <a:pt x="89" y="152"/>
                    <a:pt x="94" y="160"/>
                    <a:pt x="97" y="164"/>
                  </a:cubicBezTo>
                  <a:cubicBezTo>
                    <a:pt x="113" y="189"/>
                    <a:pt x="188" y="221"/>
                    <a:pt x="346" y="226"/>
                  </a:cubicBezTo>
                  <a:cubicBezTo>
                    <a:pt x="369" y="227"/>
                    <a:pt x="387" y="242"/>
                    <a:pt x="387" y="265"/>
                  </a:cubicBezTo>
                  <a:cubicBezTo>
                    <a:pt x="386" y="288"/>
                    <a:pt x="367" y="302"/>
                    <a:pt x="345" y="302"/>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6" name="Freeform 32">
              <a:extLst>
                <a:ext uri="{FF2B5EF4-FFF2-40B4-BE49-F238E27FC236}">
                  <a16:creationId xmlns:a16="http://schemas.microsoft.com/office/drawing/2014/main" id="{0B3FA03B-0556-A418-FE70-018EC057B2B7}"/>
                </a:ext>
              </a:extLst>
            </p:cNvPr>
            <p:cNvSpPr>
              <a:spLocks/>
            </p:cNvSpPr>
            <p:nvPr/>
          </p:nvSpPr>
          <p:spPr bwMode="auto">
            <a:xfrm>
              <a:off x="5668963" y="1019176"/>
              <a:ext cx="53975" cy="69850"/>
            </a:xfrm>
            <a:custGeom>
              <a:avLst/>
              <a:gdLst>
                <a:gd name="T0" fmla="*/ 170 w 319"/>
                <a:gd name="T1" fmla="*/ 409 h 409"/>
                <a:gd name="T2" fmla="*/ 151 w 319"/>
                <a:gd name="T3" fmla="*/ 405 h 409"/>
                <a:gd name="T4" fmla="*/ 133 w 319"/>
                <a:gd name="T5" fmla="*/ 349 h 409"/>
                <a:gd name="T6" fmla="*/ 192 w 319"/>
                <a:gd name="T7" fmla="*/ 100 h 409"/>
                <a:gd name="T8" fmla="*/ 165 w 319"/>
                <a:gd name="T9" fmla="*/ 86 h 409"/>
                <a:gd name="T10" fmla="*/ 104 w 319"/>
                <a:gd name="T11" fmla="*/ 111 h 409"/>
                <a:gd name="T12" fmla="*/ 92 w 319"/>
                <a:gd name="T13" fmla="*/ 159 h 409"/>
                <a:gd name="T14" fmla="*/ 70 w 319"/>
                <a:gd name="T15" fmla="*/ 214 h 409"/>
                <a:gd name="T16" fmla="*/ 15 w 319"/>
                <a:gd name="T17" fmla="*/ 192 h 409"/>
                <a:gd name="T18" fmla="*/ 36 w 319"/>
                <a:gd name="T19" fmla="*/ 63 h 409"/>
                <a:gd name="T20" fmla="*/ 170 w 319"/>
                <a:gd name="T21" fmla="*/ 3 h 409"/>
                <a:gd name="T22" fmla="*/ 264 w 319"/>
                <a:gd name="T23" fmla="*/ 59 h 409"/>
                <a:gd name="T24" fmla="*/ 207 w 319"/>
                <a:gd name="T25" fmla="*/ 387 h 409"/>
                <a:gd name="T26" fmla="*/ 170 w 319"/>
                <a:gd name="T27" fmla="*/ 409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9" h="409">
                  <a:moveTo>
                    <a:pt x="170" y="409"/>
                  </a:moveTo>
                  <a:cubicBezTo>
                    <a:pt x="163" y="409"/>
                    <a:pt x="157" y="408"/>
                    <a:pt x="151" y="405"/>
                  </a:cubicBezTo>
                  <a:cubicBezTo>
                    <a:pt x="130" y="394"/>
                    <a:pt x="122" y="369"/>
                    <a:pt x="133" y="349"/>
                  </a:cubicBezTo>
                  <a:cubicBezTo>
                    <a:pt x="187" y="243"/>
                    <a:pt x="212" y="136"/>
                    <a:pt x="192" y="100"/>
                  </a:cubicBezTo>
                  <a:cubicBezTo>
                    <a:pt x="190" y="96"/>
                    <a:pt x="185" y="88"/>
                    <a:pt x="165" y="86"/>
                  </a:cubicBezTo>
                  <a:cubicBezTo>
                    <a:pt x="137" y="85"/>
                    <a:pt x="117" y="93"/>
                    <a:pt x="104" y="111"/>
                  </a:cubicBezTo>
                  <a:cubicBezTo>
                    <a:pt x="90" y="131"/>
                    <a:pt x="90" y="154"/>
                    <a:pt x="92" y="159"/>
                  </a:cubicBezTo>
                  <a:cubicBezTo>
                    <a:pt x="101" y="180"/>
                    <a:pt x="91" y="205"/>
                    <a:pt x="70" y="214"/>
                  </a:cubicBezTo>
                  <a:cubicBezTo>
                    <a:pt x="49" y="223"/>
                    <a:pt x="24" y="213"/>
                    <a:pt x="15" y="192"/>
                  </a:cubicBezTo>
                  <a:cubicBezTo>
                    <a:pt x="0" y="155"/>
                    <a:pt x="8" y="102"/>
                    <a:pt x="36" y="63"/>
                  </a:cubicBezTo>
                  <a:cubicBezTo>
                    <a:pt x="66" y="21"/>
                    <a:pt x="113" y="0"/>
                    <a:pt x="170" y="3"/>
                  </a:cubicBezTo>
                  <a:cubicBezTo>
                    <a:pt x="224" y="7"/>
                    <a:pt x="251" y="35"/>
                    <a:pt x="264" y="59"/>
                  </a:cubicBezTo>
                  <a:cubicBezTo>
                    <a:pt x="319" y="155"/>
                    <a:pt x="234" y="334"/>
                    <a:pt x="207" y="387"/>
                  </a:cubicBezTo>
                  <a:cubicBezTo>
                    <a:pt x="199" y="401"/>
                    <a:pt x="185" y="409"/>
                    <a:pt x="170" y="409"/>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7" name="Freeform 33">
              <a:extLst>
                <a:ext uri="{FF2B5EF4-FFF2-40B4-BE49-F238E27FC236}">
                  <a16:creationId xmlns:a16="http://schemas.microsoft.com/office/drawing/2014/main" id="{85FE216F-3314-3966-236E-B365A43AE8AC}"/>
                </a:ext>
              </a:extLst>
            </p:cNvPr>
            <p:cNvSpPr>
              <a:spLocks noEditPoints="1"/>
            </p:cNvSpPr>
            <p:nvPr/>
          </p:nvSpPr>
          <p:spPr bwMode="auto">
            <a:xfrm>
              <a:off x="5530851" y="935038"/>
              <a:ext cx="398463" cy="365125"/>
            </a:xfrm>
            <a:custGeom>
              <a:avLst/>
              <a:gdLst>
                <a:gd name="T0" fmla="*/ 1289 w 2362"/>
                <a:gd name="T1" fmla="*/ 905 h 2158"/>
                <a:gd name="T2" fmla="*/ 2271 w 2362"/>
                <a:gd name="T3" fmla="*/ 1025 h 2158"/>
                <a:gd name="T4" fmla="*/ 2183 w 2362"/>
                <a:gd name="T5" fmla="*/ 827 h 2158"/>
                <a:gd name="T6" fmla="*/ 1734 w 2362"/>
                <a:gd name="T7" fmla="*/ 122 h 2158"/>
                <a:gd name="T8" fmla="*/ 1289 w 2362"/>
                <a:gd name="T9" fmla="*/ 905 h 2158"/>
                <a:gd name="T10" fmla="*/ 757 w 2362"/>
                <a:gd name="T11" fmla="*/ 2158 h 2158"/>
                <a:gd name="T12" fmla="*/ 664 w 2362"/>
                <a:gd name="T13" fmla="*/ 2139 h 2158"/>
                <a:gd name="T14" fmla="*/ 492 w 2362"/>
                <a:gd name="T15" fmla="*/ 1978 h 2158"/>
                <a:gd name="T16" fmla="*/ 11 w 2362"/>
                <a:gd name="T17" fmla="*/ 1180 h 2158"/>
                <a:gd name="T18" fmla="*/ 26 w 2362"/>
                <a:gd name="T19" fmla="*/ 1123 h 2158"/>
                <a:gd name="T20" fmla="*/ 83 w 2362"/>
                <a:gd name="T21" fmla="*/ 1137 h 2158"/>
                <a:gd name="T22" fmla="*/ 564 w 2362"/>
                <a:gd name="T23" fmla="*/ 1935 h 2158"/>
                <a:gd name="T24" fmla="*/ 696 w 2362"/>
                <a:gd name="T25" fmla="*/ 2063 h 2158"/>
                <a:gd name="T26" fmla="*/ 854 w 2362"/>
                <a:gd name="T27" fmla="*/ 2045 h 2158"/>
                <a:gd name="T28" fmla="*/ 1314 w 2362"/>
                <a:gd name="T29" fmla="*/ 1757 h 2158"/>
                <a:gd name="T30" fmla="*/ 2155 w 2362"/>
                <a:gd name="T31" fmla="*/ 1231 h 2158"/>
                <a:gd name="T32" fmla="*/ 2266 w 2362"/>
                <a:gd name="T33" fmla="*/ 1108 h 2158"/>
                <a:gd name="T34" fmla="*/ 1217 w 2362"/>
                <a:gd name="T35" fmla="*/ 980 h 2158"/>
                <a:gd name="T36" fmla="*/ 1185 w 2362"/>
                <a:gd name="T37" fmla="*/ 958 h 2158"/>
                <a:gd name="T38" fmla="*/ 1186 w 2362"/>
                <a:gd name="T39" fmla="*/ 918 h 2158"/>
                <a:gd name="T40" fmla="*/ 1696 w 2362"/>
                <a:gd name="T41" fmla="*/ 21 h 2158"/>
                <a:gd name="T42" fmla="*/ 1731 w 2362"/>
                <a:gd name="T43" fmla="*/ 0 h 2158"/>
                <a:gd name="T44" fmla="*/ 1767 w 2362"/>
                <a:gd name="T45" fmla="*/ 19 h 2158"/>
                <a:gd name="T46" fmla="*/ 2254 w 2362"/>
                <a:gd name="T47" fmla="*/ 784 h 2158"/>
                <a:gd name="T48" fmla="*/ 2357 w 2362"/>
                <a:gd name="T49" fmla="*/ 1046 h 2158"/>
                <a:gd name="T50" fmla="*/ 2198 w 2362"/>
                <a:gd name="T51" fmla="*/ 1302 h 2158"/>
                <a:gd name="T52" fmla="*/ 1358 w 2362"/>
                <a:gd name="T53" fmla="*/ 1827 h 2158"/>
                <a:gd name="T54" fmla="*/ 897 w 2362"/>
                <a:gd name="T55" fmla="*/ 2116 h 2158"/>
                <a:gd name="T56" fmla="*/ 757 w 2362"/>
                <a:gd name="T57" fmla="*/ 2158 h 2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62" h="2158">
                  <a:moveTo>
                    <a:pt x="1289" y="905"/>
                  </a:moveTo>
                  <a:lnTo>
                    <a:pt x="2271" y="1025"/>
                  </a:lnTo>
                  <a:cubicBezTo>
                    <a:pt x="2260" y="961"/>
                    <a:pt x="2223" y="892"/>
                    <a:pt x="2183" y="827"/>
                  </a:cubicBezTo>
                  <a:cubicBezTo>
                    <a:pt x="2131" y="741"/>
                    <a:pt x="1839" y="285"/>
                    <a:pt x="1734" y="122"/>
                  </a:cubicBezTo>
                  <a:lnTo>
                    <a:pt x="1289" y="905"/>
                  </a:lnTo>
                  <a:close/>
                  <a:moveTo>
                    <a:pt x="757" y="2158"/>
                  </a:moveTo>
                  <a:cubicBezTo>
                    <a:pt x="725" y="2158"/>
                    <a:pt x="694" y="2152"/>
                    <a:pt x="664" y="2139"/>
                  </a:cubicBezTo>
                  <a:cubicBezTo>
                    <a:pt x="599" y="2112"/>
                    <a:pt x="540" y="2056"/>
                    <a:pt x="492" y="1978"/>
                  </a:cubicBezTo>
                  <a:lnTo>
                    <a:pt x="11" y="1180"/>
                  </a:lnTo>
                  <a:cubicBezTo>
                    <a:pt x="0" y="1160"/>
                    <a:pt x="6" y="1135"/>
                    <a:pt x="26" y="1123"/>
                  </a:cubicBezTo>
                  <a:cubicBezTo>
                    <a:pt x="45" y="1111"/>
                    <a:pt x="71" y="1118"/>
                    <a:pt x="83" y="1137"/>
                  </a:cubicBezTo>
                  <a:lnTo>
                    <a:pt x="564" y="1935"/>
                  </a:lnTo>
                  <a:cubicBezTo>
                    <a:pt x="602" y="1998"/>
                    <a:pt x="648" y="2043"/>
                    <a:pt x="696" y="2063"/>
                  </a:cubicBezTo>
                  <a:cubicBezTo>
                    <a:pt x="747" y="2084"/>
                    <a:pt x="800" y="2078"/>
                    <a:pt x="854" y="2045"/>
                  </a:cubicBezTo>
                  <a:cubicBezTo>
                    <a:pt x="882" y="2029"/>
                    <a:pt x="1082" y="1903"/>
                    <a:pt x="1314" y="1757"/>
                  </a:cubicBezTo>
                  <a:cubicBezTo>
                    <a:pt x="1651" y="1545"/>
                    <a:pt x="2071" y="1281"/>
                    <a:pt x="2155" y="1231"/>
                  </a:cubicBezTo>
                  <a:cubicBezTo>
                    <a:pt x="2225" y="1188"/>
                    <a:pt x="2255" y="1146"/>
                    <a:pt x="2266" y="1108"/>
                  </a:cubicBezTo>
                  <a:lnTo>
                    <a:pt x="1217" y="980"/>
                  </a:lnTo>
                  <a:cubicBezTo>
                    <a:pt x="1203" y="979"/>
                    <a:pt x="1191" y="970"/>
                    <a:pt x="1185" y="958"/>
                  </a:cubicBezTo>
                  <a:cubicBezTo>
                    <a:pt x="1178" y="945"/>
                    <a:pt x="1179" y="931"/>
                    <a:pt x="1186" y="918"/>
                  </a:cubicBezTo>
                  <a:lnTo>
                    <a:pt x="1696" y="21"/>
                  </a:lnTo>
                  <a:cubicBezTo>
                    <a:pt x="1703" y="8"/>
                    <a:pt x="1717" y="0"/>
                    <a:pt x="1731" y="0"/>
                  </a:cubicBezTo>
                  <a:cubicBezTo>
                    <a:pt x="1746" y="0"/>
                    <a:pt x="1760" y="7"/>
                    <a:pt x="1767" y="19"/>
                  </a:cubicBezTo>
                  <a:cubicBezTo>
                    <a:pt x="1785" y="46"/>
                    <a:pt x="2190" y="678"/>
                    <a:pt x="2254" y="784"/>
                  </a:cubicBezTo>
                  <a:cubicBezTo>
                    <a:pt x="2305" y="867"/>
                    <a:pt x="2352" y="957"/>
                    <a:pt x="2357" y="1046"/>
                  </a:cubicBezTo>
                  <a:cubicBezTo>
                    <a:pt x="2362" y="1149"/>
                    <a:pt x="2308" y="1235"/>
                    <a:pt x="2198" y="1302"/>
                  </a:cubicBezTo>
                  <a:cubicBezTo>
                    <a:pt x="2114" y="1352"/>
                    <a:pt x="1695" y="1616"/>
                    <a:pt x="1358" y="1827"/>
                  </a:cubicBezTo>
                  <a:cubicBezTo>
                    <a:pt x="1126" y="1973"/>
                    <a:pt x="925" y="2100"/>
                    <a:pt x="897" y="2116"/>
                  </a:cubicBezTo>
                  <a:cubicBezTo>
                    <a:pt x="851" y="2144"/>
                    <a:pt x="803" y="2158"/>
                    <a:pt x="757" y="2158"/>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8" name="Freeform 34">
              <a:extLst>
                <a:ext uri="{FF2B5EF4-FFF2-40B4-BE49-F238E27FC236}">
                  <a16:creationId xmlns:a16="http://schemas.microsoft.com/office/drawing/2014/main" id="{D2986E2B-F425-CC72-4830-18A0490FFC38}"/>
                </a:ext>
              </a:extLst>
            </p:cNvPr>
            <p:cNvSpPr>
              <a:spLocks/>
            </p:cNvSpPr>
            <p:nvPr/>
          </p:nvSpPr>
          <p:spPr bwMode="auto">
            <a:xfrm>
              <a:off x="5532438" y="928688"/>
              <a:ext cx="298450" cy="371475"/>
            </a:xfrm>
            <a:custGeom>
              <a:avLst/>
              <a:gdLst>
                <a:gd name="T0" fmla="*/ 713 w 1768"/>
                <a:gd name="T1" fmla="*/ 2194 h 2194"/>
                <a:gd name="T2" fmla="*/ 697 w 1768"/>
                <a:gd name="T3" fmla="*/ 2190 h 2194"/>
                <a:gd name="T4" fmla="*/ 675 w 1768"/>
                <a:gd name="T5" fmla="*/ 2136 h 2194"/>
                <a:gd name="T6" fmla="*/ 976 w 1768"/>
                <a:gd name="T7" fmla="*/ 1123 h 2194"/>
                <a:gd name="T8" fmla="*/ 47 w 1768"/>
                <a:gd name="T9" fmla="*/ 1196 h 2194"/>
                <a:gd name="T10" fmla="*/ 10 w 1768"/>
                <a:gd name="T11" fmla="*/ 1179 h 2194"/>
                <a:gd name="T12" fmla="*/ 5 w 1768"/>
                <a:gd name="T13" fmla="*/ 1139 h 2194"/>
                <a:gd name="T14" fmla="*/ 373 w 1768"/>
                <a:gd name="T15" fmla="*/ 168 h 2194"/>
                <a:gd name="T16" fmla="*/ 644 w 1768"/>
                <a:gd name="T17" fmla="*/ 7 h 2194"/>
                <a:gd name="T18" fmla="*/ 1727 w 1768"/>
                <a:gd name="T19" fmla="*/ 39 h 2194"/>
                <a:gd name="T20" fmla="*/ 1767 w 1768"/>
                <a:gd name="T21" fmla="*/ 82 h 2194"/>
                <a:gd name="T22" fmla="*/ 1724 w 1768"/>
                <a:gd name="T23" fmla="*/ 123 h 2194"/>
                <a:gd name="T24" fmla="*/ 640 w 1768"/>
                <a:gd name="T25" fmla="*/ 90 h 2194"/>
                <a:gd name="T26" fmla="*/ 452 w 1768"/>
                <a:gd name="T27" fmla="*/ 197 h 2194"/>
                <a:gd name="T28" fmla="*/ 106 w 1768"/>
                <a:gd name="T29" fmla="*/ 1108 h 2194"/>
                <a:gd name="T30" fmla="*/ 1029 w 1768"/>
                <a:gd name="T31" fmla="*/ 1035 h 2194"/>
                <a:gd name="T32" fmla="*/ 1065 w 1768"/>
                <a:gd name="T33" fmla="*/ 1050 h 2194"/>
                <a:gd name="T34" fmla="*/ 1073 w 1768"/>
                <a:gd name="T35" fmla="*/ 1088 h 2194"/>
                <a:gd name="T36" fmla="*/ 751 w 1768"/>
                <a:gd name="T37" fmla="*/ 2168 h 2194"/>
                <a:gd name="T38" fmla="*/ 713 w 1768"/>
                <a:gd name="T39" fmla="*/ 2194 h 2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768" h="2194">
                  <a:moveTo>
                    <a:pt x="713" y="2194"/>
                  </a:moveTo>
                  <a:cubicBezTo>
                    <a:pt x="708" y="2194"/>
                    <a:pt x="702" y="2193"/>
                    <a:pt x="697" y="2190"/>
                  </a:cubicBezTo>
                  <a:cubicBezTo>
                    <a:pt x="676" y="2181"/>
                    <a:pt x="666" y="2157"/>
                    <a:pt x="675" y="2136"/>
                  </a:cubicBezTo>
                  <a:cubicBezTo>
                    <a:pt x="730" y="2003"/>
                    <a:pt x="920" y="1326"/>
                    <a:pt x="976" y="1123"/>
                  </a:cubicBezTo>
                  <a:lnTo>
                    <a:pt x="47" y="1196"/>
                  </a:lnTo>
                  <a:cubicBezTo>
                    <a:pt x="33" y="1197"/>
                    <a:pt x="19" y="1191"/>
                    <a:pt x="10" y="1179"/>
                  </a:cubicBezTo>
                  <a:cubicBezTo>
                    <a:pt x="2" y="1168"/>
                    <a:pt x="0" y="1153"/>
                    <a:pt x="5" y="1139"/>
                  </a:cubicBezTo>
                  <a:cubicBezTo>
                    <a:pt x="8" y="1130"/>
                    <a:pt x="356" y="216"/>
                    <a:pt x="373" y="168"/>
                  </a:cubicBezTo>
                  <a:cubicBezTo>
                    <a:pt x="413" y="60"/>
                    <a:pt x="514" y="0"/>
                    <a:pt x="644" y="7"/>
                  </a:cubicBezTo>
                  <a:cubicBezTo>
                    <a:pt x="736" y="12"/>
                    <a:pt x="1717" y="39"/>
                    <a:pt x="1727" y="39"/>
                  </a:cubicBezTo>
                  <a:cubicBezTo>
                    <a:pt x="1750" y="40"/>
                    <a:pt x="1768" y="59"/>
                    <a:pt x="1767" y="82"/>
                  </a:cubicBezTo>
                  <a:cubicBezTo>
                    <a:pt x="1767" y="105"/>
                    <a:pt x="1748" y="123"/>
                    <a:pt x="1724" y="123"/>
                  </a:cubicBezTo>
                  <a:cubicBezTo>
                    <a:pt x="1684" y="122"/>
                    <a:pt x="733" y="95"/>
                    <a:pt x="640" y="90"/>
                  </a:cubicBezTo>
                  <a:cubicBezTo>
                    <a:pt x="596" y="88"/>
                    <a:pt x="490" y="93"/>
                    <a:pt x="452" y="197"/>
                  </a:cubicBezTo>
                  <a:cubicBezTo>
                    <a:pt x="436" y="238"/>
                    <a:pt x="185" y="899"/>
                    <a:pt x="106" y="1108"/>
                  </a:cubicBezTo>
                  <a:lnTo>
                    <a:pt x="1029" y="1035"/>
                  </a:lnTo>
                  <a:cubicBezTo>
                    <a:pt x="1043" y="1034"/>
                    <a:pt x="1056" y="1040"/>
                    <a:pt x="1065" y="1050"/>
                  </a:cubicBezTo>
                  <a:cubicBezTo>
                    <a:pt x="1073" y="1061"/>
                    <a:pt x="1076" y="1075"/>
                    <a:pt x="1073" y="1088"/>
                  </a:cubicBezTo>
                  <a:cubicBezTo>
                    <a:pt x="1062" y="1126"/>
                    <a:pt x="819" y="2007"/>
                    <a:pt x="751" y="2168"/>
                  </a:cubicBezTo>
                  <a:cubicBezTo>
                    <a:pt x="745" y="2184"/>
                    <a:pt x="729" y="2194"/>
                    <a:pt x="713" y="2194"/>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9" name="Freeform 35">
              <a:extLst>
                <a:ext uri="{FF2B5EF4-FFF2-40B4-BE49-F238E27FC236}">
                  <a16:creationId xmlns:a16="http://schemas.microsoft.com/office/drawing/2014/main" id="{186E0356-8EC3-BD7E-C02C-E9478C8DA175}"/>
                </a:ext>
              </a:extLst>
            </p:cNvPr>
            <p:cNvSpPr>
              <a:spLocks/>
            </p:cNvSpPr>
            <p:nvPr/>
          </p:nvSpPr>
          <p:spPr bwMode="auto">
            <a:xfrm>
              <a:off x="5692776" y="1085851"/>
              <a:ext cx="63500" cy="47625"/>
            </a:xfrm>
            <a:custGeom>
              <a:avLst/>
              <a:gdLst>
                <a:gd name="T0" fmla="*/ 48 w 371"/>
                <a:gd name="T1" fmla="*/ 285 h 285"/>
                <a:gd name="T2" fmla="*/ 29 w 371"/>
                <a:gd name="T3" fmla="*/ 281 h 285"/>
                <a:gd name="T4" fmla="*/ 11 w 371"/>
                <a:gd name="T5" fmla="*/ 225 h 285"/>
                <a:gd name="T6" fmla="*/ 41 w 371"/>
                <a:gd name="T7" fmla="*/ 161 h 285"/>
                <a:gd name="T8" fmla="*/ 330 w 371"/>
                <a:gd name="T9" fmla="*/ 12 h 285"/>
                <a:gd name="T10" fmla="*/ 369 w 371"/>
                <a:gd name="T11" fmla="*/ 57 h 285"/>
                <a:gd name="T12" fmla="*/ 325 w 371"/>
                <a:gd name="T13" fmla="*/ 95 h 285"/>
                <a:gd name="T14" fmla="*/ 117 w 371"/>
                <a:gd name="T15" fmla="*/ 196 h 285"/>
                <a:gd name="T16" fmla="*/ 85 w 371"/>
                <a:gd name="T17" fmla="*/ 262 h 285"/>
                <a:gd name="T18" fmla="*/ 48 w 371"/>
                <a:gd name="T19"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1" h="285">
                  <a:moveTo>
                    <a:pt x="48" y="285"/>
                  </a:moveTo>
                  <a:cubicBezTo>
                    <a:pt x="42" y="285"/>
                    <a:pt x="35" y="284"/>
                    <a:pt x="29" y="281"/>
                  </a:cubicBezTo>
                  <a:cubicBezTo>
                    <a:pt x="9" y="271"/>
                    <a:pt x="0" y="246"/>
                    <a:pt x="11" y="225"/>
                  </a:cubicBezTo>
                  <a:cubicBezTo>
                    <a:pt x="22" y="201"/>
                    <a:pt x="32" y="180"/>
                    <a:pt x="41" y="161"/>
                  </a:cubicBezTo>
                  <a:cubicBezTo>
                    <a:pt x="104" y="23"/>
                    <a:pt x="131" y="0"/>
                    <a:pt x="330" y="12"/>
                  </a:cubicBezTo>
                  <a:cubicBezTo>
                    <a:pt x="353" y="14"/>
                    <a:pt x="371" y="34"/>
                    <a:pt x="369" y="57"/>
                  </a:cubicBezTo>
                  <a:cubicBezTo>
                    <a:pt x="368" y="80"/>
                    <a:pt x="349" y="97"/>
                    <a:pt x="325" y="95"/>
                  </a:cubicBezTo>
                  <a:cubicBezTo>
                    <a:pt x="167" y="86"/>
                    <a:pt x="167" y="86"/>
                    <a:pt x="117" y="196"/>
                  </a:cubicBezTo>
                  <a:cubicBezTo>
                    <a:pt x="108" y="215"/>
                    <a:pt x="98" y="237"/>
                    <a:pt x="85" y="262"/>
                  </a:cubicBezTo>
                  <a:cubicBezTo>
                    <a:pt x="78" y="277"/>
                    <a:pt x="63" y="285"/>
                    <a:pt x="48" y="285"/>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0" name="Freeform 36">
              <a:extLst>
                <a:ext uri="{FF2B5EF4-FFF2-40B4-BE49-F238E27FC236}">
                  <a16:creationId xmlns:a16="http://schemas.microsoft.com/office/drawing/2014/main" id="{D23846A6-4325-6D8D-AB62-2176AF96463C}"/>
                </a:ext>
              </a:extLst>
            </p:cNvPr>
            <p:cNvSpPr>
              <a:spLocks/>
            </p:cNvSpPr>
            <p:nvPr/>
          </p:nvSpPr>
          <p:spPr bwMode="auto">
            <a:xfrm>
              <a:off x="5578476" y="955676"/>
              <a:ext cx="193675" cy="149225"/>
            </a:xfrm>
            <a:custGeom>
              <a:avLst/>
              <a:gdLst>
                <a:gd name="T0" fmla="*/ 178 w 1142"/>
                <a:gd name="T1" fmla="*/ 882 h 882"/>
                <a:gd name="T2" fmla="*/ 143 w 1142"/>
                <a:gd name="T3" fmla="*/ 863 h 882"/>
                <a:gd name="T4" fmla="*/ 12 w 1142"/>
                <a:gd name="T5" fmla="*/ 661 h 882"/>
                <a:gd name="T6" fmla="*/ 24 w 1142"/>
                <a:gd name="T7" fmla="*/ 603 h 882"/>
                <a:gd name="T8" fmla="*/ 920 w 1142"/>
                <a:gd name="T9" fmla="*/ 9 h 882"/>
                <a:gd name="T10" fmla="*/ 953 w 1142"/>
                <a:gd name="T11" fmla="*/ 3 h 882"/>
                <a:gd name="T12" fmla="*/ 979 w 1142"/>
                <a:gd name="T13" fmla="*/ 23 h 882"/>
                <a:gd name="T14" fmla="*/ 1131 w 1142"/>
                <a:gd name="T15" fmla="*/ 290 h 882"/>
                <a:gd name="T16" fmla="*/ 1115 w 1142"/>
                <a:gd name="T17" fmla="*/ 346 h 882"/>
                <a:gd name="T18" fmla="*/ 1059 w 1142"/>
                <a:gd name="T19" fmla="*/ 331 h 882"/>
                <a:gd name="T20" fmla="*/ 929 w 1142"/>
                <a:gd name="T21" fmla="*/ 103 h 882"/>
                <a:gd name="T22" fmla="*/ 104 w 1142"/>
                <a:gd name="T23" fmla="*/ 650 h 882"/>
                <a:gd name="T24" fmla="*/ 213 w 1142"/>
                <a:gd name="T25" fmla="*/ 817 h 882"/>
                <a:gd name="T26" fmla="*/ 200 w 1142"/>
                <a:gd name="T27" fmla="*/ 875 h 882"/>
                <a:gd name="T28" fmla="*/ 178 w 1142"/>
                <a:gd name="T29" fmla="*/ 882 h 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2" h="882">
                  <a:moveTo>
                    <a:pt x="178" y="882"/>
                  </a:moveTo>
                  <a:cubicBezTo>
                    <a:pt x="164" y="882"/>
                    <a:pt x="151" y="875"/>
                    <a:pt x="143" y="863"/>
                  </a:cubicBezTo>
                  <a:lnTo>
                    <a:pt x="12" y="661"/>
                  </a:lnTo>
                  <a:cubicBezTo>
                    <a:pt x="0" y="641"/>
                    <a:pt x="5" y="616"/>
                    <a:pt x="24" y="603"/>
                  </a:cubicBezTo>
                  <a:lnTo>
                    <a:pt x="920" y="9"/>
                  </a:lnTo>
                  <a:cubicBezTo>
                    <a:pt x="930" y="3"/>
                    <a:pt x="942" y="0"/>
                    <a:pt x="953" y="3"/>
                  </a:cubicBezTo>
                  <a:cubicBezTo>
                    <a:pt x="964" y="6"/>
                    <a:pt x="974" y="13"/>
                    <a:pt x="979" y="23"/>
                  </a:cubicBezTo>
                  <a:lnTo>
                    <a:pt x="1131" y="290"/>
                  </a:lnTo>
                  <a:cubicBezTo>
                    <a:pt x="1142" y="309"/>
                    <a:pt x="1135" y="335"/>
                    <a:pt x="1115" y="346"/>
                  </a:cubicBezTo>
                  <a:cubicBezTo>
                    <a:pt x="1096" y="358"/>
                    <a:pt x="1070" y="351"/>
                    <a:pt x="1059" y="331"/>
                  </a:cubicBezTo>
                  <a:lnTo>
                    <a:pt x="929" y="103"/>
                  </a:lnTo>
                  <a:lnTo>
                    <a:pt x="104" y="650"/>
                  </a:lnTo>
                  <a:lnTo>
                    <a:pt x="213" y="817"/>
                  </a:lnTo>
                  <a:cubicBezTo>
                    <a:pt x="225" y="837"/>
                    <a:pt x="220" y="863"/>
                    <a:pt x="200" y="875"/>
                  </a:cubicBezTo>
                  <a:cubicBezTo>
                    <a:pt x="193" y="880"/>
                    <a:pt x="186" y="882"/>
                    <a:pt x="178" y="882"/>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1" name="Freeform 37">
              <a:extLst>
                <a:ext uri="{FF2B5EF4-FFF2-40B4-BE49-F238E27FC236}">
                  <a16:creationId xmlns:a16="http://schemas.microsoft.com/office/drawing/2014/main" id="{291F5E65-6417-5742-3B64-487AB39F90A8}"/>
                </a:ext>
              </a:extLst>
            </p:cNvPr>
            <p:cNvSpPr>
              <a:spLocks/>
            </p:cNvSpPr>
            <p:nvPr/>
          </p:nvSpPr>
          <p:spPr bwMode="auto">
            <a:xfrm>
              <a:off x="5511801" y="931863"/>
              <a:ext cx="57150" cy="38100"/>
            </a:xfrm>
            <a:custGeom>
              <a:avLst/>
              <a:gdLst>
                <a:gd name="T0" fmla="*/ 292 w 339"/>
                <a:gd name="T1" fmla="*/ 221 h 221"/>
                <a:gd name="T2" fmla="*/ 278 w 339"/>
                <a:gd name="T3" fmla="*/ 218 h 221"/>
                <a:gd name="T4" fmla="*/ 104 w 339"/>
                <a:gd name="T5" fmla="*/ 128 h 221"/>
                <a:gd name="T6" fmla="*/ 28 w 339"/>
                <a:gd name="T7" fmla="*/ 85 h 221"/>
                <a:gd name="T8" fmla="*/ 10 w 339"/>
                <a:gd name="T9" fmla="*/ 29 h 221"/>
                <a:gd name="T10" fmla="*/ 66 w 339"/>
                <a:gd name="T11" fmla="*/ 11 h 221"/>
                <a:gd name="T12" fmla="*/ 146 w 339"/>
                <a:gd name="T13" fmla="*/ 55 h 221"/>
                <a:gd name="T14" fmla="*/ 306 w 339"/>
                <a:gd name="T15" fmla="*/ 140 h 221"/>
                <a:gd name="T16" fmla="*/ 331 w 339"/>
                <a:gd name="T17" fmla="*/ 193 h 221"/>
                <a:gd name="T18" fmla="*/ 292 w 339"/>
                <a:gd name="T19" fmla="*/ 221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221">
                  <a:moveTo>
                    <a:pt x="292" y="221"/>
                  </a:moveTo>
                  <a:cubicBezTo>
                    <a:pt x="287" y="221"/>
                    <a:pt x="282" y="220"/>
                    <a:pt x="278" y="218"/>
                  </a:cubicBezTo>
                  <a:cubicBezTo>
                    <a:pt x="237" y="204"/>
                    <a:pt x="167" y="163"/>
                    <a:pt x="104" y="128"/>
                  </a:cubicBezTo>
                  <a:cubicBezTo>
                    <a:pt x="74" y="110"/>
                    <a:pt x="45" y="94"/>
                    <a:pt x="28" y="85"/>
                  </a:cubicBezTo>
                  <a:cubicBezTo>
                    <a:pt x="8" y="75"/>
                    <a:pt x="0" y="50"/>
                    <a:pt x="10" y="29"/>
                  </a:cubicBezTo>
                  <a:cubicBezTo>
                    <a:pt x="20" y="9"/>
                    <a:pt x="46" y="0"/>
                    <a:pt x="66" y="11"/>
                  </a:cubicBezTo>
                  <a:cubicBezTo>
                    <a:pt x="85" y="20"/>
                    <a:pt x="113" y="37"/>
                    <a:pt x="146" y="55"/>
                  </a:cubicBezTo>
                  <a:cubicBezTo>
                    <a:pt x="202" y="88"/>
                    <a:pt x="272" y="128"/>
                    <a:pt x="306" y="140"/>
                  </a:cubicBezTo>
                  <a:cubicBezTo>
                    <a:pt x="328" y="148"/>
                    <a:pt x="339" y="172"/>
                    <a:pt x="331" y="193"/>
                  </a:cubicBezTo>
                  <a:cubicBezTo>
                    <a:pt x="325" y="210"/>
                    <a:pt x="309" y="221"/>
                    <a:pt x="292" y="221"/>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2" name="Freeform 38">
              <a:extLst>
                <a:ext uri="{FF2B5EF4-FFF2-40B4-BE49-F238E27FC236}">
                  <a16:creationId xmlns:a16="http://schemas.microsoft.com/office/drawing/2014/main" id="{3EC1A439-7BCB-52C1-75C2-51A720E7AACD}"/>
                </a:ext>
              </a:extLst>
            </p:cNvPr>
            <p:cNvSpPr>
              <a:spLocks/>
            </p:cNvSpPr>
            <p:nvPr/>
          </p:nvSpPr>
          <p:spPr bwMode="auto">
            <a:xfrm>
              <a:off x="5551488" y="874713"/>
              <a:ext cx="46038" cy="52388"/>
            </a:xfrm>
            <a:custGeom>
              <a:avLst/>
              <a:gdLst>
                <a:gd name="T0" fmla="*/ 227 w 274"/>
                <a:gd name="T1" fmla="*/ 315 h 315"/>
                <a:gd name="T2" fmla="*/ 195 w 274"/>
                <a:gd name="T3" fmla="*/ 299 h 315"/>
                <a:gd name="T4" fmla="*/ 15 w 274"/>
                <a:gd name="T5" fmla="*/ 73 h 315"/>
                <a:gd name="T6" fmla="*/ 22 w 274"/>
                <a:gd name="T7" fmla="*/ 14 h 315"/>
                <a:gd name="T8" fmla="*/ 80 w 274"/>
                <a:gd name="T9" fmla="*/ 21 h 315"/>
                <a:gd name="T10" fmla="*/ 260 w 274"/>
                <a:gd name="T11" fmla="*/ 247 h 315"/>
                <a:gd name="T12" fmla="*/ 253 w 274"/>
                <a:gd name="T13" fmla="*/ 306 h 315"/>
                <a:gd name="T14" fmla="*/ 227 w 274"/>
                <a:gd name="T15" fmla="*/ 315 h 3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4" h="315">
                  <a:moveTo>
                    <a:pt x="227" y="315"/>
                  </a:moveTo>
                  <a:cubicBezTo>
                    <a:pt x="215" y="315"/>
                    <a:pt x="203" y="310"/>
                    <a:pt x="195" y="299"/>
                  </a:cubicBezTo>
                  <a:lnTo>
                    <a:pt x="15" y="73"/>
                  </a:lnTo>
                  <a:cubicBezTo>
                    <a:pt x="0" y="55"/>
                    <a:pt x="3" y="29"/>
                    <a:pt x="22" y="14"/>
                  </a:cubicBezTo>
                  <a:cubicBezTo>
                    <a:pt x="40" y="0"/>
                    <a:pt x="66" y="3"/>
                    <a:pt x="80" y="21"/>
                  </a:cubicBezTo>
                  <a:lnTo>
                    <a:pt x="260" y="247"/>
                  </a:lnTo>
                  <a:cubicBezTo>
                    <a:pt x="274" y="265"/>
                    <a:pt x="271" y="292"/>
                    <a:pt x="253" y="306"/>
                  </a:cubicBezTo>
                  <a:cubicBezTo>
                    <a:pt x="245" y="312"/>
                    <a:pt x="236" y="315"/>
                    <a:pt x="227" y="315"/>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3" name="Freeform 39">
              <a:extLst>
                <a:ext uri="{FF2B5EF4-FFF2-40B4-BE49-F238E27FC236}">
                  <a16:creationId xmlns:a16="http://schemas.microsoft.com/office/drawing/2014/main" id="{58100CF5-949E-9ED7-CC03-6E54EDC5CA61}"/>
                </a:ext>
              </a:extLst>
            </p:cNvPr>
            <p:cNvSpPr>
              <a:spLocks/>
            </p:cNvSpPr>
            <p:nvPr/>
          </p:nvSpPr>
          <p:spPr bwMode="auto">
            <a:xfrm>
              <a:off x="5619751" y="852488"/>
              <a:ext cx="20638" cy="50800"/>
            </a:xfrm>
            <a:custGeom>
              <a:avLst/>
              <a:gdLst>
                <a:gd name="T0" fmla="*/ 78 w 123"/>
                <a:gd name="T1" fmla="*/ 302 h 302"/>
                <a:gd name="T2" fmla="*/ 37 w 123"/>
                <a:gd name="T3" fmla="*/ 267 h 302"/>
                <a:gd name="T4" fmla="*/ 4 w 123"/>
                <a:gd name="T5" fmla="*/ 51 h 302"/>
                <a:gd name="T6" fmla="*/ 38 w 123"/>
                <a:gd name="T7" fmla="*/ 4 h 302"/>
                <a:gd name="T8" fmla="*/ 86 w 123"/>
                <a:gd name="T9" fmla="*/ 39 h 302"/>
                <a:gd name="T10" fmla="*/ 120 w 123"/>
                <a:gd name="T11" fmla="*/ 254 h 302"/>
                <a:gd name="T12" fmla="*/ 85 w 123"/>
                <a:gd name="T13" fmla="*/ 301 h 302"/>
                <a:gd name="T14" fmla="*/ 78 w 123"/>
                <a:gd name="T15" fmla="*/ 302 h 3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3" h="302">
                  <a:moveTo>
                    <a:pt x="78" y="302"/>
                  </a:moveTo>
                  <a:cubicBezTo>
                    <a:pt x="58" y="302"/>
                    <a:pt x="40" y="287"/>
                    <a:pt x="37" y="267"/>
                  </a:cubicBezTo>
                  <a:lnTo>
                    <a:pt x="4" y="51"/>
                  </a:lnTo>
                  <a:cubicBezTo>
                    <a:pt x="0" y="29"/>
                    <a:pt x="16" y="7"/>
                    <a:pt x="38" y="4"/>
                  </a:cubicBezTo>
                  <a:cubicBezTo>
                    <a:pt x="61" y="0"/>
                    <a:pt x="82" y="16"/>
                    <a:pt x="86" y="39"/>
                  </a:cubicBezTo>
                  <a:lnTo>
                    <a:pt x="120" y="254"/>
                  </a:lnTo>
                  <a:cubicBezTo>
                    <a:pt x="123" y="276"/>
                    <a:pt x="108" y="298"/>
                    <a:pt x="85" y="301"/>
                  </a:cubicBezTo>
                  <a:cubicBezTo>
                    <a:pt x="83" y="302"/>
                    <a:pt x="80" y="302"/>
                    <a:pt x="78" y="302"/>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4" name="Freeform 40">
              <a:extLst>
                <a:ext uri="{FF2B5EF4-FFF2-40B4-BE49-F238E27FC236}">
                  <a16:creationId xmlns:a16="http://schemas.microsoft.com/office/drawing/2014/main" id="{8E0C31BE-B988-ADA3-D1B4-127F540CF2B3}"/>
                </a:ext>
              </a:extLst>
            </p:cNvPr>
            <p:cNvSpPr>
              <a:spLocks/>
            </p:cNvSpPr>
            <p:nvPr/>
          </p:nvSpPr>
          <p:spPr bwMode="auto">
            <a:xfrm>
              <a:off x="5675313" y="852488"/>
              <a:ext cx="20638" cy="46038"/>
            </a:xfrm>
            <a:custGeom>
              <a:avLst/>
              <a:gdLst>
                <a:gd name="T0" fmla="*/ 45 w 119"/>
                <a:gd name="T1" fmla="*/ 269 h 269"/>
                <a:gd name="T2" fmla="*/ 39 w 119"/>
                <a:gd name="T3" fmla="*/ 268 h 269"/>
                <a:gd name="T4" fmla="*/ 4 w 119"/>
                <a:gd name="T5" fmla="*/ 221 h 269"/>
                <a:gd name="T6" fmla="*/ 33 w 119"/>
                <a:gd name="T7" fmla="*/ 39 h 269"/>
                <a:gd name="T8" fmla="*/ 80 w 119"/>
                <a:gd name="T9" fmla="*/ 4 h 269"/>
                <a:gd name="T10" fmla="*/ 115 w 119"/>
                <a:gd name="T11" fmla="*/ 52 h 269"/>
                <a:gd name="T12" fmla="*/ 86 w 119"/>
                <a:gd name="T13" fmla="*/ 234 h 269"/>
                <a:gd name="T14" fmla="*/ 45 w 119"/>
                <a:gd name="T15" fmla="*/ 269 h 2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 h="269">
                  <a:moveTo>
                    <a:pt x="45" y="269"/>
                  </a:moveTo>
                  <a:cubicBezTo>
                    <a:pt x="43" y="269"/>
                    <a:pt x="41" y="269"/>
                    <a:pt x="39" y="268"/>
                  </a:cubicBezTo>
                  <a:cubicBezTo>
                    <a:pt x="16" y="265"/>
                    <a:pt x="0" y="243"/>
                    <a:pt x="4" y="221"/>
                  </a:cubicBezTo>
                  <a:lnTo>
                    <a:pt x="33" y="39"/>
                  </a:lnTo>
                  <a:cubicBezTo>
                    <a:pt x="36" y="16"/>
                    <a:pt x="58" y="0"/>
                    <a:pt x="80" y="4"/>
                  </a:cubicBezTo>
                  <a:cubicBezTo>
                    <a:pt x="103" y="8"/>
                    <a:pt x="119" y="29"/>
                    <a:pt x="115" y="52"/>
                  </a:cubicBezTo>
                  <a:lnTo>
                    <a:pt x="86" y="234"/>
                  </a:lnTo>
                  <a:cubicBezTo>
                    <a:pt x="83" y="254"/>
                    <a:pt x="65" y="269"/>
                    <a:pt x="45" y="269"/>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5" name="Freeform 814">
              <a:extLst>
                <a:ext uri="{FF2B5EF4-FFF2-40B4-BE49-F238E27FC236}">
                  <a16:creationId xmlns:a16="http://schemas.microsoft.com/office/drawing/2014/main" id="{AF784404-EC89-C251-3C3C-B034E1CCCCC6}"/>
                </a:ext>
              </a:extLst>
            </p:cNvPr>
            <p:cNvSpPr>
              <a:spLocks/>
            </p:cNvSpPr>
            <p:nvPr/>
          </p:nvSpPr>
          <p:spPr bwMode="auto">
            <a:xfrm>
              <a:off x="5495926" y="998538"/>
              <a:ext cx="49213" cy="22225"/>
            </a:xfrm>
            <a:custGeom>
              <a:avLst/>
              <a:gdLst>
                <a:gd name="T0" fmla="*/ 243 w 297"/>
                <a:gd name="T1" fmla="*/ 134 h 134"/>
                <a:gd name="T2" fmla="*/ 235 w 297"/>
                <a:gd name="T3" fmla="*/ 134 h 134"/>
                <a:gd name="T4" fmla="*/ 46 w 297"/>
                <a:gd name="T5" fmla="*/ 103 h 134"/>
                <a:gd name="T6" fmla="*/ 4 w 297"/>
                <a:gd name="T7" fmla="*/ 46 h 134"/>
                <a:gd name="T8" fmla="*/ 62 w 297"/>
                <a:gd name="T9" fmla="*/ 4 h 134"/>
                <a:gd name="T10" fmla="*/ 251 w 297"/>
                <a:gd name="T11" fmla="*/ 35 h 134"/>
                <a:gd name="T12" fmla="*/ 292 w 297"/>
                <a:gd name="T13" fmla="*/ 92 h 134"/>
                <a:gd name="T14" fmla="*/ 243 w 297"/>
                <a:gd name="T15" fmla="*/ 134 h 1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7" h="134">
                  <a:moveTo>
                    <a:pt x="243" y="134"/>
                  </a:moveTo>
                  <a:cubicBezTo>
                    <a:pt x="240" y="134"/>
                    <a:pt x="238" y="134"/>
                    <a:pt x="235" y="134"/>
                  </a:cubicBezTo>
                  <a:lnTo>
                    <a:pt x="46" y="103"/>
                  </a:lnTo>
                  <a:cubicBezTo>
                    <a:pt x="18" y="99"/>
                    <a:pt x="0" y="73"/>
                    <a:pt x="4" y="46"/>
                  </a:cubicBezTo>
                  <a:cubicBezTo>
                    <a:pt x="9" y="18"/>
                    <a:pt x="34" y="0"/>
                    <a:pt x="62" y="4"/>
                  </a:cubicBezTo>
                  <a:lnTo>
                    <a:pt x="251" y="35"/>
                  </a:lnTo>
                  <a:cubicBezTo>
                    <a:pt x="278" y="39"/>
                    <a:pt x="297" y="65"/>
                    <a:pt x="292" y="92"/>
                  </a:cubicBezTo>
                  <a:cubicBezTo>
                    <a:pt x="288" y="117"/>
                    <a:pt x="267" y="134"/>
                    <a:pt x="243" y="134"/>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6" name="Freeform 815">
              <a:extLst>
                <a:ext uri="{FF2B5EF4-FFF2-40B4-BE49-F238E27FC236}">
                  <a16:creationId xmlns:a16="http://schemas.microsoft.com/office/drawing/2014/main" id="{68578189-0896-F1B6-DE95-6979AED1C3CC}"/>
                </a:ext>
              </a:extLst>
            </p:cNvPr>
            <p:cNvSpPr>
              <a:spLocks/>
            </p:cNvSpPr>
            <p:nvPr/>
          </p:nvSpPr>
          <p:spPr bwMode="auto">
            <a:xfrm>
              <a:off x="5715001" y="868363"/>
              <a:ext cx="30163" cy="42863"/>
            </a:xfrm>
            <a:custGeom>
              <a:avLst/>
              <a:gdLst>
                <a:gd name="T0" fmla="*/ 57 w 176"/>
                <a:gd name="T1" fmla="*/ 256 h 256"/>
                <a:gd name="T2" fmla="*/ 37 w 176"/>
                <a:gd name="T3" fmla="*/ 252 h 256"/>
                <a:gd name="T4" fmla="*/ 11 w 176"/>
                <a:gd name="T5" fmla="*/ 186 h 256"/>
                <a:gd name="T6" fmla="*/ 73 w 176"/>
                <a:gd name="T7" fmla="*/ 37 h 256"/>
                <a:gd name="T8" fmla="*/ 139 w 176"/>
                <a:gd name="T9" fmla="*/ 10 h 256"/>
                <a:gd name="T10" fmla="*/ 166 w 176"/>
                <a:gd name="T11" fmla="*/ 76 h 256"/>
                <a:gd name="T12" fmla="*/ 103 w 176"/>
                <a:gd name="T13" fmla="*/ 225 h 256"/>
                <a:gd name="T14" fmla="*/ 57 w 176"/>
                <a:gd name="T15" fmla="*/ 256 h 2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6" h="256">
                  <a:moveTo>
                    <a:pt x="57" y="256"/>
                  </a:moveTo>
                  <a:cubicBezTo>
                    <a:pt x="50" y="256"/>
                    <a:pt x="44" y="255"/>
                    <a:pt x="37" y="252"/>
                  </a:cubicBezTo>
                  <a:cubicBezTo>
                    <a:pt x="12" y="241"/>
                    <a:pt x="0" y="212"/>
                    <a:pt x="11" y="186"/>
                  </a:cubicBezTo>
                  <a:lnTo>
                    <a:pt x="73" y="37"/>
                  </a:lnTo>
                  <a:cubicBezTo>
                    <a:pt x="84" y="12"/>
                    <a:pt x="114" y="0"/>
                    <a:pt x="139" y="10"/>
                  </a:cubicBezTo>
                  <a:cubicBezTo>
                    <a:pt x="164" y="21"/>
                    <a:pt x="176" y="51"/>
                    <a:pt x="166" y="76"/>
                  </a:cubicBezTo>
                  <a:lnTo>
                    <a:pt x="103" y="225"/>
                  </a:lnTo>
                  <a:cubicBezTo>
                    <a:pt x="95" y="244"/>
                    <a:pt x="76" y="256"/>
                    <a:pt x="57" y="256"/>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47" name="E_Signature" descr="{&quot;Key&quot;:&quot;POWER_USER_SHAPE_ICON&quot;,&quot;Value&quot;:&quot;POWER_USER_SHAPE_ICON_STYLE_1&quot;}">
            <a:extLst>
              <a:ext uri="{FF2B5EF4-FFF2-40B4-BE49-F238E27FC236}">
                <a16:creationId xmlns:a16="http://schemas.microsoft.com/office/drawing/2014/main" id="{45361C51-B847-A2C9-BFC0-289B449F91A0}"/>
              </a:ext>
            </a:extLst>
          </p:cNvPr>
          <p:cNvGrpSpPr>
            <a:grpSpLocks noChangeAspect="1"/>
          </p:cNvGrpSpPr>
          <p:nvPr/>
        </p:nvGrpSpPr>
        <p:grpSpPr>
          <a:xfrm>
            <a:off x="9699765" y="4502936"/>
            <a:ext cx="432000" cy="394054"/>
            <a:chOff x="5160350" y="1964192"/>
            <a:chExt cx="416228" cy="379668"/>
          </a:xfrm>
          <a:solidFill>
            <a:schemeClr val="accent1"/>
          </a:solidFill>
        </p:grpSpPr>
        <p:sp>
          <p:nvSpPr>
            <p:cNvPr id="1248" name="Freeform 1115">
              <a:extLst>
                <a:ext uri="{FF2B5EF4-FFF2-40B4-BE49-F238E27FC236}">
                  <a16:creationId xmlns:a16="http://schemas.microsoft.com/office/drawing/2014/main" id="{4631E159-8436-F4F6-88FC-FE04392C8A01}"/>
                </a:ext>
              </a:extLst>
            </p:cNvPr>
            <p:cNvSpPr>
              <a:spLocks/>
            </p:cNvSpPr>
            <p:nvPr/>
          </p:nvSpPr>
          <p:spPr bwMode="auto">
            <a:xfrm>
              <a:off x="5160350" y="2006378"/>
              <a:ext cx="413417" cy="337482"/>
            </a:xfrm>
            <a:custGeom>
              <a:avLst/>
              <a:gdLst>
                <a:gd name="T0" fmla="*/ 5973 w 6419"/>
                <a:gd name="T1" fmla="*/ 5242 h 5242"/>
                <a:gd name="T2" fmla="*/ 5972 w 6419"/>
                <a:gd name="T3" fmla="*/ 5242 h 5242"/>
                <a:gd name="T4" fmla="*/ 436 w 6419"/>
                <a:gd name="T5" fmla="*/ 5231 h 5242"/>
                <a:gd name="T6" fmla="*/ 0 w 6419"/>
                <a:gd name="T7" fmla="*/ 4754 h 5242"/>
                <a:gd name="T8" fmla="*/ 9 w 6419"/>
                <a:gd name="T9" fmla="*/ 475 h 5242"/>
                <a:gd name="T10" fmla="*/ 446 w 6419"/>
                <a:gd name="T11" fmla="*/ 0 h 5242"/>
                <a:gd name="T12" fmla="*/ 447 w 6419"/>
                <a:gd name="T13" fmla="*/ 0 h 5242"/>
                <a:gd name="T14" fmla="*/ 4274 w 6419"/>
                <a:gd name="T15" fmla="*/ 9 h 5242"/>
                <a:gd name="T16" fmla="*/ 4374 w 6419"/>
                <a:gd name="T17" fmla="*/ 109 h 5242"/>
                <a:gd name="T18" fmla="*/ 4274 w 6419"/>
                <a:gd name="T19" fmla="*/ 209 h 5242"/>
                <a:gd name="T20" fmla="*/ 4273 w 6419"/>
                <a:gd name="T21" fmla="*/ 209 h 5242"/>
                <a:gd name="T22" fmla="*/ 447 w 6419"/>
                <a:gd name="T23" fmla="*/ 201 h 5242"/>
                <a:gd name="T24" fmla="*/ 446 w 6419"/>
                <a:gd name="T25" fmla="*/ 201 h 5242"/>
                <a:gd name="T26" fmla="*/ 209 w 6419"/>
                <a:gd name="T27" fmla="*/ 476 h 5242"/>
                <a:gd name="T28" fmla="*/ 200 w 6419"/>
                <a:gd name="T29" fmla="*/ 4754 h 5242"/>
                <a:gd name="T30" fmla="*/ 436 w 6419"/>
                <a:gd name="T31" fmla="*/ 5031 h 5242"/>
                <a:gd name="T32" fmla="*/ 5973 w 6419"/>
                <a:gd name="T33" fmla="*/ 5042 h 5242"/>
                <a:gd name="T34" fmla="*/ 5973 w 6419"/>
                <a:gd name="T35" fmla="*/ 5042 h 5242"/>
                <a:gd name="T36" fmla="*/ 6211 w 6419"/>
                <a:gd name="T37" fmla="*/ 4768 h 5242"/>
                <a:gd name="T38" fmla="*/ 6219 w 6419"/>
                <a:gd name="T39" fmla="*/ 674 h 5242"/>
                <a:gd name="T40" fmla="*/ 6319 w 6419"/>
                <a:gd name="T41" fmla="*/ 574 h 5242"/>
                <a:gd name="T42" fmla="*/ 6319 w 6419"/>
                <a:gd name="T43" fmla="*/ 574 h 5242"/>
                <a:gd name="T44" fmla="*/ 6419 w 6419"/>
                <a:gd name="T45" fmla="*/ 675 h 5242"/>
                <a:gd name="T46" fmla="*/ 6410 w 6419"/>
                <a:gd name="T47" fmla="*/ 4768 h 5242"/>
                <a:gd name="T48" fmla="*/ 5973 w 6419"/>
                <a:gd name="T49" fmla="*/ 5242 h 5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419" h="5242">
                  <a:moveTo>
                    <a:pt x="5973" y="5242"/>
                  </a:moveTo>
                  <a:lnTo>
                    <a:pt x="5972" y="5242"/>
                  </a:lnTo>
                  <a:lnTo>
                    <a:pt x="436" y="5231"/>
                  </a:lnTo>
                  <a:cubicBezTo>
                    <a:pt x="195" y="5230"/>
                    <a:pt x="0" y="5016"/>
                    <a:pt x="0" y="4754"/>
                  </a:cubicBezTo>
                  <a:lnTo>
                    <a:pt x="9" y="475"/>
                  </a:lnTo>
                  <a:cubicBezTo>
                    <a:pt x="10" y="213"/>
                    <a:pt x="206" y="0"/>
                    <a:pt x="446" y="0"/>
                  </a:cubicBezTo>
                  <a:lnTo>
                    <a:pt x="447" y="0"/>
                  </a:lnTo>
                  <a:lnTo>
                    <a:pt x="4274" y="9"/>
                  </a:lnTo>
                  <a:cubicBezTo>
                    <a:pt x="4329" y="9"/>
                    <a:pt x="4374" y="53"/>
                    <a:pt x="4374" y="109"/>
                  </a:cubicBezTo>
                  <a:cubicBezTo>
                    <a:pt x="4374" y="164"/>
                    <a:pt x="4328" y="209"/>
                    <a:pt x="4274" y="209"/>
                  </a:cubicBezTo>
                  <a:lnTo>
                    <a:pt x="4273" y="209"/>
                  </a:lnTo>
                  <a:lnTo>
                    <a:pt x="447" y="201"/>
                  </a:lnTo>
                  <a:lnTo>
                    <a:pt x="446" y="201"/>
                  </a:lnTo>
                  <a:cubicBezTo>
                    <a:pt x="316" y="201"/>
                    <a:pt x="209" y="324"/>
                    <a:pt x="209" y="476"/>
                  </a:cubicBezTo>
                  <a:lnTo>
                    <a:pt x="200" y="4754"/>
                  </a:lnTo>
                  <a:cubicBezTo>
                    <a:pt x="200" y="4906"/>
                    <a:pt x="306" y="5031"/>
                    <a:pt x="436" y="5031"/>
                  </a:cubicBezTo>
                  <a:lnTo>
                    <a:pt x="5973" y="5042"/>
                  </a:lnTo>
                  <a:lnTo>
                    <a:pt x="5973" y="5042"/>
                  </a:lnTo>
                  <a:cubicBezTo>
                    <a:pt x="6104" y="5042"/>
                    <a:pt x="6210" y="4919"/>
                    <a:pt x="6211" y="4768"/>
                  </a:cubicBezTo>
                  <a:lnTo>
                    <a:pt x="6219" y="674"/>
                  </a:lnTo>
                  <a:cubicBezTo>
                    <a:pt x="6219" y="619"/>
                    <a:pt x="6264" y="574"/>
                    <a:pt x="6319" y="574"/>
                  </a:cubicBezTo>
                  <a:lnTo>
                    <a:pt x="6319" y="574"/>
                  </a:lnTo>
                  <a:cubicBezTo>
                    <a:pt x="6375" y="574"/>
                    <a:pt x="6419" y="619"/>
                    <a:pt x="6419" y="675"/>
                  </a:cubicBezTo>
                  <a:lnTo>
                    <a:pt x="6410" y="4768"/>
                  </a:lnTo>
                  <a:cubicBezTo>
                    <a:pt x="6410" y="5030"/>
                    <a:pt x="6214" y="5242"/>
                    <a:pt x="5973" y="5242"/>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9" name="Freeform 1116">
              <a:extLst>
                <a:ext uri="{FF2B5EF4-FFF2-40B4-BE49-F238E27FC236}">
                  <a16:creationId xmlns:a16="http://schemas.microsoft.com/office/drawing/2014/main" id="{E7521009-0334-5607-D952-808C96E59BE1}"/>
                </a:ext>
              </a:extLst>
            </p:cNvPr>
            <p:cNvSpPr>
              <a:spLocks/>
            </p:cNvSpPr>
            <p:nvPr/>
          </p:nvSpPr>
          <p:spPr bwMode="auto">
            <a:xfrm>
              <a:off x="5345965" y="2099185"/>
              <a:ext cx="19687" cy="11249"/>
            </a:xfrm>
            <a:custGeom>
              <a:avLst/>
              <a:gdLst>
                <a:gd name="T0" fmla="*/ 204 w 304"/>
                <a:gd name="T1" fmla="*/ 201 h 201"/>
                <a:gd name="T2" fmla="*/ 204 w 304"/>
                <a:gd name="T3" fmla="*/ 201 h 201"/>
                <a:gd name="T4" fmla="*/ 100 w 304"/>
                <a:gd name="T5" fmla="*/ 200 h 201"/>
                <a:gd name="T6" fmla="*/ 0 w 304"/>
                <a:gd name="T7" fmla="*/ 100 h 201"/>
                <a:gd name="T8" fmla="*/ 100 w 304"/>
                <a:gd name="T9" fmla="*/ 0 h 201"/>
                <a:gd name="T10" fmla="*/ 100 w 304"/>
                <a:gd name="T11" fmla="*/ 0 h 201"/>
                <a:gd name="T12" fmla="*/ 204 w 304"/>
                <a:gd name="T13" fmla="*/ 0 h 201"/>
                <a:gd name="T14" fmla="*/ 304 w 304"/>
                <a:gd name="T15" fmla="*/ 100 h 201"/>
                <a:gd name="T16" fmla="*/ 204 w 304"/>
                <a:gd name="T17" fmla="*/ 201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4" h="201">
                  <a:moveTo>
                    <a:pt x="204" y="201"/>
                  </a:moveTo>
                  <a:lnTo>
                    <a:pt x="204" y="201"/>
                  </a:lnTo>
                  <a:lnTo>
                    <a:pt x="100" y="200"/>
                  </a:lnTo>
                  <a:cubicBezTo>
                    <a:pt x="45" y="200"/>
                    <a:pt x="0" y="155"/>
                    <a:pt x="0" y="100"/>
                  </a:cubicBezTo>
                  <a:cubicBezTo>
                    <a:pt x="0" y="45"/>
                    <a:pt x="45" y="0"/>
                    <a:pt x="100" y="0"/>
                  </a:cubicBezTo>
                  <a:lnTo>
                    <a:pt x="100" y="0"/>
                  </a:lnTo>
                  <a:lnTo>
                    <a:pt x="204" y="0"/>
                  </a:lnTo>
                  <a:cubicBezTo>
                    <a:pt x="260" y="0"/>
                    <a:pt x="304" y="45"/>
                    <a:pt x="304" y="100"/>
                  </a:cubicBezTo>
                  <a:cubicBezTo>
                    <a:pt x="304" y="156"/>
                    <a:pt x="259" y="201"/>
                    <a:pt x="204" y="201"/>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0" name="Freeform 1117">
              <a:extLst>
                <a:ext uri="{FF2B5EF4-FFF2-40B4-BE49-F238E27FC236}">
                  <a16:creationId xmlns:a16="http://schemas.microsoft.com/office/drawing/2014/main" id="{1FFF7CD9-E097-1C34-AF49-10FCD59654DB}"/>
                </a:ext>
              </a:extLst>
            </p:cNvPr>
            <p:cNvSpPr>
              <a:spLocks/>
            </p:cNvSpPr>
            <p:nvPr/>
          </p:nvSpPr>
          <p:spPr bwMode="auto">
            <a:xfrm>
              <a:off x="5213784" y="2099185"/>
              <a:ext cx="306547" cy="199678"/>
            </a:xfrm>
            <a:custGeom>
              <a:avLst/>
              <a:gdLst>
                <a:gd name="T0" fmla="*/ 4411 w 4764"/>
                <a:gd name="T1" fmla="*/ 3113 h 3113"/>
                <a:gd name="T2" fmla="*/ 4410 w 4764"/>
                <a:gd name="T3" fmla="*/ 3113 h 3113"/>
                <a:gd name="T4" fmla="*/ 347 w 4764"/>
                <a:gd name="T5" fmla="*/ 3104 h 3113"/>
                <a:gd name="T6" fmla="*/ 1 w 4764"/>
                <a:gd name="T7" fmla="*/ 2787 h 3113"/>
                <a:gd name="T8" fmla="*/ 5 w 4764"/>
                <a:gd name="T9" fmla="*/ 316 h 3113"/>
                <a:gd name="T10" fmla="*/ 353 w 4764"/>
                <a:gd name="T11" fmla="*/ 0 h 3113"/>
                <a:gd name="T12" fmla="*/ 353 w 4764"/>
                <a:gd name="T13" fmla="*/ 0 h 3113"/>
                <a:gd name="T14" fmla="*/ 1680 w 4764"/>
                <a:gd name="T15" fmla="*/ 3 h 3113"/>
                <a:gd name="T16" fmla="*/ 1780 w 4764"/>
                <a:gd name="T17" fmla="*/ 104 h 3113"/>
                <a:gd name="T18" fmla="*/ 1680 w 4764"/>
                <a:gd name="T19" fmla="*/ 204 h 3113"/>
                <a:gd name="T20" fmla="*/ 1680 w 4764"/>
                <a:gd name="T21" fmla="*/ 204 h 3113"/>
                <a:gd name="T22" fmla="*/ 353 w 4764"/>
                <a:gd name="T23" fmla="*/ 200 h 3113"/>
                <a:gd name="T24" fmla="*/ 353 w 4764"/>
                <a:gd name="T25" fmla="*/ 200 h 3113"/>
                <a:gd name="T26" fmla="*/ 206 w 4764"/>
                <a:gd name="T27" fmla="*/ 317 h 3113"/>
                <a:gd name="T28" fmla="*/ 200 w 4764"/>
                <a:gd name="T29" fmla="*/ 2788 h 3113"/>
                <a:gd name="T30" fmla="*/ 347 w 4764"/>
                <a:gd name="T31" fmla="*/ 2905 h 3113"/>
                <a:gd name="T32" fmla="*/ 4411 w 4764"/>
                <a:gd name="T33" fmla="*/ 2913 h 3113"/>
                <a:gd name="T34" fmla="*/ 4411 w 4764"/>
                <a:gd name="T35" fmla="*/ 2913 h 3113"/>
                <a:gd name="T36" fmla="*/ 4558 w 4764"/>
                <a:gd name="T37" fmla="*/ 2797 h 3113"/>
                <a:gd name="T38" fmla="*/ 4563 w 4764"/>
                <a:gd name="T39" fmla="*/ 326 h 3113"/>
                <a:gd name="T40" fmla="*/ 4541 w 4764"/>
                <a:gd name="T41" fmla="*/ 264 h 3113"/>
                <a:gd name="T42" fmla="*/ 4556 w 4764"/>
                <a:gd name="T43" fmla="*/ 123 h 3113"/>
                <a:gd name="T44" fmla="*/ 4696 w 4764"/>
                <a:gd name="T45" fmla="*/ 138 h 3113"/>
                <a:gd name="T46" fmla="*/ 4764 w 4764"/>
                <a:gd name="T47" fmla="*/ 327 h 3113"/>
                <a:gd name="T48" fmla="*/ 4758 w 4764"/>
                <a:gd name="T49" fmla="*/ 2797 h 3113"/>
                <a:gd name="T50" fmla="*/ 4411 w 4764"/>
                <a:gd name="T51" fmla="*/ 3113 h 3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764" h="3113">
                  <a:moveTo>
                    <a:pt x="4411" y="3113"/>
                  </a:moveTo>
                  <a:lnTo>
                    <a:pt x="4410" y="3113"/>
                  </a:lnTo>
                  <a:lnTo>
                    <a:pt x="347" y="3104"/>
                  </a:lnTo>
                  <a:cubicBezTo>
                    <a:pt x="155" y="3104"/>
                    <a:pt x="0" y="2962"/>
                    <a:pt x="1" y="2787"/>
                  </a:cubicBezTo>
                  <a:lnTo>
                    <a:pt x="5" y="316"/>
                  </a:lnTo>
                  <a:cubicBezTo>
                    <a:pt x="6" y="142"/>
                    <a:pt x="161" y="0"/>
                    <a:pt x="353" y="0"/>
                  </a:cubicBezTo>
                  <a:lnTo>
                    <a:pt x="353" y="0"/>
                  </a:lnTo>
                  <a:cubicBezTo>
                    <a:pt x="353" y="0"/>
                    <a:pt x="885" y="2"/>
                    <a:pt x="1680" y="3"/>
                  </a:cubicBezTo>
                  <a:cubicBezTo>
                    <a:pt x="1735" y="3"/>
                    <a:pt x="1780" y="48"/>
                    <a:pt x="1780" y="104"/>
                  </a:cubicBezTo>
                  <a:cubicBezTo>
                    <a:pt x="1780" y="159"/>
                    <a:pt x="1735" y="204"/>
                    <a:pt x="1680" y="204"/>
                  </a:cubicBezTo>
                  <a:lnTo>
                    <a:pt x="1680" y="204"/>
                  </a:lnTo>
                  <a:cubicBezTo>
                    <a:pt x="885" y="202"/>
                    <a:pt x="353" y="200"/>
                    <a:pt x="353" y="200"/>
                  </a:cubicBezTo>
                  <a:lnTo>
                    <a:pt x="353" y="200"/>
                  </a:lnTo>
                  <a:cubicBezTo>
                    <a:pt x="272" y="200"/>
                    <a:pt x="206" y="253"/>
                    <a:pt x="206" y="317"/>
                  </a:cubicBezTo>
                  <a:lnTo>
                    <a:pt x="200" y="2788"/>
                  </a:lnTo>
                  <a:cubicBezTo>
                    <a:pt x="200" y="2852"/>
                    <a:pt x="266" y="2905"/>
                    <a:pt x="347" y="2905"/>
                  </a:cubicBezTo>
                  <a:lnTo>
                    <a:pt x="4411" y="2913"/>
                  </a:lnTo>
                  <a:lnTo>
                    <a:pt x="4411" y="2913"/>
                  </a:lnTo>
                  <a:cubicBezTo>
                    <a:pt x="4492" y="2913"/>
                    <a:pt x="4558" y="2861"/>
                    <a:pt x="4558" y="2797"/>
                  </a:cubicBezTo>
                  <a:lnTo>
                    <a:pt x="4563" y="326"/>
                  </a:lnTo>
                  <a:cubicBezTo>
                    <a:pt x="4563" y="298"/>
                    <a:pt x="4551" y="277"/>
                    <a:pt x="4541" y="264"/>
                  </a:cubicBezTo>
                  <a:cubicBezTo>
                    <a:pt x="4506" y="220"/>
                    <a:pt x="4513" y="158"/>
                    <a:pt x="4556" y="123"/>
                  </a:cubicBezTo>
                  <a:cubicBezTo>
                    <a:pt x="4599" y="88"/>
                    <a:pt x="4662" y="95"/>
                    <a:pt x="4696" y="138"/>
                  </a:cubicBezTo>
                  <a:cubicBezTo>
                    <a:pt x="4740" y="193"/>
                    <a:pt x="4764" y="258"/>
                    <a:pt x="4764" y="327"/>
                  </a:cubicBezTo>
                  <a:lnTo>
                    <a:pt x="4758" y="2797"/>
                  </a:lnTo>
                  <a:cubicBezTo>
                    <a:pt x="4758" y="2972"/>
                    <a:pt x="4602" y="3113"/>
                    <a:pt x="4411" y="3113"/>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1" name="Freeform 1118">
              <a:extLst>
                <a:ext uri="{FF2B5EF4-FFF2-40B4-BE49-F238E27FC236}">
                  <a16:creationId xmlns:a16="http://schemas.microsoft.com/office/drawing/2014/main" id="{DEDF9A47-86E5-956A-E7D5-587FE0B6D352}"/>
                </a:ext>
              </a:extLst>
            </p:cNvPr>
            <p:cNvSpPr>
              <a:spLocks/>
            </p:cNvSpPr>
            <p:nvPr/>
          </p:nvSpPr>
          <p:spPr bwMode="auto">
            <a:xfrm>
              <a:off x="5334716" y="2026063"/>
              <a:ext cx="64685" cy="67496"/>
            </a:xfrm>
            <a:custGeom>
              <a:avLst/>
              <a:gdLst>
                <a:gd name="T0" fmla="*/ 507 w 1014"/>
                <a:gd name="T1" fmla="*/ 1013 h 1013"/>
                <a:gd name="T2" fmla="*/ 0 w 1014"/>
                <a:gd name="T3" fmla="*/ 506 h 1013"/>
                <a:gd name="T4" fmla="*/ 507 w 1014"/>
                <a:gd name="T5" fmla="*/ 0 h 1013"/>
                <a:gd name="T6" fmla="*/ 1014 w 1014"/>
                <a:gd name="T7" fmla="*/ 506 h 1013"/>
                <a:gd name="T8" fmla="*/ 1001 w 1014"/>
                <a:gd name="T9" fmla="*/ 619 h 1013"/>
                <a:gd name="T10" fmla="*/ 881 w 1014"/>
                <a:gd name="T11" fmla="*/ 695 h 1013"/>
                <a:gd name="T12" fmla="*/ 806 w 1014"/>
                <a:gd name="T13" fmla="*/ 575 h 1013"/>
                <a:gd name="T14" fmla="*/ 813 w 1014"/>
                <a:gd name="T15" fmla="*/ 506 h 1013"/>
                <a:gd name="T16" fmla="*/ 507 w 1014"/>
                <a:gd name="T17" fmla="*/ 200 h 1013"/>
                <a:gd name="T18" fmla="*/ 200 w 1014"/>
                <a:gd name="T19" fmla="*/ 506 h 1013"/>
                <a:gd name="T20" fmla="*/ 507 w 1014"/>
                <a:gd name="T21" fmla="*/ 813 h 1013"/>
                <a:gd name="T22" fmla="*/ 560 w 1014"/>
                <a:gd name="T23" fmla="*/ 809 h 1013"/>
                <a:gd name="T24" fmla="*/ 676 w 1014"/>
                <a:gd name="T25" fmla="*/ 890 h 1013"/>
                <a:gd name="T26" fmla="*/ 594 w 1014"/>
                <a:gd name="T27" fmla="*/ 1006 h 1013"/>
                <a:gd name="T28" fmla="*/ 507 w 1014"/>
                <a:gd name="T29" fmla="*/ 1013 h 10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14" h="1013">
                  <a:moveTo>
                    <a:pt x="507" y="1013"/>
                  </a:moveTo>
                  <a:cubicBezTo>
                    <a:pt x="227" y="1013"/>
                    <a:pt x="0" y="786"/>
                    <a:pt x="0" y="506"/>
                  </a:cubicBezTo>
                  <a:cubicBezTo>
                    <a:pt x="0" y="227"/>
                    <a:pt x="227" y="0"/>
                    <a:pt x="507" y="0"/>
                  </a:cubicBezTo>
                  <a:cubicBezTo>
                    <a:pt x="786" y="0"/>
                    <a:pt x="1014" y="227"/>
                    <a:pt x="1014" y="506"/>
                  </a:cubicBezTo>
                  <a:cubicBezTo>
                    <a:pt x="1014" y="544"/>
                    <a:pt x="1009" y="582"/>
                    <a:pt x="1001" y="619"/>
                  </a:cubicBezTo>
                  <a:cubicBezTo>
                    <a:pt x="988" y="673"/>
                    <a:pt x="935" y="707"/>
                    <a:pt x="881" y="695"/>
                  </a:cubicBezTo>
                  <a:cubicBezTo>
                    <a:pt x="827" y="683"/>
                    <a:pt x="793" y="629"/>
                    <a:pt x="806" y="575"/>
                  </a:cubicBezTo>
                  <a:cubicBezTo>
                    <a:pt x="811" y="553"/>
                    <a:pt x="813" y="529"/>
                    <a:pt x="813" y="506"/>
                  </a:cubicBezTo>
                  <a:cubicBezTo>
                    <a:pt x="813" y="337"/>
                    <a:pt x="676" y="200"/>
                    <a:pt x="507" y="200"/>
                  </a:cubicBezTo>
                  <a:cubicBezTo>
                    <a:pt x="338" y="200"/>
                    <a:pt x="200" y="337"/>
                    <a:pt x="200" y="506"/>
                  </a:cubicBezTo>
                  <a:cubicBezTo>
                    <a:pt x="200" y="675"/>
                    <a:pt x="338" y="813"/>
                    <a:pt x="507" y="813"/>
                  </a:cubicBezTo>
                  <a:cubicBezTo>
                    <a:pt x="525" y="813"/>
                    <a:pt x="543" y="812"/>
                    <a:pt x="560" y="809"/>
                  </a:cubicBezTo>
                  <a:cubicBezTo>
                    <a:pt x="614" y="799"/>
                    <a:pt x="666" y="835"/>
                    <a:pt x="676" y="890"/>
                  </a:cubicBezTo>
                  <a:cubicBezTo>
                    <a:pt x="685" y="944"/>
                    <a:pt x="649" y="996"/>
                    <a:pt x="594" y="1006"/>
                  </a:cubicBezTo>
                  <a:cubicBezTo>
                    <a:pt x="566" y="1010"/>
                    <a:pt x="536" y="1013"/>
                    <a:pt x="507" y="1013"/>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2" name="Freeform 1119">
              <a:extLst>
                <a:ext uri="{FF2B5EF4-FFF2-40B4-BE49-F238E27FC236}">
                  <a16:creationId xmlns:a16="http://schemas.microsoft.com/office/drawing/2014/main" id="{7C16BB70-6B79-1E51-981E-340E6D1132EF}"/>
                </a:ext>
              </a:extLst>
            </p:cNvPr>
            <p:cNvSpPr>
              <a:spLocks/>
            </p:cNvSpPr>
            <p:nvPr/>
          </p:nvSpPr>
          <p:spPr bwMode="auto">
            <a:xfrm>
              <a:off x="5253157" y="2042938"/>
              <a:ext cx="64685" cy="11249"/>
            </a:xfrm>
            <a:custGeom>
              <a:avLst/>
              <a:gdLst>
                <a:gd name="T0" fmla="*/ 886 w 985"/>
                <a:gd name="T1" fmla="*/ 200 h 200"/>
                <a:gd name="T2" fmla="*/ 100 w 985"/>
                <a:gd name="T3" fmla="*/ 200 h 200"/>
                <a:gd name="T4" fmla="*/ 0 w 985"/>
                <a:gd name="T5" fmla="*/ 100 h 200"/>
                <a:gd name="T6" fmla="*/ 100 w 985"/>
                <a:gd name="T7" fmla="*/ 0 h 200"/>
                <a:gd name="T8" fmla="*/ 886 w 985"/>
                <a:gd name="T9" fmla="*/ 0 h 200"/>
                <a:gd name="T10" fmla="*/ 985 w 985"/>
                <a:gd name="T11" fmla="*/ 100 h 200"/>
                <a:gd name="T12" fmla="*/ 886 w 985"/>
                <a:gd name="T13" fmla="*/ 200 h 200"/>
              </a:gdLst>
              <a:ahLst/>
              <a:cxnLst>
                <a:cxn ang="0">
                  <a:pos x="T0" y="T1"/>
                </a:cxn>
                <a:cxn ang="0">
                  <a:pos x="T2" y="T3"/>
                </a:cxn>
                <a:cxn ang="0">
                  <a:pos x="T4" y="T5"/>
                </a:cxn>
                <a:cxn ang="0">
                  <a:pos x="T6" y="T7"/>
                </a:cxn>
                <a:cxn ang="0">
                  <a:pos x="T8" y="T9"/>
                </a:cxn>
                <a:cxn ang="0">
                  <a:pos x="T10" y="T11"/>
                </a:cxn>
                <a:cxn ang="0">
                  <a:pos x="T12" y="T13"/>
                </a:cxn>
              </a:cxnLst>
              <a:rect l="0" t="0" r="r" b="b"/>
              <a:pathLst>
                <a:path w="985" h="200">
                  <a:moveTo>
                    <a:pt x="886" y="200"/>
                  </a:moveTo>
                  <a:lnTo>
                    <a:pt x="100" y="200"/>
                  </a:lnTo>
                  <a:cubicBezTo>
                    <a:pt x="45" y="200"/>
                    <a:pt x="0" y="155"/>
                    <a:pt x="0" y="100"/>
                  </a:cubicBezTo>
                  <a:cubicBezTo>
                    <a:pt x="0" y="44"/>
                    <a:pt x="45" y="0"/>
                    <a:pt x="100" y="0"/>
                  </a:cubicBezTo>
                  <a:lnTo>
                    <a:pt x="886" y="0"/>
                  </a:lnTo>
                  <a:cubicBezTo>
                    <a:pt x="940" y="0"/>
                    <a:pt x="985" y="44"/>
                    <a:pt x="985" y="100"/>
                  </a:cubicBezTo>
                  <a:cubicBezTo>
                    <a:pt x="985" y="155"/>
                    <a:pt x="940" y="200"/>
                    <a:pt x="886" y="20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3" name="Freeform 1120">
              <a:extLst>
                <a:ext uri="{FF2B5EF4-FFF2-40B4-BE49-F238E27FC236}">
                  <a16:creationId xmlns:a16="http://schemas.microsoft.com/office/drawing/2014/main" id="{02A15BF7-E1C7-3799-1E3E-56280CB4AEF1}"/>
                </a:ext>
              </a:extLst>
            </p:cNvPr>
            <p:cNvSpPr>
              <a:spLocks/>
            </p:cNvSpPr>
            <p:nvPr/>
          </p:nvSpPr>
          <p:spPr bwMode="auto">
            <a:xfrm>
              <a:off x="5253157" y="2071061"/>
              <a:ext cx="64685" cy="11249"/>
            </a:xfrm>
            <a:custGeom>
              <a:avLst/>
              <a:gdLst>
                <a:gd name="T0" fmla="*/ 886 w 985"/>
                <a:gd name="T1" fmla="*/ 200 h 200"/>
                <a:gd name="T2" fmla="*/ 100 w 985"/>
                <a:gd name="T3" fmla="*/ 200 h 200"/>
                <a:gd name="T4" fmla="*/ 0 w 985"/>
                <a:gd name="T5" fmla="*/ 100 h 200"/>
                <a:gd name="T6" fmla="*/ 100 w 985"/>
                <a:gd name="T7" fmla="*/ 0 h 200"/>
                <a:gd name="T8" fmla="*/ 886 w 985"/>
                <a:gd name="T9" fmla="*/ 0 h 200"/>
                <a:gd name="T10" fmla="*/ 985 w 985"/>
                <a:gd name="T11" fmla="*/ 100 h 200"/>
                <a:gd name="T12" fmla="*/ 886 w 985"/>
                <a:gd name="T13" fmla="*/ 200 h 200"/>
              </a:gdLst>
              <a:ahLst/>
              <a:cxnLst>
                <a:cxn ang="0">
                  <a:pos x="T0" y="T1"/>
                </a:cxn>
                <a:cxn ang="0">
                  <a:pos x="T2" y="T3"/>
                </a:cxn>
                <a:cxn ang="0">
                  <a:pos x="T4" y="T5"/>
                </a:cxn>
                <a:cxn ang="0">
                  <a:pos x="T6" y="T7"/>
                </a:cxn>
                <a:cxn ang="0">
                  <a:pos x="T8" y="T9"/>
                </a:cxn>
                <a:cxn ang="0">
                  <a:pos x="T10" y="T11"/>
                </a:cxn>
                <a:cxn ang="0">
                  <a:pos x="T12" y="T13"/>
                </a:cxn>
              </a:cxnLst>
              <a:rect l="0" t="0" r="r" b="b"/>
              <a:pathLst>
                <a:path w="985" h="200">
                  <a:moveTo>
                    <a:pt x="886" y="200"/>
                  </a:moveTo>
                  <a:lnTo>
                    <a:pt x="100" y="200"/>
                  </a:lnTo>
                  <a:cubicBezTo>
                    <a:pt x="45" y="200"/>
                    <a:pt x="0" y="155"/>
                    <a:pt x="0" y="100"/>
                  </a:cubicBezTo>
                  <a:cubicBezTo>
                    <a:pt x="0" y="45"/>
                    <a:pt x="45" y="0"/>
                    <a:pt x="100" y="0"/>
                  </a:cubicBezTo>
                  <a:lnTo>
                    <a:pt x="886" y="0"/>
                  </a:lnTo>
                  <a:cubicBezTo>
                    <a:pt x="940" y="0"/>
                    <a:pt x="985" y="45"/>
                    <a:pt x="985" y="100"/>
                  </a:cubicBezTo>
                  <a:cubicBezTo>
                    <a:pt x="985" y="155"/>
                    <a:pt x="940" y="200"/>
                    <a:pt x="886" y="20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4" name="Freeform 1121">
              <a:extLst>
                <a:ext uri="{FF2B5EF4-FFF2-40B4-BE49-F238E27FC236}">
                  <a16:creationId xmlns:a16="http://schemas.microsoft.com/office/drawing/2014/main" id="{E33B16D4-F112-A610-C8F8-8FB2D038F680}"/>
                </a:ext>
              </a:extLst>
            </p:cNvPr>
            <p:cNvSpPr>
              <a:spLocks/>
            </p:cNvSpPr>
            <p:nvPr/>
          </p:nvSpPr>
          <p:spPr bwMode="auto">
            <a:xfrm>
              <a:off x="5317842" y="2000753"/>
              <a:ext cx="233426" cy="213739"/>
            </a:xfrm>
            <a:custGeom>
              <a:avLst/>
              <a:gdLst>
                <a:gd name="T0" fmla="*/ 107 w 3609"/>
                <a:gd name="T1" fmla="*/ 3336 h 3336"/>
                <a:gd name="T2" fmla="*/ 36 w 3609"/>
                <a:gd name="T3" fmla="*/ 3307 h 3336"/>
                <a:gd name="T4" fmla="*/ 10 w 3609"/>
                <a:gd name="T5" fmla="*/ 3208 h 3336"/>
                <a:gd name="T6" fmla="*/ 252 w 3609"/>
                <a:gd name="T7" fmla="*/ 2375 h 3336"/>
                <a:gd name="T8" fmla="*/ 278 w 3609"/>
                <a:gd name="T9" fmla="*/ 2331 h 3336"/>
                <a:gd name="T10" fmla="*/ 2630 w 3609"/>
                <a:gd name="T11" fmla="*/ 38 h 3336"/>
                <a:gd name="T12" fmla="*/ 2771 w 3609"/>
                <a:gd name="T13" fmla="*/ 40 h 3336"/>
                <a:gd name="T14" fmla="*/ 2770 w 3609"/>
                <a:gd name="T15" fmla="*/ 181 h 3336"/>
                <a:gd name="T16" fmla="*/ 437 w 3609"/>
                <a:gd name="T17" fmla="*/ 2455 h 3336"/>
                <a:gd name="T18" fmla="*/ 254 w 3609"/>
                <a:gd name="T19" fmla="*/ 3085 h 3336"/>
                <a:gd name="T20" fmla="*/ 960 w 3609"/>
                <a:gd name="T21" fmla="*/ 2867 h 3336"/>
                <a:gd name="T22" fmla="*/ 3362 w 3609"/>
                <a:gd name="T23" fmla="*/ 512 h 3336"/>
                <a:gd name="T24" fmla="*/ 3064 w 3609"/>
                <a:gd name="T25" fmla="*/ 244 h 3336"/>
                <a:gd name="T26" fmla="*/ 3057 w 3609"/>
                <a:gd name="T27" fmla="*/ 102 h 3336"/>
                <a:gd name="T28" fmla="*/ 3198 w 3609"/>
                <a:gd name="T29" fmla="*/ 95 h 3336"/>
                <a:gd name="T30" fmla="*/ 3575 w 3609"/>
                <a:gd name="T31" fmla="*/ 434 h 3336"/>
                <a:gd name="T32" fmla="*/ 3608 w 3609"/>
                <a:gd name="T33" fmla="*/ 506 h 3336"/>
                <a:gd name="T34" fmla="*/ 3578 w 3609"/>
                <a:gd name="T35" fmla="*/ 580 h 3336"/>
                <a:gd name="T36" fmla="*/ 1083 w 3609"/>
                <a:gd name="T37" fmla="*/ 3026 h 3336"/>
                <a:gd name="T38" fmla="*/ 1043 w 3609"/>
                <a:gd name="T39" fmla="*/ 3051 h 3336"/>
                <a:gd name="T40" fmla="*/ 136 w 3609"/>
                <a:gd name="T41" fmla="*/ 3331 h 3336"/>
                <a:gd name="T42" fmla="*/ 107 w 3609"/>
                <a:gd name="T43" fmla="*/ 3336 h 3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609" h="3336">
                  <a:moveTo>
                    <a:pt x="107" y="3336"/>
                  </a:moveTo>
                  <a:cubicBezTo>
                    <a:pt x="81" y="3336"/>
                    <a:pt x="55" y="3326"/>
                    <a:pt x="36" y="3307"/>
                  </a:cubicBezTo>
                  <a:cubicBezTo>
                    <a:pt x="10" y="3282"/>
                    <a:pt x="0" y="3243"/>
                    <a:pt x="10" y="3208"/>
                  </a:cubicBezTo>
                  <a:lnTo>
                    <a:pt x="252" y="2375"/>
                  </a:lnTo>
                  <a:cubicBezTo>
                    <a:pt x="257" y="2358"/>
                    <a:pt x="266" y="2343"/>
                    <a:pt x="278" y="2331"/>
                  </a:cubicBezTo>
                  <a:lnTo>
                    <a:pt x="2630" y="38"/>
                  </a:lnTo>
                  <a:cubicBezTo>
                    <a:pt x="2669" y="0"/>
                    <a:pt x="2733" y="0"/>
                    <a:pt x="2771" y="40"/>
                  </a:cubicBezTo>
                  <a:cubicBezTo>
                    <a:pt x="2810" y="80"/>
                    <a:pt x="2810" y="143"/>
                    <a:pt x="2770" y="181"/>
                  </a:cubicBezTo>
                  <a:lnTo>
                    <a:pt x="437" y="2455"/>
                  </a:lnTo>
                  <a:lnTo>
                    <a:pt x="254" y="3085"/>
                  </a:lnTo>
                  <a:lnTo>
                    <a:pt x="960" y="2867"/>
                  </a:lnTo>
                  <a:lnTo>
                    <a:pt x="3362" y="512"/>
                  </a:lnTo>
                  <a:lnTo>
                    <a:pt x="3064" y="244"/>
                  </a:lnTo>
                  <a:cubicBezTo>
                    <a:pt x="3024" y="207"/>
                    <a:pt x="3020" y="143"/>
                    <a:pt x="3057" y="102"/>
                  </a:cubicBezTo>
                  <a:cubicBezTo>
                    <a:pt x="3094" y="61"/>
                    <a:pt x="3157" y="58"/>
                    <a:pt x="3198" y="95"/>
                  </a:cubicBezTo>
                  <a:lnTo>
                    <a:pt x="3575" y="434"/>
                  </a:lnTo>
                  <a:cubicBezTo>
                    <a:pt x="3596" y="452"/>
                    <a:pt x="3608" y="478"/>
                    <a:pt x="3608" y="506"/>
                  </a:cubicBezTo>
                  <a:cubicBezTo>
                    <a:pt x="3609" y="534"/>
                    <a:pt x="3598" y="560"/>
                    <a:pt x="3578" y="580"/>
                  </a:cubicBezTo>
                  <a:lnTo>
                    <a:pt x="1083" y="3026"/>
                  </a:lnTo>
                  <a:cubicBezTo>
                    <a:pt x="1072" y="3037"/>
                    <a:pt x="1058" y="3046"/>
                    <a:pt x="1043" y="3051"/>
                  </a:cubicBezTo>
                  <a:lnTo>
                    <a:pt x="136" y="3331"/>
                  </a:lnTo>
                  <a:cubicBezTo>
                    <a:pt x="126" y="3334"/>
                    <a:pt x="116" y="3336"/>
                    <a:pt x="107" y="3336"/>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5" name="Freeform 1122">
              <a:extLst>
                <a:ext uri="{FF2B5EF4-FFF2-40B4-BE49-F238E27FC236}">
                  <a16:creationId xmlns:a16="http://schemas.microsoft.com/office/drawing/2014/main" id="{B7E948B8-D6E3-9872-EFE9-38AAB1EF1112}"/>
                </a:ext>
              </a:extLst>
            </p:cNvPr>
            <p:cNvSpPr>
              <a:spLocks/>
            </p:cNvSpPr>
            <p:nvPr/>
          </p:nvSpPr>
          <p:spPr bwMode="auto">
            <a:xfrm>
              <a:off x="5495019" y="1986690"/>
              <a:ext cx="14063" cy="14063"/>
            </a:xfrm>
            <a:custGeom>
              <a:avLst/>
              <a:gdLst>
                <a:gd name="T0" fmla="*/ 100 w 200"/>
                <a:gd name="T1" fmla="*/ 200 h 200"/>
                <a:gd name="T2" fmla="*/ 29 w 200"/>
                <a:gd name="T3" fmla="*/ 171 h 200"/>
                <a:gd name="T4" fmla="*/ 0 w 200"/>
                <a:gd name="T5" fmla="*/ 100 h 200"/>
                <a:gd name="T6" fmla="*/ 29 w 200"/>
                <a:gd name="T7" fmla="*/ 30 h 200"/>
                <a:gd name="T8" fmla="*/ 100 w 200"/>
                <a:gd name="T9" fmla="*/ 0 h 200"/>
                <a:gd name="T10" fmla="*/ 170 w 200"/>
                <a:gd name="T11" fmla="*/ 30 h 200"/>
                <a:gd name="T12" fmla="*/ 200 w 200"/>
                <a:gd name="T13" fmla="*/ 100 h 200"/>
                <a:gd name="T14" fmla="*/ 170 w 200"/>
                <a:gd name="T15" fmla="*/ 171 h 200"/>
                <a:gd name="T16" fmla="*/ 100 w 200"/>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0" h="200">
                  <a:moveTo>
                    <a:pt x="100" y="200"/>
                  </a:moveTo>
                  <a:cubicBezTo>
                    <a:pt x="73" y="200"/>
                    <a:pt x="48" y="190"/>
                    <a:pt x="29" y="171"/>
                  </a:cubicBezTo>
                  <a:cubicBezTo>
                    <a:pt x="10" y="152"/>
                    <a:pt x="0" y="127"/>
                    <a:pt x="0" y="100"/>
                  </a:cubicBezTo>
                  <a:cubicBezTo>
                    <a:pt x="0" y="74"/>
                    <a:pt x="10" y="49"/>
                    <a:pt x="29" y="30"/>
                  </a:cubicBezTo>
                  <a:cubicBezTo>
                    <a:pt x="48" y="11"/>
                    <a:pt x="73" y="0"/>
                    <a:pt x="100" y="0"/>
                  </a:cubicBezTo>
                  <a:cubicBezTo>
                    <a:pt x="126" y="0"/>
                    <a:pt x="152" y="11"/>
                    <a:pt x="170" y="30"/>
                  </a:cubicBezTo>
                  <a:cubicBezTo>
                    <a:pt x="189" y="48"/>
                    <a:pt x="200" y="74"/>
                    <a:pt x="200" y="100"/>
                  </a:cubicBezTo>
                  <a:cubicBezTo>
                    <a:pt x="200" y="127"/>
                    <a:pt x="189" y="152"/>
                    <a:pt x="170" y="171"/>
                  </a:cubicBezTo>
                  <a:cubicBezTo>
                    <a:pt x="152" y="190"/>
                    <a:pt x="126" y="200"/>
                    <a:pt x="100" y="20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6" name="Freeform 1123">
              <a:extLst>
                <a:ext uri="{FF2B5EF4-FFF2-40B4-BE49-F238E27FC236}">
                  <a16:creationId xmlns:a16="http://schemas.microsoft.com/office/drawing/2014/main" id="{8EBC179B-A719-774E-76C8-3C8BA4C5540C}"/>
                </a:ext>
              </a:extLst>
            </p:cNvPr>
            <p:cNvSpPr>
              <a:spLocks/>
            </p:cNvSpPr>
            <p:nvPr/>
          </p:nvSpPr>
          <p:spPr bwMode="auto">
            <a:xfrm>
              <a:off x="5509082" y="1964192"/>
              <a:ext cx="67496" cy="56247"/>
            </a:xfrm>
            <a:custGeom>
              <a:avLst/>
              <a:gdLst>
                <a:gd name="T0" fmla="*/ 841 w 1077"/>
                <a:gd name="T1" fmla="*/ 905 h 905"/>
                <a:gd name="T2" fmla="*/ 796 w 1077"/>
                <a:gd name="T3" fmla="*/ 894 h 905"/>
                <a:gd name="T4" fmla="*/ 752 w 1077"/>
                <a:gd name="T5" fmla="*/ 760 h 905"/>
                <a:gd name="T6" fmla="*/ 678 w 1077"/>
                <a:gd name="T7" fmla="*/ 290 h 905"/>
                <a:gd name="T8" fmla="*/ 402 w 1077"/>
                <a:gd name="T9" fmla="*/ 236 h 905"/>
                <a:gd name="T10" fmla="*/ 195 w 1077"/>
                <a:gd name="T11" fmla="*/ 357 h 905"/>
                <a:gd name="T12" fmla="*/ 55 w 1077"/>
                <a:gd name="T13" fmla="*/ 380 h 905"/>
                <a:gd name="T14" fmla="*/ 32 w 1077"/>
                <a:gd name="T15" fmla="*/ 241 h 905"/>
                <a:gd name="T16" fmla="*/ 351 w 1077"/>
                <a:gd name="T17" fmla="*/ 43 h 905"/>
                <a:gd name="T18" fmla="*/ 796 w 1077"/>
                <a:gd name="T19" fmla="*/ 128 h 905"/>
                <a:gd name="T20" fmla="*/ 930 w 1077"/>
                <a:gd name="T21" fmla="*/ 850 h 905"/>
                <a:gd name="T22" fmla="*/ 841 w 1077"/>
                <a:gd name="T23" fmla="*/ 905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77" h="905">
                  <a:moveTo>
                    <a:pt x="841" y="905"/>
                  </a:moveTo>
                  <a:cubicBezTo>
                    <a:pt x="826" y="905"/>
                    <a:pt x="811" y="901"/>
                    <a:pt x="796" y="894"/>
                  </a:cubicBezTo>
                  <a:cubicBezTo>
                    <a:pt x="747" y="869"/>
                    <a:pt x="727" y="809"/>
                    <a:pt x="752" y="760"/>
                  </a:cubicBezTo>
                  <a:cubicBezTo>
                    <a:pt x="822" y="622"/>
                    <a:pt x="866" y="428"/>
                    <a:pt x="678" y="290"/>
                  </a:cubicBezTo>
                  <a:cubicBezTo>
                    <a:pt x="589" y="225"/>
                    <a:pt x="507" y="209"/>
                    <a:pt x="402" y="236"/>
                  </a:cubicBezTo>
                  <a:cubicBezTo>
                    <a:pt x="308" y="261"/>
                    <a:pt x="232" y="305"/>
                    <a:pt x="195" y="357"/>
                  </a:cubicBezTo>
                  <a:cubicBezTo>
                    <a:pt x="163" y="402"/>
                    <a:pt x="100" y="413"/>
                    <a:pt x="55" y="380"/>
                  </a:cubicBezTo>
                  <a:cubicBezTo>
                    <a:pt x="10" y="348"/>
                    <a:pt x="0" y="286"/>
                    <a:pt x="32" y="241"/>
                  </a:cubicBezTo>
                  <a:cubicBezTo>
                    <a:pt x="120" y="118"/>
                    <a:pt x="269" y="64"/>
                    <a:pt x="351" y="43"/>
                  </a:cubicBezTo>
                  <a:cubicBezTo>
                    <a:pt x="514" y="0"/>
                    <a:pt x="659" y="28"/>
                    <a:pt x="796" y="128"/>
                  </a:cubicBezTo>
                  <a:cubicBezTo>
                    <a:pt x="1028" y="299"/>
                    <a:pt x="1077" y="562"/>
                    <a:pt x="930" y="850"/>
                  </a:cubicBezTo>
                  <a:cubicBezTo>
                    <a:pt x="913" y="885"/>
                    <a:pt x="878" y="905"/>
                    <a:pt x="841" y="905"/>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7" name="Freeform 1124">
              <a:extLst>
                <a:ext uri="{FF2B5EF4-FFF2-40B4-BE49-F238E27FC236}">
                  <a16:creationId xmlns:a16="http://schemas.microsoft.com/office/drawing/2014/main" id="{1EF8F441-7989-226C-9EFD-8D656C596FB5}"/>
                </a:ext>
              </a:extLst>
            </p:cNvPr>
            <p:cNvSpPr>
              <a:spLocks/>
            </p:cNvSpPr>
            <p:nvPr/>
          </p:nvSpPr>
          <p:spPr bwMode="auto">
            <a:xfrm>
              <a:off x="5410648" y="2085124"/>
              <a:ext cx="28124" cy="28124"/>
            </a:xfrm>
            <a:custGeom>
              <a:avLst/>
              <a:gdLst>
                <a:gd name="T0" fmla="*/ 353 w 463"/>
                <a:gd name="T1" fmla="*/ 455 h 455"/>
                <a:gd name="T2" fmla="*/ 282 w 463"/>
                <a:gd name="T3" fmla="*/ 426 h 455"/>
                <a:gd name="T4" fmla="*/ 39 w 463"/>
                <a:gd name="T5" fmla="*/ 181 h 455"/>
                <a:gd name="T6" fmla="*/ 39 w 463"/>
                <a:gd name="T7" fmla="*/ 40 h 455"/>
                <a:gd name="T8" fmla="*/ 181 w 463"/>
                <a:gd name="T9" fmla="*/ 40 h 455"/>
                <a:gd name="T10" fmla="*/ 424 w 463"/>
                <a:gd name="T11" fmla="*/ 285 h 455"/>
                <a:gd name="T12" fmla="*/ 423 w 463"/>
                <a:gd name="T13" fmla="*/ 426 h 455"/>
                <a:gd name="T14" fmla="*/ 353 w 463"/>
                <a:gd name="T15" fmla="*/ 45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63" h="455">
                  <a:moveTo>
                    <a:pt x="353" y="455"/>
                  </a:moveTo>
                  <a:cubicBezTo>
                    <a:pt x="327" y="455"/>
                    <a:pt x="301" y="445"/>
                    <a:pt x="282" y="426"/>
                  </a:cubicBezTo>
                  <a:lnTo>
                    <a:pt x="39" y="181"/>
                  </a:lnTo>
                  <a:cubicBezTo>
                    <a:pt x="0" y="142"/>
                    <a:pt x="0" y="79"/>
                    <a:pt x="39" y="40"/>
                  </a:cubicBezTo>
                  <a:cubicBezTo>
                    <a:pt x="79" y="0"/>
                    <a:pt x="141" y="1"/>
                    <a:pt x="181" y="40"/>
                  </a:cubicBezTo>
                  <a:lnTo>
                    <a:pt x="424" y="285"/>
                  </a:lnTo>
                  <a:cubicBezTo>
                    <a:pt x="463" y="324"/>
                    <a:pt x="463" y="387"/>
                    <a:pt x="423" y="426"/>
                  </a:cubicBezTo>
                  <a:cubicBezTo>
                    <a:pt x="404" y="446"/>
                    <a:pt x="378" y="455"/>
                    <a:pt x="353" y="455"/>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4601649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0301547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EE4P_STYLE_ID" val="3edb2f5e-e25b-4bbf-81ee-2b4396447386"/>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z.I3yenMQKik7gwga5MCXw"/>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POWER_USER_ID_TEMPLATES" val="Split_slide_10"/>
</p:tagLst>
</file>

<file path=ppt/tags/tag71.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p45rhYHBuiEajA2rg4_Y0SQ"/>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pQPMP1U4Rr0iJAD1grkB.Tw"/>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pnDD338byrUy.x6GH0kLvdQ"/>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pCKyt4vWzKEq0W4TOUfZ19A"/>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pB4c.GUrCqkC0ju.jnE8d8Q"/>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pe1dCEWDR80GDPbC1xPCIhA"/>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poFM9dKiQ.kWv03yrzcTv0w"/>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pw317BakSUky_ISYnPhT6JA"/>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prKr3.eJX3EeVNO8QXA7NZg"/>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pomfYF8dDg0OwT_r1bfGJQw"/>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p6LHxXXnDX0O_afkWL8Y57A"/>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phJn3Cc7R20KkgLLEZwCDPQ"/>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pWNx1MKQSaUW8hKSJmvwpug"/>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pO9NwNpyLkUC9lGhcS1hWfQ"/>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peLZ25ijbhk.tDQk_gX4jqg"/>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pcsn6hEIZmUeFA8P8RUFARg"/>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pfmB6jiW9ZESYplaO9IUwOw"/>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ptGJYfIseP0KO9zSWyQ76NA"/>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pk2OMKWeseUulLCinsFoCUQ"/>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pMpUTiFLjhU._nrqGutgLSg"/>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pOAGz5lJSp02NgK1wgWJ6Aw"/>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pXYSBBfPyx0WFwbufxuhF.w"/>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pe95WAAfsTkK0jr6iEHibRw"/>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ppKy13jZYQ0WxGSS9NG9qQg"/>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pk2OMKWeseUulLCinsFoCUQ"/>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pMpUTiFLjhU._nrqGutgLSg"/>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pOAGz5lJSp02NgK1wgWJ6Aw"/>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pXYSBBfPyx0WFwbufxuhF.w"/>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pe95WAAfsTkK0jr6iEHibRw"/>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pJqZJlvAeQ0uSIkcAdzpgMw"/>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pr3tfq_L3mkCURvkf7lIq7Q"/>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pPr8UslhuT0GnLq_TdRhDQA"/>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pw3SGwdjnDUCIpWJp0cOxIg"/>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piQK7clZsoEee8Q2eVdb1_g"/>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pRtzNbuyjKkGJe4bxYBfOqg"/>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pCqxomS0GiUasKGyEudtfIQ"/>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p99slUjVAkkKPrIWY.h8z9g"/>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pRdQdM23oT0yx5ezV4fczsQ"/>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psg8byroSTE2GD8JcPpyp0A"/>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py6gduGQ3bk.UxYOwVobloA"/>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pT1Jeik2vDkGMVwvVDbvx7Q"/>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pv4Goy2A8JE2o0YN2Ea_Rnw"/>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pivInMiw_AUexFezgQ2hhYg"/>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pnodhYr2u80mxaF3Eo2HODg"/>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pb0CSAS2QwE2P0OgpNVBTlw"/>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mPu9hLhnQ760bGW.gqJgeg"/>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FOzv2QDMRtqpSeAWSJydPg"/>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4tjGE4t5TfWIARMIlNVr7A"/>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neB9vLhOS_Kex8LnjUFvcQ"/>
</p:tagLst>
</file>

<file path=ppt/tags/tag125.xml><?xml version="1.0" encoding="utf-8"?>
<p:tagLst xmlns:a="http://schemas.openxmlformats.org/drawingml/2006/main" xmlns:r="http://schemas.openxmlformats.org/officeDocument/2006/relationships" xmlns:p="http://schemas.openxmlformats.org/presentationml/2006/main">
  <p:tag name="EE4P_ELEMENTWIZARD_ID" val="NumberBalls1"/>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LJASyGb0Tu6Qgn3hjLH3Mg"/>
</p:tagLst>
</file>

<file path=ppt/tags/tag128.xml><?xml version="1.0" encoding="utf-8"?>
<p:tagLst xmlns:a="http://schemas.openxmlformats.org/drawingml/2006/main" xmlns:r="http://schemas.openxmlformats.org/officeDocument/2006/relationships" xmlns:p="http://schemas.openxmlformats.org/presentationml/2006/main">
  <p:tag name="EE4P_ELEMENTWIZARD_ID" val="NumberBalls1"/>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iC2uoFGGRZmOeudNkQEbTA"/>
</p:tagLst>
</file>

<file path=ppt/tags/tag131.xml><?xml version="1.0" encoding="utf-8"?>
<p:tagLst xmlns:a="http://schemas.openxmlformats.org/drawingml/2006/main" xmlns:r="http://schemas.openxmlformats.org/officeDocument/2006/relationships" xmlns:p="http://schemas.openxmlformats.org/presentationml/2006/main">
  <p:tag name="EE4P_ELEMENTWIZARD_ID" val="NumberBalls1"/>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f1dW4eMISjm5TZ9dlyXeyQ"/>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EE4P_ELEMENTWIZARD_ID" val="NumberBalls1"/>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Uegy1NwVQvesVp1HjYqI9A"/>
</p:tagLst>
</file>

<file path=ppt/tags/tag138.xml><?xml version="1.0" encoding="utf-8"?>
<p:tagLst xmlns:a="http://schemas.openxmlformats.org/drawingml/2006/main" xmlns:r="http://schemas.openxmlformats.org/officeDocument/2006/relationships" xmlns:p="http://schemas.openxmlformats.org/presentationml/2006/main">
  <p:tag name="EE4P_ELEMENTWIZARD_ID" val="NumberBalls1"/>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Uegy1NwVQvesVp1HjYqI9A"/>
</p:tagLst>
</file>

<file path=ppt/tags/tag141.xml><?xml version="1.0" encoding="utf-8"?>
<p:tagLst xmlns:a="http://schemas.openxmlformats.org/drawingml/2006/main" xmlns:r="http://schemas.openxmlformats.org/officeDocument/2006/relationships" xmlns:p="http://schemas.openxmlformats.org/presentationml/2006/main">
  <p:tag name="EE4P_ELEMENTWIZARD_ID" val="NumberBalls1"/>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Uegy1NwVQvesVp1HjYqI9A"/>
</p:tagLst>
</file>

<file path=ppt/tags/tag144.xml><?xml version="1.0" encoding="utf-8"?>
<p:tagLst xmlns:a="http://schemas.openxmlformats.org/drawingml/2006/main" xmlns:r="http://schemas.openxmlformats.org/officeDocument/2006/relationships" xmlns:p="http://schemas.openxmlformats.org/presentationml/2006/main">
  <p:tag name="EE4P_ELEMENTWIZARD_ID" val="NumberBalls1"/>
</p:tagLst>
</file>

<file path=ppt/tags/tag145.xml><?xml version="1.0" encoding="utf-8"?>
<p:tagLst xmlns:a="http://schemas.openxmlformats.org/drawingml/2006/main" xmlns:r="http://schemas.openxmlformats.org/officeDocument/2006/relationships" xmlns:p="http://schemas.openxmlformats.org/presentationml/2006/main">
  <p:tag name="POWER_USER_CONTEXTUAL_SHAPES_TAG" val="POWER_USER_CONTEXTUAL_SHAPES_DIAGRAMS_CIRCULAR"/>
</p:tagLst>
</file>

<file path=ppt/tags/tag146.xml><?xml version="1.0" encoding="utf-8"?>
<p:tagLst xmlns:a="http://schemas.openxmlformats.org/drawingml/2006/main" xmlns:r="http://schemas.openxmlformats.org/officeDocument/2006/relationships" xmlns:p="http://schemas.openxmlformats.org/presentationml/2006/main">
  <p:tag name="POWER_USER_TAGS_ICONS" val="distribution-site_POWER_USER_SEPARATOR_ICONS_box_POWER_USER_SEPARATOR_ICONS_cardboard_POWER_USER_SEPARATOR_ICONS_factory_POWER_USER_SEPARATOR_ICONS_humanitarian_POWER_USER_SEPARATOR_ICONS_infrastructure_POWER_USER_SEPARATOR_ICONS_manufacturing_POWER_USER_SEPARATOR_ICONS_warehouse"/>
</p:tagLst>
</file>

<file path=ppt/tags/tag147.xml><?xml version="1.0" encoding="utf-8"?>
<p:tagLst xmlns:a="http://schemas.openxmlformats.org/drawingml/2006/main" xmlns:r="http://schemas.openxmlformats.org/officeDocument/2006/relationships" xmlns:p="http://schemas.openxmlformats.org/presentationml/2006/main">
  <p:tag name="POWER_USER_TAGS_ICONS" val="key_POWER_USER_SEPARATOR_ICONS_keys_POWER_USER_SEPARATOR_ICONS_key-and-lock_POWER_USER_SEPARATOR_ICONS_llave_POWER_USER_SEPARATOR_ICONS_llaves"/>
</p:tagLst>
</file>

<file path=ppt/tags/tag148.xml><?xml version="1.0" encoding="utf-8"?>
<p:tagLst xmlns:a="http://schemas.openxmlformats.org/drawingml/2006/main" xmlns:r="http://schemas.openxmlformats.org/officeDocument/2006/relationships" xmlns:p="http://schemas.openxmlformats.org/presentationml/2006/main">
  <p:tag name="POWER_USER_TAGS_ICONS" val="algorythm_POWER_USER_SEPARATOR_ICONS_data_POWER_USER_SEPARATOR_ICONS_math_POWER_USER_SEPARATOR_ICONS_numbers_POWER_USER_SEPARATOR_ICONS_open-data"/>
</p:tagLst>
</file>

<file path=ppt/tags/tag149.xml><?xml version="1.0" encoding="utf-8"?>
<p:tagLst xmlns:a="http://schemas.openxmlformats.org/drawingml/2006/main" xmlns:r="http://schemas.openxmlformats.org/officeDocument/2006/relationships" xmlns:p="http://schemas.openxmlformats.org/presentationml/2006/main">
  <p:tag name="POWER_USER_TAGS_ICONS" val="sweep*cleaning*housework*broomstick*wiper*sweeper"/>
</p:tagLst>
</file>

<file path=ppt/tags/tag150.xml><?xml version="1.0" encoding="utf-8"?>
<p:tagLst xmlns:a="http://schemas.openxmlformats.org/drawingml/2006/main" xmlns:r="http://schemas.openxmlformats.org/officeDocument/2006/relationships" xmlns:p="http://schemas.openxmlformats.org/presentationml/2006/main">
  <p:tag name="POWER_USER_TAGS_ICONS" val="falling-objects_POWER_USER_SEPARATOR_ICONS_shake_POWER_USER_SEPARATOR_ICONS_seismic_POWER_USER_SEPARATOR_ICONS_safety_POWER_USER_SEPARATOR_ICONS_risk_POWER_USER_SEPARATOR_ICONS_rip_POWER_USER_SEPARATOR_ICONS_retail_POWER_USER_SEPARATOR_ICONS_rack_POWER_USER_SEPARATOR_ICONS_quake_POWER_USER_SEPARATOR_ICONS_preparedness_POWER_USER_SEPARATOR_ICONS_person_POWER_USER_SEPARATOR_ICONS_object_POWER_USER_SEPARATOR_ICONS_moving_POWER_USER_SEPARATOR_ICONS_shelf_POWER_USER_SEPARATOR_ICONS_stand_POWER_USER_SEPARATOR_ICONS_stockpile_POWER_USER_SEPARATOR_ICONS_pallets-load_POWER_USER_SEPARATOR_ICONS_manufacturers_POWER_USER_SEPARATOR_ICONS_wholesalers_POWER_USER_SEPARATOR_ICONS_watch-out_POWER_USER_SEPARATOR_ICONS_warning_POWER_USER_SEPARATOR_ICONS_warehouse_POWER_USER_SEPARATOR_ICONS_walkway_POWER_USER_SEPARATOR_ICONS_tremor_POWER_USER_SEPARATOR_ICONS_transport_POWER_USER_SEPARATOR_ICONS_temblor_POWER_USER_SEPARATOR_ICONS_store_POWER_USER_SEPARATOR_ICONS_storage_POWER_USER_SEPARATOR_ICONS_materials_POWER_USER_SEPARATOR_ICONS_loading_POWER_USER_SEPARATOR_ICONS_load_POWER_USER_SEPARATOR_ICONS_customs_POWER_USER_SEPARATOR_ICONS_crate_POWER_USER_SEPARATOR_ICONS_corridor_POWER_USER_SEPARATOR_ICONS_commercial_POWER_USER_SEPARATOR_ICONS_collapse_POWER_USER_SEPARATOR_ICONS_caution_POWER_USER_SEPARATOR_ICONS_carton_POWER_USER_SEPARATOR_ICONS_businesses_POWER_USER_SEPARATOR_ICONS_buildings_POWER_USER_SEPARATOR_ICONS_building_POWER_USER_SEPARATOR_ICONS_box_POWER_USER_SEPARATOR_ICONS_bin_POWER_USER_SEPARATOR_ICONS_danger_POWER_USER_SEPARATOR_ICONS_debris_POWER_USER_SEPARATOR_ICONS_lane_POWER_USER_SEPARATOR_ICONS_industry_POWER_USER_SEPARATOR_ICONS_importers_POWER_USER_SEPARATOR_ICONS_hazard_POWER_USER_SEPARATOR_ICONS_goods_POWER_USER_SEPARATOR_ICONS_falling_POWER_USER_SEPARATOR_ICONS_fall_POWER_USER_SEPARATOR_ICONS_exporters_POWER_USER_SEPARATOR_ICONS_display_POWER_USER_SEPARATOR_ICONS_disaster_POWER_USER_SEPARATOR_ICONS_destruction_POWER_USER_SEPARATOR_ICONS_depot_POWER_USER_SEPARATOR_ICONS_aisle"/>
</p:tagLst>
</file>

<file path=ppt/tags/tag151.xml><?xml version="1.0" encoding="utf-8"?>
<p:tagLst xmlns:a="http://schemas.openxmlformats.org/drawingml/2006/main" xmlns:r="http://schemas.openxmlformats.org/officeDocument/2006/relationships" xmlns:p="http://schemas.openxmlformats.org/presentationml/2006/main">
  <p:tag name="POWER_USER_TAGS_ICONS" val="recycle*logic*environment*energy*sustainability*planet*reuse*waste*"/>
</p:tagLst>
</file>

<file path=ppt/tags/tag152.xml><?xml version="1.0" encoding="utf-8"?>
<p:tagLst xmlns:a="http://schemas.openxmlformats.org/drawingml/2006/main" xmlns:r="http://schemas.openxmlformats.org/officeDocument/2006/relationships" xmlns:p="http://schemas.openxmlformats.org/presentationml/2006/main">
  <p:tag name="POWER_USER_TAGS_ICONS" val="falling-objects_POWER_USER_SEPARATOR_ICONS_shake_POWER_USER_SEPARATOR_ICONS_seismic_POWER_USER_SEPARATOR_ICONS_safety_POWER_USER_SEPARATOR_ICONS_risk_POWER_USER_SEPARATOR_ICONS_rip_POWER_USER_SEPARATOR_ICONS_retail_POWER_USER_SEPARATOR_ICONS_rack_POWER_USER_SEPARATOR_ICONS_quake_POWER_USER_SEPARATOR_ICONS_preparedness_POWER_USER_SEPARATOR_ICONS_person_POWER_USER_SEPARATOR_ICONS_object_POWER_USER_SEPARATOR_ICONS_moving_POWER_USER_SEPARATOR_ICONS_shelf_POWER_USER_SEPARATOR_ICONS_stand_POWER_USER_SEPARATOR_ICONS_stockpile_POWER_USER_SEPARATOR_ICONS_pallets-load_POWER_USER_SEPARATOR_ICONS_manufacturers_POWER_USER_SEPARATOR_ICONS_wholesalers_POWER_USER_SEPARATOR_ICONS_watch-out_POWER_USER_SEPARATOR_ICONS_warning_POWER_USER_SEPARATOR_ICONS_warehouse_POWER_USER_SEPARATOR_ICONS_walkway_POWER_USER_SEPARATOR_ICONS_tremor_POWER_USER_SEPARATOR_ICONS_transport_POWER_USER_SEPARATOR_ICONS_temblor_POWER_USER_SEPARATOR_ICONS_store_POWER_USER_SEPARATOR_ICONS_storage_POWER_USER_SEPARATOR_ICONS_materials_POWER_USER_SEPARATOR_ICONS_loading_POWER_USER_SEPARATOR_ICONS_load_POWER_USER_SEPARATOR_ICONS_customs_POWER_USER_SEPARATOR_ICONS_crate_POWER_USER_SEPARATOR_ICONS_corridor_POWER_USER_SEPARATOR_ICONS_commercial_POWER_USER_SEPARATOR_ICONS_collapse_POWER_USER_SEPARATOR_ICONS_caution_POWER_USER_SEPARATOR_ICONS_carton_POWER_USER_SEPARATOR_ICONS_businesses_POWER_USER_SEPARATOR_ICONS_buildings_POWER_USER_SEPARATOR_ICONS_building_POWER_USER_SEPARATOR_ICONS_box_POWER_USER_SEPARATOR_ICONS_bin_POWER_USER_SEPARATOR_ICONS_danger_POWER_USER_SEPARATOR_ICONS_debris_POWER_USER_SEPARATOR_ICONS_lane_POWER_USER_SEPARATOR_ICONS_industry_POWER_USER_SEPARATOR_ICONS_importers_POWER_USER_SEPARATOR_ICONS_hazard_POWER_USER_SEPARATOR_ICONS_goods_POWER_USER_SEPARATOR_ICONS_falling_POWER_USER_SEPARATOR_ICONS_fall_POWER_USER_SEPARATOR_ICONS_exporters_POWER_USER_SEPARATOR_ICONS_display_POWER_USER_SEPARATOR_ICONS_disaster_POWER_USER_SEPARATOR_ICONS_destruction_POWER_USER_SEPARATOR_ICONS_depot_POWER_USER_SEPARATOR_ICONS_aisle"/>
</p:tagLst>
</file>

<file path=ppt/tags/tag153.xml><?xml version="1.0" encoding="utf-8"?>
<p:tagLst xmlns:a="http://schemas.openxmlformats.org/drawingml/2006/main" xmlns:r="http://schemas.openxmlformats.org/officeDocument/2006/relationships" xmlns:p="http://schemas.openxmlformats.org/presentationml/2006/main">
  <p:tag name="POWER_USER_TAGS_ICONS" val="falling-objects_POWER_USER_SEPARATOR_ICONS_shake_POWER_USER_SEPARATOR_ICONS_seismic_POWER_USER_SEPARATOR_ICONS_safety_POWER_USER_SEPARATOR_ICONS_risk_POWER_USER_SEPARATOR_ICONS_rip_POWER_USER_SEPARATOR_ICONS_retail_POWER_USER_SEPARATOR_ICONS_rack_POWER_USER_SEPARATOR_ICONS_quake_POWER_USER_SEPARATOR_ICONS_preparedness_POWER_USER_SEPARATOR_ICONS_person_POWER_USER_SEPARATOR_ICONS_object_POWER_USER_SEPARATOR_ICONS_moving_POWER_USER_SEPARATOR_ICONS_shelf_POWER_USER_SEPARATOR_ICONS_stand_POWER_USER_SEPARATOR_ICONS_stockpile_POWER_USER_SEPARATOR_ICONS_pallets-load_POWER_USER_SEPARATOR_ICONS_manufacturers_POWER_USER_SEPARATOR_ICONS_wholesalers_POWER_USER_SEPARATOR_ICONS_watch-out_POWER_USER_SEPARATOR_ICONS_warning_POWER_USER_SEPARATOR_ICONS_warehouse_POWER_USER_SEPARATOR_ICONS_walkway_POWER_USER_SEPARATOR_ICONS_tremor_POWER_USER_SEPARATOR_ICONS_transport_POWER_USER_SEPARATOR_ICONS_temblor_POWER_USER_SEPARATOR_ICONS_store_POWER_USER_SEPARATOR_ICONS_storage_POWER_USER_SEPARATOR_ICONS_materials_POWER_USER_SEPARATOR_ICONS_loading_POWER_USER_SEPARATOR_ICONS_load_POWER_USER_SEPARATOR_ICONS_customs_POWER_USER_SEPARATOR_ICONS_crate_POWER_USER_SEPARATOR_ICONS_corridor_POWER_USER_SEPARATOR_ICONS_commercial_POWER_USER_SEPARATOR_ICONS_collapse_POWER_USER_SEPARATOR_ICONS_caution_POWER_USER_SEPARATOR_ICONS_carton_POWER_USER_SEPARATOR_ICONS_businesses_POWER_USER_SEPARATOR_ICONS_buildings_POWER_USER_SEPARATOR_ICONS_building_POWER_USER_SEPARATOR_ICONS_box_POWER_USER_SEPARATOR_ICONS_bin_POWER_USER_SEPARATOR_ICONS_danger_POWER_USER_SEPARATOR_ICONS_debris_POWER_USER_SEPARATOR_ICONS_lane_POWER_USER_SEPARATOR_ICONS_industry_POWER_USER_SEPARATOR_ICONS_importers_POWER_USER_SEPARATOR_ICONS_hazard_POWER_USER_SEPARATOR_ICONS_goods_POWER_USER_SEPARATOR_ICONS_falling_POWER_USER_SEPARATOR_ICONS_fall_POWER_USER_SEPARATOR_ICONS_exporters_POWER_USER_SEPARATOR_ICONS_display_POWER_USER_SEPARATOR_ICONS_disaster_POWER_USER_SEPARATOR_ICONS_destruction_POWER_USER_SEPARATOR_ICONS_depot_POWER_USER_SEPARATOR_ICONS_aisle"/>
</p:tagLst>
</file>

<file path=ppt/tags/tag154.xml><?xml version="1.0" encoding="utf-8"?>
<p:tagLst xmlns:a="http://schemas.openxmlformats.org/drawingml/2006/main" xmlns:r="http://schemas.openxmlformats.org/officeDocument/2006/relationships" xmlns:p="http://schemas.openxmlformats.org/presentationml/2006/main">
  <p:tag name="POWER_USER_TAGS_ICONS" val="falling-objects_POWER_USER_SEPARATOR_ICONS_shake_POWER_USER_SEPARATOR_ICONS_seismic_POWER_USER_SEPARATOR_ICONS_safety_POWER_USER_SEPARATOR_ICONS_risk_POWER_USER_SEPARATOR_ICONS_rip_POWER_USER_SEPARATOR_ICONS_retail_POWER_USER_SEPARATOR_ICONS_rack_POWER_USER_SEPARATOR_ICONS_quake_POWER_USER_SEPARATOR_ICONS_preparedness_POWER_USER_SEPARATOR_ICONS_person_POWER_USER_SEPARATOR_ICONS_object_POWER_USER_SEPARATOR_ICONS_moving_POWER_USER_SEPARATOR_ICONS_shelf_POWER_USER_SEPARATOR_ICONS_stand_POWER_USER_SEPARATOR_ICONS_stockpile_POWER_USER_SEPARATOR_ICONS_pallets-load_POWER_USER_SEPARATOR_ICONS_manufacturers_POWER_USER_SEPARATOR_ICONS_wholesalers_POWER_USER_SEPARATOR_ICONS_watch-out_POWER_USER_SEPARATOR_ICONS_warning_POWER_USER_SEPARATOR_ICONS_warehouse_POWER_USER_SEPARATOR_ICONS_walkway_POWER_USER_SEPARATOR_ICONS_tremor_POWER_USER_SEPARATOR_ICONS_transport_POWER_USER_SEPARATOR_ICONS_temblor_POWER_USER_SEPARATOR_ICONS_store_POWER_USER_SEPARATOR_ICONS_storage_POWER_USER_SEPARATOR_ICONS_materials_POWER_USER_SEPARATOR_ICONS_loading_POWER_USER_SEPARATOR_ICONS_load_POWER_USER_SEPARATOR_ICONS_customs_POWER_USER_SEPARATOR_ICONS_crate_POWER_USER_SEPARATOR_ICONS_corridor_POWER_USER_SEPARATOR_ICONS_commercial_POWER_USER_SEPARATOR_ICONS_collapse_POWER_USER_SEPARATOR_ICONS_caution_POWER_USER_SEPARATOR_ICONS_carton_POWER_USER_SEPARATOR_ICONS_businesses_POWER_USER_SEPARATOR_ICONS_buildings_POWER_USER_SEPARATOR_ICONS_building_POWER_USER_SEPARATOR_ICONS_box_POWER_USER_SEPARATOR_ICONS_bin_POWER_USER_SEPARATOR_ICONS_danger_POWER_USER_SEPARATOR_ICONS_debris_POWER_USER_SEPARATOR_ICONS_lane_POWER_USER_SEPARATOR_ICONS_industry_POWER_USER_SEPARATOR_ICONS_importers_POWER_USER_SEPARATOR_ICONS_hazard_POWER_USER_SEPARATOR_ICONS_goods_POWER_USER_SEPARATOR_ICONS_falling_POWER_USER_SEPARATOR_ICONS_fall_POWER_USER_SEPARATOR_ICONS_exporters_POWER_USER_SEPARATOR_ICONS_display_POWER_USER_SEPARATOR_ICONS_disaster_POWER_USER_SEPARATOR_ICONS_destruction_POWER_USER_SEPARATOR_ICONS_depot_POWER_USER_SEPARATOR_ICONS_aisle"/>
</p:tagLst>
</file>

<file path=ppt/tags/tag155.xml><?xml version="1.0" encoding="utf-8"?>
<p:tagLst xmlns:a="http://schemas.openxmlformats.org/drawingml/2006/main" xmlns:r="http://schemas.openxmlformats.org/officeDocument/2006/relationships" xmlns:p="http://schemas.openxmlformats.org/presentationml/2006/main">
  <p:tag name="POWER_USER_TAGS_ICONS" val="falling-objects_POWER_USER_SEPARATOR_ICONS_shake_POWER_USER_SEPARATOR_ICONS_seismic_POWER_USER_SEPARATOR_ICONS_safety_POWER_USER_SEPARATOR_ICONS_risk_POWER_USER_SEPARATOR_ICONS_rip_POWER_USER_SEPARATOR_ICONS_retail_POWER_USER_SEPARATOR_ICONS_rack_POWER_USER_SEPARATOR_ICONS_quake_POWER_USER_SEPARATOR_ICONS_preparedness_POWER_USER_SEPARATOR_ICONS_person_POWER_USER_SEPARATOR_ICONS_object_POWER_USER_SEPARATOR_ICONS_moving_POWER_USER_SEPARATOR_ICONS_shelf_POWER_USER_SEPARATOR_ICONS_stand_POWER_USER_SEPARATOR_ICONS_stockpile_POWER_USER_SEPARATOR_ICONS_pallets-load_POWER_USER_SEPARATOR_ICONS_manufacturers_POWER_USER_SEPARATOR_ICONS_wholesalers_POWER_USER_SEPARATOR_ICONS_watch-out_POWER_USER_SEPARATOR_ICONS_warning_POWER_USER_SEPARATOR_ICONS_warehouse_POWER_USER_SEPARATOR_ICONS_walkway_POWER_USER_SEPARATOR_ICONS_tremor_POWER_USER_SEPARATOR_ICONS_transport_POWER_USER_SEPARATOR_ICONS_temblor_POWER_USER_SEPARATOR_ICONS_store_POWER_USER_SEPARATOR_ICONS_storage_POWER_USER_SEPARATOR_ICONS_materials_POWER_USER_SEPARATOR_ICONS_loading_POWER_USER_SEPARATOR_ICONS_load_POWER_USER_SEPARATOR_ICONS_customs_POWER_USER_SEPARATOR_ICONS_crate_POWER_USER_SEPARATOR_ICONS_corridor_POWER_USER_SEPARATOR_ICONS_commercial_POWER_USER_SEPARATOR_ICONS_collapse_POWER_USER_SEPARATOR_ICONS_caution_POWER_USER_SEPARATOR_ICONS_carton_POWER_USER_SEPARATOR_ICONS_businesses_POWER_USER_SEPARATOR_ICONS_buildings_POWER_USER_SEPARATOR_ICONS_building_POWER_USER_SEPARATOR_ICONS_box_POWER_USER_SEPARATOR_ICONS_bin_POWER_USER_SEPARATOR_ICONS_danger_POWER_USER_SEPARATOR_ICONS_debris_POWER_USER_SEPARATOR_ICONS_lane_POWER_USER_SEPARATOR_ICONS_industry_POWER_USER_SEPARATOR_ICONS_importers_POWER_USER_SEPARATOR_ICONS_hazard_POWER_USER_SEPARATOR_ICONS_goods_POWER_USER_SEPARATOR_ICONS_falling_POWER_USER_SEPARATOR_ICONS_fall_POWER_USER_SEPARATOR_ICONS_exporters_POWER_USER_SEPARATOR_ICONS_display_POWER_USER_SEPARATOR_ICONS_disaster_POWER_USER_SEPARATOR_ICONS_destruction_POWER_USER_SEPARATOR_ICONS_depot_POWER_USER_SEPARATOR_ICONS_aisle"/>
</p:tagLst>
</file>

<file path=ppt/tags/tag156.xml><?xml version="1.0" encoding="utf-8"?>
<p:tagLst xmlns:a="http://schemas.openxmlformats.org/drawingml/2006/main" xmlns:r="http://schemas.openxmlformats.org/officeDocument/2006/relationships" xmlns:p="http://schemas.openxmlformats.org/presentationml/2006/main">
  <p:tag name="POWER_USER_TAGS_ICONS" val="falling-objects_POWER_USER_SEPARATOR_ICONS_shake_POWER_USER_SEPARATOR_ICONS_seismic_POWER_USER_SEPARATOR_ICONS_safety_POWER_USER_SEPARATOR_ICONS_risk_POWER_USER_SEPARATOR_ICONS_rip_POWER_USER_SEPARATOR_ICONS_retail_POWER_USER_SEPARATOR_ICONS_rack_POWER_USER_SEPARATOR_ICONS_quake_POWER_USER_SEPARATOR_ICONS_preparedness_POWER_USER_SEPARATOR_ICONS_person_POWER_USER_SEPARATOR_ICONS_object_POWER_USER_SEPARATOR_ICONS_moving_POWER_USER_SEPARATOR_ICONS_shelf_POWER_USER_SEPARATOR_ICONS_stand_POWER_USER_SEPARATOR_ICONS_stockpile_POWER_USER_SEPARATOR_ICONS_pallets-load_POWER_USER_SEPARATOR_ICONS_manufacturers_POWER_USER_SEPARATOR_ICONS_wholesalers_POWER_USER_SEPARATOR_ICONS_watch-out_POWER_USER_SEPARATOR_ICONS_warning_POWER_USER_SEPARATOR_ICONS_warehouse_POWER_USER_SEPARATOR_ICONS_walkway_POWER_USER_SEPARATOR_ICONS_tremor_POWER_USER_SEPARATOR_ICONS_transport_POWER_USER_SEPARATOR_ICONS_temblor_POWER_USER_SEPARATOR_ICONS_store_POWER_USER_SEPARATOR_ICONS_storage_POWER_USER_SEPARATOR_ICONS_materials_POWER_USER_SEPARATOR_ICONS_loading_POWER_USER_SEPARATOR_ICONS_load_POWER_USER_SEPARATOR_ICONS_customs_POWER_USER_SEPARATOR_ICONS_crate_POWER_USER_SEPARATOR_ICONS_corridor_POWER_USER_SEPARATOR_ICONS_commercial_POWER_USER_SEPARATOR_ICONS_collapse_POWER_USER_SEPARATOR_ICONS_caution_POWER_USER_SEPARATOR_ICONS_carton_POWER_USER_SEPARATOR_ICONS_businesses_POWER_USER_SEPARATOR_ICONS_buildings_POWER_USER_SEPARATOR_ICONS_building_POWER_USER_SEPARATOR_ICONS_box_POWER_USER_SEPARATOR_ICONS_bin_POWER_USER_SEPARATOR_ICONS_danger_POWER_USER_SEPARATOR_ICONS_debris_POWER_USER_SEPARATOR_ICONS_lane_POWER_USER_SEPARATOR_ICONS_industry_POWER_USER_SEPARATOR_ICONS_importers_POWER_USER_SEPARATOR_ICONS_hazard_POWER_USER_SEPARATOR_ICONS_goods_POWER_USER_SEPARATOR_ICONS_falling_POWER_USER_SEPARATOR_ICONS_fall_POWER_USER_SEPARATOR_ICONS_exporters_POWER_USER_SEPARATOR_ICONS_display_POWER_USER_SEPARATOR_ICONS_disaster_POWER_USER_SEPARATOR_ICONS_destruction_POWER_USER_SEPARATOR_ICONS_depot_POWER_USER_SEPARATOR_ICONS_aisle"/>
</p:tagLst>
</file>

<file path=ppt/tags/tag157.xml><?xml version="1.0" encoding="utf-8"?>
<p:tagLst xmlns:a="http://schemas.openxmlformats.org/drawingml/2006/main" xmlns:r="http://schemas.openxmlformats.org/officeDocument/2006/relationships" xmlns:p="http://schemas.openxmlformats.org/presentationml/2006/main">
  <p:tag name="POWER_USER_TAGS_ICONS" val="falling-objects_POWER_USER_SEPARATOR_ICONS_shake_POWER_USER_SEPARATOR_ICONS_seismic_POWER_USER_SEPARATOR_ICONS_safety_POWER_USER_SEPARATOR_ICONS_risk_POWER_USER_SEPARATOR_ICONS_rip_POWER_USER_SEPARATOR_ICONS_retail_POWER_USER_SEPARATOR_ICONS_rack_POWER_USER_SEPARATOR_ICONS_quake_POWER_USER_SEPARATOR_ICONS_preparedness_POWER_USER_SEPARATOR_ICONS_person_POWER_USER_SEPARATOR_ICONS_object_POWER_USER_SEPARATOR_ICONS_moving_POWER_USER_SEPARATOR_ICONS_shelf_POWER_USER_SEPARATOR_ICONS_stand_POWER_USER_SEPARATOR_ICONS_stockpile_POWER_USER_SEPARATOR_ICONS_pallets-load_POWER_USER_SEPARATOR_ICONS_manufacturers_POWER_USER_SEPARATOR_ICONS_wholesalers_POWER_USER_SEPARATOR_ICONS_watch-out_POWER_USER_SEPARATOR_ICONS_warning_POWER_USER_SEPARATOR_ICONS_warehouse_POWER_USER_SEPARATOR_ICONS_walkway_POWER_USER_SEPARATOR_ICONS_tremor_POWER_USER_SEPARATOR_ICONS_transport_POWER_USER_SEPARATOR_ICONS_temblor_POWER_USER_SEPARATOR_ICONS_store_POWER_USER_SEPARATOR_ICONS_storage_POWER_USER_SEPARATOR_ICONS_materials_POWER_USER_SEPARATOR_ICONS_loading_POWER_USER_SEPARATOR_ICONS_load_POWER_USER_SEPARATOR_ICONS_customs_POWER_USER_SEPARATOR_ICONS_crate_POWER_USER_SEPARATOR_ICONS_corridor_POWER_USER_SEPARATOR_ICONS_commercial_POWER_USER_SEPARATOR_ICONS_collapse_POWER_USER_SEPARATOR_ICONS_caution_POWER_USER_SEPARATOR_ICONS_carton_POWER_USER_SEPARATOR_ICONS_businesses_POWER_USER_SEPARATOR_ICONS_buildings_POWER_USER_SEPARATOR_ICONS_building_POWER_USER_SEPARATOR_ICONS_box_POWER_USER_SEPARATOR_ICONS_bin_POWER_USER_SEPARATOR_ICONS_danger_POWER_USER_SEPARATOR_ICONS_debris_POWER_USER_SEPARATOR_ICONS_lane_POWER_USER_SEPARATOR_ICONS_industry_POWER_USER_SEPARATOR_ICONS_importers_POWER_USER_SEPARATOR_ICONS_hazard_POWER_USER_SEPARATOR_ICONS_goods_POWER_USER_SEPARATOR_ICONS_falling_POWER_USER_SEPARATOR_ICONS_fall_POWER_USER_SEPARATOR_ICONS_exporters_POWER_USER_SEPARATOR_ICONS_display_POWER_USER_SEPARATOR_ICONS_disaster_POWER_USER_SEPARATOR_ICONS_destruction_POWER_USER_SEPARATOR_ICONS_depot_POWER_USER_SEPARATOR_ICONS_aisle"/>
</p:tagLst>
</file>

<file path=ppt/tags/tag158.xml><?xml version="1.0" encoding="utf-8"?>
<p:tagLst xmlns:a="http://schemas.openxmlformats.org/drawingml/2006/main" xmlns:r="http://schemas.openxmlformats.org/officeDocument/2006/relationships" xmlns:p="http://schemas.openxmlformats.org/presentationml/2006/main">
  <p:tag name="POWER_USER_TAGS_ICONS" val="falling-objects_POWER_USER_SEPARATOR_ICONS_shake_POWER_USER_SEPARATOR_ICONS_seismic_POWER_USER_SEPARATOR_ICONS_safety_POWER_USER_SEPARATOR_ICONS_risk_POWER_USER_SEPARATOR_ICONS_rip_POWER_USER_SEPARATOR_ICONS_retail_POWER_USER_SEPARATOR_ICONS_rack_POWER_USER_SEPARATOR_ICONS_quake_POWER_USER_SEPARATOR_ICONS_preparedness_POWER_USER_SEPARATOR_ICONS_person_POWER_USER_SEPARATOR_ICONS_object_POWER_USER_SEPARATOR_ICONS_moving_POWER_USER_SEPARATOR_ICONS_shelf_POWER_USER_SEPARATOR_ICONS_stand_POWER_USER_SEPARATOR_ICONS_stockpile_POWER_USER_SEPARATOR_ICONS_pallets-load_POWER_USER_SEPARATOR_ICONS_manufacturers_POWER_USER_SEPARATOR_ICONS_wholesalers_POWER_USER_SEPARATOR_ICONS_watch-out_POWER_USER_SEPARATOR_ICONS_warning_POWER_USER_SEPARATOR_ICONS_warehouse_POWER_USER_SEPARATOR_ICONS_walkway_POWER_USER_SEPARATOR_ICONS_tremor_POWER_USER_SEPARATOR_ICONS_transport_POWER_USER_SEPARATOR_ICONS_temblor_POWER_USER_SEPARATOR_ICONS_store_POWER_USER_SEPARATOR_ICONS_storage_POWER_USER_SEPARATOR_ICONS_materials_POWER_USER_SEPARATOR_ICONS_loading_POWER_USER_SEPARATOR_ICONS_load_POWER_USER_SEPARATOR_ICONS_customs_POWER_USER_SEPARATOR_ICONS_crate_POWER_USER_SEPARATOR_ICONS_corridor_POWER_USER_SEPARATOR_ICONS_commercial_POWER_USER_SEPARATOR_ICONS_collapse_POWER_USER_SEPARATOR_ICONS_caution_POWER_USER_SEPARATOR_ICONS_carton_POWER_USER_SEPARATOR_ICONS_businesses_POWER_USER_SEPARATOR_ICONS_buildings_POWER_USER_SEPARATOR_ICONS_building_POWER_USER_SEPARATOR_ICONS_box_POWER_USER_SEPARATOR_ICONS_bin_POWER_USER_SEPARATOR_ICONS_danger_POWER_USER_SEPARATOR_ICONS_debris_POWER_USER_SEPARATOR_ICONS_lane_POWER_USER_SEPARATOR_ICONS_industry_POWER_USER_SEPARATOR_ICONS_importers_POWER_USER_SEPARATOR_ICONS_hazard_POWER_USER_SEPARATOR_ICONS_goods_POWER_USER_SEPARATOR_ICONS_falling_POWER_USER_SEPARATOR_ICONS_fall_POWER_USER_SEPARATOR_ICONS_exporters_POWER_USER_SEPARATOR_ICONS_display_POWER_USER_SEPARATOR_ICONS_disaster_POWER_USER_SEPARATOR_ICONS_destruction_POWER_USER_SEPARATOR_ICONS_depot_POWER_USER_SEPARATOR_ICONS_aisle"/>
</p:tagLst>
</file>

<file path=ppt/tags/tag159.xml><?xml version="1.0" encoding="utf-8"?>
<p:tagLst xmlns:a="http://schemas.openxmlformats.org/drawingml/2006/main" xmlns:r="http://schemas.openxmlformats.org/officeDocument/2006/relationships" xmlns:p="http://schemas.openxmlformats.org/presentationml/2006/main">
  <p:tag name="POWER_USER_TAGS_ICONS" val="falling-objects_POWER_USER_SEPARATOR_ICONS_shake_POWER_USER_SEPARATOR_ICONS_seismic_POWER_USER_SEPARATOR_ICONS_safety_POWER_USER_SEPARATOR_ICONS_risk_POWER_USER_SEPARATOR_ICONS_rip_POWER_USER_SEPARATOR_ICONS_retail_POWER_USER_SEPARATOR_ICONS_rack_POWER_USER_SEPARATOR_ICONS_quake_POWER_USER_SEPARATOR_ICONS_preparedness_POWER_USER_SEPARATOR_ICONS_person_POWER_USER_SEPARATOR_ICONS_object_POWER_USER_SEPARATOR_ICONS_moving_POWER_USER_SEPARATOR_ICONS_shelf_POWER_USER_SEPARATOR_ICONS_stand_POWER_USER_SEPARATOR_ICONS_stockpile_POWER_USER_SEPARATOR_ICONS_pallets-load_POWER_USER_SEPARATOR_ICONS_manufacturers_POWER_USER_SEPARATOR_ICONS_wholesalers_POWER_USER_SEPARATOR_ICONS_watch-out_POWER_USER_SEPARATOR_ICONS_warning_POWER_USER_SEPARATOR_ICONS_warehouse_POWER_USER_SEPARATOR_ICONS_walkway_POWER_USER_SEPARATOR_ICONS_tremor_POWER_USER_SEPARATOR_ICONS_transport_POWER_USER_SEPARATOR_ICONS_temblor_POWER_USER_SEPARATOR_ICONS_store_POWER_USER_SEPARATOR_ICONS_storage_POWER_USER_SEPARATOR_ICONS_materials_POWER_USER_SEPARATOR_ICONS_loading_POWER_USER_SEPARATOR_ICONS_load_POWER_USER_SEPARATOR_ICONS_customs_POWER_USER_SEPARATOR_ICONS_crate_POWER_USER_SEPARATOR_ICONS_corridor_POWER_USER_SEPARATOR_ICONS_commercial_POWER_USER_SEPARATOR_ICONS_collapse_POWER_USER_SEPARATOR_ICONS_caution_POWER_USER_SEPARATOR_ICONS_carton_POWER_USER_SEPARATOR_ICONS_businesses_POWER_USER_SEPARATOR_ICONS_buildings_POWER_USER_SEPARATOR_ICONS_building_POWER_USER_SEPARATOR_ICONS_box_POWER_USER_SEPARATOR_ICONS_bin_POWER_USER_SEPARATOR_ICONS_danger_POWER_USER_SEPARATOR_ICONS_debris_POWER_USER_SEPARATOR_ICONS_lane_POWER_USER_SEPARATOR_ICONS_industry_POWER_USER_SEPARATOR_ICONS_importers_POWER_USER_SEPARATOR_ICONS_hazard_POWER_USER_SEPARATOR_ICONS_goods_POWER_USER_SEPARATOR_ICONS_falling_POWER_USER_SEPARATOR_ICONS_fall_POWER_USER_SEPARATOR_ICONS_exporters_POWER_USER_SEPARATOR_ICONS_display_POWER_USER_SEPARATOR_ICONS_disaster_POWER_USER_SEPARATOR_ICONS_destruction_POWER_USER_SEPARATOR_ICONS_depot_POWER_USER_SEPARATOR_ICONS_aisle"/>
</p:tagLst>
</file>

<file path=ppt/tags/tag160.xml><?xml version="1.0" encoding="utf-8"?>
<p:tagLst xmlns:a="http://schemas.openxmlformats.org/drawingml/2006/main" xmlns:r="http://schemas.openxmlformats.org/officeDocument/2006/relationships" xmlns:p="http://schemas.openxmlformats.org/presentationml/2006/main">
  <p:tag name="POWER_USER_TAGS_ICONS" val="falling-objects_POWER_USER_SEPARATOR_ICONS_shake_POWER_USER_SEPARATOR_ICONS_seismic_POWER_USER_SEPARATOR_ICONS_safety_POWER_USER_SEPARATOR_ICONS_risk_POWER_USER_SEPARATOR_ICONS_rip_POWER_USER_SEPARATOR_ICONS_retail_POWER_USER_SEPARATOR_ICONS_rack_POWER_USER_SEPARATOR_ICONS_quake_POWER_USER_SEPARATOR_ICONS_preparedness_POWER_USER_SEPARATOR_ICONS_person_POWER_USER_SEPARATOR_ICONS_object_POWER_USER_SEPARATOR_ICONS_moving_POWER_USER_SEPARATOR_ICONS_shelf_POWER_USER_SEPARATOR_ICONS_stand_POWER_USER_SEPARATOR_ICONS_stockpile_POWER_USER_SEPARATOR_ICONS_pallets-load_POWER_USER_SEPARATOR_ICONS_manufacturers_POWER_USER_SEPARATOR_ICONS_wholesalers_POWER_USER_SEPARATOR_ICONS_watch-out_POWER_USER_SEPARATOR_ICONS_warning_POWER_USER_SEPARATOR_ICONS_warehouse_POWER_USER_SEPARATOR_ICONS_walkway_POWER_USER_SEPARATOR_ICONS_tremor_POWER_USER_SEPARATOR_ICONS_transport_POWER_USER_SEPARATOR_ICONS_temblor_POWER_USER_SEPARATOR_ICONS_store_POWER_USER_SEPARATOR_ICONS_storage_POWER_USER_SEPARATOR_ICONS_materials_POWER_USER_SEPARATOR_ICONS_loading_POWER_USER_SEPARATOR_ICONS_load_POWER_USER_SEPARATOR_ICONS_customs_POWER_USER_SEPARATOR_ICONS_crate_POWER_USER_SEPARATOR_ICONS_corridor_POWER_USER_SEPARATOR_ICONS_commercial_POWER_USER_SEPARATOR_ICONS_collapse_POWER_USER_SEPARATOR_ICONS_caution_POWER_USER_SEPARATOR_ICONS_carton_POWER_USER_SEPARATOR_ICONS_businesses_POWER_USER_SEPARATOR_ICONS_buildings_POWER_USER_SEPARATOR_ICONS_building_POWER_USER_SEPARATOR_ICONS_box_POWER_USER_SEPARATOR_ICONS_bin_POWER_USER_SEPARATOR_ICONS_danger_POWER_USER_SEPARATOR_ICONS_debris_POWER_USER_SEPARATOR_ICONS_lane_POWER_USER_SEPARATOR_ICONS_industry_POWER_USER_SEPARATOR_ICONS_importers_POWER_USER_SEPARATOR_ICONS_hazard_POWER_USER_SEPARATOR_ICONS_goods_POWER_USER_SEPARATOR_ICONS_falling_POWER_USER_SEPARATOR_ICONS_fall_POWER_USER_SEPARATOR_ICONS_exporters_POWER_USER_SEPARATOR_ICONS_display_POWER_USER_SEPARATOR_ICONS_disaster_POWER_USER_SEPARATOR_ICONS_destruction_POWER_USER_SEPARATOR_ICONS_depot_POWER_USER_SEPARATOR_ICONS_aisle"/>
</p:tagLst>
</file>

<file path=ppt/tags/tag161.xml><?xml version="1.0" encoding="utf-8"?>
<p:tagLst xmlns:a="http://schemas.openxmlformats.org/drawingml/2006/main" xmlns:r="http://schemas.openxmlformats.org/officeDocument/2006/relationships" xmlns:p="http://schemas.openxmlformats.org/presentationml/2006/main">
  <p:tag name="POWER_USER_TAGS_ICONS" val="falling-objects_POWER_USER_SEPARATOR_ICONS_shake_POWER_USER_SEPARATOR_ICONS_seismic_POWER_USER_SEPARATOR_ICONS_safety_POWER_USER_SEPARATOR_ICONS_risk_POWER_USER_SEPARATOR_ICONS_rip_POWER_USER_SEPARATOR_ICONS_retail_POWER_USER_SEPARATOR_ICONS_rack_POWER_USER_SEPARATOR_ICONS_quake_POWER_USER_SEPARATOR_ICONS_preparedness_POWER_USER_SEPARATOR_ICONS_person_POWER_USER_SEPARATOR_ICONS_object_POWER_USER_SEPARATOR_ICONS_moving_POWER_USER_SEPARATOR_ICONS_shelf_POWER_USER_SEPARATOR_ICONS_stand_POWER_USER_SEPARATOR_ICONS_stockpile_POWER_USER_SEPARATOR_ICONS_pallets-load_POWER_USER_SEPARATOR_ICONS_manufacturers_POWER_USER_SEPARATOR_ICONS_wholesalers_POWER_USER_SEPARATOR_ICONS_watch-out_POWER_USER_SEPARATOR_ICONS_warning_POWER_USER_SEPARATOR_ICONS_warehouse_POWER_USER_SEPARATOR_ICONS_walkway_POWER_USER_SEPARATOR_ICONS_tremor_POWER_USER_SEPARATOR_ICONS_transport_POWER_USER_SEPARATOR_ICONS_temblor_POWER_USER_SEPARATOR_ICONS_store_POWER_USER_SEPARATOR_ICONS_storage_POWER_USER_SEPARATOR_ICONS_materials_POWER_USER_SEPARATOR_ICONS_loading_POWER_USER_SEPARATOR_ICONS_load_POWER_USER_SEPARATOR_ICONS_customs_POWER_USER_SEPARATOR_ICONS_crate_POWER_USER_SEPARATOR_ICONS_corridor_POWER_USER_SEPARATOR_ICONS_commercial_POWER_USER_SEPARATOR_ICONS_collapse_POWER_USER_SEPARATOR_ICONS_caution_POWER_USER_SEPARATOR_ICONS_carton_POWER_USER_SEPARATOR_ICONS_businesses_POWER_USER_SEPARATOR_ICONS_buildings_POWER_USER_SEPARATOR_ICONS_building_POWER_USER_SEPARATOR_ICONS_box_POWER_USER_SEPARATOR_ICONS_bin_POWER_USER_SEPARATOR_ICONS_danger_POWER_USER_SEPARATOR_ICONS_debris_POWER_USER_SEPARATOR_ICONS_lane_POWER_USER_SEPARATOR_ICONS_industry_POWER_USER_SEPARATOR_ICONS_importers_POWER_USER_SEPARATOR_ICONS_hazard_POWER_USER_SEPARATOR_ICONS_goods_POWER_USER_SEPARATOR_ICONS_falling_POWER_USER_SEPARATOR_ICONS_fall_POWER_USER_SEPARATOR_ICONS_exporters_POWER_USER_SEPARATOR_ICONS_display_POWER_USER_SEPARATOR_ICONS_disaster_POWER_USER_SEPARATOR_ICONS_destruction_POWER_USER_SEPARATOR_ICONS_depot_POWER_USER_SEPARATOR_ICONS_aisle"/>
</p:tagLst>
</file>

<file path=ppt/tags/tag162.xml><?xml version="1.0" encoding="utf-8"?>
<p:tagLst xmlns:a="http://schemas.openxmlformats.org/drawingml/2006/main" xmlns:r="http://schemas.openxmlformats.org/officeDocument/2006/relationships" xmlns:p="http://schemas.openxmlformats.org/presentationml/2006/main">
  <p:tag name="POWER_USER_TAGS_ICONS" val="algorythm_POWER_USER_SEPARATOR_ICONS_data_POWER_USER_SEPARATOR_ICONS_math_POWER_USER_SEPARATOR_ICONS_numbers_POWER_USER_SEPARATOR_ICONS_open-data"/>
</p:tagLst>
</file>

<file path=ppt/tags/tag163.xml><?xml version="1.0" encoding="utf-8"?>
<p:tagLst xmlns:a="http://schemas.openxmlformats.org/drawingml/2006/main" xmlns:r="http://schemas.openxmlformats.org/officeDocument/2006/relationships" xmlns:p="http://schemas.openxmlformats.org/presentationml/2006/main">
  <p:tag name="POWER_USER_TAGS_ICONS" val="algorythm_POWER_USER_SEPARATOR_ICONS_data_POWER_USER_SEPARATOR_ICONS_math_POWER_USER_SEPARATOR_ICONS_numbers_POWER_USER_SEPARATOR_ICONS_open-data"/>
</p:tagLst>
</file>

<file path=ppt/tags/tag164.xml><?xml version="1.0" encoding="utf-8"?>
<p:tagLst xmlns:a="http://schemas.openxmlformats.org/drawingml/2006/main" xmlns:r="http://schemas.openxmlformats.org/officeDocument/2006/relationships" xmlns:p="http://schemas.openxmlformats.org/presentationml/2006/main">
  <p:tag name="POWER_USER_TAGS_ICONS" val="algorythm_POWER_USER_SEPARATOR_ICONS_data_POWER_USER_SEPARATOR_ICONS_math_POWER_USER_SEPARATOR_ICONS_numbers_POWER_USER_SEPARATOR_ICONS_open-data"/>
</p:tagLst>
</file>

<file path=ppt/tags/tag165.xml><?xml version="1.0" encoding="utf-8"?>
<p:tagLst xmlns:a="http://schemas.openxmlformats.org/drawingml/2006/main" xmlns:r="http://schemas.openxmlformats.org/officeDocument/2006/relationships" xmlns:p="http://schemas.openxmlformats.org/presentationml/2006/main">
  <p:tag name="POWER_USER_TAGS_ICONS" val="algorythm_POWER_USER_SEPARATOR_ICONS_data_POWER_USER_SEPARATOR_ICONS_math_POWER_USER_SEPARATOR_ICONS_numbers_POWER_USER_SEPARATOR_ICONS_open-data"/>
</p:tagLst>
</file>

<file path=ppt/tags/tag166.xml><?xml version="1.0" encoding="utf-8"?>
<p:tagLst xmlns:a="http://schemas.openxmlformats.org/drawingml/2006/main" xmlns:r="http://schemas.openxmlformats.org/officeDocument/2006/relationships" xmlns:p="http://schemas.openxmlformats.org/presentationml/2006/main">
  <p:tag name="POWER_USER_TAGS_ICONS" val="algorythm_POWER_USER_SEPARATOR_ICONS_data_POWER_USER_SEPARATOR_ICONS_math_POWER_USER_SEPARATOR_ICONS_numbers_POWER_USER_SEPARATOR_ICONS_open-data"/>
</p:tagLst>
</file>

<file path=ppt/tags/tag167.xml><?xml version="1.0" encoding="utf-8"?>
<p:tagLst xmlns:a="http://schemas.openxmlformats.org/drawingml/2006/main" xmlns:r="http://schemas.openxmlformats.org/officeDocument/2006/relationships" xmlns:p="http://schemas.openxmlformats.org/presentationml/2006/main">
  <p:tag name="POWER_USER_TAGS_ICONS" val="algorythm_POWER_USER_SEPARATOR_ICONS_data_POWER_USER_SEPARATOR_ICONS_math_POWER_USER_SEPARATOR_ICONS_numbers_POWER_USER_SEPARATOR_ICONS_open-data"/>
</p:tagLst>
</file>

<file path=ppt/tags/tag168.xml><?xml version="1.0" encoding="utf-8"?>
<p:tagLst xmlns:a="http://schemas.openxmlformats.org/drawingml/2006/main" xmlns:r="http://schemas.openxmlformats.org/officeDocument/2006/relationships" xmlns:p="http://schemas.openxmlformats.org/presentationml/2006/main">
  <p:tag name="POWER_USER_TAGS_ICONS" val="algorythm_POWER_USER_SEPARATOR_ICONS_data_POWER_USER_SEPARATOR_ICONS_math_POWER_USER_SEPARATOR_ICONS_numbers_POWER_USER_SEPARATOR_ICONS_open-data"/>
</p:tagLst>
</file>

<file path=ppt/tags/tag169.xml><?xml version="1.0" encoding="utf-8"?>
<p:tagLst xmlns:a="http://schemas.openxmlformats.org/drawingml/2006/main" xmlns:r="http://schemas.openxmlformats.org/officeDocument/2006/relationships" xmlns:p="http://schemas.openxmlformats.org/presentationml/2006/main">
  <p:tag name="POWER_USER_TAGS_ICONS" val="algorythm_POWER_USER_SEPARATOR_ICONS_data_POWER_USER_SEPARATOR_ICONS_math_POWER_USER_SEPARATOR_ICONS_numbers_POWER_USER_SEPARATOR_ICONS_open-data"/>
</p:tagLst>
</file>

<file path=ppt/tags/tag170.xml><?xml version="1.0" encoding="utf-8"?>
<p:tagLst xmlns:a="http://schemas.openxmlformats.org/drawingml/2006/main" xmlns:r="http://schemas.openxmlformats.org/officeDocument/2006/relationships" xmlns:p="http://schemas.openxmlformats.org/presentationml/2006/main">
  <p:tag name="POWER_USER_TAGS_ICONS" val="algorythm_POWER_USER_SEPARATOR_ICONS_data_POWER_USER_SEPARATOR_ICONS_math_POWER_USER_SEPARATOR_ICONS_numbers_POWER_USER_SEPARATOR_ICONS_open-data"/>
</p:tagLst>
</file>

<file path=ppt/tags/tag171.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1"/>
</p:tagLst>
</file>

<file path=ppt/tags/tag172.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2"/>
</p:tagLst>
</file>

<file path=ppt/tags/tag173.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3"/>
</p:tagLst>
</file>

<file path=ppt/tags/tag174.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4"/>
</p:tagLst>
</file>

<file path=ppt/tags/tag175.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5"/>
</p:tagLst>
</file>

<file path=ppt/tags/tag176.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6"/>
</p:tagLst>
</file>

<file path=ppt/tags/tag177.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7"/>
</p:tagLst>
</file>

<file path=ppt/tags/tag178.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8"/>
</p:tagLst>
</file>

<file path=ppt/tags/tag179.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9"/>
</p:tagLst>
</file>

<file path=ppt/tags/tag180.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10"/>
</p:tagLst>
</file>

<file path=ppt/tags/tag181.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11"/>
</p:tagLst>
</file>

<file path=ppt/tags/tag182.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12"/>
</p:tagLst>
</file>

<file path=ppt/tags/tag183.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13"/>
</p:tagLst>
</file>

<file path=ppt/tags/tag184.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14"/>
</p:tagLst>
</file>

<file path=ppt/tags/tag185.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15"/>
</p:tagLst>
</file>

<file path=ppt/tags/tag186.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16"/>
</p:tagLst>
</file>

<file path=ppt/tags/tag187.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17"/>
</p:tagLst>
</file>

<file path=ppt/tags/tag188.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18"/>
</p:tagLst>
</file>

<file path=ppt/tags/tag189.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19"/>
</p:tagLst>
</file>

<file path=ppt/tags/tag190.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20"/>
</p:tagLst>
</file>

<file path=ppt/tags/tag191.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21"/>
</p:tagLst>
</file>

<file path=ppt/tags/tag192.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22"/>
</p:tagLst>
</file>

<file path=ppt/tags/tag193.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23"/>
</p:tagLst>
</file>

<file path=ppt/tags/tag194.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24"/>
</p:tagLst>
</file>

<file path=ppt/tags/tag195.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25"/>
</p:tagLst>
</file>

<file path=ppt/tags/tag196.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26"/>
</p:tagLst>
</file>

<file path=ppt/tags/tag197.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27"/>
</p:tagLst>
</file>

<file path=ppt/tags/tag198.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28"/>
</p:tagLst>
</file>

<file path=ppt/tags/tag199.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29"/>
</p:tagLst>
</file>

<file path=ppt/tags/tag200.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30"/>
</p:tagLst>
</file>

<file path=ppt/tags/tag201.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31"/>
</p:tagLst>
</file>

<file path=ppt/tags/tag202.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32"/>
</p:tagLst>
</file>

<file path=ppt/tags/tag203.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33"/>
</p:tagLst>
</file>

<file path=ppt/tags/tag204.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34"/>
</p:tagLst>
</file>

<file path=ppt/tags/tag205.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35"/>
</p:tagLst>
</file>

<file path=ppt/tags/tag206.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36"/>
</p:tagLst>
</file>

<file path=ppt/tags/tag207.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37"/>
</p:tagLst>
</file>

<file path=ppt/tags/tag208.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38"/>
</p:tagLst>
</file>

<file path=ppt/tags/tag209.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39"/>
</p:tagLst>
</file>

<file path=ppt/tags/tag210.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40"/>
</p:tagLst>
</file>

<file path=ppt/tags/tag211.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41"/>
</p:tagLst>
</file>

<file path=ppt/tags/tag212.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42"/>
</p:tagLst>
</file>

<file path=ppt/tags/tag213.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43"/>
</p:tagLst>
</file>

<file path=ppt/tags/tag214.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44"/>
</p:tagLst>
</file>

<file path=ppt/tags/tag215.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45"/>
</p:tagLst>
</file>

<file path=ppt/tags/tag216.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46"/>
</p:tagLst>
</file>

<file path=ppt/tags/tag217.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47"/>
</p:tagLst>
</file>

<file path=ppt/tags/tag218.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48"/>
</p:tagLst>
</file>

<file path=ppt/tags/tag219.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49"/>
</p:tagLst>
</file>

<file path=ppt/tags/tag220.xml><?xml version="1.0" encoding="utf-8"?>
<p:tagLst xmlns:a="http://schemas.openxmlformats.org/drawingml/2006/main" xmlns:r="http://schemas.openxmlformats.org/officeDocument/2006/relationships" xmlns:p="http://schemas.openxmlformats.org/presentationml/2006/main">
  <p:tag name="POWER_USER_DIAGRAM_CIRCULAR_ARROW_KEY" val="POWER_USER_DIAGRAM_CIRCULAR_ARROW_VALUE_50"/>
</p:tagLst>
</file>

<file path=ppt/tags/tag221.xml><?xml version="1.0" encoding="utf-8"?>
<p:tagLst xmlns:a="http://schemas.openxmlformats.org/drawingml/2006/main" xmlns:r="http://schemas.openxmlformats.org/officeDocument/2006/relationships" xmlns:p="http://schemas.openxmlformats.org/presentationml/2006/main">
  <p:tag name="POWER_USER_ID_TEMPLATES" val="Split_slide_10"/>
</p:tagLst>
</file>

<file path=ppt/tags/tag222.xml><?xml version="1.0" encoding="utf-8"?>
<p:tagLst xmlns:a="http://schemas.openxmlformats.org/drawingml/2006/main" xmlns:r="http://schemas.openxmlformats.org/officeDocument/2006/relationships" xmlns:p="http://schemas.openxmlformats.org/presentationml/2006/main">
  <p:tag name="POWER_USER_ID_TEMPLATES" val="Split_slide_10"/>
</p:tagLst>
</file>

<file path=ppt/tags/tag223.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24.xml><?xml version="1.0" encoding="utf-8"?>
<p:tagLst xmlns:a="http://schemas.openxmlformats.org/drawingml/2006/main" xmlns:r="http://schemas.openxmlformats.org/officeDocument/2006/relationships" xmlns:p="http://schemas.openxmlformats.org/presentationml/2006/main">
  <p:tag name="POWER_USER_TAGS_ICONS" val="presentation board*board*business*business presentation*presentation chart*performance*people*slides*sales*profitability*profits*analytics*results*progress"/>
</p:tagLst>
</file>

<file path=ppt/tags/tag225.xml><?xml version="1.0" encoding="utf-8"?>
<p:tagLst xmlns:a="http://schemas.openxmlformats.org/drawingml/2006/main" xmlns:r="http://schemas.openxmlformats.org/officeDocument/2006/relationships" xmlns:p="http://schemas.openxmlformats.org/presentationml/2006/main">
  <p:tag name="POWER_USER_TAGS_ICONS" val="presentation board*board*business*business presentation*presentation chart*performance*people*slides*sales*profitability*profits*analytics*results*progress"/>
</p:tagLst>
</file>

<file path=ppt/tags/tag226.xml><?xml version="1.0" encoding="utf-8"?>
<p:tagLst xmlns:a="http://schemas.openxmlformats.org/drawingml/2006/main" xmlns:r="http://schemas.openxmlformats.org/officeDocument/2006/relationships" xmlns:p="http://schemas.openxmlformats.org/presentationml/2006/main">
  <p:tag name="POWER_USER_TAGS_ICONS" val="presentation board*board*business*business presentation*presentation chart*performance*people*slides*sales*profitability*profits*analytics*results*progress"/>
</p:tagLst>
</file>

<file path=ppt/tags/tag227.xml><?xml version="1.0" encoding="utf-8"?>
<p:tagLst xmlns:a="http://schemas.openxmlformats.org/drawingml/2006/main" xmlns:r="http://schemas.openxmlformats.org/officeDocument/2006/relationships" xmlns:p="http://schemas.openxmlformats.org/presentationml/2006/main">
  <p:tag name="POWER_USER_TAGS_ICONS" val="presentation board*board*business*business presentation*presentation chart*performance*people*slides*sales*profitability*profits*analytics*results*progress"/>
</p:tagLst>
</file>

<file path=ppt/tags/tag228.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29.xml><?xml version="1.0" encoding="utf-8"?>
<p:tagLst xmlns:a="http://schemas.openxmlformats.org/drawingml/2006/main" xmlns:r="http://schemas.openxmlformats.org/officeDocument/2006/relationships" xmlns:p="http://schemas.openxmlformats.org/presentationml/2006/main">
  <p:tag name="POWER_USER_TAGS_ICONS" val="presentation board*board*business*business presentation*presentation chart*performance*people*slides*sales*profitability*profits*analytics*results*progress"/>
</p:tagLst>
</file>

<file path=ppt/tags/tag230.xml><?xml version="1.0" encoding="utf-8"?>
<p:tagLst xmlns:a="http://schemas.openxmlformats.org/drawingml/2006/main" xmlns:r="http://schemas.openxmlformats.org/officeDocument/2006/relationships" xmlns:p="http://schemas.openxmlformats.org/presentationml/2006/main">
  <p:tag name="POWER_USER_TAGS_ICONS" val="presentation board*board*business*business presentation*presentation chart*performance*people*slides*sales*profitability*profits*analytics*results*progress"/>
</p:tagLst>
</file>

<file path=ppt/tags/tag231.xml><?xml version="1.0" encoding="utf-8"?>
<p:tagLst xmlns:a="http://schemas.openxmlformats.org/drawingml/2006/main" xmlns:r="http://schemas.openxmlformats.org/officeDocument/2006/relationships" xmlns:p="http://schemas.openxmlformats.org/presentationml/2006/main">
  <p:tag name="POWER_USER_TAGS_ICONS" val="presentation board*board*business*business presentation*presentation chart*performance*people*slides*sales*profitability*profits*analytics*results*progress"/>
</p:tagLst>
</file>

<file path=ppt/tags/tag232.xml><?xml version="1.0" encoding="utf-8"?>
<p:tagLst xmlns:a="http://schemas.openxmlformats.org/drawingml/2006/main" xmlns:r="http://schemas.openxmlformats.org/officeDocument/2006/relationships" xmlns:p="http://schemas.openxmlformats.org/presentationml/2006/main">
  <p:tag name="POWER_USER_TAGS_ICONS" val="presentation board*board*business*business presentation*presentation chart*performance*people*slides*sales*profitability*profits*analytics*results*progress"/>
</p:tagLst>
</file>

<file path=ppt/tags/tag233.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34.xml><?xml version="1.0" encoding="utf-8"?>
<p:tagLst xmlns:a="http://schemas.openxmlformats.org/drawingml/2006/main" xmlns:r="http://schemas.openxmlformats.org/officeDocument/2006/relationships" xmlns:p="http://schemas.openxmlformats.org/presentationml/2006/main">
  <p:tag name="POWER_USER_TAGS_ICONS" val="presentation board*board*business*business presentation*presentation chart*performance*people*slides*sales*profitability*profits*analytics*results*progress"/>
</p:tagLst>
</file>

<file path=ppt/tags/tag235.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36.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37.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238.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39.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240.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241.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242.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243.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244.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245.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246.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247.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248.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249.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250.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251.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heme/theme1.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2.xml><?xml version="1.0" encoding="utf-8"?>
<a:theme xmlns:a="http://schemas.openxmlformats.org/drawingml/2006/main" name="Cover options_Section">
  <a:themeElements>
    <a:clrScheme name="Capgemini NEW">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1" id="{18B0FA0E-52BA-4F3F-B2FD-88B4C8061DF8}" vid="{B5884A08-8118-4F4B-BE23-42A2365375DD}"/>
    </a:ext>
  </a:extLst>
</a:theme>
</file>

<file path=ppt/theme/theme3.xml><?xml version="1.0" encoding="utf-8"?>
<a:theme xmlns:a="http://schemas.openxmlformats.org/drawingml/2006/main" name="Capgemini Master 2021">
  <a:themeElements>
    <a:clrScheme name="Custom 13">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FFFFFF"/>
      </a:hlink>
      <a:folHlink>
        <a:srgbClr val="FFFFFF"/>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4.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5.xml><?xml version="1.0" encoding="utf-8"?>
<a:theme xmlns:a="http://schemas.openxmlformats.org/drawingml/2006/main" name="1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6.xml><?xml version="1.0" encoding="utf-8"?>
<a:theme xmlns:a="http://schemas.openxmlformats.org/drawingml/2006/main" name="2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7.xml><?xml version="1.0" encoding="utf-8"?>
<a:theme xmlns:a="http://schemas.openxmlformats.org/drawingml/2006/main" name="Tema do Offic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ppt/theme/themeOverride2.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1495FEC1CD6F941B8BE3B537DCFC6FF" ma:contentTypeVersion="10" ma:contentTypeDescription="Create a new document." ma:contentTypeScope="" ma:versionID="805d48f03e7bb9e76b8d1388c8b0147f">
  <xsd:schema xmlns:xsd="http://www.w3.org/2001/XMLSchema" xmlns:xs="http://www.w3.org/2001/XMLSchema" xmlns:p="http://schemas.microsoft.com/office/2006/metadata/properties" xmlns:ns2="e2f04ce6-5625-4773-b511-ff6e32fd78d6" xmlns:ns3="886d0db5-4d18-497d-97ce-51cb0d7fa060" targetNamespace="http://schemas.microsoft.com/office/2006/metadata/properties" ma:root="true" ma:fieldsID="9b0fc5e66fd61b7e8c1014ca482dcaef" ns2:_="" ns3:_="">
    <xsd:import namespace="e2f04ce6-5625-4773-b511-ff6e32fd78d6"/>
    <xsd:import namespace="886d0db5-4d18-497d-97ce-51cb0d7fa0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f04ce6-5625-4773-b511-ff6e32fd78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86d0db5-4d18-497d-97ce-51cb0d7fa06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3B09ECE-D1C0-42A5-B69E-8C88764DB9F3}">
  <ds:schemaRefs>
    <ds:schemaRef ds:uri="http://schemas.microsoft.com/sharepoint/v3/contenttype/forms"/>
  </ds:schemaRefs>
</ds:datastoreItem>
</file>

<file path=customXml/itemProps2.xml><?xml version="1.0" encoding="utf-8"?>
<ds:datastoreItem xmlns:ds="http://schemas.openxmlformats.org/officeDocument/2006/customXml" ds:itemID="{8765F6DA-EDFD-4C3F-B2EB-EDE359E124E2}">
  <ds:schemaRefs>
    <ds:schemaRef ds:uri="http://purl.org/dc/elements/1.1/"/>
    <ds:schemaRef ds:uri="http://purl.org/dc/terms/"/>
    <ds:schemaRef ds:uri="e2f04ce6-5625-4773-b511-ff6e32fd78d6"/>
    <ds:schemaRef ds:uri="http://www.w3.org/XML/1998/namespace"/>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886d0db5-4d18-497d-97ce-51cb0d7fa060"/>
    <ds:schemaRef ds:uri="http://schemas.microsoft.com/office/2006/metadata/properties"/>
  </ds:schemaRefs>
</ds:datastoreItem>
</file>

<file path=customXml/itemProps3.xml><?xml version="1.0" encoding="utf-8"?>
<ds:datastoreItem xmlns:ds="http://schemas.openxmlformats.org/officeDocument/2006/customXml" ds:itemID="{1DCE537F-0359-4621-91A3-3126AFEF555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2f04ce6-5625-4773-b511-ff6e32fd78d6"/>
    <ds:schemaRef ds:uri="886d0db5-4d18-497d-97ce-51cb0d7fa0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760c494-6550-44b4-8258-77c175d778b7}"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ppt-Capgemini_MasterTemplate</Template>
  <TotalTime>0</TotalTime>
  <Words>5085</Words>
  <Application>Microsoft Office PowerPoint</Application>
  <PresentationFormat>Widescreen</PresentationFormat>
  <Paragraphs>1012</Paragraphs>
  <Slides>33</Slides>
  <Notes>14</Notes>
  <HiddenSlides>1</HiddenSlides>
  <MMClips>0</MMClips>
  <ScaleCrop>false</ScaleCrop>
  <HeadingPairs>
    <vt:vector size="8" baseType="variant">
      <vt:variant>
        <vt:lpstr>Fonts Used</vt:lpstr>
      </vt:variant>
      <vt:variant>
        <vt:i4>11</vt:i4>
      </vt:variant>
      <vt:variant>
        <vt:lpstr>Theme</vt:lpstr>
      </vt:variant>
      <vt:variant>
        <vt:i4>6</vt:i4>
      </vt:variant>
      <vt:variant>
        <vt:lpstr>Embedded OLE Servers</vt:lpstr>
      </vt:variant>
      <vt:variant>
        <vt:i4>1</vt:i4>
      </vt:variant>
      <vt:variant>
        <vt:lpstr>Slide Titles</vt:lpstr>
      </vt:variant>
      <vt:variant>
        <vt:i4>33</vt:i4>
      </vt:variant>
    </vt:vector>
  </HeadingPairs>
  <TitlesOfParts>
    <vt:vector size="51" baseType="lpstr">
      <vt:lpstr>Courier New</vt:lpstr>
      <vt:lpstr>Calibri</vt:lpstr>
      <vt:lpstr>Ubuntu</vt:lpstr>
      <vt:lpstr>Arial</vt:lpstr>
      <vt:lpstr>Arial Narrow</vt:lpstr>
      <vt:lpstr>Ubuntu Light</vt:lpstr>
      <vt:lpstr>Wingdings</vt:lpstr>
      <vt:lpstr>Verdana</vt:lpstr>
      <vt:lpstr>Ubuntu Medium</vt:lpstr>
      <vt:lpstr>Trebuchet MS</vt:lpstr>
      <vt:lpstr>Franklin Gothic Medium</vt:lpstr>
      <vt:lpstr>Capgemini Master 2021</vt:lpstr>
      <vt:lpstr>Cover options_Section</vt:lpstr>
      <vt:lpstr>Capgemini Master 2021</vt:lpstr>
      <vt:lpstr>Capgemini Master 2021</vt:lpstr>
      <vt:lpstr>1_Capgemini Master 2021</vt:lpstr>
      <vt:lpstr>2_Capgemini Master 2021</vt:lpstr>
      <vt:lpstr>think-cell Slide</vt:lpstr>
      <vt:lpstr>METHODOLOGY INTRO &amp; HANDSHAKE MATERIAL FOR BEAZLEY SME gpas &amp; billing PROGRAM</vt:lpstr>
      <vt:lpstr>Topics</vt:lpstr>
      <vt:lpstr>PowerPoint Presentation</vt:lpstr>
      <vt:lpstr>Remote Inception - Workshop Guidelines</vt:lpstr>
      <vt:lpstr>PowerPoint Presentation</vt:lpstr>
      <vt:lpstr>Waterfall Vs Agile Delivery</vt:lpstr>
      <vt:lpstr>What is the purpose of  our Agile journey?</vt:lpstr>
      <vt:lpstr>Our Agile evolution will require new ways of working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subject>Capgemini template</dc:subject>
  <dc:creator>Patel, Chetali</dc:creator>
  <cp:lastModifiedBy>Guttula, Rupesh</cp:lastModifiedBy>
  <cp:revision>1</cp:revision>
  <cp:lastPrinted>2024-03-13T11:11:59Z</cp:lastPrinted>
  <dcterms:created xsi:type="dcterms:W3CDTF">2021-06-03T11:11:51Z</dcterms:created>
  <dcterms:modified xsi:type="dcterms:W3CDTF">2026-02-11T13:17:44Z</dcterms:modified>
  <cp:category>Company Confidential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0x01010021495FEC1CD6F941B8BE3B537DCFC6FF</vt:lpwstr>
  </property>
</Properties>
</file>