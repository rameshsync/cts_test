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987" r:id="rId4"/>
  </p:sldMasterIdLst>
  <p:notesMasterIdLst>
    <p:notesMasterId r:id="rId12"/>
  </p:notesMasterIdLst>
  <p:handoutMasterIdLst>
    <p:handoutMasterId r:id="rId13"/>
  </p:handoutMasterIdLst>
  <p:sldIdLst>
    <p:sldId id="261" r:id="rId5"/>
    <p:sldId id="256" r:id="rId6"/>
    <p:sldId id="259" r:id="rId7"/>
    <p:sldId id="262" r:id="rId8"/>
    <p:sldId id="260" r:id="rId9"/>
    <p:sldId id="258" r:id="rId10"/>
    <p:sldId id="263" r:id="rId11"/>
  </p:sldIdLst>
  <p:sldSz cx="12192000" cy="6858000"/>
  <p:notesSz cx="7102475" cy="9388475"/>
  <p:embeddedFontLst>
    <p:embeddedFont>
      <p:font typeface="Ubuntu" panose="020B0504030602030204" pitchFamily="34" charset="0"/>
      <p:regular r:id="rId14"/>
      <p:bold r:id="rId15"/>
      <p:italic r:id="rId16"/>
      <p:boldItalic r:id="rId17"/>
    </p:embeddedFont>
    <p:embeddedFont>
      <p:font typeface="Ubuntu Light" panose="020B0304030602030204" pitchFamily="34" charset="0"/>
      <p:regular r:id="rId18"/>
      <p:italic r:id="rId19"/>
    </p:embeddedFont>
    <p:embeddedFont>
      <p:font typeface="Ubuntu Medium" panose="020B0604030602030204" pitchFamily="34" charset="0"/>
      <p:regular r:id="rId20"/>
      <p:italic r:id="rId21"/>
    </p:embeddedFont>
  </p:embeddedFontLst>
  <p:custDataLst>
    <p:tags r:id="rId22"/>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5" orient="horz" pos="2341" userDrawn="1">
          <p15:clr>
            <a:srgbClr val="A4A3A4"/>
          </p15:clr>
        </p15:guide>
        <p15:guide id="6"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8D89013-1F79-7C13-AB1D-E92512C5F528}" name="Punater, Neha" initials="NP" userId="S::neha.punater@capgemini.com::7fdf1085-8620-4caf-bb7a-15412695f676" providerId="AD"/>
  <p188:author id="{90319060-4939-D80E-9BE9-AE8D26014A1C}" name="Gandhi, Trupti" initials="GT" userId="S::trupti.gandhi@capgemini.com::61e9298c-0163-447e-86ea-350e8cfe3bb6" providerId="AD"/>
  <p188:author id="{1611A7B7-47E3-50A1-4FC3-FE155310246F}" name="BAILLET, Thomas" initials="BT" userId="BAILLET, Thomas" providerId="None"/>
  <p188:author id="{9BFC03B9-D57B-1857-DF90-46E7859AB4A1}" name="Hood, Andrew" initials="" userId="S::andrew.hood@capgemini.com::7676d3ad-5062-457b-81cb-4f9b311a2f9a" providerId="AD"/>
  <p188:author id="{C2E128CC-6D78-C018-02A7-208E657D0C5F}" name="Roy, Sharodiya" initials="SR" userId="S::sharodiya.roy@capgemini.com::f15d6628-c68c-4713-bef8-da418ade9834" providerId="AD"/>
  <p188:author id="{5365D1F3-7EBB-A94C-264C-72DD3737F076}" name="Campos, Ian" initials="IC" userId="S::ian.campos@capgemini.com::09dfe386-f030-40b0-8513-0fcef1175435" providerId="AD"/>
  <p188:author id="{A78793FC-A9D8-B801-E463-8B15CE1450F4}" name="Khandelwal, Darshana" initials="DK" userId="S::darshana.khandelwal@capgemini.com::2eb3bd3e-25bf-49fc-949b-1b49ace0f0a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57AD"/>
    <a:srgbClr val="DC199B"/>
    <a:srgbClr val="272936"/>
    <a:srgbClr val="000000"/>
    <a:srgbClr val="A6A6A6"/>
    <a:srgbClr val="0F434A"/>
    <a:srgbClr val="0F878A"/>
    <a:srgbClr val="00E0CB"/>
    <a:srgbClr val="338091"/>
    <a:srgbClr val="1459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462" y="300"/>
      </p:cViewPr>
      <p:guideLst>
        <p:guide orient="horz" pos="2341"/>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openxmlformats.org/officeDocument/2006/relationships/font" Target="fonts/font5.fntdata"/><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font" Target="fonts/font8.fntdata"/><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font" Target="fonts/font4.fntdata"/><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font" Target="fonts/font2.fntdata"/><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font" Target="fonts/font6.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1.fntdata"/><Relationship Id="rId22" Type="http://schemas.openxmlformats.org/officeDocument/2006/relationships/tags" Target="tags/tag1.xml"/><Relationship Id="rId2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pt-PT" sz="90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4023092" y="0"/>
            <a:ext cx="3077739" cy="471054"/>
          </a:xfrm>
          <a:prstGeom prst="rect">
            <a:avLst/>
          </a:prstGeom>
        </p:spPr>
        <p:txBody>
          <a:bodyPr vert="horz" lIns="94229" tIns="47114" rIns="94229" bIns="47114" rtlCol="0"/>
          <a:lstStyle>
            <a:lvl1pPr algn="r">
              <a:defRPr sz="1200"/>
            </a:lvl1pPr>
          </a:lstStyle>
          <a:p>
            <a:fld id="{86C988DC-9DE3-4390-97AB-D61B85DACE57}" type="datetimeFigureOut">
              <a:rPr lang="pt-PT" sz="900"/>
              <a:pPr/>
              <a:t>13/02/2026</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8917422"/>
            <a:ext cx="3077739" cy="471053"/>
          </a:xfrm>
          <a:prstGeom prst="rect">
            <a:avLst/>
          </a:prstGeom>
        </p:spPr>
        <p:txBody>
          <a:bodyPr vert="horz" lIns="94229" tIns="47114" rIns="94229" bIns="47114" rtlCol="0" anchor="b"/>
          <a:lstStyle>
            <a:lvl1pPr algn="l">
              <a:defRPr sz="1200"/>
            </a:lvl1pPr>
          </a:lstStyle>
          <a:p>
            <a:endParaRPr lang="pt-PT" sz="9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4023092" y="8917422"/>
            <a:ext cx="3077739" cy="471053"/>
          </a:xfrm>
          <a:prstGeom prst="rect">
            <a:avLst/>
          </a:prstGeom>
        </p:spPr>
        <p:txBody>
          <a:bodyPr vert="horz" lIns="94229" tIns="47114" rIns="94229" bIns="47114" rtlCol="0" anchor="b"/>
          <a:lstStyle>
            <a:lvl1pPr algn="r">
              <a:defRPr sz="1200"/>
            </a:lvl1pPr>
          </a:lstStyle>
          <a:p>
            <a:fld id="{2F190BF9-40D8-49B5-87EF-599BB2C7EE93}" type="slidenum">
              <a:rPr lang="pt-PT" sz="900"/>
              <a:pPr/>
              <a:t>‹#›</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900"/>
            </a:lvl1pPr>
          </a:lstStyle>
          <a:p>
            <a:endParaRPr lang="pt-BR"/>
          </a:p>
        </p:txBody>
      </p:sp>
      <p:sp>
        <p:nvSpPr>
          <p:cNvPr id="3" name="Marcador de Posição da Data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900"/>
            </a:lvl1pPr>
          </a:lstStyle>
          <a:p>
            <a:fld id="{0835B8F7-DAC4-4931-8AED-4356A8B2FD64}" type="datetimeFigureOut">
              <a:rPr lang="pt-BR" smtClean="0"/>
              <a:pPr/>
              <a:t>13/02/2026</a:t>
            </a:fld>
            <a:endParaRPr lang="pt-BR"/>
          </a:p>
        </p:txBody>
      </p:sp>
      <p:sp>
        <p:nvSpPr>
          <p:cNvPr id="4" name="Marcador de Posição da Imagem do Diapositivo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pt-BR"/>
          </a:p>
        </p:txBody>
      </p:sp>
      <p:sp>
        <p:nvSpPr>
          <p:cNvPr id="5" name="Marcador de Posição de Notas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pt-PT"/>
              <a:t>Insert comments</a:t>
            </a:r>
            <a:endParaRPr lang="pt-BR"/>
          </a:p>
        </p:txBody>
      </p:sp>
      <p:sp>
        <p:nvSpPr>
          <p:cNvPr id="6" name="Marcador de Posição do Rodapé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3.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9.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3.png"/><Relationship Id="rId2" Type="http://schemas.openxmlformats.org/officeDocument/2006/relationships/tags" Target="../tags/tag8.xml"/><Relationship Id="rId16" Type="http://schemas.openxmlformats.org/officeDocument/2006/relationships/image" Target="../media/image12.png"/><Relationship Id="rId1" Type="http://schemas.openxmlformats.org/officeDocument/2006/relationships/tags" Target="../tags/tag7.xml"/><Relationship Id="rId6" Type="http://schemas.openxmlformats.org/officeDocument/2006/relationships/image" Target="../media/image14.png"/><Relationship Id="rId11" Type="http://schemas.openxmlformats.org/officeDocument/2006/relationships/hyperlink" Target="http://www.twitter.com/capgemini" TargetMode="External"/><Relationship Id="rId5" Type="http://schemas.openxmlformats.org/officeDocument/2006/relationships/slideMaster" Target="../slideMasters/slideMaster1.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10.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7" name="Picture 6" descr="A group of women in blue uniforms celebrating&#10;&#10;Description automatically generated">
            <a:extLst>
              <a:ext uri="{FF2B5EF4-FFF2-40B4-BE49-F238E27FC236}">
                <a16:creationId xmlns:a16="http://schemas.microsoft.com/office/drawing/2014/main" id="{D5DC27EA-FFE2-9582-5AE6-C5425034ADF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7131" b="4421"/>
          <a:stretch/>
        </p:blipFill>
        <p:spPr>
          <a:xfrm>
            <a:off x="12884" y="1"/>
            <a:ext cx="9279949" cy="6858000"/>
          </a:xfrm>
          <a:prstGeom prst="rect">
            <a:avLst/>
          </a:prstGeom>
        </p:spPr>
      </p:pic>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7014258" y="3858621"/>
            <a:ext cx="4769755"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7014258" y="1692521"/>
            <a:ext cx="4776689" cy="2001828"/>
          </a:xfrm>
        </p:spPr>
        <p:txBody>
          <a:bodyPr wrap="square" lIns="36000" rIns="36000" bIns="0" anchor="b" anchorCtr="0">
            <a:spAutoFit/>
          </a:bodyPr>
          <a:lstStyle>
            <a:lvl1pPr algn="ctr">
              <a:lnSpc>
                <a:spcPct val="100000"/>
              </a:lnSpc>
              <a:defRPr sz="4000" b="1" baseline="0">
                <a:solidFill>
                  <a:schemeClr val="bg1"/>
                </a:solidFill>
                <a:latin typeface="Ubuntu" panose="020B0504030602030204" pitchFamily="34" charset="0"/>
              </a:defRPr>
            </a:lvl1pPr>
          </a:lstStyle>
          <a:p>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9155116" y="216148"/>
            <a:ext cx="3024000" cy="1226177"/>
          </a:xfrm>
          <a:prstGeom prst="rect">
            <a:avLst/>
          </a:prstGeom>
        </p:spPr>
      </p:pic>
      <p:sp>
        <p:nvSpPr>
          <p:cNvPr id="10" name="TextBox 9">
            <a:extLst>
              <a:ext uri="{FF2B5EF4-FFF2-40B4-BE49-F238E27FC236}">
                <a16:creationId xmlns:a16="http://schemas.microsoft.com/office/drawing/2014/main" id="{7759949F-C999-43FA-A125-32CFC1DA3C13}"/>
              </a:ext>
            </a:extLst>
          </p:cNvPr>
          <p:cNvSpPr txBox="1"/>
          <p:nvPr/>
        </p:nvSpPr>
        <p:spPr>
          <a:xfrm>
            <a:off x="340044" y="304800"/>
            <a:ext cx="1806905" cy="338554"/>
          </a:xfrm>
          <a:prstGeom prst="rect">
            <a:avLst/>
          </a:prstGeom>
          <a:noFill/>
        </p:spPr>
        <p:txBody>
          <a:bodyPr wrap="none" rtlCol="0">
            <a:spAutoFit/>
          </a:bodyPr>
          <a:lstStyle/>
          <a:p>
            <a:r>
              <a:rPr lang="en-GB" sz="1600">
                <a:solidFill>
                  <a:srgbClr val="0075B4"/>
                </a:solidFill>
                <a:latin typeface="Ubuntu" panose="020B0504030602030204" pitchFamily="34" charset="0"/>
              </a:rPr>
              <a:t>Financial Services</a:t>
            </a:r>
          </a:p>
        </p:txBody>
      </p:sp>
      <p:sp>
        <p:nvSpPr>
          <p:cNvPr id="9" name="TextBox 8">
            <a:extLst>
              <a:ext uri="{FF2B5EF4-FFF2-40B4-BE49-F238E27FC236}">
                <a16:creationId xmlns:a16="http://schemas.microsoft.com/office/drawing/2014/main" id="{6DA69D86-5D6F-141B-0836-8B07775EB098}"/>
              </a:ext>
            </a:extLst>
          </p:cNvPr>
          <p:cNvSpPr txBox="1"/>
          <p:nvPr userDrawn="1"/>
        </p:nvSpPr>
        <p:spPr>
          <a:xfrm>
            <a:off x="445864" y="1049565"/>
            <a:ext cx="6733309" cy="1080655"/>
          </a:xfrm>
          <a:prstGeom prst="rect">
            <a:avLst/>
          </a:prstGeom>
        </p:spPr>
        <p:txBody>
          <a:bodyPr vert="horz" wrap="square" lIns="39273" tIns="0" rIns="39273" bIns="0" rtlCol="0" anchor="t" anchorCtr="0">
            <a:noAutofit/>
          </a:bodyPr>
          <a:lstStyle/>
          <a:p>
            <a:pPr>
              <a:spcBef>
                <a:spcPct val="0"/>
              </a:spcBef>
            </a:pPr>
            <a:endParaRPr lang="en-US" sz="3273">
              <a:solidFill>
                <a:schemeClr val="bg1"/>
              </a:solidFill>
              <a:effectLst>
                <a:outerShdw blurRad="640079" dist="31155" dir="2700000" algn="tl" rotWithShape="0">
                  <a:prstClr val="black">
                    <a:alpha val="69000"/>
                  </a:prstClr>
                </a:outerShdw>
              </a:effectLst>
              <a:latin typeface="Ubuntu Medium" panose="020B0504030602030204" pitchFamily="34" charset="0"/>
              <a:ea typeface="+mj-ea"/>
              <a:cs typeface="+mj-cs"/>
            </a:endParaRPr>
          </a:p>
        </p:txBody>
      </p:sp>
    </p:spTree>
    <p:extLst>
      <p:ext uri="{BB962C8B-B14F-4D97-AF65-F5344CB8AC3E}">
        <p14:creationId xmlns:p14="http://schemas.microsoft.com/office/powerpoint/2010/main" val="401446045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Content 3 columns">
    <p:bg>
      <p:bgRef idx="1001">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a:xfrm>
            <a:off x="3709043" y="381000"/>
            <a:ext cx="7365358" cy="716711"/>
          </a:xfrm>
        </p:spPr>
        <p:txBody>
          <a:bodyPr/>
          <a:lstStyle/>
          <a:p>
            <a:r>
              <a:rPr lang="en-US"/>
              <a:t>Click to edit Master title style</a:t>
            </a:r>
            <a:endParaRPr lang="de-DE"/>
          </a:p>
        </p:txBody>
      </p:sp>
      <p:pic>
        <p:nvPicPr>
          <p:cNvPr id="6" name="Picture 5">
            <a:extLst>
              <a:ext uri="{FF2B5EF4-FFF2-40B4-BE49-F238E27FC236}">
                <a16:creationId xmlns:a16="http://schemas.microsoft.com/office/drawing/2014/main" id="{62064680-2DE4-7704-1B38-109154CC731E}"/>
              </a:ext>
            </a:extLst>
          </p:cNvPr>
          <p:cNvPicPr>
            <a:picLocks noChangeAspect="1"/>
          </p:cNvPicPr>
          <p:nvPr userDrawn="1"/>
        </p:nvPicPr>
        <p:blipFill>
          <a:blip r:embed="rId2" cstate="email">
            <a:extLst>
              <a:ext uri="{28A0092B-C50C-407E-A947-70E740481C1C}">
                <a14:useLocalDpi xmlns:a14="http://schemas.microsoft.com/office/drawing/2010/main"/>
              </a:ext>
            </a:extLst>
          </a:blip>
          <a:srcRect l="3859" r="73205"/>
          <a:stretch/>
        </p:blipFill>
        <p:spPr>
          <a:xfrm>
            <a:off x="0" y="0"/>
            <a:ext cx="2692400" cy="6858000"/>
          </a:xfrm>
          <a:prstGeom prst="rect">
            <a:avLst/>
          </a:prstGeom>
        </p:spPr>
      </p:pic>
    </p:spTree>
    <p:extLst>
      <p:ext uri="{BB962C8B-B14F-4D97-AF65-F5344CB8AC3E}">
        <p14:creationId xmlns:p14="http://schemas.microsoft.com/office/powerpoint/2010/main" val="3768213614"/>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1350733523"/>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373991111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2669806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691308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9612194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539215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786858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746060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26359837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pic>
        <p:nvPicPr>
          <p:cNvPr id="2" name="Picture 1" descr="A picture containing plant&#10;&#10;Description automatically generated">
            <a:extLst>
              <a:ext uri="{FF2B5EF4-FFF2-40B4-BE49-F238E27FC236}">
                <a16:creationId xmlns:a16="http://schemas.microsoft.com/office/drawing/2014/main" id="{08504667-F700-647C-5EB9-A7B4E079DBCE}"/>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1673"/>
            <a:ext cx="12192000" cy="6854653"/>
          </a:xfrm>
          <a:prstGeom prst="rect">
            <a:avLst/>
          </a:prstGeom>
        </p:spPr>
      </p:pic>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4" name="Rectangle 27">
            <a:extLst>
              <a:ext uri="{FF2B5EF4-FFF2-40B4-BE49-F238E27FC236}">
                <a16:creationId xmlns:a16="http://schemas.microsoft.com/office/drawing/2014/main" id="{076FC114-33B4-8982-2AB1-79C5DDC8063A}"/>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chemeClr val="bg1"/>
                </a:solidFill>
                <a:latin typeface="Ubuntu" panose="020B0504030602030204" pitchFamily="34" charset="0"/>
                <a:cs typeface="Arial" panose="020B0604020202020204" pitchFamily="34" charset="0"/>
              </a:rPr>
              <a:t>Presentation Title  |  Author  |  Date</a:t>
            </a:r>
          </a:p>
        </p:txBody>
      </p:sp>
      <p:sp>
        <p:nvSpPr>
          <p:cNvPr id="6" name="Retângulo 43">
            <a:extLst>
              <a:ext uri="{FF2B5EF4-FFF2-40B4-BE49-F238E27FC236}">
                <a16:creationId xmlns:a16="http://schemas.microsoft.com/office/drawing/2014/main" id="{E997A58A-2E6D-DA05-684A-C982009CBD0A}"/>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chemeClr val="bg1"/>
                </a:solidFill>
                <a:latin typeface="Ubuntu" panose="020B0504030602030204" pitchFamily="34" charset="0"/>
                <a:cs typeface="Arial" panose="020B0604020202020204" pitchFamily="34" charset="0"/>
              </a:rPr>
              <a:pPr algn="r"/>
              <a:t>‹#›</a:t>
            </a:fld>
            <a:endParaRPr lang="en-US" sz="800">
              <a:solidFill>
                <a:schemeClr val="bg1"/>
              </a:solidFill>
              <a:latin typeface="Ubuntu" panose="020B0504030602030204" pitchFamily="34" charset="0"/>
              <a:cs typeface="Arial" panose="020B0604020202020204" pitchFamily="34" charset="0"/>
            </a:endParaRPr>
          </a:p>
        </p:txBody>
      </p:sp>
      <p:sp>
        <p:nvSpPr>
          <p:cNvPr id="7" name="Rectangle 27">
            <a:extLst>
              <a:ext uri="{FF2B5EF4-FFF2-40B4-BE49-F238E27FC236}">
                <a16:creationId xmlns:a16="http://schemas.microsoft.com/office/drawing/2014/main" id="{F182F863-6F8F-8056-74FE-A85311FFE456}"/>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chemeClr val="bg1"/>
                </a:solidFill>
                <a:latin typeface="Ubuntu" panose="020B0504030602030204" pitchFamily="34" charset="0"/>
                <a:cs typeface="Arial" panose="020B0604020202020204" pitchFamily="34" charset="0"/>
              </a:rPr>
              <a:t>Company Confidential © Capgemini 2022. All rights reserved  |</a:t>
            </a:r>
          </a:p>
        </p:txBody>
      </p:sp>
      <p:grpSp>
        <p:nvGrpSpPr>
          <p:cNvPr id="8" name="Groupe 1">
            <a:extLst>
              <a:ext uri="{FF2B5EF4-FFF2-40B4-BE49-F238E27FC236}">
                <a16:creationId xmlns:a16="http://schemas.microsoft.com/office/drawing/2014/main" id="{5A2ED963-27A8-CBA8-0C45-5ACBC9CDEDE5}"/>
              </a:ext>
            </a:extLst>
          </p:cNvPr>
          <p:cNvGrpSpPr>
            <a:grpSpLocks noChangeAspect="1"/>
          </p:cNvGrpSpPr>
          <p:nvPr userDrawn="1"/>
        </p:nvGrpSpPr>
        <p:grpSpPr>
          <a:xfrm>
            <a:off x="11562163" y="205059"/>
            <a:ext cx="419436" cy="388988"/>
            <a:chOff x="11501102" y="171573"/>
            <a:chExt cx="419436" cy="388988"/>
          </a:xfrm>
        </p:grpSpPr>
        <p:sp>
          <p:nvSpPr>
            <p:cNvPr id="9" name="Freeform 13">
              <a:extLst>
                <a:ext uri="{FF2B5EF4-FFF2-40B4-BE49-F238E27FC236}">
                  <a16:creationId xmlns:a16="http://schemas.microsoft.com/office/drawing/2014/main" id="{5FFEA684-C995-9355-12AA-546F53A954B0}"/>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1" name="Freeform 14">
              <a:extLst>
                <a:ext uri="{FF2B5EF4-FFF2-40B4-BE49-F238E27FC236}">
                  <a16:creationId xmlns:a16="http://schemas.microsoft.com/office/drawing/2014/main" id="{C86990BF-3C3B-9392-00D7-089B7929C0BD}"/>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19018010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6450494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pic>
        <p:nvPicPr>
          <p:cNvPr id="5" name="object 4">
            <a:extLst>
              <a:ext uri="{FF2B5EF4-FFF2-40B4-BE49-F238E27FC236}">
                <a16:creationId xmlns:a16="http://schemas.microsoft.com/office/drawing/2014/main" id="{CF0B152B-9621-7C99-7A0E-859741E714F5}"/>
              </a:ext>
            </a:extLst>
          </p:cNvPr>
          <p:cNvPicPr/>
          <p:nvPr userDrawn="1"/>
        </p:nvPicPr>
        <p:blipFill rotWithShape="1">
          <a:blip r:embed="rId2">
            <a:extLst>
              <a:ext uri="{28A0092B-C50C-407E-A947-70E740481C1C}">
                <a14:useLocalDpi xmlns:a14="http://schemas.microsoft.com/office/drawing/2010/main"/>
              </a:ext>
            </a:extLst>
          </a:blip>
          <a:srcRect l="5556" r="5556"/>
          <a:stretch/>
        </p:blipFill>
        <p:spPr>
          <a:xfrm>
            <a:off x="0" y="0"/>
            <a:ext cx="12192000" cy="6858000"/>
          </a:xfrm>
          <a:prstGeom prst="rect">
            <a:avLst/>
          </a:prstGeom>
        </p:spPr>
      </p:pic>
    </p:spTree>
    <p:extLst>
      <p:ext uri="{BB962C8B-B14F-4D97-AF65-F5344CB8AC3E}">
        <p14:creationId xmlns:p14="http://schemas.microsoft.com/office/powerpoint/2010/main" val="1876655643"/>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Section Break dark">
    <p:bg>
      <p:bgPr>
        <a:solidFill>
          <a:schemeClr val="accent4"/>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EEF99E2-44D3-FC17-B56D-BB85FE8367B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111760"/>
            <a:ext cx="12192000" cy="6858000"/>
          </a:xfrm>
          <a:prstGeom prst="rect">
            <a:avLst/>
          </a:prstGeom>
        </p:spPr>
      </p:pic>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130260633"/>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cstate="email">
            <a:extLst>
              <a:ext uri="{28A0092B-C50C-407E-A947-70E740481C1C}">
                <a14:useLocalDpi xmlns:a14="http://schemas.microsoft.com/office/drawing/2010/main"/>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628213911"/>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email">
            <a:extLst>
              <a:ext uri="{28A0092B-C50C-407E-A947-70E740481C1C}">
                <a14:useLocalDpi xmlns:a14="http://schemas.microsoft.com/office/drawing/2010/main"/>
              </a:ext>
            </a:extLst>
          </a:blip>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email">
            <a:extLst>
              <a:ext uri="{28A0092B-C50C-407E-A947-70E740481C1C}">
                <a14:useLocalDpi xmlns:a14="http://schemas.microsoft.com/office/drawing/2010/main"/>
              </a:ext>
            </a:extLst>
          </a:blip>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email">
            <a:extLst>
              <a:ext uri="{28A0092B-C50C-407E-A947-70E740481C1C}">
                <a14:useLocalDpi xmlns:a14="http://schemas.microsoft.com/office/drawing/2010/main"/>
              </a:ext>
            </a:extLst>
          </a:blip>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email">
            <a:extLst>
              <a:ext uri="{28A0092B-C50C-407E-A947-70E740481C1C}">
                <a14:useLocalDpi xmlns:a14="http://schemas.microsoft.com/office/drawing/2010/main"/>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13589587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169329554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Large title">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57200" y="6003700"/>
            <a:ext cx="11277600" cy="822325"/>
          </a:xfrm>
        </p:spPr>
        <p:txBody>
          <a:bodyPr lIns="36000" tIns="144000">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p:nvPr>
        </p:nvSpPr>
        <p:spPr>
          <a:xfrm>
            <a:off x="457200" y="1644650"/>
            <a:ext cx="11277600" cy="3567113"/>
          </a:xfrm>
        </p:spPr>
        <p:txBody>
          <a:bodyPr anchor="ctr" anchorCtr="0">
            <a:normAutofit/>
          </a:bodyPr>
          <a:lstStyle>
            <a:lvl1pPr marL="0" indent="0" algn="l">
              <a:lnSpc>
                <a:spcPct val="70000"/>
              </a:lnSpc>
              <a:buFontTx/>
              <a:buNone/>
              <a:defRPr sz="80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pic>
        <p:nvPicPr>
          <p:cNvPr id="5" name="Image 4" descr="Une image contenant texte&#10;&#10;Description générée automatiquement">
            <a:extLst>
              <a:ext uri="{FF2B5EF4-FFF2-40B4-BE49-F238E27FC236}">
                <a16:creationId xmlns:a16="http://schemas.microsoft.com/office/drawing/2014/main" id="{D1A9B987-E149-4E99-9E1F-336980D5EC1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9672" y="260648"/>
            <a:ext cx="3024000" cy="1226177"/>
          </a:xfrm>
          <a:prstGeom prst="rect">
            <a:avLst/>
          </a:prstGeom>
        </p:spPr>
      </p:pic>
    </p:spTree>
    <p:extLst>
      <p:ext uri="{BB962C8B-B14F-4D97-AF65-F5344CB8AC3E}">
        <p14:creationId xmlns:p14="http://schemas.microsoft.com/office/powerpoint/2010/main" val="3431770878"/>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Title and Content dark grey">
    <p:bg>
      <p:bgPr>
        <a:solidFill>
          <a:schemeClr val="accent4"/>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51152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2"/>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3" imgW="270" imgH="270" progId="TCLayout.ActiveDocument.1">
                  <p:embed/>
                </p:oleObj>
              </mc:Choice>
              <mc:Fallback>
                <p:oleObj name="think-cell Slide" r:id="rId23" imgW="270" imgH="270" progId="TCLayout.ActiveDocument.1">
                  <p:embed/>
                  <p:pic>
                    <p:nvPicPr>
                      <p:cNvPr id="21" name="Object 20" hidden="1"/>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 / 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4" name="Retângulo 43">
            <a:extLst>
              <a:ext uri="{FF2B5EF4-FFF2-40B4-BE49-F238E27FC236}">
                <a16:creationId xmlns:a16="http://schemas.microsoft.com/office/drawing/2014/main" id="{5932D52B-34E0-4943-88D5-6824821BC703}"/>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65" name="Rectangle 27">
            <a:extLst>
              <a:ext uri="{FF2B5EF4-FFF2-40B4-BE49-F238E27FC236}">
                <a16:creationId xmlns:a16="http://schemas.microsoft.com/office/drawing/2014/main" id="{299E32C9-86F9-4FC5-9367-98E435456ECE}"/>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2022. All rights reserved  |</a:t>
            </a:r>
          </a:p>
        </p:txBody>
      </p:sp>
    </p:spTree>
    <p:extLst>
      <p:ext uri="{BB962C8B-B14F-4D97-AF65-F5344CB8AC3E}">
        <p14:creationId xmlns:p14="http://schemas.microsoft.com/office/powerpoint/2010/main" val="1708709610"/>
      </p:ext>
    </p:extLst>
  </p:cSld>
  <p:clrMap bg1="lt1" tx1="dk1" bg2="lt2" tx2="dk2" accent1="accent1" accent2="accent2" accent3="accent3" accent4="accent4" accent5="accent5" accent6="accent6" hlink="hlink" folHlink="folHlink"/>
  <p:sldLayoutIdLst>
    <p:sldLayoutId id="2147483988" r:id="rId1"/>
    <p:sldLayoutId id="2147483989" r:id="rId2"/>
    <p:sldLayoutId id="2147483990" r:id="rId3"/>
    <p:sldLayoutId id="2147483991" r:id="rId4"/>
    <p:sldLayoutId id="2147483992" r:id="rId5"/>
    <p:sldLayoutId id="2147483993" r:id="rId6"/>
    <p:sldLayoutId id="2147483994" r:id="rId7"/>
    <p:sldLayoutId id="2147483995" r:id="rId8"/>
    <p:sldLayoutId id="2147483996" r:id="rId9"/>
    <p:sldLayoutId id="2147483997" r:id="rId10"/>
    <p:sldLayoutId id="2147483998" r:id="rId11"/>
    <p:sldLayoutId id="2147483999" r:id="rId12"/>
    <p:sldLayoutId id="2147484000" r:id="rId13"/>
    <p:sldLayoutId id="2147484001" r:id="rId14"/>
    <p:sldLayoutId id="2147484002" r:id="rId15"/>
    <p:sldLayoutId id="2147484003" r:id="rId16"/>
    <p:sldLayoutId id="2147484004" r:id="rId17"/>
    <p:sldLayoutId id="2147484005" r:id="rId18"/>
    <p:sldLayoutId id="2147484006" r:id="rId19"/>
    <p:sldLayoutId id="2147484114" r:id="rId20"/>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0.xml"/><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0.xml"/><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F396A2F-2199-191B-2F9F-70CCDF7B47B9}"/>
              </a:ext>
            </a:extLst>
          </p:cNvPr>
          <p:cNvSpPr>
            <a:spLocks noGrp="1"/>
          </p:cNvSpPr>
          <p:nvPr>
            <p:ph type="ctrTitle"/>
          </p:nvPr>
        </p:nvSpPr>
        <p:spPr>
          <a:xfrm>
            <a:off x="0" y="788247"/>
            <a:ext cx="8108026" cy="1846659"/>
          </a:xfrm>
        </p:spPr>
        <p:txBody>
          <a:bodyPr/>
          <a:lstStyle/>
          <a:p>
            <a:r>
              <a:rPr lang="en-GB"/>
              <a:t>Beazley modernisation – GPAS &amp; Billing code quality controls and gateways</a:t>
            </a:r>
          </a:p>
        </p:txBody>
      </p:sp>
    </p:spTree>
    <p:extLst>
      <p:ext uri="{BB962C8B-B14F-4D97-AF65-F5344CB8AC3E}">
        <p14:creationId xmlns:p14="http://schemas.microsoft.com/office/powerpoint/2010/main" val="3440546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CC849-70C9-9D9F-DC3A-0BE569FA69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9A67CE-8F57-CFAE-9360-94D778C2CA22}"/>
              </a:ext>
            </a:extLst>
          </p:cNvPr>
          <p:cNvSpPr>
            <a:spLocks noGrp="1"/>
          </p:cNvSpPr>
          <p:nvPr>
            <p:ph type="title"/>
          </p:nvPr>
        </p:nvSpPr>
        <p:spPr>
          <a:xfrm>
            <a:off x="437631" y="65328"/>
            <a:ext cx="10947772" cy="716711"/>
          </a:xfrm>
        </p:spPr>
        <p:txBody>
          <a:bodyPr anchor="ctr"/>
          <a:lstStyle/>
          <a:p>
            <a:r>
              <a:rPr lang="en-US"/>
              <a:t>GPAS &amp; BILLING – Guidewire CODE Quality FOCUS</a:t>
            </a:r>
          </a:p>
        </p:txBody>
      </p:sp>
      <p:sp>
        <p:nvSpPr>
          <p:cNvPr id="7" name="TextBox 6">
            <a:extLst>
              <a:ext uri="{FF2B5EF4-FFF2-40B4-BE49-F238E27FC236}">
                <a16:creationId xmlns:a16="http://schemas.microsoft.com/office/drawing/2014/main" id="{74489D85-D530-076A-E1DD-E7E5263C3F39}"/>
              </a:ext>
            </a:extLst>
          </p:cNvPr>
          <p:cNvSpPr txBox="1"/>
          <p:nvPr/>
        </p:nvSpPr>
        <p:spPr>
          <a:xfrm>
            <a:off x="3527012" y="1425930"/>
            <a:ext cx="7508848" cy="1565386"/>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pt-PT"/>
            </a:defPPr>
            <a:lvl1pPr algn="ctr">
              <a:defRPr sz="16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spcBef>
                <a:spcPts val="600"/>
              </a:spcBef>
            </a:pPr>
            <a:r>
              <a:rPr lang="en-US" sz="1400">
                <a:solidFill>
                  <a:schemeClr val="tx1"/>
                </a:solidFill>
              </a:rPr>
              <a:t>80% </a:t>
            </a:r>
            <a:r>
              <a:rPr lang="en-US" sz="1400" b="0">
                <a:solidFill>
                  <a:schemeClr val="tx1"/>
                </a:solidFill>
              </a:rPr>
              <a:t>of developers &amp; testers GW certified at any point</a:t>
            </a:r>
          </a:p>
          <a:p>
            <a:pPr algn="l">
              <a:spcBef>
                <a:spcPts val="600"/>
              </a:spcBef>
            </a:pPr>
            <a:r>
              <a:rPr lang="en-US" sz="1400">
                <a:solidFill>
                  <a:schemeClr val="tx1"/>
                </a:solidFill>
              </a:rPr>
              <a:t>80% </a:t>
            </a:r>
            <a:r>
              <a:rPr lang="en-US" sz="1400" b="0">
                <a:solidFill>
                  <a:schemeClr val="tx1"/>
                </a:solidFill>
              </a:rPr>
              <a:t>of BA GW certified at any point</a:t>
            </a:r>
          </a:p>
          <a:p>
            <a:pPr algn="l">
              <a:spcBef>
                <a:spcPts val="600"/>
              </a:spcBef>
            </a:pPr>
            <a:r>
              <a:rPr lang="en-US" sz="1400">
                <a:solidFill>
                  <a:schemeClr val="tx1"/>
                </a:solidFill>
              </a:rPr>
              <a:t>30% </a:t>
            </a:r>
            <a:r>
              <a:rPr lang="en-US" sz="1400" b="0">
                <a:solidFill>
                  <a:schemeClr val="tx1"/>
                </a:solidFill>
              </a:rPr>
              <a:t>of team is lead certified</a:t>
            </a:r>
          </a:p>
          <a:p>
            <a:pPr algn="l">
              <a:spcBef>
                <a:spcPts val="600"/>
              </a:spcBef>
            </a:pPr>
            <a:r>
              <a:rPr lang="en-US" sz="1400" b="0">
                <a:solidFill>
                  <a:schemeClr val="tx1"/>
                </a:solidFill>
              </a:rPr>
              <a:t>Periodic refresh sessions on coding standards</a:t>
            </a:r>
          </a:p>
          <a:p>
            <a:pPr algn="l">
              <a:spcBef>
                <a:spcPts val="600"/>
              </a:spcBef>
            </a:pPr>
            <a:r>
              <a:rPr lang="en-US" sz="1400" b="0">
                <a:solidFill>
                  <a:schemeClr val="tx1"/>
                </a:solidFill>
              </a:rPr>
              <a:t>Continuous </a:t>
            </a:r>
            <a:r>
              <a:rPr lang="en-US" sz="1400">
                <a:solidFill>
                  <a:schemeClr val="tx1"/>
                </a:solidFill>
              </a:rPr>
              <a:t>certification upgrades</a:t>
            </a:r>
            <a:endParaRPr lang="en-IN" sz="1400">
              <a:solidFill>
                <a:schemeClr val="tx1"/>
              </a:solidFill>
            </a:endParaRPr>
          </a:p>
        </p:txBody>
      </p:sp>
      <p:sp>
        <p:nvSpPr>
          <p:cNvPr id="8" name="TextBox 7">
            <a:extLst>
              <a:ext uri="{FF2B5EF4-FFF2-40B4-BE49-F238E27FC236}">
                <a16:creationId xmlns:a16="http://schemas.microsoft.com/office/drawing/2014/main" id="{69C2DE51-0E81-7327-4942-738004FD76A0}"/>
              </a:ext>
            </a:extLst>
          </p:cNvPr>
          <p:cNvSpPr txBox="1"/>
          <p:nvPr/>
        </p:nvSpPr>
        <p:spPr>
          <a:xfrm>
            <a:off x="3527012" y="3302693"/>
            <a:ext cx="7508848" cy="1343491"/>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pt-PT"/>
            </a:defPPr>
            <a:lvl1pPr>
              <a:defRPr sz="14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spcBef>
                <a:spcPts val="600"/>
              </a:spcBef>
            </a:pPr>
            <a:r>
              <a:rPr lang="en-US" b="0">
                <a:solidFill>
                  <a:schemeClr val="tx1"/>
                </a:solidFill>
              </a:rPr>
              <a:t>All user stories code reviewed by peers and leads</a:t>
            </a:r>
          </a:p>
          <a:p>
            <a:pPr>
              <a:spcBef>
                <a:spcPts val="600"/>
              </a:spcBef>
            </a:pPr>
            <a:r>
              <a:rPr lang="en-US" err="1">
                <a:solidFill>
                  <a:schemeClr val="tx1"/>
                </a:solidFill>
              </a:rPr>
              <a:t>SurePath</a:t>
            </a:r>
            <a:r>
              <a:rPr lang="en-US">
                <a:solidFill>
                  <a:schemeClr val="tx1"/>
                </a:solidFill>
              </a:rPr>
              <a:t> plug-in &amp; Server Tests (</a:t>
            </a:r>
            <a:r>
              <a:rPr lang="en-US" err="1">
                <a:solidFill>
                  <a:schemeClr val="tx1"/>
                </a:solidFill>
              </a:rPr>
              <a:t>JaCoCo</a:t>
            </a:r>
            <a:r>
              <a:rPr lang="en-US">
                <a:solidFill>
                  <a:schemeClr val="tx1"/>
                </a:solidFill>
              </a:rPr>
              <a:t>) </a:t>
            </a:r>
            <a:r>
              <a:rPr lang="en-US" b="0">
                <a:solidFill>
                  <a:schemeClr val="tx1"/>
                </a:solidFill>
              </a:rPr>
              <a:t>run for all check-ins</a:t>
            </a:r>
          </a:p>
          <a:p>
            <a:pPr>
              <a:spcBef>
                <a:spcPts val="600"/>
              </a:spcBef>
            </a:pPr>
            <a:r>
              <a:rPr lang="en-US">
                <a:solidFill>
                  <a:schemeClr val="tx1"/>
                </a:solidFill>
              </a:rPr>
              <a:t>&gt;60% </a:t>
            </a:r>
            <a:r>
              <a:rPr lang="en-US" err="1">
                <a:solidFill>
                  <a:schemeClr val="tx1"/>
                </a:solidFill>
              </a:rPr>
              <a:t>Gunits</a:t>
            </a:r>
            <a:r>
              <a:rPr lang="en-US">
                <a:solidFill>
                  <a:schemeClr val="tx1"/>
                </a:solidFill>
              </a:rPr>
              <a:t> coverage</a:t>
            </a:r>
            <a:r>
              <a:rPr lang="en-US" b="0">
                <a:solidFill>
                  <a:schemeClr val="tx1"/>
                </a:solidFill>
              </a:rPr>
              <a:t>, integrated to CICD pipeline</a:t>
            </a:r>
          </a:p>
          <a:p>
            <a:pPr>
              <a:spcBef>
                <a:spcPts val="600"/>
              </a:spcBef>
            </a:pPr>
            <a:r>
              <a:rPr lang="en-US" b="0">
                <a:solidFill>
                  <a:schemeClr val="tx1"/>
                </a:solidFill>
              </a:rPr>
              <a:t>GW Cloud assessment every sprint</a:t>
            </a:r>
          </a:p>
          <a:p>
            <a:pPr>
              <a:spcBef>
                <a:spcPts val="600"/>
              </a:spcBef>
            </a:pPr>
            <a:r>
              <a:rPr lang="en-US" b="0">
                <a:solidFill>
                  <a:schemeClr val="tx1"/>
                </a:solidFill>
              </a:rPr>
              <a:t>Capgemini wider knowledge base exchange</a:t>
            </a:r>
            <a:endParaRPr lang="en-IN" b="0">
              <a:solidFill>
                <a:schemeClr val="tx1"/>
              </a:solidFill>
            </a:endParaRPr>
          </a:p>
        </p:txBody>
      </p:sp>
      <p:sp>
        <p:nvSpPr>
          <p:cNvPr id="9" name="TextBox 8">
            <a:extLst>
              <a:ext uri="{FF2B5EF4-FFF2-40B4-BE49-F238E27FC236}">
                <a16:creationId xmlns:a16="http://schemas.microsoft.com/office/drawing/2014/main" id="{3D275721-0723-D92D-3F4B-878D0B9A9854}"/>
              </a:ext>
            </a:extLst>
          </p:cNvPr>
          <p:cNvSpPr txBox="1"/>
          <p:nvPr/>
        </p:nvSpPr>
        <p:spPr>
          <a:xfrm>
            <a:off x="3521570" y="5059189"/>
            <a:ext cx="7463840" cy="1095008"/>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pt-PT"/>
            </a:defPPr>
            <a:lvl1pPr>
              <a:defRPr sz="14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spcBef>
                <a:spcPts val="600"/>
              </a:spcBef>
            </a:pPr>
            <a:r>
              <a:rPr lang="en-US">
                <a:solidFill>
                  <a:schemeClr val="tx1"/>
                </a:solidFill>
              </a:rPr>
              <a:t>Automation scripts </a:t>
            </a:r>
            <a:r>
              <a:rPr lang="en-US" b="0">
                <a:solidFill>
                  <a:schemeClr val="tx1"/>
                </a:solidFill>
              </a:rPr>
              <a:t>for regression with quick turn around times</a:t>
            </a:r>
          </a:p>
          <a:p>
            <a:pPr>
              <a:spcBef>
                <a:spcPts val="600"/>
              </a:spcBef>
            </a:pPr>
            <a:r>
              <a:rPr lang="en-US" b="0">
                <a:solidFill>
                  <a:schemeClr val="tx1"/>
                </a:solidFill>
              </a:rPr>
              <a:t>Defects RCA in-code fed back for analysis and action</a:t>
            </a:r>
          </a:p>
          <a:p>
            <a:pPr>
              <a:spcBef>
                <a:spcPts val="600"/>
              </a:spcBef>
            </a:pPr>
            <a:r>
              <a:rPr lang="en-US" b="0">
                <a:solidFill>
                  <a:schemeClr val="tx1"/>
                </a:solidFill>
              </a:rPr>
              <a:t>Retrospectives with GW and QA teams for actions </a:t>
            </a:r>
          </a:p>
          <a:p>
            <a:pPr>
              <a:spcBef>
                <a:spcPts val="600"/>
              </a:spcBef>
            </a:pPr>
            <a:endParaRPr lang="en-IN" b="0">
              <a:solidFill>
                <a:schemeClr val="tx1"/>
              </a:solidFill>
            </a:endParaRPr>
          </a:p>
        </p:txBody>
      </p:sp>
      <p:sp>
        <p:nvSpPr>
          <p:cNvPr id="3" name="Oval 2">
            <a:extLst>
              <a:ext uri="{FF2B5EF4-FFF2-40B4-BE49-F238E27FC236}">
                <a16:creationId xmlns:a16="http://schemas.microsoft.com/office/drawing/2014/main" id="{B71775F9-2051-DF11-67A3-19623CC1E055}"/>
              </a:ext>
            </a:extLst>
          </p:cNvPr>
          <p:cNvSpPr/>
          <p:nvPr/>
        </p:nvSpPr>
        <p:spPr>
          <a:xfrm>
            <a:off x="1049981" y="1428750"/>
            <a:ext cx="1476375" cy="1410166"/>
          </a:xfrm>
          <a:prstGeom prst="ellipse">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t>SKILL SET</a:t>
            </a:r>
            <a:endParaRPr lang="en-IN" sz="1200" b="1"/>
          </a:p>
        </p:txBody>
      </p:sp>
      <p:sp>
        <p:nvSpPr>
          <p:cNvPr id="4" name="Oval 3">
            <a:extLst>
              <a:ext uri="{FF2B5EF4-FFF2-40B4-BE49-F238E27FC236}">
                <a16:creationId xmlns:a16="http://schemas.microsoft.com/office/drawing/2014/main" id="{E3EB2761-0646-E98B-850F-D167B126E760}"/>
              </a:ext>
            </a:extLst>
          </p:cNvPr>
          <p:cNvSpPr/>
          <p:nvPr/>
        </p:nvSpPr>
        <p:spPr>
          <a:xfrm>
            <a:off x="1049981" y="3121718"/>
            <a:ext cx="1476375" cy="1410166"/>
          </a:xfrm>
          <a:prstGeom prst="ellipse">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t>RIGOR</a:t>
            </a:r>
            <a:endParaRPr lang="en-IN" sz="1200" b="1" err="1"/>
          </a:p>
        </p:txBody>
      </p:sp>
      <p:sp>
        <p:nvSpPr>
          <p:cNvPr id="5" name="Oval 4">
            <a:extLst>
              <a:ext uri="{FF2B5EF4-FFF2-40B4-BE49-F238E27FC236}">
                <a16:creationId xmlns:a16="http://schemas.microsoft.com/office/drawing/2014/main" id="{50C69563-AD9D-D632-1AAA-4E0536F19E4D}"/>
              </a:ext>
            </a:extLst>
          </p:cNvPr>
          <p:cNvSpPr/>
          <p:nvPr/>
        </p:nvSpPr>
        <p:spPr>
          <a:xfrm>
            <a:off x="1049981" y="4821064"/>
            <a:ext cx="1476375" cy="1410166"/>
          </a:xfrm>
          <a:prstGeom prst="ellipse">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t>FEEDBACK LOOP</a:t>
            </a:r>
            <a:endParaRPr lang="en-IN" sz="1200" b="1" err="1"/>
          </a:p>
        </p:txBody>
      </p:sp>
      <p:sp>
        <p:nvSpPr>
          <p:cNvPr id="6" name="Arrow: Pentagon 5">
            <a:extLst>
              <a:ext uri="{FF2B5EF4-FFF2-40B4-BE49-F238E27FC236}">
                <a16:creationId xmlns:a16="http://schemas.microsoft.com/office/drawing/2014/main" id="{FB95839C-12F3-37EB-BA63-35E591BF205D}"/>
              </a:ext>
            </a:extLst>
          </p:cNvPr>
          <p:cNvSpPr/>
          <p:nvPr/>
        </p:nvSpPr>
        <p:spPr>
          <a:xfrm>
            <a:off x="3040706" y="1495425"/>
            <a:ext cx="447675" cy="1343491"/>
          </a:xfrm>
          <a:prstGeom prst="homePlate">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sp>
        <p:nvSpPr>
          <p:cNvPr id="11" name="Arrow: Pentagon 10">
            <a:extLst>
              <a:ext uri="{FF2B5EF4-FFF2-40B4-BE49-F238E27FC236}">
                <a16:creationId xmlns:a16="http://schemas.microsoft.com/office/drawing/2014/main" id="{B43DB469-1C6C-BDF2-FF7E-884862000457}"/>
              </a:ext>
            </a:extLst>
          </p:cNvPr>
          <p:cNvSpPr/>
          <p:nvPr/>
        </p:nvSpPr>
        <p:spPr>
          <a:xfrm>
            <a:off x="3040706" y="3274118"/>
            <a:ext cx="447675" cy="1343491"/>
          </a:xfrm>
          <a:prstGeom prst="homePlate">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sp>
        <p:nvSpPr>
          <p:cNvPr id="12" name="Arrow: Pentagon 11">
            <a:extLst>
              <a:ext uri="{FF2B5EF4-FFF2-40B4-BE49-F238E27FC236}">
                <a16:creationId xmlns:a16="http://schemas.microsoft.com/office/drawing/2014/main" id="{B998917D-FC83-B6D5-B433-CDCAC40DA4DB}"/>
              </a:ext>
            </a:extLst>
          </p:cNvPr>
          <p:cNvSpPr/>
          <p:nvPr/>
        </p:nvSpPr>
        <p:spPr>
          <a:xfrm>
            <a:off x="3040706" y="4944889"/>
            <a:ext cx="447675" cy="1343491"/>
          </a:xfrm>
          <a:prstGeom prst="homePlate">
            <a:avLst/>
          </a:prstGeom>
          <a:solidFill>
            <a:srgbClr val="DC1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sp>
        <p:nvSpPr>
          <p:cNvPr id="13" name="TextBox 12">
            <a:extLst>
              <a:ext uri="{FF2B5EF4-FFF2-40B4-BE49-F238E27FC236}">
                <a16:creationId xmlns:a16="http://schemas.microsoft.com/office/drawing/2014/main" id="{87481192-9411-2292-CCB0-DC389DBC6728}"/>
              </a:ext>
            </a:extLst>
          </p:cNvPr>
          <p:cNvSpPr txBox="1"/>
          <p:nvPr/>
        </p:nvSpPr>
        <p:spPr>
          <a:xfrm>
            <a:off x="1006968" y="858849"/>
            <a:ext cx="9978441" cy="402870"/>
          </a:xfrm>
          <a:prstGeom prst="chevron">
            <a:avLst/>
          </a:prstGeom>
          <a:solidFill>
            <a:schemeClr val="accent4">
              <a:lumMod val="10000"/>
              <a:lumOff val="90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pt-PT"/>
            </a:defPPr>
            <a:lvl1pPr algn="ctr">
              <a:defRPr sz="16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spcBef>
                <a:spcPts val="600"/>
              </a:spcBef>
            </a:pPr>
            <a:r>
              <a:rPr lang="en-US" sz="1200">
                <a:solidFill>
                  <a:schemeClr val="tx1"/>
                </a:solidFill>
              </a:rPr>
              <a:t>Continuous process with 360 Degree focus on areas that can influence how and what we develop</a:t>
            </a:r>
            <a:endParaRPr lang="en-IN" sz="1200">
              <a:solidFill>
                <a:schemeClr val="tx1"/>
              </a:solidFill>
            </a:endParaRPr>
          </a:p>
        </p:txBody>
      </p:sp>
    </p:spTree>
    <p:extLst>
      <p:ext uri="{BB962C8B-B14F-4D97-AF65-F5344CB8AC3E}">
        <p14:creationId xmlns:p14="http://schemas.microsoft.com/office/powerpoint/2010/main" val="2031927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9CC78-51F0-9FCD-5650-1A09D95CBFB1}"/>
              </a:ext>
            </a:extLst>
          </p:cNvPr>
          <p:cNvSpPr>
            <a:spLocks noGrp="1"/>
          </p:cNvSpPr>
          <p:nvPr>
            <p:ph type="title"/>
          </p:nvPr>
        </p:nvSpPr>
        <p:spPr>
          <a:xfrm>
            <a:off x="404813" y="388188"/>
            <a:ext cx="10947772" cy="716711"/>
          </a:xfrm>
        </p:spPr>
        <p:txBody>
          <a:bodyPr anchor="ctr">
            <a:normAutofit/>
          </a:bodyPr>
          <a:lstStyle/>
          <a:p>
            <a:r>
              <a:rPr lang="en-GB"/>
              <a:t>code review controls and gateways</a:t>
            </a:r>
          </a:p>
        </p:txBody>
      </p:sp>
      <p:sp>
        <p:nvSpPr>
          <p:cNvPr id="3" name="TextBox 2">
            <a:extLst>
              <a:ext uri="{FF2B5EF4-FFF2-40B4-BE49-F238E27FC236}">
                <a16:creationId xmlns:a16="http://schemas.microsoft.com/office/drawing/2014/main" id="{FA082A28-641B-8CE5-D7DB-9BAF307A0F71}"/>
              </a:ext>
            </a:extLst>
          </p:cNvPr>
          <p:cNvSpPr txBox="1"/>
          <p:nvPr/>
        </p:nvSpPr>
        <p:spPr>
          <a:xfrm>
            <a:off x="404813" y="1295399"/>
            <a:ext cx="5204135" cy="4352544"/>
          </a:xfrm>
          <a:prstGeom prst="rect">
            <a:avLst/>
          </a:prstGeom>
        </p:spPr>
        <p:txBody>
          <a:bodyPr rtlCol="0" anchor="t">
            <a:normAutofit/>
          </a:bodyPr>
          <a:lstStyle/>
          <a:p>
            <a:pPr algn="just">
              <a:spcAft>
                <a:spcPts val="600"/>
              </a:spcAft>
            </a:pPr>
            <a:r>
              <a:rPr lang="en-US" sz="2000" b="1" kern="1200">
                <a:solidFill>
                  <a:schemeClr val="accent4"/>
                </a:solidFill>
              </a:rPr>
              <a:t>Quality Controls</a:t>
            </a:r>
          </a:p>
          <a:p>
            <a:pPr algn="just">
              <a:spcAft>
                <a:spcPts val="600"/>
              </a:spcAft>
            </a:pPr>
            <a:endParaRPr lang="en-US" sz="2000" kern="1200">
              <a:solidFill>
                <a:schemeClr val="accent4"/>
              </a:solidFill>
            </a:endParaRPr>
          </a:p>
          <a:p>
            <a:pPr indent="-285750" algn="just">
              <a:spcAft>
                <a:spcPts val="600"/>
              </a:spcAft>
              <a:buFontTx/>
              <a:buChar char="-"/>
            </a:pPr>
            <a:r>
              <a:rPr lang="en-US" sz="2000" kern="1200">
                <a:solidFill>
                  <a:schemeClr val="accent4"/>
                </a:solidFill>
              </a:rPr>
              <a:t>Robust Code review checklist from experience and expertise</a:t>
            </a:r>
          </a:p>
          <a:p>
            <a:pPr indent="-285750" algn="just">
              <a:spcAft>
                <a:spcPts val="600"/>
              </a:spcAft>
              <a:buFontTx/>
              <a:buChar char="-"/>
            </a:pPr>
            <a:r>
              <a:rPr lang="en-US" sz="2000" kern="1200">
                <a:solidFill>
                  <a:schemeClr val="accent4"/>
                </a:solidFill>
              </a:rPr>
              <a:t>Self review</a:t>
            </a:r>
          </a:p>
          <a:p>
            <a:pPr indent="-285750" algn="just">
              <a:spcAft>
                <a:spcPts val="600"/>
              </a:spcAft>
              <a:buFontTx/>
              <a:buChar char="-"/>
            </a:pPr>
            <a:r>
              <a:rPr lang="en-US" sz="2000" kern="1200">
                <a:solidFill>
                  <a:schemeClr val="accent4"/>
                </a:solidFill>
              </a:rPr>
              <a:t>Peer review</a:t>
            </a:r>
          </a:p>
          <a:p>
            <a:pPr indent="-285750" algn="just">
              <a:spcAft>
                <a:spcPts val="600"/>
              </a:spcAft>
              <a:buFontTx/>
              <a:buChar char="-"/>
            </a:pPr>
            <a:r>
              <a:rPr lang="en-US" sz="2000" kern="1200">
                <a:solidFill>
                  <a:schemeClr val="accent4"/>
                </a:solidFill>
              </a:rPr>
              <a:t>Inspection plugin</a:t>
            </a:r>
          </a:p>
          <a:p>
            <a:pPr indent="-285750" algn="just">
              <a:spcAft>
                <a:spcPts val="600"/>
              </a:spcAft>
              <a:buFontTx/>
              <a:buChar char="-"/>
            </a:pPr>
            <a:r>
              <a:rPr lang="en-US" sz="2000" kern="1200">
                <a:solidFill>
                  <a:schemeClr val="accent4"/>
                </a:solidFill>
              </a:rPr>
              <a:t>GAnalyser (in process to get into Beazley environment)</a:t>
            </a:r>
          </a:p>
          <a:p>
            <a:pPr indent="-285750" algn="just">
              <a:spcAft>
                <a:spcPts val="600"/>
              </a:spcAft>
              <a:buFontTx/>
              <a:buChar char="-"/>
            </a:pPr>
            <a:endParaRPr lang="en-US" sz="2000" kern="1200">
              <a:solidFill>
                <a:schemeClr val="accent4"/>
              </a:solidFill>
            </a:endParaRPr>
          </a:p>
        </p:txBody>
      </p:sp>
      <p:sp>
        <p:nvSpPr>
          <p:cNvPr id="4" name="TextBox 3">
            <a:extLst>
              <a:ext uri="{FF2B5EF4-FFF2-40B4-BE49-F238E27FC236}">
                <a16:creationId xmlns:a16="http://schemas.microsoft.com/office/drawing/2014/main" id="{F8802792-33BD-C376-6A9A-7A7A5175C01A}"/>
              </a:ext>
            </a:extLst>
          </p:cNvPr>
          <p:cNvSpPr txBox="1"/>
          <p:nvPr/>
        </p:nvSpPr>
        <p:spPr>
          <a:xfrm>
            <a:off x="6741268" y="1295399"/>
            <a:ext cx="5204134" cy="4352544"/>
          </a:xfrm>
          <a:prstGeom prst="rect">
            <a:avLst/>
          </a:prstGeom>
        </p:spPr>
        <p:txBody>
          <a:bodyPr rtlCol="0" anchor="t">
            <a:normAutofit/>
          </a:bodyPr>
          <a:lstStyle/>
          <a:p>
            <a:pPr>
              <a:spcAft>
                <a:spcPts val="600"/>
              </a:spcAft>
            </a:pPr>
            <a:r>
              <a:rPr lang="en-US" sz="2000" b="1" kern="1200">
                <a:solidFill>
                  <a:schemeClr val="accent4"/>
                </a:solidFill>
              </a:rPr>
              <a:t>Quality Gateways</a:t>
            </a:r>
          </a:p>
          <a:p>
            <a:pPr>
              <a:spcAft>
                <a:spcPts val="600"/>
              </a:spcAft>
            </a:pPr>
            <a:endParaRPr lang="en-US" sz="2000" kern="1200">
              <a:solidFill>
                <a:schemeClr val="accent4"/>
              </a:solidFill>
            </a:endParaRPr>
          </a:p>
          <a:p>
            <a:pPr indent="-285750">
              <a:spcAft>
                <a:spcPts val="600"/>
              </a:spcAft>
              <a:buFontTx/>
              <a:buChar char="-"/>
            </a:pPr>
            <a:r>
              <a:rPr lang="en-US" sz="2000" kern="1200">
                <a:solidFill>
                  <a:schemeClr val="accent4"/>
                </a:solidFill>
              </a:rPr>
              <a:t>Peer reviews and Lead reviews</a:t>
            </a:r>
          </a:p>
          <a:p>
            <a:pPr indent="-285750">
              <a:spcAft>
                <a:spcPts val="600"/>
              </a:spcAft>
              <a:buFontTx/>
              <a:buChar char="-"/>
            </a:pPr>
            <a:r>
              <a:rPr lang="en-US" sz="2000" kern="1200">
                <a:solidFill>
                  <a:schemeClr val="accent4"/>
                </a:solidFill>
              </a:rPr>
              <a:t>Guidewire’s cloud assurance assessments</a:t>
            </a:r>
          </a:p>
          <a:p>
            <a:pPr indent="-285750">
              <a:spcAft>
                <a:spcPts val="600"/>
              </a:spcAft>
              <a:buFontTx/>
              <a:buChar char="-"/>
            </a:pPr>
            <a:r>
              <a:rPr lang="en-US" sz="2000" kern="1200">
                <a:solidFill>
                  <a:schemeClr val="accent4"/>
                </a:solidFill>
              </a:rPr>
              <a:t>Essential services -GCAT ( yet to be received)</a:t>
            </a:r>
          </a:p>
          <a:p>
            <a:pPr indent="-285750">
              <a:spcAft>
                <a:spcPts val="600"/>
              </a:spcAft>
              <a:buFontTx/>
              <a:buChar char="-"/>
            </a:pPr>
            <a:r>
              <a:rPr lang="en-US" sz="2000">
                <a:solidFill>
                  <a:schemeClr val="accent4"/>
                </a:solidFill>
              </a:rPr>
              <a:t>GAnalyser (in process to get into Beazley environment)</a:t>
            </a:r>
            <a:endParaRPr lang="en-US" sz="2000" kern="1200">
              <a:solidFill>
                <a:schemeClr val="accent4"/>
              </a:solidFill>
            </a:endParaRPr>
          </a:p>
          <a:p>
            <a:pPr indent="-285750">
              <a:spcAft>
                <a:spcPts val="600"/>
              </a:spcAft>
              <a:buFontTx/>
              <a:buChar char="-"/>
            </a:pPr>
            <a:endParaRPr lang="en-US" sz="2000" kern="1200">
              <a:solidFill>
                <a:schemeClr val="accent4"/>
              </a:solidFill>
            </a:endParaRPr>
          </a:p>
          <a:p>
            <a:pPr indent="-285750">
              <a:spcAft>
                <a:spcPts val="600"/>
              </a:spcAft>
              <a:buFontTx/>
              <a:buChar char="-"/>
            </a:pPr>
            <a:endParaRPr lang="en-US" sz="2000" kern="1200">
              <a:solidFill>
                <a:schemeClr val="accent4"/>
              </a:solidFill>
            </a:endParaRPr>
          </a:p>
          <a:p>
            <a:pPr>
              <a:spcAft>
                <a:spcPts val="600"/>
              </a:spcAft>
            </a:pPr>
            <a:endParaRPr lang="en-US" sz="2000" kern="1200">
              <a:solidFill>
                <a:schemeClr val="accent4"/>
              </a:solidFill>
            </a:endParaRPr>
          </a:p>
        </p:txBody>
      </p:sp>
    </p:spTree>
    <p:extLst>
      <p:ext uri="{BB962C8B-B14F-4D97-AF65-F5344CB8AC3E}">
        <p14:creationId xmlns:p14="http://schemas.microsoft.com/office/powerpoint/2010/main" val="1251438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DD165EC-B6E9-DD7E-B86A-12D3D6E1C5A6}"/>
              </a:ext>
            </a:extLst>
          </p:cNvPr>
          <p:cNvSpPr txBox="1"/>
          <p:nvPr/>
        </p:nvSpPr>
        <p:spPr>
          <a:xfrm>
            <a:off x="168965" y="1133061"/>
            <a:ext cx="5138531" cy="5327374"/>
          </a:xfrm>
          <a:prstGeom prst="rect">
            <a:avLst/>
          </a:prstGeom>
          <a:solidFill>
            <a:schemeClr val="accent4">
              <a:lumMod val="10000"/>
              <a:lumOff val="90000"/>
            </a:schemeClr>
          </a:solidFill>
        </p:spPr>
        <p:txBody>
          <a:bodyPr wrap="square" rtlCol="0">
            <a:spAutoFit/>
          </a:bodyPr>
          <a:lstStyle/>
          <a:p>
            <a:endParaRPr lang="en-IN"/>
          </a:p>
        </p:txBody>
      </p:sp>
      <p:pic>
        <p:nvPicPr>
          <p:cNvPr id="10" name="Picture 9" descr="A diagram of a work flow&#10;&#10;Description automatically generated">
            <a:extLst>
              <a:ext uri="{FF2B5EF4-FFF2-40B4-BE49-F238E27FC236}">
                <a16:creationId xmlns:a16="http://schemas.microsoft.com/office/drawing/2014/main" id="{A508E75B-1581-E40B-9B2F-25583F0E12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4928" y="1451113"/>
            <a:ext cx="4839514" cy="4681329"/>
          </a:xfrm>
          <a:prstGeom prst="rect">
            <a:avLst/>
          </a:prstGeom>
        </p:spPr>
      </p:pic>
      <p:sp>
        <p:nvSpPr>
          <p:cNvPr id="14" name="TextBox 13">
            <a:extLst>
              <a:ext uri="{FF2B5EF4-FFF2-40B4-BE49-F238E27FC236}">
                <a16:creationId xmlns:a16="http://schemas.microsoft.com/office/drawing/2014/main" id="{8510FB1E-57AF-4913-F0CB-68E20F2B3196}"/>
              </a:ext>
            </a:extLst>
          </p:cNvPr>
          <p:cNvSpPr txBox="1"/>
          <p:nvPr/>
        </p:nvSpPr>
        <p:spPr>
          <a:xfrm>
            <a:off x="141506" y="66145"/>
            <a:ext cx="4440433" cy="923330"/>
          </a:xfrm>
          <a:prstGeom prst="rect">
            <a:avLst/>
          </a:prstGeom>
          <a:noFill/>
        </p:spPr>
        <p:txBody>
          <a:bodyPr wrap="square" rtlCol="0">
            <a:spAutoFit/>
          </a:bodyPr>
          <a:lstStyle/>
          <a:p>
            <a:r>
              <a:rPr lang="en-US" b="1"/>
              <a:t>Developer Workflow covering branching, code review &amp; automated checks</a:t>
            </a:r>
            <a:endParaRPr lang="en-IN" b="1"/>
          </a:p>
        </p:txBody>
      </p:sp>
      <p:sp>
        <p:nvSpPr>
          <p:cNvPr id="16" name="TextBox 15">
            <a:extLst>
              <a:ext uri="{FF2B5EF4-FFF2-40B4-BE49-F238E27FC236}">
                <a16:creationId xmlns:a16="http://schemas.microsoft.com/office/drawing/2014/main" id="{0F2A5D0C-BBEC-68A0-71A1-E40AC109CD2D}"/>
              </a:ext>
            </a:extLst>
          </p:cNvPr>
          <p:cNvSpPr txBox="1"/>
          <p:nvPr/>
        </p:nvSpPr>
        <p:spPr>
          <a:xfrm>
            <a:off x="5492682" y="66145"/>
            <a:ext cx="6165917" cy="646331"/>
          </a:xfrm>
          <a:prstGeom prst="rect">
            <a:avLst/>
          </a:prstGeom>
          <a:noFill/>
        </p:spPr>
        <p:txBody>
          <a:bodyPr wrap="square" rtlCol="0">
            <a:spAutoFit/>
          </a:bodyPr>
          <a:lstStyle>
            <a:defPPr>
              <a:defRPr lang="pt-PT"/>
            </a:defPPr>
            <a:lvl1pPr>
              <a:defRPr b="1"/>
            </a:lvl1pPr>
          </a:lstStyle>
          <a:p>
            <a:r>
              <a:rPr lang="en-US"/>
              <a:t>Developer Workflow in action – Code Check-ins showing evidences within Bitbucket</a:t>
            </a:r>
            <a:endParaRPr lang="en-IN"/>
          </a:p>
        </p:txBody>
      </p:sp>
      <p:pic>
        <p:nvPicPr>
          <p:cNvPr id="3" name="Picture 4">
            <a:extLst>
              <a:ext uri="{FF2B5EF4-FFF2-40B4-BE49-F238E27FC236}">
                <a16:creationId xmlns:a16="http://schemas.microsoft.com/office/drawing/2014/main" id="{8E9394C8-7499-3710-3B9A-6793BB5EB9B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54" r="35434" b="2797"/>
          <a:stretch/>
        </p:blipFill>
        <p:spPr bwMode="auto">
          <a:xfrm>
            <a:off x="5637249" y="712476"/>
            <a:ext cx="5777394" cy="397114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a:extLst>
              <a:ext uri="{FF2B5EF4-FFF2-40B4-BE49-F238E27FC236}">
                <a16:creationId xmlns:a16="http://schemas.microsoft.com/office/drawing/2014/main" id="{88B11F8E-D006-8093-11F1-B9F9A2C6F2D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59440"/>
          <a:stretch/>
        </p:blipFill>
        <p:spPr bwMode="auto">
          <a:xfrm>
            <a:off x="5637249" y="3046208"/>
            <a:ext cx="5921960" cy="3762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10380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C2A43-B7AB-3DB9-3B17-F81B404DF8A1}"/>
              </a:ext>
            </a:extLst>
          </p:cNvPr>
          <p:cNvSpPr>
            <a:spLocks noGrp="1"/>
          </p:cNvSpPr>
          <p:nvPr>
            <p:ph type="title"/>
          </p:nvPr>
        </p:nvSpPr>
        <p:spPr/>
        <p:txBody>
          <a:bodyPr/>
          <a:lstStyle/>
          <a:p>
            <a:r>
              <a:rPr lang="en-GB"/>
              <a:t>Status of cloud assurance observations</a:t>
            </a:r>
          </a:p>
        </p:txBody>
      </p:sp>
      <p:graphicFrame>
        <p:nvGraphicFramePr>
          <p:cNvPr id="3" name="Table 2">
            <a:extLst>
              <a:ext uri="{FF2B5EF4-FFF2-40B4-BE49-F238E27FC236}">
                <a16:creationId xmlns:a16="http://schemas.microsoft.com/office/drawing/2014/main" id="{BC03566D-484C-3FF3-FAB4-0E5D06F2C12D}"/>
              </a:ext>
            </a:extLst>
          </p:cNvPr>
          <p:cNvGraphicFramePr>
            <a:graphicFrameLocks noGrp="1"/>
          </p:cNvGraphicFramePr>
          <p:nvPr>
            <p:extLst>
              <p:ext uri="{D42A27DB-BD31-4B8C-83A1-F6EECF244321}">
                <p14:modId xmlns:p14="http://schemas.microsoft.com/office/powerpoint/2010/main" val="594785460"/>
              </p:ext>
            </p:extLst>
          </p:nvPr>
        </p:nvGraphicFramePr>
        <p:xfrm>
          <a:off x="939613" y="1992939"/>
          <a:ext cx="6845850" cy="2912160"/>
        </p:xfrm>
        <a:graphic>
          <a:graphicData uri="http://schemas.openxmlformats.org/drawingml/2006/table">
            <a:tbl>
              <a:tblPr firstRow="1" firstCol="1" lastRow="1" bandCol="1">
                <a:tableStyleId>{FABFCF23-3B69-468F-B69F-88F6DE6A72F2}</a:tableStyleId>
              </a:tblPr>
              <a:tblGrid>
                <a:gridCol w="1119346">
                  <a:extLst>
                    <a:ext uri="{9D8B030D-6E8A-4147-A177-3AD203B41FA5}">
                      <a16:colId xmlns:a16="http://schemas.microsoft.com/office/drawing/2014/main" val="2938509040"/>
                    </a:ext>
                  </a:extLst>
                </a:gridCol>
                <a:gridCol w="1038233">
                  <a:extLst>
                    <a:ext uri="{9D8B030D-6E8A-4147-A177-3AD203B41FA5}">
                      <a16:colId xmlns:a16="http://schemas.microsoft.com/office/drawing/2014/main" val="119852552"/>
                    </a:ext>
                  </a:extLst>
                </a:gridCol>
                <a:gridCol w="1768240">
                  <a:extLst>
                    <a:ext uri="{9D8B030D-6E8A-4147-A177-3AD203B41FA5}">
                      <a16:colId xmlns:a16="http://schemas.microsoft.com/office/drawing/2014/main" val="1339409600"/>
                    </a:ext>
                  </a:extLst>
                </a:gridCol>
                <a:gridCol w="1378903">
                  <a:extLst>
                    <a:ext uri="{9D8B030D-6E8A-4147-A177-3AD203B41FA5}">
                      <a16:colId xmlns:a16="http://schemas.microsoft.com/office/drawing/2014/main" val="431633999"/>
                    </a:ext>
                  </a:extLst>
                </a:gridCol>
                <a:gridCol w="1541128">
                  <a:extLst>
                    <a:ext uri="{9D8B030D-6E8A-4147-A177-3AD203B41FA5}">
                      <a16:colId xmlns:a16="http://schemas.microsoft.com/office/drawing/2014/main" val="3705026102"/>
                    </a:ext>
                  </a:extLst>
                </a:gridCol>
              </a:tblGrid>
              <a:tr h="291216">
                <a:tc gridSpan="5">
                  <a:txBody>
                    <a:bodyPr/>
                    <a:lstStyle/>
                    <a:p>
                      <a:pPr algn="ctr" fontAlgn="b"/>
                      <a:r>
                        <a:rPr lang="en-IN" sz="1100" u="none" strike="noStrike">
                          <a:effectLst/>
                        </a:rPr>
                        <a:t>GW - Cloud Assessment Report</a:t>
                      </a:r>
                      <a:endParaRPr lang="en-IN" sz="1100" b="1" i="0" u="none" strike="noStrike">
                        <a:solidFill>
                          <a:srgbClr val="FFFFFF"/>
                        </a:solidFill>
                        <a:effectLst/>
                        <a:latin typeface="Calibri" panose="020F0502020204030204" pitchFamily="34" charset="0"/>
                      </a:endParaRPr>
                    </a:p>
                  </a:txBody>
                  <a:tcPr marL="6350" marR="6350" marT="6350" marB="0" anchor="ctr">
                    <a:solidFill>
                      <a:srgbClr val="DC199B"/>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379668068"/>
                  </a:ext>
                </a:extLst>
              </a:tr>
              <a:tr h="291216">
                <a:tc>
                  <a:txBody>
                    <a:bodyPr/>
                    <a:lstStyle/>
                    <a:p>
                      <a:pPr algn="ctr" fontAlgn="b"/>
                      <a:r>
                        <a:rPr lang="en-IN" sz="1100" u="none" strike="noStrike">
                          <a:effectLst/>
                        </a:rPr>
                        <a:t>Date </a:t>
                      </a:r>
                      <a:endParaRPr lang="en-IN" sz="1100" b="1"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IN" sz="1100" u="none" strike="noStrike">
                          <a:solidFill>
                            <a:schemeClr val="bg1"/>
                          </a:solidFill>
                          <a:effectLst/>
                        </a:rPr>
                        <a:t>Sprint</a:t>
                      </a:r>
                      <a:endParaRPr lang="en-IN" sz="1100" b="1" i="0" u="none" strike="noStrike">
                        <a:solidFill>
                          <a:schemeClr val="bg1"/>
                        </a:solidFill>
                        <a:effectLst/>
                        <a:latin typeface="Calibri" panose="020F0502020204030204" pitchFamily="34" charset="0"/>
                      </a:endParaRPr>
                    </a:p>
                  </a:txBody>
                  <a:tcPr marL="6350" marR="6350" marT="6350" marB="0" anchor="ctr">
                    <a:solidFill>
                      <a:srgbClr val="E557AD"/>
                    </a:solidFill>
                  </a:tcPr>
                </a:tc>
                <a:tc>
                  <a:txBody>
                    <a:bodyPr/>
                    <a:lstStyle/>
                    <a:p>
                      <a:pPr algn="ctr" fontAlgn="b"/>
                      <a:r>
                        <a:rPr lang="en-IN" sz="1100" u="none" strike="noStrike">
                          <a:effectLst/>
                        </a:rPr>
                        <a:t>Assurance status</a:t>
                      </a:r>
                      <a:endParaRPr lang="en-IN" sz="1100" b="1"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IN" sz="1100" u="none" strike="noStrike">
                          <a:solidFill>
                            <a:schemeClr val="bg1"/>
                          </a:solidFill>
                          <a:effectLst/>
                        </a:rPr>
                        <a:t>Open Errors</a:t>
                      </a:r>
                      <a:endParaRPr lang="en-IN" sz="1100" b="1" i="0" u="none" strike="noStrike">
                        <a:solidFill>
                          <a:schemeClr val="bg1"/>
                        </a:solidFill>
                        <a:effectLst/>
                        <a:latin typeface="Calibri" panose="020F0502020204030204" pitchFamily="34" charset="0"/>
                      </a:endParaRPr>
                    </a:p>
                  </a:txBody>
                  <a:tcPr marL="6350" marR="6350" marT="6350" marB="0" anchor="ctr">
                    <a:solidFill>
                      <a:srgbClr val="E557AD"/>
                    </a:solidFill>
                  </a:tcPr>
                </a:tc>
                <a:tc>
                  <a:txBody>
                    <a:bodyPr/>
                    <a:lstStyle/>
                    <a:p>
                      <a:pPr algn="ctr" fontAlgn="b"/>
                      <a:r>
                        <a:rPr lang="en-IN" sz="1100" u="none" strike="noStrike">
                          <a:effectLst/>
                        </a:rPr>
                        <a:t>Open Warning</a:t>
                      </a:r>
                      <a:endParaRPr lang="en-IN" sz="1100" b="1"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932038023"/>
                  </a:ext>
                </a:extLst>
              </a:tr>
              <a:tr h="291216">
                <a:tc>
                  <a:txBody>
                    <a:bodyPr/>
                    <a:lstStyle/>
                    <a:p>
                      <a:pPr algn="ctr" fontAlgn="ctr"/>
                      <a:r>
                        <a:rPr lang="en-IN" sz="1100" u="none" strike="noStrike">
                          <a:effectLst/>
                        </a:rPr>
                        <a:t>20-Feb-25</a:t>
                      </a:r>
                      <a:endParaRPr lang="en-IN"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IN" sz="1100" u="none" strike="noStrike">
                          <a:solidFill>
                            <a:schemeClr val="bg1"/>
                          </a:solidFill>
                          <a:effectLst/>
                        </a:rPr>
                        <a:t>Sprint 6</a:t>
                      </a:r>
                      <a:endParaRPr lang="en-IN" sz="1100" b="0" i="0" u="none" strike="noStrike">
                        <a:solidFill>
                          <a:schemeClr val="bg1"/>
                        </a:solidFill>
                        <a:effectLst/>
                        <a:latin typeface="Calibri" panose="020F0502020204030204" pitchFamily="34" charset="0"/>
                      </a:endParaRPr>
                    </a:p>
                  </a:txBody>
                  <a:tcPr marL="6350" marR="6350" marT="6350" marB="0" anchor="ctr">
                    <a:solidFill>
                      <a:srgbClr val="E557AD"/>
                    </a:solidFill>
                  </a:tcPr>
                </a:tc>
                <a:tc>
                  <a:txBody>
                    <a:bodyPr/>
                    <a:lstStyle/>
                    <a:p>
                      <a:pPr algn="ctr" fontAlgn="b"/>
                      <a:r>
                        <a:rPr lang="en-IN" sz="1100" u="none" strike="noStrike">
                          <a:effectLst/>
                        </a:rPr>
                        <a:t>Green</a:t>
                      </a:r>
                      <a:endParaRPr lang="en-IN"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IN" sz="1100" u="none" strike="noStrike">
                          <a:solidFill>
                            <a:schemeClr val="bg1"/>
                          </a:solidFill>
                          <a:effectLst/>
                        </a:rPr>
                        <a:t>0</a:t>
                      </a:r>
                      <a:endParaRPr lang="en-IN" sz="1100" b="0" i="0" u="none" strike="noStrike">
                        <a:solidFill>
                          <a:schemeClr val="bg1"/>
                        </a:solidFill>
                        <a:effectLst/>
                        <a:latin typeface="Calibri" panose="020F0502020204030204" pitchFamily="34" charset="0"/>
                      </a:endParaRPr>
                    </a:p>
                  </a:txBody>
                  <a:tcPr marL="6350" marR="6350" marT="6350" marB="0" anchor="ctr">
                    <a:solidFill>
                      <a:srgbClr val="E557AD"/>
                    </a:solidFill>
                  </a:tcPr>
                </a:tc>
                <a:tc>
                  <a:txBody>
                    <a:bodyPr/>
                    <a:lstStyle/>
                    <a:p>
                      <a:pPr algn="ctr" fontAlgn="b"/>
                      <a:r>
                        <a:rPr lang="en-IN" sz="1100" u="none" strike="noStrike">
                          <a:effectLst/>
                        </a:rPr>
                        <a:t>1</a:t>
                      </a:r>
                      <a:endParaRPr lang="en-IN" sz="11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893068314"/>
                  </a:ext>
                </a:extLst>
              </a:tr>
              <a:tr h="291216">
                <a:tc>
                  <a:txBody>
                    <a:bodyPr/>
                    <a:lstStyle/>
                    <a:p>
                      <a:pPr algn="ctr" fontAlgn="ctr"/>
                      <a:r>
                        <a:rPr lang="en-IN" sz="1100" u="none" strike="noStrike">
                          <a:effectLst/>
                        </a:rPr>
                        <a:t>19-Jan-25</a:t>
                      </a:r>
                      <a:endParaRPr lang="en-IN"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IN" sz="1100" u="none" strike="noStrike">
                          <a:solidFill>
                            <a:schemeClr val="bg1"/>
                          </a:solidFill>
                          <a:effectLst/>
                        </a:rPr>
                        <a:t>Sprint 5</a:t>
                      </a:r>
                      <a:endParaRPr lang="en-IN" sz="1100" b="0" i="0" u="none" strike="noStrike">
                        <a:solidFill>
                          <a:schemeClr val="bg1"/>
                        </a:solidFill>
                        <a:effectLst/>
                        <a:latin typeface="Calibri" panose="020F0502020204030204" pitchFamily="34" charset="0"/>
                      </a:endParaRPr>
                    </a:p>
                  </a:txBody>
                  <a:tcPr marL="6350" marR="6350" marT="6350" marB="0" anchor="ctr">
                    <a:solidFill>
                      <a:srgbClr val="E557AD"/>
                    </a:solidFill>
                  </a:tcPr>
                </a:tc>
                <a:tc>
                  <a:txBody>
                    <a:bodyPr/>
                    <a:lstStyle/>
                    <a:p>
                      <a:pPr algn="ctr" fontAlgn="b"/>
                      <a:r>
                        <a:rPr lang="en-IN" sz="1100" u="none" strike="noStrike">
                          <a:effectLst/>
                        </a:rPr>
                        <a:t>Green</a:t>
                      </a:r>
                      <a:endParaRPr lang="en-IN"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IN" sz="1100" u="none" strike="noStrike">
                          <a:solidFill>
                            <a:schemeClr val="bg1"/>
                          </a:solidFill>
                          <a:effectLst/>
                        </a:rPr>
                        <a:t>1</a:t>
                      </a:r>
                      <a:endParaRPr lang="en-IN" sz="1100" b="0" i="0" u="none" strike="noStrike">
                        <a:solidFill>
                          <a:schemeClr val="bg1"/>
                        </a:solidFill>
                        <a:effectLst/>
                        <a:latin typeface="Calibri" panose="020F0502020204030204" pitchFamily="34" charset="0"/>
                      </a:endParaRPr>
                    </a:p>
                  </a:txBody>
                  <a:tcPr marL="6350" marR="6350" marT="6350" marB="0" anchor="ctr">
                    <a:solidFill>
                      <a:srgbClr val="E557AD"/>
                    </a:solidFill>
                  </a:tcPr>
                </a:tc>
                <a:tc>
                  <a:txBody>
                    <a:bodyPr/>
                    <a:lstStyle/>
                    <a:p>
                      <a:pPr algn="ctr" fontAlgn="b"/>
                      <a:r>
                        <a:rPr lang="en-IN" sz="1100" u="none" strike="noStrike">
                          <a:effectLst/>
                        </a:rPr>
                        <a:t>1</a:t>
                      </a:r>
                      <a:endParaRPr lang="en-IN" sz="11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583686132"/>
                  </a:ext>
                </a:extLst>
              </a:tr>
              <a:tr h="291216">
                <a:tc>
                  <a:txBody>
                    <a:bodyPr/>
                    <a:lstStyle/>
                    <a:p>
                      <a:pPr algn="ctr" fontAlgn="ctr"/>
                      <a:r>
                        <a:rPr lang="en-IN" sz="1100" u="none" strike="noStrike">
                          <a:effectLst/>
                        </a:rPr>
                        <a:t>20-Dec-24</a:t>
                      </a:r>
                      <a:endParaRPr lang="en-IN"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IN" sz="1100" u="none" strike="noStrike">
                          <a:solidFill>
                            <a:schemeClr val="bg1"/>
                          </a:solidFill>
                          <a:effectLst/>
                        </a:rPr>
                        <a:t>Sprint 4</a:t>
                      </a:r>
                      <a:endParaRPr lang="en-IN" sz="1100" b="0" i="0" u="none" strike="noStrike">
                        <a:solidFill>
                          <a:schemeClr val="bg1"/>
                        </a:solidFill>
                        <a:effectLst/>
                        <a:latin typeface="Calibri" panose="020F0502020204030204" pitchFamily="34" charset="0"/>
                      </a:endParaRPr>
                    </a:p>
                  </a:txBody>
                  <a:tcPr marL="6350" marR="6350" marT="6350" marB="0" anchor="ctr">
                    <a:solidFill>
                      <a:srgbClr val="E557AD"/>
                    </a:solidFill>
                  </a:tcPr>
                </a:tc>
                <a:tc>
                  <a:txBody>
                    <a:bodyPr/>
                    <a:lstStyle/>
                    <a:p>
                      <a:pPr algn="ctr" fontAlgn="b"/>
                      <a:r>
                        <a:rPr lang="en-IN" sz="1100" u="none" strike="noStrike">
                          <a:effectLst/>
                        </a:rPr>
                        <a:t>Green</a:t>
                      </a:r>
                      <a:endParaRPr lang="en-IN"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IN" sz="1100" u="none" strike="noStrike">
                          <a:solidFill>
                            <a:schemeClr val="bg1"/>
                          </a:solidFill>
                          <a:effectLst/>
                        </a:rPr>
                        <a:t>3</a:t>
                      </a:r>
                      <a:endParaRPr lang="en-IN" sz="1100" b="0" i="0" u="none" strike="noStrike">
                        <a:solidFill>
                          <a:schemeClr val="bg1"/>
                        </a:solidFill>
                        <a:effectLst/>
                        <a:latin typeface="Calibri" panose="020F0502020204030204" pitchFamily="34" charset="0"/>
                      </a:endParaRPr>
                    </a:p>
                  </a:txBody>
                  <a:tcPr marL="6350" marR="6350" marT="6350" marB="0" anchor="ctr">
                    <a:solidFill>
                      <a:srgbClr val="E557AD"/>
                    </a:solidFill>
                  </a:tcPr>
                </a:tc>
                <a:tc>
                  <a:txBody>
                    <a:bodyPr/>
                    <a:lstStyle/>
                    <a:p>
                      <a:pPr algn="ctr" fontAlgn="b"/>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094139653"/>
                  </a:ext>
                </a:extLst>
              </a:tr>
              <a:tr h="291216">
                <a:tc>
                  <a:txBody>
                    <a:bodyPr/>
                    <a:lstStyle/>
                    <a:p>
                      <a:pPr algn="ctr" fontAlgn="ctr"/>
                      <a:r>
                        <a:rPr lang="en-IN" sz="1100" u="none" strike="noStrike">
                          <a:effectLst/>
                        </a:rPr>
                        <a:t>20-Nov-24</a:t>
                      </a:r>
                      <a:endParaRPr lang="en-IN"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IN" sz="1100" u="none" strike="noStrike">
                          <a:solidFill>
                            <a:schemeClr val="bg1"/>
                          </a:solidFill>
                          <a:effectLst/>
                        </a:rPr>
                        <a:t>Sprint 3</a:t>
                      </a:r>
                      <a:endParaRPr lang="en-IN" sz="1100" b="0" i="0" u="none" strike="noStrike">
                        <a:solidFill>
                          <a:schemeClr val="bg1"/>
                        </a:solidFill>
                        <a:effectLst/>
                        <a:latin typeface="Calibri" panose="020F0502020204030204" pitchFamily="34" charset="0"/>
                      </a:endParaRPr>
                    </a:p>
                  </a:txBody>
                  <a:tcPr marL="6350" marR="6350" marT="6350" marB="0" anchor="ctr">
                    <a:solidFill>
                      <a:srgbClr val="E557AD"/>
                    </a:solidFill>
                  </a:tcPr>
                </a:tc>
                <a:tc>
                  <a:txBody>
                    <a:bodyPr/>
                    <a:lstStyle/>
                    <a:p>
                      <a:pPr algn="ctr" fontAlgn="b"/>
                      <a:r>
                        <a:rPr lang="en-IN" sz="1100" u="none" strike="noStrike">
                          <a:effectLst/>
                        </a:rPr>
                        <a:t>Green</a:t>
                      </a:r>
                      <a:endParaRPr lang="en-IN"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IN" sz="1100" u="none" strike="noStrike">
                          <a:solidFill>
                            <a:schemeClr val="bg1"/>
                          </a:solidFill>
                          <a:effectLst/>
                        </a:rPr>
                        <a:t>4</a:t>
                      </a:r>
                      <a:endParaRPr lang="en-IN" sz="1100" b="0" i="0" u="none" strike="noStrike">
                        <a:solidFill>
                          <a:schemeClr val="bg1"/>
                        </a:solidFill>
                        <a:effectLst/>
                        <a:latin typeface="Calibri" panose="020F0502020204030204" pitchFamily="34" charset="0"/>
                      </a:endParaRPr>
                    </a:p>
                  </a:txBody>
                  <a:tcPr marL="6350" marR="6350" marT="6350" marB="0" anchor="ctr">
                    <a:solidFill>
                      <a:srgbClr val="E557AD"/>
                    </a:solidFill>
                  </a:tcPr>
                </a:tc>
                <a:tc>
                  <a:txBody>
                    <a:bodyPr/>
                    <a:lstStyle/>
                    <a:p>
                      <a:pPr algn="ctr" fontAlgn="b"/>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118479916"/>
                  </a:ext>
                </a:extLst>
              </a:tr>
              <a:tr h="291216">
                <a:tc>
                  <a:txBody>
                    <a:bodyPr/>
                    <a:lstStyle/>
                    <a:p>
                      <a:pPr algn="ctr" fontAlgn="ctr"/>
                      <a:r>
                        <a:rPr lang="en-IN" sz="1100" u="none" strike="noStrike">
                          <a:effectLst/>
                        </a:rPr>
                        <a:t>07-Nov-24</a:t>
                      </a:r>
                      <a:endParaRPr lang="en-IN"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IN" sz="1100" u="none" strike="noStrike">
                          <a:solidFill>
                            <a:schemeClr val="bg1"/>
                          </a:solidFill>
                          <a:effectLst/>
                        </a:rPr>
                        <a:t>Sprint 2</a:t>
                      </a:r>
                      <a:endParaRPr lang="en-IN" sz="1100" b="0" i="0" u="none" strike="noStrike">
                        <a:solidFill>
                          <a:schemeClr val="bg1"/>
                        </a:solidFill>
                        <a:effectLst/>
                        <a:latin typeface="Calibri" panose="020F0502020204030204" pitchFamily="34" charset="0"/>
                      </a:endParaRPr>
                    </a:p>
                  </a:txBody>
                  <a:tcPr marL="6350" marR="6350" marT="6350" marB="0" anchor="ctr">
                    <a:solidFill>
                      <a:srgbClr val="E557AD"/>
                    </a:solidFill>
                  </a:tcPr>
                </a:tc>
                <a:tc>
                  <a:txBody>
                    <a:bodyPr/>
                    <a:lstStyle/>
                    <a:p>
                      <a:pPr algn="ctr" fontAlgn="b"/>
                      <a:r>
                        <a:rPr lang="en-IN" sz="1100" u="none" strike="noStrike">
                          <a:effectLst/>
                        </a:rPr>
                        <a:t>Green</a:t>
                      </a:r>
                      <a:endParaRPr lang="en-IN"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IN" sz="1100" u="none" strike="noStrike">
                          <a:solidFill>
                            <a:schemeClr val="bg1"/>
                          </a:solidFill>
                          <a:effectLst/>
                        </a:rPr>
                        <a:t>6</a:t>
                      </a:r>
                      <a:endParaRPr lang="en-IN" sz="1100" b="0" i="0" u="none" strike="noStrike">
                        <a:solidFill>
                          <a:schemeClr val="bg1"/>
                        </a:solidFill>
                        <a:effectLst/>
                        <a:latin typeface="Calibri" panose="020F0502020204030204" pitchFamily="34" charset="0"/>
                      </a:endParaRPr>
                    </a:p>
                  </a:txBody>
                  <a:tcPr marL="6350" marR="6350" marT="6350" marB="0" anchor="ctr">
                    <a:solidFill>
                      <a:srgbClr val="E557AD"/>
                    </a:solidFill>
                  </a:tcPr>
                </a:tc>
                <a:tc>
                  <a:txBody>
                    <a:bodyPr/>
                    <a:lstStyle/>
                    <a:p>
                      <a:pPr algn="ctr" fontAlgn="b"/>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29522511"/>
                  </a:ext>
                </a:extLst>
              </a:tr>
              <a:tr h="291216">
                <a:tc>
                  <a:txBody>
                    <a:bodyPr/>
                    <a:lstStyle/>
                    <a:p>
                      <a:pPr algn="ctr" fontAlgn="ctr"/>
                      <a:r>
                        <a:rPr lang="en-IN" sz="1100" u="none" strike="noStrike">
                          <a:effectLst/>
                        </a:rPr>
                        <a:t>09-Oct-24</a:t>
                      </a:r>
                      <a:endParaRPr lang="en-IN"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IN" sz="1100" u="none" strike="noStrike">
                          <a:solidFill>
                            <a:schemeClr val="bg1"/>
                          </a:solidFill>
                          <a:effectLst/>
                        </a:rPr>
                        <a:t>Sprint 1</a:t>
                      </a:r>
                      <a:endParaRPr lang="en-IN" sz="1100" b="0" i="0" u="none" strike="noStrike">
                        <a:solidFill>
                          <a:schemeClr val="bg1"/>
                        </a:solidFill>
                        <a:effectLst/>
                        <a:latin typeface="Calibri" panose="020F0502020204030204" pitchFamily="34" charset="0"/>
                      </a:endParaRPr>
                    </a:p>
                  </a:txBody>
                  <a:tcPr marL="6350" marR="6350" marT="6350" marB="0" anchor="ctr">
                    <a:solidFill>
                      <a:srgbClr val="E557AD"/>
                    </a:solidFill>
                  </a:tcPr>
                </a:tc>
                <a:tc>
                  <a:txBody>
                    <a:bodyPr/>
                    <a:lstStyle/>
                    <a:p>
                      <a:pPr algn="ctr" fontAlgn="b"/>
                      <a:r>
                        <a:rPr lang="en-IN" sz="1100" u="none" strike="noStrike">
                          <a:effectLst/>
                        </a:rPr>
                        <a:t>Green</a:t>
                      </a:r>
                      <a:endParaRPr lang="en-IN"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IN" sz="1100" u="none" strike="noStrike">
                          <a:solidFill>
                            <a:schemeClr val="bg1"/>
                          </a:solidFill>
                          <a:effectLst/>
                        </a:rPr>
                        <a:t>6</a:t>
                      </a:r>
                      <a:endParaRPr lang="en-IN" sz="1100" b="0" i="0" u="none" strike="noStrike">
                        <a:solidFill>
                          <a:schemeClr val="bg1"/>
                        </a:solidFill>
                        <a:effectLst/>
                        <a:latin typeface="Calibri" panose="020F0502020204030204" pitchFamily="34" charset="0"/>
                      </a:endParaRPr>
                    </a:p>
                  </a:txBody>
                  <a:tcPr marL="6350" marR="6350" marT="6350" marB="0" anchor="ctr">
                    <a:solidFill>
                      <a:srgbClr val="E557AD"/>
                    </a:solidFill>
                  </a:tcPr>
                </a:tc>
                <a:tc>
                  <a:txBody>
                    <a:bodyPr/>
                    <a:lstStyle/>
                    <a:p>
                      <a:pPr algn="ctr" fontAlgn="b"/>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485268303"/>
                  </a:ext>
                </a:extLst>
              </a:tr>
              <a:tr h="291216">
                <a:tc>
                  <a:txBody>
                    <a:bodyPr/>
                    <a:lstStyle/>
                    <a:p>
                      <a:pPr algn="ctr" fontAlgn="ctr"/>
                      <a:r>
                        <a:rPr lang="en-IN" sz="1100" u="none" strike="noStrike">
                          <a:effectLst/>
                        </a:rPr>
                        <a:t>12-Sep-24</a:t>
                      </a:r>
                      <a:endParaRPr lang="en-IN"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IN" sz="1100" u="none" strike="noStrike">
                          <a:solidFill>
                            <a:schemeClr val="bg1"/>
                          </a:solidFill>
                          <a:effectLst/>
                        </a:rPr>
                        <a:t>Sprint 0</a:t>
                      </a:r>
                      <a:endParaRPr lang="en-IN" sz="1100" b="0" i="0" u="none" strike="noStrike">
                        <a:solidFill>
                          <a:schemeClr val="bg1"/>
                        </a:solidFill>
                        <a:effectLst/>
                        <a:latin typeface="Calibri" panose="020F0502020204030204" pitchFamily="34" charset="0"/>
                      </a:endParaRPr>
                    </a:p>
                  </a:txBody>
                  <a:tcPr marL="6350" marR="6350" marT="6350" marB="0" anchor="ctr">
                    <a:solidFill>
                      <a:srgbClr val="E557AD"/>
                    </a:solidFill>
                  </a:tcPr>
                </a:tc>
                <a:tc>
                  <a:txBody>
                    <a:bodyPr/>
                    <a:lstStyle/>
                    <a:p>
                      <a:pPr algn="ctr" fontAlgn="b"/>
                      <a:r>
                        <a:rPr lang="en-IN" sz="1100" u="none" strike="noStrike">
                          <a:effectLst/>
                        </a:rPr>
                        <a:t>Green</a:t>
                      </a:r>
                      <a:endParaRPr lang="en-IN"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IN" sz="1100" u="none" strike="noStrike">
                          <a:solidFill>
                            <a:schemeClr val="bg1"/>
                          </a:solidFill>
                          <a:effectLst/>
                        </a:rPr>
                        <a:t>0</a:t>
                      </a:r>
                      <a:endParaRPr lang="en-IN" sz="1100" b="0" i="0" u="none" strike="noStrike">
                        <a:solidFill>
                          <a:schemeClr val="bg1"/>
                        </a:solidFill>
                        <a:effectLst/>
                        <a:latin typeface="Calibri" panose="020F0502020204030204" pitchFamily="34" charset="0"/>
                      </a:endParaRPr>
                    </a:p>
                  </a:txBody>
                  <a:tcPr marL="6350" marR="6350" marT="6350" marB="0" anchor="ctr">
                    <a:solidFill>
                      <a:srgbClr val="E557AD"/>
                    </a:solidFill>
                  </a:tcPr>
                </a:tc>
                <a:tc>
                  <a:txBody>
                    <a:bodyPr/>
                    <a:lstStyle/>
                    <a:p>
                      <a:pPr algn="ctr" fontAlgn="b"/>
                      <a:r>
                        <a:rPr lang="en-IN" sz="1100" u="none" strike="noStrike">
                          <a:effectLst/>
                        </a:rPr>
                        <a:t>0</a:t>
                      </a:r>
                      <a:endParaRPr lang="en-IN" sz="1100" b="0"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3523306747"/>
                  </a:ext>
                </a:extLst>
              </a:tr>
              <a:tr h="291216">
                <a:tc>
                  <a:txBody>
                    <a:bodyPr/>
                    <a:lstStyle/>
                    <a:p>
                      <a:pPr algn="l" fontAlgn="b"/>
                      <a:r>
                        <a:rPr lang="en-IN" sz="1100" u="none" strike="noStrike">
                          <a:effectLst/>
                        </a:rPr>
                        <a:t> </a:t>
                      </a:r>
                      <a:endParaRPr lang="en-IN"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IN" sz="1100" u="none" strike="noStrike">
                          <a:effectLst/>
                        </a:rPr>
                        <a:t> </a:t>
                      </a:r>
                      <a:endParaRPr lang="en-IN"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IN" sz="1100" u="none" strike="noStrike">
                          <a:effectLst/>
                        </a:rPr>
                        <a:t> </a:t>
                      </a:r>
                      <a:endParaRPr lang="en-IN" sz="1100" b="0"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IN" sz="1100" u="none" strike="noStrike">
                          <a:effectLst/>
                        </a:rPr>
                        <a:t>20</a:t>
                      </a:r>
                      <a:endParaRPr lang="en-IN" sz="1100" b="1" i="0" u="none" strike="noStrike">
                        <a:solidFill>
                          <a:srgbClr val="000000"/>
                        </a:solidFill>
                        <a:effectLst/>
                        <a:latin typeface="Calibri" panose="020F0502020204030204" pitchFamily="34" charset="0"/>
                      </a:endParaRPr>
                    </a:p>
                  </a:txBody>
                  <a:tcPr marL="6350" marR="6350" marT="6350" marB="0" anchor="ctr"/>
                </a:tc>
                <a:tc>
                  <a:txBody>
                    <a:bodyPr/>
                    <a:lstStyle/>
                    <a:p>
                      <a:pPr algn="ctr" fontAlgn="b"/>
                      <a:r>
                        <a:rPr lang="en-IN" sz="1100" u="none" strike="noStrike">
                          <a:effectLst/>
                        </a:rPr>
                        <a:t>2</a:t>
                      </a:r>
                      <a:endParaRPr lang="en-IN" sz="1100" b="1" i="0" u="none" strike="noStrike">
                        <a:solidFill>
                          <a:srgbClr val="000000"/>
                        </a:solidFill>
                        <a:effectLst/>
                        <a:latin typeface="Calibri" panose="020F0502020204030204" pitchFamily="34" charset="0"/>
                      </a:endParaRPr>
                    </a:p>
                  </a:txBody>
                  <a:tcPr marL="6350" marR="6350" marT="6350" marB="0" anchor="ctr"/>
                </a:tc>
                <a:extLst>
                  <a:ext uri="{0D108BD9-81ED-4DB2-BD59-A6C34878D82A}">
                    <a16:rowId xmlns:a16="http://schemas.microsoft.com/office/drawing/2014/main" val="1500463336"/>
                  </a:ext>
                </a:extLst>
              </a:tr>
            </a:tbl>
          </a:graphicData>
        </a:graphic>
      </p:graphicFrame>
      <p:sp>
        <p:nvSpPr>
          <p:cNvPr id="4" name="TextBox 3">
            <a:extLst>
              <a:ext uri="{FF2B5EF4-FFF2-40B4-BE49-F238E27FC236}">
                <a16:creationId xmlns:a16="http://schemas.microsoft.com/office/drawing/2014/main" id="{E1789B91-00E2-FF08-8BDA-B46806CA01A2}"/>
              </a:ext>
            </a:extLst>
          </p:cNvPr>
          <p:cNvSpPr txBox="1"/>
          <p:nvPr/>
        </p:nvSpPr>
        <p:spPr>
          <a:xfrm>
            <a:off x="8260171" y="2205020"/>
            <a:ext cx="2821405" cy="2270237"/>
          </a:xfrm>
          <a:prstGeom prst="rect">
            <a:avLst/>
          </a:prstGeom>
          <a:noFill/>
        </p:spPr>
        <p:txBody>
          <a:bodyPr wrap="square" rtlCol="0">
            <a:spAutoFit/>
          </a:bodyPr>
          <a:lstStyle/>
          <a:p>
            <a:pPr marL="171450" indent="-171450">
              <a:lnSpc>
                <a:spcPct val="150000"/>
              </a:lnSpc>
              <a:buFont typeface="Wingdings" panose="05000000000000000000" pitchFamily="2" charset="2"/>
              <a:buChar char="ü"/>
            </a:pPr>
            <a:r>
              <a:rPr lang="en-US" sz="1200"/>
              <a:t>All 7 assessment cycles till date are </a:t>
            </a:r>
            <a:r>
              <a:rPr lang="en-US" sz="1200" b="1"/>
              <a:t>GREEN</a:t>
            </a:r>
          </a:p>
          <a:p>
            <a:pPr marL="171450" indent="-171450">
              <a:lnSpc>
                <a:spcPct val="150000"/>
              </a:lnSpc>
              <a:buFont typeface="Wingdings" panose="05000000000000000000" pitchFamily="2" charset="2"/>
              <a:buChar char="ü"/>
            </a:pPr>
            <a:r>
              <a:rPr lang="en-US" sz="1200"/>
              <a:t>No outstanding errors or observations as on today</a:t>
            </a:r>
          </a:p>
          <a:p>
            <a:pPr marL="171450" indent="-171450">
              <a:lnSpc>
                <a:spcPct val="150000"/>
              </a:lnSpc>
              <a:buFont typeface="Wingdings" panose="05000000000000000000" pitchFamily="2" charset="2"/>
              <a:buChar char="ü"/>
            </a:pPr>
            <a:r>
              <a:rPr lang="en-US" sz="1200"/>
              <a:t>The total 12 errors reported during Sprint 1 &amp; 2 are about Gunit compliance which was on plan for later sprints and is now closed</a:t>
            </a:r>
            <a:endParaRPr lang="en-IN" sz="1200"/>
          </a:p>
        </p:txBody>
      </p:sp>
    </p:spTree>
    <p:extLst>
      <p:ext uri="{BB962C8B-B14F-4D97-AF65-F5344CB8AC3E}">
        <p14:creationId xmlns:p14="http://schemas.microsoft.com/office/powerpoint/2010/main" val="15260884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A12F9-99B3-4EF9-739E-1AA77E1C0F59}"/>
              </a:ext>
            </a:extLst>
          </p:cNvPr>
          <p:cNvSpPr>
            <a:spLocks noGrp="1"/>
          </p:cNvSpPr>
          <p:nvPr>
            <p:ph type="title"/>
          </p:nvPr>
        </p:nvSpPr>
        <p:spPr>
          <a:xfrm>
            <a:off x="274993" y="408037"/>
            <a:ext cx="6429993" cy="716711"/>
          </a:xfrm>
        </p:spPr>
        <p:txBody>
          <a:bodyPr anchor="ctr"/>
          <a:lstStyle/>
          <a:p>
            <a:r>
              <a:rPr lang="en-US" sz="1600"/>
              <a:t>Continuous code coverage &amp; server tests</a:t>
            </a:r>
            <a:endParaRPr lang="en-IN" sz="1600"/>
          </a:p>
        </p:txBody>
      </p:sp>
      <p:pic>
        <p:nvPicPr>
          <p:cNvPr id="6" name="Picture 5">
            <a:extLst>
              <a:ext uri="{FF2B5EF4-FFF2-40B4-BE49-F238E27FC236}">
                <a16:creationId xmlns:a16="http://schemas.microsoft.com/office/drawing/2014/main" id="{4DD91CE3-972F-116E-55BC-C5382951030D}"/>
              </a:ext>
            </a:extLst>
          </p:cNvPr>
          <p:cNvPicPr>
            <a:picLocks noChangeAspect="1"/>
          </p:cNvPicPr>
          <p:nvPr/>
        </p:nvPicPr>
        <p:blipFill>
          <a:blip r:embed="rId2"/>
          <a:stretch>
            <a:fillRect/>
          </a:stretch>
        </p:blipFill>
        <p:spPr>
          <a:xfrm>
            <a:off x="262641" y="4407749"/>
            <a:ext cx="6454699" cy="1158340"/>
          </a:xfrm>
          <a:prstGeom prst="rect">
            <a:avLst/>
          </a:prstGeom>
          <a:effectLst>
            <a:outerShdw blurRad="50800" dist="38100" dir="8100000" algn="tr" rotWithShape="0">
              <a:prstClr val="black">
                <a:alpha val="40000"/>
              </a:prstClr>
            </a:outerShdw>
          </a:effectLst>
        </p:spPr>
      </p:pic>
      <p:pic>
        <p:nvPicPr>
          <p:cNvPr id="7" name="Picture 6">
            <a:extLst>
              <a:ext uri="{FF2B5EF4-FFF2-40B4-BE49-F238E27FC236}">
                <a16:creationId xmlns:a16="http://schemas.microsoft.com/office/drawing/2014/main" id="{40F9876C-2EBA-96AB-0DAF-AFA123C3145B}"/>
              </a:ext>
            </a:extLst>
          </p:cNvPr>
          <p:cNvPicPr>
            <a:picLocks noChangeAspect="1"/>
          </p:cNvPicPr>
          <p:nvPr/>
        </p:nvPicPr>
        <p:blipFill>
          <a:blip r:embed="rId3"/>
          <a:stretch>
            <a:fillRect/>
          </a:stretch>
        </p:blipFill>
        <p:spPr>
          <a:xfrm>
            <a:off x="262641" y="1425092"/>
            <a:ext cx="6572165" cy="970264"/>
          </a:xfrm>
          <a:prstGeom prst="rect">
            <a:avLst/>
          </a:prstGeom>
          <a:effectLst>
            <a:outerShdw blurRad="50800" dist="38100" dir="8100000" algn="tr" rotWithShape="0">
              <a:prstClr val="black">
                <a:alpha val="40000"/>
              </a:prstClr>
            </a:outerShdw>
          </a:effectLst>
        </p:spPr>
      </p:pic>
      <p:sp>
        <p:nvSpPr>
          <p:cNvPr id="8" name="Rectangle 7">
            <a:extLst>
              <a:ext uri="{FF2B5EF4-FFF2-40B4-BE49-F238E27FC236}">
                <a16:creationId xmlns:a16="http://schemas.microsoft.com/office/drawing/2014/main" id="{2361B446-5CEF-03B5-5F5D-D0EEF5BBB7B5}"/>
              </a:ext>
            </a:extLst>
          </p:cNvPr>
          <p:cNvSpPr/>
          <p:nvPr/>
        </p:nvSpPr>
        <p:spPr>
          <a:xfrm>
            <a:off x="262641" y="1285218"/>
            <a:ext cx="1039577" cy="157241"/>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t>Integration </a:t>
            </a:r>
          </a:p>
        </p:txBody>
      </p:sp>
      <p:sp>
        <p:nvSpPr>
          <p:cNvPr id="9" name="Rectangle 8">
            <a:extLst>
              <a:ext uri="{FF2B5EF4-FFF2-40B4-BE49-F238E27FC236}">
                <a16:creationId xmlns:a16="http://schemas.microsoft.com/office/drawing/2014/main" id="{00B3BB1D-5B96-0CE6-6E17-8F017B55467A}"/>
              </a:ext>
            </a:extLst>
          </p:cNvPr>
          <p:cNvSpPr/>
          <p:nvPr/>
        </p:nvSpPr>
        <p:spPr>
          <a:xfrm>
            <a:off x="262641" y="4231673"/>
            <a:ext cx="1039577" cy="157241"/>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err="1"/>
              <a:t>BillingCenter</a:t>
            </a:r>
            <a:r>
              <a:rPr lang="en-IN" sz="1000"/>
              <a:t> </a:t>
            </a:r>
          </a:p>
        </p:txBody>
      </p:sp>
      <p:pic>
        <p:nvPicPr>
          <p:cNvPr id="10" name="Picture 9">
            <a:extLst>
              <a:ext uri="{FF2B5EF4-FFF2-40B4-BE49-F238E27FC236}">
                <a16:creationId xmlns:a16="http://schemas.microsoft.com/office/drawing/2014/main" id="{8031D083-E2FD-5AC1-F12E-891CF14F9212}"/>
              </a:ext>
            </a:extLst>
          </p:cNvPr>
          <p:cNvPicPr>
            <a:picLocks noChangeAspect="1"/>
          </p:cNvPicPr>
          <p:nvPr/>
        </p:nvPicPr>
        <p:blipFill>
          <a:blip r:embed="rId4"/>
          <a:stretch>
            <a:fillRect/>
          </a:stretch>
        </p:blipFill>
        <p:spPr>
          <a:xfrm>
            <a:off x="262641" y="2610153"/>
            <a:ext cx="5173133" cy="1538140"/>
          </a:xfrm>
          <a:prstGeom prst="rect">
            <a:avLst/>
          </a:prstGeom>
          <a:effectLst>
            <a:outerShdw blurRad="50800" dist="38100" dir="8100000" algn="tr" rotWithShape="0">
              <a:prstClr val="black">
                <a:alpha val="40000"/>
              </a:prstClr>
            </a:outerShdw>
          </a:effectLst>
        </p:spPr>
      </p:pic>
      <p:sp>
        <p:nvSpPr>
          <p:cNvPr id="11" name="Rectangle 10">
            <a:extLst>
              <a:ext uri="{FF2B5EF4-FFF2-40B4-BE49-F238E27FC236}">
                <a16:creationId xmlns:a16="http://schemas.microsoft.com/office/drawing/2014/main" id="{D9539E93-3C30-0303-5715-D28E64629CED}"/>
              </a:ext>
            </a:extLst>
          </p:cNvPr>
          <p:cNvSpPr/>
          <p:nvPr/>
        </p:nvSpPr>
        <p:spPr>
          <a:xfrm>
            <a:off x="262641" y="2500079"/>
            <a:ext cx="1039577" cy="157241"/>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err="1"/>
              <a:t>PolicyCenter</a:t>
            </a:r>
            <a:endParaRPr lang="en-IN" sz="1000"/>
          </a:p>
        </p:txBody>
      </p:sp>
      <p:sp>
        <p:nvSpPr>
          <p:cNvPr id="12" name="Rectangle: Rounded Corners 11">
            <a:extLst>
              <a:ext uri="{FF2B5EF4-FFF2-40B4-BE49-F238E27FC236}">
                <a16:creationId xmlns:a16="http://schemas.microsoft.com/office/drawing/2014/main" id="{83109837-8D6E-EA0B-D8FC-F96B7CEBF0CB}"/>
              </a:ext>
            </a:extLst>
          </p:cNvPr>
          <p:cNvSpPr/>
          <p:nvPr/>
        </p:nvSpPr>
        <p:spPr>
          <a:xfrm>
            <a:off x="2740026" y="2269431"/>
            <a:ext cx="298449" cy="125925"/>
          </a:xfrm>
          <a:prstGeom prst="roundRect">
            <a:avLst/>
          </a:prstGeom>
          <a:solidFill>
            <a:srgbClr val="FFFF00">
              <a:alpha val="4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Rounded Corners 12">
            <a:extLst>
              <a:ext uri="{FF2B5EF4-FFF2-40B4-BE49-F238E27FC236}">
                <a16:creationId xmlns:a16="http://schemas.microsoft.com/office/drawing/2014/main" id="{A0BA0A37-B526-55D9-FBCC-BAB7F2552CDF}"/>
              </a:ext>
            </a:extLst>
          </p:cNvPr>
          <p:cNvSpPr/>
          <p:nvPr/>
        </p:nvSpPr>
        <p:spPr>
          <a:xfrm>
            <a:off x="2718254" y="3999374"/>
            <a:ext cx="298449" cy="125925"/>
          </a:xfrm>
          <a:prstGeom prst="roundRect">
            <a:avLst/>
          </a:prstGeom>
          <a:solidFill>
            <a:srgbClr val="FFFF00">
              <a:alpha val="4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Star: 6 Points 13">
            <a:extLst>
              <a:ext uri="{FF2B5EF4-FFF2-40B4-BE49-F238E27FC236}">
                <a16:creationId xmlns:a16="http://schemas.microsoft.com/office/drawing/2014/main" id="{746D91C9-26C6-BA6D-03C8-419A2E116253}"/>
              </a:ext>
            </a:extLst>
          </p:cNvPr>
          <p:cNvSpPr/>
          <p:nvPr/>
        </p:nvSpPr>
        <p:spPr>
          <a:xfrm>
            <a:off x="2816226" y="2348236"/>
            <a:ext cx="149227" cy="139521"/>
          </a:xfrm>
          <a:prstGeom prst="star6">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Star: 6 Points 14">
            <a:extLst>
              <a:ext uri="{FF2B5EF4-FFF2-40B4-BE49-F238E27FC236}">
                <a16:creationId xmlns:a16="http://schemas.microsoft.com/office/drawing/2014/main" id="{9F2057C1-DFE9-A71C-BE96-6198CDE49734}"/>
              </a:ext>
            </a:extLst>
          </p:cNvPr>
          <p:cNvSpPr/>
          <p:nvPr/>
        </p:nvSpPr>
        <p:spPr>
          <a:xfrm>
            <a:off x="2787612" y="4097582"/>
            <a:ext cx="149227" cy="139521"/>
          </a:xfrm>
          <a:prstGeom prst="star6">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321249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01611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heme/theme1.xml><?xml version="1.0" encoding="utf-8"?>
<a:theme xmlns:a="http://schemas.openxmlformats.org/drawingml/2006/main" name="1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2.xml><?xml version="1.0" encoding="utf-8"?>
<a:theme xmlns:a="http://schemas.openxmlformats.org/drawingml/2006/main" name="Tema do Offic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1495FEC1CD6F941B8BE3B537DCFC6FF" ma:contentTypeVersion="10" ma:contentTypeDescription="Create a new document." ma:contentTypeScope="" ma:versionID="805d48f03e7bb9e76b8d1388c8b0147f">
  <xsd:schema xmlns:xsd="http://www.w3.org/2001/XMLSchema" xmlns:xs="http://www.w3.org/2001/XMLSchema" xmlns:p="http://schemas.microsoft.com/office/2006/metadata/properties" xmlns:ns2="e2f04ce6-5625-4773-b511-ff6e32fd78d6" xmlns:ns3="886d0db5-4d18-497d-97ce-51cb0d7fa060" targetNamespace="http://schemas.microsoft.com/office/2006/metadata/properties" ma:root="true" ma:fieldsID="9b0fc5e66fd61b7e8c1014ca482dcaef" ns2:_="" ns3:_="">
    <xsd:import namespace="e2f04ce6-5625-4773-b511-ff6e32fd78d6"/>
    <xsd:import namespace="886d0db5-4d18-497d-97ce-51cb0d7fa0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f04ce6-5625-4773-b511-ff6e32fd78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86d0db5-4d18-497d-97ce-51cb0d7fa06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3B09ECE-D1C0-42A5-B69E-8C88764DB9F3}">
  <ds:schemaRefs>
    <ds:schemaRef ds:uri="http://schemas.microsoft.com/sharepoint/v3/contenttype/forms"/>
  </ds:schemaRefs>
</ds:datastoreItem>
</file>

<file path=customXml/itemProps2.xml><?xml version="1.0" encoding="utf-8"?>
<ds:datastoreItem xmlns:ds="http://schemas.openxmlformats.org/officeDocument/2006/customXml" ds:itemID="{8765F6DA-EDFD-4C3F-B2EB-EDE359E124E2}">
  <ds:schemaRefs>
    <ds:schemaRef ds:uri="886d0db5-4d18-497d-97ce-51cb0d7fa060"/>
    <ds:schemaRef ds:uri="e2f04ce6-5625-4773-b511-ff6e32fd78d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808094C-3AE6-437B-805D-92ADA7543A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2f04ce6-5625-4773-b511-ff6e32fd78d6"/>
    <ds:schemaRef ds:uri="886d0db5-4d18-497d-97ce-51cb0d7fa0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0ffa499d-8334-4b45-bbba-5ec17299202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ppt-Capgemini_MasterTemplate</Template>
  <TotalTime>0</TotalTime>
  <Words>341</Words>
  <Application>Microsoft Office PowerPoint</Application>
  <PresentationFormat>Widescreen</PresentationFormat>
  <Paragraphs>90</Paragraphs>
  <Slides>7</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7</vt:i4>
      </vt:variant>
    </vt:vector>
  </HeadingPairs>
  <TitlesOfParts>
    <vt:vector size="15" baseType="lpstr">
      <vt:lpstr>Ubuntu</vt:lpstr>
      <vt:lpstr>Calibri</vt:lpstr>
      <vt:lpstr>Arial</vt:lpstr>
      <vt:lpstr>Ubuntu Medium</vt:lpstr>
      <vt:lpstr>Wingdings</vt:lpstr>
      <vt:lpstr>Ubuntu Light</vt:lpstr>
      <vt:lpstr>1_Capgemini Master 2021</vt:lpstr>
      <vt:lpstr>think-cell Slide</vt:lpstr>
      <vt:lpstr>Beazley modernisation – GPAS &amp; Billing code quality controls and gateways</vt:lpstr>
      <vt:lpstr>GPAS &amp; BILLING – Guidewire CODE Quality FOCUS</vt:lpstr>
      <vt:lpstr>code review controls and gateways</vt:lpstr>
      <vt:lpstr>PowerPoint Presentation</vt:lpstr>
      <vt:lpstr>Status of cloud assurance observations</vt:lpstr>
      <vt:lpstr>Continuous code coverage &amp; server tests</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Capgemini template</dc:subject>
  <dc:creator>Bertrand, Louis</dc:creator>
  <cp:lastModifiedBy>Chennamadhavuni, Vamshi</cp:lastModifiedBy>
  <cp:revision>1</cp:revision>
  <cp:lastPrinted>2023-07-09T22:02:34Z</cp:lastPrinted>
  <dcterms:created xsi:type="dcterms:W3CDTF">2022-04-13T15:08:48Z</dcterms:created>
  <dcterms:modified xsi:type="dcterms:W3CDTF">2026-02-13T09:38:08Z</dcterms:modified>
  <cp:category>Company Confidential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0x01010021495FEC1CD6F941B8BE3B537DCFC6FF</vt:lpwstr>
  </property>
  <property fmtid="{D5CDD505-2E9C-101B-9397-08002B2CF9AE}" pid="3" name="MediaServiceImageTags">
    <vt:lpwstr/>
  </property>
</Properties>
</file>