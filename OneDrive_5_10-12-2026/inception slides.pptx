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5706648" r:id="rId2"/>
    <p:sldId id="2145706650" r:id="rId3"/>
    <p:sldId id="2147480771" r:id="rId4"/>
    <p:sldId id="214747375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9" autoAdjust="0"/>
    <p:restoredTop sz="94660"/>
  </p:normalViewPr>
  <p:slideViewPr>
    <p:cSldViewPr snapToGrid="0">
      <p:cViewPr varScale="1">
        <p:scale>
          <a:sx n="67" d="100"/>
          <a:sy n="67" d="100"/>
        </p:scale>
        <p:origin x="5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hyperlink" Target="http://www.twitter.com/capgemini" TargetMode="Externa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hyperlink" Target="http://www.twitter.com/capgemini"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8EDD86A9-A101-4431-BC7F-D7A613B745EB}"/>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92E5232F-44F9-4DA7-8CAF-37E7E772B19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ED6443D4-9252-4F48-B3B1-DE1F07A5D421}"/>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00D6E549-1EDB-4087-A87E-246AD0B86307}"/>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9B59D2B6-7CA0-4DD1-ACF9-FE9B371E6A4B}"/>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D752C13A-0707-4DB7-BEE5-11C70CC4104C}"/>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08223041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t>
            </a:r>
            <a:r>
              <a:rPr lang="de-DE" err="1"/>
              <a:t>edit</a:t>
            </a:r>
            <a:r>
              <a:rPr lang="de-DE"/>
              <a:t> alt </a:t>
            </a:r>
            <a:r>
              <a:rPr lang="de-DE" err="1"/>
              <a:t>text</a:t>
            </a:r>
            <a:r>
              <a:rPr lang="de-DE"/>
              <a: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6" name="Group 5">
            <a:extLst>
              <a:ext uri="{FF2B5EF4-FFF2-40B4-BE49-F238E27FC236}">
                <a16:creationId xmlns:a16="http://schemas.microsoft.com/office/drawing/2014/main" id="{138C36DE-BE7C-4EA8-8C11-63DF35071C75}"/>
              </a:ext>
            </a:extLst>
          </p:cNvPr>
          <p:cNvGrpSpPr>
            <a:grpSpLocks noChangeAspect="1"/>
          </p:cNvGrpSpPr>
          <p:nvPr userDrawn="1"/>
        </p:nvGrpSpPr>
        <p:grpSpPr>
          <a:xfrm>
            <a:off x="476900" y="611982"/>
            <a:ext cx="2267015" cy="509586"/>
            <a:chOff x="9550400" y="612775"/>
            <a:chExt cx="2231297" cy="501650"/>
          </a:xfrm>
        </p:grpSpPr>
        <p:sp>
          <p:nvSpPr>
            <p:cNvPr id="8" name="Freeform: Shape 7">
              <a:extLst>
                <a:ext uri="{FF2B5EF4-FFF2-40B4-BE49-F238E27FC236}">
                  <a16:creationId xmlns:a16="http://schemas.microsoft.com/office/drawing/2014/main" id="{F832A913-EBD0-4A52-9BC5-C515E20AA2D2}"/>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6C7C00F4-BABA-40DB-9C59-16A7B33536DE}"/>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06629252-ADFC-4FC9-85E5-6800A45F303B}"/>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DB5264D-26DE-4A16-881C-0B8EE6975DF9}"/>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1478FE54-3447-4979-8CE3-A274C8BD5A44}"/>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53310861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t>
            </a:r>
            <a:r>
              <a:rPr lang="de-DE" err="1"/>
              <a:t>edit</a:t>
            </a:r>
            <a:r>
              <a:rPr lang="de-DE"/>
              <a:t> alt </a:t>
            </a:r>
            <a:r>
              <a:rPr lang="de-DE" err="1"/>
              <a:t>text</a:t>
            </a:r>
            <a:r>
              <a:rPr lang="de-DE"/>
              <a: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0240C396-6AE9-4D76-A223-20E91B036600}"/>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FC704551-0A43-448B-9BC4-076647B2D2FA}"/>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57D7C248-3780-4A7C-95A8-D356BF27AD73}"/>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217CBF3A-5C0A-4C4E-9FD3-E028E791FE81}"/>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0CD80AA6-A949-4FC4-8CD0-6E6D7300DF2C}"/>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E8743398-464F-49A4-8D54-C73C461670F9}"/>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725674675"/>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0761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9961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625326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pic>
        <p:nvPicPr>
          <p:cNvPr id="4" name="Picture Placeholder 4" descr="Farm field in golden twilight">
            <a:extLst>
              <a:ext uri="{FF2B5EF4-FFF2-40B4-BE49-F238E27FC236}">
                <a16:creationId xmlns:a16="http://schemas.microsoft.com/office/drawing/2014/main" id="{B2FA6D47-70A8-03FF-FA4F-7A79E0392464}"/>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0" y="0"/>
            <a:ext cx="12192000" cy="6863542"/>
          </a:xfrm>
          <a:prstGeom prst="rect">
            <a:avLst/>
          </a:prstGeom>
        </p:spPr>
      </p:pic>
      <p:sp>
        <p:nvSpPr>
          <p:cNvPr id="5" name="Rectangle 4">
            <a:extLst>
              <a:ext uri="{FF2B5EF4-FFF2-40B4-BE49-F238E27FC236}">
                <a16:creationId xmlns:a16="http://schemas.microsoft.com/office/drawing/2014/main" id="{260E8849-ED64-8870-61A7-D510A69BF61D}"/>
              </a:ext>
            </a:extLst>
          </p:cNvPr>
          <p:cNvSpPr/>
          <p:nvPr userDrawn="1"/>
        </p:nvSpPr>
        <p:spPr>
          <a:xfrm>
            <a:off x="1271464" y="0"/>
            <a:ext cx="4395043" cy="6858000"/>
          </a:xfrm>
          <a:prstGeom prst="rect">
            <a:avLst/>
          </a:prstGeom>
          <a:solidFill>
            <a:schemeClr val="tx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pic>
        <p:nvPicPr>
          <p:cNvPr id="6" name="Image 20" descr="Une image contenant lampe&#10;&#10;Description générée automatiquement">
            <a:extLst>
              <a:ext uri="{FF2B5EF4-FFF2-40B4-BE49-F238E27FC236}">
                <a16:creationId xmlns:a16="http://schemas.microsoft.com/office/drawing/2014/main" id="{6B4E8FFB-E0DF-E1C1-3738-DAB5D90687F0}"/>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rot="4038493">
            <a:off x="134783" y="1105802"/>
            <a:ext cx="7161496" cy="5065497"/>
          </a:xfrm>
          <a:prstGeom prst="rect">
            <a:avLst/>
          </a:prstGeom>
        </p:spPr>
      </p:pic>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1487489" y="2218438"/>
            <a:ext cx="3962995" cy="1477328"/>
          </a:xfrm>
        </p:spPr>
        <p:txBody>
          <a:bodyPr wrap="square" lIns="0" bIns="0" anchor="t" anchorCtr="0">
            <a:spAutoFit/>
          </a:bodyPr>
          <a:lstStyle>
            <a:lvl1pPr algn="ctr">
              <a:lnSpc>
                <a:spcPct val="100000"/>
              </a:lnSpc>
              <a:defRPr sz="3200" baseline="0">
                <a:solidFill>
                  <a:schemeClr val="bg1"/>
                </a:solidFill>
              </a:defRPr>
            </a:lvl1pPr>
          </a:lstStyle>
          <a:p>
            <a:r>
              <a:rPr lang="en-US"/>
              <a:t>Click to edit Master title style</a:t>
            </a:r>
            <a:endParaRPr lang="en-GB"/>
          </a:p>
        </p:txBody>
      </p:sp>
      <p:grpSp>
        <p:nvGrpSpPr>
          <p:cNvPr id="7" name="Groupe 1">
            <a:extLst>
              <a:ext uri="{FF2B5EF4-FFF2-40B4-BE49-F238E27FC236}">
                <a16:creationId xmlns:a16="http://schemas.microsoft.com/office/drawing/2014/main" id="{62B7986A-DE3C-BC3D-CC9A-259627DC141B}"/>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8" name="Freeform 13">
              <a:extLst>
                <a:ext uri="{FF2B5EF4-FFF2-40B4-BE49-F238E27FC236}">
                  <a16:creationId xmlns:a16="http://schemas.microsoft.com/office/drawing/2014/main" id="{EF7D760A-FC11-6290-1379-4FC5720575CC}"/>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AEDF5A37-5ED2-C3AA-CE14-88B8FBD29A56}"/>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1531242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0" name="Group 9">
            <a:extLst>
              <a:ext uri="{FF2B5EF4-FFF2-40B4-BE49-F238E27FC236}">
                <a16:creationId xmlns:a16="http://schemas.microsoft.com/office/drawing/2014/main" id="{D2BF7E9C-FD5C-450A-A1FB-17FC5765ED64}"/>
              </a:ext>
            </a:extLst>
          </p:cNvPr>
          <p:cNvGrpSpPr>
            <a:grpSpLocks noChangeAspect="1"/>
          </p:cNvGrpSpPr>
          <p:nvPr userDrawn="1"/>
        </p:nvGrpSpPr>
        <p:grpSpPr>
          <a:xfrm>
            <a:off x="411020" y="984393"/>
            <a:ext cx="2231297" cy="501650"/>
            <a:chOff x="9550400" y="612775"/>
            <a:chExt cx="2231297" cy="501650"/>
          </a:xfrm>
        </p:grpSpPr>
        <p:sp>
          <p:nvSpPr>
            <p:cNvPr id="11" name="Freeform: Shape 10">
              <a:extLst>
                <a:ext uri="{FF2B5EF4-FFF2-40B4-BE49-F238E27FC236}">
                  <a16:creationId xmlns:a16="http://schemas.microsoft.com/office/drawing/2014/main" id="{DD26A2F9-4026-4DA7-B00A-AE48A8B0CD4D}"/>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0DCE7524-34A1-429B-91AD-74BE1F944E0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0F68A571-28DB-453F-861D-36D50723ED4D}"/>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23DB0AA-5015-4FEA-A32D-44257CF2BED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3E8CD59B-E3D8-4E45-86AA-3D0BB06038CE}"/>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3" name="Rectangle 2">
            <a:extLst>
              <a:ext uri="{FF2B5EF4-FFF2-40B4-BE49-F238E27FC236}">
                <a16:creationId xmlns:a16="http://schemas.microsoft.com/office/drawing/2014/main" id="{F312F4A2-EA54-5CC2-4EB3-4DDA2BB617FB}"/>
              </a:ext>
            </a:extLst>
          </p:cNvPr>
          <p:cNvSpPr/>
          <p:nvPr userDrawn="1"/>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360,000 team members more </a:t>
            </a:r>
            <a:r>
              <a:rPr lang="en-US" sz="900">
                <a:solidFill>
                  <a:schemeClr val="bg1"/>
                </a:solidFill>
                <a:effectLst/>
                <a:ea typeface="Verdana" panose="020B0604030504040204" pitchFamily="34" charset="0"/>
              </a:rPr>
              <a:t>than</a:t>
            </a:r>
            <a:r>
              <a:rPr lang="en-GB" sz="900">
                <a:solidFill>
                  <a:schemeClr val="bg1"/>
                </a:solidFill>
                <a:effectLst/>
                <a:ea typeface="Verdana" panose="020B0604030504040204" pitchFamily="34" charset="0"/>
              </a:rPr>
              <a:t>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2022 global revenues of €22 billion.</a:t>
            </a:r>
            <a:endParaRPr lang="en-US" sz="900">
              <a:solidFill>
                <a:schemeClr val="bg1"/>
              </a:solidFill>
              <a:effectLst/>
              <a:ea typeface="Verdana" panose="020B0604030504040204" pitchFamily="34" charset="0"/>
            </a:endParaRPr>
          </a:p>
        </p:txBody>
      </p:sp>
      <p:sp>
        <p:nvSpPr>
          <p:cNvPr id="4" name="Rectangle 3">
            <a:extLst>
              <a:ext uri="{FF2B5EF4-FFF2-40B4-BE49-F238E27FC236}">
                <a16:creationId xmlns:a16="http://schemas.microsoft.com/office/drawing/2014/main" id="{C7E6D804-077B-EC6F-9441-45E0C82F8F46}"/>
              </a:ext>
            </a:extLst>
          </p:cNvPr>
          <p:cNvSpPr/>
          <p:nvPr userDrawn="1"/>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sp>
        <p:nvSpPr>
          <p:cNvPr id="5" name="Title 16">
            <a:extLst>
              <a:ext uri="{FF2B5EF4-FFF2-40B4-BE49-F238E27FC236}">
                <a16:creationId xmlns:a16="http://schemas.microsoft.com/office/drawing/2014/main" id="{0B24F4B7-F663-C7C6-FA29-09C32449DCF1}"/>
              </a:ext>
            </a:extLst>
          </p:cNvPr>
          <p:cNvSpPr txBox="1">
            <a:spLocks/>
          </p:cNvSpPr>
          <p:nvPr userDrawn="1"/>
        </p:nvSpPr>
        <p:spPr>
          <a:xfrm>
            <a:off x="6536184" y="2939130"/>
            <a:ext cx="2219960" cy="229615"/>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lt1"/>
                </a:solidFill>
                <a:effectLst/>
                <a:uLnTx/>
                <a:uFillTx/>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nSpc>
                <a:spcPts val="2000"/>
              </a:lnSpc>
              <a:spcBef>
                <a:spcPts val="0"/>
              </a:spcBef>
              <a:defRPr/>
            </a:pPr>
            <a:r>
              <a:rPr lang="en-IN" sz="1400" cap="none">
                <a:solidFill>
                  <a:schemeClr val="bg1"/>
                </a:solidFill>
                <a:latin typeface="Ubuntu" panose="020B0504030602030204" pitchFamily="34" charset="0"/>
              </a:rPr>
              <a:t>About Capgemini</a:t>
            </a:r>
          </a:p>
        </p:txBody>
      </p:sp>
    </p:spTree>
    <p:extLst>
      <p:ext uri="{BB962C8B-B14F-4D97-AF65-F5344CB8AC3E}">
        <p14:creationId xmlns:p14="http://schemas.microsoft.com/office/powerpoint/2010/main" val="134177420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0" name="Group 9">
            <a:extLst>
              <a:ext uri="{FF2B5EF4-FFF2-40B4-BE49-F238E27FC236}">
                <a16:creationId xmlns:a16="http://schemas.microsoft.com/office/drawing/2014/main" id="{665BE2A4-4ACC-4E54-9A85-77DFC7F65F01}"/>
              </a:ext>
            </a:extLst>
          </p:cNvPr>
          <p:cNvGrpSpPr>
            <a:grpSpLocks noChangeAspect="1"/>
          </p:cNvGrpSpPr>
          <p:nvPr userDrawn="1"/>
        </p:nvGrpSpPr>
        <p:grpSpPr>
          <a:xfrm>
            <a:off x="9161718" y="5747778"/>
            <a:ext cx="2231297" cy="501650"/>
            <a:chOff x="9550400" y="612775"/>
            <a:chExt cx="2231297" cy="501650"/>
          </a:xfrm>
        </p:grpSpPr>
        <p:sp>
          <p:nvSpPr>
            <p:cNvPr id="11" name="Freeform: Shape 10">
              <a:extLst>
                <a:ext uri="{FF2B5EF4-FFF2-40B4-BE49-F238E27FC236}">
                  <a16:creationId xmlns:a16="http://schemas.microsoft.com/office/drawing/2014/main" id="{0CE61B69-C06F-4D0A-9437-BC399186700C}"/>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6F08509-FA85-4193-A497-0E692E886745}"/>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A40793F6-8550-4F9A-98A1-4BD1C63DE3E6}"/>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AF68DDBF-3EE2-4BFD-9E41-A500A2DB8E18}"/>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F22E4E1F-DFDD-4EF6-8781-D2EC7D60F89D}"/>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860623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690473094"/>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Only Title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938449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subtitle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Espace réservé du texte 4">
            <a:extLst>
              <a:ext uri="{FF2B5EF4-FFF2-40B4-BE49-F238E27FC236}">
                <a16:creationId xmlns:a16="http://schemas.microsoft.com/office/drawing/2014/main" id="{EE59D983-962A-69CE-5BC3-1989D22BA679}"/>
              </a:ext>
            </a:extLst>
          </p:cNvPr>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24488565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65814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8" name="Rectangle 27">
            <a:extLst>
              <a:ext uri="{FF2B5EF4-FFF2-40B4-BE49-F238E27FC236}">
                <a16:creationId xmlns:a16="http://schemas.microsoft.com/office/drawing/2014/main" id="{B1133F59-1301-4D8F-A396-71B6A669F37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COUNTRY Comm/Ag PAS Implementation | July 2023</a:t>
            </a:r>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95135030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9" Type="http://schemas.microsoft.com/office/2007/relationships/hdphoto" Target="../media/hdphoto4.wdp"/><Relationship Id="rId3" Type="http://schemas.openxmlformats.org/officeDocument/2006/relationships/image" Target="../media/image11.svg"/><Relationship Id="rId21" Type="http://schemas.openxmlformats.org/officeDocument/2006/relationships/image" Target="../media/image29.svg"/><Relationship Id="rId34" Type="http://schemas.openxmlformats.org/officeDocument/2006/relationships/image" Target="../media/image41.png"/><Relationship Id="rId42" Type="http://schemas.openxmlformats.org/officeDocument/2006/relationships/image" Target="../media/image45.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svg"/><Relationship Id="rId25" Type="http://schemas.openxmlformats.org/officeDocument/2006/relationships/image" Target="../media/image33.svg"/><Relationship Id="rId33" Type="http://schemas.microsoft.com/office/2007/relationships/hdphoto" Target="../media/hdphoto1.wdp"/><Relationship Id="rId38" Type="http://schemas.openxmlformats.org/officeDocument/2006/relationships/image" Target="../media/image43.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41" Type="http://schemas.microsoft.com/office/2007/relationships/hdphoto" Target="../media/hdphoto5.wdp"/><Relationship Id="rId1" Type="http://schemas.openxmlformats.org/officeDocument/2006/relationships/slideLayout" Target="../slideLayouts/slideLayout6.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microsoft.com/office/2007/relationships/hdphoto" Target="../media/hdphoto3.wdp"/><Relationship Id="rId40" Type="http://schemas.openxmlformats.org/officeDocument/2006/relationships/image" Target="../media/image44.png"/><Relationship Id="rId5" Type="http://schemas.openxmlformats.org/officeDocument/2006/relationships/image" Target="../media/image13.svg"/><Relationship Id="rId15" Type="http://schemas.openxmlformats.org/officeDocument/2006/relationships/image" Target="../media/image23.svg"/><Relationship Id="rId23" Type="http://schemas.openxmlformats.org/officeDocument/2006/relationships/image" Target="../media/image31.svg"/><Relationship Id="rId28" Type="http://schemas.openxmlformats.org/officeDocument/2006/relationships/image" Target="../media/image36.png"/><Relationship Id="rId36" Type="http://schemas.openxmlformats.org/officeDocument/2006/relationships/image" Target="../media/image42.png"/><Relationship Id="rId10" Type="http://schemas.openxmlformats.org/officeDocument/2006/relationships/image" Target="../media/image18.png"/><Relationship Id="rId19" Type="http://schemas.openxmlformats.org/officeDocument/2006/relationships/image" Target="../media/image27.sv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microsoft.com/office/2007/relationships/hdphoto" Target="../media/hdphoto2.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1B61A-4818-1507-1D42-BBA73FF5FB4F}"/>
              </a:ext>
            </a:extLst>
          </p:cNvPr>
          <p:cNvSpPr>
            <a:spLocks noGrp="1"/>
          </p:cNvSpPr>
          <p:nvPr>
            <p:ph type="title"/>
          </p:nvPr>
        </p:nvSpPr>
        <p:spPr>
          <a:xfrm>
            <a:off x="404813" y="388188"/>
            <a:ext cx="10947772" cy="716711"/>
          </a:xfrm>
        </p:spPr>
        <p:txBody>
          <a:bodyPr/>
          <a:lstStyle/>
          <a:p>
            <a:r>
              <a:rPr lang="en-IN"/>
              <a:t>PROPOSED Delivery methodology</a:t>
            </a:r>
            <a:br>
              <a:rPr lang="en-IN"/>
            </a:br>
            <a:r>
              <a:rPr lang="en-IN" sz="1800">
                <a:solidFill>
                  <a:schemeClr val="accent2"/>
                </a:solidFill>
              </a:rPr>
              <a:t>Enabling Quality, agility, predictability and acceleration of delivery</a:t>
            </a:r>
            <a:endParaRPr lang="en-US">
              <a:solidFill>
                <a:schemeClr val="accent2"/>
              </a:solidFill>
            </a:endParaRPr>
          </a:p>
        </p:txBody>
      </p:sp>
      <p:sp>
        <p:nvSpPr>
          <p:cNvPr id="3" name="Rectangle 2">
            <a:extLst>
              <a:ext uri="{FF2B5EF4-FFF2-40B4-BE49-F238E27FC236}">
                <a16:creationId xmlns:a16="http://schemas.microsoft.com/office/drawing/2014/main" id="{201F813A-428C-87CB-48A2-DA3D4B7A2C54}"/>
              </a:ext>
            </a:extLst>
          </p:cNvPr>
          <p:cNvSpPr/>
          <p:nvPr/>
        </p:nvSpPr>
        <p:spPr>
          <a:xfrm>
            <a:off x="406400" y="5767387"/>
            <a:ext cx="11379200" cy="6953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rtlCol="0" anchor="ctr"/>
          <a:lstStyle/>
          <a:p>
            <a:pPr algn="ctr"/>
            <a:r>
              <a:rPr lang="en-IN" sz="1200">
                <a:solidFill>
                  <a:schemeClr val="bg1"/>
                </a:solidFill>
              </a:rPr>
              <a:t>Our methodology provides a jump-start through the reuse of templates, assets &amp; accelerators, obtained from experience of core insurance implementations at the global level. We will jointly tailor the approach with Country Financial to minimize risks &amp; drive predictable outcomes. </a:t>
            </a:r>
          </a:p>
        </p:txBody>
      </p:sp>
      <p:sp>
        <p:nvSpPr>
          <p:cNvPr id="4" name="Round Same Side Corner Rectangle 69">
            <a:extLst>
              <a:ext uri="{FF2B5EF4-FFF2-40B4-BE49-F238E27FC236}">
                <a16:creationId xmlns:a16="http://schemas.microsoft.com/office/drawing/2014/main" id="{80C6FEDB-4A58-B201-F304-344CF9959845}"/>
              </a:ext>
            </a:extLst>
          </p:cNvPr>
          <p:cNvSpPr/>
          <p:nvPr/>
        </p:nvSpPr>
        <p:spPr bwMode="auto">
          <a:xfrm>
            <a:off x="406200" y="4075979"/>
            <a:ext cx="11379600" cy="274798"/>
          </a:xfrm>
          <a:prstGeom prst="round2SameRect">
            <a:avLst/>
          </a:prstGeom>
          <a:solidFill>
            <a:schemeClr val="accent1">
              <a:lumMod val="50000"/>
            </a:schemeClr>
          </a:solidFill>
          <a:ln w="12700" cap="flat" cmpd="sng" algn="ctr">
            <a:noFill/>
            <a:prstDash val="solid"/>
            <a:miter lim="800000"/>
          </a:ln>
          <a:effectLst/>
        </p:spPr>
        <p:txBody>
          <a:bodyPr rot="0" spcFirstLastPara="0" vertOverflow="overflow" horzOverflow="overflow" vert="horz" wrap="square" lIns="91440" tIns="45720" rIns="91440" bIns="72000" numCol="1" spcCol="0" rtlCol="0" fromWordArt="0" anchor="ctr" anchorCtr="0" forceAA="0" compatLnSpc="1">
            <a:prstTxWarp prst="textNoShape">
              <a:avLst/>
            </a:prstTxWarp>
            <a:noAutofit/>
          </a:bodyPr>
          <a:lstStyle/>
          <a:p>
            <a:pPr marL="0" marR="0" lvl="0" indent="0" algn="ctr" defTabSz="632258" rtl="0" eaLnBrk="0"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ea typeface="+mn-ea"/>
                <a:cs typeface="Arial" pitchFamily="34" charset="0"/>
              </a:rPr>
              <a:t>Key Results</a:t>
            </a:r>
          </a:p>
        </p:txBody>
      </p:sp>
      <p:grpSp>
        <p:nvGrpSpPr>
          <p:cNvPr id="12" name="Group 11">
            <a:extLst>
              <a:ext uri="{FF2B5EF4-FFF2-40B4-BE49-F238E27FC236}">
                <a16:creationId xmlns:a16="http://schemas.microsoft.com/office/drawing/2014/main" id="{0A812459-FFAB-3B67-F74A-EF67987BC758}"/>
              </a:ext>
            </a:extLst>
          </p:cNvPr>
          <p:cNvGrpSpPr/>
          <p:nvPr/>
        </p:nvGrpSpPr>
        <p:grpSpPr>
          <a:xfrm>
            <a:off x="406400" y="1675222"/>
            <a:ext cx="11379400" cy="353702"/>
            <a:chOff x="406400" y="1700808"/>
            <a:chExt cx="11379400" cy="353702"/>
          </a:xfrm>
        </p:grpSpPr>
        <p:sp>
          <p:nvSpPr>
            <p:cNvPr id="6" name="Arrow: Pentagon 60">
              <a:extLst>
                <a:ext uri="{FF2B5EF4-FFF2-40B4-BE49-F238E27FC236}">
                  <a16:creationId xmlns:a16="http://schemas.microsoft.com/office/drawing/2014/main" id="{08C9B31B-D031-4952-F143-BD8252B21A62}"/>
                </a:ext>
              </a:extLst>
            </p:cNvPr>
            <p:cNvSpPr/>
            <p:nvPr/>
          </p:nvSpPr>
          <p:spPr>
            <a:xfrm>
              <a:off x="406400" y="1700808"/>
              <a:ext cx="2379735" cy="353702"/>
            </a:xfrm>
            <a:prstGeom prst="homePlate">
              <a:avLst>
                <a:gd name="adj" fmla="val 11543"/>
              </a:avLst>
            </a:prstGeom>
            <a:solidFill>
              <a:schemeClr val="accent1"/>
            </a:solidFill>
            <a:ln w="19050" cap="flat" cmpd="sng" algn="ctr">
              <a:noFill/>
              <a:prstDash val="solid"/>
              <a:miter lim="800000"/>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0">
                  <a:solidFill>
                    <a:schemeClr val="bg1"/>
                  </a:solidFill>
                </a:rPr>
                <a:t>Inception</a:t>
              </a:r>
              <a:endParaRPr kumimoji="0" lang="en-US" sz="1100" b="1" i="0" u="none" strike="noStrike" kern="0" cap="none" spc="0" normalizeH="0" baseline="0" noProof="0">
                <a:ln>
                  <a:noFill/>
                </a:ln>
                <a:solidFill>
                  <a:schemeClr val="bg1"/>
                </a:solidFill>
                <a:effectLst/>
                <a:uLnTx/>
                <a:uFillTx/>
              </a:endParaRPr>
            </a:p>
          </p:txBody>
        </p:sp>
        <p:sp>
          <p:nvSpPr>
            <p:cNvPr id="7" name="Arrow: Chevron 61">
              <a:extLst>
                <a:ext uri="{FF2B5EF4-FFF2-40B4-BE49-F238E27FC236}">
                  <a16:creationId xmlns:a16="http://schemas.microsoft.com/office/drawing/2014/main" id="{2E1CB7DB-9A10-1D0E-A439-A633A53FF940}"/>
                </a:ext>
              </a:extLst>
            </p:cNvPr>
            <p:cNvSpPr/>
            <p:nvPr/>
          </p:nvSpPr>
          <p:spPr>
            <a:xfrm>
              <a:off x="2762382" y="1700808"/>
              <a:ext cx="6276712" cy="353702"/>
            </a:xfrm>
            <a:prstGeom prst="chevron">
              <a:avLst>
                <a:gd name="adj" fmla="val 11543"/>
              </a:avLst>
            </a:prstGeom>
            <a:solidFill>
              <a:schemeClr val="accent2">
                <a:lumMod val="75000"/>
              </a:schemeClr>
            </a:solidFill>
            <a:ln w="19050" cap="flat" cmpd="sng" algn="ctr">
              <a:noFill/>
              <a:prstDash val="solid"/>
              <a:miter lim="800000"/>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mn-cs"/>
                </a:rPr>
                <a:t>Design and Build (Development Sprints)</a:t>
              </a:r>
            </a:p>
          </p:txBody>
        </p:sp>
        <p:sp>
          <p:nvSpPr>
            <p:cNvPr id="8" name="Arrow: Chevron 63">
              <a:extLst>
                <a:ext uri="{FF2B5EF4-FFF2-40B4-BE49-F238E27FC236}">
                  <a16:creationId xmlns:a16="http://schemas.microsoft.com/office/drawing/2014/main" id="{32541998-5E97-F881-CF4C-02BECD299C1D}"/>
                </a:ext>
              </a:extLst>
            </p:cNvPr>
            <p:cNvSpPr/>
            <p:nvPr/>
          </p:nvSpPr>
          <p:spPr>
            <a:xfrm>
              <a:off x="10651331" y="1700808"/>
              <a:ext cx="1134469" cy="353702"/>
            </a:xfrm>
            <a:prstGeom prst="chevron">
              <a:avLst>
                <a:gd name="adj" fmla="val 11543"/>
              </a:avLst>
            </a:prstGeom>
            <a:solidFill>
              <a:schemeClr val="accent3">
                <a:lumMod val="50000"/>
                <a:lumOff val="50000"/>
              </a:schemeClr>
            </a:solidFill>
            <a:ln w="19050" cap="flat" cmpd="sng" algn="ctr">
              <a:noFill/>
              <a:prstDash val="solid"/>
              <a:miter lim="800000"/>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mn-cs"/>
                </a:rPr>
                <a:t>Deployment </a:t>
              </a:r>
              <a:br>
                <a:rPr kumimoji="0" lang="en-US" sz="1100" b="1" i="0" u="none" strike="noStrike" kern="0" cap="none" spc="0" normalizeH="0" baseline="0" noProof="0">
                  <a:ln>
                    <a:noFill/>
                  </a:ln>
                  <a:solidFill>
                    <a:schemeClr val="bg1"/>
                  </a:solidFill>
                  <a:effectLst/>
                  <a:uLnTx/>
                  <a:uFillTx/>
                  <a:ea typeface="+mn-ea"/>
                  <a:cs typeface="+mn-cs"/>
                </a:rPr>
              </a:br>
              <a:r>
                <a:rPr kumimoji="0" lang="en-US" sz="1100" b="1" i="0" u="none" strike="noStrike" kern="0" cap="none" spc="0" normalizeH="0" baseline="0" noProof="0">
                  <a:ln>
                    <a:noFill/>
                  </a:ln>
                  <a:solidFill>
                    <a:schemeClr val="bg1"/>
                  </a:solidFill>
                  <a:effectLst/>
                  <a:uLnTx/>
                  <a:uFillTx/>
                  <a:ea typeface="+mn-ea"/>
                  <a:cs typeface="+mn-cs"/>
                </a:rPr>
                <a:t>&amp; Hyper-Care</a:t>
              </a:r>
            </a:p>
          </p:txBody>
        </p:sp>
        <p:sp>
          <p:nvSpPr>
            <p:cNvPr id="9" name="Arrow: Chevron 64">
              <a:extLst>
                <a:ext uri="{FF2B5EF4-FFF2-40B4-BE49-F238E27FC236}">
                  <a16:creationId xmlns:a16="http://schemas.microsoft.com/office/drawing/2014/main" id="{E2974288-706F-36B4-4DD9-9D7C9A115462}"/>
                </a:ext>
              </a:extLst>
            </p:cNvPr>
            <p:cNvSpPr/>
            <p:nvPr/>
          </p:nvSpPr>
          <p:spPr>
            <a:xfrm>
              <a:off x="9015341" y="1700808"/>
              <a:ext cx="1659743" cy="353702"/>
            </a:xfrm>
            <a:prstGeom prst="chevron">
              <a:avLst>
                <a:gd name="adj" fmla="val 11543"/>
              </a:avLst>
            </a:prstGeom>
            <a:solidFill>
              <a:schemeClr val="accent5"/>
            </a:solidFill>
            <a:ln w="19050" cap="flat" cmpd="sng" algn="ctr">
              <a:noFill/>
              <a:prstDash val="solid"/>
              <a:miter lim="800000"/>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mn-cs"/>
                </a:rPr>
                <a:t>Stabilization &amp; UAT</a:t>
              </a:r>
            </a:p>
          </p:txBody>
        </p:sp>
      </p:grpSp>
      <p:pic>
        <p:nvPicPr>
          <p:cNvPr id="13" name="Graphic 12" descr="Take Off with solid fill">
            <a:extLst>
              <a:ext uri="{FF2B5EF4-FFF2-40B4-BE49-F238E27FC236}">
                <a16:creationId xmlns:a16="http://schemas.microsoft.com/office/drawing/2014/main" id="{C951992E-1E5B-00B3-954F-FE9C8A9153A2}"/>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6713" y="1223651"/>
            <a:ext cx="562201" cy="562201"/>
          </a:xfrm>
          <a:prstGeom prst="rect">
            <a:avLst/>
          </a:prstGeom>
        </p:spPr>
      </p:pic>
      <p:pic>
        <p:nvPicPr>
          <p:cNvPr id="14" name="Graphic 13" descr="Landing with solid fill">
            <a:extLst>
              <a:ext uri="{FF2B5EF4-FFF2-40B4-BE49-F238E27FC236}">
                <a16:creationId xmlns:a16="http://schemas.microsoft.com/office/drawing/2014/main" id="{BA56CD21-216D-F05F-5763-5854DCE649E7}"/>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110040" y="1223651"/>
            <a:ext cx="562201" cy="562201"/>
          </a:xfrm>
          <a:prstGeom prst="rect">
            <a:avLst/>
          </a:prstGeom>
        </p:spPr>
      </p:pic>
      <p:grpSp>
        <p:nvGrpSpPr>
          <p:cNvPr id="23" name="Group 22">
            <a:extLst>
              <a:ext uri="{FF2B5EF4-FFF2-40B4-BE49-F238E27FC236}">
                <a16:creationId xmlns:a16="http://schemas.microsoft.com/office/drawing/2014/main" id="{54C99F23-38B9-B8DD-4841-73A5200C9E8F}"/>
              </a:ext>
            </a:extLst>
          </p:cNvPr>
          <p:cNvGrpSpPr/>
          <p:nvPr/>
        </p:nvGrpSpPr>
        <p:grpSpPr>
          <a:xfrm>
            <a:off x="406399" y="4348397"/>
            <a:ext cx="11377613" cy="1283303"/>
            <a:chOff x="406399" y="2066866"/>
            <a:chExt cx="11377613" cy="1411125"/>
          </a:xfrm>
        </p:grpSpPr>
        <p:sp>
          <p:nvSpPr>
            <p:cNvPr id="15" name="Rectangle 14">
              <a:extLst>
                <a:ext uri="{FF2B5EF4-FFF2-40B4-BE49-F238E27FC236}">
                  <a16:creationId xmlns:a16="http://schemas.microsoft.com/office/drawing/2014/main" id="{251A8CAA-3679-D91A-F4B2-2EC00F38EB52}"/>
                </a:ext>
              </a:extLst>
            </p:cNvPr>
            <p:cNvSpPr/>
            <p:nvPr/>
          </p:nvSpPr>
          <p:spPr>
            <a:xfrm>
              <a:off x="406399" y="2066866"/>
              <a:ext cx="11377613" cy="1411125"/>
            </a:xfrm>
            <a:prstGeom prst="rect">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ea typeface="+mn-ea"/>
                <a:cs typeface="+mn-cs"/>
              </a:endParaRPr>
            </a:p>
          </p:txBody>
        </p:sp>
        <p:cxnSp>
          <p:nvCxnSpPr>
            <p:cNvPr id="20" name="Straight Connector 19">
              <a:extLst>
                <a:ext uri="{FF2B5EF4-FFF2-40B4-BE49-F238E27FC236}">
                  <a16:creationId xmlns:a16="http://schemas.microsoft.com/office/drawing/2014/main" id="{2A623DA8-982E-E2E5-0F00-C9E51D6BDD44}"/>
                </a:ext>
              </a:extLst>
            </p:cNvPr>
            <p:cNvCxnSpPr>
              <a:cxnSpLocks/>
            </p:cNvCxnSpPr>
            <p:nvPr/>
          </p:nvCxnSpPr>
          <p:spPr>
            <a:xfrm>
              <a:off x="2756198" y="2066866"/>
              <a:ext cx="0" cy="1411125"/>
            </a:xfrm>
            <a:prstGeom prst="line">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Connector 20">
              <a:extLst>
                <a:ext uri="{FF2B5EF4-FFF2-40B4-BE49-F238E27FC236}">
                  <a16:creationId xmlns:a16="http://schemas.microsoft.com/office/drawing/2014/main" id="{B8219410-CFEC-B69A-4AED-D195F7B600B1}"/>
                </a:ext>
              </a:extLst>
            </p:cNvPr>
            <p:cNvCxnSpPr>
              <a:cxnSpLocks/>
            </p:cNvCxnSpPr>
            <p:nvPr/>
          </p:nvCxnSpPr>
          <p:spPr>
            <a:xfrm>
              <a:off x="9008138" y="2066866"/>
              <a:ext cx="0" cy="1411125"/>
            </a:xfrm>
            <a:prstGeom prst="line">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A29865E7-C375-1521-92CE-A5023DC57897}"/>
                </a:ext>
              </a:extLst>
            </p:cNvPr>
            <p:cNvCxnSpPr>
              <a:cxnSpLocks/>
            </p:cNvCxnSpPr>
            <p:nvPr/>
          </p:nvCxnSpPr>
          <p:spPr>
            <a:xfrm>
              <a:off x="10646509" y="2066866"/>
              <a:ext cx="0" cy="1411125"/>
            </a:xfrm>
            <a:prstGeom prst="line">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2DE8AB69-178C-2FC7-ED53-DCF258BA3AD5}"/>
                </a:ext>
              </a:extLst>
            </p:cNvPr>
            <p:cNvCxnSpPr>
              <a:cxnSpLocks/>
            </p:cNvCxnSpPr>
            <p:nvPr/>
          </p:nvCxnSpPr>
          <p:spPr>
            <a:xfrm>
              <a:off x="7302996" y="2066866"/>
              <a:ext cx="0" cy="1411125"/>
            </a:xfrm>
            <a:prstGeom prst="line">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A77EE9ED-99B0-6353-DE41-F59AFE2B10E3}"/>
                </a:ext>
              </a:extLst>
            </p:cNvPr>
            <p:cNvCxnSpPr>
              <a:cxnSpLocks/>
            </p:cNvCxnSpPr>
            <p:nvPr/>
          </p:nvCxnSpPr>
          <p:spPr>
            <a:xfrm flipH="1">
              <a:off x="10640440" y="2819562"/>
              <a:ext cx="1143572" cy="0"/>
            </a:xfrm>
            <a:prstGeom prst="line">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cxnSp>
      </p:grpSp>
      <p:grpSp>
        <p:nvGrpSpPr>
          <p:cNvPr id="34" name="Group 33">
            <a:extLst>
              <a:ext uri="{FF2B5EF4-FFF2-40B4-BE49-F238E27FC236}">
                <a16:creationId xmlns:a16="http://schemas.microsoft.com/office/drawing/2014/main" id="{7CE5726F-DCA8-CC98-9950-FF85F2F6725A}"/>
              </a:ext>
            </a:extLst>
          </p:cNvPr>
          <p:cNvGrpSpPr/>
          <p:nvPr/>
        </p:nvGrpSpPr>
        <p:grpSpPr>
          <a:xfrm>
            <a:off x="856272" y="4458466"/>
            <a:ext cx="2038269" cy="1084526"/>
            <a:chOff x="856272" y="4429586"/>
            <a:chExt cx="2038270" cy="1175154"/>
          </a:xfrm>
        </p:grpSpPr>
        <p:sp>
          <p:nvSpPr>
            <p:cNvPr id="24" name="Rectangle 23">
              <a:extLst>
                <a:ext uri="{FF2B5EF4-FFF2-40B4-BE49-F238E27FC236}">
                  <a16:creationId xmlns:a16="http://schemas.microsoft.com/office/drawing/2014/main" id="{3EDBFCA9-6E5E-0F80-826A-A0A646A4BCA9}"/>
                </a:ext>
              </a:extLst>
            </p:cNvPr>
            <p:cNvSpPr/>
            <p:nvPr/>
          </p:nvSpPr>
          <p:spPr>
            <a:xfrm>
              <a:off x="856272" y="5304594"/>
              <a:ext cx="2038270" cy="300146"/>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Backlog with estimates loaded in </a:t>
              </a:r>
              <a:br>
                <a:rPr kumimoji="0" lang="en-US" sz="900" b="0" i="0" u="none" strike="noStrike" kern="0" cap="none" spc="0" normalizeH="0" baseline="0" noProof="0">
                  <a:ln>
                    <a:noFill/>
                  </a:ln>
                  <a:solidFill>
                    <a:schemeClr val="bg1"/>
                  </a:solidFill>
                  <a:effectLst/>
                  <a:uLnTx/>
                  <a:uFillTx/>
                </a:rPr>
              </a:br>
              <a:r>
                <a:rPr kumimoji="0" lang="en-US" sz="900" b="0" i="0" u="none" strike="noStrike" kern="0" cap="none" spc="0" normalizeH="0" baseline="0" noProof="0">
                  <a:ln>
                    <a:noFill/>
                  </a:ln>
                  <a:solidFill>
                    <a:schemeClr val="bg1"/>
                  </a:solidFill>
                  <a:effectLst/>
                  <a:uLnTx/>
                  <a:uFillTx/>
                </a:rPr>
                <a:t>JIRA</a:t>
              </a:r>
              <a:r>
                <a:rPr lang="en-US" sz="900" kern="0">
                  <a:solidFill>
                    <a:schemeClr val="bg1"/>
                  </a:solidFill>
                </a:rPr>
                <a:t> (T</a:t>
              </a:r>
              <a:r>
                <a:rPr kumimoji="0" lang="en-US" sz="900" b="0" i="0" u="none" strike="noStrike" kern="0" cap="none" spc="0" normalizeH="0" baseline="0" noProof="0">
                  <a:ln>
                    <a:noFill/>
                  </a:ln>
                  <a:solidFill>
                    <a:schemeClr val="bg1"/>
                  </a:solidFill>
                  <a:effectLst/>
                  <a:uLnTx/>
                  <a:uFillTx/>
                </a:rPr>
                <a:t>ask </a:t>
              </a:r>
              <a:r>
                <a:rPr lang="en-US" sz="900" kern="0">
                  <a:solidFill>
                    <a:schemeClr val="bg1"/>
                  </a:solidFill>
                </a:rPr>
                <a:t>M</a:t>
              </a:r>
              <a:r>
                <a:rPr kumimoji="0" lang="en-US" sz="900" b="0" i="0" u="none" strike="noStrike" kern="0" cap="none" spc="0" normalizeH="0" baseline="0" noProof="0">
                  <a:ln>
                    <a:noFill/>
                  </a:ln>
                  <a:solidFill>
                    <a:schemeClr val="bg1"/>
                  </a:solidFill>
                  <a:effectLst/>
                  <a:uLnTx/>
                  <a:uFillTx/>
                </a:rPr>
                <a:t>anagement </a:t>
              </a:r>
              <a:r>
                <a:rPr lang="en-US" sz="900" kern="0">
                  <a:solidFill>
                    <a:schemeClr val="bg1"/>
                  </a:solidFill>
                </a:rPr>
                <a:t>T</a:t>
              </a:r>
              <a:r>
                <a:rPr kumimoji="0" lang="en-US" sz="900" b="0" i="0" u="none" strike="noStrike" kern="0" cap="none" spc="0" normalizeH="0" baseline="0" noProof="0">
                  <a:ln>
                    <a:noFill/>
                  </a:ln>
                  <a:solidFill>
                    <a:schemeClr val="bg1"/>
                  </a:solidFill>
                  <a:effectLst/>
                  <a:uLnTx/>
                  <a:uFillTx/>
                </a:rPr>
                <a:t>ool)</a:t>
              </a:r>
            </a:p>
          </p:txBody>
        </p:sp>
        <p:sp>
          <p:nvSpPr>
            <p:cNvPr id="25" name="Rectangle 24">
              <a:extLst>
                <a:ext uri="{FF2B5EF4-FFF2-40B4-BE49-F238E27FC236}">
                  <a16:creationId xmlns:a16="http://schemas.microsoft.com/office/drawing/2014/main" id="{3C08E8FD-6A6F-84AC-AC39-761AD55F044D}"/>
                </a:ext>
              </a:extLst>
            </p:cNvPr>
            <p:cNvSpPr/>
            <p:nvPr/>
          </p:nvSpPr>
          <p:spPr>
            <a:xfrm>
              <a:off x="856272" y="4429586"/>
              <a:ext cx="2038270" cy="276999"/>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mn-cs"/>
                </a:rPr>
                <a:t>User Stories for </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mn-cs"/>
                </a:rPr>
                <a:t>OOTB Functionalities</a:t>
              </a:r>
            </a:p>
          </p:txBody>
        </p:sp>
        <p:sp>
          <p:nvSpPr>
            <p:cNvPr id="26" name="Rectangle 25">
              <a:extLst>
                <a:ext uri="{FF2B5EF4-FFF2-40B4-BE49-F238E27FC236}">
                  <a16:creationId xmlns:a16="http://schemas.microsoft.com/office/drawing/2014/main" id="{3A8E5547-1E04-5882-CF05-0594A73A789B}"/>
                </a:ext>
              </a:extLst>
            </p:cNvPr>
            <p:cNvSpPr/>
            <p:nvPr/>
          </p:nvSpPr>
          <p:spPr>
            <a:xfrm>
              <a:off x="856272" y="4867090"/>
              <a:ext cx="2038270" cy="276999"/>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mn-cs"/>
                </a:rPr>
                <a:t>High Level Designs, </a:t>
              </a: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mn-cs"/>
                </a:rPr>
                <a:t>Solution Blueprints, Test Strategy</a:t>
              </a:r>
            </a:p>
          </p:txBody>
        </p:sp>
      </p:grpSp>
      <p:grpSp>
        <p:nvGrpSpPr>
          <p:cNvPr id="35" name="Group 34">
            <a:extLst>
              <a:ext uri="{FF2B5EF4-FFF2-40B4-BE49-F238E27FC236}">
                <a16:creationId xmlns:a16="http://schemas.microsoft.com/office/drawing/2014/main" id="{B7A8EF1A-04A6-5699-119F-6CAD7012D7B8}"/>
              </a:ext>
            </a:extLst>
          </p:cNvPr>
          <p:cNvGrpSpPr/>
          <p:nvPr/>
        </p:nvGrpSpPr>
        <p:grpSpPr>
          <a:xfrm>
            <a:off x="3311054" y="4428195"/>
            <a:ext cx="3420001" cy="1123707"/>
            <a:chOff x="3431704" y="4361197"/>
            <a:chExt cx="3420001" cy="1182110"/>
          </a:xfrm>
        </p:grpSpPr>
        <p:sp>
          <p:nvSpPr>
            <p:cNvPr id="27" name="Rectangle 26">
              <a:extLst>
                <a:ext uri="{FF2B5EF4-FFF2-40B4-BE49-F238E27FC236}">
                  <a16:creationId xmlns:a16="http://schemas.microsoft.com/office/drawing/2014/main" id="{3F0CF34B-0CAE-40C1-9A4F-439E5FE8D55E}"/>
                </a:ext>
              </a:extLst>
            </p:cNvPr>
            <p:cNvSpPr/>
            <p:nvPr/>
          </p:nvSpPr>
          <p:spPr>
            <a:xfrm>
              <a:off x="3431704" y="4361197"/>
              <a:ext cx="3420001" cy="276999"/>
            </a:xfrm>
            <a:prstGeom prst="rect">
              <a:avLst/>
            </a:prstGeom>
          </p:spPr>
          <p:txBody>
            <a:bodyPr wrap="square" lIns="0" tIns="0" rIns="0" bIns="0">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cs typeface="Arial" pitchFamily="34" charset="0"/>
                </a:rPr>
                <a:t>The </a:t>
              </a:r>
              <a:r>
                <a:rPr kumimoji="0" lang="en-US" sz="900" b="1" i="0" u="none" strike="noStrike" kern="0" cap="none" spc="0" normalizeH="0" baseline="0" noProof="0">
                  <a:ln>
                    <a:noFill/>
                  </a:ln>
                  <a:solidFill>
                    <a:schemeClr val="bg1"/>
                  </a:solidFill>
                  <a:effectLst/>
                  <a:uLnTx/>
                  <a:uFillTx/>
                  <a:cs typeface="Arial" pitchFamily="34" charset="0"/>
                </a:rPr>
                <a:t>software</a:t>
              </a:r>
              <a:r>
                <a:rPr kumimoji="0" lang="en-US" sz="900" b="0" i="0" u="none" strike="noStrike" kern="0" cap="none" spc="0" normalizeH="0" baseline="0" noProof="0">
                  <a:ln>
                    <a:noFill/>
                  </a:ln>
                  <a:solidFill>
                    <a:schemeClr val="bg1"/>
                  </a:solidFill>
                  <a:effectLst/>
                  <a:uLnTx/>
                  <a:uFillTx/>
                  <a:cs typeface="Arial" pitchFamily="34" charset="0"/>
                </a:rPr>
                <a:t> is developed during each sprint; </a:t>
              </a:r>
              <a:r>
                <a:rPr kumimoji="0" lang="en-US" sz="900" b="1" i="0" u="none" strike="noStrike" kern="0" cap="none" spc="0" normalizeH="0" baseline="0" noProof="0">
                  <a:ln>
                    <a:noFill/>
                  </a:ln>
                  <a:solidFill>
                    <a:schemeClr val="bg1"/>
                  </a:solidFill>
                  <a:effectLst/>
                  <a:uLnTx/>
                  <a:uFillTx/>
                  <a:cs typeface="Arial" pitchFamily="34" charset="0"/>
                </a:rPr>
                <a:t>tested</a:t>
              </a:r>
              <a:r>
                <a:rPr kumimoji="0" lang="en-US" sz="900" b="0" i="0" u="none" strike="noStrike" kern="0" cap="none" spc="0" normalizeH="0" baseline="0" noProof="0">
                  <a:ln>
                    <a:noFill/>
                  </a:ln>
                  <a:solidFill>
                    <a:schemeClr val="bg1"/>
                  </a:solidFill>
                  <a:effectLst/>
                  <a:uLnTx/>
                  <a:uFillTx/>
                  <a:cs typeface="Arial" pitchFamily="34" charset="0"/>
                </a:rPr>
                <a:t> and </a:t>
              </a:r>
              <a:r>
                <a:rPr kumimoji="0" lang="en-US" sz="900" b="1" i="0" u="none" strike="noStrike" kern="0" cap="none" spc="0" normalizeH="0" baseline="0" noProof="0">
                  <a:ln>
                    <a:noFill/>
                  </a:ln>
                  <a:solidFill>
                    <a:schemeClr val="bg1"/>
                  </a:solidFill>
                  <a:effectLst/>
                  <a:uLnTx/>
                  <a:uFillTx/>
                  <a:cs typeface="Arial" pitchFamily="34" charset="0"/>
                </a:rPr>
                <a:t>usable</a:t>
              </a:r>
              <a:r>
                <a:rPr kumimoji="0" lang="en-US" sz="900" b="0" i="0" u="none" strike="noStrike" kern="0" cap="none" spc="0" normalizeH="0" baseline="0" noProof="0">
                  <a:ln>
                    <a:noFill/>
                  </a:ln>
                  <a:solidFill>
                    <a:schemeClr val="bg1"/>
                  </a:solidFill>
                  <a:effectLst/>
                  <a:uLnTx/>
                  <a:uFillTx/>
                  <a:cs typeface="Arial" pitchFamily="34" charset="0"/>
                </a:rPr>
                <a:t> components are delivered. </a:t>
              </a:r>
              <a:endParaRPr kumimoji="0" lang="en-US" sz="900" b="1" i="0" u="none" strike="noStrike" kern="0" cap="none" spc="0" normalizeH="0" baseline="0" noProof="0">
                <a:ln>
                  <a:noFill/>
                </a:ln>
                <a:solidFill>
                  <a:schemeClr val="bg1"/>
                </a:solidFill>
                <a:effectLst/>
                <a:uLnTx/>
                <a:uFillTx/>
                <a:cs typeface="Arial" pitchFamily="34" charset="0"/>
              </a:endParaRPr>
            </a:p>
          </p:txBody>
        </p:sp>
        <p:sp>
          <p:nvSpPr>
            <p:cNvPr id="28" name="Rectangle 27">
              <a:extLst>
                <a:ext uri="{FF2B5EF4-FFF2-40B4-BE49-F238E27FC236}">
                  <a16:creationId xmlns:a16="http://schemas.microsoft.com/office/drawing/2014/main" id="{77415CAD-5DA6-163E-1234-1A8F00764203}"/>
                </a:ext>
              </a:extLst>
            </p:cNvPr>
            <p:cNvSpPr/>
            <p:nvPr/>
          </p:nvSpPr>
          <p:spPr>
            <a:xfrm>
              <a:off x="3431704" y="5404808"/>
              <a:ext cx="3420001" cy="138499"/>
            </a:xfrm>
            <a:prstGeom prst="rect">
              <a:avLst/>
            </a:prstGeom>
          </p:spPr>
          <p:txBody>
            <a:bodyPr wrap="square" lIns="0" tIns="0" rIns="0" bIns="0">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cs typeface="Arial" pitchFamily="34" charset="0"/>
                </a:rPr>
                <a:t>Internal</a:t>
              </a:r>
              <a:r>
                <a:rPr kumimoji="0" lang="en-US" sz="900" b="1" i="0" u="none" strike="noStrike" kern="0" cap="none" spc="0" normalizeH="0" baseline="0" noProof="0">
                  <a:ln>
                    <a:noFill/>
                  </a:ln>
                  <a:solidFill>
                    <a:schemeClr val="bg1"/>
                  </a:solidFill>
                  <a:effectLst/>
                  <a:uLnTx/>
                  <a:uFillTx/>
                  <a:cs typeface="Arial" pitchFamily="34" charset="0"/>
                </a:rPr>
                <a:t> Knowledge Sharing </a:t>
              </a:r>
              <a:r>
                <a:rPr lang="en-US" sz="900" kern="0">
                  <a:solidFill>
                    <a:schemeClr val="bg1"/>
                  </a:solidFill>
                  <a:cs typeface="Arial" pitchFamily="34" charset="0"/>
                </a:rPr>
                <a:t>and</a:t>
              </a:r>
              <a:r>
                <a:rPr kumimoji="0" lang="en-US" sz="900" b="0" i="0" u="none" strike="noStrike" kern="0" cap="none" spc="0" normalizeH="0" baseline="0" noProof="0">
                  <a:ln>
                    <a:noFill/>
                  </a:ln>
                  <a:solidFill>
                    <a:schemeClr val="bg1"/>
                  </a:solidFill>
                  <a:effectLst/>
                  <a:uLnTx/>
                  <a:uFillTx/>
                  <a:cs typeface="Arial" pitchFamily="34" charset="0"/>
                </a:rPr>
                <a:t> Retrospection</a:t>
              </a:r>
              <a:r>
                <a:rPr kumimoji="0" lang="en-US" sz="900" b="1" i="0" u="none" strike="noStrike" kern="0" cap="none" spc="0" normalizeH="0" baseline="0" noProof="0">
                  <a:ln>
                    <a:noFill/>
                  </a:ln>
                  <a:solidFill>
                    <a:schemeClr val="bg1"/>
                  </a:solidFill>
                  <a:effectLst/>
                  <a:uLnTx/>
                  <a:uFillTx/>
                  <a:cs typeface="Arial" pitchFamily="34" charset="0"/>
                </a:rPr>
                <a:t> </a:t>
              </a:r>
              <a:endParaRPr kumimoji="0" lang="en-US" sz="900" b="0" i="0" u="none" strike="noStrike" kern="0" cap="none" spc="0" normalizeH="0" baseline="0" noProof="0">
                <a:ln>
                  <a:noFill/>
                </a:ln>
                <a:solidFill>
                  <a:schemeClr val="bg1"/>
                </a:solidFill>
                <a:effectLst/>
                <a:uLnTx/>
                <a:uFillTx/>
                <a:cs typeface="Arial" pitchFamily="34" charset="0"/>
              </a:endParaRPr>
            </a:p>
          </p:txBody>
        </p:sp>
        <p:sp>
          <p:nvSpPr>
            <p:cNvPr id="29" name="Rectangle 28">
              <a:extLst>
                <a:ext uri="{FF2B5EF4-FFF2-40B4-BE49-F238E27FC236}">
                  <a16:creationId xmlns:a16="http://schemas.microsoft.com/office/drawing/2014/main" id="{09544DC7-BBAA-545E-C8EE-48428E4CE9AB}"/>
                </a:ext>
              </a:extLst>
            </p:cNvPr>
            <p:cNvSpPr/>
            <p:nvPr/>
          </p:nvSpPr>
          <p:spPr>
            <a:xfrm>
              <a:off x="3431704" y="5010771"/>
              <a:ext cx="3420001" cy="276999"/>
            </a:xfrm>
            <a:prstGeom prst="rect">
              <a:avLst/>
            </a:prstGeom>
          </p:spPr>
          <p:txBody>
            <a:bodyPr wrap="square" lIns="0" tIns="0" rIns="0" bIns="0">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ea typeface="+mn-ea"/>
                  <a:cs typeface="Arial" pitchFamily="34" charset="0"/>
                </a:rPr>
                <a:t>Early and continuous acceptance </a:t>
              </a:r>
              <a:r>
                <a:rPr kumimoji="0" lang="en-US" sz="900" b="0" i="0" u="none" strike="noStrike" kern="0" cap="none" spc="0" normalizeH="0" baseline="0" noProof="0">
                  <a:ln>
                    <a:noFill/>
                  </a:ln>
                  <a:solidFill>
                    <a:schemeClr val="bg1"/>
                  </a:solidFill>
                  <a:effectLst/>
                  <a:uLnTx/>
                  <a:uFillTx/>
                  <a:ea typeface="+mn-ea"/>
                  <a:cs typeface="Arial" pitchFamily="34" charset="0"/>
                </a:rPr>
                <a:t>of the delivered Software Business (Early Business Validation via Demos)*</a:t>
              </a:r>
            </a:p>
          </p:txBody>
        </p:sp>
        <p:sp>
          <p:nvSpPr>
            <p:cNvPr id="30" name="Rectangle 29">
              <a:extLst>
                <a:ext uri="{FF2B5EF4-FFF2-40B4-BE49-F238E27FC236}">
                  <a16:creationId xmlns:a16="http://schemas.microsoft.com/office/drawing/2014/main" id="{68888626-0ECE-CD14-1E58-D36105B26748}"/>
                </a:ext>
              </a:extLst>
            </p:cNvPr>
            <p:cNvSpPr/>
            <p:nvPr/>
          </p:nvSpPr>
          <p:spPr>
            <a:xfrm>
              <a:off x="3431704" y="4755234"/>
              <a:ext cx="3420001" cy="138499"/>
            </a:xfrm>
            <a:prstGeom prst="rect">
              <a:avLst/>
            </a:prstGeom>
          </p:spPr>
          <p:txBody>
            <a:bodyPr wrap="square" lIns="0" tIns="0" rIns="0" bIns="0" anchor="t">
              <a:spAutoFit/>
            </a:bodyPr>
            <a:lstStyle/>
            <a:p>
              <a:pPr marL="0" marR="0" lvl="0" indent="0" algn="l" defTabSz="632258"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ea typeface="+mn-ea"/>
                  <a:cs typeface="Arial"/>
                </a:rPr>
                <a:t>Early validation </a:t>
              </a:r>
              <a:r>
                <a:rPr kumimoji="0" lang="en-US" sz="900" b="0" i="0" u="none" strike="noStrike" kern="0" cap="none" spc="0" normalizeH="0" baseline="0" noProof="0">
                  <a:ln>
                    <a:noFill/>
                  </a:ln>
                  <a:solidFill>
                    <a:schemeClr val="bg1"/>
                  </a:solidFill>
                  <a:effectLst/>
                  <a:uLnTx/>
                  <a:uFillTx/>
                  <a:ea typeface="+mn-ea"/>
                  <a:cs typeface="Arial"/>
                </a:rPr>
                <a:t>where possible (EBV)* </a:t>
              </a:r>
              <a:endParaRPr kumimoji="0" lang="en-US" sz="900" b="0" i="0" u="none" strike="noStrike" kern="1200" cap="none" spc="0" normalizeH="0" baseline="0" noProof="0">
                <a:ln>
                  <a:noFill/>
                </a:ln>
                <a:solidFill>
                  <a:schemeClr val="bg1"/>
                </a:solidFill>
                <a:effectLst/>
                <a:uLnTx/>
                <a:uFillTx/>
                <a:ea typeface="+mn-ea"/>
              </a:endParaRPr>
            </a:p>
          </p:txBody>
        </p:sp>
      </p:grpSp>
      <p:grpSp>
        <p:nvGrpSpPr>
          <p:cNvPr id="37" name="Group 36">
            <a:extLst>
              <a:ext uri="{FF2B5EF4-FFF2-40B4-BE49-F238E27FC236}">
                <a16:creationId xmlns:a16="http://schemas.microsoft.com/office/drawing/2014/main" id="{1B3F5C70-5BEB-0AD2-DC8F-84484481AF81}"/>
              </a:ext>
            </a:extLst>
          </p:cNvPr>
          <p:cNvGrpSpPr/>
          <p:nvPr/>
        </p:nvGrpSpPr>
        <p:grpSpPr>
          <a:xfrm>
            <a:off x="7892075" y="4540153"/>
            <a:ext cx="664143" cy="899791"/>
            <a:chOff x="7634900" y="4505017"/>
            <a:chExt cx="664143" cy="899791"/>
          </a:xfrm>
        </p:grpSpPr>
        <p:sp>
          <p:nvSpPr>
            <p:cNvPr id="31" name="Rectangle 30">
              <a:extLst>
                <a:ext uri="{FF2B5EF4-FFF2-40B4-BE49-F238E27FC236}">
                  <a16:creationId xmlns:a16="http://schemas.microsoft.com/office/drawing/2014/main" id="{D254B180-13E7-588F-070B-557981C3A9C6}"/>
                </a:ext>
              </a:extLst>
            </p:cNvPr>
            <p:cNvSpPr/>
            <p:nvPr/>
          </p:nvSpPr>
          <p:spPr>
            <a:xfrm>
              <a:off x="7641857" y="4505017"/>
              <a:ext cx="657186" cy="138499"/>
            </a:xfrm>
            <a:prstGeom prst="rect">
              <a:avLst/>
            </a:prstGeom>
          </p:spPr>
          <p:txBody>
            <a:bodyPr wrap="square" lIns="0" tIns="0" rIns="0" bIns="0">
              <a:spAutoFit/>
            </a:bodyPr>
            <a:lstStyle/>
            <a:p>
              <a:pPr lvl="0" defTabSz="632258" eaLnBrk="0" hangingPunct="0">
                <a:defRPr/>
              </a:pPr>
              <a:r>
                <a:rPr lang="en-US" sz="900" kern="0">
                  <a:solidFill>
                    <a:schemeClr val="bg1"/>
                  </a:solidFill>
                  <a:cs typeface="Arial" pitchFamily="34" charset="0"/>
                </a:rPr>
                <a:t>Pre-SIT</a:t>
              </a:r>
              <a:endParaRPr lang="en-US" sz="900" b="1" kern="0">
                <a:solidFill>
                  <a:schemeClr val="bg1"/>
                </a:solidFill>
                <a:cs typeface="Arial" pitchFamily="34" charset="0"/>
              </a:endParaRPr>
            </a:p>
          </p:txBody>
        </p:sp>
        <p:sp>
          <p:nvSpPr>
            <p:cNvPr id="32" name="Rectangle 31">
              <a:extLst>
                <a:ext uri="{FF2B5EF4-FFF2-40B4-BE49-F238E27FC236}">
                  <a16:creationId xmlns:a16="http://schemas.microsoft.com/office/drawing/2014/main" id="{7CAE61FB-B0DB-6CA7-24C4-99C3F8892FEE}"/>
                </a:ext>
              </a:extLst>
            </p:cNvPr>
            <p:cNvSpPr/>
            <p:nvPr/>
          </p:nvSpPr>
          <p:spPr>
            <a:xfrm>
              <a:off x="7641486" y="4885663"/>
              <a:ext cx="657186" cy="138499"/>
            </a:xfrm>
            <a:prstGeom prst="rect">
              <a:avLst/>
            </a:prstGeom>
          </p:spPr>
          <p:txBody>
            <a:bodyPr wrap="square" lIns="0" tIns="0" rIns="0" bIns="0">
              <a:spAutoFit/>
            </a:bodyPr>
            <a:lstStyle/>
            <a:p>
              <a:pPr lvl="0" defTabSz="632258" eaLnBrk="0" hangingPunct="0">
                <a:defRPr/>
              </a:pPr>
              <a:r>
                <a:rPr lang="en-US" sz="900" kern="0">
                  <a:solidFill>
                    <a:schemeClr val="bg1"/>
                  </a:solidFill>
                  <a:cs typeface="Arial" pitchFamily="34" charset="0"/>
                </a:rPr>
                <a:t>Defect Fix</a:t>
              </a:r>
              <a:endParaRPr lang="en-US" sz="900" b="1" kern="0">
                <a:solidFill>
                  <a:schemeClr val="bg1"/>
                </a:solidFill>
                <a:cs typeface="Arial" pitchFamily="34" charset="0"/>
              </a:endParaRPr>
            </a:p>
          </p:txBody>
        </p:sp>
        <p:sp>
          <p:nvSpPr>
            <p:cNvPr id="33" name="Rectangle 32">
              <a:extLst>
                <a:ext uri="{FF2B5EF4-FFF2-40B4-BE49-F238E27FC236}">
                  <a16:creationId xmlns:a16="http://schemas.microsoft.com/office/drawing/2014/main" id="{D959C811-8FD9-1884-4FB0-470618D7B81F}"/>
                </a:ext>
              </a:extLst>
            </p:cNvPr>
            <p:cNvSpPr/>
            <p:nvPr/>
          </p:nvSpPr>
          <p:spPr>
            <a:xfrm>
              <a:off x="7634900" y="5266309"/>
              <a:ext cx="657186" cy="138499"/>
            </a:xfrm>
            <a:prstGeom prst="rect">
              <a:avLst/>
            </a:prstGeom>
          </p:spPr>
          <p:txBody>
            <a:bodyPr wrap="square" lIns="0" tIns="0" rIns="0" bIns="0">
              <a:spAutoFit/>
            </a:bodyPr>
            <a:lstStyle/>
            <a:p>
              <a:pPr lvl="0" defTabSz="632258" eaLnBrk="0" hangingPunct="0">
                <a:defRPr/>
              </a:pPr>
              <a:r>
                <a:rPr lang="en-US" sz="900" kern="0">
                  <a:solidFill>
                    <a:schemeClr val="bg1"/>
                  </a:solidFill>
                  <a:cs typeface="Arial" pitchFamily="34" charset="0"/>
                </a:rPr>
                <a:t>Support</a:t>
              </a:r>
              <a:endParaRPr lang="en-US" sz="900" b="1" kern="0">
                <a:solidFill>
                  <a:schemeClr val="bg1"/>
                </a:solidFill>
                <a:cs typeface="Arial" pitchFamily="34" charset="0"/>
              </a:endParaRPr>
            </a:p>
          </p:txBody>
        </p:sp>
      </p:grpSp>
      <p:grpSp>
        <p:nvGrpSpPr>
          <p:cNvPr id="42" name="Group 41">
            <a:extLst>
              <a:ext uri="{FF2B5EF4-FFF2-40B4-BE49-F238E27FC236}">
                <a16:creationId xmlns:a16="http://schemas.microsoft.com/office/drawing/2014/main" id="{7A426954-84E8-D7AE-DD79-ED6CF0325805}"/>
              </a:ext>
            </a:extLst>
          </p:cNvPr>
          <p:cNvGrpSpPr/>
          <p:nvPr/>
        </p:nvGrpSpPr>
        <p:grpSpPr>
          <a:xfrm>
            <a:off x="9526290" y="4452939"/>
            <a:ext cx="1078765" cy="1074219"/>
            <a:chOff x="9435802" y="4426469"/>
            <a:chExt cx="1078765" cy="1271906"/>
          </a:xfrm>
        </p:grpSpPr>
        <p:sp>
          <p:nvSpPr>
            <p:cNvPr id="38" name="Rectangle 37">
              <a:extLst>
                <a:ext uri="{FF2B5EF4-FFF2-40B4-BE49-F238E27FC236}">
                  <a16:creationId xmlns:a16="http://schemas.microsoft.com/office/drawing/2014/main" id="{AD2344DC-9501-3EE0-B2D9-E6F1E4F3BB11}"/>
                </a:ext>
              </a:extLst>
            </p:cNvPr>
            <p:cNvSpPr/>
            <p:nvPr/>
          </p:nvSpPr>
          <p:spPr>
            <a:xfrm>
              <a:off x="9435802" y="4426469"/>
              <a:ext cx="815929" cy="138499"/>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0">
                  <a:solidFill>
                    <a:schemeClr val="bg1"/>
                  </a:solidFill>
                </a:rPr>
                <a:t>SIT/E2E Testing</a:t>
              </a:r>
              <a:endParaRPr kumimoji="0" lang="en-US" sz="900" b="0" i="0" u="none" strike="noStrike" kern="0" cap="none" spc="0" normalizeH="0" baseline="0" noProof="0">
                <a:ln>
                  <a:noFill/>
                </a:ln>
                <a:solidFill>
                  <a:schemeClr val="bg1"/>
                </a:solidFill>
                <a:effectLst/>
                <a:uLnTx/>
                <a:uFillTx/>
                <a:ea typeface="+mn-ea"/>
                <a:cs typeface="+mn-cs"/>
              </a:endParaRPr>
            </a:p>
          </p:txBody>
        </p:sp>
        <p:sp>
          <p:nvSpPr>
            <p:cNvPr id="39" name="Rectangle 38">
              <a:extLst>
                <a:ext uri="{FF2B5EF4-FFF2-40B4-BE49-F238E27FC236}">
                  <a16:creationId xmlns:a16="http://schemas.microsoft.com/office/drawing/2014/main" id="{D22B26FA-BF30-9BFB-A948-5F57745D0993}"/>
                </a:ext>
              </a:extLst>
            </p:cNvPr>
            <p:cNvSpPr/>
            <p:nvPr/>
          </p:nvSpPr>
          <p:spPr>
            <a:xfrm>
              <a:off x="9435802" y="5089741"/>
              <a:ext cx="1078765" cy="13849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mn-cs"/>
                </a:rPr>
                <a:t>Trained Users</a:t>
              </a:r>
            </a:p>
          </p:txBody>
        </p:sp>
        <p:sp>
          <p:nvSpPr>
            <p:cNvPr id="40" name="Rectangle 39">
              <a:extLst>
                <a:ext uri="{FF2B5EF4-FFF2-40B4-BE49-F238E27FC236}">
                  <a16:creationId xmlns:a16="http://schemas.microsoft.com/office/drawing/2014/main" id="{EDD25D47-7273-74D4-6F70-DF77CC4ED112}"/>
                </a:ext>
              </a:extLst>
            </p:cNvPr>
            <p:cNvSpPr/>
            <p:nvPr/>
          </p:nvSpPr>
          <p:spPr>
            <a:xfrm>
              <a:off x="9435802" y="4758105"/>
              <a:ext cx="288797" cy="138499"/>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0">
                  <a:solidFill>
                    <a:schemeClr val="bg1"/>
                  </a:solidFill>
                </a:rPr>
                <a:t>UAT</a:t>
              </a:r>
              <a:endParaRPr kumimoji="0" lang="en-US" sz="900" b="0" i="0" u="none" strike="noStrike" kern="0" cap="none" spc="0" normalizeH="0" baseline="0" noProof="0">
                <a:ln>
                  <a:noFill/>
                </a:ln>
                <a:solidFill>
                  <a:schemeClr val="bg1"/>
                </a:solidFill>
                <a:effectLst/>
                <a:uLnTx/>
                <a:uFillTx/>
                <a:ea typeface="+mn-ea"/>
                <a:cs typeface="+mn-cs"/>
              </a:endParaRPr>
            </a:p>
          </p:txBody>
        </p:sp>
        <p:sp>
          <p:nvSpPr>
            <p:cNvPr id="41" name="Rectangle 40">
              <a:extLst>
                <a:ext uri="{FF2B5EF4-FFF2-40B4-BE49-F238E27FC236}">
                  <a16:creationId xmlns:a16="http://schemas.microsoft.com/office/drawing/2014/main" id="{EDF3C1B4-1DDB-D850-34B0-2848270D13E6}"/>
                </a:ext>
              </a:extLst>
            </p:cNvPr>
            <p:cNvSpPr/>
            <p:nvPr/>
          </p:nvSpPr>
          <p:spPr>
            <a:xfrm>
              <a:off x="9435802" y="5421376"/>
              <a:ext cx="934657" cy="27699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mn-cs"/>
                </a:rPr>
                <a:t>Deployment Readiness</a:t>
              </a:r>
            </a:p>
          </p:txBody>
        </p:sp>
      </p:grpSp>
      <p:pic>
        <p:nvPicPr>
          <p:cNvPr id="43" name="Picture 4" descr="File ">
            <a:extLst>
              <a:ext uri="{FF2B5EF4-FFF2-40B4-BE49-F238E27FC236}">
                <a16:creationId xmlns:a16="http://schemas.microsoft.com/office/drawing/2014/main" id="{15E151D4-D65B-8971-6561-B2FCD0A1B695}"/>
              </a:ext>
            </a:extLst>
          </p:cNvPr>
          <p:cNvPicPr>
            <a:picLocks noChangeAspect="1" noChangeArrowheads="1"/>
          </p:cNvPicPr>
          <p:nvPr/>
        </p:nvPicPr>
        <p:blipFill>
          <a:blip r:embed="rId6" cstate="hqprint">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00631" y="4508799"/>
            <a:ext cx="219568" cy="21956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2" descr="Viral ">
            <a:extLst>
              <a:ext uri="{FF2B5EF4-FFF2-40B4-BE49-F238E27FC236}">
                <a16:creationId xmlns:a16="http://schemas.microsoft.com/office/drawing/2014/main" id="{44971149-5E51-DD36-4B69-FDF7BA4288CD}"/>
              </a:ext>
            </a:extLst>
          </p:cNvPr>
          <p:cNvPicPr>
            <a:picLocks noChangeAspect="1" noChangeArrowheads="1"/>
          </p:cNvPicPr>
          <p:nvPr/>
        </p:nvPicPr>
        <p:blipFill>
          <a:blip r:embed="rId7" cstate="hqprint">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498655" y="4912794"/>
            <a:ext cx="223520" cy="22352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0" descr="Project management ">
            <a:extLst>
              <a:ext uri="{FF2B5EF4-FFF2-40B4-BE49-F238E27FC236}">
                <a16:creationId xmlns:a16="http://schemas.microsoft.com/office/drawing/2014/main" id="{ED746E5A-A7B4-70A7-D27D-85F6ABCC8579}"/>
              </a:ext>
            </a:extLst>
          </p:cNvPr>
          <p:cNvPicPr>
            <a:picLocks noChangeAspect="1" noChangeArrowheads="1"/>
          </p:cNvPicPr>
          <p:nvPr/>
        </p:nvPicPr>
        <p:blipFill>
          <a:blip r:embed="rId8" cstate="hqprint">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493038" y="5281869"/>
            <a:ext cx="234754" cy="234754"/>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4" descr="Sprint ">
            <a:extLst>
              <a:ext uri="{FF2B5EF4-FFF2-40B4-BE49-F238E27FC236}">
                <a16:creationId xmlns:a16="http://schemas.microsoft.com/office/drawing/2014/main" id="{EAF409CE-07A2-793B-5574-7BE2FECD4826}"/>
              </a:ext>
            </a:extLst>
          </p:cNvPr>
          <p:cNvPicPr>
            <a:picLocks noChangeAspect="1" noChangeArrowheads="1"/>
          </p:cNvPicPr>
          <p:nvPr/>
        </p:nvPicPr>
        <p:blipFill>
          <a:blip r:embed="rId9" cstate="hqprint">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2926536" y="4476749"/>
            <a:ext cx="197677" cy="19767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6" descr="Checked icon">
            <a:extLst>
              <a:ext uri="{FF2B5EF4-FFF2-40B4-BE49-F238E27FC236}">
                <a16:creationId xmlns:a16="http://schemas.microsoft.com/office/drawing/2014/main" id="{0107B685-4AA1-4CE4-383A-A497486E8653}"/>
              </a:ext>
            </a:extLst>
          </p:cNvPr>
          <p:cNvPicPr>
            <a:picLocks noChangeAspect="1" noChangeArrowheads="1"/>
          </p:cNvPicPr>
          <p:nvPr/>
        </p:nvPicPr>
        <p:blipFill>
          <a:blip r:embed="rId10" cstate="hqprint">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2933783" y="4795027"/>
            <a:ext cx="166766" cy="16676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8" descr="Interactions ">
            <a:extLst>
              <a:ext uri="{FF2B5EF4-FFF2-40B4-BE49-F238E27FC236}">
                <a16:creationId xmlns:a16="http://schemas.microsoft.com/office/drawing/2014/main" id="{867322E1-3984-BCE8-969B-9A1239DCA226}"/>
              </a:ext>
            </a:extLst>
          </p:cNvPr>
          <p:cNvPicPr>
            <a:picLocks noChangeAspect="1" noChangeArrowheads="1"/>
          </p:cNvPicPr>
          <p:nvPr/>
        </p:nvPicPr>
        <p:blipFill>
          <a:blip r:embed="rId11" cstate="hqprint">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2928747" y="5102089"/>
            <a:ext cx="179780" cy="17978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0" descr="Exchange ideas ">
            <a:extLst>
              <a:ext uri="{FF2B5EF4-FFF2-40B4-BE49-F238E27FC236}">
                <a16:creationId xmlns:a16="http://schemas.microsoft.com/office/drawing/2014/main" id="{9412031A-19E3-5F7C-0304-30430F48E82A}"/>
              </a:ext>
            </a:extLst>
          </p:cNvPr>
          <p:cNvPicPr>
            <a:picLocks noChangeAspect="1" noChangeArrowheads="1"/>
          </p:cNvPicPr>
          <p:nvPr/>
        </p:nvPicPr>
        <p:blipFill>
          <a:blip r:embed="rId12" cstate="hqprint">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2943226" y="5391445"/>
            <a:ext cx="181072" cy="181072"/>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1AB78945-246A-5FD9-F28B-A25EC5A48A9F}"/>
              </a:ext>
            </a:extLst>
          </p:cNvPr>
          <p:cNvPicPr>
            <a:picLocks noChangeAspect="1"/>
          </p:cNvPicPr>
          <p:nvPr/>
        </p:nvPicPr>
        <p:blipFill>
          <a:blip r:embed="rId13" cstate="hqprint">
            <a:extLst>
              <a:ext uri="{28A0092B-C50C-407E-A947-70E740481C1C}">
                <a14:useLocalDpi xmlns:a14="http://schemas.microsoft.com/office/drawing/2010/main"/>
              </a:ext>
            </a:extLst>
          </a:blip>
          <a:stretch>
            <a:fillRect/>
          </a:stretch>
        </p:blipFill>
        <p:spPr>
          <a:xfrm>
            <a:off x="7496614" y="5272607"/>
            <a:ext cx="225779" cy="245243"/>
          </a:xfrm>
          <a:prstGeom prst="rect">
            <a:avLst/>
          </a:prstGeom>
        </p:spPr>
      </p:pic>
      <p:pic>
        <p:nvPicPr>
          <p:cNvPr id="52" name="Graphic 51" descr="Gears with solid fill">
            <a:extLst>
              <a:ext uri="{FF2B5EF4-FFF2-40B4-BE49-F238E27FC236}">
                <a16:creationId xmlns:a16="http://schemas.microsoft.com/office/drawing/2014/main" id="{FD77EB6E-52FE-2EAE-ED79-2AA974F91F71}"/>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7474578" y="4845422"/>
            <a:ext cx="302212" cy="302212"/>
          </a:xfrm>
          <a:prstGeom prst="rect">
            <a:avLst/>
          </a:prstGeom>
        </p:spPr>
      </p:pic>
      <p:pic>
        <p:nvPicPr>
          <p:cNvPr id="54" name="Graphic 53" descr="Transfer outline">
            <a:extLst>
              <a:ext uri="{FF2B5EF4-FFF2-40B4-BE49-F238E27FC236}">
                <a16:creationId xmlns:a16="http://schemas.microsoft.com/office/drawing/2014/main" id="{C24A0D41-71B7-5585-98E8-C40DDEE0A9F7}"/>
              </a:ext>
            </a:extLst>
          </p:cNvPr>
          <p:cNvPicPr>
            <a:picLocks noChangeAspect="1"/>
          </p:cNvPicPr>
          <p:nvPr/>
        </p:nvPicPr>
        <p:blipFill>
          <a:blip r:embed="rId16" cstate="hq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7489066" y="4511673"/>
            <a:ext cx="233425" cy="233425"/>
          </a:xfrm>
          <a:prstGeom prst="rect">
            <a:avLst/>
          </a:prstGeom>
        </p:spPr>
      </p:pic>
      <p:pic>
        <p:nvPicPr>
          <p:cNvPr id="55" name="Graphic 54" descr="Users with solid fill">
            <a:extLst>
              <a:ext uri="{FF2B5EF4-FFF2-40B4-BE49-F238E27FC236}">
                <a16:creationId xmlns:a16="http://schemas.microsoft.com/office/drawing/2014/main" id="{8A0BDFE0-8D2E-6FB0-1FA3-521BE4835ABF}"/>
              </a:ext>
            </a:extLst>
          </p:cNvPr>
          <p:cNvPicPr>
            <a:picLocks noChangeAspect="1"/>
          </p:cNvPicPr>
          <p:nvPr/>
        </p:nvPicPr>
        <p:blipFill>
          <a:blip r:embed="rId18" cstate="hq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9136062" y="4952074"/>
            <a:ext cx="276225" cy="277314"/>
          </a:xfrm>
          <a:prstGeom prst="rect">
            <a:avLst/>
          </a:prstGeom>
        </p:spPr>
      </p:pic>
      <p:pic>
        <p:nvPicPr>
          <p:cNvPr id="56" name="Graphic 55" descr="Handshake with solid fill">
            <a:extLst>
              <a:ext uri="{FF2B5EF4-FFF2-40B4-BE49-F238E27FC236}">
                <a16:creationId xmlns:a16="http://schemas.microsoft.com/office/drawing/2014/main" id="{3D02F30B-75AF-8517-44EB-BB1CE94AD8B8}"/>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9122767" y="4695796"/>
            <a:ext cx="286339" cy="244065"/>
          </a:xfrm>
          <a:prstGeom prst="rect">
            <a:avLst/>
          </a:prstGeom>
        </p:spPr>
      </p:pic>
      <p:pic>
        <p:nvPicPr>
          <p:cNvPr id="57" name="Graphic 56" descr="Clipboard Partially Checked with solid fill">
            <a:extLst>
              <a:ext uri="{FF2B5EF4-FFF2-40B4-BE49-F238E27FC236}">
                <a16:creationId xmlns:a16="http://schemas.microsoft.com/office/drawing/2014/main" id="{FBE03CBF-8D78-0EA8-340E-2AE61EF39A4D}"/>
              </a:ext>
            </a:extLst>
          </p:cNvPr>
          <p:cNvPicPr>
            <a:picLocks noChangeAspect="1"/>
          </p:cNvPicPr>
          <p:nvPr/>
        </p:nvPicPr>
        <p:blipFill>
          <a:blip r:embed="rId22" cstate="hqprint">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9148661" y="5312604"/>
            <a:ext cx="235052" cy="227772"/>
          </a:xfrm>
          <a:prstGeom prst="rect">
            <a:avLst/>
          </a:prstGeom>
        </p:spPr>
      </p:pic>
      <p:pic>
        <p:nvPicPr>
          <p:cNvPr id="58" name="Graphic 57" descr="Link with solid fill">
            <a:extLst>
              <a:ext uri="{FF2B5EF4-FFF2-40B4-BE49-F238E27FC236}">
                <a16:creationId xmlns:a16="http://schemas.microsoft.com/office/drawing/2014/main" id="{DD73F7AF-FB6B-2551-A6DF-44B68DAAB51D}"/>
              </a:ext>
            </a:extLst>
          </p:cNvPr>
          <p:cNvPicPr>
            <a:picLocks noChangeAspect="1"/>
          </p:cNvPicPr>
          <p:nvPr/>
        </p:nvPicPr>
        <p:blipFill>
          <a:blip r:embed="rId24" cstate="hqprint">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136792" y="4417088"/>
            <a:ext cx="252990" cy="252990"/>
          </a:xfrm>
          <a:prstGeom prst="rect">
            <a:avLst/>
          </a:prstGeom>
        </p:spPr>
      </p:pic>
      <p:sp>
        <p:nvSpPr>
          <p:cNvPr id="59" name="Rectangle 58">
            <a:extLst>
              <a:ext uri="{FF2B5EF4-FFF2-40B4-BE49-F238E27FC236}">
                <a16:creationId xmlns:a16="http://schemas.microsoft.com/office/drawing/2014/main" id="{74F45863-F900-7393-6247-7D41FBFD02B9}"/>
              </a:ext>
            </a:extLst>
          </p:cNvPr>
          <p:cNvSpPr/>
          <p:nvPr/>
        </p:nvSpPr>
        <p:spPr>
          <a:xfrm>
            <a:off x="10725731" y="4412367"/>
            <a:ext cx="1028119" cy="553998"/>
          </a:xfrm>
          <a:prstGeom prst="rect">
            <a:avLst/>
          </a:prstGeom>
          <a:noFill/>
          <a:ln w="12700" cap="flat" cmpd="sng" algn="ctr">
            <a:no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32258" rtl="0"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cs typeface="Arial"/>
              </a:rPr>
              <a:t>Final transition from the Program team to the </a:t>
            </a:r>
            <a:br>
              <a:rPr kumimoji="0" lang="en-US" sz="900" b="0" i="0" u="none" strike="noStrike" kern="0" cap="none" spc="0" normalizeH="0" baseline="0" noProof="0">
                <a:ln>
                  <a:noFill/>
                </a:ln>
                <a:solidFill>
                  <a:schemeClr val="bg1"/>
                </a:solidFill>
                <a:effectLst/>
                <a:uLnTx/>
                <a:uFillTx/>
                <a:cs typeface="Arial"/>
              </a:rPr>
            </a:br>
            <a:r>
              <a:rPr kumimoji="0" lang="en-US" sz="900" b="0" i="0" u="none" strike="noStrike" kern="0" cap="none" spc="0" normalizeH="0" baseline="0" noProof="0">
                <a:ln>
                  <a:noFill/>
                </a:ln>
                <a:solidFill>
                  <a:schemeClr val="bg1"/>
                </a:solidFill>
                <a:effectLst/>
                <a:uLnTx/>
                <a:uFillTx/>
                <a:cs typeface="Arial"/>
              </a:rPr>
              <a:t>Support team</a:t>
            </a:r>
            <a:endParaRPr kumimoji="0" lang="en-US" sz="900" b="0" i="0" u="none" strike="noStrike" kern="0" cap="none" spc="0" normalizeH="0" baseline="0" noProof="0">
              <a:ln>
                <a:noFill/>
              </a:ln>
              <a:solidFill>
                <a:schemeClr val="bg1"/>
              </a:solidFill>
              <a:effectLst/>
              <a:uLnTx/>
              <a:uFillTx/>
              <a:ea typeface="Verdana"/>
              <a:cs typeface="Arial" pitchFamily="34" charset="0"/>
            </a:endParaRPr>
          </a:p>
        </p:txBody>
      </p:sp>
      <p:sp>
        <p:nvSpPr>
          <p:cNvPr id="60" name="Rectangle 59">
            <a:extLst>
              <a:ext uri="{FF2B5EF4-FFF2-40B4-BE49-F238E27FC236}">
                <a16:creationId xmlns:a16="http://schemas.microsoft.com/office/drawing/2014/main" id="{468E42D8-62FB-D6B4-1B06-FFB4C9B86116}"/>
              </a:ext>
            </a:extLst>
          </p:cNvPr>
          <p:cNvSpPr/>
          <p:nvPr/>
        </p:nvSpPr>
        <p:spPr>
          <a:xfrm>
            <a:off x="10647944" y="5129604"/>
            <a:ext cx="1136069" cy="415498"/>
          </a:xfrm>
          <a:prstGeom prst="rect">
            <a:avLst/>
          </a:prstGeom>
          <a:noFill/>
          <a:ln w="12700" cap="flat" cmpd="sng" algn="ctr">
            <a:noFill/>
            <a:prstDash val="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632258" rtl="0"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Arial" pitchFamily="34" charset="0"/>
              </a:rPr>
              <a:t>Hypercare support </a:t>
            </a:r>
            <a:br>
              <a:rPr kumimoji="0" lang="en-US" sz="900" b="0" i="0" u="none" strike="noStrike" kern="0" cap="none" spc="0" normalizeH="0" baseline="0" noProof="0">
                <a:ln>
                  <a:noFill/>
                </a:ln>
                <a:solidFill>
                  <a:schemeClr val="bg1"/>
                </a:solidFill>
                <a:effectLst/>
                <a:uLnTx/>
                <a:uFillTx/>
                <a:ea typeface="+mn-ea"/>
                <a:cs typeface="Arial" pitchFamily="34" charset="0"/>
              </a:rPr>
            </a:br>
            <a:r>
              <a:rPr kumimoji="0" lang="en-US" sz="900" b="0" i="0" u="none" strike="noStrike" kern="0" cap="none" spc="0" normalizeH="0" baseline="0" noProof="0">
                <a:ln>
                  <a:noFill/>
                </a:ln>
                <a:solidFill>
                  <a:schemeClr val="bg1"/>
                </a:solidFill>
                <a:effectLst/>
                <a:uLnTx/>
                <a:uFillTx/>
                <a:ea typeface="+mn-ea"/>
                <a:cs typeface="Arial" pitchFamily="34" charset="0"/>
              </a:rPr>
              <a:t>(incident analysis, </a:t>
            </a:r>
            <a:br>
              <a:rPr kumimoji="0" lang="en-US" sz="900" b="0" i="0" u="none" strike="noStrike" kern="0" cap="none" spc="0" normalizeH="0" baseline="0" noProof="0">
                <a:ln>
                  <a:noFill/>
                </a:ln>
                <a:solidFill>
                  <a:schemeClr val="bg1"/>
                </a:solidFill>
                <a:effectLst/>
                <a:uLnTx/>
                <a:uFillTx/>
                <a:ea typeface="+mn-ea"/>
                <a:cs typeface="Arial" pitchFamily="34" charset="0"/>
              </a:rPr>
            </a:br>
            <a:r>
              <a:rPr kumimoji="0" lang="en-US" sz="900" b="0" i="0" u="none" strike="noStrike" kern="0" cap="none" spc="0" normalizeH="0" baseline="0" noProof="0">
                <a:ln>
                  <a:noFill/>
                </a:ln>
                <a:solidFill>
                  <a:schemeClr val="bg1"/>
                </a:solidFill>
                <a:effectLst/>
                <a:uLnTx/>
                <a:uFillTx/>
                <a:ea typeface="+mn-ea"/>
                <a:cs typeface="Arial" pitchFamily="34" charset="0"/>
              </a:rPr>
              <a:t>correction &amp; testing)</a:t>
            </a:r>
          </a:p>
        </p:txBody>
      </p:sp>
      <p:grpSp>
        <p:nvGrpSpPr>
          <p:cNvPr id="64" name="Group 63">
            <a:extLst>
              <a:ext uri="{FF2B5EF4-FFF2-40B4-BE49-F238E27FC236}">
                <a16:creationId xmlns:a16="http://schemas.microsoft.com/office/drawing/2014/main" id="{AE4DC143-3110-F742-96BB-5A1117250F96}"/>
              </a:ext>
            </a:extLst>
          </p:cNvPr>
          <p:cNvGrpSpPr/>
          <p:nvPr/>
        </p:nvGrpSpPr>
        <p:grpSpPr>
          <a:xfrm>
            <a:off x="10962488" y="2120905"/>
            <a:ext cx="576001" cy="1738297"/>
            <a:chOff x="10670055" y="2309752"/>
            <a:chExt cx="576001" cy="1738297"/>
          </a:xfrm>
        </p:grpSpPr>
        <p:sp>
          <p:nvSpPr>
            <p:cNvPr id="65" name="Freeform 31">
              <a:extLst>
                <a:ext uri="{FF2B5EF4-FFF2-40B4-BE49-F238E27FC236}">
                  <a16:creationId xmlns:a16="http://schemas.microsoft.com/office/drawing/2014/main" id="{3487BBFE-C519-925F-2BA9-6ABE948983EF}"/>
                </a:ext>
              </a:extLst>
            </p:cNvPr>
            <p:cNvSpPr/>
            <p:nvPr/>
          </p:nvSpPr>
          <p:spPr>
            <a:xfrm>
              <a:off x="10670056" y="2954323"/>
              <a:ext cx="576000" cy="576000"/>
            </a:xfrm>
            <a:prstGeom prst="ellipse">
              <a:avLst/>
            </a:prstGeom>
            <a:solidFill>
              <a:schemeClr val="accent4"/>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schemeClr val="bg1"/>
                </a:solidFill>
                <a:effectLst/>
                <a:uLnTx/>
                <a:uFillTx/>
                <a:ea typeface="Verdana"/>
                <a:cs typeface="Verdana"/>
                <a:sym typeface="Verdana"/>
              </a:endParaRPr>
            </a:p>
          </p:txBody>
        </p:sp>
        <p:pic>
          <p:nvPicPr>
            <p:cNvPr id="66" name="pasted-image.pdf" descr="pasted-image.pdf">
              <a:extLst>
                <a:ext uri="{FF2B5EF4-FFF2-40B4-BE49-F238E27FC236}">
                  <a16:creationId xmlns:a16="http://schemas.microsoft.com/office/drawing/2014/main" id="{21A929B1-2B57-D754-67B3-9509954151E3}"/>
                </a:ext>
              </a:extLst>
            </p:cNvPr>
            <p:cNvPicPr>
              <a:picLocks noChangeAspect="1"/>
            </p:cNvPicPr>
            <p:nvPr/>
          </p:nvPicPr>
          <p:blipFill>
            <a:blip r:embed="rId26" cstate="email">
              <a:clrChange>
                <a:clrFrom>
                  <a:srgbClr val="000000">
                    <a:alpha val="0"/>
                  </a:srgbClr>
                </a:clrFrom>
                <a:clrTo>
                  <a:srgbClr val="000000">
                    <a:alpha val="0"/>
                  </a:srgbClr>
                </a:clrTo>
              </a:clrChange>
              <a:extLst>
                <a:ext uri="{28A0092B-C50C-407E-A947-70E740481C1C}">
                  <a14:useLocalDpi xmlns:a14="http://schemas.microsoft.com/office/drawing/2010/main"/>
                </a:ext>
              </a:extLst>
            </a:blip>
            <a:stretch>
              <a:fillRect/>
            </a:stretch>
          </p:blipFill>
          <p:spPr>
            <a:xfrm>
              <a:off x="10813791" y="3058572"/>
              <a:ext cx="288529" cy="362807"/>
            </a:xfrm>
            <a:prstGeom prst="rect">
              <a:avLst/>
            </a:prstGeom>
            <a:noFill/>
            <a:ln w="12700" cap="flat">
              <a:noFill/>
              <a:miter lim="400000"/>
            </a:ln>
            <a:effectLst/>
          </p:spPr>
        </p:pic>
        <p:pic>
          <p:nvPicPr>
            <p:cNvPr id="67" name="pasted-image.pdf" descr="pasted-image.pdf">
              <a:extLst>
                <a:ext uri="{FF2B5EF4-FFF2-40B4-BE49-F238E27FC236}">
                  <a16:creationId xmlns:a16="http://schemas.microsoft.com/office/drawing/2014/main" id="{F2FC83D3-E2CB-84C9-DDD1-CE709EF6A2A1}"/>
                </a:ext>
              </a:extLst>
            </p:cNvPr>
            <p:cNvPicPr>
              <a:picLocks noChangeAspect="1"/>
            </p:cNvPicPr>
            <p:nvPr/>
          </p:nvPicPr>
          <p:blipFill>
            <a:blip r:embed="rId27" cstate="email">
              <a:clrChange>
                <a:clrFrom>
                  <a:srgbClr val="000000">
                    <a:alpha val="0"/>
                  </a:srgbClr>
                </a:clrFrom>
                <a:clrTo>
                  <a:srgbClr val="000000">
                    <a:alpha val="0"/>
                  </a:srgbClr>
                </a:clrTo>
              </a:clrChange>
              <a:extLst>
                <a:ext uri="{28A0092B-C50C-407E-A947-70E740481C1C}">
                  <a14:useLocalDpi xmlns:a14="http://schemas.microsoft.com/office/drawing/2010/main"/>
                </a:ext>
              </a:extLst>
            </a:blip>
            <a:stretch>
              <a:fillRect/>
            </a:stretch>
          </p:blipFill>
          <p:spPr>
            <a:xfrm>
              <a:off x="10812977" y="3725735"/>
              <a:ext cx="290157" cy="322314"/>
            </a:xfrm>
            <a:prstGeom prst="rect">
              <a:avLst/>
            </a:prstGeom>
            <a:noFill/>
            <a:ln w="12700" cap="flat">
              <a:noFill/>
              <a:miter lim="400000"/>
            </a:ln>
            <a:effectLst/>
          </p:spPr>
        </p:pic>
        <p:sp>
          <p:nvSpPr>
            <p:cNvPr id="68" name="Freeform 31">
              <a:extLst>
                <a:ext uri="{FF2B5EF4-FFF2-40B4-BE49-F238E27FC236}">
                  <a16:creationId xmlns:a16="http://schemas.microsoft.com/office/drawing/2014/main" id="{18649055-ED7A-6F06-E5CC-759A3DB5135C}"/>
                </a:ext>
              </a:extLst>
            </p:cNvPr>
            <p:cNvSpPr/>
            <p:nvPr/>
          </p:nvSpPr>
          <p:spPr>
            <a:xfrm>
              <a:off x="10670055" y="2309752"/>
              <a:ext cx="576000" cy="576000"/>
            </a:xfrm>
            <a:prstGeom prst="ellipse">
              <a:avLst/>
            </a:prstGeom>
            <a:solidFill>
              <a:schemeClr val="accent4"/>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schemeClr val="bg1"/>
                </a:solidFill>
                <a:effectLst/>
                <a:uLnTx/>
                <a:uFillTx/>
                <a:ea typeface="Verdana"/>
                <a:cs typeface="Verdana"/>
                <a:sym typeface="Verdana"/>
              </a:endParaRPr>
            </a:p>
          </p:txBody>
        </p:sp>
        <p:pic>
          <p:nvPicPr>
            <p:cNvPr id="69" name="pasted-image.pdf" descr="pasted-image.pdf">
              <a:extLst>
                <a:ext uri="{FF2B5EF4-FFF2-40B4-BE49-F238E27FC236}">
                  <a16:creationId xmlns:a16="http://schemas.microsoft.com/office/drawing/2014/main" id="{794C44A5-50AB-CAE9-A79F-1572C7900110}"/>
                </a:ext>
              </a:extLst>
            </p:cNvPr>
            <p:cNvPicPr>
              <a:picLocks noChangeAspect="1"/>
            </p:cNvPicPr>
            <p:nvPr/>
          </p:nvPicPr>
          <p:blipFill>
            <a:blip r:embed="rId28" cstate="email">
              <a:clrChange>
                <a:clrFrom>
                  <a:srgbClr val="000000">
                    <a:alpha val="0"/>
                  </a:srgbClr>
                </a:clrFrom>
                <a:clrTo>
                  <a:srgbClr val="000000">
                    <a:alpha val="0"/>
                  </a:srgbClr>
                </a:clrTo>
              </a:clrChange>
              <a:extLst>
                <a:ext uri="{28A0092B-C50C-407E-A947-70E740481C1C}">
                  <a14:useLocalDpi xmlns:a14="http://schemas.microsoft.com/office/drawing/2010/main"/>
                </a:ext>
              </a:extLst>
            </a:blip>
            <a:stretch>
              <a:fillRect/>
            </a:stretch>
          </p:blipFill>
          <p:spPr>
            <a:xfrm>
              <a:off x="10777482" y="2441289"/>
              <a:ext cx="361146" cy="312927"/>
            </a:xfrm>
            <a:prstGeom prst="rect">
              <a:avLst/>
            </a:prstGeom>
            <a:noFill/>
            <a:ln w="12700" cap="flat">
              <a:noFill/>
              <a:miter lim="400000"/>
            </a:ln>
            <a:effectLst/>
          </p:spPr>
        </p:pic>
      </p:grpSp>
      <p:grpSp>
        <p:nvGrpSpPr>
          <p:cNvPr id="78" name="Group 77">
            <a:extLst>
              <a:ext uri="{FF2B5EF4-FFF2-40B4-BE49-F238E27FC236}">
                <a16:creationId xmlns:a16="http://schemas.microsoft.com/office/drawing/2014/main" id="{C770BBE1-F270-4049-3041-F89D37316120}"/>
              </a:ext>
            </a:extLst>
          </p:cNvPr>
          <p:cNvGrpSpPr/>
          <p:nvPr/>
        </p:nvGrpSpPr>
        <p:grpSpPr>
          <a:xfrm>
            <a:off x="9078433" y="2817157"/>
            <a:ext cx="440218" cy="440218"/>
            <a:chOff x="9287983" y="2816875"/>
            <a:chExt cx="504000" cy="504000"/>
          </a:xfrm>
        </p:grpSpPr>
        <p:sp>
          <p:nvSpPr>
            <p:cNvPr id="71" name="Freeform 31">
              <a:extLst>
                <a:ext uri="{FF2B5EF4-FFF2-40B4-BE49-F238E27FC236}">
                  <a16:creationId xmlns:a16="http://schemas.microsoft.com/office/drawing/2014/main" id="{5AABAE0B-BF96-80A4-1FA1-ADAF5997C60D}"/>
                </a:ext>
              </a:extLst>
            </p:cNvPr>
            <p:cNvSpPr/>
            <p:nvPr/>
          </p:nvSpPr>
          <p:spPr>
            <a:xfrm>
              <a:off x="9287983" y="2816875"/>
              <a:ext cx="504000" cy="504000"/>
            </a:xfrm>
            <a:prstGeom prst="ellipse">
              <a:avLst/>
            </a:prstGeom>
            <a:solidFill>
              <a:schemeClr val="accent5"/>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schemeClr val="bg1"/>
                </a:solidFill>
                <a:effectLst/>
                <a:uLnTx/>
                <a:uFillTx/>
                <a:ea typeface="Verdana"/>
                <a:cs typeface="Verdana"/>
                <a:sym typeface="Verdana"/>
              </a:endParaRPr>
            </a:p>
          </p:txBody>
        </p:sp>
        <p:pic>
          <p:nvPicPr>
            <p:cNvPr id="72" name="pasted-image.pdf" descr="pasted-image.pdf">
              <a:extLst>
                <a:ext uri="{FF2B5EF4-FFF2-40B4-BE49-F238E27FC236}">
                  <a16:creationId xmlns:a16="http://schemas.microsoft.com/office/drawing/2014/main" id="{4817F703-5D9C-B06F-8730-C7151E385EBB}"/>
                </a:ext>
              </a:extLst>
            </p:cNvPr>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9362379" y="2949732"/>
              <a:ext cx="355208" cy="238108"/>
            </a:xfrm>
            <a:prstGeom prst="rect">
              <a:avLst/>
            </a:prstGeom>
          </p:spPr>
        </p:pic>
      </p:grpSp>
      <p:grpSp>
        <p:nvGrpSpPr>
          <p:cNvPr id="77" name="Group 76">
            <a:extLst>
              <a:ext uri="{FF2B5EF4-FFF2-40B4-BE49-F238E27FC236}">
                <a16:creationId xmlns:a16="http://schemas.microsoft.com/office/drawing/2014/main" id="{C4942E88-40AC-D050-EE6D-8E18AF5C412E}"/>
              </a:ext>
            </a:extLst>
          </p:cNvPr>
          <p:cNvGrpSpPr/>
          <p:nvPr/>
        </p:nvGrpSpPr>
        <p:grpSpPr>
          <a:xfrm>
            <a:off x="9078433" y="3412931"/>
            <a:ext cx="440218" cy="440218"/>
            <a:chOff x="9287983" y="3412649"/>
            <a:chExt cx="504000" cy="504000"/>
          </a:xfrm>
        </p:grpSpPr>
        <p:sp>
          <p:nvSpPr>
            <p:cNvPr id="73" name="Freeform 31">
              <a:extLst>
                <a:ext uri="{FF2B5EF4-FFF2-40B4-BE49-F238E27FC236}">
                  <a16:creationId xmlns:a16="http://schemas.microsoft.com/office/drawing/2014/main" id="{7E591119-D5D6-D023-1957-1EA7FE690D80}"/>
                </a:ext>
              </a:extLst>
            </p:cNvPr>
            <p:cNvSpPr/>
            <p:nvPr/>
          </p:nvSpPr>
          <p:spPr>
            <a:xfrm>
              <a:off x="9287983" y="3412649"/>
              <a:ext cx="504000" cy="504000"/>
            </a:xfrm>
            <a:prstGeom prst="ellipse">
              <a:avLst/>
            </a:prstGeom>
            <a:solidFill>
              <a:schemeClr val="accent5"/>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schemeClr val="bg1"/>
                </a:solidFill>
                <a:effectLst/>
                <a:uLnTx/>
                <a:uFillTx/>
                <a:ea typeface="Verdana"/>
                <a:cs typeface="Verdana"/>
                <a:sym typeface="Verdana"/>
              </a:endParaRPr>
            </a:p>
          </p:txBody>
        </p:sp>
        <p:pic>
          <p:nvPicPr>
            <p:cNvPr id="74" name="pasted-image.pdf" descr="pasted-image.pdf">
              <a:extLst>
                <a:ext uri="{FF2B5EF4-FFF2-40B4-BE49-F238E27FC236}">
                  <a16:creationId xmlns:a16="http://schemas.microsoft.com/office/drawing/2014/main" id="{43C1B13A-9976-CC5A-CAA3-91670786D6D9}"/>
                </a:ext>
              </a:extLst>
            </p:cNvPr>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9362379" y="3539869"/>
              <a:ext cx="355208" cy="277958"/>
            </a:xfrm>
            <a:prstGeom prst="rect">
              <a:avLst/>
            </a:prstGeom>
          </p:spPr>
        </p:pic>
      </p:grpSp>
      <p:grpSp>
        <p:nvGrpSpPr>
          <p:cNvPr id="79" name="Group 78">
            <a:extLst>
              <a:ext uri="{FF2B5EF4-FFF2-40B4-BE49-F238E27FC236}">
                <a16:creationId xmlns:a16="http://schemas.microsoft.com/office/drawing/2014/main" id="{1C34FD37-A39F-7C8F-007C-F02B2EEFCA3A}"/>
              </a:ext>
            </a:extLst>
          </p:cNvPr>
          <p:cNvGrpSpPr/>
          <p:nvPr/>
        </p:nvGrpSpPr>
        <p:grpSpPr>
          <a:xfrm>
            <a:off x="9078432" y="2221380"/>
            <a:ext cx="440218" cy="440218"/>
            <a:chOff x="9287982" y="2221098"/>
            <a:chExt cx="504000" cy="504000"/>
          </a:xfrm>
        </p:grpSpPr>
        <p:sp>
          <p:nvSpPr>
            <p:cNvPr id="75" name="Freeform 31">
              <a:extLst>
                <a:ext uri="{FF2B5EF4-FFF2-40B4-BE49-F238E27FC236}">
                  <a16:creationId xmlns:a16="http://schemas.microsoft.com/office/drawing/2014/main" id="{DA742D30-7CBF-8C47-6451-FA8DC3F9EED4}"/>
                </a:ext>
              </a:extLst>
            </p:cNvPr>
            <p:cNvSpPr/>
            <p:nvPr/>
          </p:nvSpPr>
          <p:spPr>
            <a:xfrm>
              <a:off x="9287982" y="2221098"/>
              <a:ext cx="504000" cy="504000"/>
            </a:xfrm>
            <a:prstGeom prst="ellipse">
              <a:avLst/>
            </a:prstGeom>
            <a:solidFill>
              <a:schemeClr val="accent5"/>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schemeClr val="bg1"/>
                </a:solidFill>
                <a:effectLst/>
                <a:uLnTx/>
                <a:uFillTx/>
                <a:ea typeface="Verdana"/>
                <a:cs typeface="Verdana"/>
                <a:sym typeface="Verdana"/>
              </a:endParaRPr>
            </a:p>
          </p:txBody>
        </p:sp>
        <p:pic>
          <p:nvPicPr>
            <p:cNvPr id="76" name="pasted-image.pdf" descr="pasted-image.pdf">
              <a:extLst>
                <a:ext uri="{FF2B5EF4-FFF2-40B4-BE49-F238E27FC236}">
                  <a16:creationId xmlns:a16="http://schemas.microsoft.com/office/drawing/2014/main" id="{496A5362-48A9-67F5-8FEA-5F7AB110240E}"/>
                </a:ext>
              </a:extLst>
            </p:cNvPr>
            <p:cNvPicPr>
              <a:picLocks noChangeAspect="1"/>
            </p:cNvPicPr>
            <p:nvPr/>
          </p:nvPicPr>
          <p:blipFill>
            <a:blip r:embed="rId31" cstate="email">
              <a:extLst>
                <a:ext uri="{28A0092B-C50C-407E-A947-70E740481C1C}">
                  <a14:useLocalDpi xmlns:a14="http://schemas.microsoft.com/office/drawing/2010/main"/>
                </a:ext>
              </a:extLst>
            </a:blip>
            <a:stretch>
              <a:fillRect/>
            </a:stretch>
          </p:blipFill>
          <p:spPr>
            <a:xfrm>
              <a:off x="9356579" y="2368243"/>
              <a:ext cx="366808" cy="238108"/>
            </a:xfrm>
            <a:prstGeom prst="rect">
              <a:avLst/>
            </a:prstGeom>
          </p:spPr>
        </p:pic>
      </p:grpSp>
      <p:grpSp>
        <p:nvGrpSpPr>
          <p:cNvPr id="80" name="Group 79">
            <a:extLst>
              <a:ext uri="{FF2B5EF4-FFF2-40B4-BE49-F238E27FC236}">
                <a16:creationId xmlns:a16="http://schemas.microsoft.com/office/drawing/2014/main" id="{D7E601B1-363A-F052-BF81-63B8B272128E}"/>
              </a:ext>
            </a:extLst>
          </p:cNvPr>
          <p:cNvGrpSpPr/>
          <p:nvPr/>
        </p:nvGrpSpPr>
        <p:grpSpPr>
          <a:xfrm>
            <a:off x="9602199" y="2040934"/>
            <a:ext cx="946323" cy="1933973"/>
            <a:chOff x="8928908" y="2214326"/>
            <a:chExt cx="999854" cy="2023596"/>
          </a:xfrm>
        </p:grpSpPr>
        <p:sp>
          <p:nvSpPr>
            <p:cNvPr id="81" name="Arrow: Circular 75">
              <a:extLst>
                <a:ext uri="{FF2B5EF4-FFF2-40B4-BE49-F238E27FC236}">
                  <a16:creationId xmlns:a16="http://schemas.microsoft.com/office/drawing/2014/main" id="{49D8E28A-3CE8-2C3A-5E4E-AAFC99E29E4A}"/>
                </a:ext>
              </a:extLst>
            </p:cNvPr>
            <p:cNvSpPr/>
            <p:nvPr/>
          </p:nvSpPr>
          <p:spPr>
            <a:xfrm>
              <a:off x="9146286" y="2214326"/>
              <a:ext cx="782476" cy="755658"/>
            </a:xfrm>
            <a:prstGeom prst="circularArrow">
              <a:avLst>
                <a:gd name="adj1" fmla="val 10980"/>
                <a:gd name="adj2" fmla="val 1142322"/>
                <a:gd name="adj3" fmla="val 4500000"/>
                <a:gd name="adj4" fmla="val 10800000"/>
                <a:gd name="adj5" fmla="val 12500"/>
              </a:avLst>
            </a:prstGeom>
            <a:solidFill>
              <a:schemeClr val="accent5"/>
            </a:solidFill>
            <a:ln w="12700" cap="flat" cmpd="sng" algn="ctr">
              <a:noFill/>
              <a:prstDash val="solid"/>
              <a:miter lim="800000"/>
            </a:ln>
            <a:effectLst/>
          </p:spPr>
        </p:sp>
        <p:sp>
          <p:nvSpPr>
            <p:cNvPr id="82" name="Freeform: Shape 76">
              <a:extLst>
                <a:ext uri="{FF2B5EF4-FFF2-40B4-BE49-F238E27FC236}">
                  <a16:creationId xmlns:a16="http://schemas.microsoft.com/office/drawing/2014/main" id="{E28AAB61-F47F-4223-353F-0A347F6472B5}"/>
                </a:ext>
              </a:extLst>
            </p:cNvPr>
            <p:cNvSpPr/>
            <p:nvPr/>
          </p:nvSpPr>
          <p:spPr>
            <a:xfrm>
              <a:off x="9319045" y="2431804"/>
              <a:ext cx="436666" cy="210807"/>
            </a:xfrm>
            <a:custGeom>
              <a:avLst/>
              <a:gdLst>
                <a:gd name="connsiteX0" fmla="*/ 0 w 441913"/>
                <a:gd name="connsiteY0" fmla="*/ 0 h 220934"/>
                <a:gd name="connsiteX1" fmla="*/ 441913 w 441913"/>
                <a:gd name="connsiteY1" fmla="*/ 0 h 220934"/>
                <a:gd name="connsiteX2" fmla="*/ 441913 w 441913"/>
                <a:gd name="connsiteY2" fmla="*/ 220934 h 220934"/>
                <a:gd name="connsiteX3" fmla="*/ 0 w 441913"/>
                <a:gd name="connsiteY3" fmla="*/ 220934 h 220934"/>
                <a:gd name="connsiteX4" fmla="*/ 0 w 441913"/>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13" h="220934">
                  <a:moveTo>
                    <a:pt x="0" y="0"/>
                  </a:moveTo>
                  <a:lnTo>
                    <a:pt x="441913" y="0"/>
                  </a:lnTo>
                  <a:lnTo>
                    <a:pt x="441913" y="220934"/>
                  </a:lnTo>
                  <a:lnTo>
                    <a:pt x="0" y="220934"/>
                  </a:lnTo>
                  <a:lnTo>
                    <a:pt x="0" y="0"/>
                  </a:lnTo>
                  <a:close/>
                </a:path>
              </a:pathLst>
            </a:custGeom>
            <a:noFill/>
            <a:ln>
              <a:noFill/>
            </a:ln>
            <a:effectLst/>
          </p:spPr>
          <p:txBody>
            <a:bodyPr spcFirstLastPara="0" vert="horz" wrap="square" lIns="5080" tIns="5080" rIns="5080" bIns="5080" numCol="1" spcCol="1270" anchor="ctr" anchorCtr="0">
              <a:noAutofit/>
            </a:bodyPr>
            <a:lstStyle/>
            <a:p>
              <a:pPr marL="0" marR="0" lvl="0" indent="0" algn="ctr" defTabSz="333375" rtl="0" eaLnBrk="1" fontAlgn="auto" latinLnBrk="0" hangingPunct="1">
                <a:lnSpc>
                  <a:spcPct val="90000"/>
                </a:lnSpc>
                <a:spcBef>
                  <a:spcPct val="0"/>
                </a:spcBef>
                <a:spcAft>
                  <a:spcPct val="35000"/>
                </a:spcAft>
                <a:buClrTx/>
                <a:buSzTx/>
                <a:buFontTx/>
                <a:buNone/>
                <a:tabLst/>
                <a:defRPr/>
              </a:pPr>
              <a:r>
                <a:rPr kumimoji="0" lang="es-ES_tradnl" sz="750" b="0" i="0" u="none" strike="noStrike" kern="0" cap="none" spc="0" normalizeH="0" baseline="0" noProof="0">
                  <a:ln>
                    <a:noFill/>
                  </a:ln>
                  <a:solidFill>
                    <a:schemeClr val="bg1"/>
                  </a:solidFill>
                  <a:effectLst/>
                  <a:uLnTx/>
                  <a:uFillTx/>
                  <a:ea typeface="+mn-ea"/>
                  <a:cs typeface="+mn-cs"/>
                </a:rPr>
                <a:t>Prep. Release</a:t>
              </a:r>
            </a:p>
          </p:txBody>
        </p:sp>
        <p:sp>
          <p:nvSpPr>
            <p:cNvPr id="83" name="Shape 82">
              <a:extLst>
                <a:ext uri="{FF2B5EF4-FFF2-40B4-BE49-F238E27FC236}">
                  <a16:creationId xmlns:a16="http://schemas.microsoft.com/office/drawing/2014/main" id="{8589BE4A-5F34-C44F-227E-03C159A2E63E}"/>
                </a:ext>
              </a:extLst>
            </p:cNvPr>
            <p:cNvSpPr/>
            <p:nvPr/>
          </p:nvSpPr>
          <p:spPr>
            <a:xfrm>
              <a:off x="8928908" y="2648564"/>
              <a:ext cx="782476" cy="755658"/>
            </a:xfrm>
            <a:prstGeom prst="leftCircularArrow">
              <a:avLst>
                <a:gd name="adj1" fmla="val 10980"/>
                <a:gd name="adj2" fmla="val 1142322"/>
                <a:gd name="adj3" fmla="val 6300000"/>
                <a:gd name="adj4" fmla="val 18900000"/>
                <a:gd name="adj5" fmla="val 12500"/>
              </a:avLst>
            </a:prstGeom>
            <a:solidFill>
              <a:schemeClr val="accent5"/>
            </a:solidFill>
            <a:ln w="12700" cap="flat" cmpd="sng" algn="ctr">
              <a:noFill/>
              <a:prstDash val="solid"/>
              <a:miter lim="800000"/>
            </a:ln>
            <a:effectLst/>
          </p:spPr>
        </p:sp>
        <p:sp>
          <p:nvSpPr>
            <p:cNvPr id="84" name="Freeform: Shape 78">
              <a:extLst>
                <a:ext uri="{FF2B5EF4-FFF2-40B4-BE49-F238E27FC236}">
                  <a16:creationId xmlns:a16="http://schemas.microsoft.com/office/drawing/2014/main" id="{B930AB77-672A-FB8F-FEC6-983294A0A43B}"/>
                </a:ext>
              </a:extLst>
            </p:cNvPr>
            <p:cNvSpPr/>
            <p:nvPr/>
          </p:nvSpPr>
          <p:spPr>
            <a:xfrm>
              <a:off x="9100785" y="2907942"/>
              <a:ext cx="436666" cy="210806"/>
            </a:xfrm>
            <a:custGeom>
              <a:avLst/>
              <a:gdLst>
                <a:gd name="connsiteX0" fmla="*/ 0 w 441913"/>
                <a:gd name="connsiteY0" fmla="*/ 0 h 220934"/>
                <a:gd name="connsiteX1" fmla="*/ 441913 w 441913"/>
                <a:gd name="connsiteY1" fmla="*/ 0 h 220934"/>
                <a:gd name="connsiteX2" fmla="*/ 441913 w 441913"/>
                <a:gd name="connsiteY2" fmla="*/ 220934 h 220934"/>
                <a:gd name="connsiteX3" fmla="*/ 0 w 441913"/>
                <a:gd name="connsiteY3" fmla="*/ 220934 h 220934"/>
                <a:gd name="connsiteX4" fmla="*/ 0 w 441913"/>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13" h="220934">
                  <a:moveTo>
                    <a:pt x="0" y="0"/>
                  </a:moveTo>
                  <a:lnTo>
                    <a:pt x="441913" y="0"/>
                  </a:lnTo>
                  <a:lnTo>
                    <a:pt x="441913" y="220934"/>
                  </a:lnTo>
                  <a:lnTo>
                    <a:pt x="0" y="220934"/>
                  </a:lnTo>
                  <a:lnTo>
                    <a:pt x="0" y="0"/>
                  </a:lnTo>
                  <a:close/>
                </a:path>
              </a:pathLst>
            </a:custGeom>
            <a:noFill/>
            <a:ln>
              <a:noFill/>
            </a:ln>
            <a:effectLst/>
          </p:spPr>
          <p:txBody>
            <a:bodyPr spcFirstLastPara="0" vert="horz" wrap="square" lIns="5080" tIns="5080" rIns="5080" bIns="5080" numCol="1" spcCol="1270" anchor="ctr" anchorCtr="0">
              <a:noAutofit/>
            </a:bodyPr>
            <a:lstStyle/>
            <a:p>
              <a:pPr marL="0" marR="0" lvl="0" indent="0" algn="ctr" defTabSz="333375" rtl="0" eaLnBrk="1" fontAlgn="auto" latinLnBrk="0" hangingPunct="1">
                <a:lnSpc>
                  <a:spcPct val="90000"/>
                </a:lnSpc>
                <a:spcBef>
                  <a:spcPct val="0"/>
                </a:spcBef>
                <a:spcAft>
                  <a:spcPct val="35000"/>
                </a:spcAft>
                <a:buClrTx/>
                <a:buSzTx/>
                <a:buFontTx/>
                <a:buNone/>
                <a:tabLst/>
                <a:defRPr/>
              </a:pPr>
              <a:r>
                <a:rPr kumimoji="0" lang="es-ES_tradnl" sz="750" b="0" i="0" u="none" strike="noStrike" kern="0" cap="none" spc="0" normalizeH="0" baseline="0" noProof="0">
                  <a:ln>
                    <a:noFill/>
                  </a:ln>
                  <a:solidFill>
                    <a:schemeClr val="bg1"/>
                  </a:solidFill>
                  <a:effectLst/>
                  <a:uLnTx/>
                  <a:uFillTx/>
                  <a:ea typeface="+mn-ea"/>
                  <a:cs typeface="+mn-cs"/>
                </a:rPr>
                <a:t>Training Users</a:t>
              </a:r>
            </a:p>
          </p:txBody>
        </p:sp>
        <p:sp>
          <p:nvSpPr>
            <p:cNvPr id="85" name="Arrow: Circular 79">
              <a:extLst>
                <a:ext uri="{FF2B5EF4-FFF2-40B4-BE49-F238E27FC236}">
                  <a16:creationId xmlns:a16="http://schemas.microsoft.com/office/drawing/2014/main" id="{32D5C1A4-DB54-E69D-C302-0031743FEDB1}"/>
                </a:ext>
              </a:extLst>
            </p:cNvPr>
            <p:cNvSpPr/>
            <p:nvPr/>
          </p:nvSpPr>
          <p:spPr>
            <a:xfrm>
              <a:off x="9146286" y="3084405"/>
              <a:ext cx="782476" cy="755658"/>
            </a:xfrm>
            <a:prstGeom prst="circularArrow">
              <a:avLst>
                <a:gd name="adj1" fmla="val 10980"/>
                <a:gd name="adj2" fmla="val 1142322"/>
                <a:gd name="adj3" fmla="val 4500000"/>
                <a:gd name="adj4" fmla="val 13500000"/>
                <a:gd name="adj5" fmla="val 12500"/>
              </a:avLst>
            </a:prstGeom>
            <a:solidFill>
              <a:schemeClr val="accent5"/>
            </a:solidFill>
            <a:ln w="12700" cap="flat" cmpd="sng" algn="ctr">
              <a:noFill/>
              <a:prstDash val="solid"/>
              <a:miter lim="800000"/>
            </a:ln>
            <a:effectLst/>
          </p:spPr>
        </p:sp>
        <p:sp>
          <p:nvSpPr>
            <p:cNvPr id="86" name="Freeform: Shape 80">
              <a:extLst>
                <a:ext uri="{FF2B5EF4-FFF2-40B4-BE49-F238E27FC236}">
                  <a16:creationId xmlns:a16="http://schemas.microsoft.com/office/drawing/2014/main" id="{BE80C32F-31F7-8DF9-5197-D777E1685B12}"/>
                </a:ext>
              </a:extLst>
            </p:cNvPr>
            <p:cNvSpPr/>
            <p:nvPr/>
          </p:nvSpPr>
          <p:spPr>
            <a:xfrm>
              <a:off x="9098120" y="3340351"/>
              <a:ext cx="717768" cy="210806"/>
            </a:xfrm>
            <a:custGeom>
              <a:avLst/>
              <a:gdLst>
                <a:gd name="connsiteX0" fmla="*/ 0 w 726395"/>
                <a:gd name="connsiteY0" fmla="*/ 0 h 220934"/>
                <a:gd name="connsiteX1" fmla="*/ 726395 w 726395"/>
                <a:gd name="connsiteY1" fmla="*/ 0 h 220934"/>
                <a:gd name="connsiteX2" fmla="*/ 726395 w 726395"/>
                <a:gd name="connsiteY2" fmla="*/ 220934 h 220934"/>
                <a:gd name="connsiteX3" fmla="*/ 0 w 726395"/>
                <a:gd name="connsiteY3" fmla="*/ 220934 h 220934"/>
                <a:gd name="connsiteX4" fmla="*/ 0 w 726395"/>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95" h="220934">
                  <a:moveTo>
                    <a:pt x="0" y="0"/>
                  </a:moveTo>
                  <a:lnTo>
                    <a:pt x="726395" y="0"/>
                  </a:lnTo>
                  <a:lnTo>
                    <a:pt x="726395" y="220934"/>
                  </a:lnTo>
                  <a:lnTo>
                    <a:pt x="0" y="220934"/>
                  </a:lnTo>
                  <a:lnTo>
                    <a:pt x="0" y="0"/>
                  </a:lnTo>
                  <a:close/>
                </a:path>
              </a:pathLst>
            </a:custGeom>
            <a:noFill/>
            <a:ln>
              <a:noFill/>
            </a:ln>
            <a:effectLst/>
          </p:spPr>
          <p:txBody>
            <a:bodyPr spcFirstLastPara="0" vert="horz" wrap="square" lIns="4445" tIns="4445" rIns="4445" bIns="4445" numCol="1" spcCol="1270" anchor="ctr" anchorCtr="0">
              <a:noAutofit/>
            </a:bodyPr>
            <a:lstStyle/>
            <a:p>
              <a:pPr marL="0" marR="0" lvl="0" indent="0" algn="ctr" defTabSz="311150" rtl="0" eaLnBrk="1" fontAlgn="auto" latinLnBrk="0" hangingPunct="1">
                <a:lnSpc>
                  <a:spcPct val="90000"/>
                </a:lnSpc>
                <a:spcBef>
                  <a:spcPct val="0"/>
                </a:spcBef>
                <a:spcAft>
                  <a:spcPct val="35000"/>
                </a:spcAft>
                <a:buClrTx/>
                <a:buSzTx/>
                <a:buFontTx/>
                <a:buNone/>
                <a:tabLst/>
                <a:defRPr/>
              </a:pPr>
              <a:r>
                <a:rPr kumimoji="0" lang="en-US" sz="750" b="0" i="0" u="none" strike="noStrike" kern="0" cap="none" spc="0" normalizeH="0" baseline="0">
                  <a:ln>
                    <a:noFill/>
                  </a:ln>
                  <a:solidFill>
                    <a:schemeClr val="bg1"/>
                  </a:solidFill>
                  <a:effectLst/>
                  <a:uLnTx/>
                  <a:uFillTx/>
                  <a:ea typeface="+mn-ea"/>
                  <a:cs typeface="+mn-cs"/>
                </a:rPr>
                <a:t>Acceptance</a:t>
              </a:r>
            </a:p>
          </p:txBody>
        </p:sp>
        <p:sp>
          <p:nvSpPr>
            <p:cNvPr id="87" name="Block Arc 86">
              <a:extLst>
                <a:ext uri="{FF2B5EF4-FFF2-40B4-BE49-F238E27FC236}">
                  <a16:creationId xmlns:a16="http://schemas.microsoft.com/office/drawing/2014/main" id="{4BEE72F5-4201-8339-F7D6-5F2F347E1CED}"/>
                </a:ext>
              </a:extLst>
            </p:cNvPr>
            <p:cNvSpPr/>
            <p:nvPr/>
          </p:nvSpPr>
          <p:spPr>
            <a:xfrm>
              <a:off x="8974618" y="3558771"/>
              <a:ext cx="702987" cy="679151"/>
            </a:xfrm>
            <a:prstGeom prst="blockArc">
              <a:avLst>
                <a:gd name="adj1" fmla="val 0"/>
                <a:gd name="adj2" fmla="val 18900000"/>
                <a:gd name="adj3" fmla="val 12740"/>
              </a:avLst>
            </a:prstGeom>
            <a:solidFill>
              <a:schemeClr val="accent5"/>
            </a:solidFill>
            <a:ln w="12700" cap="flat" cmpd="sng" algn="ctr">
              <a:noFill/>
              <a:prstDash val="solid"/>
              <a:miter lim="800000"/>
            </a:ln>
            <a:effectLst/>
          </p:spPr>
        </p:sp>
        <p:sp>
          <p:nvSpPr>
            <p:cNvPr id="88" name="Freeform: Shape 82">
              <a:extLst>
                <a:ext uri="{FF2B5EF4-FFF2-40B4-BE49-F238E27FC236}">
                  <a16:creationId xmlns:a16="http://schemas.microsoft.com/office/drawing/2014/main" id="{9FF44EC2-CC91-30FA-E200-FF4D910F0E98}"/>
                </a:ext>
              </a:extLst>
            </p:cNvPr>
            <p:cNvSpPr/>
            <p:nvPr/>
          </p:nvSpPr>
          <p:spPr>
            <a:xfrm>
              <a:off x="9070112" y="3758094"/>
              <a:ext cx="506856" cy="210806"/>
            </a:xfrm>
            <a:custGeom>
              <a:avLst/>
              <a:gdLst>
                <a:gd name="connsiteX0" fmla="*/ 0 w 503998"/>
                <a:gd name="connsiteY0" fmla="*/ 0 h 220934"/>
                <a:gd name="connsiteX1" fmla="*/ 503998 w 503998"/>
                <a:gd name="connsiteY1" fmla="*/ 0 h 220934"/>
                <a:gd name="connsiteX2" fmla="*/ 503998 w 503998"/>
                <a:gd name="connsiteY2" fmla="*/ 220934 h 220934"/>
                <a:gd name="connsiteX3" fmla="*/ 0 w 503998"/>
                <a:gd name="connsiteY3" fmla="*/ 220934 h 220934"/>
                <a:gd name="connsiteX4" fmla="*/ 0 w 503998"/>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998" h="220934">
                  <a:moveTo>
                    <a:pt x="0" y="0"/>
                  </a:moveTo>
                  <a:lnTo>
                    <a:pt x="503998" y="0"/>
                  </a:lnTo>
                  <a:lnTo>
                    <a:pt x="503998" y="220934"/>
                  </a:lnTo>
                  <a:lnTo>
                    <a:pt x="0" y="220934"/>
                  </a:lnTo>
                  <a:lnTo>
                    <a:pt x="0" y="0"/>
                  </a:lnTo>
                  <a:close/>
                </a:path>
              </a:pathLst>
            </a:custGeom>
            <a:noFill/>
            <a:ln>
              <a:noFill/>
            </a:ln>
            <a:effectLst/>
          </p:spPr>
          <p:txBody>
            <a:bodyPr spcFirstLastPara="0" vert="horz" wrap="square" lIns="0" tIns="0" rIns="0" bIns="0" numCol="1" spcCol="1270" anchor="ctr" anchorCtr="0">
              <a:noAutofit/>
            </a:bodyPr>
            <a:lstStyle/>
            <a:p>
              <a:pPr marL="0" marR="0" lvl="0" indent="0" algn="ctr" defTabSz="311150" rtl="0" eaLnBrk="1" fontAlgn="auto" latinLnBrk="0" hangingPunct="1">
                <a:lnSpc>
                  <a:spcPct val="90000"/>
                </a:lnSpc>
                <a:spcBef>
                  <a:spcPct val="0"/>
                </a:spcBef>
                <a:spcAft>
                  <a:spcPct val="35000"/>
                </a:spcAft>
                <a:buClrTx/>
                <a:buSzTx/>
                <a:buFontTx/>
                <a:buNone/>
                <a:tabLst/>
                <a:defRPr/>
              </a:pPr>
              <a:r>
                <a:rPr kumimoji="0" lang="es-ES_tradnl" sz="750" b="0" i="0" u="none" strike="noStrike" kern="0" cap="none" spc="0" normalizeH="0" baseline="0" noProof="0">
                  <a:ln>
                    <a:noFill/>
                  </a:ln>
                  <a:solidFill>
                    <a:schemeClr val="bg1"/>
                  </a:solidFill>
                  <a:effectLst/>
                  <a:uLnTx/>
                  <a:uFillTx/>
                  <a:ea typeface="+mn-ea"/>
                  <a:cs typeface="+mn-cs"/>
                </a:rPr>
                <a:t>Release in Production</a:t>
              </a:r>
            </a:p>
          </p:txBody>
        </p:sp>
      </p:grpSp>
      <p:sp>
        <p:nvSpPr>
          <p:cNvPr id="89" name="Rectangle 88">
            <a:extLst>
              <a:ext uri="{FF2B5EF4-FFF2-40B4-BE49-F238E27FC236}">
                <a16:creationId xmlns:a16="http://schemas.microsoft.com/office/drawing/2014/main" id="{AF7039A8-0C1C-5F1C-CCD2-3CDE81143A2C}"/>
              </a:ext>
            </a:extLst>
          </p:cNvPr>
          <p:cNvSpPr/>
          <p:nvPr/>
        </p:nvSpPr>
        <p:spPr>
          <a:xfrm>
            <a:off x="856272" y="2547890"/>
            <a:ext cx="631583" cy="138499"/>
          </a:xfrm>
          <a:prstGeom prst="rect">
            <a:avLst/>
          </a:prstGeom>
        </p:spPr>
        <p:txBody>
          <a:bodyPr wrap="non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User </a:t>
            </a:r>
            <a:r>
              <a:rPr lang="en-US" sz="900" kern="0">
                <a:solidFill>
                  <a:schemeClr val="bg1"/>
                </a:solidFill>
              </a:rPr>
              <a:t>S</a:t>
            </a:r>
            <a:r>
              <a:rPr kumimoji="0" lang="en-US" sz="900" b="0" i="0" u="none" strike="noStrike" kern="0" cap="none" spc="0" normalizeH="0" baseline="0" noProof="0">
                <a:ln>
                  <a:noFill/>
                </a:ln>
                <a:solidFill>
                  <a:schemeClr val="bg1"/>
                </a:solidFill>
                <a:effectLst/>
                <a:uLnTx/>
                <a:uFillTx/>
              </a:rPr>
              <a:t>tories</a:t>
            </a:r>
          </a:p>
        </p:txBody>
      </p:sp>
      <p:sp>
        <p:nvSpPr>
          <p:cNvPr id="90" name="Rectangle 89">
            <a:extLst>
              <a:ext uri="{FF2B5EF4-FFF2-40B4-BE49-F238E27FC236}">
                <a16:creationId xmlns:a16="http://schemas.microsoft.com/office/drawing/2014/main" id="{10768122-A8B6-E388-4A57-E80EBEDBD1BB}"/>
              </a:ext>
            </a:extLst>
          </p:cNvPr>
          <p:cNvSpPr/>
          <p:nvPr/>
        </p:nvSpPr>
        <p:spPr>
          <a:xfrm>
            <a:off x="856272" y="2195128"/>
            <a:ext cx="857607" cy="138499"/>
          </a:xfrm>
          <a:prstGeom prst="rect">
            <a:avLst/>
          </a:prstGeom>
        </p:spPr>
        <p:txBody>
          <a:bodyPr wrap="non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mn-cs"/>
              </a:rPr>
              <a:t>Product Backlog</a:t>
            </a:r>
          </a:p>
        </p:txBody>
      </p:sp>
      <p:sp>
        <p:nvSpPr>
          <p:cNvPr id="91" name="Rectangle 90">
            <a:extLst>
              <a:ext uri="{FF2B5EF4-FFF2-40B4-BE49-F238E27FC236}">
                <a16:creationId xmlns:a16="http://schemas.microsoft.com/office/drawing/2014/main" id="{18D6E113-5BD2-991A-C001-24DC4CB60313}"/>
              </a:ext>
            </a:extLst>
          </p:cNvPr>
          <p:cNvSpPr/>
          <p:nvPr/>
        </p:nvSpPr>
        <p:spPr>
          <a:xfrm>
            <a:off x="856272" y="2900652"/>
            <a:ext cx="514564" cy="138499"/>
          </a:xfrm>
          <a:prstGeom prst="rect">
            <a:avLst/>
          </a:prstGeom>
        </p:spPr>
        <p:txBody>
          <a:bodyPr wrap="non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mn-cs"/>
              </a:rPr>
              <a:t>Estimates</a:t>
            </a:r>
          </a:p>
        </p:txBody>
      </p:sp>
      <p:sp>
        <p:nvSpPr>
          <p:cNvPr id="92" name="Rectangle 91">
            <a:extLst>
              <a:ext uri="{FF2B5EF4-FFF2-40B4-BE49-F238E27FC236}">
                <a16:creationId xmlns:a16="http://schemas.microsoft.com/office/drawing/2014/main" id="{28C06974-9866-76B0-F6F3-67E941CF9E75}"/>
              </a:ext>
            </a:extLst>
          </p:cNvPr>
          <p:cNvSpPr/>
          <p:nvPr/>
        </p:nvSpPr>
        <p:spPr>
          <a:xfrm>
            <a:off x="856272" y="3253414"/>
            <a:ext cx="1094852" cy="138499"/>
          </a:xfrm>
          <a:prstGeom prst="rect">
            <a:avLst/>
          </a:prstGeom>
        </p:spPr>
        <p:txBody>
          <a:bodyPr wrap="non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mn-cs"/>
              </a:rPr>
              <a:t>Implementation Plan</a:t>
            </a:r>
          </a:p>
        </p:txBody>
      </p:sp>
      <p:pic>
        <p:nvPicPr>
          <p:cNvPr id="93" name="Picture 2" descr="Workflow ">
            <a:extLst>
              <a:ext uri="{FF2B5EF4-FFF2-40B4-BE49-F238E27FC236}">
                <a16:creationId xmlns:a16="http://schemas.microsoft.com/office/drawing/2014/main" id="{6E8F3A06-D4FD-6D68-5FFE-ACBB9F0C25F4}"/>
              </a:ext>
            </a:extLst>
          </p:cNvPr>
          <p:cNvPicPr>
            <a:picLocks noChangeAspect="1" noChangeArrowheads="1"/>
          </p:cNvPicPr>
          <p:nvPr/>
        </p:nvPicPr>
        <p:blipFill>
          <a:blip r:embed="rId32" cstate="hqprint">
            <a:extLst>
              <a:ext uri="{BEBA8EAE-BF5A-486C-A8C5-ECC9F3942E4B}">
                <a14:imgProps xmlns:a14="http://schemas.microsoft.com/office/drawing/2010/main">
                  <a14:imgLayer r:embed="rId33">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486007" y="2154374"/>
            <a:ext cx="259797" cy="223186"/>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4" descr="File ">
            <a:extLst>
              <a:ext uri="{FF2B5EF4-FFF2-40B4-BE49-F238E27FC236}">
                <a16:creationId xmlns:a16="http://schemas.microsoft.com/office/drawing/2014/main" id="{01FFB9C2-7D3E-9985-AB79-F4AD12E8A4C8}"/>
              </a:ext>
            </a:extLst>
          </p:cNvPr>
          <p:cNvPicPr>
            <a:picLocks noChangeAspect="1" noChangeArrowheads="1"/>
          </p:cNvPicPr>
          <p:nvPr/>
        </p:nvPicPr>
        <p:blipFill>
          <a:blip r:embed="rId34" cstate="hqprint">
            <a:extLst>
              <a:ext uri="{BEBA8EAE-BF5A-486C-A8C5-ECC9F3942E4B}">
                <a14:imgProps xmlns:a14="http://schemas.microsoft.com/office/drawing/2010/main">
                  <a14:imgLayer r:embed="rId35">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499179" y="2501245"/>
            <a:ext cx="233453" cy="219568"/>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6" descr="Estimate ">
            <a:extLst>
              <a:ext uri="{FF2B5EF4-FFF2-40B4-BE49-F238E27FC236}">
                <a16:creationId xmlns:a16="http://schemas.microsoft.com/office/drawing/2014/main" id="{06ECA6BC-C828-AD7C-4E17-320C45A32184}"/>
              </a:ext>
            </a:extLst>
          </p:cNvPr>
          <p:cNvPicPr>
            <a:picLocks noChangeAspect="1" noChangeArrowheads="1"/>
          </p:cNvPicPr>
          <p:nvPr/>
        </p:nvPicPr>
        <p:blipFill>
          <a:blip r:embed="rId36" cstate="hqprint">
            <a:extLst>
              <a:ext uri="{BEBA8EAE-BF5A-486C-A8C5-ECC9F3942E4B}">
                <a14:imgProps xmlns:a14="http://schemas.microsoft.com/office/drawing/2010/main">
                  <a14:imgLayer r:embed="rId37">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495297" y="2845018"/>
            <a:ext cx="241216" cy="217050"/>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10" descr="Project management ">
            <a:extLst>
              <a:ext uri="{FF2B5EF4-FFF2-40B4-BE49-F238E27FC236}">
                <a16:creationId xmlns:a16="http://schemas.microsoft.com/office/drawing/2014/main" id="{2597096B-795C-3D19-FCA9-864FB6059BDD}"/>
              </a:ext>
            </a:extLst>
          </p:cNvPr>
          <p:cNvPicPr>
            <a:picLocks noChangeAspect="1" noChangeArrowheads="1"/>
          </p:cNvPicPr>
          <p:nvPr/>
        </p:nvPicPr>
        <p:blipFill>
          <a:blip r:embed="rId38" cstate="hqprint">
            <a:extLst>
              <a:ext uri="{BEBA8EAE-BF5A-486C-A8C5-ECC9F3942E4B}">
                <a14:imgProps xmlns:a14="http://schemas.microsoft.com/office/drawing/2010/main">
                  <a14:imgLayer r:embed="rId39">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489102" y="3657811"/>
            <a:ext cx="253606" cy="234754"/>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2" descr="Running ">
            <a:extLst>
              <a:ext uri="{FF2B5EF4-FFF2-40B4-BE49-F238E27FC236}">
                <a16:creationId xmlns:a16="http://schemas.microsoft.com/office/drawing/2014/main" id="{2D84E786-89F3-6EB8-8972-51FCDB835EEF}"/>
              </a:ext>
            </a:extLst>
          </p:cNvPr>
          <p:cNvPicPr>
            <a:picLocks noChangeAspect="1" noChangeArrowheads="1"/>
          </p:cNvPicPr>
          <p:nvPr/>
        </p:nvPicPr>
        <p:blipFill>
          <a:blip r:embed="rId40" cstate="hqprint">
            <a:extLst>
              <a:ext uri="{BEBA8EAE-BF5A-486C-A8C5-ECC9F3942E4B}">
                <a14:imgProps xmlns:a14="http://schemas.microsoft.com/office/drawing/2010/main">
                  <a14:imgLayer r:embed="rId41">
                    <a14:imgEffect>
                      <a14:brightnessContrast bright="100000" contrast="100000"/>
                    </a14:imgEffect>
                  </a14:imgLayer>
                </a14:imgProps>
              </a:ext>
              <a:ext uri="{28A0092B-C50C-407E-A947-70E740481C1C}">
                <a14:useLocalDpi xmlns:a14="http://schemas.microsoft.com/office/drawing/2010/main"/>
              </a:ext>
            </a:extLst>
          </a:blip>
          <a:srcRect/>
          <a:stretch>
            <a:fillRect/>
          </a:stretch>
        </p:blipFill>
        <p:spPr bwMode="auto">
          <a:xfrm>
            <a:off x="492079" y="3201857"/>
            <a:ext cx="247653" cy="238102"/>
          </a:xfrm>
          <a:prstGeom prst="rect">
            <a:avLst/>
          </a:prstGeom>
          <a:noFill/>
          <a:extLst>
            <a:ext uri="{909E8E84-426E-40DD-AFC4-6F175D3DCCD1}">
              <a14:hiddenFill xmlns:a14="http://schemas.microsoft.com/office/drawing/2010/main">
                <a:solidFill>
                  <a:srgbClr val="FFFFFF"/>
                </a:solidFill>
              </a14:hiddenFill>
            </a:ext>
          </a:extLst>
        </p:spPr>
      </p:pic>
      <p:sp>
        <p:nvSpPr>
          <p:cNvPr id="98" name="Rectangle 97">
            <a:extLst>
              <a:ext uri="{FF2B5EF4-FFF2-40B4-BE49-F238E27FC236}">
                <a16:creationId xmlns:a16="http://schemas.microsoft.com/office/drawing/2014/main" id="{D8E88BC3-D574-063B-626A-F4A617667A15}"/>
              </a:ext>
            </a:extLst>
          </p:cNvPr>
          <p:cNvSpPr/>
          <p:nvPr/>
        </p:nvSpPr>
        <p:spPr>
          <a:xfrm>
            <a:off x="856272" y="3606175"/>
            <a:ext cx="835165" cy="276999"/>
          </a:xfrm>
          <a:prstGeom prst="rect">
            <a:avLst/>
          </a:prstGeom>
        </p:spPr>
        <p:txBody>
          <a:bodyPr wrap="non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ea typeface="+mn-ea"/>
                <a:cs typeface="+mn-cs"/>
              </a:rPr>
              <a:t>Update Task </a:t>
            </a:r>
            <a:br>
              <a:rPr kumimoji="0" lang="en-US" sz="900" b="0" i="0" u="none" strike="noStrike" kern="0" cap="none" spc="0" normalizeH="0" baseline="0" noProof="0">
                <a:ln>
                  <a:noFill/>
                </a:ln>
                <a:solidFill>
                  <a:schemeClr val="bg1"/>
                </a:solidFill>
                <a:effectLst/>
                <a:uLnTx/>
                <a:uFillTx/>
                <a:ea typeface="+mn-ea"/>
                <a:cs typeface="+mn-cs"/>
              </a:rPr>
            </a:br>
            <a:r>
              <a:rPr kumimoji="0" lang="en-US" sz="900" b="0" i="0" u="none" strike="noStrike" kern="0" cap="none" spc="0" normalizeH="0" baseline="0" noProof="0">
                <a:ln>
                  <a:noFill/>
                </a:ln>
                <a:solidFill>
                  <a:schemeClr val="bg1"/>
                </a:solidFill>
                <a:effectLst/>
                <a:uLnTx/>
                <a:uFillTx/>
                <a:ea typeface="+mn-ea"/>
                <a:cs typeface="+mn-cs"/>
              </a:rPr>
              <a:t>anagement tool</a:t>
            </a:r>
          </a:p>
        </p:txBody>
      </p:sp>
      <p:grpSp>
        <p:nvGrpSpPr>
          <p:cNvPr id="177" name="Group 176">
            <a:extLst>
              <a:ext uri="{FF2B5EF4-FFF2-40B4-BE49-F238E27FC236}">
                <a16:creationId xmlns:a16="http://schemas.microsoft.com/office/drawing/2014/main" id="{D8D23DBA-2B34-6572-6977-AA2E528A2CE5}"/>
              </a:ext>
            </a:extLst>
          </p:cNvPr>
          <p:cNvGrpSpPr/>
          <p:nvPr/>
        </p:nvGrpSpPr>
        <p:grpSpPr>
          <a:xfrm>
            <a:off x="2947651" y="2454741"/>
            <a:ext cx="5933499" cy="1091419"/>
            <a:chOff x="2917477" y="2359505"/>
            <a:chExt cx="5944623" cy="1093471"/>
          </a:xfrm>
        </p:grpSpPr>
        <p:sp>
          <p:nvSpPr>
            <p:cNvPr id="99" name="Rectangle 98">
              <a:extLst>
                <a:ext uri="{FF2B5EF4-FFF2-40B4-BE49-F238E27FC236}">
                  <a16:creationId xmlns:a16="http://schemas.microsoft.com/office/drawing/2014/main" id="{4D568F89-26E3-0B0A-3896-9F241871E16D}"/>
                </a:ext>
              </a:extLst>
            </p:cNvPr>
            <p:cNvSpPr/>
            <p:nvPr/>
          </p:nvSpPr>
          <p:spPr>
            <a:xfrm>
              <a:off x="6993882" y="2396159"/>
              <a:ext cx="1746285" cy="689184"/>
            </a:xfrm>
            <a:prstGeom prst="rect">
              <a:avLst/>
            </a:prstGeom>
            <a:solidFill>
              <a:schemeClr val="bg1"/>
            </a:solidFill>
            <a:ln w="95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100" name="Rectangle 99">
              <a:extLst>
                <a:ext uri="{FF2B5EF4-FFF2-40B4-BE49-F238E27FC236}">
                  <a16:creationId xmlns:a16="http://schemas.microsoft.com/office/drawing/2014/main" id="{B6D414D1-E82F-0C48-97C1-562AB5D0F2E7}"/>
                </a:ext>
              </a:extLst>
            </p:cNvPr>
            <p:cNvSpPr/>
            <p:nvPr/>
          </p:nvSpPr>
          <p:spPr>
            <a:xfrm>
              <a:off x="2922587" y="2394262"/>
              <a:ext cx="1764107" cy="689185"/>
            </a:xfrm>
            <a:prstGeom prst="rect">
              <a:avLst/>
            </a:prstGeom>
            <a:solidFill>
              <a:schemeClr val="bg1"/>
            </a:solidFill>
            <a:ln w="95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101" name="Freeform 26">
              <a:extLst>
                <a:ext uri="{FF2B5EF4-FFF2-40B4-BE49-F238E27FC236}">
                  <a16:creationId xmlns:a16="http://schemas.microsoft.com/office/drawing/2014/main" id="{CA3BC56D-0A27-362E-7D86-59FDAD8E25F6}"/>
                </a:ext>
              </a:extLst>
            </p:cNvPr>
            <p:cNvSpPr/>
            <p:nvPr/>
          </p:nvSpPr>
          <p:spPr>
            <a:xfrm>
              <a:off x="3472712" y="2392465"/>
              <a:ext cx="287232" cy="176603"/>
            </a:xfrm>
            <a:custGeom>
              <a:avLst/>
              <a:gdLst>
                <a:gd name="connsiteX0" fmla="*/ 0 w 287232"/>
                <a:gd name="connsiteY0" fmla="*/ 0 h 176603"/>
                <a:gd name="connsiteX1" fmla="*/ 287232 w 287232"/>
                <a:gd name="connsiteY1" fmla="*/ 0 h 176603"/>
                <a:gd name="connsiteX2" fmla="*/ 287232 w 287232"/>
                <a:gd name="connsiteY2" fmla="*/ 176603 h 176603"/>
                <a:gd name="connsiteX3" fmla="*/ 0 w 287232"/>
                <a:gd name="connsiteY3" fmla="*/ 176603 h 176603"/>
                <a:gd name="connsiteX4" fmla="*/ 0 w 28723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232" h="176603">
                  <a:moveTo>
                    <a:pt x="0" y="0"/>
                  </a:moveTo>
                  <a:lnTo>
                    <a:pt x="287232" y="0"/>
                  </a:lnTo>
                  <a:lnTo>
                    <a:pt x="28723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r" defTabSz="266700">
                <a:lnSpc>
                  <a:spcPct val="90000"/>
                </a:lnSpc>
                <a:spcBef>
                  <a:spcPct val="0"/>
                </a:spcBef>
                <a:spcAft>
                  <a:spcPct val="35000"/>
                </a:spcAft>
              </a:pPr>
              <a:r>
                <a:rPr lang="en-IN" sz="600" kern="1200">
                  <a:solidFill>
                    <a:prstClr val="black">
                      <a:hueOff val="0"/>
                      <a:satOff val="0"/>
                      <a:lumOff val="0"/>
                      <a:alphaOff val="0"/>
                    </a:prstClr>
                  </a:solidFill>
                  <a:ea typeface="+mn-ea"/>
                  <a:cs typeface="+mn-cs"/>
                </a:rPr>
                <a:t>Build</a:t>
              </a:r>
            </a:p>
          </p:txBody>
        </p:sp>
        <p:sp>
          <p:nvSpPr>
            <p:cNvPr id="102" name="Circular Arrow 27">
              <a:extLst>
                <a:ext uri="{FF2B5EF4-FFF2-40B4-BE49-F238E27FC236}">
                  <a16:creationId xmlns:a16="http://schemas.microsoft.com/office/drawing/2014/main" id="{C4DCD373-3639-2207-71DA-E2F97263EB2E}"/>
                </a:ext>
              </a:extLst>
            </p:cNvPr>
            <p:cNvSpPr/>
            <p:nvPr/>
          </p:nvSpPr>
          <p:spPr>
            <a:xfrm>
              <a:off x="3066967" y="2395218"/>
              <a:ext cx="662034" cy="662034"/>
            </a:xfrm>
            <a:prstGeom prst="circularArrow">
              <a:avLst>
                <a:gd name="adj1" fmla="val 5202"/>
                <a:gd name="adj2" fmla="val 336031"/>
                <a:gd name="adj3" fmla="val 21390679"/>
                <a:gd name="adj4" fmla="val 19806261"/>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03" name="Freeform 29">
              <a:extLst>
                <a:ext uri="{FF2B5EF4-FFF2-40B4-BE49-F238E27FC236}">
                  <a16:creationId xmlns:a16="http://schemas.microsoft.com/office/drawing/2014/main" id="{D68DFCE3-2829-58C4-039C-7E9711E3BA5E}"/>
                </a:ext>
              </a:extLst>
            </p:cNvPr>
            <p:cNvSpPr/>
            <p:nvPr/>
          </p:nvSpPr>
          <p:spPr>
            <a:xfrm>
              <a:off x="3574201" y="2739443"/>
              <a:ext cx="248796" cy="176603"/>
            </a:xfrm>
            <a:custGeom>
              <a:avLst/>
              <a:gdLst>
                <a:gd name="connsiteX0" fmla="*/ 0 w 248796"/>
                <a:gd name="connsiteY0" fmla="*/ 0 h 176603"/>
                <a:gd name="connsiteX1" fmla="*/ 248796 w 248796"/>
                <a:gd name="connsiteY1" fmla="*/ 0 h 176603"/>
                <a:gd name="connsiteX2" fmla="*/ 248796 w 248796"/>
                <a:gd name="connsiteY2" fmla="*/ 176603 h 176603"/>
                <a:gd name="connsiteX3" fmla="*/ 0 w 248796"/>
                <a:gd name="connsiteY3" fmla="*/ 176603 h 176603"/>
                <a:gd name="connsiteX4" fmla="*/ 0 w 248796"/>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796" h="176603">
                  <a:moveTo>
                    <a:pt x="0" y="0"/>
                  </a:moveTo>
                  <a:lnTo>
                    <a:pt x="248796" y="0"/>
                  </a:lnTo>
                  <a:lnTo>
                    <a:pt x="248796"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 QA</a:t>
              </a:r>
            </a:p>
          </p:txBody>
        </p:sp>
        <p:sp>
          <p:nvSpPr>
            <p:cNvPr id="104" name="Circular Arrow 65">
              <a:extLst>
                <a:ext uri="{FF2B5EF4-FFF2-40B4-BE49-F238E27FC236}">
                  <a16:creationId xmlns:a16="http://schemas.microsoft.com/office/drawing/2014/main" id="{CC1BB3A0-B343-E856-6343-2B8078514B0C}"/>
                </a:ext>
              </a:extLst>
            </p:cNvPr>
            <p:cNvSpPr/>
            <p:nvPr/>
          </p:nvSpPr>
          <p:spPr>
            <a:xfrm>
              <a:off x="3091306" y="2375562"/>
              <a:ext cx="662034" cy="662034"/>
            </a:xfrm>
            <a:prstGeom prst="circularArrow">
              <a:avLst>
                <a:gd name="adj1" fmla="val 5202"/>
                <a:gd name="adj2" fmla="val 336031"/>
                <a:gd name="adj3" fmla="val 3990491"/>
                <a:gd name="adj4" fmla="val 2690041"/>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05" name="Freeform 67">
              <a:extLst>
                <a:ext uri="{FF2B5EF4-FFF2-40B4-BE49-F238E27FC236}">
                  <a16:creationId xmlns:a16="http://schemas.microsoft.com/office/drawing/2014/main" id="{38602FB7-5D7A-6A3F-80BC-2B87D28DD712}"/>
                </a:ext>
              </a:extLst>
            </p:cNvPr>
            <p:cNvSpPr/>
            <p:nvPr/>
          </p:nvSpPr>
          <p:spPr>
            <a:xfrm>
              <a:off x="3276565" y="2946566"/>
              <a:ext cx="235989" cy="176603"/>
            </a:xfrm>
            <a:custGeom>
              <a:avLst/>
              <a:gdLst>
                <a:gd name="connsiteX0" fmla="*/ 0 w 235989"/>
                <a:gd name="connsiteY0" fmla="*/ 0 h 176603"/>
                <a:gd name="connsiteX1" fmla="*/ 235989 w 235989"/>
                <a:gd name="connsiteY1" fmla="*/ 0 h 176603"/>
                <a:gd name="connsiteX2" fmla="*/ 235989 w 235989"/>
                <a:gd name="connsiteY2" fmla="*/ 176603 h 176603"/>
                <a:gd name="connsiteX3" fmla="*/ 0 w 235989"/>
                <a:gd name="connsiteY3" fmla="*/ 176603 h 176603"/>
                <a:gd name="connsiteX4" fmla="*/ 0 w 235989"/>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989" h="176603">
                  <a:moveTo>
                    <a:pt x="0" y="0"/>
                  </a:moveTo>
                  <a:lnTo>
                    <a:pt x="235989" y="0"/>
                  </a:lnTo>
                  <a:lnTo>
                    <a:pt x="235989"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080" tIns="5080" rIns="5080" bIns="5080" numCol="1" spcCol="1270" anchor="ctr" anchorCtr="0">
              <a:noAutofit/>
            </a:bodyPr>
            <a:lstStyle/>
            <a:p>
              <a:pPr lvl="0" algn="ctr" defTabSz="177800">
                <a:lnSpc>
                  <a:spcPct val="90000"/>
                </a:lnSpc>
                <a:spcBef>
                  <a:spcPct val="0"/>
                </a:spcBef>
                <a:spcAft>
                  <a:spcPct val="35000"/>
                </a:spcAft>
              </a:pPr>
              <a:r>
                <a:rPr lang="en-IN" sz="400" kern="1200"/>
                <a:t>Evaluate</a:t>
              </a:r>
            </a:p>
          </p:txBody>
        </p:sp>
        <p:sp>
          <p:nvSpPr>
            <p:cNvPr id="106" name="Circular Arrow 68">
              <a:extLst>
                <a:ext uri="{FF2B5EF4-FFF2-40B4-BE49-F238E27FC236}">
                  <a16:creationId xmlns:a16="http://schemas.microsoft.com/office/drawing/2014/main" id="{7F3E3026-AF68-D69B-12F3-3C46E3853223}"/>
                </a:ext>
              </a:extLst>
            </p:cNvPr>
            <p:cNvSpPr/>
            <p:nvPr/>
          </p:nvSpPr>
          <p:spPr>
            <a:xfrm>
              <a:off x="2972078" y="2359505"/>
              <a:ext cx="662034" cy="662034"/>
            </a:xfrm>
            <a:prstGeom prst="circularArrow">
              <a:avLst>
                <a:gd name="adj1" fmla="val 5202"/>
                <a:gd name="adj2" fmla="val 336031"/>
                <a:gd name="adj3" fmla="val 7469152"/>
                <a:gd name="adj4" fmla="val 5710946"/>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07" name="Freeform 69">
              <a:extLst>
                <a:ext uri="{FF2B5EF4-FFF2-40B4-BE49-F238E27FC236}">
                  <a16:creationId xmlns:a16="http://schemas.microsoft.com/office/drawing/2014/main" id="{74102E8C-5EFE-D9AA-3CAD-D2EA3BD5BC58}"/>
                </a:ext>
              </a:extLst>
            </p:cNvPr>
            <p:cNvSpPr/>
            <p:nvPr/>
          </p:nvSpPr>
          <p:spPr>
            <a:xfrm>
              <a:off x="2928601" y="2738628"/>
              <a:ext cx="291352" cy="176603"/>
            </a:xfrm>
            <a:custGeom>
              <a:avLst/>
              <a:gdLst>
                <a:gd name="connsiteX0" fmla="*/ 0 w 291352"/>
                <a:gd name="connsiteY0" fmla="*/ 0 h 176603"/>
                <a:gd name="connsiteX1" fmla="*/ 291352 w 291352"/>
                <a:gd name="connsiteY1" fmla="*/ 0 h 176603"/>
                <a:gd name="connsiteX2" fmla="*/ 291352 w 291352"/>
                <a:gd name="connsiteY2" fmla="*/ 176603 h 176603"/>
                <a:gd name="connsiteX3" fmla="*/ 0 w 291352"/>
                <a:gd name="connsiteY3" fmla="*/ 176603 h 176603"/>
                <a:gd name="connsiteX4" fmla="*/ 0 w 29135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352" h="176603">
                  <a:moveTo>
                    <a:pt x="0" y="0"/>
                  </a:moveTo>
                  <a:lnTo>
                    <a:pt x="291352" y="0"/>
                  </a:lnTo>
                  <a:lnTo>
                    <a:pt x="29135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l" defTabSz="266700">
                <a:lnSpc>
                  <a:spcPct val="90000"/>
                </a:lnSpc>
                <a:spcBef>
                  <a:spcPct val="0"/>
                </a:spcBef>
                <a:spcAft>
                  <a:spcPct val="35000"/>
                </a:spcAft>
              </a:pPr>
              <a:r>
                <a:rPr lang="en-IN" sz="600" kern="1200"/>
                <a:t> Plan</a:t>
              </a:r>
            </a:p>
          </p:txBody>
        </p:sp>
        <p:sp>
          <p:nvSpPr>
            <p:cNvPr id="108" name="Circular Arrow 70">
              <a:extLst>
                <a:ext uri="{FF2B5EF4-FFF2-40B4-BE49-F238E27FC236}">
                  <a16:creationId xmlns:a16="http://schemas.microsoft.com/office/drawing/2014/main" id="{95EE8F87-5981-BA30-F053-3B1720A155FB}"/>
                </a:ext>
              </a:extLst>
            </p:cNvPr>
            <p:cNvSpPr/>
            <p:nvPr/>
          </p:nvSpPr>
          <p:spPr>
            <a:xfrm>
              <a:off x="3020044" y="2456110"/>
              <a:ext cx="662034" cy="662034"/>
            </a:xfrm>
            <a:prstGeom prst="circularArrow">
              <a:avLst>
                <a:gd name="adj1" fmla="val 5202"/>
                <a:gd name="adj2" fmla="val 336031"/>
                <a:gd name="adj3" fmla="val 13157356"/>
                <a:gd name="adj4" fmla="val 11370268"/>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09" name="Freeform 71">
              <a:extLst>
                <a:ext uri="{FF2B5EF4-FFF2-40B4-BE49-F238E27FC236}">
                  <a16:creationId xmlns:a16="http://schemas.microsoft.com/office/drawing/2014/main" id="{E9F82A59-A13E-12C0-EDA0-AC2838D07205}"/>
                </a:ext>
              </a:extLst>
            </p:cNvPr>
            <p:cNvSpPr/>
            <p:nvPr/>
          </p:nvSpPr>
          <p:spPr>
            <a:xfrm>
              <a:off x="2942922" y="2384046"/>
              <a:ext cx="351701" cy="176603"/>
            </a:xfrm>
            <a:custGeom>
              <a:avLst/>
              <a:gdLst>
                <a:gd name="connsiteX0" fmla="*/ 0 w 351701"/>
                <a:gd name="connsiteY0" fmla="*/ 0 h 176603"/>
                <a:gd name="connsiteX1" fmla="*/ 351701 w 351701"/>
                <a:gd name="connsiteY1" fmla="*/ 0 h 176603"/>
                <a:gd name="connsiteX2" fmla="*/ 351701 w 351701"/>
                <a:gd name="connsiteY2" fmla="*/ 176603 h 176603"/>
                <a:gd name="connsiteX3" fmla="*/ 0 w 351701"/>
                <a:gd name="connsiteY3" fmla="*/ 176603 h 176603"/>
                <a:gd name="connsiteX4" fmla="*/ 0 w 351701"/>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1701" h="176603">
                  <a:moveTo>
                    <a:pt x="0" y="0"/>
                  </a:moveTo>
                  <a:lnTo>
                    <a:pt x="351701" y="0"/>
                  </a:lnTo>
                  <a:lnTo>
                    <a:pt x="351701"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Design</a:t>
              </a:r>
            </a:p>
          </p:txBody>
        </p:sp>
        <p:sp>
          <p:nvSpPr>
            <p:cNvPr id="110" name="Circular Arrow 72">
              <a:extLst>
                <a:ext uri="{FF2B5EF4-FFF2-40B4-BE49-F238E27FC236}">
                  <a16:creationId xmlns:a16="http://schemas.microsoft.com/office/drawing/2014/main" id="{8D5E09D7-982F-4AF8-51B8-0BE841511FE4}"/>
                </a:ext>
              </a:extLst>
            </p:cNvPr>
            <p:cNvSpPr/>
            <p:nvPr/>
          </p:nvSpPr>
          <p:spPr>
            <a:xfrm>
              <a:off x="3067011" y="2399164"/>
              <a:ext cx="662034" cy="662034"/>
            </a:xfrm>
            <a:prstGeom prst="circularArrow">
              <a:avLst>
                <a:gd name="adj1" fmla="val 5202"/>
                <a:gd name="adj2" fmla="val 302749"/>
                <a:gd name="adj3" fmla="val 16234753"/>
                <a:gd name="adj4" fmla="val 16234851"/>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11" name="TextBox 110">
              <a:extLst>
                <a:ext uri="{FF2B5EF4-FFF2-40B4-BE49-F238E27FC236}">
                  <a16:creationId xmlns:a16="http://schemas.microsoft.com/office/drawing/2014/main" id="{F72B20F4-7AA7-9E59-F979-B53B98D63D6F}"/>
                </a:ext>
              </a:extLst>
            </p:cNvPr>
            <p:cNvSpPr txBox="1"/>
            <p:nvPr/>
          </p:nvSpPr>
          <p:spPr>
            <a:xfrm>
              <a:off x="3086425" y="2612676"/>
              <a:ext cx="641190" cy="246683"/>
            </a:xfrm>
            <a:prstGeom prst="rect">
              <a:avLst/>
            </a:prstGeom>
            <a:noFill/>
          </p:spPr>
          <p:txBody>
            <a:bodyPr wrap="square" rtlCol="0">
              <a:spAutoFit/>
            </a:bodyPr>
            <a:lstStyle/>
            <a:p>
              <a:r>
                <a:rPr lang="en-IN" sz="1000" b="1">
                  <a:solidFill>
                    <a:schemeClr val="bg1"/>
                  </a:solidFill>
                </a:rPr>
                <a:t>Sprint1</a:t>
              </a:r>
            </a:p>
          </p:txBody>
        </p:sp>
        <p:sp>
          <p:nvSpPr>
            <p:cNvPr id="112" name="Freeform 212">
              <a:extLst>
                <a:ext uri="{FF2B5EF4-FFF2-40B4-BE49-F238E27FC236}">
                  <a16:creationId xmlns:a16="http://schemas.microsoft.com/office/drawing/2014/main" id="{74B9575E-0DAE-6BF3-BEB7-7ACA2B26DA92}"/>
                </a:ext>
              </a:extLst>
            </p:cNvPr>
            <p:cNvSpPr/>
            <p:nvPr/>
          </p:nvSpPr>
          <p:spPr>
            <a:xfrm>
              <a:off x="4317847" y="2412394"/>
              <a:ext cx="287232" cy="176603"/>
            </a:xfrm>
            <a:custGeom>
              <a:avLst/>
              <a:gdLst>
                <a:gd name="connsiteX0" fmla="*/ 0 w 287232"/>
                <a:gd name="connsiteY0" fmla="*/ 0 h 176603"/>
                <a:gd name="connsiteX1" fmla="*/ 287232 w 287232"/>
                <a:gd name="connsiteY1" fmla="*/ 0 h 176603"/>
                <a:gd name="connsiteX2" fmla="*/ 287232 w 287232"/>
                <a:gd name="connsiteY2" fmla="*/ 176603 h 176603"/>
                <a:gd name="connsiteX3" fmla="*/ 0 w 287232"/>
                <a:gd name="connsiteY3" fmla="*/ 176603 h 176603"/>
                <a:gd name="connsiteX4" fmla="*/ 0 w 28723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232" h="176603">
                  <a:moveTo>
                    <a:pt x="0" y="0"/>
                  </a:moveTo>
                  <a:lnTo>
                    <a:pt x="287232" y="0"/>
                  </a:lnTo>
                  <a:lnTo>
                    <a:pt x="28723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r" defTabSz="266700">
                <a:lnSpc>
                  <a:spcPct val="90000"/>
                </a:lnSpc>
                <a:spcBef>
                  <a:spcPct val="0"/>
                </a:spcBef>
                <a:spcAft>
                  <a:spcPct val="35000"/>
                </a:spcAft>
              </a:pPr>
              <a:r>
                <a:rPr lang="en-IN" sz="600" kern="1200">
                  <a:solidFill>
                    <a:prstClr val="black">
                      <a:hueOff val="0"/>
                      <a:satOff val="0"/>
                      <a:lumOff val="0"/>
                      <a:alphaOff val="0"/>
                    </a:prstClr>
                  </a:solidFill>
                  <a:ea typeface="+mn-ea"/>
                  <a:cs typeface="+mn-cs"/>
                </a:rPr>
                <a:t> Build</a:t>
              </a:r>
            </a:p>
          </p:txBody>
        </p:sp>
        <p:sp>
          <p:nvSpPr>
            <p:cNvPr id="113" name="Circular Arrow 213">
              <a:extLst>
                <a:ext uri="{FF2B5EF4-FFF2-40B4-BE49-F238E27FC236}">
                  <a16:creationId xmlns:a16="http://schemas.microsoft.com/office/drawing/2014/main" id="{309EDE80-00F7-C472-5712-4734AE1C6EAD}"/>
                </a:ext>
              </a:extLst>
            </p:cNvPr>
            <p:cNvSpPr/>
            <p:nvPr/>
          </p:nvSpPr>
          <p:spPr>
            <a:xfrm>
              <a:off x="3880146" y="2403230"/>
              <a:ext cx="662034" cy="662034"/>
            </a:xfrm>
            <a:prstGeom prst="circularArrow">
              <a:avLst>
                <a:gd name="adj1" fmla="val 5202"/>
                <a:gd name="adj2" fmla="val 336031"/>
                <a:gd name="adj3" fmla="val 21292761"/>
                <a:gd name="adj4" fmla="val 19766660"/>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14" name="Freeform 214">
              <a:extLst>
                <a:ext uri="{FF2B5EF4-FFF2-40B4-BE49-F238E27FC236}">
                  <a16:creationId xmlns:a16="http://schemas.microsoft.com/office/drawing/2014/main" id="{CF3563C7-A0EE-23EF-2E86-0E9572DBA5C2}"/>
                </a:ext>
              </a:extLst>
            </p:cNvPr>
            <p:cNvSpPr/>
            <p:nvPr/>
          </p:nvSpPr>
          <p:spPr>
            <a:xfrm>
              <a:off x="4335850" y="2779309"/>
              <a:ext cx="260922" cy="176603"/>
            </a:xfrm>
            <a:custGeom>
              <a:avLst/>
              <a:gdLst>
                <a:gd name="connsiteX0" fmla="*/ 0 w 260922"/>
                <a:gd name="connsiteY0" fmla="*/ 0 h 176603"/>
                <a:gd name="connsiteX1" fmla="*/ 260922 w 260922"/>
                <a:gd name="connsiteY1" fmla="*/ 0 h 176603"/>
                <a:gd name="connsiteX2" fmla="*/ 260922 w 260922"/>
                <a:gd name="connsiteY2" fmla="*/ 176603 h 176603"/>
                <a:gd name="connsiteX3" fmla="*/ 0 w 260922"/>
                <a:gd name="connsiteY3" fmla="*/ 176603 h 176603"/>
                <a:gd name="connsiteX4" fmla="*/ 0 w 26092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922" h="176603">
                  <a:moveTo>
                    <a:pt x="0" y="0"/>
                  </a:moveTo>
                  <a:lnTo>
                    <a:pt x="260922" y="0"/>
                  </a:lnTo>
                  <a:lnTo>
                    <a:pt x="26092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r" defTabSz="266700">
                <a:lnSpc>
                  <a:spcPct val="90000"/>
                </a:lnSpc>
                <a:spcBef>
                  <a:spcPct val="0"/>
                </a:spcBef>
                <a:spcAft>
                  <a:spcPct val="35000"/>
                </a:spcAft>
              </a:pPr>
              <a:r>
                <a:rPr lang="en-IN" sz="600" kern="1200"/>
                <a:t>QA</a:t>
              </a:r>
            </a:p>
          </p:txBody>
        </p:sp>
        <p:sp>
          <p:nvSpPr>
            <p:cNvPr id="115" name="Circular Arrow 215">
              <a:extLst>
                <a:ext uri="{FF2B5EF4-FFF2-40B4-BE49-F238E27FC236}">
                  <a16:creationId xmlns:a16="http://schemas.microsoft.com/office/drawing/2014/main" id="{FEEED4BB-0C4A-8705-C5E0-E7C79C30ED1C}"/>
                </a:ext>
              </a:extLst>
            </p:cNvPr>
            <p:cNvSpPr/>
            <p:nvPr/>
          </p:nvSpPr>
          <p:spPr>
            <a:xfrm>
              <a:off x="3898159" y="2381978"/>
              <a:ext cx="662034" cy="662034"/>
            </a:xfrm>
            <a:prstGeom prst="circularArrow">
              <a:avLst>
                <a:gd name="adj1" fmla="val 5202"/>
                <a:gd name="adj2" fmla="val 336031"/>
                <a:gd name="adj3" fmla="val 3975568"/>
                <a:gd name="adj4" fmla="val 2580098"/>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16" name="Freeform 216">
              <a:extLst>
                <a:ext uri="{FF2B5EF4-FFF2-40B4-BE49-F238E27FC236}">
                  <a16:creationId xmlns:a16="http://schemas.microsoft.com/office/drawing/2014/main" id="{3B8A79CD-06E0-3563-7C43-8D35E5A6BABD}"/>
                </a:ext>
              </a:extLst>
            </p:cNvPr>
            <p:cNvSpPr/>
            <p:nvPr/>
          </p:nvSpPr>
          <p:spPr>
            <a:xfrm>
              <a:off x="4095234" y="2946566"/>
              <a:ext cx="225386" cy="176603"/>
            </a:xfrm>
            <a:custGeom>
              <a:avLst/>
              <a:gdLst>
                <a:gd name="connsiteX0" fmla="*/ 0 w 225386"/>
                <a:gd name="connsiteY0" fmla="*/ 0 h 176603"/>
                <a:gd name="connsiteX1" fmla="*/ 225386 w 225386"/>
                <a:gd name="connsiteY1" fmla="*/ 0 h 176603"/>
                <a:gd name="connsiteX2" fmla="*/ 225386 w 225386"/>
                <a:gd name="connsiteY2" fmla="*/ 176603 h 176603"/>
                <a:gd name="connsiteX3" fmla="*/ 0 w 225386"/>
                <a:gd name="connsiteY3" fmla="*/ 176603 h 176603"/>
                <a:gd name="connsiteX4" fmla="*/ 0 w 225386"/>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386" h="176603">
                  <a:moveTo>
                    <a:pt x="0" y="0"/>
                  </a:moveTo>
                  <a:lnTo>
                    <a:pt x="225386" y="0"/>
                  </a:lnTo>
                  <a:lnTo>
                    <a:pt x="225386"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080" tIns="5080" rIns="5080" bIns="5080" numCol="1" spcCol="1270" anchor="ctr" anchorCtr="0">
              <a:noAutofit/>
            </a:bodyPr>
            <a:lstStyle/>
            <a:p>
              <a:pPr lvl="0" algn="ctr" defTabSz="177800">
                <a:lnSpc>
                  <a:spcPct val="90000"/>
                </a:lnSpc>
                <a:spcBef>
                  <a:spcPct val="0"/>
                </a:spcBef>
                <a:spcAft>
                  <a:spcPct val="35000"/>
                </a:spcAft>
              </a:pPr>
              <a:r>
                <a:rPr lang="en-IN" sz="400" kern="1200"/>
                <a:t>Evaluate</a:t>
              </a:r>
            </a:p>
          </p:txBody>
        </p:sp>
        <p:sp>
          <p:nvSpPr>
            <p:cNvPr id="117" name="Circular Arrow 217">
              <a:extLst>
                <a:ext uri="{FF2B5EF4-FFF2-40B4-BE49-F238E27FC236}">
                  <a16:creationId xmlns:a16="http://schemas.microsoft.com/office/drawing/2014/main" id="{8704D43C-3DC8-03C5-1699-F7068E30FB42}"/>
                </a:ext>
              </a:extLst>
            </p:cNvPr>
            <p:cNvSpPr/>
            <p:nvPr/>
          </p:nvSpPr>
          <p:spPr>
            <a:xfrm>
              <a:off x="3861239" y="2381023"/>
              <a:ext cx="662034" cy="662034"/>
            </a:xfrm>
            <a:prstGeom prst="circularArrow">
              <a:avLst>
                <a:gd name="adj1" fmla="val 5202"/>
                <a:gd name="adj2" fmla="val 336031"/>
                <a:gd name="adj3" fmla="val 7868559"/>
                <a:gd name="adj4" fmla="val 6557335"/>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18" name="Freeform 218">
              <a:extLst>
                <a:ext uri="{FF2B5EF4-FFF2-40B4-BE49-F238E27FC236}">
                  <a16:creationId xmlns:a16="http://schemas.microsoft.com/office/drawing/2014/main" id="{5D56BAA6-1116-0482-34AE-E7E0B17815F6}"/>
                </a:ext>
              </a:extLst>
            </p:cNvPr>
            <p:cNvSpPr/>
            <p:nvPr/>
          </p:nvSpPr>
          <p:spPr>
            <a:xfrm>
              <a:off x="3795320" y="2788433"/>
              <a:ext cx="291352" cy="176603"/>
            </a:xfrm>
            <a:custGeom>
              <a:avLst/>
              <a:gdLst>
                <a:gd name="connsiteX0" fmla="*/ 0 w 291352"/>
                <a:gd name="connsiteY0" fmla="*/ 0 h 176603"/>
                <a:gd name="connsiteX1" fmla="*/ 291352 w 291352"/>
                <a:gd name="connsiteY1" fmla="*/ 0 h 176603"/>
                <a:gd name="connsiteX2" fmla="*/ 291352 w 291352"/>
                <a:gd name="connsiteY2" fmla="*/ 176603 h 176603"/>
                <a:gd name="connsiteX3" fmla="*/ 0 w 291352"/>
                <a:gd name="connsiteY3" fmla="*/ 176603 h 176603"/>
                <a:gd name="connsiteX4" fmla="*/ 0 w 29135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352" h="176603">
                  <a:moveTo>
                    <a:pt x="0" y="0"/>
                  </a:moveTo>
                  <a:lnTo>
                    <a:pt x="291352" y="0"/>
                  </a:lnTo>
                  <a:lnTo>
                    <a:pt x="29135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l" defTabSz="266700">
                <a:lnSpc>
                  <a:spcPct val="90000"/>
                </a:lnSpc>
                <a:spcBef>
                  <a:spcPct val="0"/>
                </a:spcBef>
                <a:spcAft>
                  <a:spcPct val="35000"/>
                </a:spcAft>
              </a:pPr>
              <a:r>
                <a:rPr lang="en-IN" sz="600" kern="1200"/>
                <a:t>Plan</a:t>
              </a:r>
            </a:p>
          </p:txBody>
        </p:sp>
        <p:sp>
          <p:nvSpPr>
            <p:cNvPr id="119" name="Circular Arrow 219">
              <a:extLst>
                <a:ext uri="{FF2B5EF4-FFF2-40B4-BE49-F238E27FC236}">
                  <a16:creationId xmlns:a16="http://schemas.microsoft.com/office/drawing/2014/main" id="{ED84E845-5909-9265-C7AF-4AD4FDAAAA65}"/>
                </a:ext>
              </a:extLst>
            </p:cNvPr>
            <p:cNvSpPr/>
            <p:nvPr/>
          </p:nvSpPr>
          <p:spPr>
            <a:xfrm>
              <a:off x="3880146" y="2403230"/>
              <a:ext cx="662034" cy="662034"/>
            </a:xfrm>
            <a:prstGeom prst="circularArrow">
              <a:avLst>
                <a:gd name="adj1" fmla="val 5202"/>
                <a:gd name="adj2" fmla="val 336031"/>
                <a:gd name="adj3" fmla="val 12297308"/>
                <a:gd name="adj4" fmla="val 10771208"/>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20" name="Freeform 220">
              <a:extLst>
                <a:ext uri="{FF2B5EF4-FFF2-40B4-BE49-F238E27FC236}">
                  <a16:creationId xmlns:a16="http://schemas.microsoft.com/office/drawing/2014/main" id="{4CB966EA-8079-BB4A-9A46-5D9C3F18A6A3}"/>
                </a:ext>
              </a:extLst>
            </p:cNvPr>
            <p:cNvSpPr/>
            <p:nvPr/>
          </p:nvSpPr>
          <p:spPr>
            <a:xfrm>
              <a:off x="3797109" y="2384046"/>
              <a:ext cx="358062" cy="176603"/>
            </a:xfrm>
            <a:custGeom>
              <a:avLst/>
              <a:gdLst>
                <a:gd name="connsiteX0" fmla="*/ 0 w 358062"/>
                <a:gd name="connsiteY0" fmla="*/ 0 h 176603"/>
                <a:gd name="connsiteX1" fmla="*/ 358062 w 358062"/>
                <a:gd name="connsiteY1" fmla="*/ 0 h 176603"/>
                <a:gd name="connsiteX2" fmla="*/ 358062 w 358062"/>
                <a:gd name="connsiteY2" fmla="*/ 176603 h 176603"/>
                <a:gd name="connsiteX3" fmla="*/ 0 w 358062"/>
                <a:gd name="connsiteY3" fmla="*/ 176603 h 176603"/>
                <a:gd name="connsiteX4" fmla="*/ 0 w 35806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62" h="176603">
                  <a:moveTo>
                    <a:pt x="0" y="0"/>
                  </a:moveTo>
                  <a:lnTo>
                    <a:pt x="358062" y="0"/>
                  </a:lnTo>
                  <a:lnTo>
                    <a:pt x="35806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l" defTabSz="266700">
                <a:lnSpc>
                  <a:spcPct val="90000"/>
                </a:lnSpc>
                <a:spcBef>
                  <a:spcPct val="0"/>
                </a:spcBef>
                <a:spcAft>
                  <a:spcPct val="35000"/>
                </a:spcAft>
              </a:pPr>
              <a:r>
                <a:rPr lang="en-IN" sz="600" kern="1200"/>
                <a:t>Design</a:t>
              </a:r>
            </a:p>
          </p:txBody>
        </p:sp>
        <p:sp>
          <p:nvSpPr>
            <p:cNvPr id="121" name="Circular Arrow 221">
              <a:extLst>
                <a:ext uri="{FF2B5EF4-FFF2-40B4-BE49-F238E27FC236}">
                  <a16:creationId xmlns:a16="http://schemas.microsoft.com/office/drawing/2014/main" id="{7C0F49FB-1DBB-59BE-E492-FE5DFDEC6765}"/>
                </a:ext>
              </a:extLst>
            </p:cNvPr>
            <p:cNvSpPr/>
            <p:nvPr/>
          </p:nvSpPr>
          <p:spPr>
            <a:xfrm>
              <a:off x="3880146" y="2403230"/>
              <a:ext cx="662034" cy="662034"/>
            </a:xfrm>
            <a:prstGeom prst="circularArrow">
              <a:avLst>
                <a:gd name="adj1" fmla="val 5202"/>
                <a:gd name="adj2" fmla="val 265481"/>
                <a:gd name="adj3" fmla="val 16274766"/>
                <a:gd name="adj4" fmla="val 16274832"/>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22" name="TextBox 121">
              <a:extLst>
                <a:ext uri="{FF2B5EF4-FFF2-40B4-BE49-F238E27FC236}">
                  <a16:creationId xmlns:a16="http://schemas.microsoft.com/office/drawing/2014/main" id="{516E8066-74C1-3126-A95C-D2A8069B9677}"/>
                </a:ext>
              </a:extLst>
            </p:cNvPr>
            <p:cNvSpPr txBox="1"/>
            <p:nvPr/>
          </p:nvSpPr>
          <p:spPr>
            <a:xfrm>
              <a:off x="3898740" y="2606387"/>
              <a:ext cx="633507" cy="246221"/>
            </a:xfrm>
            <a:prstGeom prst="rect">
              <a:avLst/>
            </a:prstGeom>
            <a:noFill/>
          </p:spPr>
          <p:txBody>
            <a:bodyPr wrap="none" rtlCol="0">
              <a:spAutoFit/>
            </a:bodyPr>
            <a:lstStyle/>
            <a:p>
              <a:r>
                <a:rPr lang="en-IN" sz="1000" b="1">
                  <a:solidFill>
                    <a:schemeClr val="bg1"/>
                  </a:solidFill>
                </a:rPr>
                <a:t>Sprint2</a:t>
              </a:r>
            </a:p>
          </p:txBody>
        </p:sp>
        <p:sp>
          <p:nvSpPr>
            <p:cNvPr id="123" name="Arrow: Right 291">
              <a:extLst>
                <a:ext uri="{FF2B5EF4-FFF2-40B4-BE49-F238E27FC236}">
                  <a16:creationId xmlns:a16="http://schemas.microsoft.com/office/drawing/2014/main" id="{57E826DA-B32A-3A55-BCDB-490C53AC1FE9}"/>
                </a:ext>
              </a:extLst>
            </p:cNvPr>
            <p:cNvSpPr/>
            <p:nvPr/>
          </p:nvSpPr>
          <p:spPr>
            <a:xfrm>
              <a:off x="3542877" y="2996386"/>
              <a:ext cx="345344" cy="41650"/>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124" name="Arrow: Right 292">
              <a:extLst>
                <a:ext uri="{FF2B5EF4-FFF2-40B4-BE49-F238E27FC236}">
                  <a16:creationId xmlns:a16="http://schemas.microsoft.com/office/drawing/2014/main" id="{027C7B0A-6C45-7AC9-21CC-356AA9BDF6E4}"/>
                </a:ext>
              </a:extLst>
            </p:cNvPr>
            <p:cNvSpPr/>
            <p:nvPr/>
          </p:nvSpPr>
          <p:spPr>
            <a:xfrm>
              <a:off x="4360448" y="2996386"/>
              <a:ext cx="345344" cy="41650"/>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125" name="Rectangle 124">
              <a:extLst>
                <a:ext uri="{FF2B5EF4-FFF2-40B4-BE49-F238E27FC236}">
                  <a16:creationId xmlns:a16="http://schemas.microsoft.com/office/drawing/2014/main" id="{BF76A6B1-4DA1-3F0A-3A59-456CC8F6B06B}"/>
                </a:ext>
              </a:extLst>
            </p:cNvPr>
            <p:cNvSpPr/>
            <p:nvPr/>
          </p:nvSpPr>
          <p:spPr>
            <a:xfrm>
              <a:off x="4745047" y="2394262"/>
              <a:ext cx="1746285" cy="689184"/>
            </a:xfrm>
            <a:prstGeom prst="rect">
              <a:avLst/>
            </a:prstGeom>
            <a:solidFill>
              <a:schemeClr val="bg1"/>
            </a:solidFill>
            <a:ln w="95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126" name="Freeform 168">
              <a:extLst>
                <a:ext uri="{FF2B5EF4-FFF2-40B4-BE49-F238E27FC236}">
                  <a16:creationId xmlns:a16="http://schemas.microsoft.com/office/drawing/2014/main" id="{816D5719-5553-9A26-67E2-F8E3908216E5}"/>
                </a:ext>
              </a:extLst>
            </p:cNvPr>
            <p:cNvSpPr/>
            <p:nvPr/>
          </p:nvSpPr>
          <p:spPr>
            <a:xfrm>
              <a:off x="5307374" y="2395736"/>
              <a:ext cx="287232" cy="176603"/>
            </a:xfrm>
            <a:custGeom>
              <a:avLst/>
              <a:gdLst>
                <a:gd name="connsiteX0" fmla="*/ 0 w 287232"/>
                <a:gd name="connsiteY0" fmla="*/ 0 h 176603"/>
                <a:gd name="connsiteX1" fmla="*/ 287232 w 287232"/>
                <a:gd name="connsiteY1" fmla="*/ 0 h 176603"/>
                <a:gd name="connsiteX2" fmla="*/ 287232 w 287232"/>
                <a:gd name="connsiteY2" fmla="*/ 176603 h 176603"/>
                <a:gd name="connsiteX3" fmla="*/ 0 w 287232"/>
                <a:gd name="connsiteY3" fmla="*/ 176603 h 176603"/>
                <a:gd name="connsiteX4" fmla="*/ 0 w 28723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232" h="176603">
                  <a:moveTo>
                    <a:pt x="0" y="0"/>
                  </a:moveTo>
                  <a:lnTo>
                    <a:pt x="287232" y="0"/>
                  </a:lnTo>
                  <a:lnTo>
                    <a:pt x="28723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solidFill>
                    <a:prstClr val="black">
                      <a:hueOff val="0"/>
                      <a:satOff val="0"/>
                      <a:lumOff val="0"/>
                      <a:alphaOff val="0"/>
                    </a:prstClr>
                  </a:solidFill>
                  <a:ea typeface="+mn-ea"/>
                  <a:cs typeface="+mn-cs"/>
                </a:rPr>
                <a:t>Build</a:t>
              </a:r>
            </a:p>
          </p:txBody>
        </p:sp>
        <p:sp>
          <p:nvSpPr>
            <p:cNvPr id="127" name="Circular Arrow 169">
              <a:extLst>
                <a:ext uri="{FF2B5EF4-FFF2-40B4-BE49-F238E27FC236}">
                  <a16:creationId xmlns:a16="http://schemas.microsoft.com/office/drawing/2014/main" id="{63465F9F-1BE6-5A14-A12B-8B4A0C4E7595}"/>
                </a:ext>
              </a:extLst>
            </p:cNvPr>
            <p:cNvSpPr/>
            <p:nvPr/>
          </p:nvSpPr>
          <p:spPr>
            <a:xfrm>
              <a:off x="4861653" y="2403580"/>
              <a:ext cx="662034" cy="662034"/>
            </a:xfrm>
            <a:prstGeom prst="circularArrow">
              <a:avLst>
                <a:gd name="adj1" fmla="val 5202"/>
                <a:gd name="adj2" fmla="val 336032"/>
                <a:gd name="adj3" fmla="val 21292759"/>
                <a:gd name="adj4" fmla="val 19766662"/>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28" name="Freeform 203">
              <a:extLst>
                <a:ext uri="{FF2B5EF4-FFF2-40B4-BE49-F238E27FC236}">
                  <a16:creationId xmlns:a16="http://schemas.microsoft.com/office/drawing/2014/main" id="{CD50753D-7715-5E28-F7BC-2F71E24D9A7D}"/>
                </a:ext>
              </a:extLst>
            </p:cNvPr>
            <p:cNvSpPr/>
            <p:nvPr/>
          </p:nvSpPr>
          <p:spPr>
            <a:xfrm>
              <a:off x="5436194" y="2737057"/>
              <a:ext cx="176603" cy="176603"/>
            </a:xfrm>
            <a:custGeom>
              <a:avLst/>
              <a:gdLst>
                <a:gd name="connsiteX0" fmla="*/ 0 w 176603"/>
                <a:gd name="connsiteY0" fmla="*/ 0 h 176603"/>
                <a:gd name="connsiteX1" fmla="*/ 176603 w 176603"/>
                <a:gd name="connsiteY1" fmla="*/ 0 h 176603"/>
                <a:gd name="connsiteX2" fmla="*/ 176603 w 176603"/>
                <a:gd name="connsiteY2" fmla="*/ 176603 h 176603"/>
                <a:gd name="connsiteX3" fmla="*/ 0 w 176603"/>
                <a:gd name="connsiteY3" fmla="*/ 176603 h 176603"/>
                <a:gd name="connsiteX4" fmla="*/ 0 w 176603"/>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03" h="176603">
                  <a:moveTo>
                    <a:pt x="0" y="0"/>
                  </a:moveTo>
                  <a:lnTo>
                    <a:pt x="176603" y="0"/>
                  </a:lnTo>
                  <a:lnTo>
                    <a:pt x="176603"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QA</a:t>
              </a:r>
            </a:p>
          </p:txBody>
        </p:sp>
        <p:sp>
          <p:nvSpPr>
            <p:cNvPr id="129" name="Circular Arrow 204">
              <a:extLst>
                <a:ext uri="{FF2B5EF4-FFF2-40B4-BE49-F238E27FC236}">
                  <a16:creationId xmlns:a16="http://schemas.microsoft.com/office/drawing/2014/main" id="{3D31BBD1-0821-AE8D-D6AC-B26A18C4EB72}"/>
                </a:ext>
              </a:extLst>
            </p:cNvPr>
            <p:cNvSpPr/>
            <p:nvPr/>
          </p:nvSpPr>
          <p:spPr>
            <a:xfrm>
              <a:off x="4860996" y="2404438"/>
              <a:ext cx="662034" cy="662034"/>
            </a:xfrm>
            <a:prstGeom prst="circularArrow">
              <a:avLst>
                <a:gd name="adj1" fmla="val 5202"/>
                <a:gd name="adj2" fmla="val 336032"/>
                <a:gd name="adj3" fmla="val 3848487"/>
                <a:gd name="adj4" fmla="val 2241234"/>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30" name="Freeform 205">
              <a:extLst>
                <a:ext uri="{FF2B5EF4-FFF2-40B4-BE49-F238E27FC236}">
                  <a16:creationId xmlns:a16="http://schemas.microsoft.com/office/drawing/2014/main" id="{27E23FCF-74C3-D664-FCD2-B1C2E1A8B344}"/>
                </a:ext>
              </a:extLst>
            </p:cNvPr>
            <p:cNvSpPr/>
            <p:nvPr/>
          </p:nvSpPr>
          <p:spPr>
            <a:xfrm>
              <a:off x="5049098" y="2945337"/>
              <a:ext cx="280673" cy="176603"/>
            </a:xfrm>
            <a:custGeom>
              <a:avLst/>
              <a:gdLst>
                <a:gd name="connsiteX0" fmla="*/ 0 w 208548"/>
                <a:gd name="connsiteY0" fmla="*/ 0 h 176603"/>
                <a:gd name="connsiteX1" fmla="*/ 208548 w 208548"/>
                <a:gd name="connsiteY1" fmla="*/ 0 h 176603"/>
                <a:gd name="connsiteX2" fmla="*/ 208548 w 208548"/>
                <a:gd name="connsiteY2" fmla="*/ 176603 h 176603"/>
                <a:gd name="connsiteX3" fmla="*/ 0 w 208548"/>
                <a:gd name="connsiteY3" fmla="*/ 176603 h 176603"/>
                <a:gd name="connsiteX4" fmla="*/ 0 w 208548"/>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548" h="176603">
                  <a:moveTo>
                    <a:pt x="0" y="0"/>
                  </a:moveTo>
                  <a:lnTo>
                    <a:pt x="208548" y="0"/>
                  </a:lnTo>
                  <a:lnTo>
                    <a:pt x="208548"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080" tIns="5080" rIns="5080" bIns="5080" numCol="1" spcCol="1270" anchor="ctr" anchorCtr="0">
              <a:noAutofit/>
            </a:bodyPr>
            <a:lstStyle/>
            <a:p>
              <a:pPr lvl="0" algn="ctr" defTabSz="177800">
                <a:lnSpc>
                  <a:spcPct val="90000"/>
                </a:lnSpc>
                <a:spcBef>
                  <a:spcPct val="0"/>
                </a:spcBef>
                <a:spcAft>
                  <a:spcPct val="35000"/>
                </a:spcAft>
              </a:pPr>
              <a:r>
                <a:rPr lang="en-IN" sz="400" kern="1200"/>
                <a:t>Evaluate</a:t>
              </a:r>
            </a:p>
          </p:txBody>
        </p:sp>
        <p:sp>
          <p:nvSpPr>
            <p:cNvPr id="131" name="Circular Arrow 206">
              <a:extLst>
                <a:ext uri="{FF2B5EF4-FFF2-40B4-BE49-F238E27FC236}">
                  <a16:creationId xmlns:a16="http://schemas.microsoft.com/office/drawing/2014/main" id="{735EC837-7CA4-3D55-BE6D-F651D585BBDC}"/>
                </a:ext>
              </a:extLst>
            </p:cNvPr>
            <p:cNvSpPr/>
            <p:nvPr/>
          </p:nvSpPr>
          <p:spPr>
            <a:xfrm>
              <a:off x="4862337" y="2404472"/>
              <a:ext cx="662034" cy="662034"/>
            </a:xfrm>
            <a:prstGeom prst="circularArrow">
              <a:avLst>
                <a:gd name="adj1" fmla="val 5202"/>
                <a:gd name="adj2" fmla="val 336032"/>
                <a:gd name="adj3" fmla="val 8223226"/>
                <a:gd name="adj4" fmla="val 6696900"/>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32" name="Freeform 207">
              <a:extLst>
                <a:ext uri="{FF2B5EF4-FFF2-40B4-BE49-F238E27FC236}">
                  <a16:creationId xmlns:a16="http://schemas.microsoft.com/office/drawing/2014/main" id="{FCFB154A-F9DE-CC2D-96EB-0EF5105CBD1A}"/>
                </a:ext>
              </a:extLst>
            </p:cNvPr>
            <p:cNvSpPr/>
            <p:nvPr/>
          </p:nvSpPr>
          <p:spPr>
            <a:xfrm>
              <a:off x="4701451" y="2742380"/>
              <a:ext cx="291352" cy="176603"/>
            </a:xfrm>
            <a:custGeom>
              <a:avLst/>
              <a:gdLst>
                <a:gd name="connsiteX0" fmla="*/ 0 w 291352"/>
                <a:gd name="connsiteY0" fmla="*/ 0 h 176603"/>
                <a:gd name="connsiteX1" fmla="*/ 291352 w 291352"/>
                <a:gd name="connsiteY1" fmla="*/ 0 h 176603"/>
                <a:gd name="connsiteX2" fmla="*/ 291352 w 291352"/>
                <a:gd name="connsiteY2" fmla="*/ 176603 h 176603"/>
                <a:gd name="connsiteX3" fmla="*/ 0 w 291352"/>
                <a:gd name="connsiteY3" fmla="*/ 176603 h 176603"/>
                <a:gd name="connsiteX4" fmla="*/ 0 w 29135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352" h="176603">
                  <a:moveTo>
                    <a:pt x="0" y="0"/>
                  </a:moveTo>
                  <a:lnTo>
                    <a:pt x="291352" y="0"/>
                  </a:lnTo>
                  <a:lnTo>
                    <a:pt x="29135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Plan</a:t>
              </a:r>
            </a:p>
          </p:txBody>
        </p:sp>
        <p:sp>
          <p:nvSpPr>
            <p:cNvPr id="133" name="Circular Arrow 208">
              <a:extLst>
                <a:ext uri="{FF2B5EF4-FFF2-40B4-BE49-F238E27FC236}">
                  <a16:creationId xmlns:a16="http://schemas.microsoft.com/office/drawing/2014/main" id="{FF96FE09-6650-361E-31C0-DF44679EBBF8}"/>
                </a:ext>
              </a:extLst>
            </p:cNvPr>
            <p:cNvSpPr/>
            <p:nvPr/>
          </p:nvSpPr>
          <p:spPr>
            <a:xfrm>
              <a:off x="4861653" y="2403580"/>
              <a:ext cx="662034" cy="662034"/>
            </a:xfrm>
            <a:prstGeom prst="circularArrow">
              <a:avLst>
                <a:gd name="adj1" fmla="val 5202"/>
                <a:gd name="adj2" fmla="val 336032"/>
                <a:gd name="adj3" fmla="val 12297306"/>
                <a:gd name="adj4" fmla="val 10771210"/>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34" name="Freeform 209">
              <a:extLst>
                <a:ext uri="{FF2B5EF4-FFF2-40B4-BE49-F238E27FC236}">
                  <a16:creationId xmlns:a16="http://schemas.microsoft.com/office/drawing/2014/main" id="{0D4E2D71-8751-625C-7205-CA7CA3E1DC72}"/>
                </a:ext>
              </a:extLst>
            </p:cNvPr>
            <p:cNvSpPr/>
            <p:nvPr/>
          </p:nvSpPr>
          <p:spPr>
            <a:xfrm>
              <a:off x="4723321" y="2401764"/>
              <a:ext cx="353022" cy="176603"/>
            </a:xfrm>
            <a:custGeom>
              <a:avLst/>
              <a:gdLst>
                <a:gd name="connsiteX0" fmla="*/ 0 w 353022"/>
                <a:gd name="connsiteY0" fmla="*/ 0 h 176603"/>
                <a:gd name="connsiteX1" fmla="*/ 353022 w 353022"/>
                <a:gd name="connsiteY1" fmla="*/ 0 h 176603"/>
                <a:gd name="connsiteX2" fmla="*/ 353022 w 353022"/>
                <a:gd name="connsiteY2" fmla="*/ 176603 h 176603"/>
                <a:gd name="connsiteX3" fmla="*/ 0 w 353022"/>
                <a:gd name="connsiteY3" fmla="*/ 176603 h 176603"/>
                <a:gd name="connsiteX4" fmla="*/ 0 w 35302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022" h="176603">
                  <a:moveTo>
                    <a:pt x="0" y="0"/>
                  </a:moveTo>
                  <a:lnTo>
                    <a:pt x="353022" y="0"/>
                  </a:lnTo>
                  <a:lnTo>
                    <a:pt x="35302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Design</a:t>
              </a:r>
            </a:p>
          </p:txBody>
        </p:sp>
        <p:sp>
          <p:nvSpPr>
            <p:cNvPr id="135" name="Circular Arrow 210">
              <a:extLst>
                <a:ext uri="{FF2B5EF4-FFF2-40B4-BE49-F238E27FC236}">
                  <a16:creationId xmlns:a16="http://schemas.microsoft.com/office/drawing/2014/main" id="{6CB5C35B-1CC2-73DB-AC5A-D722FE771ED6}"/>
                </a:ext>
              </a:extLst>
            </p:cNvPr>
            <p:cNvSpPr/>
            <p:nvPr/>
          </p:nvSpPr>
          <p:spPr>
            <a:xfrm>
              <a:off x="4861653" y="2403580"/>
              <a:ext cx="662034" cy="662034"/>
            </a:xfrm>
            <a:prstGeom prst="circularArrow">
              <a:avLst>
                <a:gd name="adj1" fmla="val 5202"/>
                <a:gd name="adj2" fmla="val 295001"/>
                <a:gd name="adj3" fmla="val 16245243"/>
                <a:gd name="adj4" fmla="val 16245334"/>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36" name="TextBox 135">
              <a:extLst>
                <a:ext uri="{FF2B5EF4-FFF2-40B4-BE49-F238E27FC236}">
                  <a16:creationId xmlns:a16="http://schemas.microsoft.com/office/drawing/2014/main" id="{890BA21F-7F84-59C5-A125-2E06AF0C5498}"/>
                </a:ext>
              </a:extLst>
            </p:cNvPr>
            <p:cNvSpPr txBox="1"/>
            <p:nvPr/>
          </p:nvSpPr>
          <p:spPr>
            <a:xfrm>
              <a:off x="4878804" y="2604014"/>
              <a:ext cx="633507" cy="246221"/>
            </a:xfrm>
            <a:prstGeom prst="rect">
              <a:avLst/>
            </a:prstGeom>
            <a:noFill/>
          </p:spPr>
          <p:txBody>
            <a:bodyPr wrap="none" rtlCol="0">
              <a:spAutoFit/>
            </a:bodyPr>
            <a:lstStyle/>
            <a:p>
              <a:r>
                <a:rPr lang="en-IN" sz="1000" b="1">
                  <a:solidFill>
                    <a:schemeClr val="bg1"/>
                  </a:solidFill>
                </a:rPr>
                <a:t>Sprint3</a:t>
              </a:r>
            </a:p>
          </p:txBody>
        </p:sp>
        <p:sp>
          <p:nvSpPr>
            <p:cNvPr id="137" name="Freeform 78">
              <a:extLst>
                <a:ext uri="{FF2B5EF4-FFF2-40B4-BE49-F238E27FC236}">
                  <a16:creationId xmlns:a16="http://schemas.microsoft.com/office/drawing/2014/main" id="{578EA768-25AA-E67A-22CE-3A660C6D2220}"/>
                </a:ext>
              </a:extLst>
            </p:cNvPr>
            <p:cNvSpPr/>
            <p:nvPr/>
          </p:nvSpPr>
          <p:spPr>
            <a:xfrm>
              <a:off x="6041167" y="2412193"/>
              <a:ext cx="287232" cy="176603"/>
            </a:xfrm>
            <a:custGeom>
              <a:avLst/>
              <a:gdLst>
                <a:gd name="connsiteX0" fmla="*/ 0 w 287232"/>
                <a:gd name="connsiteY0" fmla="*/ 0 h 176603"/>
                <a:gd name="connsiteX1" fmla="*/ 287232 w 287232"/>
                <a:gd name="connsiteY1" fmla="*/ 0 h 176603"/>
                <a:gd name="connsiteX2" fmla="*/ 287232 w 287232"/>
                <a:gd name="connsiteY2" fmla="*/ 176603 h 176603"/>
                <a:gd name="connsiteX3" fmla="*/ 0 w 287232"/>
                <a:gd name="connsiteY3" fmla="*/ 176603 h 176603"/>
                <a:gd name="connsiteX4" fmla="*/ 0 w 28723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232" h="176603">
                  <a:moveTo>
                    <a:pt x="0" y="0"/>
                  </a:moveTo>
                  <a:lnTo>
                    <a:pt x="287232" y="0"/>
                  </a:lnTo>
                  <a:lnTo>
                    <a:pt x="28723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solidFill>
                    <a:prstClr val="black">
                      <a:hueOff val="0"/>
                      <a:satOff val="0"/>
                      <a:lumOff val="0"/>
                      <a:alphaOff val="0"/>
                    </a:prstClr>
                  </a:solidFill>
                  <a:ea typeface="+mn-ea"/>
                  <a:cs typeface="+mn-cs"/>
                </a:rPr>
                <a:t>Build</a:t>
              </a:r>
            </a:p>
          </p:txBody>
        </p:sp>
        <p:sp>
          <p:nvSpPr>
            <p:cNvPr id="138" name="Circular Arrow 93">
              <a:extLst>
                <a:ext uri="{FF2B5EF4-FFF2-40B4-BE49-F238E27FC236}">
                  <a16:creationId xmlns:a16="http://schemas.microsoft.com/office/drawing/2014/main" id="{8049F257-A2FC-0B03-F53C-A02415E67DAA}"/>
                </a:ext>
              </a:extLst>
            </p:cNvPr>
            <p:cNvSpPr/>
            <p:nvPr/>
          </p:nvSpPr>
          <p:spPr>
            <a:xfrm>
              <a:off x="5681128" y="2407094"/>
              <a:ext cx="662034" cy="662034"/>
            </a:xfrm>
            <a:prstGeom prst="circularArrow">
              <a:avLst>
                <a:gd name="adj1" fmla="val 5202"/>
                <a:gd name="adj2" fmla="val 336032"/>
                <a:gd name="adj3" fmla="val 21292759"/>
                <a:gd name="adj4" fmla="val 19766662"/>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39" name="Freeform 94">
              <a:extLst>
                <a:ext uri="{FF2B5EF4-FFF2-40B4-BE49-F238E27FC236}">
                  <a16:creationId xmlns:a16="http://schemas.microsoft.com/office/drawing/2014/main" id="{3620A48E-C89F-2F54-FE7A-79221BA64BF8}"/>
                </a:ext>
              </a:extLst>
            </p:cNvPr>
            <p:cNvSpPr/>
            <p:nvPr/>
          </p:nvSpPr>
          <p:spPr>
            <a:xfrm>
              <a:off x="6203178" y="2740571"/>
              <a:ext cx="176603" cy="176603"/>
            </a:xfrm>
            <a:custGeom>
              <a:avLst/>
              <a:gdLst>
                <a:gd name="connsiteX0" fmla="*/ 0 w 176603"/>
                <a:gd name="connsiteY0" fmla="*/ 0 h 176603"/>
                <a:gd name="connsiteX1" fmla="*/ 176603 w 176603"/>
                <a:gd name="connsiteY1" fmla="*/ 0 h 176603"/>
                <a:gd name="connsiteX2" fmla="*/ 176603 w 176603"/>
                <a:gd name="connsiteY2" fmla="*/ 176603 h 176603"/>
                <a:gd name="connsiteX3" fmla="*/ 0 w 176603"/>
                <a:gd name="connsiteY3" fmla="*/ 176603 h 176603"/>
                <a:gd name="connsiteX4" fmla="*/ 0 w 176603"/>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03" h="176603">
                  <a:moveTo>
                    <a:pt x="0" y="0"/>
                  </a:moveTo>
                  <a:lnTo>
                    <a:pt x="176603" y="0"/>
                  </a:lnTo>
                  <a:lnTo>
                    <a:pt x="176603"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QA</a:t>
              </a:r>
            </a:p>
          </p:txBody>
        </p:sp>
        <p:sp>
          <p:nvSpPr>
            <p:cNvPr id="140" name="Circular Arrow 97">
              <a:extLst>
                <a:ext uri="{FF2B5EF4-FFF2-40B4-BE49-F238E27FC236}">
                  <a16:creationId xmlns:a16="http://schemas.microsoft.com/office/drawing/2014/main" id="{9C4E2855-B20F-9AB2-83E3-84A18ED0DE81}"/>
                </a:ext>
              </a:extLst>
            </p:cNvPr>
            <p:cNvSpPr/>
            <p:nvPr/>
          </p:nvSpPr>
          <p:spPr>
            <a:xfrm>
              <a:off x="5680433" y="2408002"/>
              <a:ext cx="662034" cy="662034"/>
            </a:xfrm>
            <a:prstGeom prst="circularArrow">
              <a:avLst>
                <a:gd name="adj1" fmla="val 5202"/>
                <a:gd name="adj2" fmla="val 336032"/>
                <a:gd name="adj3" fmla="val 3730916"/>
                <a:gd name="adj4" fmla="val 2240509"/>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41" name="Freeform 98">
              <a:extLst>
                <a:ext uri="{FF2B5EF4-FFF2-40B4-BE49-F238E27FC236}">
                  <a16:creationId xmlns:a16="http://schemas.microsoft.com/office/drawing/2014/main" id="{6594DC07-A847-0584-A601-51DE5AC44C59}"/>
                </a:ext>
              </a:extLst>
            </p:cNvPr>
            <p:cNvSpPr/>
            <p:nvPr/>
          </p:nvSpPr>
          <p:spPr>
            <a:xfrm>
              <a:off x="5895311" y="2944080"/>
              <a:ext cx="227198" cy="176603"/>
            </a:xfrm>
            <a:custGeom>
              <a:avLst/>
              <a:gdLst>
                <a:gd name="connsiteX0" fmla="*/ 0 w 227198"/>
                <a:gd name="connsiteY0" fmla="*/ 0 h 176603"/>
                <a:gd name="connsiteX1" fmla="*/ 227198 w 227198"/>
                <a:gd name="connsiteY1" fmla="*/ 0 h 176603"/>
                <a:gd name="connsiteX2" fmla="*/ 227198 w 227198"/>
                <a:gd name="connsiteY2" fmla="*/ 176603 h 176603"/>
                <a:gd name="connsiteX3" fmla="*/ 0 w 227198"/>
                <a:gd name="connsiteY3" fmla="*/ 176603 h 176603"/>
                <a:gd name="connsiteX4" fmla="*/ 0 w 227198"/>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198" h="176603">
                  <a:moveTo>
                    <a:pt x="0" y="0"/>
                  </a:moveTo>
                  <a:lnTo>
                    <a:pt x="227198" y="0"/>
                  </a:lnTo>
                  <a:lnTo>
                    <a:pt x="227198"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080" tIns="5080" rIns="5080" bIns="5080" numCol="1" spcCol="1270" anchor="ctr" anchorCtr="0">
              <a:noAutofit/>
            </a:bodyPr>
            <a:lstStyle/>
            <a:p>
              <a:pPr lvl="0" algn="ctr" defTabSz="177800">
                <a:lnSpc>
                  <a:spcPct val="90000"/>
                </a:lnSpc>
                <a:spcBef>
                  <a:spcPct val="0"/>
                </a:spcBef>
                <a:spcAft>
                  <a:spcPct val="35000"/>
                </a:spcAft>
              </a:pPr>
              <a:r>
                <a:rPr lang="en-IN" sz="400" kern="1200"/>
                <a:t>Evaluate</a:t>
              </a:r>
            </a:p>
          </p:txBody>
        </p:sp>
        <p:sp>
          <p:nvSpPr>
            <p:cNvPr id="142" name="Circular Arrow 100">
              <a:extLst>
                <a:ext uri="{FF2B5EF4-FFF2-40B4-BE49-F238E27FC236}">
                  <a16:creationId xmlns:a16="http://schemas.microsoft.com/office/drawing/2014/main" id="{8E28AE99-0444-0C30-663A-9783A97CB840}"/>
                </a:ext>
              </a:extLst>
            </p:cNvPr>
            <p:cNvSpPr/>
            <p:nvPr/>
          </p:nvSpPr>
          <p:spPr>
            <a:xfrm>
              <a:off x="5681853" y="2408040"/>
              <a:ext cx="662034" cy="662034"/>
            </a:xfrm>
            <a:prstGeom prst="circularArrow">
              <a:avLst>
                <a:gd name="adj1" fmla="val 5202"/>
                <a:gd name="adj2" fmla="val 336032"/>
                <a:gd name="adj3" fmla="val 8224029"/>
                <a:gd name="adj4" fmla="val 6815657"/>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43" name="Freeform 101">
              <a:extLst>
                <a:ext uri="{FF2B5EF4-FFF2-40B4-BE49-F238E27FC236}">
                  <a16:creationId xmlns:a16="http://schemas.microsoft.com/office/drawing/2014/main" id="{4E7EAEE8-BB07-8ED2-B0CD-DD780A805F61}"/>
                </a:ext>
              </a:extLst>
            </p:cNvPr>
            <p:cNvSpPr/>
            <p:nvPr/>
          </p:nvSpPr>
          <p:spPr>
            <a:xfrm>
              <a:off x="5587135" y="2740571"/>
              <a:ext cx="291352" cy="176603"/>
            </a:xfrm>
            <a:custGeom>
              <a:avLst/>
              <a:gdLst>
                <a:gd name="connsiteX0" fmla="*/ 0 w 291352"/>
                <a:gd name="connsiteY0" fmla="*/ 0 h 176603"/>
                <a:gd name="connsiteX1" fmla="*/ 291352 w 291352"/>
                <a:gd name="connsiteY1" fmla="*/ 0 h 176603"/>
                <a:gd name="connsiteX2" fmla="*/ 291352 w 291352"/>
                <a:gd name="connsiteY2" fmla="*/ 176603 h 176603"/>
                <a:gd name="connsiteX3" fmla="*/ 0 w 291352"/>
                <a:gd name="connsiteY3" fmla="*/ 176603 h 176603"/>
                <a:gd name="connsiteX4" fmla="*/ 0 w 29135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352" h="176603">
                  <a:moveTo>
                    <a:pt x="0" y="0"/>
                  </a:moveTo>
                  <a:lnTo>
                    <a:pt x="291352" y="0"/>
                  </a:lnTo>
                  <a:lnTo>
                    <a:pt x="29135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Plan</a:t>
              </a:r>
            </a:p>
          </p:txBody>
        </p:sp>
        <p:sp>
          <p:nvSpPr>
            <p:cNvPr id="144" name="Circular Arrow 106">
              <a:extLst>
                <a:ext uri="{FF2B5EF4-FFF2-40B4-BE49-F238E27FC236}">
                  <a16:creationId xmlns:a16="http://schemas.microsoft.com/office/drawing/2014/main" id="{89388D5B-1DED-E384-E193-F77B4D529F8B}"/>
                </a:ext>
              </a:extLst>
            </p:cNvPr>
            <p:cNvSpPr/>
            <p:nvPr/>
          </p:nvSpPr>
          <p:spPr>
            <a:xfrm>
              <a:off x="5681128" y="2407094"/>
              <a:ext cx="662034" cy="662034"/>
            </a:xfrm>
            <a:prstGeom prst="circularArrow">
              <a:avLst>
                <a:gd name="adj1" fmla="val 5202"/>
                <a:gd name="adj2" fmla="val 336032"/>
                <a:gd name="adj3" fmla="val 12297306"/>
                <a:gd name="adj4" fmla="val 10771210"/>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45" name="Freeform 108">
              <a:extLst>
                <a:ext uri="{FF2B5EF4-FFF2-40B4-BE49-F238E27FC236}">
                  <a16:creationId xmlns:a16="http://schemas.microsoft.com/office/drawing/2014/main" id="{49F0E1A4-B1A6-09AA-DF52-8067E6A77DEB}"/>
                </a:ext>
              </a:extLst>
            </p:cNvPr>
            <p:cNvSpPr/>
            <p:nvPr/>
          </p:nvSpPr>
          <p:spPr>
            <a:xfrm>
              <a:off x="5669869" y="2412193"/>
              <a:ext cx="339275" cy="176603"/>
            </a:xfrm>
            <a:custGeom>
              <a:avLst/>
              <a:gdLst>
                <a:gd name="connsiteX0" fmla="*/ 0 w 339275"/>
                <a:gd name="connsiteY0" fmla="*/ 0 h 176603"/>
                <a:gd name="connsiteX1" fmla="*/ 339275 w 339275"/>
                <a:gd name="connsiteY1" fmla="*/ 0 h 176603"/>
                <a:gd name="connsiteX2" fmla="*/ 339275 w 339275"/>
                <a:gd name="connsiteY2" fmla="*/ 176603 h 176603"/>
                <a:gd name="connsiteX3" fmla="*/ 0 w 339275"/>
                <a:gd name="connsiteY3" fmla="*/ 176603 h 176603"/>
                <a:gd name="connsiteX4" fmla="*/ 0 w 339275"/>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275" h="176603">
                  <a:moveTo>
                    <a:pt x="0" y="0"/>
                  </a:moveTo>
                  <a:lnTo>
                    <a:pt x="339275" y="0"/>
                  </a:lnTo>
                  <a:lnTo>
                    <a:pt x="339275"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Design</a:t>
              </a:r>
            </a:p>
          </p:txBody>
        </p:sp>
        <p:sp>
          <p:nvSpPr>
            <p:cNvPr id="146" name="Circular Arrow 110">
              <a:extLst>
                <a:ext uri="{FF2B5EF4-FFF2-40B4-BE49-F238E27FC236}">
                  <a16:creationId xmlns:a16="http://schemas.microsoft.com/office/drawing/2014/main" id="{BF47BB5B-1C01-2145-C0EB-291F0AA4D37E}"/>
                </a:ext>
              </a:extLst>
            </p:cNvPr>
            <p:cNvSpPr/>
            <p:nvPr/>
          </p:nvSpPr>
          <p:spPr>
            <a:xfrm>
              <a:off x="5681128" y="2407094"/>
              <a:ext cx="662034" cy="662034"/>
            </a:xfrm>
            <a:prstGeom prst="circularArrow">
              <a:avLst>
                <a:gd name="adj1" fmla="val 5202"/>
                <a:gd name="adj2" fmla="val 336032"/>
                <a:gd name="adj3" fmla="val 16204213"/>
                <a:gd name="adj4" fmla="val 16164882"/>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47" name="TextBox 146">
              <a:extLst>
                <a:ext uri="{FF2B5EF4-FFF2-40B4-BE49-F238E27FC236}">
                  <a16:creationId xmlns:a16="http://schemas.microsoft.com/office/drawing/2014/main" id="{45F272B5-6928-2497-6BB6-A2E425E59FC1}"/>
                </a:ext>
              </a:extLst>
            </p:cNvPr>
            <p:cNvSpPr txBox="1"/>
            <p:nvPr/>
          </p:nvSpPr>
          <p:spPr>
            <a:xfrm>
              <a:off x="5698312" y="2616688"/>
              <a:ext cx="633507" cy="246221"/>
            </a:xfrm>
            <a:prstGeom prst="rect">
              <a:avLst/>
            </a:prstGeom>
            <a:noFill/>
          </p:spPr>
          <p:txBody>
            <a:bodyPr wrap="none" rtlCol="0">
              <a:spAutoFit/>
            </a:bodyPr>
            <a:lstStyle/>
            <a:p>
              <a:r>
                <a:rPr lang="en-IN" sz="1000" b="1"/>
                <a:t>Sprint4</a:t>
              </a:r>
            </a:p>
          </p:txBody>
        </p:sp>
        <p:sp>
          <p:nvSpPr>
            <p:cNvPr id="148" name="Arrow: Right 299">
              <a:extLst>
                <a:ext uri="{FF2B5EF4-FFF2-40B4-BE49-F238E27FC236}">
                  <a16:creationId xmlns:a16="http://schemas.microsoft.com/office/drawing/2014/main" id="{64DDC6AF-C006-A4CF-9953-50725861B3F6}"/>
                </a:ext>
              </a:extLst>
            </p:cNvPr>
            <p:cNvSpPr/>
            <p:nvPr/>
          </p:nvSpPr>
          <p:spPr>
            <a:xfrm>
              <a:off x="5317913" y="3004704"/>
              <a:ext cx="345344" cy="41650"/>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149" name="Arrow: Right 300">
              <a:extLst>
                <a:ext uri="{FF2B5EF4-FFF2-40B4-BE49-F238E27FC236}">
                  <a16:creationId xmlns:a16="http://schemas.microsoft.com/office/drawing/2014/main" id="{D4D91ACC-27DF-E70D-21BA-C572A5951491}"/>
                </a:ext>
              </a:extLst>
            </p:cNvPr>
            <p:cNvSpPr/>
            <p:nvPr/>
          </p:nvSpPr>
          <p:spPr>
            <a:xfrm>
              <a:off x="6141694" y="3009805"/>
              <a:ext cx="345344" cy="41650"/>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sp>
          <p:nvSpPr>
            <p:cNvPr id="150" name="Rectangle 149">
              <a:extLst>
                <a:ext uri="{FF2B5EF4-FFF2-40B4-BE49-F238E27FC236}">
                  <a16:creationId xmlns:a16="http://schemas.microsoft.com/office/drawing/2014/main" id="{705AC18E-EC00-4574-4852-9352D3F09857}"/>
                </a:ext>
              </a:extLst>
            </p:cNvPr>
            <p:cNvSpPr/>
            <p:nvPr/>
          </p:nvSpPr>
          <p:spPr>
            <a:xfrm>
              <a:off x="2917477" y="3298232"/>
              <a:ext cx="1883978" cy="153888"/>
            </a:xfrm>
            <a:prstGeom prst="rect">
              <a:avLst/>
            </a:prstGeom>
          </p:spPr>
          <p:txBody>
            <a:bodyPr wrap="square" lIns="0" tIns="0" rIns="0" bIns="0">
              <a:spAutoFit/>
            </a:bodyPr>
            <a:lstStyle/>
            <a:p>
              <a:pPr algn="ctr"/>
              <a:r>
                <a:rPr lang="en-IN" sz="1000" b="1">
                  <a:solidFill>
                    <a:schemeClr val="bg1"/>
                  </a:solidFill>
                </a:rPr>
                <a:t>Program Increment</a:t>
              </a:r>
            </a:p>
          </p:txBody>
        </p:sp>
        <p:sp>
          <p:nvSpPr>
            <p:cNvPr id="151" name="Freeform 168">
              <a:extLst>
                <a:ext uri="{FF2B5EF4-FFF2-40B4-BE49-F238E27FC236}">
                  <a16:creationId xmlns:a16="http://schemas.microsoft.com/office/drawing/2014/main" id="{6B5A27C0-6188-2601-6460-797BC67BCFE4}"/>
                </a:ext>
              </a:extLst>
            </p:cNvPr>
            <p:cNvSpPr/>
            <p:nvPr/>
          </p:nvSpPr>
          <p:spPr>
            <a:xfrm>
              <a:off x="7597668" y="2379993"/>
              <a:ext cx="287232" cy="176603"/>
            </a:xfrm>
            <a:custGeom>
              <a:avLst/>
              <a:gdLst>
                <a:gd name="connsiteX0" fmla="*/ 0 w 287232"/>
                <a:gd name="connsiteY0" fmla="*/ 0 h 176603"/>
                <a:gd name="connsiteX1" fmla="*/ 287232 w 287232"/>
                <a:gd name="connsiteY1" fmla="*/ 0 h 176603"/>
                <a:gd name="connsiteX2" fmla="*/ 287232 w 287232"/>
                <a:gd name="connsiteY2" fmla="*/ 176603 h 176603"/>
                <a:gd name="connsiteX3" fmla="*/ 0 w 287232"/>
                <a:gd name="connsiteY3" fmla="*/ 176603 h 176603"/>
                <a:gd name="connsiteX4" fmla="*/ 0 w 28723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232" h="176603">
                  <a:moveTo>
                    <a:pt x="0" y="0"/>
                  </a:moveTo>
                  <a:lnTo>
                    <a:pt x="287232" y="0"/>
                  </a:lnTo>
                  <a:lnTo>
                    <a:pt x="28723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solidFill>
                    <a:prstClr val="black">
                      <a:hueOff val="0"/>
                      <a:satOff val="0"/>
                      <a:lumOff val="0"/>
                      <a:alphaOff val="0"/>
                    </a:prstClr>
                  </a:solidFill>
                  <a:ea typeface="+mn-ea"/>
                  <a:cs typeface="+mn-cs"/>
                </a:rPr>
                <a:t>Build</a:t>
              </a:r>
            </a:p>
          </p:txBody>
        </p:sp>
        <p:sp>
          <p:nvSpPr>
            <p:cNvPr id="152" name="Circular Arrow 169">
              <a:extLst>
                <a:ext uri="{FF2B5EF4-FFF2-40B4-BE49-F238E27FC236}">
                  <a16:creationId xmlns:a16="http://schemas.microsoft.com/office/drawing/2014/main" id="{B5747A6D-0BA4-4E56-0510-C64554870625}"/>
                </a:ext>
              </a:extLst>
            </p:cNvPr>
            <p:cNvSpPr/>
            <p:nvPr/>
          </p:nvSpPr>
          <p:spPr>
            <a:xfrm>
              <a:off x="7151947" y="2387837"/>
              <a:ext cx="662034" cy="662034"/>
            </a:xfrm>
            <a:prstGeom prst="circularArrow">
              <a:avLst>
                <a:gd name="adj1" fmla="val 5202"/>
                <a:gd name="adj2" fmla="val 336032"/>
                <a:gd name="adj3" fmla="val 21292759"/>
                <a:gd name="adj4" fmla="val 19766662"/>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53" name="Freeform 203">
              <a:extLst>
                <a:ext uri="{FF2B5EF4-FFF2-40B4-BE49-F238E27FC236}">
                  <a16:creationId xmlns:a16="http://schemas.microsoft.com/office/drawing/2014/main" id="{371DA662-E071-F1E2-54EE-8F32A06DAE10}"/>
                </a:ext>
              </a:extLst>
            </p:cNvPr>
            <p:cNvSpPr/>
            <p:nvPr/>
          </p:nvSpPr>
          <p:spPr>
            <a:xfrm>
              <a:off x="7726479" y="2721314"/>
              <a:ext cx="176603" cy="176603"/>
            </a:xfrm>
            <a:custGeom>
              <a:avLst/>
              <a:gdLst>
                <a:gd name="connsiteX0" fmla="*/ 0 w 176603"/>
                <a:gd name="connsiteY0" fmla="*/ 0 h 176603"/>
                <a:gd name="connsiteX1" fmla="*/ 176603 w 176603"/>
                <a:gd name="connsiteY1" fmla="*/ 0 h 176603"/>
                <a:gd name="connsiteX2" fmla="*/ 176603 w 176603"/>
                <a:gd name="connsiteY2" fmla="*/ 176603 h 176603"/>
                <a:gd name="connsiteX3" fmla="*/ 0 w 176603"/>
                <a:gd name="connsiteY3" fmla="*/ 176603 h 176603"/>
                <a:gd name="connsiteX4" fmla="*/ 0 w 176603"/>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03" h="176603">
                  <a:moveTo>
                    <a:pt x="0" y="0"/>
                  </a:moveTo>
                  <a:lnTo>
                    <a:pt x="176603" y="0"/>
                  </a:lnTo>
                  <a:lnTo>
                    <a:pt x="176603"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QA</a:t>
              </a:r>
            </a:p>
          </p:txBody>
        </p:sp>
        <p:sp>
          <p:nvSpPr>
            <p:cNvPr id="154" name="Circular Arrow 204">
              <a:extLst>
                <a:ext uri="{FF2B5EF4-FFF2-40B4-BE49-F238E27FC236}">
                  <a16:creationId xmlns:a16="http://schemas.microsoft.com/office/drawing/2014/main" id="{78AC63EB-F0F2-B009-B5F1-9C295D5A3EAC}"/>
                </a:ext>
              </a:extLst>
            </p:cNvPr>
            <p:cNvSpPr/>
            <p:nvPr/>
          </p:nvSpPr>
          <p:spPr>
            <a:xfrm>
              <a:off x="7151290" y="2388695"/>
              <a:ext cx="662034" cy="662034"/>
            </a:xfrm>
            <a:prstGeom prst="circularArrow">
              <a:avLst>
                <a:gd name="adj1" fmla="val 5202"/>
                <a:gd name="adj2" fmla="val 336032"/>
                <a:gd name="adj3" fmla="val 3848487"/>
                <a:gd name="adj4" fmla="val 2241234"/>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55" name="Freeform 205">
              <a:extLst>
                <a:ext uri="{FF2B5EF4-FFF2-40B4-BE49-F238E27FC236}">
                  <a16:creationId xmlns:a16="http://schemas.microsoft.com/office/drawing/2014/main" id="{12699A54-13D5-C640-1D90-38E4623AD636}"/>
                </a:ext>
              </a:extLst>
            </p:cNvPr>
            <p:cNvSpPr/>
            <p:nvPr/>
          </p:nvSpPr>
          <p:spPr>
            <a:xfrm>
              <a:off x="7351328" y="2941521"/>
              <a:ext cx="256801" cy="176603"/>
            </a:xfrm>
            <a:custGeom>
              <a:avLst/>
              <a:gdLst>
                <a:gd name="connsiteX0" fmla="*/ 0 w 208548"/>
                <a:gd name="connsiteY0" fmla="*/ 0 h 176603"/>
                <a:gd name="connsiteX1" fmla="*/ 208548 w 208548"/>
                <a:gd name="connsiteY1" fmla="*/ 0 h 176603"/>
                <a:gd name="connsiteX2" fmla="*/ 208548 w 208548"/>
                <a:gd name="connsiteY2" fmla="*/ 176603 h 176603"/>
                <a:gd name="connsiteX3" fmla="*/ 0 w 208548"/>
                <a:gd name="connsiteY3" fmla="*/ 176603 h 176603"/>
                <a:gd name="connsiteX4" fmla="*/ 0 w 208548"/>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548" h="176603">
                  <a:moveTo>
                    <a:pt x="0" y="0"/>
                  </a:moveTo>
                  <a:lnTo>
                    <a:pt x="208548" y="0"/>
                  </a:lnTo>
                  <a:lnTo>
                    <a:pt x="208548"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080" tIns="5080" rIns="5080" bIns="5080" numCol="1" spcCol="1270" anchor="ctr" anchorCtr="0">
              <a:noAutofit/>
            </a:bodyPr>
            <a:lstStyle/>
            <a:p>
              <a:pPr lvl="0" algn="ctr" defTabSz="177800">
                <a:lnSpc>
                  <a:spcPct val="90000"/>
                </a:lnSpc>
                <a:spcBef>
                  <a:spcPct val="0"/>
                </a:spcBef>
                <a:spcAft>
                  <a:spcPct val="35000"/>
                </a:spcAft>
              </a:pPr>
              <a:r>
                <a:rPr lang="en-IN" sz="400" kern="1200"/>
                <a:t>Evaluate</a:t>
              </a:r>
            </a:p>
          </p:txBody>
        </p:sp>
        <p:sp>
          <p:nvSpPr>
            <p:cNvPr id="156" name="Circular Arrow 206">
              <a:extLst>
                <a:ext uri="{FF2B5EF4-FFF2-40B4-BE49-F238E27FC236}">
                  <a16:creationId xmlns:a16="http://schemas.microsoft.com/office/drawing/2014/main" id="{3E7EB33F-BB73-6C23-A2AB-FD21DBEEB4F1}"/>
                </a:ext>
              </a:extLst>
            </p:cNvPr>
            <p:cNvSpPr/>
            <p:nvPr/>
          </p:nvSpPr>
          <p:spPr>
            <a:xfrm>
              <a:off x="7152631" y="2388729"/>
              <a:ext cx="662034" cy="662034"/>
            </a:xfrm>
            <a:prstGeom prst="circularArrow">
              <a:avLst>
                <a:gd name="adj1" fmla="val 5202"/>
                <a:gd name="adj2" fmla="val 336032"/>
                <a:gd name="adj3" fmla="val 8223226"/>
                <a:gd name="adj4" fmla="val 6696900"/>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57" name="Freeform 207">
              <a:extLst>
                <a:ext uri="{FF2B5EF4-FFF2-40B4-BE49-F238E27FC236}">
                  <a16:creationId xmlns:a16="http://schemas.microsoft.com/office/drawing/2014/main" id="{C1D909B9-8AF6-EE93-495D-06B1E005A3B4}"/>
                </a:ext>
              </a:extLst>
            </p:cNvPr>
            <p:cNvSpPr/>
            <p:nvPr/>
          </p:nvSpPr>
          <p:spPr>
            <a:xfrm>
              <a:off x="6991745" y="2726637"/>
              <a:ext cx="291352" cy="176603"/>
            </a:xfrm>
            <a:custGeom>
              <a:avLst/>
              <a:gdLst>
                <a:gd name="connsiteX0" fmla="*/ 0 w 291352"/>
                <a:gd name="connsiteY0" fmla="*/ 0 h 176603"/>
                <a:gd name="connsiteX1" fmla="*/ 291352 w 291352"/>
                <a:gd name="connsiteY1" fmla="*/ 0 h 176603"/>
                <a:gd name="connsiteX2" fmla="*/ 291352 w 291352"/>
                <a:gd name="connsiteY2" fmla="*/ 176603 h 176603"/>
                <a:gd name="connsiteX3" fmla="*/ 0 w 291352"/>
                <a:gd name="connsiteY3" fmla="*/ 176603 h 176603"/>
                <a:gd name="connsiteX4" fmla="*/ 0 w 29135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352" h="176603">
                  <a:moveTo>
                    <a:pt x="0" y="0"/>
                  </a:moveTo>
                  <a:lnTo>
                    <a:pt x="291352" y="0"/>
                  </a:lnTo>
                  <a:lnTo>
                    <a:pt x="29135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Plan</a:t>
              </a:r>
            </a:p>
          </p:txBody>
        </p:sp>
        <p:sp>
          <p:nvSpPr>
            <p:cNvPr id="158" name="Circular Arrow 208">
              <a:extLst>
                <a:ext uri="{FF2B5EF4-FFF2-40B4-BE49-F238E27FC236}">
                  <a16:creationId xmlns:a16="http://schemas.microsoft.com/office/drawing/2014/main" id="{71124734-2594-DD8E-2C90-F582B4AE7A23}"/>
                </a:ext>
              </a:extLst>
            </p:cNvPr>
            <p:cNvSpPr/>
            <p:nvPr/>
          </p:nvSpPr>
          <p:spPr>
            <a:xfrm>
              <a:off x="7151947" y="2387837"/>
              <a:ext cx="662034" cy="662034"/>
            </a:xfrm>
            <a:prstGeom prst="circularArrow">
              <a:avLst>
                <a:gd name="adj1" fmla="val 5202"/>
                <a:gd name="adj2" fmla="val 336032"/>
                <a:gd name="adj3" fmla="val 12297306"/>
                <a:gd name="adj4" fmla="val 10771210"/>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59" name="Freeform 209">
              <a:extLst>
                <a:ext uri="{FF2B5EF4-FFF2-40B4-BE49-F238E27FC236}">
                  <a16:creationId xmlns:a16="http://schemas.microsoft.com/office/drawing/2014/main" id="{EA9C34AE-85A3-D351-C475-4B316800876A}"/>
                </a:ext>
              </a:extLst>
            </p:cNvPr>
            <p:cNvSpPr/>
            <p:nvPr/>
          </p:nvSpPr>
          <p:spPr>
            <a:xfrm>
              <a:off x="7013615" y="2386021"/>
              <a:ext cx="353022" cy="176603"/>
            </a:xfrm>
            <a:custGeom>
              <a:avLst/>
              <a:gdLst>
                <a:gd name="connsiteX0" fmla="*/ 0 w 353022"/>
                <a:gd name="connsiteY0" fmla="*/ 0 h 176603"/>
                <a:gd name="connsiteX1" fmla="*/ 353022 w 353022"/>
                <a:gd name="connsiteY1" fmla="*/ 0 h 176603"/>
                <a:gd name="connsiteX2" fmla="*/ 353022 w 353022"/>
                <a:gd name="connsiteY2" fmla="*/ 176603 h 176603"/>
                <a:gd name="connsiteX3" fmla="*/ 0 w 353022"/>
                <a:gd name="connsiteY3" fmla="*/ 176603 h 176603"/>
                <a:gd name="connsiteX4" fmla="*/ 0 w 35302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022" h="176603">
                  <a:moveTo>
                    <a:pt x="0" y="0"/>
                  </a:moveTo>
                  <a:lnTo>
                    <a:pt x="353022" y="0"/>
                  </a:lnTo>
                  <a:lnTo>
                    <a:pt x="35302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Design</a:t>
              </a:r>
            </a:p>
          </p:txBody>
        </p:sp>
        <p:sp>
          <p:nvSpPr>
            <p:cNvPr id="160" name="Circular Arrow 210">
              <a:extLst>
                <a:ext uri="{FF2B5EF4-FFF2-40B4-BE49-F238E27FC236}">
                  <a16:creationId xmlns:a16="http://schemas.microsoft.com/office/drawing/2014/main" id="{231BF06C-671D-83C0-D044-3C6AB5A0B5D3}"/>
                </a:ext>
              </a:extLst>
            </p:cNvPr>
            <p:cNvSpPr/>
            <p:nvPr/>
          </p:nvSpPr>
          <p:spPr>
            <a:xfrm>
              <a:off x="7151947" y="2387837"/>
              <a:ext cx="662034" cy="662034"/>
            </a:xfrm>
            <a:prstGeom prst="circularArrow">
              <a:avLst>
                <a:gd name="adj1" fmla="val 5202"/>
                <a:gd name="adj2" fmla="val 295001"/>
                <a:gd name="adj3" fmla="val 16245243"/>
                <a:gd name="adj4" fmla="val 16245334"/>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61" name="TextBox 160">
              <a:extLst>
                <a:ext uri="{FF2B5EF4-FFF2-40B4-BE49-F238E27FC236}">
                  <a16:creationId xmlns:a16="http://schemas.microsoft.com/office/drawing/2014/main" id="{A63B4415-3079-8523-8CDA-F6D47703A3C7}"/>
                </a:ext>
              </a:extLst>
            </p:cNvPr>
            <p:cNvSpPr txBox="1"/>
            <p:nvPr/>
          </p:nvSpPr>
          <p:spPr>
            <a:xfrm>
              <a:off x="7140527" y="2585244"/>
              <a:ext cx="683666" cy="246683"/>
            </a:xfrm>
            <a:prstGeom prst="rect">
              <a:avLst/>
            </a:prstGeom>
            <a:noFill/>
          </p:spPr>
          <p:txBody>
            <a:bodyPr wrap="square" rtlCol="0">
              <a:spAutoFit/>
            </a:bodyPr>
            <a:lstStyle/>
            <a:p>
              <a:r>
                <a:rPr lang="en-IN" sz="1000" b="1">
                  <a:solidFill>
                    <a:schemeClr val="bg1"/>
                  </a:solidFill>
                </a:rPr>
                <a:t>Sprint N</a:t>
              </a:r>
            </a:p>
          </p:txBody>
        </p:sp>
        <p:sp>
          <p:nvSpPr>
            <p:cNvPr id="162" name="Freeform 78">
              <a:extLst>
                <a:ext uri="{FF2B5EF4-FFF2-40B4-BE49-F238E27FC236}">
                  <a16:creationId xmlns:a16="http://schemas.microsoft.com/office/drawing/2014/main" id="{63BC323F-BDA2-EA73-2485-A913CD707EC2}"/>
                </a:ext>
              </a:extLst>
            </p:cNvPr>
            <p:cNvSpPr/>
            <p:nvPr/>
          </p:nvSpPr>
          <p:spPr>
            <a:xfrm>
              <a:off x="8331461" y="2396450"/>
              <a:ext cx="287232" cy="176603"/>
            </a:xfrm>
            <a:custGeom>
              <a:avLst/>
              <a:gdLst>
                <a:gd name="connsiteX0" fmla="*/ 0 w 287232"/>
                <a:gd name="connsiteY0" fmla="*/ 0 h 176603"/>
                <a:gd name="connsiteX1" fmla="*/ 287232 w 287232"/>
                <a:gd name="connsiteY1" fmla="*/ 0 h 176603"/>
                <a:gd name="connsiteX2" fmla="*/ 287232 w 287232"/>
                <a:gd name="connsiteY2" fmla="*/ 176603 h 176603"/>
                <a:gd name="connsiteX3" fmla="*/ 0 w 287232"/>
                <a:gd name="connsiteY3" fmla="*/ 176603 h 176603"/>
                <a:gd name="connsiteX4" fmla="*/ 0 w 28723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232" h="176603">
                  <a:moveTo>
                    <a:pt x="0" y="0"/>
                  </a:moveTo>
                  <a:lnTo>
                    <a:pt x="287232" y="0"/>
                  </a:lnTo>
                  <a:lnTo>
                    <a:pt x="28723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solidFill>
                    <a:prstClr val="black">
                      <a:hueOff val="0"/>
                      <a:satOff val="0"/>
                      <a:lumOff val="0"/>
                      <a:alphaOff val="0"/>
                    </a:prstClr>
                  </a:solidFill>
                  <a:ea typeface="+mn-ea"/>
                  <a:cs typeface="+mn-cs"/>
                </a:rPr>
                <a:t>Build</a:t>
              </a:r>
            </a:p>
          </p:txBody>
        </p:sp>
        <p:sp>
          <p:nvSpPr>
            <p:cNvPr id="163" name="Circular Arrow 93">
              <a:extLst>
                <a:ext uri="{FF2B5EF4-FFF2-40B4-BE49-F238E27FC236}">
                  <a16:creationId xmlns:a16="http://schemas.microsoft.com/office/drawing/2014/main" id="{87E3DAFD-02CC-9A9C-953E-3C14596520AF}"/>
                </a:ext>
              </a:extLst>
            </p:cNvPr>
            <p:cNvSpPr/>
            <p:nvPr/>
          </p:nvSpPr>
          <p:spPr>
            <a:xfrm>
              <a:off x="7971422" y="2391351"/>
              <a:ext cx="662034" cy="662034"/>
            </a:xfrm>
            <a:prstGeom prst="circularArrow">
              <a:avLst>
                <a:gd name="adj1" fmla="val 5202"/>
                <a:gd name="adj2" fmla="val 336032"/>
                <a:gd name="adj3" fmla="val 21292759"/>
                <a:gd name="adj4" fmla="val 19766662"/>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64" name="Freeform 94">
              <a:extLst>
                <a:ext uri="{FF2B5EF4-FFF2-40B4-BE49-F238E27FC236}">
                  <a16:creationId xmlns:a16="http://schemas.microsoft.com/office/drawing/2014/main" id="{7FC530A1-150C-9597-1D4E-56E002D61CDD}"/>
                </a:ext>
              </a:extLst>
            </p:cNvPr>
            <p:cNvSpPr/>
            <p:nvPr/>
          </p:nvSpPr>
          <p:spPr>
            <a:xfrm>
              <a:off x="8493472" y="2724828"/>
              <a:ext cx="176603" cy="176603"/>
            </a:xfrm>
            <a:custGeom>
              <a:avLst/>
              <a:gdLst>
                <a:gd name="connsiteX0" fmla="*/ 0 w 176603"/>
                <a:gd name="connsiteY0" fmla="*/ 0 h 176603"/>
                <a:gd name="connsiteX1" fmla="*/ 176603 w 176603"/>
                <a:gd name="connsiteY1" fmla="*/ 0 h 176603"/>
                <a:gd name="connsiteX2" fmla="*/ 176603 w 176603"/>
                <a:gd name="connsiteY2" fmla="*/ 176603 h 176603"/>
                <a:gd name="connsiteX3" fmla="*/ 0 w 176603"/>
                <a:gd name="connsiteY3" fmla="*/ 176603 h 176603"/>
                <a:gd name="connsiteX4" fmla="*/ 0 w 176603"/>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03" h="176603">
                  <a:moveTo>
                    <a:pt x="0" y="0"/>
                  </a:moveTo>
                  <a:lnTo>
                    <a:pt x="176603" y="0"/>
                  </a:lnTo>
                  <a:lnTo>
                    <a:pt x="176603"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QA</a:t>
              </a:r>
            </a:p>
          </p:txBody>
        </p:sp>
        <p:sp>
          <p:nvSpPr>
            <p:cNvPr id="165" name="Circular Arrow 97">
              <a:extLst>
                <a:ext uri="{FF2B5EF4-FFF2-40B4-BE49-F238E27FC236}">
                  <a16:creationId xmlns:a16="http://schemas.microsoft.com/office/drawing/2014/main" id="{E20F53EE-F3F7-AD78-E76C-609722F0E8B9}"/>
                </a:ext>
              </a:extLst>
            </p:cNvPr>
            <p:cNvSpPr/>
            <p:nvPr/>
          </p:nvSpPr>
          <p:spPr>
            <a:xfrm>
              <a:off x="7970727" y="2392259"/>
              <a:ext cx="662034" cy="662034"/>
            </a:xfrm>
            <a:prstGeom prst="circularArrow">
              <a:avLst>
                <a:gd name="adj1" fmla="val 5202"/>
                <a:gd name="adj2" fmla="val 336032"/>
                <a:gd name="adj3" fmla="val 3730916"/>
                <a:gd name="adj4" fmla="val 2240509"/>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66" name="Freeform 98">
              <a:extLst>
                <a:ext uri="{FF2B5EF4-FFF2-40B4-BE49-F238E27FC236}">
                  <a16:creationId xmlns:a16="http://schemas.microsoft.com/office/drawing/2014/main" id="{7A2E7D9F-6C11-9380-B3AC-94261F491346}"/>
                </a:ext>
              </a:extLst>
            </p:cNvPr>
            <p:cNvSpPr/>
            <p:nvPr/>
          </p:nvSpPr>
          <p:spPr>
            <a:xfrm>
              <a:off x="8185605" y="2928337"/>
              <a:ext cx="227198" cy="176603"/>
            </a:xfrm>
            <a:custGeom>
              <a:avLst/>
              <a:gdLst>
                <a:gd name="connsiteX0" fmla="*/ 0 w 227198"/>
                <a:gd name="connsiteY0" fmla="*/ 0 h 176603"/>
                <a:gd name="connsiteX1" fmla="*/ 227198 w 227198"/>
                <a:gd name="connsiteY1" fmla="*/ 0 h 176603"/>
                <a:gd name="connsiteX2" fmla="*/ 227198 w 227198"/>
                <a:gd name="connsiteY2" fmla="*/ 176603 h 176603"/>
                <a:gd name="connsiteX3" fmla="*/ 0 w 227198"/>
                <a:gd name="connsiteY3" fmla="*/ 176603 h 176603"/>
                <a:gd name="connsiteX4" fmla="*/ 0 w 227198"/>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198" h="176603">
                  <a:moveTo>
                    <a:pt x="0" y="0"/>
                  </a:moveTo>
                  <a:lnTo>
                    <a:pt x="227198" y="0"/>
                  </a:lnTo>
                  <a:lnTo>
                    <a:pt x="227198"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5080" tIns="5080" rIns="5080" bIns="5080" numCol="1" spcCol="1270" anchor="ctr" anchorCtr="0">
              <a:noAutofit/>
            </a:bodyPr>
            <a:lstStyle/>
            <a:p>
              <a:pPr lvl="0" algn="ctr" defTabSz="177800">
                <a:lnSpc>
                  <a:spcPct val="90000"/>
                </a:lnSpc>
                <a:spcBef>
                  <a:spcPct val="0"/>
                </a:spcBef>
                <a:spcAft>
                  <a:spcPct val="35000"/>
                </a:spcAft>
              </a:pPr>
              <a:r>
                <a:rPr lang="en-IN" sz="400" kern="1200"/>
                <a:t>Evaluate</a:t>
              </a:r>
            </a:p>
          </p:txBody>
        </p:sp>
        <p:sp>
          <p:nvSpPr>
            <p:cNvPr id="167" name="Circular Arrow 100">
              <a:extLst>
                <a:ext uri="{FF2B5EF4-FFF2-40B4-BE49-F238E27FC236}">
                  <a16:creationId xmlns:a16="http://schemas.microsoft.com/office/drawing/2014/main" id="{F358FC37-B6DA-BBF8-F6F9-B991ED89A560}"/>
                </a:ext>
              </a:extLst>
            </p:cNvPr>
            <p:cNvSpPr/>
            <p:nvPr/>
          </p:nvSpPr>
          <p:spPr>
            <a:xfrm>
              <a:off x="7972147" y="2392297"/>
              <a:ext cx="662034" cy="662034"/>
            </a:xfrm>
            <a:prstGeom prst="circularArrow">
              <a:avLst>
                <a:gd name="adj1" fmla="val 5202"/>
                <a:gd name="adj2" fmla="val 336032"/>
                <a:gd name="adj3" fmla="val 8224029"/>
                <a:gd name="adj4" fmla="val 6815657"/>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68" name="Freeform 101">
              <a:extLst>
                <a:ext uri="{FF2B5EF4-FFF2-40B4-BE49-F238E27FC236}">
                  <a16:creationId xmlns:a16="http://schemas.microsoft.com/office/drawing/2014/main" id="{FDD016AB-6F6C-5F9A-8A33-860F634FC508}"/>
                </a:ext>
              </a:extLst>
            </p:cNvPr>
            <p:cNvSpPr/>
            <p:nvPr/>
          </p:nvSpPr>
          <p:spPr>
            <a:xfrm>
              <a:off x="7877429" y="2724828"/>
              <a:ext cx="291352" cy="176603"/>
            </a:xfrm>
            <a:custGeom>
              <a:avLst/>
              <a:gdLst>
                <a:gd name="connsiteX0" fmla="*/ 0 w 291352"/>
                <a:gd name="connsiteY0" fmla="*/ 0 h 176603"/>
                <a:gd name="connsiteX1" fmla="*/ 291352 w 291352"/>
                <a:gd name="connsiteY1" fmla="*/ 0 h 176603"/>
                <a:gd name="connsiteX2" fmla="*/ 291352 w 291352"/>
                <a:gd name="connsiteY2" fmla="*/ 176603 h 176603"/>
                <a:gd name="connsiteX3" fmla="*/ 0 w 291352"/>
                <a:gd name="connsiteY3" fmla="*/ 176603 h 176603"/>
                <a:gd name="connsiteX4" fmla="*/ 0 w 291352"/>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352" h="176603">
                  <a:moveTo>
                    <a:pt x="0" y="0"/>
                  </a:moveTo>
                  <a:lnTo>
                    <a:pt x="291352" y="0"/>
                  </a:lnTo>
                  <a:lnTo>
                    <a:pt x="291352"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Plan</a:t>
              </a:r>
            </a:p>
          </p:txBody>
        </p:sp>
        <p:sp>
          <p:nvSpPr>
            <p:cNvPr id="169" name="Circular Arrow 106">
              <a:extLst>
                <a:ext uri="{FF2B5EF4-FFF2-40B4-BE49-F238E27FC236}">
                  <a16:creationId xmlns:a16="http://schemas.microsoft.com/office/drawing/2014/main" id="{EABC73D0-4810-DF00-F1CA-A58E3D6013CC}"/>
                </a:ext>
              </a:extLst>
            </p:cNvPr>
            <p:cNvSpPr/>
            <p:nvPr/>
          </p:nvSpPr>
          <p:spPr>
            <a:xfrm>
              <a:off x="7971422" y="2391351"/>
              <a:ext cx="662034" cy="662034"/>
            </a:xfrm>
            <a:prstGeom prst="circularArrow">
              <a:avLst>
                <a:gd name="adj1" fmla="val 5202"/>
                <a:gd name="adj2" fmla="val 336032"/>
                <a:gd name="adj3" fmla="val 12297306"/>
                <a:gd name="adj4" fmla="val 10771210"/>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70" name="Freeform 108">
              <a:extLst>
                <a:ext uri="{FF2B5EF4-FFF2-40B4-BE49-F238E27FC236}">
                  <a16:creationId xmlns:a16="http://schemas.microsoft.com/office/drawing/2014/main" id="{1A544641-DB81-31A6-355C-6EA6AC006937}"/>
                </a:ext>
              </a:extLst>
            </p:cNvPr>
            <p:cNvSpPr/>
            <p:nvPr/>
          </p:nvSpPr>
          <p:spPr>
            <a:xfrm>
              <a:off x="7960163" y="2396450"/>
              <a:ext cx="339275" cy="176603"/>
            </a:xfrm>
            <a:custGeom>
              <a:avLst/>
              <a:gdLst>
                <a:gd name="connsiteX0" fmla="*/ 0 w 339275"/>
                <a:gd name="connsiteY0" fmla="*/ 0 h 176603"/>
                <a:gd name="connsiteX1" fmla="*/ 339275 w 339275"/>
                <a:gd name="connsiteY1" fmla="*/ 0 h 176603"/>
                <a:gd name="connsiteX2" fmla="*/ 339275 w 339275"/>
                <a:gd name="connsiteY2" fmla="*/ 176603 h 176603"/>
                <a:gd name="connsiteX3" fmla="*/ 0 w 339275"/>
                <a:gd name="connsiteY3" fmla="*/ 176603 h 176603"/>
                <a:gd name="connsiteX4" fmla="*/ 0 w 339275"/>
                <a:gd name="connsiteY4" fmla="*/ 0 h 1766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275" h="176603">
                  <a:moveTo>
                    <a:pt x="0" y="0"/>
                  </a:moveTo>
                  <a:lnTo>
                    <a:pt x="339275" y="0"/>
                  </a:lnTo>
                  <a:lnTo>
                    <a:pt x="339275" y="176603"/>
                  </a:lnTo>
                  <a:lnTo>
                    <a:pt x="0" y="17660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IN" sz="600" kern="1200"/>
                <a:t>Design</a:t>
              </a:r>
            </a:p>
          </p:txBody>
        </p:sp>
        <p:sp>
          <p:nvSpPr>
            <p:cNvPr id="171" name="Circular Arrow 110">
              <a:extLst>
                <a:ext uri="{FF2B5EF4-FFF2-40B4-BE49-F238E27FC236}">
                  <a16:creationId xmlns:a16="http://schemas.microsoft.com/office/drawing/2014/main" id="{BA4E8FED-4769-BCD3-A042-8353418DA8FC}"/>
                </a:ext>
              </a:extLst>
            </p:cNvPr>
            <p:cNvSpPr/>
            <p:nvPr/>
          </p:nvSpPr>
          <p:spPr>
            <a:xfrm>
              <a:off x="7971422" y="2391351"/>
              <a:ext cx="662034" cy="662034"/>
            </a:xfrm>
            <a:prstGeom prst="circularArrow">
              <a:avLst>
                <a:gd name="adj1" fmla="val 5202"/>
                <a:gd name="adj2" fmla="val 336032"/>
                <a:gd name="adj3" fmla="val 16204213"/>
                <a:gd name="adj4" fmla="val 16164882"/>
                <a:gd name="adj5" fmla="val 6069"/>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72" name="TextBox 171">
              <a:extLst>
                <a:ext uri="{FF2B5EF4-FFF2-40B4-BE49-F238E27FC236}">
                  <a16:creationId xmlns:a16="http://schemas.microsoft.com/office/drawing/2014/main" id="{FD35B099-9B16-DC08-F6F0-F3DE8D5114E7}"/>
                </a:ext>
              </a:extLst>
            </p:cNvPr>
            <p:cNvSpPr txBox="1"/>
            <p:nvPr/>
          </p:nvSpPr>
          <p:spPr>
            <a:xfrm>
              <a:off x="8021182" y="2551713"/>
              <a:ext cx="561372" cy="400110"/>
            </a:xfrm>
            <a:prstGeom prst="rect">
              <a:avLst/>
            </a:prstGeom>
            <a:noFill/>
          </p:spPr>
          <p:txBody>
            <a:bodyPr wrap="none" rtlCol="0">
              <a:spAutoFit/>
            </a:bodyPr>
            <a:lstStyle/>
            <a:p>
              <a:pPr algn="ctr"/>
              <a:r>
                <a:rPr lang="en-IN" sz="1000" b="1"/>
                <a:t>Sprint</a:t>
              </a:r>
            </a:p>
            <a:p>
              <a:pPr algn="ctr"/>
              <a:r>
                <a:rPr lang="en-IN" sz="1000" b="1"/>
                <a:t>N +1</a:t>
              </a:r>
            </a:p>
          </p:txBody>
        </p:sp>
        <p:sp>
          <p:nvSpPr>
            <p:cNvPr id="173" name="Arrow: Right 299">
              <a:extLst>
                <a:ext uri="{FF2B5EF4-FFF2-40B4-BE49-F238E27FC236}">
                  <a16:creationId xmlns:a16="http://schemas.microsoft.com/office/drawing/2014/main" id="{5FE7EA17-5C77-24B5-64EE-A0A447ED618F}"/>
                </a:ext>
              </a:extLst>
            </p:cNvPr>
            <p:cNvSpPr/>
            <p:nvPr/>
          </p:nvSpPr>
          <p:spPr>
            <a:xfrm>
              <a:off x="7608207" y="2988961"/>
              <a:ext cx="345344" cy="41650"/>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p>
          </p:txBody>
        </p:sp>
        <p:cxnSp>
          <p:nvCxnSpPr>
            <p:cNvPr id="174" name="Straight Connector 173">
              <a:extLst>
                <a:ext uri="{FF2B5EF4-FFF2-40B4-BE49-F238E27FC236}">
                  <a16:creationId xmlns:a16="http://schemas.microsoft.com/office/drawing/2014/main" id="{1D073586-6810-3582-C202-5AB779B72BFE}"/>
                </a:ext>
              </a:extLst>
            </p:cNvPr>
            <p:cNvCxnSpPr>
              <a:stCxn id="125" idx="3"/>
              <a:endCxn id="157" idx="0"/>
            </p:cNvCxnSpPr>
            <p:nvPr/>
          </p:nvCxnSpPr>
          <p:spPr>
            <a:xfrm flipV="1">
              <a:off x="6491332" y="2726637"/>
              <a:ext cx="500413" cy="0"/>
            </a:xfrm>
            <a:prstGeom prst="line">
              <a:avLst/>
            </a:prstGeom>
            <a:ln w="28575">
              <a:solidFill>
                <a:srgbClr val="7030A0"/>
              </a:solidFill>
              <a:prstDash val="sysDash"/>
            </a:ln>
          </p:spPr>
          <p:style>
            <a:lnRef idx="1">
              <a:schemeClr val="accent1"/>
            </a:lnRef>
            <a:fillRef idx="0">
              <a:schemeClr val="accent1"/>
            </a:fillRef>
            <a:effectRef idx="0">
              <a:schemeClr val="accent1"/>
            </a:effectRef>
            <a:fontRef idx="minor">
              <a:schemeClr val="tx1"/>
            </a:fontRef>
          </p:style>
        </p:cxnSp>
        <p:sp>
          <p:nvSpPr>
            <p:cNvPr id="175" name="Rectangle 174">
              <a:extLst>
                <a:ext uri="{FF2B5EF4-FFF2-40B4-BE49-F238E27FC236}">
                  <a16:creationId xmlns:a16="http://schemas.microsoft.com/office/drawing/2014/main" id="{783DD701-DFA0-2990-D2D1-DFA398A4714F}"/>
                </a:ext>
              </a:extLst>
            </p:cNvPr>
            <p:cNvSpPr/>
            <p:nvPr/>
          </p:nvSpPr>
          <p:spPr>
            <a:xfrm>
              <a:off x="4745047" y="3298727"/>
              <a:ext cx="1883978" cy="153888"/>
            </a:xfrm>
            <a:prstGeom prst="rect">
              <a:avLst/>
            </a:prstGeom>
          </p:spPr>
          <p:txBody>
            <a:bodyPr wrap="square" lIns="0" tIns="0" rIns="0" bIns="0">
              <a:spAutoFit/>
            </a:bodyPr>
            <a:lstStyle/>
            <a:p>
              <a:pPr algn="ctr"/>
              <a:r>
                <a:rPr lang="en-IN" sz="1000" b="1">
                  <a:solidFill>
                    <a:schemeClr val="bg1"/>
                  </a:solidFill>
                </a:rPr>
                <a:t>Program Increment</a:t>
              </a:r>
            </a:p>
          </p:txBody>
        </p:sp>
        <p:sp>
          <p:nvSpPr>
            <p:cNvPr id="176" name="Rectangle 175">
              <a:extLst>
                <a:ext uri="{FF2B5EF4-FFF2-40B4-BE49-F238E27FC236}">
                  <a16:creationId xmlns:a16="http://schemas.microsoft.com/office/drawing/2014/main" id="{44237C4A-82F9-3DAA-7B55-BD92DEC1B956}"/>
                </a:ext>
              </a:extLst>
            </p:cNvPr>
            <p:cNvSpPr/>
            <p:nvPr/>
          </p:nvSpPr>
          <p:spPr>
            <a:xfrm>
              <a:off x="6978122" y="3299088"/>
              <a:ext cx="1883978" cy="153888"/>
            </a:xfrm>
            <a:prstGeom prst="rect">
              <a:avLst/>
            </a:prstGeom>
          </p:spPr>
          <p:txBody>
            <a:bodyPr wrap="square" lIns="0" tIns="0" rIns="0" bIns="0">
              <a:spAutoFit/>
            </a:bodyPr>
            <a:lstStyle/>
            <a:p>
              <a:pPr algn="ctr"/>
              <a:r>
                <a:rPr lang="en-IN" sz="1000" b="1">
                  <a:solidFill>
                    <a:schemeClr val="bg1"/>
                  </a:solidFill>
                </a:rPr>
                <a:t>Program Increment</a:t>
              </a:r>
            </a:p>
          </p:txBody>
        </p:sp>
      </p:grpSp>
      <p:cxnSp>
        <p:nvCxnSpPr>
          <p:cNvPr id="10" name="Straight Arrow Connector 9">
            <a:extLst>
              <a:ext uri="{FF2B5EF4-FFF2-40B4-BE49-F238E27FC236}">
                <a16:creationId xmlns:a16="http://schemas.microsoft.com/office/drawing/2014/main" id="{29A13D09-ED80-4E83-1257-9579FB7F5463}"/>
              </a:ext>
            </a:extLst>
          </p:cNvPr>
          <p:cNvCxnSpPr/>
          <p:nvPr/>
        </p:nvCxnSpPr>
        <p:spPr>
          <a:xfrm>
            <a:off x="1055440" y="1484784"/>
            <a:ext cx="8916009" cy="0"/>
          </a:xfrm>
          <a:prstGeom prst="straightConnector1">
            <a:avLst/>
          </a:prstGeom>
          <a:ln>
            <a:solidFill>
              <a:schemeClr val="bg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5E7F764-4E35-E0E6-0B7D-30B6CD217FC6}"/>
              </a:ext>
            </a:extLst>
          </p:cNvPr>
          <p:cNvSpPr/>
          <p:nvPr/>
        </p:nvSpPr>
        <p:spPr>
          <a:xfrm>
            <a:off x="-1" y="0"/>
            <a:ext cx="2160000" cy="3084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96000" rtlCol="0" anchor="ctr"/>
          <a:lstStyle/>
          <a:p>
            <a:r>
              <a:rPr lang="en-US" sz="1100"/>
              <a:t>Methodology</a:t>
            </a:r>
          </a:p>
        </p:txBody>
      </p:sp>
      <p:pic>
        <p:nvPicPr>
          <p:cNvPr id="17" name="Picture 16">
            <a:extLst>
              <a:ext uri="{FF2B5EF4-FFF2-40B4-BE49-F238E27FC236}">
                <a16:creationId xmlns:a16="http://schemas.microsoft.com/office/drawing/2014/main" id="{91E07E4F-3384-6EE5-BD37-0E057FBC6D6D}"/>
              </a:ext>
            </a:extLst>
          </p:cNvPr>
          <p:cNvPicPr>
            <a:picLocks noChangeAspect="1"/>
          </p:cNvPicPr>
          <p:nvPr/>
        </p:nvPicPr>
        <p:blipFill>
          <a:blip r:embed="rId42"/>
          <a:stretch>
            <a:fillRect/>
          </a:stretch>
        </p:blipFill>
        <p:spPr>
          <a:xfrm>
            <a:off x="278407" y="6514329"/>
            <a:ext cx="5651500" cy="266270"/>
          </a:xfrm>
          <a:prstGeom prst="rect">
            <a:avLst/>
          </a:prstGeom>
        </p:spPr>
      </p:pic>
      <p:pic>
        <p:nvPicPr>
          <p:cNvPr id="18" name="Picture 17">
            <a:extLst>
              <a:ext uri="{FF2B5EF4-FFF2-40B4-BE49-F238E27FC236}">
                <a16:creationId xmlns:a16="http://schemas.microsoft.com/office/drawing/2014/main" id="{01644EFF-8D04-E662-E3DE-BC2E72783CD5}"/>
              </a:ext>
            </a:extLst>
          </p:cNvPr>
          <p:cNvPicPr>
            <a:picLocks noChangeAspect="1"/>
          </p:cNvPicPr>
          <p:nvPr/>
        </p:nvPicPr>
        <p:blipFill>
          <a:blip r:embed="rId42"/>
          <a:stretch>
            <a:fillRect/>
          </a:stretch>
        </p:blipFill>
        <p:spPr>
          <a:xfrm>
            <a:off x="6084572" y="6550221"/>
            <a:ext cx="5651500" cy="266270"/>
          </a:xfrm>
          <a:prstGeom prst="rect">
            <a:avLst/>
          </a:prstGeom>
        </p:spPr>
      </p:pic>
      <p:sp>
        <p:nvSpPr>
          <p:cNvPr id="16" name="TextBox 15">
            <a:extLst>
              <a:ext uri="{FF2B5EF4-FFF2-40B4-BE49-F238E27FC236}">
                <a16:creationId xmlns:a16="http://schemas.microsoft.com/office/drawing/2014/main" id="{73706D41-C51C-2887-5278-C80944A70BA3}"/>
              </a:ext>
            </a:extLst>
          </p:cNvPr>
          <p:cNvSpPr txBox="1"/>
          <p:nvPr/>
        </p:nvSpPr>
        <p:spPr>
          <a:xfrm>
            <a:off x="404412" y="6489591"/>
            <a:ext cx="11379600" cy="338554"/>
          </a:xfrm>
          <a:prstGeom prst="rect">
            <a:avLst/>
          </a:prstGeom>
          <a:noFill/>
        </p:spPr>
        <p:txBody>
          <a:bodyPr wrap="square">
            <a:spAutoFit/>
          </a:bodyPr>
          <a:lstStyle/>
          <a:p>
            <a:r>
              <a:rPr lang="en-IN" sz="800">
                <a:solidFill>
                  <a:schemeClr val="bg1"/>
                </a:solidFill>
              </a:rPr>
              <a:t>*At the end of every Sprint the project team will conduct a “Sprint Walkthrough” (demonstration) wherein they will demonstrate what has been achieved &amp; built during that sprint. At the end of a “Product Increment”, during the EBV phase, select Business Users (champions) are provided </a:t>
            </a:r>
            <a:r>
              <a:rPr lang="en-IN" sz="800" spc="-10">
                <a:solidFill>
                  <a:schemeClr val="bg1"/>
                </a:solidFill>
              </a:rPr>
              <a:t>‘hands-on’ time in a controlled setting to provide validate the build &amp; provide feedback. This early &amp; continuous Business validation makes for smoother end-to-end &amp; user acceptance testing phases. </a:t>
            </a:r>
          </a:p>
        </p:txBody>
      </p:sp>
    </p:spTree>
    <p:extLst>
      <p:ext uri="{BB962C8B-B14F-4D97-AF65-F5344CB8AC3E}">
        <p14:creationId xmlns:p14="http://schemas.microsoft.com/office/powerpoint/2010/main" val="3838810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FCBC7F-C041-4D72-D82E-C0DD0CB453A2}"/>
              </a:ext>
            </a:extLst>
          </p:cNvPr>
          <p:cNvSpPr>
            <a:spLocks noGrp="1"/>
          </p:cNvSpPr>
          <p:nvPr>
            <p:ph type="title"/>
          </p:nvPr>
        </p:nvSpPr>
        <p:spPr/>
        <p:txBody>
          <a:bodyPr/>
          <a:lstStyle/>
          <a:p>
            <a:r>
              <a:rPr lang="en-US"/>
              <a:t>inception phase </a:t>
            </a:r>
            <a:br>
              <a:rPr lang="en-US"/>
            </a:br>
            <a:r>
              <a:rPr lang="en-US" sz="1800">
                <a:solidFill>
                  <a:schemeClr val="accent2"/>
                </a:solidFill>
              </a:rPr>
              <a:t>Key Activities and Deliverables</a:t>
            </a:r>
            <a:endParaRPr lang="en-US">
              <a:solidFill>
                <a:schemeClr val="accent2"/>
              </a:solidFill>
            </a:endParaRPr>
          </a:p>
        </p:txBody>
      </p:sp>
      <p:grpSp>
        <p:nvGrpSpPr>
          <p:cNvPr id="9" name="Group 8">
            <a:extLst>
              <a:ext uri="{FF2B5EF4-FFF2-40B4-BE49-F238E27FC236}">
                <a16:creationId xmlns:a16="http://schemas.microsoft.com/office/drawing/2014/main" id="{511B9696-D834-9D68-6248-9B5FE7DD3FE0}"/>
              </a:ext>
            </a:extLst>
          </p:cNvPr>
          <p:cNvGrpSpPr/>
          <p:nvPr/>
        </p:nvGrpSpPr>
        <p:grpSpPr>
          <a:xfrm>
            <a:off x="5626081" y="0"/>
            <a:ext cx="5793343" cy="321267"/>
            <a:chOff x="5626081" y="39111"/>
            <a:chExt cx="5793343" cy="282156"/>
          </a:xfrm>
        </p:grpSpPr>
        <p:sp>
          <p:nvSpPr>
            <p:cNvPr id="5" name="Arrow: Pentagon 60">
              <a:extLst>
                <a:ext uri="{FF2B5EF4-FFF2-40B4-BE49-F238E27FC236}">
                  <a16:creationId xmlns:a16="http://schemas.microsoft.com/office/drawing/2014/main" id="{1FE18A43-5812-A568-0F87-B550938FAB80}"/>
                </a:ext>
              </a:extLst>
            </p:cNvPr>
            <p:cNvSpPr/>
            <p:nvPr/>
          </p:nvSpPr>
          <p:spPr>
            <a:xfrm>
              <a:off x="5626081" y="39111"/>
              <a:ext cx="1231867" cy="282156"/>
            </a:xfrm>
            <a:prstGeom prst="homePlate">
              <a:avLst>
                <a:gd name="adj" fmla="val 11543"/>
              </a:avLst>
            </a:prstGeom>
            <a:solidFill>
              <a:schemeClr val="accent2"/>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white"/>
                  </a:solidFill>
                  <a:effectLst/>
                  <a:uLnTx/>
                  <a:uFillTx/>
                  <a:latin typeface="Ubuntu" panose="020B0504030602030204" pitchFamily="34" charset="0"/>
                  <a:ea typeface="+mn-ea"/>
                  <a:cs typeface="+mn-cs"/>
                </a:rPr>
                <a:t>Inception</a:t>
              </a:r>
            </a:p>
          </p:txBody>
        </p:sp>
        <p:sp>
          <p:nvSpPr>
            <p:cNvPr id="6" name="Arrow: Chevron 61">
              <a:extLst>
                <a:ext uri="{FF2B5EF4-FFF2-40B4-BE49-F238E27FC236}">
                  <a16:creationId xmlns:a16="http://schemas.microsoft.com/office/drawing/2014/main" id="{16FFBE97-4F9F-A84E-3686-28A9CE578545}"/>
                </a:ext>
              </a:extLst>
            </p:cNvPr>
            <p:cNvSpPr/>
            <p:nvPr/>
          </p:nvSpPr>
          <p:spPr>
            <a:xfrm>
              <a:off x="6877570" y="39111"/>
              <a:ext cx="2070182" cy="282156"/>
            </a:xfrm>
            <a:prstGeom prst="chevron">
              <a:avLst>
                <a:gd name="adj" fmla="val 11543"/>
              </a:avLst>
            </a:prstGeom>
            <a:solidFill>
              <a:schemeClr val="bg1">
                <a:lumMod val="85000"/>
              </a:schemeClr>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lumMod val="50000"/>
                      <a:lumOff val="50000"/>
                    </a:prstClr>
                  </a:solidFill>
                  <a:effectLst/>
                  <a:uLnTx/>
                  <a:uFillTx/>
                  <a:latin typeface="Ubuntu" panose="020B0504030602030204" pitchFamily="34" charset="0"/>
                  <a:ea typeface="+mn-ea"/>
                  <a:cs typeface="+mn-cs"/>
                </a:rPr>
                <a:t>Development</a:t>
              </a:r>
            </a:p>
          </p:txBody>
        </p:sp>
        <p:sp>
          <p:nvSpPr>
            <p:cNvPr id="7" name="Arrow: Chevron 63">
              <a:extLst>
                <a:ext uri="{FF2B5EF4-FFF2-40B4-BE49-F238E27FC236}">
                  <a16:creationId xmlns:a16="http://schemas.microsoft.com/office/drawing/2014/main" id="{607F09B9-0A25-23B9-EFA1-891411401F42}"/>
                </a:ext>
              </a:extLst>
            </p:cNvPr>
            <p:cNvSpPr/>
            <p:nvPr/>
          </p:nvSpPr>
          <p:spPr>
            <a:xfrm>
              <a:off x="10411272" y="39111"/>
              <a:ext cx="1008152" cy="282156"/>
            </a:xfrm>
            <a:prstGeom prst="chevron">
              <a:avLst>
                <a:gd name="adj" fmla="val 11543"/>
              </a:avLst>
            </a:prstGeom>
            <a:solidFill>
              <a:schemeClr val="bg1">
                <a:lumMod val="85000"/>
              </a:schemeClr>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lumMod val="50000"/>
                      <a:lumOff val="50000"/>
                    </a:prstClr>
                  </a:solidFill>
                  <a:effectLst/>
                  <a:uLnTx/>
                  <a:uFillTx/>
                  <a:latin typeface="Ubuntu" panose="020B0504030602030204" pitchFamily="34" charset="0"/>
                  <a:ea typeface="+mn-ea"/>
                  <a:cs typeface="+mn-cs"/>
                </a:rPr>
                <a:t>Deployment</a:t>
              </a:r>
            </a:p>
          </p:txBody>
        </p:sp>
        <p:sp>
          <p:nvSpPr>
            <p:cNvPr id="8" name="Arrow: Chevron 64">
              <a:extLst>
                <a:ext uri="{FF2B5EF4-FFF2-40B4-BE49-F238E27FC236}">
                  <a16:creationId xmlns:a16="http://schemas.microsoft.com/office/drawing/2014/main" id="{42B8428C-899C-C643-11C1-E7419CD975A7}"/>
                </a:ext>
              </a:extLst>
            </p:cNvPr>
            <p:cNvSpPr/>
            <p:nvPr/>
          </p:nvSpPr>
          <p:spPr>
            <a:xfrm>
              <a:off x="8967374" y="39111"/>
              <a:ext cx="1424277" cy="282156"/>
            </a:xfrm>
            <a:prstGeom prst="chevron">
              <a:avLst>
                <a:gd name="adj" fmla="val 11543"/>
              </a:avLst>
            </a:prstGeom>
            <a:solidFill>
              <a:schemeClr val="bg1">
                <a:lumMod val="85000"/>
              </a:schemeClr>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black">
                      <a:lumMod val="50000"/>
                      <a:lumOff val="50000"/>
                    </a:prstClr>
                  </a:solidFill>
                  <a:effectLst/>
                  <a:uLnTx/>
                  <a:uFillTx/>
                  <a:latin typeface="Ubuntu" panose="020B0504030602030204" pitchFamily="34" charset="0"/>
                  <a:ea typeface="+mn-ea"/>
                  <a:cs typeface="+mn-cs"/>
                </a:rPr>
                <a:t>Stabilization</a:t>
              </a:r>
            </a:p>
          </p:txBody>
        </p:sp>
      </p:grpSp>
      <p:sp>
        <p:nvSpPr>
          <p:cNvPr id="10" name="AutoShape 4">
            <a:extLst>
              <a:ext uri="{FF2B5EF4-FFF2-40B4-BE49-F238E27FC236}">
                <a16:creationId xmlns:a16="http://schemas.microsoft.com/office/drawing/2014/main" id="{52B81F29-42C5-5839-C4B8-67E99486C522}"/>
              </a:ext>
            </a:extLst>
          </p:cNvPr>
          <p:cNvSpPr>
            <a:spLocks noChangeArrowheads="1"/>
          </p:cNvSpPr>
          <p:nvPr/>
        </p:nvSpPr>
        <p:spPr bwMode="auto">
          <a:xfrm>
            <a:off x="404811" y="1327151"/>
            <a:ext cx="2205044" cy="389730"/>
          </a:xfrm>
          <a:prstGeom prst="roundRect">
            <a:avLst/>
          </a:prstGeom>
          <a:solidFill>
            <a:schemeClr val="accent1"/>
          </a:solidFill>
          <a:ln w="12700" algn="ctr">
            <a:noFill/>
            <a:miter lim="800000"/>
            <a:headEnd/>
            <a:tailEnd/>
          </a:ln>
          <a:effectLst/>
        </p:spPr>
        <p:txBody>
          <a:bodyPr lIns="36000" tIns="49846" rIns="36000" bIns="49846" anchor="ctr"/>
          <a:lstStyle/>
          <a:p>
            <a:pPr marL="0" marR="0" lvl="0" indent="0" algn="ctr" defTabSz="703402" rtl="0" eaLnBrk="0" fontAlgn="auto" latinLnBrk="0" hangingPunct="0">
              <a:lnSpc>
                <a:spcPct val="100000"/>
              </a:lnSpc>
              <a:spcBef>
                <a:spcPts val="0"/>
              </a:spcBef>
              <a:spcAft>
                <a:spcPts val="6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Ubuntu"/>
                <a:ea typeface="+mn-ea"/>
                <a:cs typeface="+mn-cs"/>
              </a:rPr>
              <a:t>Start-up &amp;</a:t>
            </a:r>
            <a:br>
              <a:rPr kumimoji="0" lang="en-GB" sz="1200" b="1" i="0" u="none" strike="noStrike" kern="1200" cap="none" spc="0" normalizeH="0" baseline="0" noProof="0">
                <a:ln>
                  <a:noFill/>
                </a:ln>
                <a:solidFill>
                  <a:srgbClr val="FFFFFF"/>
                </a:solidFill>
                <a:effectLst/>
                <a:uLnTx/>
                <a:uFillTx/>
                <a:latin typeface="Ubuntu"/>
                <a:ea typeface="+mn-ea"/>
                <a:cs typeface="+mn-cs"/>
              </a:rPr>
            </a:br>
            <a:r>
              <a:rPr kumimoji="0" lang="en-GB" sz="1200" b="1" i="0" u="none" strike="noStrike" kern="1200" cap="none" spc="0" normalizeH="0" baseline="0" noProof="0">
                <a:ln>
                  <a:noFill/>
                </a:ln>
                <a:solidFill>
                  <a:srgbClr val="FFFFFF"/>
                </a:solidFill>
                <a:effectLst/>
                <a:uLnTx/>
                <a:uFillTx/>
                <a:latin typeface="Ubuntu"/>
                <a:ea typeface="+mn-ea"/>
                <a:cs typeface="+mn-cs"/>
              </a:rPr>
              <a:t>Visioning</a:t>
            </a:r>
          </a:p>
        </p:txBody>
      </p:sp>
      <p:sp>
        <p:nvSpPr>
          <p:cNvPr id="11" name="AutoShape 6">
            <a:extLst>
              <a:ext uri="{FF2B5EF4-FFF2-40B4-BE49-F238E27FC236}">
                <a16:creationId xmlns:a16="http://schemas.microsoft.com/office/drawing/2014/main" id="{D1238252-359C-4EAC-45C2-6A8CA775ABEF}"/>
              </a:ext>
            </a:extLst>
          </p:cNvPr>
          <p:cNvSpPr>
            <a:spLocks noChangeArrowheads="1"/>
          </p:cNvSpPr>
          <p:nvPr/>
        </p:nvSpPr>
        <p:spPr bwMode="auto">
          <a:xfrm>
            <a:off x="4991890" y="1327151"/>
            <a:ext cx="2205044" cy="389730"/>
          </a:xfrm>
          <a:prstGeom prst="roundRect">
            <a:avLst/>
          </a:prstGeom>
          <a:solidFill>
            <a:schemeClr val="accent1"/>
          </a:solidFill>
          <a:ln w="12700" algn="ctr">
            <a:noFill/>
            <a:miter lim="800000"/>
            <a:headEnd/>
            <a:tailEnd/>
          </a:ln>
          <a:effectLst/>
        </p:spPr>
        <p:txBody>
          <a:bodyPr lIns="36000" tIns="49846" rIns="36000" bIns="49846" anchor="ctr"/>
          <a:lstStyle/>
          <a:p>
            <a:pPr marL="0" marR="0" lvl="0" indent="0" algn="ctr" defTabSz="703402" rtl="0" eaLnBrk="0" fontAlgn="auto" latinLnBrk="0" hangingPunct="0">
              <a:lnSpc>
                <a:spcPct val="100000"/>
              </a:lnSpc>
              <a:spcBef>
                <a:spcPts val="0"/>
              </a:spcBef>
              <a:spcAft>
                <a:spcPts val="6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Ubuntu"/>
                <a:ea typeface="+mn-ea"/>
                <a:cs typeface="+mn-cs"/>
              </a:rPr>
              <a:t>Technical Architecture </a:t>
            </a:r>
            <a:br>
              <a:rPr kumimoji="0" lang="en-GB" sz="1200" b="1" i="0" u="none" strike="noStrike" kern="1200" cap="none" spc="0" normalizeH="0" baseline="0" noProof="0">
                <a:ln>
                  <a:noFill/>
                </a:ln>
                <a:solidFill>
                  <a:srgbClr val="FFFFFF"/>
                </a:solidFill>
                <a:effectLst/>
                <a:uLnTx/>
                <a:uFillTx/>
                <a:latin typeface="Ubuntu"/>
                <a:ea typeface="+mn-ea"/>
                <a:cs typeface="+mn-cs"/>
              </a:rPr>
            </a:br>
            <a:r>
              <a:rPr kumimoji="0" lang="en-GB" sz="1200" b="1" i="0" u="none" strike="noStrike" kern="1200" cap="none" spc="0" normalizeH="0" baseline="0" noProof="0">
                <a:ln>
                  <a:noFill/>
                </a:ln>
                <a:solidFill>
                  <a:srgbClr val="FFFFFF"/>
                </a:solidFill>
                <a:effectLst/>
                <a:uLnTx/>
                <a:uFillTx/>
                <a:latin typeface="Ubuntu"/>
                <a:ea typeface="+mn-ea"/>
                <a:cs typeface="+mn-cs"/>
              </a:rPr>
              <a:t>and Analysis</a:t>
            </a:r>
          </a:p>
        </p:txBody>
      </p:sp>
      <p:sp>
        <p:nvSpPr>
          <p:cNvPr id="12" name="AutoShape 6">
            <a:extLst>
              <a:ext uri="{FF2B5EF4-FFF2-40B4-BE49-F238E27FC236}">
                <a16:creationId xmlns:a16="http://schemas.microsoft.com/office/drawing/2014/main" id="{3A22AACE-03B0-EC75-591E-0E2104B8A872}"/>
              </a:ext>
            </a:extLst>
          </p:cNvPr>
          <p:cNvSpPr>
            <a:spLocks noChangeArrowheads="1"/>
          </p:cNvSpPr>
          <p:nvPr/>
        </p:nvSpPr>
        <p:spPr bwMode="auto">
          <a:xfrm>
            <a:off x="2698350" y="1327151"/>
            <a:ext cx="2205044" cy="389730"/>
          </a:xfrm>
          <a:prstGeom prst="roundRect">
            <a:avLst/>
          </a:prstGeom>
          <a:solidFill>
            <a:schemeClr val="accent1"/>
          </a:solidFill>
          <a:ln w="12700" algn="ctr">
            <a:noFill/>
            <a:miter lim="800000"/>
            <a:headEnd/>
            <a:tailEnd/>
          </a:ln>
          <a:effectLst/>
        </p:spPr>
        <p:txBody>
          <a:bodyPr lIns="36000" tIns="49846" rIns="36000" bIns="49846" anchor="ctr"/>
          <a:lstStyle/>
          <a:p>
            <a:pPr marL="0" marR="0" lvl="0" indent="0" algn="ctr" defTabSz="703402" rtl="0" eaLnBrk="0" fontAlgn="auto" latinLnBrk="0" hangingPunct="0">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Ubuntu"/>
                <a:ea typeface="+mn-ea"/>
                <a:cs typeface="+mn-cs"/>
              </a:rPr>
              <a:t>Capability &amp; Scope Analysis (Business Architecture)</a:t>
            </a:r>
            <a:endParaRPr kumimoji="0" lang="en-GB" sz="1200" b="1" i="0" u="none" strike="noStrike" kern="1200" cap="none" spc="0" normalizeH="0" baseline="0" noProof="0">
              <a:ln>
                <a:noFill/>
              </a:ln>
              <a:solidFill>
                <a:srgbClr val="FFFFFF"/>
              </a:solidFill>
              <a:effectLst/>
              <a:uLnTx/>
              <a:uFillTx/>
              <a:latin typeface="Ubuntu"/>
              <a:ea typeface="+mn-ea"/>
              <a:cs typeface="+mn-cs"/>
            </a:endParaRPr>
          </a:p>
        </p:txBody>
      </p:sp>
      <p:sp>
        <p:nvSpPr>
          <p:cNvPr id="14" name="AutoShape 4">
            <a:extLst>
              <a:ext uri="{FF2B5EF4-FFF2-40B4-BE49-F238E27FC236}">
                <a16:creationId xmlns:a16="http://schemas.microsoft.com/office/drawing/2014/main" id="{80055329-70AB-6F1F-5B53-FDAFA70EBB94}"/>
              </a:ext>
            </a:extLst>
          </p:cNvPr>
          <p:cNvSpPr>
            <a:spLocks noChangeArrowheads="1"/>
          </p:cNvSpPr>
          <p:nvPr/>
        </p:nvSpPr>
        <p:spPr bwMode="auto">
          <a:xfrm>
            <a:off x="7285429" y="1327151"/>
            <a:ext cx="2205044" cy="389730"/>
          </a:xfrm>
          <a:prstGeom prst="roundRect">
            <a:avLst/>
          </a:prstGeom>
          <a:solidFill>
            <a:schemeClr val="accent1"/>
          </a:solidFill>
          <a:ln w="12700" algn="ctr">
            <a:noFill/>
            <a:miter lim="800000"/>
            <a:headEnd/>
            <a:tailEnd/>
          </a:ln>
          <a:effectLst/>
        </p:spPr>
        <p:txBody>
          <a:bodyPr lIns="36000" tIns="49846" rIns="36000" bIns="49846" anchor="ctr"/>
          <a:lstStyle/>
          <a:p>
            <a:pPr marL="0" marR="0" lvl="0" indent="0" algn="ctr" defTabSz="703402" rtl="0" eaLnBrk="0" fontAlgn="auto" latinLnBrk="0" hangingPunct="0">
              <a:lnSpc>
                <a:spcPct val="100000"/>
              </a:lnSpc>
              <a:spcBef>
                <a:spcPts val="0"/>
              </a:spcBef>
              <a:spcAft>
                <a:spcPts val="6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Ubuntu"/>
                <a:ea typeface="+mn-ea"/>
                <a:cs typeface="+mn-cs"/>
              </a:rPr>
              <a:t>Implementation </a:t>
            </a:r>
            <a:br>
              <a:rPr kumimoji="0" lang="en-GB" sz="1200" b="1" i="0" u="none" strike="noStrike" kern="1200" cap="none" spc="0" normalizeH="0" baseline="0" noProof="0">
                <a:ln>
                  <a:noFill/>
                </a:ln>
                <a:solidFill>
                  <a:srgbClr val="FFFFFF"/>
                </a:solidFill>
                <a:effectLst/>
                <a:uLnTx/>
                <a:uFillTx/>
                <a:latin typeface="Ubuntu"/>
                <a:ea typeface="+mn-ea"/>
                <a:cs typeface="+mn-cs"/>
              </a:rPr>
            </a:br>
            <a:r>
              <a:rPr kumimoji="0" lang="en-GB" sz="1200" b="1" i="0" u="none" strike="noStrike" kern="1200" cap="none" spc="0" normalizeH="0" baseline="0" noProof="0">
                <a:ln>
                  <a:noFill/>
                </a:ln>
                <a:solidFill>
                  <a:srgbClr val="FFFFFF"/>
                </a:solidFill>
                <a:effectLst/>
                <a:uLnTx/>
                <a:uFillTx/>
                <a:latin typeface="Ubuntu"/>
                <a:ea typeface="+mn-ea"/>
                <a:cs typeface="+mn-cs"/>
              </a:rPr>
              <a:t>Planning</a:t>
            </a:r>
          </a:p>
        </p:txBody>
      </p:sp>
      <p:sp>
        <p:nvSpPr>
          <p:cNvPr id="15" name="AutoShape 6">
            <a:extLst>
              <a:ext uri="{FF2B5EF4-FFF2-40B4-BE49-F238E27FC236}">
                <a16:creationId xmlns:a16="http://schemas.microsoft.com/office/drawing/2014/main" id="{CC114799-AAB7-F97C-8429-F19C30770CFF}"/>
              </a:ext>
            </a:extLst>
          </p:cNvPr>
          <p:cNvSpPr>
            <a:spLocks noChangeArrowheads="1"/>
          </p:cNvSpPr>
          <p:nvPr/>
        </p:nvSpPr>
        <p:spPr bwMode="auto">
          <a:xfrm>
            <a:off x="9578968" y="1327151"/>
            <a:ext cx="2205044" cy="389730"/>
          </a:xfrm>
          <a:prstGeom prst="roundRect">
            <a:avLst/>
          </a:prstGeom>
          <a:solidFill>
            <a:schemeClr val="accent1"/>
          </a:solidFill>
          <a:ln w="12700" algn="ctr">
            <a:noFill/>
            <a:miter lim="800000"/>
            <a:headEnd/>
            <a:tailEnd/>
          </a:ln>
          <a:effectLst/>
        </p:spPr>
        <p:txBody>
          <a:bodyPr lIns="36000" tIns="49846" rIns="36000" bIns="49846" anchor="ctr"/>
          <a:lstStyle/>
          <a:p>
            <a:pPr marL="0" marR="0" lvl="0" indent="0" algn="ctr" defTabSz="703402" rtl="0" eaLnBrk="0" fontAlgn="auto" latinLnBrk="0" hangingPunct="0">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Ubuntu"/>
                <a:ea typeface="+mn-ea"/>
                <a:cs typeface="+mn-cs"/>
              </a:rPr>
              <a:t>Test </a:t>
            </a:r>
            <a:br>
              <a:rPr kumimoji="0" lang="en-US" sz="1200" b="1" i="0" u="none" strike="noStrike" kern="1200" cap="none" spc="0" normalizeH="0" baseline="0" noProof="0">
                <a:ln>
                  <a:noFill/>
                </a:ln>
                <a:solidFill>
                  <a:srgbClr val="FFFFFF"/>
                </a:solidFill>
                <a:effectLst/>
                <a:uLnTx/>
                <a:uFillTx/>
                <a:latin typeface="Ubuntu"/>
                <a:ea typeface="+mn-ea"/>
                <a:cs typeface="+mn-cs"/>
              </a:rPr>
            </a:br>
            <a:r>
              <a:rPr kumimoji="0" lang="en-US" sz="1200" b="1" i="0" u="none" strike="noStrike" kern="1200" cap="none" spc="0" normalizeH="0" baseline="0" noProof="0">
                <a:ln>
                  <a:noFill/>
                </a:ln>
                <a:solidFill>
                  <a:srgbClr val="FFFFFF"/>
                </a:solidFill>
                <a:effectLst/>
                <a:uLnTx/>
                <a:uFillTx/>
                <a:latin typeface="Ubuntu"/>
                <a:ea typeface="+mn-ea"/>
                <a:cs typeface="+mn-cs"/>
              </a:rPr>
              <a:t>Strategy</a:t>
            </a:r>
            <a:endParaRPr kumimoji="0" lang="en-GB" sz="1200" b="1" i="0" u="none" strike="noStrike" kern="1200" cap="none" spc="0" normalizeH="0" baseline="0" noProof="0">
              <a:ln>
                <a:noFill/>
              </a:ln>
              <a:solidFill>
                <a:srgbClr val="FFFFFF"/>
              </a:solidFill>
              <a:effectLst/>
              <a:uLnTx/>
              <a:uFillTx/>
              <a:latin typeface="Ubuntu"/>
              <a:ea typeface="+mn-ea"/>
              <a:cs typeface="+mn-cs"/>
            </a:endParaRPr>
          </a:p>
        </p:txBody>
      </p:sp>
      <p:sp>
        <p:nvSpPr>
          <p:cNvPr id="17" name="Text Box 14">
            <a:extLst>
              <a:ext uri="{FF2B5EF4-FFF2-40B4-BE49-F238E27FC236}">
                <a16:creationId xmlns:a16="http://schemas.microsoft.com/office/drawing/2014/main" id="{E364B1D1-31B1-AB5A-235E-A3E8E709454D}"/>
              </a:ext>
            </a:extLst>
          </p:cNvPr>
          <p:cNvSpPr txBox="1">
            <a:spLocks noChangeArrowheads="1"/>
          </p:cNvSpPr>
          <p:nvPr/>
        </p:nvSpPr>
        <p:spPr bwMode="auto">
          <a:xfrm>
            <a:off x="2698351" y="1779073"/>
            <a:ext cx="2206800" cy="2749471"/>
          </a:xfrm>
          <a:prstGeom prst="rect">
            <a:avLst/>
          </a:prstGeom>
          <a:no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Understand high level Target </a:t>
            </a:r>
            <a:br>
              <a:rPr kumimoji="0" lang="en-US" sz="900" b="0" i="0" u="none" strike="noStrike" kern="1200" cap="none" spc="0" normalizeH="0" baseline="0" noProof="0">
                <a:ln>
                  <a:noFill/>
                </a:ln>
                <a:solidFill>
                  <a:srgbClr val="FFFFFF"/>
                </a:solidFill>
                <a:effectLst/>
                <a:uLnTx/>
                <a:uFillTx/>
                <a:latin typeface="Ubuntu"/>
                <a:ea typeface="+mn-ea"/>
                <a:cs typeface="+mn-cs"/>
              </a:rPr>
            </a:br>
            <a:r>
              <a:rPr kumimoji="0" lang="en-US" sz="900" b="0" i="0" u="none" strike="noStrike" kern="1200" cap="none" spc="0" normalizeH="0" baseline="0" noProof="0">
                <a:ln>
                  <a:noFill/>
                </a:ln>
                <a:solidFill>
                  <a:srgbClr val="FFFFFF"/>
                </a:solidFill>
                <a:effectLst/>
                <a:uLnTx/>
                <a:uFillTx/>
                <a:latin typeface="Ubuntu"/>
                <a:ea typeface="+mn-ea"/>
                <a:cs typeface="+mn-cs"/>
              </a:rPr>
              <a:t>Operating Model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Understand COUNTRY current state policy “as-is” Business Processes, supporting data, and </a:t>
            </a:r>
            <a:br>
              <a:rPr kumimoji="0" lang="en-US" sz="900" b="0" i="0" u="none" strike="noStrike" kern="1200" cap="none" spc="0" normalizeH="0" baseline="0" noProof="0">
                <a:ln>
                  <a:noFill/>
                </a:ln>
                <a:solidFill>
                  <a:srgbClr val="FFFFFF"/>
                </a:solidFill>
                <a:effectLst/>
                <a:uLnTx/>
                <a:uFillTx/>
                <a:latin typeface="Ubuntu"/>
                <a:ea typeface="+mn-ea"/>
                <a:cs typeface="+mn-cs"/>
              </a:rPr>
            </a:br>
            <a:r>
              <a:rPr kumimoji="0" lang="en-US" sz="900" b="0" i="0" u="none" strike="noStrike" kern="1200" cap="none" spc="0" normalizeH="0" baseline="0" noProof="0">
                <a:ln>
                  <a:noFill/>
                </a:ln>
                <a:solidFill>
                  <a:srgbClr val="FFFFFF"/>
                </a:solidFill>
                <a:effectLst/>
                <a:uLnTx/>
                <a:uFillTx/>
                <a:latin typeface="Ubuntu"/>
                <a:ea typeface="+mn-ea"/>
                <a:cs typeface="+mn-cs"/>
              </a:rPr>
              <a:t>supporting technology</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Identify key business process re-engineering areas based on COUNTRY business priority, business function and capability, and leading practices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Define Future State “to-be” business processes, supporting data, and supporting technology</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Define functional and non-functional requirements COUNTRY Policy Core Implementation Project</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Define high-level operational reporting and analysis requirements </a:t>
            </a:r>
          </a:p>
        </p:txBody>
      </p:sp>
      <p:sp>
        <p:nvSpPr>
          <p:cNvPr id="18" name="Text Box 21">
            <a:extLst>
              <a:ext uri="{FF2B5EF4-FFF2-40B4-BE49-F238E27FC236}">
                <a16:creationId xmlns:a16="http://schemas.microsoft.com/office/drawing/2014/main" id="{311304A1-105F-D9ED-3C6E-88C4F9A0A867}"/>
              </a:ext>
            </a:extLst>
          </p:cNvPr>
          <p:cNvSpPr txBox="1">
            <a:spLocks noChangeArrowheads="1"/>
          </p:cNvSpPr>
          <p:nvPr/>
        </p:nvSpPr>
        <p:spPr bwMode="auto">
          <a:xfrm>
            <a:off x="404811" y="1779073"/>
            <a:ext cx="2206800" cy="2056973"/>
          </a:xfrm>
          <a:prstGeom prst="rect">
            <a:avLst/>
          </a:prstGeom>
          <a:no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Project Kick-off and On-boarding </a:t>
            </a:r>
            <a:br>
              <a:rPr kumimoji="0" lang="en-US" sz="900" b="0" i="0" u="none" strike="noStrike" kern="1200" cap="none" spc="0" normalizeH="0" baseline="0" noProof="0">
                <a:ln>
                  <a:noFill/>
                </a:ln>
                <a:solidFill>
                  <a:srgbClr val="FFFFFF"/>
                </a:solidFill>
                <a:effectLst/>
                <a:uLnTx/>
                <a:uFillTx/>
                <a:latin typeface="Ubuntu"/>
                <a:ea typeface="+mn-ea"/>
                <a:cs typeface="+mn-cs"/>
              </a:rPr>
            </a:br>
            <a:r>
              <a:rPr kumimoji="0" lang="en-US" sz="900" b="0" i="0" u="none" strike="noStrike" kern="1200" cap="none" spc="0" normalizeH="0" baseline="0" noProof="0">
                <a:ln>
                  <a:noFill/>
                </a:ln>
                <a:solidFill>
                  <a:srgbClr val="FFFFFF"/>
                </a:solidFill>
                <a:effectLst/>
                <a:uLnTx/>
                <a:uFillTx/>
                <a:latin typeface="Ubuntu"/>
                <a:ea typeface="+mn-ea"/>
                <a:cs typeface="+mn-cs"/>
              </a:rPr>
              <a:t>of Resources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Develop COUNTRY Policy Core Implementation Project Charter and Governance Plan</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Update Roles and Responsibilities</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Assist with updated Stakeholder Analysis\Setup of Project </a:t>
            </a:r>
            <a:br>
              <a:rPr kumimoji="0" lang="en-US" sz="900" b="0" i="0" u="none" strike="noStrike" kern="1200" cap="none" spc="0" normalizeH="0" baseline="0" noProof="0">
                <a:ln>
                  <a:noFill/>
                </a:ln>
                <a:solidFill>
                  <a:srgbClr val="FFFFFF"/>
                </a:solidFill>
                <a:effectLst/>
                <a:uLnTx/>
                <a:uFillTx/>
                <a:latin typeface="Ubuntu"/>
                <a:ea typeface="+mn-ea"/>
                <a:cs typeface="+mn-cs"/>
              </a:rPr>
            </a:br>
            <a:r>
              <a:rPr kumimoji="0" lang="en-US" sz="900" b="0" i="0" u="none" strike="noStrike" kern="1200" cap="none" spc="0" normalizeH="0" baseline="0" noProof="0">
                <a:ln>
                  <a:noFill/>
                </a:ln>
                <a:solidFill>
                  <a:srgbClr val="FFFFFF"/>
                </a:solidFill>
                <a:effectLst/>
                <a:uLnTx/>
                <a:uFillTx/>
                <a:latin typeface="Ubuntu"/>
                <a:ea typeface="+mn-ea"/>
                <a:cs typeface="+mn-cs"/>
              </a:rPr>
              <a:t>Management Tools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Develop initial Project Plan – Project Increments, Sprints</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Prepare for and conduct Executive Stakeholder visioning session</a:t>
            </a:r>
          </a:p>
        </p:txBody>
      </p:sp>
      <p:sp>
        <p:nvSpPr>
          <p:cNvPr id="19" name="Text Box 14">
            <a:extLst>
              <a:ext uri="{FF2B5EF4-FFF2-40B4-BE49-F238E27FC236}">
                <a16:creationId xmlns:a16="http://schemas.microsoft.com/office/drawing/2014/main" id="{161D02D1-6709-0FA2-F2FF-00267375AC43}"/>
              </a:ext>
            </a:extLst>
          </p:cNvPr>
          <p:cNvSpPr txBox="1">
            <a:spLocks noChangeArrowheads="1"/>
          </p:cNvSpPr>
          <p:nvPr/>
        </p:nvSpPr>
        <p:spPr bwMode="auto">
          <a:xfrm>
            <a:off x="4991890" y="1779073"/>
            <a:ext cx="2206800" cy="3593291"/>
          </a:xfrm>
          <a:prstGeom prst="rect">
            <a:avLst/>
          </a:prstGeom>
          <a:noFill/>
          <a:ln w="9525" algn="ctr">
            <a:noFill/>
            <a:miter lim="800000"/>
            <a:headEnd/>
            <a:tailEnd/>
          </a:ln>
          <a:effectLst/>
        </p:spPr>
        <p:txBody>
          <a:bodyPr lIns="0" tIns="0" rIns="0" bIns="0" numCol="1">
            <a:spAutoFit/>
          </a:bodyPr>
          <a:lstStyle/>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Provide architectural support based on best-of-breed Enterprise Policy Architecture practices.</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Define a Policy Technical Architecture </a:t>
            </a:r>
            <a:r>
              <a:rPr kumimoji="0" lang="en-US" sz="900" b="0" i="0" u="none" strike="noStrike" kern="1200" cap="none" spc="-20" normalizeH="0" baseline="0" noProof="0">
                <a:ln>
                  <a:noFill/>
                </a:ln>
                <a:solidFill>
                  <a:srgbClr val="FFFFFF"/>
                </a:solidFill>
                <a:effectLst/>
                <a:uLnTx/>
                <a:uFillTx/>
                <a:latin typeface="Ubuntu"/>
                <a:ea typeface="+mn-ea"/>
                <a:cs typeface="+mn-cs"/>
              </a:rPr>
              <a:t>Framework to cover the GW Policy Platform &amp; its related integration points</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Facilitate technology alignment with the strategic intent of the business, ensures IT resources are used responsibly &amp; technology architecture related risks are actively managed</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Identify and document future state transactions inventory &amp; trigger points.</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Define, validate and refine Policy Data Conversion approach to cover – open </a:t>
            </a:r>
            <a:r>
              <a:rPr kumimoji="0" lang="en-US" sz="900" b="0" i="0" u="none" strike="noStrike" kern="1200" cap="none" spc="-20" normalizeH="0" baseline="0" noProof="0">
                <a:ln>
                  <a:noFill/>
                </a:ln>
                <a:solidFill>
                  <a:srgbClr val="FFFFFF"/>
                </a:solidFill>
                <a:effectLst/>
                <a:uLnTx/>
                <a:uFillTx/>
                <a:latin typeface="Ubuntu"/>
                <a:ea typeface="+mn-ea"/>
                <a:cs typeface="+mn-cs"/>
              </a:rPr>
              <a:t>Policy, closed Policy-in-retention &amp; closed Policy for migration to target system.</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Conduct high-level source data profiling to validate the overall approach based on target data model.</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Define, validate and refine the legacy system decommissioning approach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Produce a Developer on-boarding kit </a:t>
            </a:r>
            <a:r>
              <a:rPr kumimoji="0" lang="en-US" sz="900" b="0" i="0" u="none" strike="noStrike" kern="1200" cap="none" spc="-40" normalizeH="0" baseline="0" noProof="0">
                <a:ln>
                  <a:noFill/>
                </a:ln>
                <a:solidFill>
                  <a:srgbClr val="FFFFFF"/>
                </a:solidFill>
                <a:effectLst/>
                <a:uLnTx/>
                <a:uFillTx/>
                <a:latin typeface="Ubuntu"/>
                <a:ea typeface="+mn-ea"/>
                <a:cs typeface="+mn-cs"/>
              </a:rPr>
              <a:t>including tool access, standards information </a:t>
            </a:r>
          </a:p>
        </p:txBody>
      </p:sp>
      <p:sp>
        <p:nvSpPr>
          <p:cNvPr id="20" name="Text Box 21">
            <a:extLst>
              <a:ext uri="{FF2B5EF4-FFF2-40B4-BE49-F238E27FC236}">
                <a16:creationId xmlns:a16="http://schemas.microsoft.com/office/drawing/2014/main" id="{51F9B072-82C1-318E-1E82-74FA09A6CDAD}"/>
              </a:ext>
            </a:extLst>
          </p:cNvPr>
          <p:cNvSpPr txBox="1">
            <a:spLocks noChangeArrowheads="1"/>
          </p:cNvSpPr>
          <p:nvPr/>
        </p:nvSpPr>
        <p:spPr bwMode="auto">
          <a:xfrm>
            <a:off x="7285429" y="1779073"/>
            <a:ext cx="2206800" cy="2056973"/>
          </a:xfrm>
          <a:prstGeom prst="rect">
            <a:avLst/>
          </a:prstGeom>
          <a:no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Define estimates for the Implementation effort for the COUNTRY Policy Core Implementation Project initiatives. Detailed estimates for the Policy Core and related integration components for the COUNTRY Policy Core Implementation Project Implementation Phase.</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Detail the timeline and activities to implement the Policy Core platform and its related integration components</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Define the dependencies between the various COUNTRY Policy Core Implementation Project initiatives </a:t>
            </a:r>
          </a:p>
        </p:txBody>
      </p:sp>
      <p:sp>
        <p:nvSpPr>
          <p:cNvPr id="21" name="Text Box 21">
            <a:extLst>
              <a:ext uri="{FF2B5EF4-FFF2-40B4-BE49-F238E27FC236}">
                <a16:creationId xmlns:a16="http://schemas.microsoft.com/office/drawing/2014/main" id="{6782AD63-682A-B67A-1EEC-E90C656893E6}"/>
              </a:ext>
            </a:extLst>
          </p:cNvPr>
          <p:cNvSpPr txBox="1">
            <a:spLocks noChangeArrowheads="1"/>
          </p:cNvSpPr>
          <p:nvPr/>
        </p:nvSpPr>
        <p:spPr bwMode="auto">
          <a:xfrm>
            <a:off x="9578968" y="1779073"/>
            <a:ext cx="2206800" cy="1867178"/>
          </a:xfrm>
          <a:prstGeom prst="rect">
            <a:avLst/>
          </a:prstGeom>
          <a:no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Set objectives of quality management activities and document the test objectives in a measurable format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Identify the different phases of testing required and define approach and Entry and Exit criteria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Define Test Environment requirements</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Define Test Data requirements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Define test process, communication procedures, reporting process and governance procedures for the entire project life cycle. </a:t>
            </a:r>
          </a:p>
        </p:txBody>
      </p:sp>
      <p:sp>
        <p:nvSpPr>
          <p:cNvPr id="22" name="Text Box 14">
            <a:extLst>
              <a:ext uri="{FF2B5EF4-FFF2-40B4-BE49-F238E27FC236}">
                <a16:creationId xmlns:a16="http://schemas.microsoft.com/office/drawing/2014/main" id="{8C031018-D7E1-7F5C-F21C-A6D0BFD46EA2}"/>
              </a:ext>
            </a:extLst>
          </p:cNvPr>
          <p:cNvSpPr txBox="1">
            <a:spLocks noChangeArrowheads="1"/>
          </p:cNvSpPr>
          <p:nvPr/>
        </p:nvSpPr>
        <p:spPr bwMode="auto">
          <a:xfrm>
            <a:off x="2698351" y="5517582"/>
            <a:ext cx="2206800" cy="946413"/>
          </a:xfrm>
          <a:prstGeom prst="rect">
            <a:avLst/>
          </a:prstGeom>
          <a:no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Policy Requirements Backlog</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Workshop Outputs: business requirements, process flows, decisions, trade-offs/gaps and action items</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Future State Business Process</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Gap Analysis</a:t>
            </a:r>
          </a:p>
        </p:txBody>
      </p:sp>
      <p:sp>
        <p:nvSpPr>
          <p:cNvPr id="23" name="Text Box 21">
            <a:extLst>
              <a:ext uri="{FF2B5EF4-FFF2-40B4-BE49-F238E27FC236}">
                <a16:creationId xmlns:a16="http://schemas.microsoft.com/office/drawing/2014/main" id="{38303B2F-6B69-C41A-1E0A-0250454EAB01}"/>
              </a:ext>
            </a:extLst>
          </p:cNvPr>
          <p:cNvSpPr txBox="1">
            <a:spLocks noChangeArrowheads="1"/>
          </p:cNvSpPr>
          <p:nvPr/>
        </p:nvSpPr>
        <p:spPr bwMode="auto">
          <a:xfrm>
            <a:off x="404811" y="5517582"/>
            <a:ext cx="2206800" cy="492443"/>
          </a:xfrm>
          <a:prstGeom prst="rect">
            <a:avLst/>
          </a:prstGeom>
          <a:no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Project Implementation Charter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Inception/Mobilization Project Plan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Updated Key Stakeholder Document</a:t>
            </a:r>
          </a:p>
        </p:txBody>
      </p:sp>
      <p:sp>
        <p:nvSpPr>
          <p:cNvPr id="24" name="Text Box 14">
            <a:extLst>
              <a:ext uri="{FF2B5EF4-FFF2-40B4-BE49-F238E27FC236}">
                <a16:creationId xmlns:a16="http://schemas.microsoft.com/office/drawing/2014/main" id="{F7E6583B-CE58-24AE-0ED8-A7AB95DFD586}"/>
              </a:ext>
            </a:extLst>
          </p:cNvPr>
          <p:cNvSpPr txBox="1">
            <a:spLocks noChangeArrowheads="1"/>
          </p:cNvSpPr>
          <p:nvPr/>
        </p:nvSpPr>
        <p:spPr bwMode="auto">
          <a:xfrm>
            <a:off x="4991890" y="5517582"/>
            <a:ext cx="2206800" cy="946413"/>
          </a:xfrm>
          <a:prstGeom prst="rect">
            <a:avLst/>
          </a:prstGeom>
          <a:noFill/>
          <a:ln w="9525" algn="ctr">
            <a:noFill/>
            <a:miter lim="800000"/>
            <a:headEnd/>
            <a:tailEnd/>
          </a:ln>
          <a:effectLst/>
        </p:spPr>
        <p:txBody>
          <a:bodyPr lIns="0" tIns="0" rIns="0" bIns="0" numCol="1">
            <a:spAutoFit/>
          </a:bodyPr>
          <a:lstStyle/>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Infra Plan</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Integration HLAPs with focus on long-pole integrations (DX, Rating/Pricing, Billing/Financials, Doc Gen etc.)</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Data Conversion Approach/Plan</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mn-cs"/>
              </a:rPr>
              <a:t>Transaction Inventory</a:t>
            </a:r>
          </a:p>
        </p:txBody>
      </p:sp>
      <p:sp>
        <p:nvSpPr>
          <p:cNvPr id="25" name="Text Box 21">
            <a:extLst>
              <a:ext uri="{FF2B5EF4-FFF2-40B4-BE49-F238E27FC236}">
                <a16:creationId xmlns:a16="http://schemas.microsoft.com/office/drawing/2014/main" id="{4D18E0AB-7822-700F-4E26-FA8B6DF9BF54}"/>
              </a:ext>
            </a:extLst>
          </p:cNvPr>
          <p:cNvSpPr txBox="1">
            <a:spLocks noChangeArrowheads="1"/>
          </p:cNvSpPr>
          <p:nvPr/>
        </p:nvSpPr>
        <p:spPr bwMode="auto">
          <a:xfrm>
            <a:off x="7285429" y="5517582"/>
            <a:ext cx="2206800" cy="769441"/>
          </a:xfrm>
          <a:prstGeom prst="rect">
            <a:avLst/>
          </a:prstGeom>
          <a:no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Implementation Approach including detailed Elaboration project plan for PAS Implementation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Implementation Estimates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Updated Project Governance Plan </a:t>
            </a:r>
          </a:p>
        </p:txBody>
      </p:sp>
      <p:sp>
        <p:nvSpPr>
          <p:cNvPr id="26" name="Text Box 21">
            <a:extLst>
              <a:ext uri="{FF2B5EF4-FFF2-40B4-BE49-F238E27FC236}">
                <a16:creationId xmlns:a16="http://schemas.microsoft.com/office/drawing/2014/main" id="{BA569008-8320-44E0-11A6-3DBE66A75EDA}"/>
              </a:ext>
            </a:extLst>
          </p:cNvPr>
          <p:cNvSpPr txBox="1">
            <a:spLocks noChangeArrowheads="1"/>
          </p:cNvSpPr>
          <p:nvPr/>
        </p:nvSpPr>
        <p:spPr bwMode="auto">
          <a:xfrm>
            <a:off x="9578968" y="5517582"/>
            <a:ext cx="2206800" cy="453970"/>
          </a:xfrm>
          <a:prstGeom prst="rect">
            <a:avLst/>
          </a:prstGeom>
          <a:no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Test Strategy Document </a:t>
            </a:r>
          </a:p>
          <a:p>
            <a:pPr marL="126000" marR="0" lvl="0" indent="-126000" algn="l" defTabSz="914400" rtl="0" eaLnBrk="1" fontAlgn="auto" latinLnBrk="0" hangingPunct="1">
              <a:lnSpc>
                <a:spcPct val="100000"/>
              </a:lnSpc>
              <a:spcBef>
                <a:spcPts val="0"/>
              </a:spcBef>
              <a:spcAft>
                <a:spcPts val="300"/>
              </a:spcAft>
              <a:buClr>
                <a:srgbClr val="FFFFFF"/>
              </a:buClr>
              <a:buSzTx/>
              <a:buFont typeface="Wingdings" panose="05000000000000000000" pitchFamily="2" charset="2"/>
              <a:buChar char="§"/>
              <a:tabLst/>
              <a:defRPr/>
            </a:pPr>
            <a:r>
              <a:rPr kumimoji="0" lang="en-IN" sz="900" b="0" i="0" u="none" strike="noStrike" kern="1200" cap="none" spc="0" normalizeH="0" baseline="0" noProof="0">
                <a:ln>
                  <a:noFill/>
                </a:ln>
                <a:solidFill>
                  <a:srgbClr val="FFFFFF"/>
                </a:solidFill>
                <a:effectLst/>
                <a:uLnTx/>
                <a:uFillTx/>
                <a:latin typeface="Ubuntu"/>
                <a:ea typeface="+mn-ea"/>
                <a:cs typeface="+mn-cs"/>
              </a:rPr>
              <a:t>Test Environment and </a:t>
            </a:r>
            <a:br>
              <a:rPr kumimoji="0" lang="en-IN" sz="900" b="0" i="0" u="none" strike="noStrike" kern="1200" cap="none" spc="0" normalizeH="0" baseline="0" noProof="0">
                <a:ln>
                  <a:noFill/>
                </a:ln>
                <a:solidFill>
                  <a:srgbClr val="FFFFFF"/>
                </a:solidFill>
                <a:effectLst/>
                <a:uLnTx/>
                <a:uFillTx/>
                <a:latin typeface="Ubuntu"/>
                <a:ea typeface="+mn-ea"/>
                <a:cs typeface="+mn-cs"/>
              </a:rPr>
            </a:br>
            <a:r>
              <a:rPr kumimoji="0" lang="en-IN" sz="900" b="0" i="0" u="none" strike="noStrike" kern="1200" cap="none" spc="0" normalizeH="0" baseline="0" noProof="0">
                <a:ln>
                  <a:noFill/>
                </a:ln>
                <a:solidFill>
                  <a:srgbClr val="FFFFFF"/>
                </a:solidFill>
                <a:effectLst/>
                <a:uLnTx/>
                <a:uFillTx/>
                <a:latin typeface="Ubuntu"/>
                <a:ea typeface="+mn-ea"/>
                <a:cs typeface="+mn-cs"/>
              </a:rPr>
              <a:t>Data Requirements</a:t>
            </a:r>
          </a:p>
        </p:txBody>
      </p:sp>
      <p:cxnSp>
        <p:nvCxnSpPr>
          <p:cNvPr id="28" name="Straight Connector 27">
            <a:extLst>
              <a:ext uri="{FF2B5EF4-FFF2-40B4-BE49-F238E27FC236}">
                <a16:creationId xmlns:a16="http://schemas.microsoft.com/office/drawing/2014/main" id="{2898D70D-3FD5-C8C1-48BD-6D574D92AEC7}"/>
              </a:ext>
            </a:extLst>
          </p:cNvPr>
          <p:cNvCxnSpPr>
            <a:cxnSpLocks/>
          </p:cNvCxnSpPr>
          <p:nvPr/>
        </p:nvCxnSpPr>
        <p:spPr>
          <a:xfrm>
            <a:off x="404811" y="5426270"/>
            <a:ext cx="11379201"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02471354-F9DF-0964-CF44-A5A37877C637}"/>
              </a:ext>
            </a:extLst>
          </p:cNvPr>
          <p:cNvSpPr/>
          <p:nvPr/>
        </p:nvSpPr>
        <p:spPr>
          <a:xfrm>
            <a:off x="-1" y="0"/>
            <a:ext cx="2160000" cy="30843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39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Methodology</a:t>
            </a:r>
          </a:p>
        </p:txBody>
      </p:sp>
    </p:spTree>
    <p:extLst>
      <p:ext uri="{BB962C8B-B14F-4D97-AF65-F5344CB8AC3E}">
        <p14:creationId xmlns:p14="http://schemas.microsoft.com/office/powerpoint/2010/main" val="333276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E041F-348A-D1B2-F104-DC96FC50F347}"/>
              </a:ext>
            </a:extLst>
          </p:cNvPr>
          <p:cNvSpPr>
            <a:spLocks noGrp="1"/>
          </p:cNvSpPr>
          <p:nvPr>
            <p:ph type="title"/>
          </p:nvPr>
        </p:nvSpPr>
        <p:spPr/>
        <p:txBody>
          <a:bodyPr/>
          <a:lstStyle/>
          <a:p>
            <a:r>
              <a:rPr lang="en-US"/>
              <a:t>Raci – roles &amp; responsibilities*</a:t>
            </a:r>
          </a:p>
        </p:txBody>
      </p:sp>
      <p:graphicFrame>
        <p:nvGraphicFramePr>
          <p:cNvPr id="4" name="Table 3">
            <a:extLst>
              <a:ext uri="{FF2B5EF4-FFF2-40B4-BE49-F238E27FC236}">
                <a16:creationId xmlns:a16="http://schemas.microsoft.com/office/drawing/2014/main" id="{4C68CF00-13D0-A031-607B-C0821B8E65BE}"/>
              </a:ext>
            </a:extLst>
          </p:cNvPr>
          <p:cNvGraphicFramePr>
            <a:graphicFrameLocks noGrp="1"/>
          </p:cNvGraphicFramePr>
          <p:nvPr/>
        </p:nvGraphicFramePr>
        <p:xfrm>
          <a:off x="404812" y="1328082"/>
          <a:ext cx="5597524" cy="4309320"/>
        </p:xfrm>
        <a:graphic>
          <a:graphicData uri="http://schemas.openxmlformats.org/drawingml/2006/table">
            <a:tbl>
              <a:tblPr firstRow="1">
                <a:tableStyleId>{5C22544A-7EE6-4342-B048-85BDC9FD1C3A}</a:tableStyleId>
              </a:tblPr>
              <a:tblGrid>
                <a:gridCol w="3433262">
                  <a:extLst>
                    <a:ext uri="{9D8B030D-6E8A-4147-A177-3AD203B41FA5}">
                      <a16:colId xmlns:a16="http://schemas.microsoft.com/office/drawing/2014/main" val="141685203"/>
                    </a:ext>
                  </a:extLst>
                </a:gridCol>
                <a:gridCol w="1082131">
                  <a:extLst>
                    <a:ext uri="{9D8B030D-6E8A-4147-A177-3AD203B41FA5}">
                      <a16:colId xmlns:a16="http://schemas.microsoft.com/office/drawing/2014/main" val="1227713231"/>
                    </a:ext>
                  </a:extLst>
                </a:gridCol>
                <a:gridCol w="1082131">
                  <a:extLst>
                    <a:ext uri="{9D8B030D-6E8A-4147-A177-3AD203B41FA5}">
                      <a16:colId xmlns:a16="http://schemas.microsoft.com/office/drawing/2014/main" val="994798548"/>
                    </a:ext>
                  </a:extLst>
                </a:gridCol>
              </a:tblGrid>
              <a:tr h="0">
                <a:tc>
                  <a:txBody>
                    <a:bodyPr/>
                    <a:lstStyle/>
                    <a:p>
                      <a:pPr algn="l" fontAlgn="ctr"/>
                      <a:r>
                        <a:rPr lang="en-US" sz="1300" b="1" u="none" strike="noStrike">
                          <a:effectLst/>
                        </a:rPr>
                        <a:t>Tasks/Responsibilities</a:t>
                      </a:r>
                      <a:endParaRPr lang="en-US" sz="1300" b="1"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ctr"/>
                      <a:r>
                        <a:rPr lang="en-US" sz="1300" b="1" u="none" strike="noStrike">
                          <a:effectLst/>
                        </a:rPr>
                        <a:t>Client</a:t>
                      </a:r>
                      <a:endParaRPr lang="en-US" sz="1300" b="1"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ctr"/>
                      <a:r>
                        <a:rPr lang="en-US" sz="1300" b="1" u="none" strike="noStrike">
                          <a:effectLst/>
                        </a:rPr>
                        <a:t>SI</a:t>
                      </a:r>
                      <a:endParaRPr lang="en-US" sz="1300" b="1"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293720327"/>
                  </a:ext>
                </a:extLst>
              </a:tr>
              <a:tr h="0">
                <a:tc>
                  <a:txBody>
                    <a:bodyPr/>
                    <a:lstStyle/>
                    <a:p>
                      <a:pPr algn="l" fontAlgn="ctr"/>
                      <a:r>
                        <a:rPr lang="en-US" sz="1000" b="1" u="none" strike="noStrike">
                          <a:solidFill>
                            <a:schemeClr val="tx1"/>
                          </a:solidFill>
                          <a:effectLst/>
                        </a:rPr>
                        <a:t>Program Governance and Management</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I, R</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18677320"/>
                  </a:ext>
                </a:extLst>
              </a:tr>
              <a:tr h="0">
                <a:tc>
                  <a:txBody>
                    <a:bodyPr/>
                    <a:lstStyle/>
                    <a:p>
                      <a:pPr algn="l" fontAlgn="ctr"/>
                      <a:r>
                        <a:rPr lang="en-US" sz="1000" b="1" u="none" strike="noStrike">
                          <a:solidFill>
                            <a:schemeClr val="tx1"/>
                          </a:solidFill>
                          <a:effectLst/>
                        </a:rPr>
                        <a:t>Project Management</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517434665"/>
                  </a:ext>
                </a:extLst>
              </a:tr>
              <a:tr h="0">
                <a:tc>
                  <a:txBody>
                    <a:bodyPr/>
                    <a:lstStyle/>
                    <a:p>
                      <a:pPr algn="l" fontAlgn="ctr"/>
                      <a:r>
                        <a:rPr lang="en-US" sz="1000" b="1" u="none" strike="noStrike">
                          <a:solidFill>
                            <a:schemeClr val="tx1"/>
                          </a:solidFill>
                          <a:effectLst/>
                        </a:rPr>
                        <a:t>Scrum Master</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724965150"/>
                  </a:ext>
                </a:extLst>
              </a:tr>
              <a:tr h="0">
                <a:tc>
                  <a:txBody>
                    <a:bodyPr/>
                    <a:lstStyle/>
                    <a:p>
                      <a:pPr algn="l" fontAlgn="ctr"/>
                      <a:r>
                        <a:rPr lang="en-US" sz="1000" b="1" u="none" strike="noStrike">
                          <a:solidFill>
                            <a:schemeClr val="tx1"/>
                          </a:solidFill>
                          <a:effectLst/>
                        </a:rPr>
                        <a:t>Solution Design</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734770354"/>
                  </a:ext>
                </a:extLst>
              </a:tr>
              <a:tr h="0">
                <a:tc>
                  <a:txBody>
                    <a:bodyPr/>
                    <a:lstStyle/>
                    <a:p>
                      <a:pPr algn="l" fontAlgn="ctr"/>
                      <a:r>
                        <a:rPr lang="en-US" sz="1000" b="1" u="none" strike="noStrike">
                          <a:solidFill>
                            <a:schemeClr val="tx1"/>
                          </a:solidFill>
                          <a:effectLst/>
                        </a:rPr>
                        <a:t>Database Administration (DBA)</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C</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941081020"/>
                  </a:ext>
                </a:extLst>
              </a:tr>
              <a:tr h="0">
                <a:tc>
                  <a:txBody>
                    <a:bodyPr/>
                    <a:lstStyle/>
                    <a:p>
                      <a:pPr algn="l" fontAlgn="ctr"/>
                      <a:r>
                        <a:rPr lang="en-US" sz="1000" b="1" u="none" strike="noStrike">
                          <a:solidFill>
                            <a:schemeClr val="tx1"/>
                          </a:solidFill>
                          <a:effectLst/>
                        </a:rPr>
                        <a:t>Data Analysis</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C</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147829879"/>
                  </a:ext>
                </a:extLst>
              </a:tr>
              <a:tr h="0">
                <a:tc>
                  <a:txBody>
                    <a:bodyPr/>
                    <a:lstStyle/>
                    <a:p>
                      <a:pPr algn="l" fontAlgn="ctr"/>
                      <a:r>
                        <a:rPr lang="en-US" sz="1000" b="1" u="none" strike="noStrike">
                          <a:solidFill>
                            <a:schemeClr val="tx1"/>
                          </a:solidFill>
                          <a:effectLst/>
                        </a:rPr>
                        <a:t>Legacy Development</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983368200"/>
                  </a:ext>
                </a:extLst>
              </a:tr>
              <a:tr h="0">
                <a:tc>
                  <a:txBody>
                    <a:bodyPr/>
                    <a:lstStyle/>
                    <a:p>
                      <a:pPr algn="l" fontAlgn="ctr"/>
                      <a:r>
                        <a:rPr lang="en-US" sz="1000" b="1" u="none" strike="noStrike">
                          <a:solidFill>
                            <a:schemeClr val="tx1"/>
                          </a:solidFill>
                          <a:effectLst/>
                        </a:rPr>
                        <a:t>Mule Development</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684911773"/>
                  </a:ext>
                </a:extLst>
              </a:tr>
              <a:tr h="0">
                <a:tc>
                  <a:txBody>
                    <a:bodyPr/>
                    <a:lstStyle/>
                    <a:p>
                      <a:pPr algn="l" fontAlgn="ctr"/>
                      <a:r>
                        <a:rPr lang="en-US" sz="1000" b="1" u="none" strike="noStrike">
                          <a:solidFill>
                            <a:schemeClr val="tx1"/>
                          </a:solidFill>
                          <a:effectLst/>
                        </a:rPr>
                        <a:t>Training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4016902700"/>
                  </a:ext>
                </a:extLst>
              </a:tr>
              <a:tr h="0">
                <a:tc>
                  <a:txBody>
                    <a:bodyPr/>
                    <a:lstStyle/>
                    <a:p>
                      <a:pPr algn="l" fontAlgn="ctr"/>
                      <a:r>
                        <a:rPr lang="en-US" sz="1000" b="1" u="none" strike="noStrike">
                          <a:solidFill>
                            <a:schemeClr val="tx1"/>
                          </a:solidFill>
                          <a:effectLst/>
                        </a:rPr>
                        <a:t>Manual Cleanup</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08757141"/>
                  </a:ext>
                </a:extLst>
              </a:tr>
              <a:tr h="0">
                <a:tc>
                  <a:txBody>
                    <a:bodyPr/>
                    <a:lstStyle/>
                    <a:p>
                      <a:pPr algn="l" fontAlgn="ctr"/>
                      <a:r>
                        <a:rPr lang="az-Cyrl-AZ" sz="1000" b="1" u="none" strike="noStrike">
                          <a:solidFill>
                            <a:schemeClr val="tx1"/>
                          </a:solidFill>
                          <a:effectLst/>
                        </a:rPr>
                        <a:t>ОСМ</a:t>
                      </a:r>
                      <a:endParaRPr lang="az-Cyrl-AZ"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871814222"/>
                  </a:ext>
                </a:extLst>
              </a:tr>
              <a:tr h="0">
                <a:tc>
                  <a:txBody>
                    <a:bodyPr/>
                    <a:lstStyle/>
                    <a:p>
                      <a:pPr algn="l" fontAlgn="ctr"/>
                      <a:r>
                        <a:rPr lang="en-US" sz="1000" b="1" u="none" strike="noStrike">
                          <a:solidFill>
                            <a:schemeClr val="tx1"/>
                          </a:solidFill>
                          <a:effectLst/>
                        </a:rPr>
                        <a:t>Business Analysis</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 R</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978114097"/>
                  </a:ext>
                </a:extLst>
              </a:tr>
              <a:tr h="0">
                <a:tc>
                  <a:txBody>
                    <a:bodyPr/>
                    <a:lstStyle/>
                    <a:p>
                      <a:pPr algn="l" fontAlgn="ctr"/>
                      <a:r>
                        <a:rPr lang="en-US" sz="1000" b="1" u="none" strike="noStrike">
                          <a:solidFill>
                            <a:schemeClr val="tx1"/>
                          </a:solidFill>
                          <a:effectLst/>
                        </a:rPr>
                        <a:t>Informatica/ETL Development</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275321221"/>
                  </a:ext>
                </a:extLst>
              </a:tr>
              <a:tr h="0">
                <a:tc>
                  <a:txBody>
                    <a:bodyPr/>
                    <a:lstStyle/>
                    <a:p>
                      <a:pPr algn="l" fontAlgn="ctr"/>
                      <a:r>
                        <a:rPr lang="en-US" sz="1000" b="1" u="none" strike="noStrike">
                          <a:solidFill>
                            <a:schemeClr val="tx1"/>
                          </a:solidFill>
                          <a:effectLst/>
                        </a:rPr>
                        <a:t>Digital Development</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994032670"/>
                  </a:ext>
                </a:extLst>
              </a:tr>
              <a:tr h="0">
                <a:tc>
                  <a:txBody>
                    <a:bodyPr/>
                    <a:lstStyle/>
                    <a:p>
                      <a:pPr algn="l" fontAlgn="ctr"/>
                      <a:r>
                        <a:rPr lang="en-US" sz="1000" b="1" u="none" strike="noStrike">
                          <a:solidFill>
                            <a:schemeClr val="tx1"/>
                          </a:solidFill>
                          <a:effectLst/>
                        </a:rPr>
                        <a:t>Functional Testing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677554945"/>
                  </a:ext>
                </a:extLst>
              </a:tr>
              <a:tr h="0">
                <a:tc>
                  <a:txBody>
                    <a:bodyPr/>
                    <a:lstStyle/>
                    <a:p>
                      <a:pPr algn="l" fontAlgn="ctr"/>
                      <a:r>
                        <a:rPr lang="en-US" sz="1000" b="1" u="none" strike="noStrike">
                          <a:solidFill>
                            <a:schemeClr val="tx1"/>
                          </a:solidFill>
                          <a:effectLst/>
                        </a:rPr>
                        <a:t>Downstream Testing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R,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565908172"/>
                  </a:ext>
                </a:extLst>
              </a:tr>
              <a:tr h="0">
                <a:tc>
                  <a:txBody>
                    <a:bodyPr/>
                    <a:lstStyle/>
                    <a:p>
                      <a:pPr algn="l" fontAlgn="ctr"/>
                      <a:r>
                        <a:rPr lang="en-US" sz="1000" b="1" u="none" strike="noStrike">
                          <a:solidFill>
                            <a:schemeClr val="tx1"/>
                          </a:solidFill>
                          <a:effectLst/>
                        </a:rPr>
                        <a:t>System and Integration Testing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801158284"/>
                  </a:ext>
                </a:extLst>
              </a:tr>
              <a:tr h="0">
                <a:tc>
                  <a:txBody>
                    <a:bodyPr/>
                    <a:lstStyle/>
                    <a:p>
                      <a:pPr algn="l" fontAlgn="ctr"/>
                      <a:r>
                        <a:rPr lang="en-US" sz="1000" b="1" u="none" strike="noStrike">
                          <a:solidFill>
                            <a:schemeClr val="tx1"/>
                          </a:solidFill>
                          <a:effectLst/>
                        </a:rPr>
                        <a:t>Business Rate Testing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723736971"/>
                  </a:ext>
                </a:extLst>
              </a:tr>
            </a:tbl>
          </a:graphicData>
        </a:graphic>
      </p:graphicFrame>
      <p:graphicFrame>
        <p:nvGraphicFramePr>
          <p:cNvPr id="5" name="Table 4">
            <a:extLst>
              <a:ext uri="{FF2B5EF4-FFF2-40B4-BE49-F238E27FC236}">
                <a16:creationId xmlns:a16="http://schemas.microsoft.com/office/drawing/2014/main" id="{D89B8079-B37E-5F01-5996-00034871DB0C}"/>
              </a:ext>
            </a:extLst>
          </p:cNvPr>
          <p:cNvGraphicFramePr>
            <a:graphicFrameLocks noGrp="1"/>
          </p:cNvGraphicFramePr>
          <p:nvPr/>
        </p:nvGraphicFramePr>
        <p:xfrm>
          <a:off x="6189662" y="1331379"/>
          <a:ext cx="5597526" cy="4319181"/>
        </p:xfrm>
        <a:graphic>
          <a:graphicData uri="http://schemas.openxmlformats.org/drawingml/2006/table">
            <a:tbl>
              <a:tblPr firstRow="1">
                <a:tableStyleId>{5C22544A-7EE6-4342-B048-85BDC9FD1C3A}</a:tableStyleId>
              </a:tblPr>
              <a:tblGrid>
                <a:gridCol w="3079466">
                  <a:extLst>
                    <a:ext uri="{9D8B030D-6E8A-4147-A177-3AD203B41FA5}">
                      <a16:colId xmlns:a16="http://schemas.microsoft.com/office/drawing/2014/main" val="1396995804"/>
                    </a:ext>
                  </a:extLst>
                </a:gridCol>
                <a:gridCol w="1259030">
                  <a:extLst>
                    <a:ext uri="{9D8B030D-6E8A-4147-A177-3AD203B41FA5}">
                      <a16:colId xmlns:a16="http://schemas.microsoft.com/office/drawing/2014/main" val="3632744763"/>
                    </a:ext>
                  </a:extLst>
                </a:gridCol>
                <a:gridCol w="1259030">
                  <a:extLst>
                    <a:ext uri="{9D8B030D-6E8A-4147-A177-3AD203B41FA5}">
                      <a16:colId xmlns:a16="http://schemas.microsoft.com/office/drawing/2014/main" val="3848003607"/>
                    </a:ext>
                  </a:extLst>
                </a:gridCol>
              </a:tblGrid>
              <a:tr h="221382">
                <a:tc>
                  <a:txBody>
                    <a:bodyPr/>
                    <a:lstStyle/>
                    <a:p>
                      <a:pPr algn="l" fontAlgn="ctr"/>
                      <a:r>
                        <a:rPr lang="en-US" sz="1300" b="1" u="none" strike="noStrike">
                          <a:effectLst/>
                        </a:rPr>
                        <a:t>Tasks/Responsibilities</a:t>
                      </a:r>
                      <a:endParaRPr lang="en-US" sz="1300" b="1"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ctr"/>
                      <a:r>
                        <a:rPr lang="en-US" sz="1300" b="1" u="none" strike="noStrike">
                          <a:effectLst/>
                        </a:rPr>
                        <a:t>Client</a:t>
                      </a:r>
                      <a:endParaRPr lang="en-US" sz="1300" b="1"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tc>
                  <a:txBody>
                    <a:bodyPr/>
                    <a:lstStyle/>
                    <a:p>
                      <a:pPr algn="ctr" fontAlgn="ctr"/>
                      <a:r>
                        <a:rPr lang="en-US" sz="1300" b="1" u="none" strike="noStrike">
                          <a:effectLst/>
                        </a:rPr>
                        <a:t>SI</a:t>
                      </a:r>
                      <a:endParaRPr lang="en-US" sz="1300" b="1"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bg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solidFill>
                  </a:tcPr>
                </a:tc>
                <a:extLst>
                  <a:ext uri="{0D108BD9-81ED-4DB2-BD59-A6C34878D82A}">
                    <a16:rowId xmlns:a16="http://schemas.microsoft.com/office/drawing/2014/main" val="2295218324"/>
                  </a:ext>
                </a:extLst>
              </a:tr>
              <a:tr h="253497">
                <a:tc>
                  <a:txBody>
                    <a:bodyPr/>
                    <a:lstStyle/>
                    <a:p>
                      <a:pPr algn="l" fontAlgn="ctr"/>
                      <a:r>
                        <a:rPr lang="en-US" sz="1000" b="1" u="none" strike="noStrike">
                          <a:solidFill>
                            <a:schemeClr val="tx1"/>
                          </a:solidFill>
                          <a:effectLst/>
                        </a:rPr>
                        <a:t>Performance Testing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750377191"/>
                  </a:ext>
                </a:extLst>
              </a:tr>
              <a:tr h="253497">
                <a:tc>
                  <a:txBody>
                    <a:bodyPr/>
                    <a:lstStyle/>
                    <a:p>
                      <a:pPr algn="l" fontAlgn="ctr"/>
                      <a:r>
                        <a:rPr lang="en-US" sz="1000" b="1" u="none" strike="noStrike">
                          <a:solidFill>
                            <a:schemeClr val="tx1"/>
                          </a:solidFill>
                          <a:effectLst/>
                        </a:rPr>
                        <a:t>End-to-End Testing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 R</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4066476936"/>
                  </a:ext>
                </a:extLst>
              </a:tr>
              <a:tr h="253497">
                <a:tc>
                  <a:txBody>
                    <a:bodyPr/>
                    <a:lstStyle/>
                    <a:p>
                      <a:pPr algn="l" fontAlgn="ctr"/>
                      <a:r>
                        <a:rPr lang="en-US" sz="1000" b="1" u="none" strike="noStrike">
                          <a:solidFill>
                            <a:schemeClr val="tx1"/>
                          </a:solidFill>
                          <a:effectLst/>
                        </a:rPr>
                        <a:t>Regression Testing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787711772"/>
                  </a:ext>
                </a:extLst>
              </a:tr>
              <a:tr h="253497">
                <a:tc>
                  <a:txBody>
                    <a:bodyPr/>
                    <a:lstStyle/>
                    <a:p>
                      <a:pPr algn="l" fontAlgn="ctr"/>
                      <a:r>
                        <a:rPr lang="en-US" sz="1000" b="1" u="none" strike="noStrike">
                          <a:solidFill>
                            <a:schemeClr val="tx1"/>
                          </a:solidFill>
                          <a:effectLst/>
                        </a:rPr>
                        <a:t>User Acceptance Testing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C</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525623799"/>
                  </a:ext>
                </a:extLst>
              </a:tr>
              <a:tr h="253497">
                <a:tc>
                  <a:txBody>
                    <a:bodyPr/>
                    <a:lstStyle/>
                    <a:p>
                      <a:pPr algn="l" fontAlgn="ctr"/>
                      <a:r>
                        <a:rPr lang="en-US" sz="1000" b="1" u="none" strike="noStrike">
                          <a:solidFill>
                            <a:schemeClr val="tx1"/>
                          </a:solidFill>
                          <a:effectLst/>
                        </a:rPr>
                        <a:t>Infrastructure and Environment Management</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002496740"/>
                  </a:ext>
                </a:extLst>
              </a:tr>
              <a:tr h="371733">
                <a:tc>
                  <a:txBody>
                    <a:bodyPr/>
                    <a:lstStyle/>
                    <a:p>
                      <a:pPr algn="l" fontAlgn="ctr"/>
                      <a:r>
                        <a:rPr lang="en-US" sz="1000" b="1" u="none" strike="noStrike">
                          <a:solidFill>
                            <a:schemeClr val="tx1"/>
                          </a:solidFill>
                          <a:effectLst/>
                        </a:rPr>
                        <a:t>Code Management and Deployment </a:t>
                      </a:r>
                      <a:br>
                        <a:rPr lang="en-US" sz="1000" b="1" u="none" strike="noStrike">
                          <a:solidFill>
                            <a:schemeClr val="tx1"/>
                          </a:solidFill>
                          <a:effectLst/>
                        </a:rPr>
                      </a:br>
                      <a:r>
                        <a:rPr lang="en-US" sz="1000" b="1" u="none" strike="noStrike">
                          <a:solidFill>
                            <a:schemeClr val="tx1"/>
                          </a:solidFill>
                          <a:effectLst/>
                        </a:rPr>
                        <a:t>(Pre-Prod. GW Policy)</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854372492"/>
                  </a:ext>
                </a:extLst>
              </a:tr>
              <a:tr h="371733">
                <a:tc>
                  <a:txBody>
                    <a:bodyPr/>
                    <a:lstStyle/>
                    <a:p>
                      <a:pPr algn="l" fontAlgn="ctr"/>
                      <a:r>
                        <a:rPr lang="en-US" sz="1000" b="1" u="none" strike="noStrike">
                          <a:solidFill>
                            <a:schemeClr val="tx1"/>
                          </a:solidFill>
                          <a:effectLst/>
                        </a:rPr>
                        <a:t>Code Management and Deployment (Pre-Prod. Informatica/ETL)</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721859320"/>
                  </a:ext>
                </a:extLst>
              </a:tr>
              <a:tr h="253497">
                <a:tc>
                  <a:txBody>
                    <a:bodyPr/>
                    <a:lstStyle/>
                    <a:p>
                      <a:pPr algn="l" fontAlgn="ctr"/>
                      <a:r>
                        <a:rPr lang="en-US" sz="1000" b="1" u="none" strike="noStrike">
                          <a:solidFill>
                            <a:schemeClr val="tx1"/>
                          </a:solidFill>
                          <a:effectLst/>
                        </a:rPr>
                        <a:t>Code Management and Deployment (Prod.)</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C</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198573122"/>
                  </a:ext>
                </a:extLst>
              </a:tr>
              <a:tr h="253497">
                <a:tc>
                  <a:txBody>
                    <a:bodyPr/>
                    <a:lstStyle/>
                    <a:p>
                      <a:pPr algn="l" fontAlgn="ctr"/>
                      <a:r>
                        <a:rPr lang="en-US" sz="1000" b="1" u="none" strike="noStrike">
                          <a:solidFill>
                            <a:schemeClr val="tx1"/>
                          </a:solidFill>
                          <a:effectLst/>
                        </a:rPr>
                        <a:t>Rollout Support</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C</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3510833531"/>
                  </a:ext>
                </a:extLst>
              </a:tr>
              <a:tr h="253497">
                <a:tc>
                  <a:txBody>
                    <a:bodyPr/>
                    <a:lstStyle/>
                    <a:p>
                      <a:pPr algn="l" fontAlgn="ctr"/>
                      <a:r>
                        <a:rPr lang="en-US" sz="1000" b="1" u="none" strike="noStrike">
                          <a:solidFill>
                            <a:schemeClr val="tx1"/>
                          </a:solidFill>
                          <a:effectLst/>
                        </a:rPr>
                        <a:t>Product Development and Rating Reqts.</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C</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979581799"/>
                  </a:ext>
                </a:extLst>
              </a:tr>
              <a:tr h="253497">
                <a:tc>
                  <a:txBody>
                    <a:bodyPr/>
                    <a:lstStyle/>
                    <a:p>
                      <a:pPr algn="l" fontAlgn="ctr"/>
                      <a:r>
                        <a:rPr lang="en-US" sz="1000" b="1" u="none" strike="noStrike">
                          <a:solidFill>
                            <a:schemeClr val="tx1"/>
                          </a:solidFill>
                          <a:effectLst/>
                        </a:rPr>
                        <a:t>State Filings</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C</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763785729"/>
                  </a:ext>
                </a:extLst>
              </a:tr>
              <a:tr h="253497">
                <a:tc>
                  <a:txBody>
                    <a:bodyPr/>
                    <a:lstStyle/>
                    <a:p>
                      <a:pPr algn="l" fontAlgn="ctr"/>
                      <a:r>
                        <a:rPr lang="en-US" sz="1000" b="1" u="none" strike="noStrike">
                          <a:solidFill>
                            <a:schemeClr val="tx1"/>
                          </a:solidFill>
                          <a:effectLst/>
                        </a:rPr>
                        <a:t>Rating Factor Setup and Modeling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C</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553917706"/>
                  </a:ext>
                </a:extLst>
              </a:tr>
              <a:tr h="253497">
                <a:tc>
                  <a:txBody>
                    <a:bodyPr/>
                    <a:lstStyle/>
                    <a:p>
                      <a:pPr algn="l" fontAlgn="ctr"/>
                      <a:r>
                        <a:rPr lang="en-US" sz="1000" b="1" u="none" strike="noStrike">
                          <a:solidFill>
                            <a:schemeClr val="tx1"/>
                          </a:solidFill>
                          <a:effectLst/>
                        </a:rPr>
                        <a:t>STAT, Billing, Claims, Sales Comp Remed.</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C</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224195609"/>
                  </a:ext>
                </a:extLst>
              </a:tr>
              <a:tr h="253497">
                <a:tc>
                  <a:txBody>
                    <a:bodyPr/>
                    <a:lstStyle/>
                    <a:p>
                      <a:pPr algn="l" fontAlgn="ctr"/>
                      <a:r>
                        <a:rPr lang="en-US" sz="1000" b="1" u="none" strike="noStrike">
                          <a:solidFill>
                            <a:schemeClr val="tx1"/>
                          </a:solidFill>
                          <a:effectLst/>
                        </a:rPr>
                        <a:t>*DEA/Data Lake Remediation</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C, 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R, A</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2230900976"/>
                  </a:ext>
                </a:extLst>
              </a:tr>
              <a:tr h="253497">
                <a:tc>
                  <a:txBody>
                    <a:bodyPr/>
                    <a:lstStyle/>
                    <a:p>
                      <a:pPr algn="l" fontAlgn="ctr"/>
                      <a:r>
                        <a:rPr lang="en-US" sz="1000" b="1" u="none" strike="noStrike">
                          <a:solidFill>
                            <a:schemeClr val="tx1"/>
                          </a:solidFill>
                          <a:effectLst/>
                        </a:rPr>
                        <a:t>Form Template Creation (Xpression/Imaging)</a:t>
                      </a:r>
                      <a:endParaRPr lang="en-US" sz="1000" b="1" i="0" u="none" strike="noStrike">
                        <a:solidFill>
                          <a:schemeClr val="tx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000" u="none" strike="noStrike">
                          <a:effectLst/>
                        </a:rPr>
                        <a:t>R, A, C</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tc>
                  <a:txBody>
                    <a:bodyPr/>
                    <a:lstStyle/>
                    <a:p>
                      <a:pPr algn="ctr" fontAlgn="ctr"/>
                      <a:r>
                        <a:rPr lang="en-US" sz="1000" u="none" strike="noStrike">
                          <a:effectLst/>
                        </a:rPr>
                        <a:t>I</a:t>
                      </a:r>
                      <a:endParaRPr lang="en-US" sz="1000" b="0" i="0" u="none" strike="noStrike">
                        <a:solidFill>
                          <a:srgbClr val="374151"/>
                        </a:solidFill>
                        <a:effectLst/>
                        <a:latin typeface="Segoe UI" panose="020B0502040204020203" pitchFamily="34" charset="0"/>
                      </a:endParaRPr>
                    </a:p>
                  </a:txBody>
                  <a:tcPr marL="36000" marR="36000" marT="36000" marB="36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solidFill>
                      <a:schemeClr val="bg1"/>
                    </a:solidFill>
                  </a:tcPr>
                </a:tc>
                <a:extLst>
                  <a:ext uri="{0D108BD9-81ED-4DB2-BD59-A6C34878D82A}">
                    <a16:rowId xmlns:a16="http://schemas.microsoft.com/office/drawing/2014/main" val="1743132340"/>
                  </a:ext>
                </a:extLst>
              </a:tr>
            </a:tbl>
          </a:graphicData>
        </a:graphic>
      </p:graphicFrame>
      <p:sp>
        <p:nvSpPr>
          <p:cNvPr id="6" name="TextBox 5">
            <a:extLst>
              <a:ext uri="{FF2B5EF4-FFF2-40B4-BE49-F238E27FC236}">
                <a16:creationId xmlns:a16="http://schemas.microsoft.com/office/drawing/2014/main" id="{931FEF9A-0F3A-F6BB-A22D-760FC9A79E2F}"/>
              </a:ext>
            </a:extLst>
          </p:cNvPr>
          <p:cNvSpPr txBox="1"/>
          <p:nvPr/>
        </p:nvSpPr>
        <p:spPr>
          <a:xfrm>
            <a:off x="338060" y="6131258"/>
            <a:ext cx="11515880" cy="338554"/>
          </a:xfrm>
          <a:prstGeom prst="rect">
            <a:avLst/>
          </a:prstGeom>
          <a:noFill/>
        </p:spPr>
        <p:txBody>
          <a:bodyPr wrap="square" rtlCol="0">
            <a:spAutoFit/>
          </a:bodyPr>
          <a:lstStyle/>
          <a:p>
            <a:r>
              <a:rPr lang="en-US" sz="800">
                <a:solidFill>
                  <a:schemeClr val="bg1"/>
                </a:solidFill>
              </a:rPr>
              <a:t>* This is a reproduction of the RACI provided by COUNTRY, at this stage we are in agreement with the roles and responsibilities as outlined. Please however see the additional 3-party RACI specific to GW SaaS implementations that includes Guidewire in addition to Capgemini and COUNTRY.</a:t>
            </a:r>
          </a:p>
        </p:txBody>
      </p:sp>
    </p:spTree>
    <p:extLst>
      <p:ext uri="{BB962C8B-B14F-4D97-AF65-F5344CB8AC3E}">
        <p14:creationId xmlns:p14="http://schemas.microsoft.com/office/powerpoint/2010/main" val="3303721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Due diligence phase staffing needs for EC*</a:t>
            </a:r>
            <a:endParaRPr lang="en-GB"/>
          </a:p>
        </p:txBody>
      </p:sp>
      <p:sp>
        <p:nvSpPr>
          <p:cNvPr id="7" name="Signalisation droite 22">
            <a:extLst>
              <a:ext uri="{FF2B5EF4-FFF2-40B4-BE49-F238E27FC236}">
                <a16:creationId xmlns:a16="http://schemas.microsoft.com/office/drawing/2014/main" id="{CF482E92-8843-4B1E-9460-85D780F726E7}"/>
              </a:ext>
            </a:extLst>
          </p:cNvPr>
          <p:cNvSpPr/>
          <p:nvPr/>
        </p:nvSpPr>
        <p:spPr>
          <a:xfrm>
            <a:off x="404811" y="4110963"/>
            <a:ext cx="3487439" cy="385462"/>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200" b="1">
                <a:latin typeface="Ubuntu" panose="020B0504030602030204" pitchFamily="34" charset="0"/>
              </a:rPr>
              <a:t>Architects</a:t>
            </a:r>
          </a:p>
        </p:txBody>
      </p:sp>
      <p:sp>
        <p:nvSpPr>
          <p:cNvPr id="8" name="Signalisation droite 23">
            <a:extLst>
              <a:ext uri="{FF2B5EF4-FFF2-40B4-BE49-F238E27FC236}">
                <a16:creationId xmlns:a16="http://schemas.microsoft.com/office/drawing/2014/main" id="{D2143455-0E20-4682-A2DF-1F58AC4B1135}"/>
              </a:ext>
            </a:extLst>
          </p:cNvPr>
          <p:cNvSpPr/>
          <p:nvPr/>
        </p:nvSpPr>
        <p:spPr>
          <a:xfrm>
            <a:off x="404811" y="4674973"/>
            <a:ext cx="3487439" cy="385462"/>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200" b="1">
                <a:latin typeface="Ubuntu" panose="020B0504030602030204" pitchFamily="34" charset="0"/>
              </a:rPr>
              <a:t>Technical Leads</a:t>
            </a:r>
          </a:p>
        </p:txBody>
      </p:sp>
      <p:sp>
        <p:nvSpPr>
          <p:cNvPr id="9" name="Signalisation droite 24">
            <a:extLst>
              <a:ext uri="{FF2B5EF4-FFF2-40B4-BE49-F238E27FC236}">
                <a16:creationId xmlns:a16="http://schemas.microsoft.com/office/drawing/2014/main" id="{C1937554-0865-4E7F-8D99-F7B08ABAFA6F}"/>
              </a:ext>
            </a:extLst>
          </p:cNvPr>
          <p:cNvSpPr/>
          <p:nvPr/>
        </p:nvSpPr>
        <p:spPr>
          <a:xfrm>
            <a:off x="404811" y="1854923"/>
            <a:ext cx="3487439" cy="385462"/>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200" b="1">
                <a:latin typeface="Ubuntu" panose="020B0504030602030204" pitchFamily="34" charset="0"/>
              </a:rPr>
              <a:t>Program Manager</a:t>
            </a:r>
          </a:p>
        </p:txBody>
      </p:sp>
      <p:sp>
        <p:nvSpPr>
          <p:cNvPr id="10" name="Signalisation droite 25">
            <a:extLst>
              <a:ext uri="{FF2B5EF4-FFF2-40B4-BE49-F238E27FC236}">
                <a16:creationId xmlns:a16="http://schemas.microsoft.com/office/drawing/2014/main" id="{FEE61689-EBDC-4DD7-8E85-3EDAE8A91A48}"/>
              </a:ext>
            </a:extLst>
          </p:cNvPr>
          <p:cNvSpPr/>
          <p:nvPr/>
        </p:nvSpPr>
        <p:spPr>
          <a:xfrm>
            <a:off x="404811" y="2982943"/>
            <a:ext cx="3487439" cy="385462"/>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200" b="1">
                <a:latin typeface="Ubuntu" panose="020B0504030602030204" pitchFamily="34" charset="0"/>
              </a:rPr>
              <a:t>Product Owner</a:t>
            </a:r>
          </a:p>
        </p:txBody>
      </p:sp>
      <p:graphicFrame>
        <p:nvGraphicFramePr>
          <p:cNvPr id="11" name="Tableau 3">
            <a:extLst>
              <a:ext uri="{FF2B5EF4-FFF2-40B4-BE49-F238E27FC236}">
                <a16:creationId xmlns:a16="http://schemas.microsoft.com/office/drawing/2014/main" id="{B98B98EF-79EC-4F14-A9A7-2C2A971A2601}"/>
              </a:ext>
            </a:extLst>
          </p:cNvPr>
          <p:cNvGraphicFramePr>
            <a:graphicFrameLocks noGrp="1"/>
          </p:cNvGraphicFramePr>
          <p:nvPr/>
        </p:nvGraphicFramePr>
        <p:xfrm>
          <a:off x="4060457" y="1327150"/>
          <a:ext cx="7723555" cy="4949640"/>
        </p:xfrm>
        <a:graphic>
          <a:graphicData uri="http://schemas.openxmlformats.org/drawingml/2006/table">
            <a:tbl>
              <a:tblPr/>
              <a:tblGrid>
                <a:gridCol w="5694473">
                  <a:extLst>
                    <a:ext uri="{9D8B030D-6E8A-4147-A177-3AD203B41FA5}">
                      <a16:colId xmlns:a16="http://schemas.microsoft.com/office/drawing/2014/main" val="530160375"/>
                    </a:ext>
                  </a:extLst>
                </a:gridCol>
                <a:gridCol w="1039529">
                  <a:extLst>
                    <a:ext uri="{9D8B030D-6E8A-4147-A177-3AD203B41FA5}">
                      <a16:colId xmlns:a16="http://schemas.microsoft.com/office/drawing/2014/main" val="2850964550"/>
                    </a:ext>
                  </a:extLst>
                </a:gridCol>
                <a:gridCol w="989553">
                  <a:extLst>
                    <a:ext uri="{9D8B030D-6E8A-4147-A177-3AD203B41FA5}">
                      <a16:colId xmlns:a16="http://schemas.microsoft.com/office/drawing/2014/main" val="192713184"/>
                    </a:ext>
                  </a:extLst>
                </a:gridCol>
              </a:tblGrid>
              <a:tr h="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chemeClr val="bg1"/>
                          </a:solidFill>
                          <a:effectLst/>
                          <a:uLnTx/>
                          <a:uFillTx/>
                          <a:latin typeface="+mn-lt"/>
                          <a:ea typeface="+mn-ea"/>
                          <a:cs typeface="Arial" pitchFamily="34" charset="0"/>
                        </a:rPr>
                        <a:t>Responsibilities</a:t>
                      </a:r>
                    </a:p>
                  </a:txBody>
                  <a:tcPr marL="45720" marR="45720" marT="54000" marB="54000" anchor="b">
                    <a:lnL w="6350" cap="flat" cmpd="sng" algn="ctr">
                      <a:solidFill>
                        <a:schemeClr val="accent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chemeClr val="bg1"/>
                          </a:solidFill>
                          <a:effectLst/>
                          <a:uLnTx/>
                          <a:uFillTx/>
                          <a:latin typeface="+mn-lt"/>
                          <a:ea typeface="+mn-ea"/>
                          <a:cs typeface="Arial" pitchFamily="34" charset="0"/>
                        </a:rPr>
                        <a:t>Expected</a:t>
                      </a:r>
                      <a:r>
                        <a:rPr kumimoji="0" lang="fr-FR" sz="1050" b="1" i="0" u="none" strike="noStrike" kern="0" cap="none" spc="0" normalizeH="0" baseline="0" noProof="0">
                          <a:ln>
                            <a:noFill/>
                          </a:ln>
                          <a:solidFill>
                            <a:schemeClr val="bg1"/>
                          </a:solidFill>
                          <a:effectLst/>
                          <a:uLnTx/>
                          <a:uFillTx/>
                          <a:latin typeface="+mn-lt"/>
                          <a:ea typeface="+mn-ea"/>
                          <a:cs typeface="Arial" pitchFamily="34" charset="0"/>
                        </a:rPr>
                        <a:t> </a:t>
                      </a:r>
                      <a:r>
                        <a:rPr kumimoji="0" lang="en-US" sz="1050" b="1" i="0" u="none" strike="noStrike" kern="0" cap="none" spc="0" normalizeH="0" baseline="0" noProof="0">
                          <a:ln>
                            <a:noFill/>
                          </a:ln>
                          <a:solidFill>
                            <a:schemeClr val="bg1"/>
                          </a:solidFill>
                          <a:effectLst/>
                          <a:uLnTx/>
                          <a:uFillTx/>
                          <a:latin typeface="+mn-lt"/>
                          <a:ea typeface="+mn-ea"/>
                          <a:cs typeface="Arial" pitchFamily="34" charset="0"/>
                        </a:rPr>
                        <a:t>Availability</a:t>
                      </a:r>
                      <a:endParaRPr kumimoji="0" lang="fr-FR" sz="1050" b="1" i="0" u="none" strike="noStrike" kern="0" cap="none" spc="0" normalizeH="0" baseline="0" noProof="0">
                        <a:ln>
                          <a:noFill/>
                        </a:ln>
                        <a:solidFill>
                          <a:schemeClr val="bg1"/>
                        </a:solidFill>
                        <a:effectLst/>
                        <a:uLnTx/>
                        <a:uFillTx/>
                        <a:latin typeface="+mn-lt"/>
                        <a:ea typeface="+mn-ea"/>
                        <a:cs typeface="Arial" pitchFamily="34" charset="0"/>
                      </a:endParaRPr>
                    </a:p>
                  </a:txBody>
                  <a:tcPr marL="45720" marR="45720" marT="54000" marB="54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schemeClr val="bg1"/>
                          </a:solidFill>
                          <a:effectLst/>
                          <a:uLnTx/>
                          <a:uFillTx/>
                          <a:latin typeface="+mn-lt"/>
                          <a:ea typeface="+mn-ea"/>
                          <a:cs typeface="Arial" pitchFamily="34" charset="0"/>
                        </a:rPr>
                        <a:t>Number</a:t>
                      </a:r>
                      <a:r>
                        <a:rPr kumimoji="0" lang="fr-FR" sz="1050" b="1" i="0" u="none" strike="noStrike" kern="0" cap="none" spc="0" normalizeH="0" baseline="0" noProof="0">
                          <a:ln>
                            <a:noFill/>
                          </a:ln>
                          <a:solidFill>
                            <a:schemeClr val="bg1"/>
                          </a:solidFill>
                          <a:effectLst/>
                          <a:uLnTx/>
                          <a:uFillTx/>
                          <a:latin typeface="+mn-lt"/>
                          <a:ea typeface="+mn-ea"/>
                          <a:cs typeface="Arial" pitchFamily="34" charset="0"/>
                        </a:rPr>
                        <a:t> of </a:t>
                      </a:r>
                      <a:r>
                        <a:rPr kumimoji="0" lang="en-US" sz="1050" b="1" i="0" u="none" strike="noStrike" kern="0" cap="none" spc="0" normalizeH="0" baseline="0" noProof="0">
                          <a:ln>
                            <a:noFill/>
                          </a:ln>
                          <a:solidFill>
                            <a:schemeClr val="bg1"/>
                          </a:solidFill>
                          <a:effectLst/>
                          <a:uLnTx/>
                          <a:uFillTx/>
                          <a:latin typeface="+mn-lt"/>
                          <a:ea typeface="+mn-ea"/>
                          <a:cs typeface="Arial" pitchFamily="34" charset="0"/>
                        </a:rPr>
                        <a:t>resources</a:t>
                      </a:r>
                    </a:p>
                  </a:txBody>
                  <a:tcPr marL="45720" marR="45720" marT="54000" marB="54000" anchor="ctr">
                    <a:lnL w="6350" cap="flat" cmpd="sng" algn="ctr">
                      <a:solidFill>
                        <a:schemeClr val="bg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013695669"/>
                  </a:ext>
                </a:extLst>
              </a:tr>
              <a:tr h="0">
                <a:tc>
                  <a:txBody>
                    <a:bodyPr/>
                    <a:lstStyle/>
                    <a:p>
                      <a:pPr marL="144000" marR="0" lvl="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a:solidFill>
                            <a:schemeClr val="tx1"/>
                          </a:solidFill>
                          <a:effectLst/>
                          <a:latin typeface="+mn-lt"/>
                          <a:ea typeface="+mn-ea"/>
                          <a:cs typeface="+mn-cs"/>
                        </a:rPr>
                        <a:t>Responsible for overall guidance, integrating systems dependencies and validation</a:t>
                      </a:r>
                    </a:p>
                    <a:p>
                      <a:pPr marL="144000" marR="0" lvl="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a:solidFill>
                            <a:schemeClr val="tx1"/>
                          </a:solidFill>
                          <a:effectLst/>
                          <a:latin typeface="+mn-lt"/>
                          <a:ea typeface="+mn-ea"/>
                          <a:cs typeface="+mn-cs"/>
                        </a:rPr>
                        <a:t>Ensure availability/participation of Everest resources </a:t>
                      </a:r>
                    </a:p>
                    <a:p>
                      <a:pPr marL="144000" marR="0" lvl="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Sign-off the final deliverables</a:t>
                      </a:r>
                      <a:endParaRPr lang="fr-FR" sz="1000" b="0" i="0" u="none" strike="noStrike" kern="1200" baseline="0">
                        <a:solidFill>
                          <a:schemeClr val="tx1"/>
                        </a:solidFill>
                        <a:effectLst/>
                        <a:latin typeface="+mn-lt"/>
                        <a:ea typeface="+mn-ea"/>
                        <a:cs typeface="+mn-cs"/>
                      </a:endParaRP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100%</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1*</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4868420"/>
                  </a:ext>
                </a:extLst>
              </a:tr>
              <a:tr h="0">
                <a:tc>
                  <a:txBody>
                    <a:bodyPr/>
                    <a:lstStyle/>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Participate in Steering Committee</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Deliver the business vision and strategy</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Validate the final deliverables</a:t>
                      </a:r>
                      <a:endParaRPr lang="fr-FR" sz="1000" b="0" i="0" u="none" strike="noStrike" kern="1200" baseline="0">
                        <a:solidFill>
                          <a:schemeClr val="tx1"/>
                        </a:solidFill>
                        <a:effectLst/>
                        <a:latin typeface="+mn-lt"/>
                        <a:ea typeface="+mn-ea"/>
                        <a:cs typeface="+mn-cs"/>
                      </a:endParaRP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20%</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1</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7002155"/>
                  </a:ext>
                </a:extLst>
              </a:tr>
              <a:tr h="0">
                <a:tc>
                  <a:txBody>
                    <a:bodyPr/>
                    <a:lstStyle/>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Participate in the business workshops</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Deliver the requirements</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Validate the solutions</a:t>
                      </a:r>
                      <a:endParaRPr lang="fr-FR" sz="1000" b="0" i="0" u="none" strike="noStrike" kern="1200" baseline="0">
                        <a:solidFill>
                          <a:schemeClr val="tx1"/>
                        </a:solidFill>
                        <a:effectLst/>
                        <a:latin typeface="+mn-lt"/>
                        <a:ea typeface="+mn-ea"/>
                        <a:cs typeface="+mn-cs"/>
                      </a:endParaRP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100%</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1</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5750877"/>
                  </a:ext>
                </a:extLst>
              </a:tr>
              <a:tr h="0">
                <a:tc>
                  <a:txBody>
                    <a:bodyPr/>
                    <a:lstStyle/>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Participate in the technical design workshops</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Share Everest technical standards as applicable</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Validate the technical solutions</a:t>
                      </a:r>
                      <a:endParaRPr lang="fr-FR" sz="1000" b="0" i="0" u="none" strike="noStrike" kern="1200" baseline="0">
                        <a:solidFill>
                          <a:schemeClr val="tx1"/>
                        </a:solidFill>
                        <a:effectLst/>
                        <a:latin typeface="+mn-lt"/>
                        <a:ea typeface="+mn-ea"/>
                        <a:cs typeface="+mn-cs"/>
                      </a:endParaRP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100%</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2</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5546021"/>
                  </a:ext>
                </a:extLst>
              </a:tr>
              <a:tr h="0">
                <a:tc>
                  <a:txBody>
                    <a:bodyPr/>
                    <a:lstStyle/>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Participate in the architecture sessions</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Deliver the architecture principles and expertise</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Validate the architecture designs</a:t>
                      </a:r>
                      <a:endParaRPr lang="fr-FR" sz="1000" b="0" i="0" u="none" strike="noStrike" kern="1200" baseline="0">
                        <a:solidFill>
                          <a:schemeClr val="tx1"/>
                        </a:solidFill>
                        <a:effectLst/>
                        <a:latin typeface="+mn-lt"/>
                        <a:ea typeface="+mn-ea"/>
                        <a:cs typeface="+mn-cs"/>
                      </a:endParaRP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50%</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2</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722913"/>
                  </a:ext>
                </a:extLst>
              </a:tr>
              <a:tr h="0">
                <a:tc>
                  <a:txBody>
                    <a:bodyPr/>
                    <a:lstStyle/>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Participate in the integration sessions</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Deliver the integration principles and expertise</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Validate the integrations’ design and interface descriptions</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50%</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4**</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3644428"/>
                  </a:ext>
                </a:extLst>
              </a:tr>
              <a:tr h="0">
                <a:tc>
                  <a:txBody>
                    <a:bodyPr/>
                    <a:lstStyle/>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Deliver the testing principles and expertise </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Review the Test Strategy, Deliverables</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Liaise with internal leadership and sort out dependencies</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100%</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1</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477716"/>
                  </a:ext>
                </a:extLst>
              </a:tr>
              <a:tr h="0">
                <a:tc>
                  <a:txBody>
                    <a:bodyPr/>
                    <a:lstStyle/>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Deliver the Release Management principles and expertise </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Validate the Environment/Release Management Deliverables</a:t>
                      </a:r>
                    </a:p>
                    <a:p>
                      <a:pPr marL="144000" marR="0" indent="-144000" algn="l" defTabSz="914342" rtl="0" eaLnBrk="1" fontAlgn="b" latinLnBrk="0" hangingPunct="1">
                        <a:lnSpc>
                          <a:spcPct val="100000"/>
                        </a:lnSpc>
                        <a:spcBef>
                          <a:spcPts val="0"/>
                        </a:spcBef>
                        <a:spcAft>
                          <a:spcPts val="0"/>
                        </a:spcAft>
                        <a:buClr>
                          <a:schemeClr val="accent1"/>
                        </a:buClr>
                        <a:buSzTx/>
                        <a:buFont typeface="Wingdings" panose="05000000000000000000" pitchFamily="2" charset="2"/>
                        <a:buChar char="§"/>
                        <a:tabLst/>
                        <a:defRPr/>
                      </a:pPr>
                      <a:r>
                        <a:rPr lang="en-US" sz="1000" b="0" i="0" u="none" strike="noStrike" kern="1200" baseline="0">
                          <a:solidFill>
                            <a:schemeClr val="tx1"/>
                          </a:solidFill>
                          <a:effectLst/>
                          <a:latin typeface="+mn-lt"/>
                          <a:ea typeface="+mn-ea"/>
                          <a:cs typeface="+mn-cs"/>
                        </a:rPr>
                        <a:t>Liaise with internal stakeholders and sort out dependencies</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50%</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342" rtl="0" eaLnBrk="1" fontAlgn="b" latinLnBrk="0" hangingPunct="1">
                        <a:lnSpc>
                          <a:spcPct val="100000"/>
                        </a:lnSpc>
                        <a:spcBef>
                          <a:spcPts val="0"/>
                        </a:spcBef>
                        <a:spcAft>
                          <a:spcPts val="0"/>
                        </a:spcAft>
                        <a:buClr>
                          <a:srgbClr val="C00000"/>
                        </a:buClr>
                        <a:buSzTx/>
                        <a:buFont typeface="Wingdings" panose="05000000000000000000" pitchFamily="2" charset="2"/>
                        <a:buNone/>
                        <a:tabLst/>
                        <a:defRPr/>
                      </a:pPr>
                      <a:r>
                        <a:rPr lang="fr-FR" sz="1000" b="0" i="0" u="none" strike="noStrike" kern="1200" baseline="0">
                          <a:solidFill>
                            <a:schemeClr val="tx1"/>
                          </a:solidFill>
                          <a:effectLst/>
                          <a:latin typeface="+mn-lt"/>
                          <a:ea typeface="+mn-ea"/>
                          <a:cs typeface="+mn-cs"/>
                        </a:rPr>
                        <a:t>1</a:t>
                      </a:r>
                    </a:p>
                  </a:txBody>
                  <a:tcPr marL="45720" marR="45720" marT="54000" marB="5400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7430356"/>
                  </a:ext>
                </a:extLst>
              </a:tr>
            </a:tbl>
          </a:graphicData>
        </a:graphic>
      </p:graphicFrame>
      <p:sp>
        <p:nvSpPr>
          <p:cNvPr id="12" name="Signalisation droite 25">
            <a:extLst>
              <a:ext uri="{FF2B5EF4-FFF2-40B4-BE49-F238E27FC236}">
                <a16:creationId xmlns:a16="http://schemas.microsoft.com/office/drawing/2014/main" id="{A5B89936-4DFD-4F2D-8813-CC9E7C490BD3}"/>
              </a:ext>
            </a:extLst>
          </p:cNvPr>
          <p:cNvSpPr/>
          <p:nvPr/>
        </p:nvSpPr>
        <p:spPr>
          <a:xfrm>
            <a:off x="404811" y="2418933"/>
            <a:ext cx="3487439" cy="385462"/>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200" b="1">
                <a:latin typeface="Ubuntu" panose="020B0504030602030204" pitchFamily="34" charset="0"/>
              </a:rPr>
              <a:t>Business Sponsors</a:t>
            </a:r>
          </a:p>
        </p:txBody>
      </p:sp>
      <p:sp>
        <p:nvSpPr>
          <p:cNvPr id="13" name="Signalisation droite 26">
            <a:extLst>
              <a:ext uri="{FF2B5EF4-FFF2-40B4-BE49-F238E27FC236}">
                <a16:creationId xmlns:a16="http://schemas.microsoft.com/office/drawing/2014/main" id="{95FBCEB3-4ABC-4E9E-BA08-C48578BAB9FD}"/>
              </a:ext>
            </a:extLst>
          </p:cNvPr>
          <p:cNvSpPr/>
          <p:nvPr/>
        </p:nvSpPr>
        <p:spPr>
          <a:xfrm>
            <a:off x="404811" y="5238983"/>
            <a:ext cx="3487439" cy="393302"/>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200" b="1">
                <a:latin typeface="Ubuntu" panose="020B0504030602030204" pitchFamily="34" charset="0"/>
              </a:rPr>
              <a:t>Test Manager</a:t>
            </a:r>
          </a:p>
        </p:txBody>
      </p:sp>
      <p:sp>
        <p:nvSpPr>
          <p:cNvPr id="14" name="TextBox 13">
            <a:extLst>
              <a:ext uri="{FF2B5EF4-FFF2-40B4-BE49-F238E27FC236}">
                <a16:creationId xmlns:a16="http://schemas.microsoft.com/office/drawing/2014/main" id="{5372B57C-3CE3-4A0B-A555-D129EBB9D7CA}"/>
              </a:ext>
            </a:extLst>
          </p:cNvPr>
          <p:cNvSpPr txBox="1"/>
          <p:nvPr/>
        </p:nvSpPr>
        <p:spPr>
          <a:xfrm>
            <a:off x="8336227" y="808664"/>
            <a:ext cx="3447786" cy="261610"/>
          </a:xfrm>
          <a:prstGeom prst="rect">
            <a:avLst/>
          </a:prstGeom>
          <a:noFill/>
        </p:spPr>
        <p:txBody>
          <a:bodyPr wrap="square" rtlCol="0">
            <a:spAutoFit/>
          </a:bodyPr>
          <a:lstStyle/>
          <a:p>
            <a:r>
              <a:rPr lang="en-US" sz="1050"/>
              <a:t>*To be validated with Everest prior to Due Diligence</a:t>
            </a:r>
          </a:p>
        </p:txBody>
      </p:sp>
      <p:pic>
        <p:nvPicPr>
          <p:cNvPr id="16" name="Picture 15">
            <a:extLst>
              <a:ext uri="{FF2B5EF4-FFF2-40B4-BE49-F238E27FC236}">
                <a16:creationId xmlns:a16="http://schemas.microsoft.com/office/drawing/2014/main" id="{956AF6E0-1BB4-4778-904A-0FBF1B45F225}"/>
              </a:ext>
            </a:extLst>
          </p:cNvPr>
          <p:cNvPicPr>
            <a:picLocks noChangeAspect="1"/>
          </p:cNvPicPr>
          <p:nvPr/>
        </p:nvPicPr>
        <p:blipFill>
          <a:blip r:embed="rId2" cstate="hqprint">
            <a:extLst>
              <a:ext uri="{28A0092B-C50C-407E-A947-70E740481C1C}">
                <a14:useLocalDpi xmlns:a14="http://schemas.microsoft.com/office/drawing/2010/main" val="0"/>
              </a:ext>
            </a:extLst>
          </a:blip>
          <a:srcRect/>
          <a:stretch/>
        </p:blipFill>
        <p:spPr>
          <a:xfrm>
            <a:off x="1043935" y="1327150"/>
            <a:ext cx="1896116" cy="388116"/>
          </a:xfrm>
          <a:prstGeom prst="rect">
            <a:avLst/>
          </a:prstGeom>
        </p:spPr>
      </p:pic>
      <p:sp>
        <p:nvSpPr>
          <p:cNvPr id="15" name="Signalisation droite 26">
            <a:extLst>
              <a:ext uri="{FF2B5EF4-FFF2-40B4-BE49-F238E27FC236}">
                <a16:creationId xmlns:a16="http://schemas.microsoft.com/office/drawing/2014/main" id="{1B2C9BE3-4653-4020-B9D7-FE844E52345E}"/>
              </a:ext>
            </a:extLst>
          </p:cNvPr>
          <p:cNvSpPr/>
          <p:nvPr/>
        </p:nvSpPr>
        <p:spPr>
          <a:xfrm>
            <a:off x="404811" y="5810830"/>
            <a:ext cx="3487439" cy="393302"/>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200" b="1">
                <a:latin typeface="Ubuntu" panose="020B0504030602030204" pitchFamily="34" charset="0"/>
              </a:rPr>
              <a:t>Release Manager</a:t>
            </a:r>
          </a:p>
        </p:txBody>
      </p:sp>
      <p:sp>
        <p:nvSpPr>
          <p:cNvPr id="2" name="Rectangle 1">
            <a:extLst>
              <a:ext uri="{FF2B5EF4-FFF2-40B4-BE49-F238E27FC236}">
                <a16:creationId xmlns:a16="http://schemas.microsoft.com/office/drawing/2014/main" id="{3A52BB27-5586-4180-8093-4AA77B24A532}"/>
              </a:ext>
            </a:extLst>
          </p:cNvPr>
          <p:cNvSpPr/>
          <p:nvPr/>
        </p:nvSpPr>
        <p:spPr>
          <a:xfrm>
            <a:off x="4079042" y="6382895"/>
            <a:ext cx="4275770" cy="1417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sz="700" b="1">
                <a:solidFill>
                  <a:schemeClr val="tx1"/>
                </a:solidFill>
                <a:latin typeface="Ubuntu" panose="020B0504030602030204" pitchFamily="34" charset="0"/>
              </a:rPr>
              <a:t>** This will vary depending on who can represent each of the integrating systems in scope</a:t>
            </a:r>
          </a:p>
        </p:txBody>
      </p:sp>
      <p:sp>
        <p:nvSpPr>
          <p:cNvPr id="19" name="Signalisation droite 25">
            <a:extLst>
              <a:ext uri="{FF2B5EF4-FFF2-40B4-BE49-F238E27FC236}">
                <a16:creationId xmlns:a16="http://schemas.microsoft.com/office/drawing/2014/main" id="{6B3A656C-CE13-452F-85D6-4B259CB637C3}"/>
              </a:ext>
            </a:extLst>
          </p:cNvPr>
          <p:cNvSpPr/>
          <p:nvPr/>
        </p:nvSpPr>
        <p:spPr>
          <a:xfrm>
            <a:off x="404811" y="3546953"/>
            <a:ext cx="3487439" cy="385462"/>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200" b="1">
                <a:latin typeface="Ubuntu" panose="020B0504030602030204" pitchFamily="34" charset="0"/>
              </a:rPr>
              <a:t>Subject Matter Experts</a:t>
            </a:r>
          </a:p>
        </p:txBody>
      </p:sp>
      <p:sp>
        <p:nvSpPr>
          <p:cNvPr id="20" name="Arrow: Pentagon 60">
            <a:extLst>
              <a:ext uri="{FF2B5EF4-FFF2-40B4-BE49-F238E27FC236}">
                <a16:creationId xmlns:a16="http://schemas.microsoft.com/office/drawing/2014/main" id="{54E533B3-DB24-441F-9B94-B5B085704046}"/>
              </a:ext>
            </a:extLst>
          </p:cNvPr>
          <p:cNvSpPr/>
          <p:nvPr/>
        </p:nvSpPr>
        <p:spPr>
          <a:xfrm>
            <a:off x="399410" y="18522"/>
            <a:ext cx="1231867" cy="246421"/>
          </a:xfrm>
          <a:prstGeom prst="homePlate">
            <a:avLst>
              <a:gd name="adj" fmla="val 11543"/>
            </a:avLst>
          </a:prstGeom>
          <a:solidFill>
            <a:schemeClr val="accent1"/>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kern="0">
                <a:solidFill>
                  <a:prstClr val="white"/>
                </a:solidFill>
                <a:latin typeface="Ubuntu" panose="020B0504030602030204" pitchFamily="34" charset="0"/>
              </a:rPr>
              <a:t>Due Diligence</a:t>
            </a:r>
            <a:endParaRPr kumimoji="0" lang="en-US" sz="900" b="1" i="0" u="none" strike="noStrike" kern="0" cap="none" spc="0" normalizeH="0" baseline="0" noProof="0">
              <a:ln>
                <a:noFill/>
              </a:ln>
              <a:solidFill>
                <a:prstClr val="white"/>
              </a:solidFill>
              <a:effectLst/>
              <a:uLnTx/>
              <a:uFillTx/>
              <a:latin typeface="Ubuntu" panose="020B0504030602030204" pitchFamily="34" charset="0"/>
            </a:endParaRPr>
          </a:p>
        </p:txBody>
      </p:sp>
      <p:sp>
        <p:nvSpPr>
          <p:cNvPr id="21" name="Arrow: Chevron 61">
            <a:extLst>
              <a:ext uri="{FF2B5EF4-FFF2-40B4-BE49-F238E27FC236}">
                <a16:creationId xmlns:a16="http://schemas.microsoft.com/office/drawing/2014/main" id="{2BFCB3C4-BEE0-41B0-B67F-383F9C8AFC31}"/>
              </a:ext>
            </a:extLst>
          </p:cNvPr>
          <p:cNvSpPr/>
          <p:nvPr/>
        </p:nvSpPr>
        <p:spPr>
          <a:xfrm>
            <a:off x="1650899" y="18522"/>
            <a:ext cx="2070182" cy="246421"/>
          </a:xfrm>
          <a:prstGeom prst="chevron">
            <a:avLst>
              <a:gd name="adj" fmla="val 11543"/>
            </a:avLst>
          </a:prstGeom>
          <a:solidFill>
            <a:schemeClr val="bg1">
              <a:lumMod val="85000"/>
            </a:schemeClr>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white"/>
                </a:solidFill>
                <a:effectLst/>
                <a:uLnTx/>
                <a:uFillTx/>
                <a:latin typeface="Ubuntu" panose="020B0504030602030204" pitchFamily="34" charset="0"/>
                <a:ea typeface="+mn-ea"/>
                <a:cs typeface="+mn-cs"/>
              </a:rPr>
              <a:t>Design and Build (Sprint Agile)</a:t>
            </a:r>
          </a:p>
        </p:txBody>
      </p:sp>
      <p:sp>
        <p:nvSpPr>
          <p:cNvPr id="22" name="Arrow: Chevron 63">
            <a:extLst>
              <a:ext uri="{FF2B5EF4-FFF2-40B4-BE49-F238E27FC236}">
                <a16:creationId xmlns:a16="http://schemas.microsoft.com/office/drawing/2014/main" id="{9933FB53-AB87-4C80-B00A-54CF2D09FBF6}"/>
              </a:ext>
            </a:extLst>
          </p:cNvPr>
          <p:cNvSpPr/>
          <p:nvPr/>
        </p:nvSpPr>
        <p:spPr>
          <a:xfrm>
            <a:off x="5184601" y="18522"/>
            <a:ext cx="782842" cy="246421"/>
          </a:xfrm>
          <a:prstGeom prst="chevron">
            <a:avLst>
              <a:gd name="adj" fmla="val 11543"/>
            </a:avLst>
          </a:prstGeom>
          <a:solidFill>
            <a:schemeClr val="bg1">
              <a:lumMod val="85000"/>
            </a:schemeClr>
          </a:solidFill>
          <a:ln w="19050" cap="flat" cmpd="sng" algn="ctr">
            <a:noFill/>
            <a:prstDash val="solid"/>
            <a:miter lim="800000"/>
          </a:ln>
          <a:effectLst/>
        </p:spPr>
        <p:txBody>
          <a:bodyPr rot="0" spcFirstLastPara="0" vertOverflow="overflow" horzOverflow="overflow" vert="horz" wrap="square" lIns="36000" tIns="45720" rIns="3600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white"/>
                </a:solidFill>
                <a:effectLst/>
                <a:uLnTx/>
                <a:uFillTx/>
                <a:latin typeface="Ubuntu" panose="020B0504030602030204" pitchFamily="34" charset="0"/>
                <a:ea typeface="+mn-ea"/>
                <a:cs typeface="+mn-cs"/>
              </a:rPr>
              <a:t>Hyper care</a:t>
            </a:r>
          </a:p>
        </p:txBody>
      </p:sp>
      <p:sp>
        <p:nvSpPr>
          <p:cNvPr id="23" name="Arrow: Chevron 64">
            <a:extLst>
              <a:ext uri="{FF2B5EF4-FFF2-40B4-BE49-F238E27FC236}">
                <a16:creationId xmlns:a16="http://schemas.microsoft.com/office/drawing/2014/main" id="{0A6FD0C2-41E1-4688-A0B1-91FCD0220958}"/>
              </a:ext>
            </a:extLst>
          </p:cNvPr>
          <p:cNvSpPr/>
          <p:nvPr/>
        </p:nvSpPr>
        <p:spPr>
          <a:xfrm>
            <a:off x="3740703" y="18522"/>
            <a:ext cx="1424277" cy="246421"/>
          </a:xfrm>
          <a:prstGeom prst="chevron">
            <a:avLst>
              <a:gd name="adj" fmla="val 11543"/>
            </a:avLst>
          </a:prstGeom>
          <a:solidFill>
            <a:schemeClr val="bg1">
              <a:lumMod val="85000"/>
            </a:schemeClr>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prstClr val="white"/>
                </a:solidFill>
                <a:effectLst/>
                <a:uLnTx/>
                <a:uFillTx/>
                <a:latin typeface="Ubuntu" panose="020B0504030602030204" pitchFamily="34" charset="0"/>
                <a:ea typeface="+mn-ea"/>
                <a:cs typeface="+mn-cs"/>
              </a:rPr>
              <a:t>Stabilization</a:t>
            </a:r>
          </a:p>
        </p:txBody>
      </p:sp>
    </p:spTree>
    <p:extLst>
      <p:ext uri="{BB962C8B-B14F-4D97-AF65-F5344CB8AC3E}">
        <p14:creationId xmlns:p14="http://schemas.microsoft.com/office/powerpoint/2010/main" val="477504348"/>
      </p:ext>
    </p:extLst>
  </p:cSld>
  <p:clrMapOvr>
    <a:masterClrMapping/>
  </p:clrMapOvr>
</p:sld>
</file>

<file path=ppt/theme/theme1.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pt-Capgemini_Standard-Template_2023-v1.potx" id="{FD494643-5CA5-4A4E-8B38-63F4B370A0E2}" vid="{DF26224A-05B9-471C-96D9-61DD4C0AE63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5E2AF0-A9D8-4A46-9F5B-DB2C638BE082}"/>
</file>

<file path=customXml/itemProps2.xml><?xml version="1.0" encoding="utf-8"?>
<ds:datastoreItem xmlns:ds="http://schemas.openxmlformats.org/officeDocument/2006/customXml" ds:itemID="{4BEF5CF5-C5E8-488F-90D1-9BA9DE15F6A4}"/>
</file>

<file path=customXml/itemProps3.xml><?xml version="1.0" encoding="utf-8"?>
<ds:datastoreItem xmlns:ds="http://schemas.openxmlformats.org/officeDocument/2006/customXml" ds:itemID="{9F55BF52-1B47-473B-B673-7A0A7F5B04B0}"/>
</file>

<file path=docProps/app.xml><?xml version="1.0" encoding="utf-8"?>
<Properties xmlns="http://schemas.openxmlformats.org/officeDocument/2006/extended-properties" xmlns:vt="http://schemas.openxmlformats.org/officeDocument/2006/docPropsVTypes">
  <TotalTime>5</TotalTime>
  <Words>1487</Words>
  <Application>Microsoft Office PowerPoint</Application>
  <PresentationFormat>Widescreen</PresentationFormat>
  <Paragraphs>296</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Segoe UI</vt:lpstr>
      <vt:lpstr>Ubuntu</vt:lpstr>
      <vt:lpstr>Ubuntu Light</vt:lpstr>
      <vt:lpstr>Ubuntu Medium</vt:lpstr>
      <vt:lpstr>Verdana</vt:lpstr>
      <vt:lpstr>Wingdings</vt:lpstr>
      <vt:lpstr>Capgemini2021</vt:lpstr>
      <vt:lpstr>PROPOSED Delivery methodology Enabling Quality, agility, predictability and acceleration of delivery</vt:lpstr>
      <vt:lpstr>inception phase  Key Activities and Deliverables</vt:lpstr>
      <vt:lpstr>Raci – roles &amp; responsibilities*</vt:lpstr>
      <vt:lpstr>Due diligence phase staffing needs for EC*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PROPOSED Delivery methodology Enabling Quality, agility, predictability and acceleration of delivery</dc:title>
  <dc:creator>Radhakrishnan, Gopalakrishnan</dc:creator>
  <cp:lastModifiedBy>Radhakrishnan, Gopalakrishnan</cp:lastModifiedBy>
  <cp:revision>1</cp:revision>
  <dcterms:created xsi:type="dcterms:W3CDTF">2024-03-12T03:55:50Z</dcterms:created>
  <dcterms:modified xsi:type="dcterms:W3CDTF">2024-03-12T04:01:35Z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