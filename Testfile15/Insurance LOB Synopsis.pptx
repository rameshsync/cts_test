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4118" r:id="rId4"/>
  </p:sldMasterIdLst>
  <p:notesMasterIdLst>
    <p:notesMasterId r:id="rId29"/>
  </p:notesMasterIdLst>
  <p:handoutMasterIdLst>
    <p:handoutMasterId r:id="rId30"/>
  </p:handoutMasterIdLst>
  <p:sldIdLst>
    <p:sldId id="2145706654" r:id="rId5"/>
    <p:sldId id="2145706663" r:id="rId6"/>
    <p:sldId id="2145706655" r:id="rId7"/>
    <p:sldId id="2145706656" r:id="rId8"/>
    <p:sldId id="2145706657" r:id="rId9"/>
    <p:sldId id="2145706658" r:id="rId10"/>
    <p:sldId id="2145706660" r:id="rId11"/>
    <p:sldId id="2145706659" r:id="rId12"/>
    <p:sldId id="2145706661" r:id="rId13"/>
    <p:sldId id="2145706662" r:id="rId14"/>
    <p:sldId id="2145706664" r:id="rId15"/>
    <p:sldId id="2145706665" r:id="rId16"/>
    <p:sldId id="2145706667" r:id="rId17"/>
    <p:sldId id="2145706666" r:id="rId18"/>
    <p:sldId id="2145706669" r:id="rId19"/>
    <p:sldId id="2145706670" r:id="rId20"/>
    <p:sldId id="2145706671" r:id="rId21"/>
    <p:sldId id="2145706672" r:id="rId22"/>
    <p:sldId id="2145706675" r:id="rId23"/>
    <p:sldId id="2145706676" r:id="rId24"/>
    <p:sldId id="2145706677" r:id="rId25"/>
    <p:sldId id="2145706673" r:id="rId26"/>
    <p:sldId id="2145706668" r:id="rId27"/>
    <p:sldId id="2145706678" r:id="rId28"/>
  </p:sldIdLst>
  <p:sldSz cx="12192000" cy="6858000"/>
  <p:notesSz cx="6797675" cy="9926638"/>
  <p:embeddedFontLst>
    <p:embeddedFont>
      <p:font typeface="Roboto" panose="02000000000000000000" pitchFamily="2" charset="0"/>
      <p:regular r:id="rId31"/>
      <p:bold r:id="rId32"/>
      <p:italic r:id="rId33"/>
      <p:boldItalic r:id="rId34"/>
    </p:embeddedFont>
    <p:embeddedFont>
      <p:font typeface="Ubuntu" panose="020B050403060203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custDataLst>
    <p:tags r:id="rId43"/>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orient="horz" pos="2886" userDrawn="1">
          <p15:clr>
            <a:srgbClr val="A4A3A4"/>
          </p15:clr>
        </p15:guide>
        <p15:guide id="19" pos="5609" userDrawn="1">
          <p15:clr>
            <a:srgbClr val="A4A3A4"/>
          </p15:clr>
        </p15:guide>
        <p15:guide id="20" pos="2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4596B"/>
    <a:srgbClr val="616585"/>
    <a:srgbClr val="F6F6F6"/>
    <a:srgbClr val="005482"/>
    <a:srgbClr val="272936"/>
    <a:srgbClr val="003857"/>
    <a:srgbClr val="E6E6E6"/>
    <a:srgbClr val="00C37B"/>
    <a:srgbClr val="FF6327"/>
    <a:srgbClr val="CB29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90042-36A0-4CAB-98C7-FA29429BA5D3}" v="4" dt="2024-04-03T04:02:08.7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398" autoAdjust="0"/>
  </p:normalViewPr>
  <p:slideViewPr>
    <p:cSldViewPr>
      <p:cViewPr varScale="1">
        <p:scale>
          <a:sx n="66" d="100"/>
          <a:sy n="66" d="100"/>
        </p:scale>
        <p:origin x="668" y="32"/>
      </p:cViewPr>
      <p:guideLst>
        <p:guide orient="horz" pos="2886"/>
        <p:guide pos="5609"/>
        <p:guide pos="2071"/>
      </p:guideLst>
    </p:cSldViewPr>
  </p:slideViewPr>
  <p:outlineViewPr>
    <p:cViewPr>
      <p:scale>
        <a:sx n="33" d="100"/>
        <a:sy n="33" d="100"/>
      </p:scale>
      <p:origin x="0" y="-908"/>
    </p:cViewPr>
  </p:outlineViewPr>
  <p:notesTextViewPr>
    <p:cViewPr>
      <p:scale>
        <a:sx n="3" d="2"/>
        <a:sy n="3" d="2"/>
      </p:scale>
      <p:origin x="0" y="0"/>
    </p:cViewPr>
  </p:notesTextViewPr>
  <p:sorterViewPr>
    <p:cViewPr varScale="1">
      <p:scale>
        <a:sx n="100" d="100"/>
        <a:sy n="100" d="100"/>
      </p:scale>
      <p:origin x="0" y="0"/>
    </p:cViewPr>
  </p:sorterViewPr>
  <p:notesViewPr>
    <p:cSldViewPr>
      <p:cViewPr varScale="1">
        <p:scale>
          <a:sx n="106" d="100"/>
          <a:sy n="106" d="100"/>
        </p:scale>
        <p:origin x="2384" y="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1200"/>
            </a:lvl1pPr>
          </a:lstStyle>
          <a:p>
            <a:endParaRPr lang="pt-PT" sz="900" dirty="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3" y="0"/>
            <a:ext cx="2945659" cy="498056"/>
          </a:xfrm>
          <a:prstGeom prst="rect">
            <a:avLst/>
          </a:prstGeom>
        </p:spPr>
        <p:txBody>
          <a:bodyPr vert="horz" lIns="91418" tIns="45708" rIns="91418" bIns="45708" rtlCol="0"/>
          <a:lstStyle>
            <a:lvl1pPr algn="r">
              <a:defRPr sz="1200"/>
            </a:lvl1pPr>
          </a:lstStyle>
          <a:p>
            <a:fld id="{86C988DC-9DE3-4390-97AB-D61B85DACE57}" type="datetimeFigureOut">
              <a:rPr lang="pt-PT" sz="900"/>
              <a:pPr/>
              <a:t>12/10/2026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6"/>
            <a:ext cx="2945659" cy="498055"/>
          </a:xfrm>
          <a:prstGeom prst="rect">
            <a:avLst/>
          </a:prstGeom>
        </p:spPr>
        <p:txBody>
          <a:bodyPr vert="horz" lIns="91418" tIns="45708" rIns="91418" bIns="45708" rtlCol="0" anchor="b"/>
          <a:lstStyle>
            <a:lvl1pPr algn="l">
              <a:defRPr sz="1200"/>
            </a:lvl1pPr>
          </a:lstStyle>
          <a:p>
            <a:endParaRPr lang="pt-PT" sz="900" dirty="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3" y="9428586"/>
            <a:ext cx="2945659" cy="498055"/>
          </a:xfrm>
          <a:prstGeom prst="rect">
            <a:avLst/>
          </a:prstGeom>
        </p:spPr>
        <p:txBody>
          <a:bodyPr vert="horz" lIns="91418" tIns="45708" rIns="91418" bIns="45708" rtlCol="0" anchor="b"/>
          <a:lstStyle>
            <a:lvl1pPr algn="r">
              <a:defRPr sz="1200"/>
            </a:lvl1pPr>
          </a:lstStyle>
          <a:p>
            <a:fld id="{2F190BF9-40D8-49B5-87EF-599BB2C7EE93}" type="slidenum">
              <a:rPr lang="pt-PT" sz="900"/>
              <a:pPr/>
              <a:t>‹#›</a:t>
            </a:fld>
            <a:endParaRPr lang="pt-PT" sz="900" dirty="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900"/>
            </a:lvl1pPr>
          </a:lstStyle>
          <a:p>
            <a:endParaRPr lang="pt-BR"/>
          </a:p>
        </p:txBody>
      </p:sp>
      <p:sp>
        <p:nvSpPr>
          <p:cNvPr id="3" name="Marcador de Posição da Data 2"/>
          <p:cNvSpPr>
            <a:spLocks noGrp="1"/>
          </p:cNvSpPr>
          <p:nvPr>
            <p:ph type="dt" idx="1"/>
          </p:nvPr>
        </p:nvSpPr>
        <p:spPr>
          <a:xfrm>
            <a:off x="3850443" y="0"/>
            <a:ext cx="2945659" cy="498056"/>
          </a:xfrm>
          <a:prstGeom prst="rect">
            <a:avLst/>
          </a:prstGeom>
        </p:spPr>
        <p:txBody>
          <a:bodyPr vert="horz" lIns="91418" tIns="45708" rIns="91418" bIns="45708" rtlCol="0"/>
          <a:lstStyle>
            <a:lvl1pPr algn="r">
              <a:defRPr sz="900"/>
            </a:lvl1pPr>
          </a:lstStyle>
          <a:p>
            <a:fld id="{0835B8F7-DAC4-4931-8AED-4356A8B2FD64}" type="datetimeFigureOut">
              <a:rPr lang="pt-BR" smtClean="0"/>
              <a:pPr/>
              <a:t>12/10/2026</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8" tIns="45708" rIns="91418" bIns="45708"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18" tIns="45708" rIns="91418" bIns="45708"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9428586"/>
            <a:ext cx="2945659" cy="498055"/>
          </a:xfrm>
          <a:prstGeom prst="rect">
            <a:avLst/>
          </a:prstGeom>
        </p:spPr>
        <p:txBody>
          <a:bodyPr vert="horz" lIns="91418" tIns="45708" rIns="91418" bIns="45708"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50443" y="9428586"/>
            <a:ext cx="2945659" cy="498055"/>
          </a:xfrm>
          <a:prstGeom prst="rect">
            <a:avLst/>
          </a:prstGeom>
        </p:spPr>
        <p:txBody>
          <a:bodyPr vert="horz" lIns="91418" tIns="45708" rIns="91418" bIns="45708"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www.twitter.com/capgemini" TargetMode="Externa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www.twitter.com/capgemini" TargetMode="External"/></Relationships>
</file>

<file path=ppt/slideLayouts/_rels/slideLayout4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3.png"/><Relationship Id="rId3" Type="http://schemas.openxmlformats.org/officeDocument/2006/relationships/hyperlink" Target="http://www.facebook.com/capgemini" TargetMode="External"/><Relationship Id="rId7" Type="http://schemas.openxmlformats.org/officeDocument/2006/relationships/image" Target="../media/image11.png"/><Relationship Id="rId12" Type="http://schemas.openxmlformats.org/officeDocument/2006/relationships/hyperlink" Target="http://www.twitter.com/capgemini" TargetMode="External"/><Relationship Id="rId17" Type="http://schemas.microsoft.com/office/2007/relationships/hdphoto" Target="../media/hdphoto5.wdp"/><Relationship Id="rId2" Type="http://schemas.openxmlformats.org/officeDocument/2006/relationships/image" Target="../media/image4.png"/><Relationship Id="rId16"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hyperlink" Target="http://www.linkedin.com/company/capgemini" TargetMode="External"/><Relationship Id="rId11" Type="http://schemas.microsoft.com/office/2007/relationships/hdphoto" Target="../media/hdphoto3.wdp"/><Relationship Id="rId5" Type="http://schemas.microsoft.com/office/2007/relationships/hdphoto" Target="../media/hdphoto1.wdp"/><Relationship Id="rId15" Type="http://schemas.openxmlformats.org/officeDocument/2006/relationships/hyperlink" Target="http://www.youtube.com/capgeminimedia" TargetMode="External"/><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hyperlink" Target="http://www.slideshare.net/capgemini" TargetMode="External"/><Relationship Id="rId14" Type="http://schemas.microsoft.com/office/2007/relationships/hdphoto" Target="../media/hdphoto4.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6843686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1a">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822078082"/>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374155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a">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1266076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s slide 3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87326400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3b">
    <p:bg>
      <p:bgPr>
        <a:solidFill>
          <a:schemeClr val="accent4"/>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6009910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se slide 3c">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88322052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053956"/>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66929110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211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dirty="0"/>
              <a:t>Modifiez le style du titre</a:t>
            </a:r>
            <a:endParaRPr lang="en-GB" dirty="0"/>
          </a:p>
        </p:txBody>
      </p:sp>
    </p:spTree>
    <p:extLst>
      <p:ext uri="{BB962C8B-B14F-4D97-AF65-F5344CB8AC3E}">
        <p14:creationId xmlns:p14="http://schemas.microsoft.com/office/powerpoint/2010/main" val="402014262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3032"/>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33902574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dirty="0"/>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43877797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3867066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764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63753698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59878082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78986856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05506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C4263A-DA82-3AB3-0A84-F2337DC19F6E}"/>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407368" y="1865049"/>
            <a:ext cx="4967933"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407368" y="25371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407368" y="320932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407368" y="388146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407368" y="455360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407368" y="522574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407368" y="58978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p:nvPr>
        </p:nvSpPr>
        <p:spPr>
          <a:xfrm>
            <a:off x="414971" y="260350"/>
            <a:ext cx="5681029" cy="792163"/>
          </a:xfrm>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8071915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dirty="0"/>
              <a:t>Click to edit Agenda</a:t>
            </a:r>
            <a:endParaRPr lang="en-GB" dirty="0"/>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47933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endParaRPr lang="en-US" dirty="0"/>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10167871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3310458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Page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496153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887025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99055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dirty="0"/>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Tree>
    <p:extLst>
      <p:ext uri="{BB962C8B-B14F-4D97-AF65-F5344CB8AC3E}">
        <p14:creationId xmlns:p14="http://schemas.microsoft.com/office/powerpoint/2010/main" val="33580793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958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759244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217014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56664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6804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and picture 1">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1521094"/>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and picture 2">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6511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and picture 3">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299587924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nd picture 4">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23997279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7031742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2914079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6979813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and picture dark grey">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70553885"/>
      </p:ext>
    </p:extLst>
  </p:cSld>
  <p:clrMapOvr>
    <a:masterClrMapping/>
  </p:clrMapOvr>
  <p:extLst>
    <p:ext uri="{DCECCB84-F9BA-43D5-87BE-67443E8EF086}">
      <p15:sldGuideLst xmlns:p15="http://schemas.microsoft.com/office/powerpoint/2012/main">
        <p15:guide id="1" pos="5019"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and picture dark grey 2">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6989898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28114507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1297071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title Dark gradient">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1807172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Capgemini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628948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3" name="Picture 5">
            <a:hlinkClick r:id="rId9"/>
            <a:extLst>
              <a:ext uri="{FF2B5EF4-FFF2-40B4-BE49-F238E27FC236}">
                <a16:creationId xmlns:a16="http://schemas.microsoft.com/office/drawing/2014/main" id="{E06B9B23-CBC0-7D38-E7EC-BE653F10478C}"/>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p:blipFill>
        <p:spPr bwMode="auto">
          <a:xfrm>
            <a:off x="9669687" y="5571089"/>
            <a:ext cx="333195" cy="333195"/>
          </a:xfrm>
          <a:prstGeom prst="rect">
            <a:avLst/>
          </a:prstGeom>
          <a:noFill/>
        </p:spPr>
      </p:pic>
      <p:pic>
        <p:nvPicPr>
          <p:cNvPr id="17" name="Picture 6">
            <a:hlinkClick r:id="rId11"/>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10047796"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946552535"/>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Final Slide gradient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3" name="Picture 5">
            <a:hlinkClick r:id="rId9"/>
            <a:extLst>
              <a:ext uri="{FF2B5EF4-FFF2-40B4-BE49-F238E27FC236}">
                <a16:creationId xmlns:a16="http://schemas.microsoft.com/office/drawing/2014/main" id="{E06B9B23-CBC0-7D38-E7EC-BE653F10478C}"/>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p:blipFill>
        <p:spPr bwMode="auto">
          <a:xfrm>
            <a:off x="9669687" y="5571089"/>
            <a:ext cx="333195" cy="333195"/>
          </a:xfrm>
          <a:prstGeom prst="rect">
            <a:avLst/>
          </a:prstGeom>
          <a:noFill/>
        </p:spPr>
      </p:pic>
      <p:pic>
        <p:nvPicPr>
          <p:cNvPr id="17" name="Picture 6">
            <a:hlinkClick r:id="rId11"/>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10047796"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21426425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Final Slide grey">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6A5DB-4C4F-1F79-F6F4-3019062D13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tx1"/>
                </a:solidFill>
                <a:latin typeface="+mn-lt"/>
                <a:cs typeface="Arial"/>
              </a:rPr>
              <a:t>Copyright © 2024 Capgemini. All rights reserved.</a:t>
            </a:r>
          </a:p>
        </p:txBody>
      </p:sp>
      <p:pic>
        <p:nvPicPr>
          <p:cNvPr id="26" name="Picture 7">
            <a:hlinkClick r:id="rId3"/>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4" cstate="screen">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6"/>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7" cstate="screen">
            <a:duotone>
              <a:prstClr val="black"/>
              <a:schemeClr val="accent4">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06310" y="5569299"/>
            <a:ext cx="333195" cy="333195"/>
          </a:xfrm>
          <a:prstGeom prst="rect">
            <a:avLst/>
          </a:prstGeom>
          <a:noFill/>
        </p:spPr>
      </p:pic>
      <p:pic>
        <p:nvPicPr>
          <p:cNvPr id="28" name="Picture 4">
            <a:hlinkClick r:id="rId9"/>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10" cstate="screen">
            <a:duotone>
              <a:prstClr val="black"/>
              <a:schemeClr val="accent4">
                <a:tint val="45000"/>
                <a:satMod val="400000"/>
              </a:schemeClr>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289687" y="5569299"/>
            <a:ext cx="333195" cy="333195"/>
          </a:xfrm>
          <a:prstGeom prst="rect">
            <a:avLst/>
          </a:prstGeom>
          <a:noFill/>
        </p:spPr>
      </p:pic>
      <p:pic>
        <p:nvPicPr>
          <p:cNvPr id="29" name="Picture 5">
            <a:hlinkClick r:id="rId12"/>
            <a:extLst>
              <a:ext uri="{FF2B5EF4-FFF2-40B4-BE49-F238E27FC236}">
                <a16:creationId xmlns:a16="http://schemas.microsoft.com/office/drawing/2014/main" id="{97173D96-104B-3123-C00C-3C171ADC2E69}"/>
              </a:ext>
            </a:extLst>
          </p:cNvPr>
          <p:cNvPicPr>
            <a:picLocks noChangeAspect="1" noChangeArrowheads="1"/>
          </p:cNvPicPr>
          <p:nvPr userDrawn="1"/>
        </p:nvPicPr>
        <p:blipFill>
          <a:blip r:embed="rId13" cstate="screen">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100000" contrast="100000"/>
                    </a14:imgEffect>
                  </a14:imgLayer>
                </a14:imgProps>
              </a:ext>
              <a:ext uri="{28A0092B-C50C-407E-A947-70E740481C1C}">
                <a14:useLocalDpi xmlns:a14="http://schemas.microsoft.com/office/drawing/2010/main"/>
              </a:ext>
            </a:extLst>
          </a:blip>
          <a:srcRect/>
          <a:stretch/>
        </p:blipFill>
        <p:spPr bwMode="auto">
          <a:xfrm>
            <a:off x="9673064" y="5569299"/>
            <a:ext cx="333195" cy="333195"/>
          </a:xfrm>
          <a:prstGeom prst="rect">
            <a:avLst/>
          </a:prstGeom>
          <a:noFill/>
        </p:spPr>
      </p:pic>
      <p:pic>
        <p:nvPicPr>
          <p:cNvPr id="30" name="Picture 6">
            <a:hlinkClick r:id="rId15"/>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6" cstate="screen">
            <a:duotone>
              <a:prstClr val="black"/>
              <a:schemeClr val="accent4">
                <a:tint val="45000"/>
                <a:satMod val="400000"/>
              </a:schemeClr>
            </a:duotone>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10056440" y="5569299"/>
            <a:ext cx="333195" cy="333195"/>
          </a:xfrm>
          <a:prstGeom prst="rect">
            <a:avLst/>
          </a:prstGeom>
          <a:noFill/>
        </p:spPr>
      </p:pic>
      <p:grpSp>
        <p:nvGrpSpPr>
          <p:cNvPr id="2" name="Group 1">
            <a:extLst>
              <a:ext uri="{FF2B5EF4-FFF2-40B4-BE49-F238E27FC236}">
                <a16:creationId xmlns:a16="http://schemas.microsoft.com/office/drawing/2014/main" id="{FE4C124A-1677-5379-4F1F-D80E084B6A07}"/>
              </a:ext>
            </a:extLst>
          </p:cNvPr>
          <p:cNvGrpSpPr>
            <a:grpSpLocks noChangeAspect="1"/>
          </p:cNvGrpSpPr>
          <p:nvPr userDrawn="1"/>
        </p:nvGrpSpPr>
        <p:grpSpPr>
          <a:xfrm>
            <a:off x="443236" y="6021288"/>
            <a:ext cx="1872000" cy="420870"/>
            <a:chOff x="5095385" y="4090756"/>
            <a:chExt cx="3033729" cy="682053"/>
          </a:xfrm>
        </p:grpSpPr>
        <p:sp>
          <p:nvSpPr>
            <p:cNvPr id="3" name="Freeform: Shape 2">
              <a:extLst>
                <a:ext uri="{FF2B5EF4-FFF2-40B4-BE49-F238E27FC236}">
                  <a16:creationId xmlns:a16="http://schemas.microsoft.com/office/drawing/2014/main" id="{17CD1832-464E-8F19-D1FF-C26D2A4008C4}"/>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A27580D5-10C4-1378-1B16-22D2C6577A5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8296E9CB-B7F8-9F5C-5A91-CC70339F428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6" name="Freeform: Shape 14">
              <a:extLst>
                <a:ext uri="{FF2B5EF4-FFF2-40B4-BE49-F238E27FC236}">
                  <a16:creationId xmlns:a16="http://schemas.microsoft.com/office/drawing/2014/main" id="{4046F42C-B4B1-F5B5-97B0-295157FB511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7" name="Freeform: Shape 20">
              <a:extLst>
                <a:ext uri="{FF2B5EF4-FFF2-40B4-BE49-F238E27FC236}">
                  <a16:creationId xmlns:a16="http://schemas.microsoft.com/office/drawing/2014/main" id="{B9876A18-1EED-B3A2-6F45-2D9C7CE3D38D}"/>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426123466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47"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dirty="0"/>
              <a:t>Modifiez le style du titre</a:t>
            </a:r>
            <a:endParaRPr lang="de-DE" dirty="0"/>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dirty="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719133398"/>
      </p:ext>
    </p:extLst>
  </p:cSld>
  <p:clrMap bg1="lt1" tx1="dk1" bg2="lt2" tx2="dk2" accent1="accent1" accent2="accent2" accent3="accent3" accent4="accent4" accent5="accent5" accent6="accent6" hlink="hlink" folHlink="folHlink"/>
  <p:sldLayoutIdLst>
    <p:sldLayoutId id="2147484165" r:id="rId1"/>
    <p:sldLayoutId id="2147484177" r:id="rId2"/>
    <p:sldLayoutId id="2147484198" r:id="rId3"/>
    <p:sldLayoutId id="2147484119" r:id="rId4"/>
    <p:sldLayoutId id="2147484199" r:id="rId5"/>
    <p:sldLayoutId id="2147484162" r:id="rId6"/>
    <p:sldLayoutId id="2147484158" r:id="rId7"/>
    <p:sldLayoutId id="2147484169" r:id="rId8"/>
    <p:sldLayoutId id="2147484179" r:id="rId9"/>
    <p:sldLayoutId id="2147484180" r:id="rId10"/>
    <p:sldLayoutId id="2147484181" r:id="rId11"/>
    <p:sldLayoutId id="2147484184" r:id="rId12"/>
    <p:sldLayoutId id="2147484185" r:id="rId13"/>
    <p:sldLayoutId id="2147484186" r:id="rId14"/>
    <p:sldLayoutId id="2147484187" r:id="rId15"/>
    <p:sldLayoutId id="2147484124" r:id="rId16"/>
    <p:sldLayoutId id="2147484200" r:id="rId17"/>
    <p:sldLayoutId id="2147484194" r:id="rId18"/>
    <p:sldLayoutId id="2147484159" r:id="rId19"/>
    <p:sldLayoutId id="2147484125" r:id="rId20"/>
    <p:sldLayoutId id="2147484126" r:id="rId21"/>
    <p:sldLayoutId id="2147484127" r:id="rId22"/>
    <p:sldLayoutId id="2147484128" r:id="rId23"/>
    <p:sldLayoutId id="2147484129" r:id="rId24"/>
    <p:sldLayoutId id="2147484130" r:id="rId25"/>
    <p:sldLayoutId id="2147484131" r:id="rId26"/>
    <p:sldLayoutId id="2147484132" r:id="rId27"/>
    <p:sldLayoutId id="2147484133" r:id="rId28"/>
    <p:sldLayoutId id="2147484134" r:id="rId29"/>
    <p:sldLayoutId id="2147484135" r:id="rId30"/>
    <p:sldLayoutId id="2147484136" r:id="rId31"/>
    <p:sldLayoutId id="2147484137" r:id="rId32"/>
    <p:sldLayoutId id="2147484138" r:id="rId33"/>
    <p:sldLayoutId id="2147484195" r:id="rId34"/>
    <p:sldLayoutId id="2147484144" r:id="rId35"/>
    <p:sldLayoutId id="2147484197" r:id="rId36"/>
    <p:sldLayoutId id="2147484139" r:id="rId37"/>
    <p:sldLayoutId id="2147484140" r:id="rId38"/>
    <p:sldLayoutId id="2147484141" r:id="rId39"/>
    <p:sldLayoutId id="2147484142" r:id="rId40"/>
    <p:sldLayoutId id="2147484143" r:id="rId41"/>
    <p:sldLayoutId id="2147484145" r:id="rId42"/>
    <p:sldLayoutId id="2147484156" r:id="rId43"/>
    <p:sldLayoutId id="2147484201" r:id="rId44"/>
    <p:sldLayoutId id="2147484160" r:id="rId45"/>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userDrawn="1">
          <p15:clr>
            <a:srgbClr val="F26B43"/>
          </p15:clr>
        </p15:guide>
        <p15:guide id="19" orient="horz" pos="4320" userDrawn="1">
          <p15:clr>
            <a:srgbClr val="F26B43"/>
          </p15:clr>
        </p15:guide>
        <p15:guide id="20" pos="257" userDrawn="1">
          <p15:clr>
            <a:srgbClr val="F26B43"/>
          </p15:clr>
        </p15:guide>
        <p15:guide id="21" pos="3840">
          <p15:clr>
            <a:srgbClr val="F26B43"/>
          </p15:clr>
        </p15:guide>
        <p15:guide id="22" pos="7423" userDrawn="1">
          <p15:clr>
            <a:srgbClr val="F26B43"/>
          </p15:clr>
        </p15:guide>
        <p15:guide id="23" orient="horz" pos="255" userDrawn="1">
          <p15:clr>
            <a:srgbClr val="F26B43"/>
          </p15:clr>
        </p15:guide>
        <p15:guide id="24" orient="horz" pos="1026">
          <p15:clr>
            <a:srgbClr val="F26B43"/>
          </p15:clr>
        </p15:guide>
        <p15:guide id="26" orient="horz" pos="4065" userDrawn="1">
          <p15:clr>
            <a:srgbClr val="F26B43"/>
          </p15:clr>
        </p15:guide>
        <p15:guide id="27" orient="horz" pos="89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8D969B0-DABF-C117-2606-741F784C7195}"/>
              </a:ext>
            </a:extLst>
          </p:cNvPr>
          <p:cNvSpPr>
            <a:spLocks noGrp="1"/>
          </p:cNvSpPr>
          <p:nvPr>
            <p:ph type="body" sz="quarter" idx="10"/>
          </p:nvPr>
        </p:nvSpPr>
        <p:spPr/>
        <p:txBody>
          <a:bodyPr/>
          <a:lstStyle/>
          <a:p>
            <a:r>
              <a:rPr lang="en-GB" dirty="0"/>
              <a:t>Background Information</a:t>
            </a:r>
          </a:p>
        </p:txBody>
      </p:sp>
      <p:sp>
        <p:nvSpPr>
          <p:cNvPr id="3" name="Title 2">
            <a:extLst>
              <a:ext uri="{FF2B5EF4-FFF2-40B4-BE49-F238E27FC236}">
                <a16:creationId xmlns:a16="http://schemas.microsoft.com/office/drawing/2014/main" id="{B805AA8D-70B7-CD08-B0B8-C3BCB3145EC2}"/>
              </a:ext>
            </a:extLst>
          </p:cNvPr>
          <p:cNvSpPr>
            <a:spLocks noGrp="1"/>
          </p:cNvSpPr>
          <p:nvPr>
            <p:ph type="ctrTitle" idx="4294967295"/>
          </p:nvPr>
        </p:nvSpPr>
        <p:spPr>
          <a:xfrm>
            <a:off x="560387" y="4725144"/>
            <a:ext cx="11090275" cy="747712"/>
          </a:xfrm>
        </p:spPr>
        <p:txBody>
          <a:bodyPr/>
          <a:lstStyle/>
          <a:p>
            <a:r>
              <a:rPr lang="en-GB" dirty="0"/>
              <a:t>Specialty Insurance</a:t>
            </a:r>
          </a:p>
        </p:txBody>
      </p:sp>
    </p:spTree>
    <p:extLst>
      <p:ext uri="{BB962C8B-B14F-4D97-AF65-F5344CB8AC3E}">
        <p14:creationId xmlns:p14="http://schemas.microsoft.com/office/powerpoint/2010/main" val="1964196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4070ED2-0A90-9331-F371-8ECE091BB332}"/>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7FFB0BC3-3BF6-292D-E0E7-DD4FDD2B5A0E}"/>
              </a:ext>
            </a:extLst>
          </p:cNvPr>
          <p:cNvSpPr>
            <a:spLocks noGrp="1"/>
          </p:cNvSpPr>
          <p:nvPr>
            <p:ph type="title"/>
          </p:nvPr>
        </p:nvSpPr>
        <p:spPr/>
        <p:txBody>
          <a:bodyPr/>
          <a:lstStyle/>
          <a:p>
            <a:r>
              <a:rPr lang="en-GB" dirty="0"/>
              <a:t>Introduction</a:t>
            </a:r>
          </a:p>
        </p:txBody>
      </p:sp>
      <p:sp>
        <p:nvSpPr>
          <p:cNvPr id="6" name="Text Placeholder 5">
            <a:extLst>
              <a:ext uri="{FF2B5EF4-FFF2-40B4-BE49-F238E27FC236}">
                <a16:creationId xmlns:a16="http://schemas.microsoft.com/office/drawing/2014/main" id="{C26CE021-CD3F-616F-717B-9FD5E88EFCE0}"/>
              </a:ext>
            </a:extLst>
          </p:cNvPr>
          <p:cNvSpPr>
            <a:spLocks noGrp="1"/>
          </p:cNvSpPr>
          <p:nvPr>
            <p:ph type="body" sz="quarter" idx="17"/>
          </p:nvPr>
        </p:nvSpPr>
        <p:spPr/>
        <p:txBody>
          <a:bodyPr/>
          <a:lstStyle/>
          <a:p>
            <a:r>
              <a:rPr lang="en-GB" dirty="0"/>
              <a:t>Many of the products issued in the specialty market are simple with basic coverages and a few extensions.  They are termed “Specialty” because of the nature of the risks that they are covering – they are risks that most underwriters, especially in the provincial markets, will not cover, hence the term “Specialty”</a:t>
            </a:r>
          </a:p>
          <a:p>
            <a:r>
              <a:rPr lang="en-GB" dirty="0"/>
              <a:t>Risk evaluation for the specialty market can be challenging with each proposal being looked at on it’s merits.  Some of the products are still evolving as technology and risks evolve and expand.  For instance Cyber, with new cyber risks with new cyber risks like loss of bitcoin wallets, appearing.  New technologies and new manufacturing processes lead to new environmental hazards, etc.</a:t>
            </a:r>
          </a:p>
          <a:p>
            <a:r>
              <a:rPr lang="en-GB" dirty="0"/>
              <a:t>Lloyd’s underwriters are adept and assessing these risks and producing policy wordings to meet market needs.</a:t>
            </a:r>
          </a:p>
          <a:p>
            <a:r>
              <a:rPr lang="en-GB" dirty="0"/>
              <a:t>Having said the coverages can be described as straight forward to implement, the exposures involved can be huge and represent levels that cannot be readily handled by a single insurer.  This is a strength of the Lloyd’s market where a broker can find a lead insurer and a willing follow market.</a:t>
            </a:r>
          </a:p>
          <a:p>
            <a:endParaRPr lang="en-GB" dirty="0"/>
          </a:p>
          <a:p>
            <a:r>
              <a:rPr lang="en-GB" dirty="0"/>
              <a:t>The next few slides give a brief overview of different types of insurance products that are available on the market.</a:t>
            </a:r>
          </a:p>
        </p:txBody>
      </p:sp>
    </p:spTree>
    <p:extLst>
      <p:ext uri="{BB962C8B-B14F-4D97-AF65-F5344CB8AC3E}">
        <p14:creationId xmlns:p14="http://schemas.microsoft.com/office/powerpoint/2010/main" val="346753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065C94C-840E-2C0F-BC5D-D478FD2C2AE0}"/>
              </a:ext>
            </a:extLst>
          </p:cNvPr>
          <p:cNvSpPr>
            <a:spLocks noGrp="1"/>
          </p:cNvSpPr>
          <p:nvPr>
            <p:ph type="body" sz="quarter" idx="15"/>
          </p:nvPr>
        </p:nvSpPr>
        <p:spPr/>
        <p:txBody>
          <a:bodyPr/>
          <a:lstStyle/>
          <a:p>
            <a:endParaRPr lang="en-GB"/>
          </a:p>
        </p:txBody>
      </p:sp>
      <p:sp>
        <p:nvSpPr>
          <p:cNvPr id="4" name="Title 3">
            <a:extLst>
              <a:ext uri="{FF2B5EF4-FFF2-40B4-BE49-F238E27FC236}">
                <a16:creationId xmlns:a16="http://schemas.microsoft.com/office/drawing/2014/main" id="{BE063A67-B2BE-070B-BF37-0D5014114021}"/>
              </a:ext>
            </a:extLst>
          </p:cNvPr>
          <p:cNvSpPr>
            <a:spLocks noGrp="1"/>
          </p:cNvSpPr>
          <p:nvPr>
            <p:ph type="title"/>
          </p:nvPr>
        </p:nvSpPr>
        <p:spPr/>
        <p:txBody>
          <a:bodyPr/>
          <a:lstStyle/>
          <a:p>
            <a:r>
              <a:rPr lang="en-GB" dirty="0"/>
              <a:t>Directors &amp; Officers Liability Insurance</a:t>
            </a:r>
          </a:p>
        </p:txBody>
      </p:sp>
      <p:sp>
        <p:nvSpPr>
          <p:cNvPr id="6" name="Text Placeholder 5">
            <a:extLst>
              <a:ext uri="{FF2B5EF4-FFF2-40B4-BE49-F238E27FC236}">
                <a16:creationId xmlns:a16="http://schemas.microsoft.com/office/drawing/2014/main" id="{D2AD4451-9875-8C16-A74C-29AFACBB2593}"/>
              </a:ext>
            </a:extLst>
          </p:cNvPr>
          <p:cNvSpPr>
            <a:spLocks noGrp="1"/>
          </p:cNvSpPr>
          <p:nvPr>
            <p:ph type="body" sz="quarter" idx="17"/>
          </p:nvPr>
        </p:nvSpPr>
        <p:spPr/>
        <p:txBody>
          <a:bodyPr/>
          <a:lstStyle/>
          <a:p>
            <a:r>
              <a:rPr lang="en-GB" b="1" dirty="0">
                <a:solidFill>
                  <a:srgbClr val="0070C0"/>
                </a:solidFill>
              </a:rPr>
              <a:t>Synopsis</a:t>
            </a:r>
          </a:p>
          <a:p>
            <a:r>
              <a:rPr lang="en-GB" dirty="0"/>
              <a:t>Directors and officers liability insurance (D&amp;O) is liability insurance payable to the directors and officers of a company, or to the company itself, as indemnification for losses incurred as a result of a legal action brought for alleged wrongful acts undertaken by individuals in their capacity as directors and officers of the company. Such coverage may extend to </a:t>
            </a:r>
            <a:r>
              <a:rPr lang="en-GB" dirty="0" err="1"/>
              <a:t>defense</a:t>
            </a:r>
            <a:r>
              <a:rPr lang="en-GB" dirty="0"/>
              <a:t> costs arising from criminal and regulatory investigations or trials; in fact, often civil and criminal actions are brought against directors and officers simultaneously. Intentional illegal acts, however, are typically not covered under D&amp;O policies.</a:t>
            </a:r>
          </a:p>
          <a:p>
            <a:r>
              <a:rPr lang="en-GB" dirty="0"/>
              <a:t>The insurance is closely related to corporate governance, corporate law, and the fiduciary duty owed to shareholders or other beneficiaries by the directors and officers.</a:t>
            </a:r>
          </a:p>
          <a:p>
            <a:endParaRPr lang="en-GB" dirty="0"/>
          </a:p>
          <a:p>
            <a:r>
              <a:rPr lang="en-GB" b="1" dirty="0">
                <a:solidFill>
                  <a:srgbClr val="0070C0"/>
                </a:solidFill>
              </a:rPr>
              <a:t>Coverage</a:t>
            </a:r>
          </a:p>
          <a:p>
            <a:r>
              <a:rPr lang="en-GB" dirty="0"/>
              <a:t>There are three insuring clauses, Side-A, or "non-indemnified"; Side-B, or "indemnified"; and Side-C, or "entity securities coverage". D&amp;O policies may also provide an additional Side-D clause, which provides for a sublimit for investigative costs coverage related to a shareholder derivative demand. In detail, the coverage clauses provide the following:</a:t>
            </a:r>
          </a:p>
          <a:p>
            <a:pPr marL="285750" indent="-285750">
              <a:buFont typeface="Arial" panose="020B0604020202020204" pitchFamily="34" charset="0"/>
              <a:buChar char="•"/>
            </a:pPr>
            <a:r>
              <a:rPr lang="en-GB" dirty="0"/>
              <a:t>Side-A provides coverage to individual directors and officers when not indemnified by the corporation due to applicable law or financial incapability of the corporation. However, exclusions may apply if a corporation simply refuses to pay the legal </a:t>
            </a:r>
            <a:r>
              <a:rPr lang="en-GB" dirty="0" err="1"/>
              <a:t>defense</a:t>
            </a:r>
            <a:r>
              <a:rPr lang="en-GB" dirty="0"/>
              <a:t> costs/loss of a director or officer, or if a bankruptcy court issues an order preventing such indemnification</a:t>
            </a:r>
          </a:p>
          <a:p>
            <a:pPr marL="285750" indent="-285750">
              <a:buFont typeface="Arial" panose="020B0604020202020204" pitchFamily="34" charset="0"/>
              <a:buChar char="•"/>
            </a:pPr>
            <a:r>
              <a:rPr lang="en-GB" dirty="0"/>
              <a:t>Side-B provides coverage for the company when it indemnifies the directors and officers (corporate reimbursement)</a:t>
            </a:r>
          </a:p>
          <a:p>
            <a:pPr marL="285750" indent="-285750">
              <a:buFont typeface="Arial" panose="020B0604020202020204" pitchFamily="34" charset="0"/>
              <a:buChar char="•"/>
            </a:pPr>
            <a:r>
              <a:rPr lang="en-GB" dirty="0"/>
              <a:t>Side-C provides coverage to the company itself for securities claims brought against it</a:t>
            </a:r>
          </a:p>
          <a:p>
            <a:pPr marL="285750" indent="-285750">
              <a:buFont typeface="Arial" panose="020B0604020202020204" pitchFamily="34" charset="0"/>
              <a:buChar char="•"/>
            </a:pPr>
            <a:r>
              <a:rPr lang="en-GB" dirty="0"/>
              <a:t>Companies can elect to purchase one or more coverages or Side-ABC</a:t>
            </a:r>
          </a:p>
        </p:txBody>
      </p:sp>
    </p:spTree>
    <p:extLst>
      <p:ext uri="{BB962C8B-B14F-4D97-AF65-F5344CB8AC3E}">
        <p14:creationId xmlns:p14="http://schemas.microsoft.com/office/powerpoint/2010/main" val="102208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57308E-15C9-44C5-F2A0-2D604C20BA41}"/>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222D2634-DB6A-C1CD-4005-AC681B133421}"/>
              </a:ext>
            </a:extLst>
          </p:cNvPr>
          <p:cNvSpPr>
            <a:spLocks noGrp="1"/>
          </p:cNvSpPr>
          <p:nvPr>
            <p:ph type="title"/>
          </p:nvPr>
        </p:nvSpPr>
        <p:spPr/>
        <p:txBody>
          <a:bodyPr/>
          <a:lstStyle/>
          <a:p>
            <a:r>
              <a:rPr lang="en-GB" dirty="0"/>
              <a:t>Directors &amp; Officers Liability Insurance</a:t>
            </a:r>
          </a:p>
        </p:txBody>
      </p:sp>
      <p:sp>
        <p:nvSpPr>
          <p:cNvPr id="4" name="Text Placeholder 3">
            <a:extLst>
              <a:ext uri="{FF2B5EF4-FFF2-40B4-BE49-F238E27FC236}">
                <a16:creationId xmlns:a16="http://schemas.microsoft.com/office/drawing/2014/main" id="{72069A9F-321F-B3F4-EB34-D0E3D77041A0}"/>
              </a:ext>
            </a:extLst>
          </p:cNvPr>
          <p:cNvSpPr>
            <a:spLocks noGrp="1"/>
          </p:cNvSpPr>
          <p:nvPr>
            <p:ph type="body" sz="quarter" idx="17"/>
          </p:nvPr>
        </p:nvSpPr>
        <p:spPr/>
        <p:txBody>
          <a:bodyPr/>
          <a:lstStyle/>
          <a:p>
            <a:r>
              <a:rPr lang="en-GB" b="1" dirty="0">
                <a:solidFill>
                  <a:srgbClr val="0070C0"/>
                </a:solidFill>
              </a:rPr>
              <a:t>Claims</a:t>
            </a:r>
          </a:p>
          <a:p>
            <a:r>
              <a:rPr lang="en-GB" dirty="0"/>
              <a:t>The types of claims brought are dependent on the nature of the company. Directors and officers of a corporation may be liable if they damage the corporation as a result of a breach of their legal duty, mix personal and business assets, or fail to disclose conflicts of interest. Even innocent errors in judgment by executives may precipitate claims.</a:t>
            </a:r>
          </a:p>
          <a:p>
            <a:r>
              <a:rPr lang="en-GB" dirty="0"/>
              <a:t>For public companies, claims are primarily due to lawsuits by shareholders after the company experiences financial difficulties. Other claims may arise from shareholder-derivative actions, creditors (particularly after entering insolvency), customers, regulators and competitors (for anti-trust or unfair trade practice allegations). </a:t>
            </a:r>
          </a:p>
          <a:p>
            <a:r>
              <a:rPr lang="en-GB" dirty="0"/>
              <a:t>For nonprofits, claims are typically related to employment practice and less commonly regulatory or other fiduciary claims.</a:t>
            </a:r>
          </a:p>
          <a:p>
            <a:r>
              <a:rPr lang="en-GB" dirty="0"/>
              <a:t>For private companies, claims are often from competitors or customers for antitrust or deceptive business practices.</a:t>
            </a:r>
          </a:p>
          <a:p>
            <a:r>
              <a:rPr lang="en-GB" dirty="0"/>
              <a:t>One relatively neglected area is the personal liability to non-shareholders that directors may face due to torts committed as a result of negligent supervision.</a:t>
            </a:r>
          </a:p>
        </p:txBody>
      </p:sp>
    </p:spTree>
    <p:extLst>
      <p:ext uri="{BB962C8B-B14F-4D97-AF65-F5344CB8AC3E}">
        <p14:creationId xmlns:p14="http://schemas.microsoft.com/office/powerpoint/2010/main" val="216068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529F4B-AA9C-1383-58E9-EC854A0D8E01}"/>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85FFCBE5-53E2-1A1C-A27B-89FAAC3B6B0F}"/>
              </a:ext>
            </a:extLst>
          </p:cNvPr>
          <p:cNvSpPr>
            <a:spLocks noGrp="1"/>
          </p:cNvSpPr>
          <p:nvPr>
            <p:ph type="title"/>
          </p:nvPr>
        </p:nvSpPr>
        <p:spPr/>
        <p:txBody>
          <a:bodyPr/>
          <a:lstStyle/>
          <a:p>
            <a:r>
              <a:rPr lang="en-GB" dirty="0"/>
              <a:t>Financial Crime</a:t>
            </a:r>
          </a:p>
        </p:txBody>
      </p:sp>
      <p:sp>
        <p:nvSpPr>
          <p:cNvPr id="4" name="Text Placeholder 3">
            <a:extLst>
              <a:ext uri="{FF2B5EF4-FFF2-40B4-BE49-F238E27FC236}">
                <a16:creationId xmlns:a16="http://schemas.microsoft.com/office/drawing/2014/main" id="{E94A109B-B6F0-7E07-9EEE-039E9354F24F}"/>
              </a:ext>
            </a:extLst>
          </p:cNvPr>
          <p:cNvSpPr>
            <a:spLocks noGrp="1"/>
          </p:cNvSpPr>
          <p:nvPr>
            <p:ph type="body" sz="quarter" idx="17"/>
          </p:nvPr>
        </p:nvSpPr>
        <p:spPr/>
        <p:txBody>
          <a:bodyPr/>
          <a:lstStyle/>
          <a:p>
            <a:r>
              <a:rPr lang="en-GB" sz="1300" b="1" dirty="0">
                <a:solidFill>
                  <a:srgbClr val="0070C0"/>
                </a:solidFill>
              </a:rPr>
              <a:t>Synopsis</a:t>
            </a:r>
          </a:p>
          <a:p>
            <a:r>
              <a:rPr lang="en-GB" sz="1300" dirty="0"/>
              <a:t>Financial crime insurance typically aims to cover losses resulting from fraud committed by employees in circumstances described by the policy terms and conditions. This type of insurance is intended to cover the unavoidable risk associated with companies entrusting employees with their assets. In some instances, crime insurance policies also cover frauds perpetrated by third parties. Given that a company’s internal controls should cover much of the risk associated with third party fraud, cover for this type of crime is often quite specific. Subject to the exact policy terms and conditions, crime policies often cover the “direct financial loss” suffered by a company as a consequence of the crime. In simple terms, this usually comprises the amount of cash or value of the items misappropriated. It may well not include fines, penalties, salaries and bonuses, commissions, fees and any associated lost income. </a:t>
            </a:r>
          </a:p>
          <a:p>
            <a:endParaRPr lang="en-GB" sz="1300" dirty="0"/>
          </a:p>
          <a:p>
            <a:r>
              <a:rPr lang="en-GB" sz="1300" b="1" dirty="0">
                <a:solidFill>
                  <a:srgbClr val="0070C0"/>
                </a:solidFill>
              </a:rPr>
              <a:t>Coverage</a:t>
            </a:r>
          </a:p>
          <a:p>
            <a:r>
              <a:rPr lang="en-GB" sz="1300" dirty="0"/>
              <a:t>As detailed above the crime insurance policy covers theft and fraud by employees and in some cases by third parties.</a:t>
            </a:r>
          </a:p>
          <a:p>
            <a:r>
              <a:rPr lang="en-GB" sz="1300" dirty="0"/>
              <a:t>As an extension of cover Fraud Investigation cover enables the insured to appoint a fraud investigator to assist them in establishing what has happened and in reporting the facts of the claim to the insurers.</a:t>
            </a:r>
          </a:p>
          <a:p>
            <a:pPr marL="285750" indent="-285750">
              <a:spcBef>
                <a:spcPts val="300"/>
              </a:spcBef>
              <a:buFont typeface="Arial" panose="020B0604020202020204" pitchFamily="34" charset="0"/>
              <a:buChar char="•"/>
            </a:pPr>
            <a:r>
              <a:rPr lang="en-GB" sz="1300" dirty="0"/>
              <a:t>Employee dishonesty. Any loss or damage to money, securities, or other property caused by employee theft or forgery. ...</a:t>
            </a:r>
          </a:p>
          <a:p>
            <a:pPr marL="285750" indent="-285750">
              <a:spcBef>
                <a:spcPts val="300"/>
              </a:spcBef>
              <a:buFont typeface="Arial" panose="020B0604020202020204" pitchFamily="34" charset="0"/>
              <a:buChar char="•"/>
            </a:pPr>
            <a:r>
              <a:rPr lang="en-GB" sz="1300" dirty="0"/>
              <a:t>Forgery or alteration. ...</a:t>
            </a:r>
          </a:p>
          <a:p>
            <a:pPr marL="285750" indent="-285750">
              <a:spcBef>
                <a:spcPts val="300"/>
              </a:spcBef>
              <a:buFont typeface="Arial" panose="020B0604020202020204" pitchFamily="34" charset="0"/>
              <a:buChar char="•"/>
            </a:pPr>
            <a:r>
              <a:rPr lang="en-GB" sz="1300" dirty="0"/>
              <a:t>Theft of money or securities from inside the premises. ...</a:t>
            </a:r>
          </a:p>
          <a:p>
            <a:pPr marL="285750" indent="-285750">
              <a:spcBef>
                <a:spcPts val="300"/>
              </a:spcBef>
              <a:buFont typeface="Arial" panose="020B0604020202020204" pitchFamily="34" charset="0"/>
              <a:buChar char="•"/>
            </a:pPr>
            <a:r>
              <a:rPr lang="en-GB" sz="1300" dirty="0"/>
              <a:t>Robbery or safe burglary of other property inside the premises. ...</a:t>
            </a:r>
          </a:p>
          <a:p>
            <a:pPr marL="285750" indent="-285750">
              <a:spcBef>
                <a:spcPts val="300"/>
              </a:spcBef>
              <a:buFont typeface="Arial" panose="020B0604020202020204" pitchFamily="34" charset="0"/>
              <a:buChar char="•"/>
            </a:pPr>
            <a:r>
              <a:rPr lang="en-GB" sz="1300" dirty="0"/>
              <a:t>Loss of money or securities outside the premises. ...</a:t>
            </a:r>
          </a:p>
          <a:p>
            <a:pPr marL="285750" indent="-285750">
              <a:spcBef>
                <a:spcPts val="300"/>
              </a:spcBef>
              <a:buFont typeface="Arial" panose="020B0604020202020204" pitchFamily="34" charset="0"/>
              <a:buChar char="•"/>
            </a:pPr>
            <a:r>
              <a:rPr lang="en-GB" sz="1300" dirty="0"/>
              <a:t>Computer fraud. ...</a:t>
            </a:r>
          </a:p>
          <a:p>
            <a:pPr marL="285750" indent="-285750">
              <a:spcBef>
                <a:spcPts val="300"/>
              </a:spcBef>
              <a:buFont typeface="Arial" panose="020B0604020202020204" pitchFamily="34" charset="0"/>
              <a:buChar char="•"/>
            </a:pPr>
            <a:r>
              <a:rPr lang="en-GB" sz="1300" dirty="0"/>
              <a:t>Funds transfer fraud. ...</a:t>
            </a:r>
          </a:p>
          <a:p>
            <a:pPr marL="285750" indent="-285750">
              <a:spcBef>
                <a:spcPts val="300"/>
              </a:spcBef>
              <a:buFont typeface="Arial" panose="020B0604020202020204" pitchFamily="34" charset="0"/>
              <a:buChar char="•"/>
            </a:pPr>
            <a:r>
              <a:rPr lang="en-GB" sz="1300" dirty="0"/>
              <a:t>Money orders and counterfeit money. ...</a:t>
            </a:r>
          </a:p>
          <a:p>
            <a:endParaRPr lang="en-GB" sz="1300" dirty="0"/>
          </a:p>
        </p:txBody>
      </p:sp>
    </p:spTree>
    <p:extLst>
      <p:ext uri="{BB962C8B-B14F-4D97-AF65-F5344CB8AC3E}">
        <p14:creationId xmlns:p14="http://schemas.microsoft.com/office/powerpoint/2010/main" val="4005916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BA9643-805D-8FDF-A91A-73192DE67560}"/>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ECE5C8C2-FAEB-4E52-8D24-A6B03EAE6FB8}"/>
              </a:ext>
            </a:extLst>
          </p:cNvPr>
          <p:cNvSpPr>
            <a:spLocks noGrp="1"/>
          </p:cNvSpPr>
          <p:nvPr>
            <p:ph type="title"/>
          </p:nvPr>
        </p:nvSpPr>
        <p:spPr/>
        <p:txBody>
          <a:bodyPr/>
          <a:lstStyle/>
          <a:p>
            <a:r>
              <a:rPr lang="en-GB" dirty="0"/>
              <a:t>Management Liability</a:t>
            </a:r>
          </a:p>
        </p:txBody>
      </p:sp>
      <p:sp>
        <p:nvSpPr>
          <p:cNvPr id="4" name="Text Placeholder 3">
            <a:extLst>
              <a:ext uri="{FF2B5EF4-FFF2-40B4-BE49-F238E27FC236}">
                <a16:creationId xmlns:a16="http://schemas.microsoft.com/office/drawing/2014/main" id="{51EE5871-23AF-C17E-CE05-9B2255BA6938}"/>
              </a:ext>
            </a:extLst>
          </p:cNvPr>
          <p:cNvSpPr>
            <a:spLocks noGrp="1"/>
          </p:cNvSpPr>
          <p:nvPr>
            <p:ph type="body" sz="quarter" idx="17"/>
          </p:nvPr>
        </p:nvSpPr>
        <p:spPr/>
        <p:txBody>
          <a:bodyPr/>
          <a:lstStyle/>
          <a:p>
            <a:r>
              <a:rPr lang="en-GB" b="1" dirty="0">
                <a:solidFill>
                  <a:srgbClr val="0070C0"/>
                </a:solidFill>
              </a:rPr>
              <a:t>Synopsis</a:t>
            </a:r>
          </a:p>
          <a:p>
            <a:r>
              <a:rPr lang="en-GB" dirty="0"/>
              <a:t>Management Liability Insurance is a comprehensive form of insurance that covers allegations of wrongdoing directed at the company as a whole or its managers, directors, and officers. It provides coverage beyond a general liability policy and is centred around financial losses stemming from legal defence costs, judgments, or settlements from lawsuits alleging a variety of mismanagement or wrongful acts within the context of operating a business.</a:t>
            </a:r>
          </a:p>
          <a:p>
            <a:endParaRPr lang="en-GB" dirty="0"/>
          </a:p>
          <a:p>
            <a:r>
              <a:rPr lang="en-GB" b="1" dirty="0">
                <a:solidFill>
                  <a:srgbClr val="0070C0"/>
                </a:solidFill>
              </a:rPr>
              <a:t>Coverage</a:t>
            </a:r>
          </a:p>
          <a:p>
            <a:pPr algn="l"/>
            <a:r>
              <a:rPr lang="en-GB" b="0" i="0" dirty="0">
                <a:solidFill>
                  <a:srgbClr val="333333"/>
                </a:solidFill>
                <a:effectLst/>
                <a:latin typeface="Roboto" panose="02000000000000000000" pitchFamily="2" charset="0"/>
              </a:rPr>
              <a:t>Management liability and directors and officers insurance (D&amp;O) are often seen as similar products. </a:t>
            </a:r>
          </a:p>
          <a:p>
            <a:pPr algn="l"/>
            <a:r>
              <a:rPr lang="en-GB" b="0" i="0" dirty="0">
                <a:solidFill>
                  <a:srgbClr val="333333"/>
                </a:solidFill>
                <a:effectLst/>
                <a:latin typeface="Roboto" panose="02000000000000000000" pitchFamily="2" charset="0"/>
              </a:rPr>
              <a:t>However, D&amp;O is a product designed to protect the personal assets of company directors and officers in the event they were sued while acting in their capacity as a director or officer. Management liability protects the company as well as its directors and officers against legal liabilities and statutory obligations.</a:t>
            </a:r>
          </a:p>
          <a:p>
            <a:pPr algn="l"/>
            <a:r>
              <a:rPr lang="en-GB" b="0" i="0" dirty="0">
                <a:solidFill>
                  <a:srgbClr val="333333"/>
                </a:solidFill>
                <a:effectLst/>
                <a:latin typeface="Roboto" panose="02000000000000000000" pitchFamily="2" charset="0"/>
              </a:rPr>
              <a:t>Management liability creates a blanket cover, not just for directors and officers but can also cover employees amongst other things.</a:t>
            </a:r>
          </a:p>
          <a:p>
            <a:endParaRPr lang="en-GB" dirty="0"/>
          </a:p>
        </p:txBody>
      </p:sp>
    </p:spTree>
    <p:extLst>
      <p:ext uri="{BB962C8B-B14F-4D97-AF65-F5344CB8AC3E}">
        <p14:creationId xmlns:p14="http://schemas.microsoft.com/office/powerpoint/2010/main" val="3102270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9302AC-B5AC-D721-34F1-1E7091BC7ADA}"/>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F9BE1354-053C-09BD-9F1F-EF8241F4DD94}"/>
              </a:ext>
            </a:extLst>
          </p:cNvPr>
          <p:cNvSpPr>
            <a:spLocks noGrp="1"/>
          </p:cNvSpPr>
          <p:nvPr>
            <p:ph type="title"/>
          </p:nvPr>
        </p:nvSpPr>
        <p:spPr/>
        <p:txBody>
          <a:bodyPr/>
          <a:lstStyle/>
          <a:p>
            <a:r>
              <a:rPr lang="en-GB" dirty="0"/>
              <a:t>Professional Liability</a:t>
            </a:r>
          </a:p>
        </p:txBody>
      </p:sp>
      <p:sp>
        <p:nvSpPr>
          <p:cNvPr id="4" name="Text Placeholder 3">
            <a:extLst>
              <a:ext uri="{FF2B5EF4-FFF2-40B4-BE49-F238E27FC236}">
                <a16:creationId xmlns:a16="http://schemas.microsoft.com/office/drawing/2014/main" id="{18D6D41A-7FB3-7405-62D2-E80FD33F371C}"/>
              </a:ext>
            </a:extLst>
          </p:cNvPr>
          <p:cNvSpPr>
            <a:spLocks noGrp="1"/>
          </p:cNvSpPr>
          <p:nvPr>
            <p:ph type="body" sz="quarter" idx="17"/>
          </p:nvPr>
        </p:nvSpPr>
        <p:spPr/>
        <p:txBody>
          <a:bodyPr/>
          <a:lstStyle/>
          <a:p>
            <a:r>
              <a:rPr lang="en-GB" b="1" dirty="0">
                <a:solidFill>
                  <a:srgbClr val="0070C0"/>
                </a:solidFill>
              </a:rPr>
              <a:t>Synopsis</a:t>
            </a:r>
          </a:p>
          <a:p>
            <a:r>
              <a:rPr lang="en-GB" dirty="0"/>
              <a:t>Professional liability insurance (PLI) protects professionals such as accountants, lawyers, and physicians against negligence and other claims initiated by their clients. Professionals with expertise in a specific area require this type of insurance because general liability insurance policies do not offer protection against claims arising from negligence, malpractice, mistakes, or misrepresentation.</a:t>
            </a:r>
          </a:p>
          <a:p>
            <a:r>
              <a:rPr lang="en-GB" dirty="0"/>
              <a:t>Medical Malpractice Insurance is a type of professional liability insurance.</a:t>
            </a:r>
          </a:p>
          <a:p>
            <a:r>
              <a:rPr lang="en-GB" dirty="0"/>
              <a:t>The two types of professional liability insurance are claims-made and occurrence. Claims-made means the policy must have been active when the event and lawsuit happened, and occurrence means that the policy covers any qualified claim resulting from an incident while the policy was active.</a:t>
            </a:r>
          </a:p>
          <a:p>
            <a:r>
              <a:rPr lang="en-GB" b="1" dirty="0">
                <a:solidFill>
                  <a:srgbClr val="0070C0"/>
                </a:solidFill>
              </a:rPr>
              <a:t>Coverage</a:t>
            </a:r>
          </a:p>
          <a:p>
            <a:r>
              <a:rPr lang="en-GB" dirty="0"/>
              <a:t>Typical professional liability policies will indemnify the insured against loss arising from any claim or claims made during the policy period because of any covered error, omission, or negligent act committed in the conduct of the insured's professional business during the policy period.</a:t>
            </a:r>
          </a:p>
          <a:p>
            <a:r>
              <a:rPr lang="en-GB" dirty="0"/>
              <a:t>Examples of liabilities covered by PLI are:</a:t>
            </a:r>
          </a:p>
          <a:p>
            <a:pPr marL="285750" indent="-285750">
              <a:spcBef>
                <a:spcPts val="300"/>
              </a:spcBef>
              <a:buFont typeface="Arial" panose="020B0604020202020204" pitchFamily="34" charset="0"/>
              <a:buChar char="•"/>
            </a:pPr>
            <a:r>
              <a:rPr lang="en-GB" dirty="0"/>
              <a:t>Mistakes, errors, and oversights in services provided</a:t>
            </a:r>
          </a:p>
          <a:p>
            <a:pPr marL="285750" indent="-285750">
              <a:spcBef>
                <a:spcPts val="300"/>
              </a:spcBef>
              <a:buFont typeface="Arial" panose="020B0604020202020204" pitchFamily="34" charset="0"/>
              <a:buChar char="•"/>
            </a:pPr>
            <a:r>
              <a:rPr lang="en-GB" dirty="0"/>
              <a:t>Undelivered services</a:t>
            </a:r>
          </a:p>
          <a:p>
            <a:pPr marL="285750" indent="-285750">
              <a:spcBef>
                <a:spcPts val="300"/>
              </a:spcBef>
              <a:buFont typeface="Arial" panose="020B0604020202020204" pitchFamily="34" charset="0"/>
              <a:buChar char="•"/>
            </a:pPr>
            <a:r>
              <a:rPr lang="en-GB" dirty="0"/>
              <a:t>Missed deadlines</a:t>
            </a:r>
          </a:p>
          <a:p>
            <a:pPr marL="285750" indent="-285750">
              <a:spcBef>
                <a:spcPts val="300"/>
              </a:spcBef>
              <a:buFont typeface="Arial" panose="020B0604020202020204" pitchFamily="34" charset="0"/>
              <a:buChar char="•"/>
            </a:pPr>
            <a:r>
              <a:rPr lang="en-GB" dirty="0"/>
              <a:t>Negligence or failure to meet standards</a:t>
            </a:r>
          </a:p>
          <a:p>
            <a:pPr marL="285750" indent="-285750">
              <a:spcBef>
                <a:spcPts val="300"/>
              </a:spcBef>
              <a:buFont typeface="Arial" panose="020B0604020202020204" pitchFamily="34" charset="0"/>
              <a:buChar char="•"/>
            </a:pPr>
            <a:r>
              <a:rPr lang="en-GB" dirty="0"/>
              <a:t>Breach of contract</a:t>
            </a:r>
          </a:p>
          <a:p>
            <a:endParaRPr lang="en-GB" dirty="0"/>
          </a:p>
        </p:txBody>
      </p:sp>
    </p:spTree>
    <p:extLst>
      <p:ext uri="{BB962C8B-B14F-4D97-AF65-F5344CB8AC3E}">
        <p14:creationId xmlns:p14="http://schemas.microsoft.com/office/powerpoint/2010/main" val="2681214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C806FA-B1CB-9BAB-0A24-FFF6613C358F}"/>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2137A238-FCA7-98E2-B607-0F54D73513DD}"/>
              </a:ext>
            </a:extLst>
          </p:cNvPr>
          <p:cNvSpPr>
            <a:spLocks noGrp="1"/>
          </p:cNvSpPr>
          <p:nvPr>
            <p:ph type="title"/>
          </p:nvPr>
        </p:nvSpPr>
        <p:spPr/>
        <p:txBody>
          <a:bodyPr/>
          <a:lstStyle/>
          <a:p>
            <a:r>
              <a:rPr lang="en-GB" dirty="0"/>
              <a:t>Environmental Insurance</a:t>
            </a:r>
          </a:p>
        </p:txBody>
      </p:sp>
      <p:sp>
        <p:nvSpPr>
          <p:cNvPr id="4" name="Text Placeholder 3">
            <a:extLst>
              <a:ext uri="{FF2B5EF4-FFF2-40B4-BE49-F238E27FC236}">
                <a16:creationId xmlns:a16="http://schemas.microsoft.com/office/drawing/2014/main" id="{B8AA01CC-D1D3-0089-30E4-84198F66D439}"/>
              </a:ext>
            </a:extLst>
          </p:cNvPr>
          <p:cNvSpPr>
            <a:spLocks noGrp="1"/>
          </p:cNvSpPr>
          <p:nvPr>
            <p:ph type="body" sz="quarter" idx="17"/>
          </p:nvPr>
        </p:nvSpPr>
        <p:spPr/>
        <p:txBody>
          <a:bodyPr/>
          <a:lstStyle/>
          <a:p>
            <a:r>
              <a:rPr lang="en-GB" sz="1300" b="1" dirty="0">
                <a:solidFill>
                  <a:srgbClr val="0070C0"/>
                </a:solidFill>
              </a:rPr>
              <a:t>Synopsis</a:t>
            </a:r>
          </a:p>
          <a:p>
            <a:r>
              <a:rPr lang="en-GB" sz="1300" dirty="0"/>
              <a:t>Environmental liability insurance (ELI) covers the cost of restoring damage caused by environmental accidents, such as pollution of land, water, air, and biodiversity damage.</a:t>
            </a:r>
          </a:p>
          <a:p>
            <a:r>
              <a:rPr lang="en-GB" sz="1300" dirty="0"/>
              <a:t>Businesses face various scenarios in which their business activities may cause environmental damage. For example:</a:t>
            </a:r>
          </a:p>
          <a:p>
            <a:pPr marL="285750" indent="-285750">
              <a:spcBef>
                <a:spcPts val="300"/>
              </a:spcBef>
              <a:buFont typeface="Arial" panose="020B0604020202020204" pitchFamily="34" charset="0"/>
              <a:buChar char="•"/>
            </a:pPr>
            <a:r>
              <a:rPr lang="en-GB" sz="1300" dirty="0"/>
              <a:t>The business property’s current land use or the historical use of the site</a:t>
            </a:r>
          </a:p>
          <a:p>
            <a:pPr marL="285750" indent="-285750">
              <a:spcBef>
                <a:spcPts val="300"/>
              </a:spcBef>
              <a:buFont typeface="Arial" panose="020B0604020202020204" pitchFamily="34" charset="0"/>
              <a:buChar char="•"/>
            </a:pPr>
            <a:r>
              <a:rPr lang="en-GB" sz="1300" dirty="0"/>
              <a:t>A malfunction of holding tanks on your property e.g. an oil tank </a:t>
            </a:r>
          </a:p>
          <a:p>
            <a:pPr marL="285750" indent="-285750">
              <a:spcBef>
                <a:spcPts val="300"/>
              </a:spcBef>
              <a:buFont typeface="Arial" panose="020B0604020202020204" pitchFamily="34" charset="0"/>
              <a:buChar char="•"/>
            </a:pPr>
            <a:r>
              <a:rPr lang="en-GB" sz="1300" dirty="0"/>
              <a:t>A product your business is transporting e.g. pesticides</a:t>
            </a:r>
          </a:p>
          <a:p>
            <a:pPr marL="285750" indent="-285750">
              <a:spcBef>
                <a:spcPts val="300"/>
              </a:spcBef>
              <a:buFont typeface="Arial" panose="020B0604020202020204" pitchFamily="34" charset="0"/>
              <a:buChar char="•"/>
            </a:pPr>
            <a:r>
              <a:rPr lang="en-GB" sz="1300" dirty="0"/>
              <a:t>Fire on your property e.g. of composting green waste</a:t>
            </a:r>
          </a:p>
          <a:p>
            <a:pPr marL="285750" indent="-285750">
              <a:spcBef>
                <a:spcPts val="300"/>
              </a:spcBef>
              <a:buFont typeface="Arial" panose="020B0604020202020204" pitchFamily="34" charset="0"/>
              <a:buChar char="•"/>
            </a:pPr>
            <a:r>
              <a:rPr lang="en-GB" sz="1300" dirty="0"/>
              <a:t>Poorly operating drains causing run-off of oil in water supply e.g. in a car park</a:t>
            </a:r>
          </a:p>
          <a:p>
            <a:pPr marL="285750" indent="-285750">
              <a:spcBef>
                <a:spcPts val="300"/>
              </a:spcBef>
              <a:buFont typeface="Arial" panose="020B0604020202020204" pitchFamily="34" charset="0"/>
              <a:buChar char="•"/>
            </a:pPr>
            <a:r>
              <a:rPr lang="en-GB" sz="1300" dirty="0"/>
              <a:t>Dust arising from construction work</a:t>
            </a:r>
          </a:p>
          <a:p>
            <a:r>
              <a:rPr lang="en-GB" sz="1300" dirty="0"/>
              <a:t>Recent UK and EU legislation has significantly increased the potential costs of remediating damage caused. Environmental issues need to be dealt with rapidly to protect the reputation of your business.</a:t>
            </a:r>
          </a:p>
          <a:p>
            <a:r>
              <a:rPr lang="en-GB" sz="1300" b="1" dirty="0">
                <a:solidFill>
                  <a:srgbClr val="0070C0"/>
                </a:solidFill>
              </a:rPr>
              <a:t>Coverage</a:t>
            </a:r>
          </a:p>
          <a:p>
            <a:r>
              <a:rPr lang="en-GB" sz="1300" dirty="0"/>
              <a:t>Environmental liability insurance covers the cost of repairing environmental damage arising from both common law claims, and claims arising from applicable legislation.</a:t>
            </a:r>
          </a:p>
          <a:p>
            <a:r>
              <a:rPr lang="en-GB" sz="1300" dirty="0"/>
              <a:t>In particular, ELI provides cover for:</a:t>
            </a:r>
          </a:p>
          <a:p>
            <a:pPr marL="285750" indent="-285750">
              <a:spcBef>
                <a:spcPts val="300"/>
              </a:spcBef>
              <a:buFont typeface="Arial" panose="020B0604020202020204" pitchFamily="34" charset="0"/>
              <a:buChar char="•"/>
            </a:pPr>
            <a:r>
              <a:rPr lang="en-GB" sz="1300" dirty="0"/>
              <a:t>Both sudden pollution and gradual pollution </a:t>
            </a:r>
          </a:p>
          <a:p>
            <a:pPr marL="285750" indent="-285750">
              <a:spcBef>
                <a:spcPts val="300"/>
              </a:spcBef>
              <a:buFont typeface="Arial" panose="020B0604020202020204" pitchFamily="34" charset="0"/>
              <a:buChar char="•"/>
            </a:pPr>
            <a:r>
              <a:rPr lang="en-GB" sz="1300" dirty="0"/>
              <a:t>First party (own site) clean-up costs imposed by regulatory authorities</a:t>
            </a:r>
          </a:p>
          <a:p>
            <a:pPr marL="285750" indent="-285750">
              <a:spcBef>
                <a:spcPts val="300"/>
              </a:spcBef>
              <a:buFont typeface="Arial" panose="020B0604020202020204" pitchFamily="34" charset="0"/>
              <a:buChar char="•"/>
            </a:pPr>
            <a:r>
              <a:rPr lang="en-GB" sz="1300" dirty="0"/>
              <a:t>Third party liability including impact on property value</a:t>
            </a:r>
          </a:p>
          <a:p>
            <a:pPr marL="285750" indent="-285750">
              <a:spcBef>
                <a:spcPts val="300"/>
              </a:spcBef>
              <a:buFont typeface="Arial" panose="020B0604020202020204" pitchFamily="34" charset="0"/>
              <a:buChar char="•"/>
            </a:pPr>
            <a:r>
              <a:rPr lang="en-GB" sz="1300" dirty="0"/>
              <a:t>Nuisance claims</a:t>
            </a:r>
          </a:p>
          <a:p>
            <a:pPr marL="285750" indent="-285750">
              <a:spcBef>
                <a:spcPts val="300"/>
              </a:spcBef>
              <a:buFont typeface="Arial" panose="020B0604020202020204" pitchFamily="34" charset="0"/>
              <a:buChar char="•"/>
            </a:pPr>
            <a:r>
              <a:rPr lang="en-GB" sz="1300" dirty="0"/>
              <a:t>Legal costs and expenses</a:t>
            </a:r>
          </a:p>
          <a:p>
            <a:endParaRPr lang="en-GB" dirty="0"/>
          </a:p>
          <a:p>
            <a:endParaRPr lang="en-GB" dirty="0"/>
          </a:p>
        </p:txBody>
      </p:sp>
    </p:spTree>
    <p:extLst>
      <p:ext uri="{BB962C8B-B14F-4D97-AF65-F5344CB8AC3E}">
        <p14:creationId xmlns:p14="http://schemas.microsoft.com/office/powerpoint/2010/main" val="3972780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220530-ED66-BD96-98FA-EEDA9076B059}"/>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8ACC8BCD-F5C1-B573-4793-CB5DFF5E9CD9}"/>
              </a:ext>
            </a:extLst>
          </p:cNvPr>
          <p:cNvSpPr>
            <a:spLocks noGrp="1"/>
          </p:cNvSpPr>
          <p:nvPr>
            <p:ph type="title"/>
          </p:nvPr>
        </p:nvSpPr>
        <p:spPr/>
        <p:txBody>
          <a:bodyPr/>
          <a:lstStyle/>
          <a:p>
            <a:r>
              <a:rPr lang="en-GB" dirty="0"/>
              <a:t>Cyber</a:t>
            </a:r>
          </a:p>
        </p:txBody>
      </p:sp>
      <p:sp>
        <p:nvSpPr>
          <p:cNvPr id="4" name="Text Placeholder 3">
            <a:extLst>
              <a:ext uri="{FF2B5EF4-FFF2-40B4-BE49-F238E27FC236}">
                <a16:creationId xmlns:a16="http://schemas.microsoft.com/office/drawing/2014/main" id="{6FD7AC23-9F8F-7600-3009-719A25606328}"/>
              </a:ext>
            </a:extLst>
          </p:cNvPr>
          <p:cNvSpPr>
            <a:spLocks noGrp="1"/>
          </p:cNvSpPr>
          <p:nvPr>
            <p:ph type="body" sz="quarter" idx="17"/>
          </p:nvPr>
        </p:nvSpPr>
        <p:spPr>
          <a:xfrm>
            <a:off x="414971" y="1624108"/>
            <a:ext cx="11369042" cy="2020916"/>
          </a:xfrm>
        </p:spPr>
        <p:txBody>
          <a:bodyPr/>
          <a:lstStyle/>
          <a:p>
            <a:r>
              <a:rPr lang="en-GB" b="1" dirty="0">
                <a:solidFill>
                  <a:srgbClr val="0070C0"/>
                </a:solidFill>
              </a:rPr>
              <a:t>Synopsis</a:t>
            </a:r>
          </a:p>
          <a:p>
            <a:r>
              <a:rPr lang="en-GB" dirty="0"/>
              <a:t>Cyber insurance is an insurance product designed to help businesses hedge against the potentially devastating effects of cybercrimes such as malware, ransomware, distributed denial-of-service (DDoS) attacks, or any other method used to compromise a network and sensitive data. Also referred to as cyber risk insurance or cybersecurity insurance, these products are personalized to help a company mitigate specific risks.</a:t>
            </a:r>
          </a:p>
          <a:p>
            <a:endParaRPr lang="en-GB" dirty="0"/>
          </a:p>
          <a:p>
            <a:r>
              <a:rPr lang="en-GB" b="1" dirty="0">
                <a:solidFill>
                  <a:srgbClr val="0070C0"/>
                </a:solidFill>
              </a:rPr>
              <a:t>Coverage</a:t>
            </a:r>
          </a:p>
          <a:p>
            <a:r>
              <a:rPr lang="en-GB" dirty="0"/>
              <a:t>The following coverages were identified as part of the Beazley product rationalisation exercise:</a:t>
            </a:r>
          </a:p>
        </p:txBody>
      </p:sp>
      <p:sp>
        <p:nvSpPr>
          <p:cNvPr id="6" name="TextBox 5">
            <a:extLst>
              <a:ext uri="{FF2B5EF4-FFF2-40B4-BE49-F238E27FC236}">
                <a16:creationId xmlns:a16="http://schemas.microsoft.com/office/drawing/2014/main" id="{EE4A5B6B-F90F-3B3D-AF4C-4C558CAC356B}"/>
              </a:ext>
            </a:extLst>
          </p:cNvPr>
          <p:cNvSpPr txBox="1"/>
          <p:nvPr/>
        </p:nvSpPr>
        <p:spPr>
          <a:xfrm>
            <a:off x="407987" y="3546861"/>
            <a:ext cx="11376026" cy="2679837"/>
          </a:xfrm>
          <a:prstGeom prst="rect">
            <a:avLst/>
          </a:prstGeom>
          <a:noFill/>
        </p:spPr>
        <p:txBody>
          <a:bodyPr vert="horz" wrap="square" lIns="90000" tIns="46800" rIns="90000" bIns="46800" numCol="2" rtlCol="0" anchor="t">
            <a:spAutoFit/>
          </a:bodyPr>
          <a:lstStyle/>
          <a:p>
            <a:pPr marL="285750" indent="-285750" algn="l">
              <a:spcBef>
                <a:spcPct val="0"/>
              </a:spcBef>
              <a:buFont typeface="Arial" panose="020B0604020202020204" pitchFamily="34" charset="0"/>
              <a:buChar char="•"/>
            </a:pPr>
            <a:r>
              <a:rPr lang="en-GB" sz="1400" dirty="0"/>
              <a:t>Breach Response</a:t>
            </a:r>
          </a:p>
          <a:p>
            <a:pPr marL="285750" indent="-285750" algn="l">
              <a:spcBef>
                <a:spcPct val="0"/>
              </a:spcBef>
              <a:buFont typeface="Arial" panose="020B0604020202020204" pitchFamily="34" charset="0"/>
              <a:buChar char="•"/>
            </a:pPr>
            <a:r>
              <a:rPr lang="en-GB" sz="1400" dirty="0"/>
              <a:t>Additional Breach Response</a:t>
            </a:r>
          </a:p>
          <a:p>
            <a:pPr marL="285750" indent="-285750" algn="l">
              <a:spcBef>
                <a:spcPct val="0"/>
              </a:spcBef>
              <a:buFont typeface="Arial" panose="020B0604020202020204" pitchFamily="34" charset="0"/>
              <a:buChar char="•"/>
            </a:pPr>
            <a:r>
              <a:rPr lang="en-GB" sz="1400" dirty="0"/>
              <a:t>Business Interruption</a:t>
            </a:r>
          </a:p>
          <a:p>
            <a:pPr marL="285750" indent="-285750" algn="l">
              <a:spcBef>
                <a:spcPct val="0"/>
              </a:spcBef>
              <a:buFont typeface="Arial" panose="020B0604020202020204" pitchFamily="34" charset="0"/>
              <a:buChar char="•"/>
            </a:pPr>
            <a:r>
              <a:rPr lang="en-GB" sz="1400" dirty="0"/>
              <a:t>Dependent Business Interruption</a:t>
            </a:r>
          </a:p>
          <a:p>
            <a:pPr marL="285750" indent="-285750" algn="l">
              <a:spcBef>
                <a:spcPct val="0"/>
              </a:spcBef>
              <a:buFont typeface="Arial" panose="020B0604020202020204" pitchFamily="34" charset="0"/>
              <a:buChar char="•"/>
            </a:pPr>
            <a:r>
              <a:rPr lang="en-GB" sz="1400" dirty="0"/>
              <a:t>Cyber Extortion Loss</a:t>
            </a:r>
          </a:p>
          <a:p>
            <a:pPr marL="285750" indent="-285750" algn="l">
              <a:spcBef>
                <a:spcPct val="0"/>
              </a:spcBef>
              <a:buFont typeface="Arial" panose="020B0604020202020204" pitchFamily="34" charset="0"/>
              <a:buChar char="•"/>
            </a:pPr>
            <a:r>
              <a:rPr lang="en-GB" sz="1400" dirty="0"/>
              <a:t>Data Recovery Costs</a:t>
            </a:r>
          </a:p>
          <a:p>
            <a:pPr marL="285750" indent="-285750" algn="l">
              <a:spcBef>
                <a:spcPct val="0"/>
              </a:spcBef>
              <a:buFont typeface="Arial" panose="020B0604020202020204" pitchFamily="34" charset="0"/>
              <a:buChar char="•"/>
            </a:pPr>
            <a:r>
              <a:rPr lang="en-GB" sz="1400" dirty="0"/>
              <a:t>Liability</a:t>
            </a:r>
          </a:p>
          <a:p>
            <a:pPr marL="285750" indent="-285750" algn="l">
              <a:spcBef>
                <a:spcPct val="0"/>
              </a:spcBef>
              <a:buFont typeface="Arial" panose="020B0604020202020204" pitchFamily="34" charset="0"/>
              <a:buChar char="•"/>
            </a:pPr>
            <a:r>
              <a:rPr lang="en-GB" sz="1400" dirty="0" err="1"/>
              <a:t>eCrime</a:t>
            </a:r>
            <a:endParaRPr lang="en-GB" sz="1400" dirty="0"/>
          </a:p>
          <a:p>
            <a:pPr marL="285750" indent="-285750" algn="l">
              <a:spcBef>
                <a:spcPct val="0"/>
              </a:spcBef>
              <a:buFont typeface="Arial" panose="020B0604020202020204" pitchFamily="34" charset="0"/>
              <a:buChar char="•"/>
            </a:pPr>
            <a:r>
              <a:rPr lang="en-GB" sz="1400" dirty="0"/>
              <a:t>Criminal Reward</a:t>
            </a:r>
          </a:p>
          <a:p>
            <a:pPr marL="285750" indent="-285750" algn="l">
              <a:spcBef>
                <a:spcPct val="0"/>
              </a:spcBef>
              <a:buFont typeface="Arial" panose="020B0604020202020204" pitchFamily="34" charset="0"/>
              <a:buChar char="•"/>
            </a:pPr>
            <a:r>
              <a:rPr lang="en-GB" sz="1400" dirty="0"/>
              <a:t>Media, Tech, Data &amp; Network Liability</a:t>
            </a:r>
          </a:p>
          <a:p>
            <a:pPr marL="285750" indent="-285750" algn="l">
              <a:spcBef>
                <a:spcPct val="0"/>
              </a:spcBef>
              <a:buFont typeface="Arial" panose="020B0604020202020204" pitchFamily="34" charset="0"/>
              <a:buChar char="•"/>
            </a:pPr>
            <a:r>
              <a:rPr lang="en-GB" sz="1400" dirty="0"/>
              <a:t>Computer Hardware Replacement Costs</a:t>
            </a:r>
          </a:p>
          <a:p>
            <a:pPr marL="285750" indent="-285750" algn="l">
              <a:spcBef>
                <a:spcPct val="0"/>
              </a:spcBef>
              <a:buFont typeface="Arial" panose="020B0604020202020204" pitchFamily="34" charset="0"/>
              <a:buChar char="•"/>
            </a:pPr>
            <a:endParaRPr lang="en-GB" sz="1400" dirty="0"/>
          </a:p>
          <a:p>
            <a:pPr marL="285750" indent="-285750" algn="l">
              <a:spcBef>
                <a:spcPct val="0"/>
              </a:spcBef>
              <a:buFont typeface="Arial" panose="020B0604020202020204" pitchFamily="34" charset="0"/>
              <a:buChar char="•"/>
            </a:pPr>
            <a:r>
              <a:rPr lang="en-GB" sz="1400" dirty="0" err="1"/>
              <a:t>Cryptojacking</a:t>
            </a:r>
            <a:endParaRPr lang="en-GB" sz="1400" dirty="0"/>
          </a:p>
          <a:p>
            <a:pPr marL="285750" indent="-285750" algn="l">
              <a:spcBef>
                <a:spcPct val="0"/>
              </a:spcBef>
              <a:buFont typeface="Arial" panose="020B0604020202020204" pitchFamily="34" charset="0"/>
              <a:buChar char="•"/>
            </a:pPr>
            <a:r>
              <a:rPr lang="en-GB" sz="1400" dirty="0"/>
              <a:t>Reputation Loss</a:t>
            </a:r>
          </a:p>
          <a:p>
            <a:pPr marL="285750" indent="-285750" algn="l">
              <a:spcBef>
                <a:spcPct val="0"/>
              </a:spcBef>
              <a:buFont typeface="Arial" panose="020B0604020202020204" pitchFamily="34" charset="0"/>
              <a:buChar char="•"/>
            </a:pPr>
            <a:r>
              <a:rPr lang="en-GB" sz="1400" dirty="0"/>
              <a:t>Contingent Bodily Injury</a:t>
            </a:r>
          </a:p>
          <a:p>
            <a:pPr marL="285750" indent="-285750" algn="l">
              <a:spcBef>
                <a:spcPct val="0"/>
              </a:spcBef>
              <a:buFont typeface="Arial" panose="020B0604020202020204" pitchFamily="34" charset="0"/>
              <a:buChar char="•"/>
            </a:pPr>
            <a:r>
              <a:rPr lang="en-GB" sz="1400" dirty="0"/>
              <a:t>Invoice Manipulation</a:t>
            </a:r>
          </a:p>
          <a:p>
            <a:pPr marL="285750" indent="-285750" algn="l">
              <a:spcBef>
                <a:spcPct val="0"/>
              </a:spcBef>
              <a:buFont typeface="Arial" panose="020B0604020202020204" pitchFamily="34" charset="0"/>
              <a:buChar char="•"/>
            </a:pPr>
            <a:r>
              <a:rPr lang="en-GB" sz="1400" dirty="0"/>
              <a:t>Missed Bid</a:t>
            </a:r>
          </a:p>
          <a:p>
            <a:pPr marL="285750" indent="-285750" algn="l">
              <a:spcBef>
                <a:spcPct val="0"/>
              </a:spcBef>
              <a:buFont typeface="Arial" panose="020B0604020202020204" pitchFamily="34" charset="0"/>
              <a:buChar char="•"/>
            </a:pPr>
            <a:r>
              <a:rPr lang="en-GB" sz="1400" dirty="0"/>
              <a:t>Card Reissuance Costs</a:t>
            </a:r>
          </a:p>
          <a:p>
            <a:pPr marL="285750" indent="-285750" algn="l">
              <a:spcBef>
                <a:spcPct val="0"/>
              </a:spcBef>
              <a:buFont typeface="Arial" panose="020B0604020202020204" pitchFamily="34" charset="0"/>
              <a:buChar char="•"/>
            </a:pPr>
            <a:r>
              <a:rPr lang="en-GB" sz="1400" dirty="0"/>
              <a:t>RPS Invoice Manipulation</a:t>
            </a:r>
          </a:p>
          <a:p>
            <a:pPr marL="285750" indent="-285750" algn="l">
              <a:spcBef>
                <a:spcPct val="0"/>
              </a:spcBef>
              <a:buFont typeface="Arial" panose="020B0604020202020204" pitchFamily="34" charset="0"/>
              <a:buChar char="•"/>
            </a:pPr>
            <a:r>
              <a:rPr lang="en-GB" sz="1400" dirty="0"/>
              <a:t>Amend Proof of Loss Sublimit</a:t>
            </a:r>
          </a:p>
          <a:p>
            <a:pPr marL="285750" indent="-285750" algn="l">
              <a:spcBef>
                <a:spcPct val="0"/>
              </a:spcBef>
              <a:buFont typeface="Arial" panose="020B0604020202020204" pitchFamily="34" charset="0"/>
              <a:buChar char="•"/>
            </a:pPr>
            <a:r>
              <a:rPr lang="en-GB" sz="1400" dirty="0"/>
              <a:t>Defence Limit</a:t>
            </a:r>
          </a:p>
          <a:p>
            <a:pPr marL="285750" indent="-285750" algn="l">
              <a:spcBef>
                <a:spcPct val="0"/>
              </a:spcBef>
              <a:buFont typeface="Arial" panose="020B0604020202020204" pitchFamily="34" charset="0"/>
              <a:buChar char="•"/>
            </a:pPr>
            <a:r>
              <a:rPr lang="en-GB" sz="1400" dirty="0"/>
              <a:t>Professional Services Liability with Contingent Bodily Injury and/or Property Damage Endorsement</a:t>
            </a:r>
          </a:p>
          <a:p>
            <a:pPr algn="l">
              <a:spcBef>
                <a:spcPct val="0"/>
              </a:spcBef>
            </a:pPr>
            <a:endParaRPr lang="en-GB" sz="1400" dirty="0" err="1"/>
          </a:p>
        </p:txBody>
      </p:sp>
    </p:spTree>
    <p:extLst>
      <p:ext uri="{BB962C8B-B14F-4D97-AF65-F5344CB8AC3E}">
        <p14:creationId xmlns:p14="http://schemas.microsoft.com/office/powerpoint/2010/main" val="3457657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9C4EF6-40EA-44FE-8479-7F7B218062DB}"/>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12EBFD72-AA34-A849-5DB5-3E996204A038}"/>
              </a:ext>
            </a:extLst>
          </p:cNvPr>
          <p:cNvSpPr>
            <a:spLocks noGrp="1"/>
          </p:cNvSpPr>
          <p:nvPr>
            <p:ph type="title"/>
          </p:nvPr>
        </p:nvSpPr>
        <p:spPr/>
        <p:txBody>
          <a:bodyPr/>
          <a:lstStyle/>
          <a:p>
            <a:r>
              <a:rPr lang="en-GB" dirty="0"/>
              <a:t>Political Risks</a:t>
            </a:r>
          </a:p>
        </p:txBody>
      </p:sp>
      <p:sp>
        <p:nvSpPr>
          <p:cNvPr id="4" name="Text Placeholder 3">
            <a:extLst>
              <a:ext uri="{FF2B5EF4-FFF2-40B4-BE49-F238E27FC236}">
                <a16:creationId xmlns:a16="http://schemas.microsoft.com/office/drawing/2014/main" id="{8E56B6A8-1CC2-3148-2F30-E53378021405}"/>
              </a:ext>
            </a:extLst>
          </p:cNvPr>
          <p:cNvSpPr>
            <a:spLocks noGrp="1"/>
          </p:cNvSpPr>
          <p:nvPr>
            <p:ph type="body" sz="quarter" idx="17"/>
          </p:nvPr>
        </p:nvSpPr>
        <p:spPr/>
        <p:txBody>
          <a:bodyPr/>
          <a:lstStyle/>
          <a:p>
            <a:r>
              <a:rPr lang="en-GB" b="1" dirty="0">
                <a:solidFill>
                  <a:srgbClr val="0070C0"/>
                </a:solidFill>
              </a:rPr>
              <a:t>Synopsis</a:t>
            </a:r>
          </a:p>
          <a:p>
            <a:r>
              <a:rPr lang="en-GB" dirty="0"/>
              <a:t>Political risk insurance provides financial protection to investors, financial institutions, and businesses that face the possibility of losing money because of political events. It protects against the possibility that a government will take some action that causes the insured to experience a large financial loss.</a:t>
            </a:r>
          </a:p>
          <a:p>
            <a:r>
              <a:rPr lang="en-GB" dirty="0"/>
              <a:t>Companies operating in developing countries often face higher political risks. Without this insurance, businesses would be hesitant to operate in regions with above-average political instability. Political turbulence can severely impact assets or even lead to their destruction or confiscation.</a:t>
            </a:r>
          </a:p>
          <a:p>
            <a:r>
              <a:rPr lang="en-GB" dirty="0"/>
              <a:t>Common buyers of political risk insurance include:</a:t>
            </a:r>
          </a:p>
          <a:p>
            <a:pPr marL="285750" indent="-285750">
              <a:spcBef>
                <a:spcPts val="0"/>
              </a:spcBef>
              <a:buFont typeface="Arial" panose="020B0604020202020204" pitchFamily="34" charset="0"/>
              <a:buChar char="•"/>
            </a:pPr>
            <a:r>
              <a:rPr lang="en-GB" dirty="0"/>
              <a:t>Multinational corporations</a:t>
            </a:r>
          </a:p>
          <a:p>
            <a:pPr marL="285750" indent="-285750">
              <a:spcBef>
                <a:spcPts val="0"/>
              </a:spcBef>
              <a:buFont typeface="Arial" panose="020B0604020202020204" pitchFamily="34" charset="0"/>
              <a:buChar char="•"/>
            </a:pPr>
            <a:r>
              <a:rPr lang="en-GB" dirty="0"/>
              <a:t>Exporters</a:t>
            </a:r>
          </a:p>
          <a:p>
            <a:pPr marL="285750" indent="-285750">
              <a:spcBef>
                <a:spcPts val="0"/>
              </a:spcBef>
              <a:buFont typeface="Arial" panose="020B0604020202020204" pitchFamily="34" charset="0"/>
              <a:buChar char="•"/>
            </a:pPr>
            <a:r>
              <a:rPr lang="en-GB" dirty="0"/>
              <a:t>Banks</a:t>
            </a:r>
          </a:p>
          <a:p>
            <a:pPr marL="285750" indent="-285750">
              <a:spcBef>
                <a:spcPts val="0"/>
              </a:spcBef>
              <a:buFont typeface="Arial" panose="020B0604020202020204" pitchFamily="34" charset="0"/>
              <a:buChar char="•"/>
            </a:pPr>
            <a:r>
              <a:rPr lang="en-GB" dirty="0"/>
              <a:t>Infrastructure developers</a:t>
            </a:r>
          </a:p>
          <a:p>
            <a:r>
              <a:rPr lang="en-GB" dirty="0"/>
              <a:t>Policies are tailored to each client’s needs, covering one or multiple countries. They can have longer terms and multimillion-dollar coverage amounts.</a:t>
            </a:r>
          </a:p>
          <a:p>
            <a:r>
              <a:rPr lang="en-GB" dirty="0"/>
              <a:t>A key feature is the ability to lock in an insurance policy for many years (up to 15 years). This stability allows businesses to confidently pursue activities that might otherwise be too risky.</a:t>
            </a:r>
          </a:p>
          <a:p>
            <a:r>
              <a:rPr lang="en-GB" dirty="0"/>
              <a:t>In summary, political risk insurance acts as a safety net, allowing businesses to navigate uncertain political landscapes while protecting their financial interests.</a:t>
            </a:r>
          </a:p>
        </p:txBody>
      </p:sp>
    </p:spTree>
    <p:extLst>
      <p:ext uri="{BB962C8B-B14F-4D97-AF65-F5344CB8AC3E}">
        <p14:creationId xmlns:p14="http://schemas.microsoft.com/office/powerpoint/2010/main" val="4003218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40117D-9083-482E-B84A-C0F75847426B}"/>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B81F98BD-12CB-7265-B441-B144ED68F4F0}"/>
              </a:ext>
            </a:extLst>
          </p:cNvPr>
          <p:cNvSpPr>
            <a:spLocks noGrp="1"/>
          </p:cNvSpPr>
          <p:nvPr>
            <p:ph type="title"/>
          </p:nvPr>
        </p:nvSpPr>
        <p:spPr/>
        <p:txBody>
          <a:bodyPr/>
          <a:lstStyle/>
          <a:p>
            <a:r>
              <a:rPr lang="en-GB" dirty="0"/>
              <a:t>Political Risks</a:t>
            </a:r>
          </a:p>
        </p:txBody>
      </p:sp>
      <p:sp>
        <p:nvSpPr>
          <p:cNvPr id="4" name="Text Placeholder 3">
            <a:extLst>
              <a:ext uri="{FF2B5EF4-FFF2-40B4-BE49-F238E27FC236}">
                <a16:creationId xmlns:a16="http://schemas.microsoft.com/office/drawing/2014/main" id="{2C093313-98CD-30DA-2AC1-5ED06441376D}"/>
              </a:ext>
            </a:extLst>
          </p:cNvPr>
          <p:cNvSpPr>
            <a:spLocks noGrp="1"/>
          </p:cNvSpPr>
          <p:nvPr>
            <p:ph type="body" sz="quarter" idx="17"/>
          </p:nvPr>
        </p:nvSpPr>
        <p:spPr/>
        <p:txBody>
          <a:bodyPr/>
          <a:lstStyle/>
          <a:p>
            <a:r>
              <a:rPr lang="en-GB" b="1" dirty="0">
                <a:solidFill>
                  <a:srgbClr val="0070C0"/>
                </a:solidFill>
              </a:rPr>
              <a:t>Coverage</a:t>
            </a:r>
          </a:p>
          <a:p>
            <a:r>
              <a:rPr lang="en-GB" dirty="0"/>
              <a:t>Political risk insurance can cover various possibilities, including:</a:t>
            </a:r>
          </a:p>
          <a:p>
            <a:pPr marL="285750" indent="-285750">
              <a:buFont typeface="Arial" panose="020B0604020202020204" pitchFamily="34" charset="0"/>
              <a:buChar char="•"/>
            </a:pPr>
            <a:r>
              <a:rPr lang="en-GB" dirty="0"/>
              <a:t>Expropriation: Government confiscation of property.</a:t>
            </a:r>
          </a:p>
          <a:p>
            <a:pPr marL="285750" indent="-285750">
              <a:buFont typeface="Arial" panose="020B0604020202020204" pitchFamily="34" charset="0"/>
              <a:buChar char="•"/>
            </a:pPr>
            <a:r>
              <a:rPr lang="en-GB" dirty="0"/>
              <a:t>Political violence: Acts of civil unrest or insurrection.</a:t>
            </a:r>
          </a:p>
          <a:p>
            <a:pPr marL="285750" indent="-285750">
              <a:buFont typeface="Arial" panose="020B0604020202020204" pitchFamily="34" charset="0"/>
              <a:buChar char="•"/>
            </a:pPr>
            <a:r>
              <a:rPr lang="en-GB" dirty="0"/>
              <a:t>Currency conversion and repatriation: Ensuring the ability to convert local currency and transfer it back.</a:t>
            </a:r>
          </a:p>
          <a:p>
            <a:pPr marL="285750" indent="-285750">
              <a:buFont typeface="Arial" panose="020B0604020202020204" pitchFamily="34" charset="0"/>
              <a:buChar char="•"/>
            </a:pPr>
            <a:r>
              <a:rPr lang="en-GB" dirty="0"/>
              <a:t>Sovereign debt default: When a government fails to repay its debt obligations.</a:t>
            </a:r>
          </a:p>
          <a:p>
            <a:pPr marL="285750" indent="-285750">
              <a:buFont typeface="Arial" panose="020B0604020202020204" pitchFamily="34" charset="0"/>
              <a:buChar char="•"/>
            </a:pPr>
            <a:r>
              <a:rPr lang="en-GB" dirty="0"/>
              <a:t>Acts of terrorism and war.</a:t>
            </a:r>
          </a:p>
        </p:txBody>
      </p:sp>
    </p:spTree>
    <p:extLst>
      <p:ext uri="{BB962C8B-B14F-4D97-AF65-F5344CB8AC3E}">
        <p14:creationId xmlns:p14="http://schemas.microsoft.com/office/powerpoint/2010/main" val="7936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54D000-89CC-E7FF-C10B-4C224AE99531}"/>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53ABDD73-1FEF-8218-4C99-E508BCD23BDD}"/>
              </a:ext>
            </a:extLst>
          </p:cNvPr>
          <p:cNvSpPr>
            <a:spLocks noGrp="1"/>
          </p:cNvSpPr>
          <p:nvPr>
            <p:ph type="title"/>
          </p:nvPr>
        </p:nvSpPr>
        <p:spPr/>
        <p:txBody>
          <a:bodyPr/>
          <a:lstStyle/>
          <a:p>
            <a:r>
              <a:rPr lang="en-GB" dirty="0"/>
              <a:t>Life Sciences</a:t>
            </a:r>
          </a:p>
        </p:txBody>
      </p:sp>
      <p:sp>
        <p:nvSpPr>
          <p:cNvPr id="4" name="Text Placeholder 3">
            <a:extLst>
              <a:ext uri="{FF2B5EF4-FFF2-40B4-BE49-F238E27FC236}">
                <a16:creationId xmlns:a16="http://schemas.microsoft.com/office/drawing/2014/main" id="{7D2F1962-1711-3A53-5CE7-1B43DFC2E3EF}"/>
              </a:ext>
            </a:extLst>
          </p:cNvPr>
          <p:cNvSpPr>
            <a:spLocks noGrp="1"/>
          </p:cNvSpPr>
          <p:nvPr>
            <p:ph type="body" sz="quarter" idx="17"/>
          </p:nvPr>
        </p:nvSpPr>
        <p:spPr/>
        <p:txBody>
          <a:bodyPr/>
          <a:lstStyle/>
          <a:p>
            <a:r>
              <a:rPr lang="en-GB" b="1" dirty="0">
                <a:solidFill>
                  <a:srgbClr val="0070C0"/>
                </a:solidFill>
              </a:rPr>
              <a:t>Synopsis</a:t>
            </a:r>
          </a:p>
          <a:p>
            <a:r>
              <a:rPr lang="en-GB" dirty="0"/>
              <a:t>Life sciences insurance is a customized business coverage that protects biotech, pharmaceutical and other life science companies from their unique industry risks. It is designed to respond to the particular risk management needs of companies engaging in life sciences-related activities such as laboratory or animal research, pharmaceutical development and manufacturing, medical device manufacturers, and distributors and wholesalers of drugs or devices. Life Science Insurance also covers biotech and medical device companies as well as bioscience, biomedical industries and agriculture.</a:t>
            </a:r>
          </a:p>
          <a:p>
            <a:r>
              <a:rPr lang="en-GB" b="1" dirty="0">
                <a:solidFill>
                  <a:srgbClr val="0070C0"/>
                </a:solidFill>
              </a:rPr>
              <a:t>Coverage</a:t>
            </a:r>
          </a:p>
          <a:p>
            <a:pPr marL="285750" indent="-285750">
              <a:buFont typeface="Arial" panose="020B0604020202020204" pitchFamily="34" charset="0"/>
              <a:buChar char="•"/>
            </a:pPr>
            <a:r>
              <a:rPr lang="en-GB" dirty="0"/>
              <a:t>Property, including</a:t>
            </a:r>
          </a:p>
          <a:p>
            <a:pPr marL="466725" lvl="1" indent="-285750">
              <a:buFont typeface="Arial" panose="020B0604020202020204" pitchFamily="34" charset="0"/>
              <a:buChar char="•"/>
            </a:pPr>
            <a:r>
              <a:rPr lang="en-GB" dirty="0"/>
              <a:t>Business Income</a:t>
            </a:r>
          </a:p>
          <a:p>
            <a:pPr marL="466725" lvl="1" indent="-285750">
              <a:buFont typeface="Arial" panose="020B0604020202020204" pitchFamily="34" charset="0"/>
              <a:buChar char="•"/>
            </a:pPr>
            <a:r>
              <a:rPr lang="en-GB" dirty="0"/>
              <a:t>Off-Premises research and development property</a:t>
            </a:r>
          </a:p>
          <a:p>
            <a:pPr marL="466725" lvl="1" indent="-285750">
              <a:buFont typeface="Arial" panose="020B0604020202020204" pitchFamily="34" charset="0"/>
              <a:buChar char="•"/>
            </a:pPr>
            <a:r>
              <a:rPr lang="en-GB" dirty="0"/>
              <a:t>Material Damage/Loss of Production</a:t>
            </a:r>
          </a:p>
          <a:p>
            <a:pPr marL="466725" lvl="1" indent="-285750">
              <a:buFont typeface="Arial" panose="020B0604020202020204" pitchFamily="34" charset="0"/>
              <a:buChar char="•"/>
            </a:pPr>
            <a:r>
              <a:rPr lang="en-GB" dirty="0"/>
              <a:t>Contaminants and Change in Conditions</a:t>
            </a:r>
          </a:p>
          <a:p>
            <a:pPr marL="466725" lvl="1" indent="-285750">
              <a:buFont typeface="Arial" panose="020B0604020202020204" pitchFamily="34" charset="0"/>
              <a:buChar char="•"/>
            </a:pPr>
            <a:r>
              <a:rPr lang="en-GB" dirty="0"/>
              <a:t>Stated value</a:t>
            </a:r>
          </a:p>
          <a:p>
            <a:pPr marL="466725" lvl="1" indent="-285750">
              <a:buFont typeface="Arial" panose="020B0604020202020204" pitchFamily="34" charset="0"/>
              <a:buChar char="•"/>
            </a:pPr>
            <a:r>
              <a:rPr lang="en-GB" dirty="0"/>
              <a:t>Continuing Expense</a:t>
            </a:r>
          </a:p>
        </p:txBody>
      </p:sp>
    </p:spTree>
    <p:extLst>
      <p:ext uri="{BB962C8B-B14F-4D97-AF65-F5344CB8AC3E}">
        <p14:creationId xmlns:p14="http://schemas.microsoft.com/office/powerpoint/2010/main" val="550580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E53483-7EEA-F163-9290-0DFB2E055C2C}"/>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6066594E-8205-AB1D-F59A-E858606A8CE8}"/>
              </a:ext>
            </a:extLst>
          </p:cNvPr>
          <p:cNvSpPr>
            <a:spLocks noGrp="1"/>
          </p:cNvSpPr>
          <p:nvPr>
            <p:ph type="title"/>
          </p:nvPr>
        </p:nvSpPr>
        <p:spPr/>
        <p:txBody>
          <a:bodyPr/>
          <a:lstStyle/>
          <a:p>
            <a:r>
              <a:rPr lang="en-GB" dirty="0"/>
              <a:t>Healthcare Management</a:t>
            </a:r>
          </a:p>
        </p:txBody>
      </p:sp>
      <p:sp>
        <p:nvSpPr>
          <p:cNvPr id="4" name="Text Placeholder 3">
            <a:extLst>
              <a:ext uri="{FF2B5EF4-FFF2-40B4-BE49-F238E27FC236}">
                <a16:creationId xmlns:a16="http://schemas.microsoft.com/office/drawing/2014/main" id="{B3ABF1E5-C83E-7E78-688B-6C71A6ACF68A}"/>
              </a:ext>
            </a:extLst>
          </p:cNvPr>
          <p:cNvSpPr>
            <a:spLocks noGrp="1"/>
          </p:cNvSpPr>
          <p:nvPr>
            <p:ph type="body" sz="quarter" idx="17"/>
          </p:nvPr>
        </p:nvSpPr>
        <p:spPr/>
        <p:txBody>
          <a:bodyPr/>
          <a:lstStyle/>
          <a:p>
            <a:r>
              <a:rPr lang="en-GB" b="1" dirty="0">
                <a:solidFill>
                  <a:srgbClr val="0070C0"/>
                </a:solidFill>
              </a:rPr>
              <a:t>Synopsis</a:t>
            </a:r>
          </a:p>
          <a:p>
            <a:r>
              <a:rPr lang="en-GB" dirty="0"/>
              <a:t>Healthcare Management refers to the overall management and leadership of both public and private healthcare organisations. Essentially, healthcare management is in place to ensure that operations in the entire healthcare sector are maintained seamlessly. The Healthcare Management insurance policy covers the operational activities and liabilities of the healthcare company.  It is a Management Liability policy tailored specifically for the healthcare industry.</a:t>
            </a:r>
          </a:p>
          <a:p>
            <a:r>
              <a:rPr lang="en-GB" b="1" dirty="0">
                <a:solidFill>
                  <a:srgbClr val="0070C0"/>
                </a:solidFill>
              </a:rPr>
              <a:t>Coverage</a:t>
            </a:r>
          </a:p>
          <a:p>
            <a:r>
              <a:rPr lang="en-GB" dirty="0"/>
              <a:t>Coverage is specific to the industry sector but includes things like:</a:t>
            </a:r>
          </a:p>
          <a:p>
            <a:pPr marL="285750" indent="-285750">
              <a:buFont typeface="Arial" panose="020B0604020202020204" pitchFamily="34" charset="0"/>
              <a:buChar char="•"/>
            </a:pPr>
            <a:r>
              <a:rPr lang="en-GB" dirty="0"/>
              <a:t>Director &amp; Officer liability protection for all in a supervisory position</a:t>
            </a:r>
          </a:p>
          <a:p>
            <a:pPr marL="285750" indent="-285750">
              <a:buFont typeface="Arial" panose="020B0604020202020204" pitchFamily="34" charset="0"/>
              <a:buChar char="•"/>
            </a:pPr>
            <a:r>
              <a:rPr lang="en-GB" dirty="0"/>
              <a:t>Corporate liability</a:t>
            </a:r>
          </a:p>
        </p:txBody>
      </p:sp>
    </p:spTree>
    <p:extLst>
      <p:ext uri="{BB962C8B-B14F-4D97-AF65-F5344CB8AC3E}">
        <p14:creationId xmlns:p14="http://schemas.microsoft.com/office/powerpoint/2010/main" val="3832183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24E17F-5BF4-A8C0-8ECE-456502242491}"/>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A914C009-2B3F-8AD6-3421-E49FFC324545}"/>
              </a:ext>
            </a:extLst>
          </p:cNvPr>
          <p:cNvSpPr>
            <a:spLocks noGrp="1"/>
          </p:cNvSpPr>
          <p:nvPr>
            <p:ph type="title"/>
          </p:nvPr>
        </p:nvSpPr>
        <p:spPr/>
        <p:txBody>
          <a:bodyPr/>
          <a:lstStyle/>
          <a:p>
            <a:r>
              <a:rPr lang="en-GB" dirty="0"/>
              <a:t>Recall (Product Recall)</a:t>
            </a:r>
          </a:p>
        </p:txBody>
      </p:sp>
      <p:sp>
        <p:nvSpPr>
          <p:cNvPr id="4" name="Text Placeholder 3">
            <a:extLst>
              <a:ext uri="{FF2B5EF4-FFF2-40B4-BE49-F238E27FC236}">
                <a16:creationId xmlns:a16="http://schemas.microsoft.com/office/drawing/2014/main" id="{137A1BA8-5A60-B888-CF53-4F9B9968BBC6}"/>
              </a:ext>
            </a:extLst>
          </p:cNvPr>
          <p:cNvSpPr>
            <a:spLocks noGrp="1"/>
          </p:cNvSpPr>
          <p:nvPr>
            <p:ph type="body" sz="quarter" idx="17"/>
          </p:nvPr>
        </p:nvSpPr>
        <p:spPr/>
        <p:txBody>
          <a:bodyPr/>
          <a:lstStyle/>
          <a:p>
            <a:r>
              <a:rPr lang="en-GB" b="1" dirty="0">
                <a:solidFill>
                  <a:srgbClr val="0070C0"/>
                </a:solidFill>
              </a:rPr>
              <a:t>Synopsys</a:t>
            </a:r>
          </a:p>
          <a:p>
            <a:r>
              <a:rPr lang="en-GB" dirty="0"/>
              <a:t>Product recall insurance is a type of insurance coverage that covers expenses associated with recalling a product from the market. It is typically purchased by manufacturers such as food, beverage, toy, and electronics companies to cover costs such as customer notification, shipping costs, and disposal costs. The insurance coverage is for the cost of getting a defective product back under the control of the manufacturer or merchandiser that would be responsible for possible bodily injury (BI) or property damage (PD) from its continued use or existence. Coverage generally applies to the firm itself, though additional coverage can be purchased to cover the costs of third parties.</a:t>
            </a:r>
          </a:p>
          <a:p>
            <a:r>
              <a:rPr lang="en-GB" dirty="0"/>
              <a:t>Product recall insurance reimburses policyholders for financial losses sustained when a product is recalled. Product recalls can be involuntary (required by a regulatory agency or the government) or voluntary (the manufacturer notices a defect that is unlikely to force an involuntary recall) and can be costly.</a:t>
            </a:r>
          </a:p>
          <a:p>
            <a:r>
              <a:rPr lang="en-GB" b="1" dirty="0">
                <a:solidFill>
                  <a:srgbClr val="0070C0"/>
                </a:solidFill>
              </a:rPr>
              <a:t>Key Takeaways</a:t>
            </a:r>
          </a:p>
          <a:p>
            <a:pPr marL="285750" indent="-285750">
              <a:buFont typeface="Arial" panose="020B0604020202020204" pitchFamily="34" charset="0"/>
              <a:buChar char="•"/>
            </a:pPr>
            <a:r>
              <a:rPr lang="en-GB" dirty="0"/>
              <a:t>Product recall insurance covers expenses related to recalling a product once it has been released to the public.</a:t>
            </a:r>
          </a:p>
          <a:p>
            <a:pPr marL="285750" indent="-285750">
              <a:buFont typeface="Arial" panose="020B0604020202020204" pitchFamily="34" charset="0"/>
              <a:buChar char="•"/>
            </a:pPr>
            <a:r>
              <a:rPr lang="en-GB" dirty="0"/>
              <a:t>Many costs come with a product recall, including shipping costs, warehouse costs, disposal costs, and restocking costs. Product recall insurance covers these expenses.</a:t>
            </a:r>
          </a:p>
          <a:p>
            <a:pPr marL="285750" indent="-285750">
              <a:buFont typeface="Arial" panose="020B0604020202020204" pitchFamily="34" charset="0"/>
              <a:buChar char="•"/>
            </a:pPr>
            <a:r>
              <a:rPr lang="en-GB" dirty="0"/>
              <a:t>Product recall insurance is triggered when a product poses severe health risks and/or death to users of the product.</a:t>
            </a:r>
          </a:p>
          <a:p>
            <a:pPr marL="285750" indent="-285750">
              <a:buFont typeface="Arial" panose="020B0604020202020204" pitchFamily="34" charset="0"/>
              <a:buChar char="•"/>
            </a:pPr>
            <a:r>
              <a:rPr lang="en-GB" dirty="0"/>
              <a:t>The risks of product recalls have increased over the years due to more stringent global regulatory rules and safety requirements.</a:t>
            </a:r>
          </a:p>
          <a:p>
            <a:pPr marL="285750" indent="-285750">
              <a:buFont typeface="Arial" panose="020B0604020202020204" pitchFamily="34" charset="0"/>
              <a:buChar char="•"/>
            </a:pPr>
            <a:r>
              <a:rPr lang="en-GB" dirty="0"/>
              <a:t>Product recall insurance is intended to protect companies from financial loss and bankruptcy resulting from product recalls.</a:t>
            </a:r>
          </a:p>
          <a:p>
            <a:r>
              <a:rPr lang="en-GB" b="1" dirty="0">
                <a:solidFill>
                  <a:srgbClr val="0070C0"/>
                </a:solidFill>
              </a:rPr>
              <a:t>What Product Recall is Not</a:t>
            </a:r>
          </a:p>
          <a:p>
            <a:r>
              <a:rPr lang="en-GB" dirty="0"/>
              <a:t>Product Recall is not Product Liability insurance</a:t>
            </a:r>
          </a:p>
        </p:txBody>
      </p:sp>
    </p:spTree>
    <p:extLst>
      <p:ext uri="{BB962C8B-B14F-4D97-AF65-F5344CB8AC3E}">
        <p14:creationId xmlns:p14="http://schemas.microsoft.com/office/powerpoint/2010/main" val="4186423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78C0F1-551B-D71C-3E45-DEB1F1A193E5}"/>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DA688836-AD8B-9562-635A-4DBEF73F6E13}"/>
              </a:ext>
            </a:extLst>
          </p:cNvPr>
          <p:cNvSpPr>
            <a:spLocks noGrp="1"/>
          </p:cNvSpPr>
          <p:nvPr>
            <p:ph type="title"/>
          </p:nvPr>
        </p:nvSpPr>
        <p:spPr/>
        <p:txBody>
          <a:bodyPr/>
          <a:lstStyle/>
          <a:p>
            <a:r>
              <a:rPr lang="en-GB" dirty="0"/>
              <a:t>Product Liability</a:t>
            </a:r>
          </a:p>
        </p:txBody>
      </p:sp>
      <p:sp>
        <p:nvSpPr>
          <p:cNvPr id="4" name="Text Placeholder 3">
            <a:extLst>
              <a:ext uri="{FF2B5EF4-FFF2-40B4-BE49-F238E27FC236}">
                <a16:creationId xmlns:a16="http://schemas.microsoft.com/office/drawing/2014/main" id="{7D934CBA-06C7-99CA-90C5-DA56EAB27962}"/>
              </a:ext>
            </a:extLst>
          </p:cNvPr>
          <p:cNvSpPr>
            <a:spLocks noGrp="1"/>
          </p:cNvSpPr>
          <p:nvPr>
            <p:ph type="body" sz="quarter" idx="17"/>
          </p:nvPr>
        </p:nvSpPr>
        <p:spPr/>
        <p:txBody>
          <a:bodyPr/>
          <a:lstStyle/>
          <a:p>
            <a:r>
              <a:rPr lang="en-GB" b="1" dirty="0">
                <a:solidFill>
                  <a:srgbClr val="0070C0"/>
                </a:solidFill>
              </a:rPr>
              <a:t>Synopsis</a:t>
            </a:r>
          </a:p>
          <a:p>
            <a:r>
              <a:rPr lang="en-GB" dirty="0"/>
              <a:t>Product liability insurance is a policy that pays for damage or injury caused by a product sold by the policyholder. It can also cover the legal fees that arise from lawsuits against the policyholder because of their product. Product liability insurance protects the policyholder from the legal liability that they have when consumers are harmed by a defective product that they design, manufacture or supply.</a:t>
            </a:r>
          </a:p>
          <a:p>
            <a:endParaRPr lang="en-GB" dirty="0"/>
          </a:p>
          <a:p>
            <a:r>
              <a:rPr lang="en-GB" b="1" dirty="0">
                <a:solidFill>
                  <a:srgbClr val="0070C0"/>
                </a:solidFill>
              </a:rPr>
              <a:t>Coverage</a:t>
            </a:r>
          </a:p>
          <a:p>
            <a:r>
              <a:rPr lang="en-GB" dirty="0"/>
              <a:t>There are three areas covered by a product liability policy:</a:t>
            </a:r>
          </a:p>
          <a:p>
            <a:pPr marL="342900" indent="-342900">
              <a:buFont typeface="+mj-lt"/>
              <a:buAutoNum type="arabicPeriod"/>
            </a:pPr>
            <a:r>
              <a:rPr lang="en-GB" dirty="0"/>
              <a:t>Defects from the production or manufacturing process</a:t>
            </a:r>
          </a:p>
          <a:p>
            <a:pPr marL="342900" indent="-342900">
              <a:buFont typeface="+mj-lt"/>
              <a:buAutoNum type="arabicPeriod"/>
            </a:pPr>
            <a:r>
              <a:rPr lang="en-GB" dirty="0"/>
              <a:t>Defects from the design</a:t>
            </a:r>
          </a:p>
          <a:p>
            <a:pPr marL="342900" indent="-342900">
              <a:buFont typeface="+mj-lt"/>
              <a:buAutoNum type="arabicPeriod"/>
            </a:pPr>
            <a:r>
              <a:rPr lang="en-GB" dirty="0"/>
              <a:t>Faulty or deficient product information</a:t>
            </a:r>
          </a:p>
          <a:p>
            <a:r>
              <a:rPr lang="en-GB" dirty="0"/>
              <a:t>The policy covers financial compensation to the aggrieved client or customer and financial assistance when the seller or manufacturer gets entangled in a legal process.</a:t>
            </a:r>
          </a:p>
        </p:txBody>
      </p:sp>
    </p:spTree>
    <p:extLst>
      <p:ext uri="{BB962C8B-B14F-4D97-AF65-F5344CB8AC3E}">
        <p14:creationId xmlns:p14="http://schemas.microsoft.com/office/powerpoint/2010/main" val="1901473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C70B16-5A9A-3A99-FA10-AB634ADE69F1}"/>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5EB9CA77-B504-2D71-134E-B3D8034FE452}"/>
              </a:ext>
            </a:extLst>
          </p:cNvPr>
          <p:cNvSpPr>
            <a:spLocks noGrp="1"/>
          </p:cNvSpPr>
          <p:nvPr>
            <p:ph type="title"/>
          </p:nvPr>
        </p:nvSpPr>
        <p:spPr/>
        <p:txBody>
          <a:bodyPr/>
          <a:lstStyle/>
          <a:p>
            <a:r>
              <a:rPr lang="en-GB" dirty="0"/>
              <a:t>Aviation</a:t>
            </a:r>
          </a:p>
        </p:txBody>
      </p:sp>
      <p:sp>
        <p:nvSpPr>
          <p:cNvPr id="4" name="Text Placeholder 3">
            <a:extLst>
              <a:ext uri="{FF2B5EF4-FFF2-40B4-BE49-F238E27FC236}">
                <a16:creationId xmlns:a16="http://schemas.microsoft.com/office/drawing/2014/main" id="{94E672E7-C579-9B74-BD24-FAC891B3F58C}"/>
              </a:ext>
            </a:extLst>
          </p:cNvPr>
          <p:cNvSpPr>
            <a:spLocks noGrp="1"/>
          </p:cNvSpPr>
          <p:nvPr>
            <p:ph type="body" sz="quarter" idx="17"/>
          </p:nvPr>
        </p:nvSpPr>
        <p:spPr/>
        <p:txBody>
          <a:bodyPr/>
          <a:lstStyle/>
          <a:p>
            <a:r>
              <a:rPr lang="en-GB" b="1" dirty="0">
                <a:solidFill>
                  <a:srgbClr val="0070C0"/>
                </a:solidFill>
              </a:rPr>
              <a:t>Synopsis</a:t>
            </a:r>
          </a:p>
          <a:p>
            <a:r>
              <a:rPr lang="en-GB" dirty="0"/>
              <a:t>Aviation insurance is a policy that covers losses from aviation risks such as damage to property, loss of cargo, or injury to people. This type of insurance is tailored to the operation of aircraft and the unique risks inherent in aviation. Unlike other transportation insurance policies, aviation insurance incorporates specialized terminology and clauses specific to the aviation industry.</a:t>
            </a:r>
          </a:p>
          <a:p>
            <a:pPr algn="l"/>
            <a:r>
              <a:rPr lang="en-GB" b="1" dirty="0">
                <a:solidFill>
                  <a:srgbClr val="0070C0"/>
                </a:solidFill>
              </a:rPr>
              <a:t>Types of Aviation Insurance Cover</a:t>
            </a:r>
            <a:endParaRPr lang="en-GB" dirty="0">
              <a:solidFill>
                <a:srgbClr val="0070C0"/>
              </a:solidFill>
            </a:endParaRPr>
          </a:p>
          <a:p>
            <a:pPr marL="285750" indent="-285750" algn="l">
              <a:spcBef>
                <a:spcPts val="0"/>
              </a:spcBef>
              <a:buFont typeface="Arial" panose="020B0604020202020204" pitchFamily="34" charset="0"/>
              <a:buChar char="•"/>
            </a:pPr>
            <a:r>
              <a:rPr lang="en-GB" dirty="0"/>
              <a:t>Public liability insurance</a:t>
            </a:r>
          </a:p>
          <a:p>
            <a:pPr marL="285750" indent="-285750" algn="l">
              <a:spcBef>
                <a:spcPts val="0"/>
              </a:spcBef>
              <a:buFont typeface="Arial" panose="020B0604020202020204" pitchFamily="34" charset="0"/>
              <a:buChar char="•"/>
            </a:pPr>
            <a:r>
              <a:rPr lang="en-GB" dirty="0"/>
              <a:t>Passenger liability insurance</a:t>
            </a:r>
          </a:p>
          <a:p>
            <a:pPr marL="285750" indent="-285750" algn="l">
              <a:spcBef>
                <a:spcPts val="0"/>
              </a:spcBef>
              <a:buFont typeface="Arial" panose="020B0604020202020204" pitchFamily="34" charset="0"/>
              <a:buChar char="•"/>
            </a:pPr>
            <a:r>
              <a:rPr lang="en-GB" dirty="0"/>
              <a:t>Combined single limit (Public and Passenger liability together under a single limit)</a:t>
            </a:r>
          </a:p>
          <a:p>
            <a:pPr marL="285750" indent="-285750" algn="l">
              <a:spcBef>
                <a:spcPts val="0"/>
              </a:spcBef>
              <a:buFont typeface="Arial" panose="020B0604020202020204" pitchFamily="34" charset="0"/>
              <a:buChar char="•"/>
            </a:pPr>
            <a:r>
              <a:rPr lang="en-GB" dirty="0"/>
              <a:t>Ground risk hull insurance not in motion</a:t>
            </a:r>
          </a:p>
          <a:p>
            <a:pPr marL="285750" indent="-285750" algn="l">
              <a:spcBef>
                <a:spcPts val="0"/>
              </a:spcBef>
              <a:buFont typeface="Arial" panose="020B0604020202020204" pitchFamily="34" charset="0"/>
              <a:buChar char="•"/>
            </a:pPr>
            <a:r>
              <a:rPr lang="en-GB" dirty="0"/>
              <a:t>Ground risk hull insurance in motion (taxiing)</a:t>
            </a:r>
          </a:p>
          <a:p>
            <a:pPr marL="285750" indent="-285750" algn="l">
              <a:spcBef>
                <a:spcPts val="0"/>
              </a:spcBef>
              <a:buFont typeface="Arial" panose="020B0604020202020204" pitchFamily="34" charset="0"/>
              <a:buChar char="•"/>
            </a:pPr>
            <a:r>
              <a:rPr lang="en-GB" dirty="0"/>
              <a:t>In-flight insurance</a:t>
            </a:r>
          </a:p>
          <a:p>
            <a:pPr algn="l"/>
            <a:r>
              <a:rPr lang="en-GB" b="1" dirty="0">
                <a:solidFill>
                  <a:srgbClr val="0070C0"/>
                </a:solidFill>
              </a:rPr>
              <a:t>Coverages</a:t>
            </a:r>
          </a:p>
          <a:p>
            <a:pPr algn="l"/>
            <a:r>
              <a:rPr lang="en-GB" dirty="0"/>
              <a:t>Coverages will depend upon the type of insurance cover selected but can include:</a:t>
            </a:r>
          </a:p>
          <a:p>
            <a:pPr marL="285750" indent="-285750" algn="l">
              <a:spcBef>
                <a:spcPts val="0"/>
              </a:spcBef>
              <a:buFont typeface="Arial" panose="020B0604020202020204" pitchFamily="34" charset="0"/>
              <a:buChar char="•"/>
            </a:pPr>
            <a:r>
              <a:rPr lang="en-GB" dirty="0"/>
              <a:t>Liability to the general public and passengers</a:t>
            </a:r>
          </a:p>
          <a:p>
            <a:pPr marL="285750" indent="-285750">
              <a:spcBef>
                <a:spcPts val="0"/>
              </a:spcBef>
              <a:buFont typeface="Arial" panose="020B0604020202020204" pitchFamily="34" charset="0"/>
              <a:buChar char="•"/>
            </a:pPr>
            <a:r>
              <a:rPr lang="en-GB" dirty="0"/>
              <a:t>Airport liability</a:t>
            </a:r>
          </a:p>
          <a:p>
            <a:pPr marL="285750" indent="-285750" algn="l">
              <a:spcBef>
                <a:spcPts val="0"/>
              </a:spcBef>
              <a:buFont typeface="Arial" panose="020B0604020202020204" pitchFamily="34" charset="0"/>
              <a:buChar char="•"/>
            </a:pPr>
            <a:r>
              <a:rPr lang="en-GB" dirty="0"/>
              <a:t>Damage to the aircraft hull (fuselage)</a:t>
            </a:r>
          </a:p>
          <a:p>
            <a:pPr marL="285750" indent="-285750" algn="l">
              <a:spcBef>
                <a:spcPts val="0"/>
              </a:spcBef>
              <a:buFont typeface="Arial" panose="020B0604020202020204" pitchFamily="34" charset="0"/>
              <a:buChar char="•"/>
            </a:pPr>
            <a:r>
              <a:rPr lang="en-GB" dirty="0"/>
              <a:t>Rented aircraft coverage</a:t>
            </a:r>
          </a:p>
          <a:p>
            <a:pPr marL="285750" indent="-285750" algn="l">
              <a:spcBef>
                <a:spcPts val="0"/>
              </a:spcBef>
              <a:buFont typeface="Arial" panose="020B0604020202020204" pitchFamily="34" charset="0"/>
              <a:buChar char="•"/>
            </a:pPr>
            <a:r>
              <a:rPr lang="en-GB" dirty="0"/>
              <a:t>Damage to hangers</a:t>
            </a:r>
          </a:p>
          <a:p>
            <a:pPr marL="285750" indent="-285750" algn="l">
              <a:spcBef>
                <a:spcPts val="0"/>
              </a:spcBef>
              <a:buFont typeface="Arial" panose="020B0604020202020204" pitchFamily="34" charset="0"/>
              <a:buChar char="•"/>
            </a:pPr>
            <a:r>
              <a:rPr lang="en-GB" dirty="0"/>
              <a:t>Cost of emergency landings</a:t>
            </a:r>
          </a:p>
          <a:p>
            <a:pPr marL="285750" indent="-285750" algn="l">
              <a:spcBef>
                <a:spcPts val="0"/>
              </a:spcBef>
              <a:buFont typeface="Arial" panose="020B0604020202020204" pitchFamily="34" charset="0"/>
              <a:buChar char="•"/>
            </a:pPr>
            <a:r>
              <a:rPr lang="en-GB" dirty="0"/>
              <a:t>Costs associated with search and rescue operations</a:t>
            </a:r>
          </a:p>
          <a:p>
            <a:pPr>
              <a:spcBef>
                <a:spcPts val="0"/>
              </a:spcBef>
            </a:pPr>
            <a:endParaRPr lang="en-GB" dirty="0"/>
          </a:p>
          <a:p>
            <a:endParaRPr lang="en-GB" dirty="0"/>
          </a:p>
        </p:txBody>
      </p:sp>
    </p:spTree>
    <p:extLst>
      <p:ext uri="{BB962C8B-B14F-4D97-AF65-F5344CB8AC3E}">
        <p14:creationId xmlns:p14="http://schemas.microsoft.com/office/powerpoint/2010/main" val="3332013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FD6990-DC38-329E-AE58-2243A23A3C3B}"/>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23BD5EF0-BDDD-D53E-D9C1-9078B5AEFC1D}"/>
              </a:ext>
            </a:extLst>
          </p:cNvPr>
          <p:cNvSpPr>
            <a:spLocks noGrp="1"/>
          </p:cNvSpPr>
          <p:nvPr>
            <p:ph type="title"/>
          </p:nvPr>
        </p:nvSpPr>
        <p:spPr/>
        <p:txBody>
          <a:bodyPr/>
          <a:lstStyle/>
          <a:p>
            <a:r>
              <a:rPr lang="en-GB" dirty="0"/>
              <a:t>Fine Art &amp; Specie</a:t>
            </a:r>
          </a:p>
        </p:txBody>
      </p:sp>
      <p:sp>
        <p:nvSpPr>
          <p:cNvPr id="4" name="Text Placeholder 3">
            <a:extLst>
              <a:ext uri="{FF2B5EF4-FFF2-40B4-BE49-F238E27FC236}">
                <a16:creationId xmlns:a16="http://schemas.microsoft.com/office/drawing/2014/main" id="{67C9FB99-3420-3B7C-FE55-1A9BD89CAAEF}"/>
              </a:ext>
            </a:extLst>
          </p:cNvPr>
          <p:cNvSpPr>
            <a:spLocks noGrp="1"/>
          </p:cNvSpPr>
          <p:nvPr>
            <p:ph type="body" sz="quarter" idx="17"/>
          </p:nvPr>
        </p:nvSpPr>
        <p:spPr/>
        <p:txBody>
          <a:bodyPr/>
          <a:lstStyle/>
          <a:p>
            <a:r>
              <a:rPr lang="en-GB" b="1" dirty="0">
                <a:solidFill>
                  <a:srgbClr val="0070C0"/>
                </a:solidFill>
              </a:rPr>
              <a:t>Synopsis</a:t>
            </a:r>
          </a:p>
          <a:p>
            <a:r>
              <a:rPr lang="en-GB" dirty="0"/>
              <a:t>Fine Art and Specie insurance is a type of insurance that covers individuals and organizations against the loss of or damage to valuables including precious stones, jewellery and works of art. This coverage provides critical financial protection for collectors in the event that an art investment is lost, stolen or damaged. The insurance can be used to protect valuable pieces of artistic media, including paintings, manuscripts, ceramics, historical artefacts, textiles, books and more. Fine Art and Specie insurance is a niche insurance market protecting highly valuable assets, such as fine art, jewellery, cash, and cryptocurrency. The insurance provides global cover for the physical loss or damage of valuables, whether on display, in storage or in transit.</a:t>
            </a:r>
          </a:p>
          <a:p>
            <a:endParaRPr lang="en-GB" dirty="0"/>
          </a:p>
          <a:p>
            <a:r>
              <a:rPr lang="en-GB" b="1" dirty="0">
                <a:solidFill>
                  <a:srgbClr val="0070C0"/>
                </a:solidFill>
              </a:rPr>
              <a:t>Coverage</a:t>
            </a:r>
          </a:p>
          <a:p>
            <a:r>
              <a:rPr lang="en-GB" dirty="0"/>
              <a:t>Generally all risks including loss of value.</a:t>
            </a:r>
          </a:p>
        </p:txBody>
      </p:sp>
    </p:spTree>
    <p:extLst>
      <p:ext uri="{BB962C8B-B14F-4D97-AF65-F5344CB8AC3E}">
        <p14:creationId xmlns:p14="http://schemas.microsoft.com/office/powerpoint/2010/main" val="601202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FF19AF-BB3D-64AB-79F4-5F7E0363BC1A}"/>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EFFDE3FD-CF3C-447D-A6F3-6040A76BFB77}"/>
              </a:ext>
            </a:extLst>
          </p:cNvPr>
          <p:cNvSpPr>
            <a:spLocks noGrp="1"/>
          </p:cNvSpPr>
          <p:nvPr>
            <p:ph type="title"/>
          </p:nvPr>
        </p:nvSpPr>
        <p:spPr/>
        <p:txBody>
          <a:bodyPr/>
          <a:lstStyle/>
          <a:p>
            <a:r>
              <a:rPr lang="en-GB" dirty="0"/>
              <a:t>Marine</a:t>
            </a:r>
          </a:p>
        </p:txBody>
      </p:sp>
      <p:sp>
        <p:nvSpPr>
          <p:cNvPr id="4" name="Text Placeholder 3">
            <a:extLst>
              <a:ext uri="{FF2B5EF4-FFF2-40B4-BE49-F238E27FC236}">
                <a16:creationId xmlns:a16="http://schemas.microsoft.com/office/drawing/2014/main" id="{34577FB6-4DA8-BA43-BEC8-82E3CD3C628D}"/>
              </a:ext>
            </a:extLst>
          </p:cNvPr>
          <p:cNvSpPr>
            <a:spLocks noGrp="1"/>
          </p:cNvSpPr>
          <p:nvPr>
            <p:ph type="body" sz="quarter" idx="17"/>
          </p:nvPr>
        </p:nvSpPr>
        <p:spPr/>
        <p:txBody>
          <a:bodyPr/>
          <a:lstStyle/>
          <a:p>
            <a:pPr marL="285750" indent="-285750">
              <a:buFont typeface="Arial" panose="020B0604020202020204" pitchFamily="34" charset="0"/>
              <a:buChar char="•"/>
            </a:pPr>
            <a:r>
              <a:rPr lang="en-GB" dirty="0"/>
              <a:t>Mixed Policy</a:t>
            </a:r>
          </a:p>
          <a:p>
            <a:pPr marL="466725" lvl="1" indent="-285750">
              <a:spcBef>
                <a:spcPts val="0"/>
              </a:spcBef>
              <a:buFont typeface="Arial" panose="020B0604020202020204" pitchFamily="34" charset="0"/>
              <a:buChar char="•"/>
            </a:pPr>
            <a:r>
              <a:rPr lang="en-GB" dirty="0"/>
              <a:t>Mixed policy is a mixture of two policies </a:t>
            </a:r>
            <a:r>
              <a:rPr lang="en-GB" dirty="0" err="1"/>
              <a:t>i.e</a:t>
            </a:r>
            <a:r>
              <a:rPr lang="en-GB" dirty="0"/>
              <a:t> Voyage policy and Time policy.</a:t>
            </a:r>
          </a:p>
          <a:p>
            <a:pPr marL="285750" indent="-285750">
              <a:buFont typeface="Arial" panose="020B0604020202020204" pitchFamily="34" charset="0"/>
              <a:buChar char="•"/>
            </a:pPr>
            <a:r>
              <a:rPr lang="en-GB" dirty="0"/>
              <a:t>Named Policy</a:t>
            </a:r>
          </a:p>
          <a:p>
            <a:pPr marL="466725" lvl="1" indent="-285750">
              <a:spcBef>
                <a:spcPts val="0"/>
              </a:spcBef>
              <a:buFont typeface="Arial" panose="020B0604020202020204" pitchFamily="34" charset="0"/>
              <a:buChar char="•"/>
            </a:pPr>
            <a:r>
              <a:rPr lang="en-GB" dirty="0"/>
              <a:t>Named policy is one of the most popular policies in marine insurance policy. The name of the ship is mentioned in the insurance document, stating the policy issued is in the name of the ship.</a:t>
            </a:r>
          </a:p>
          <a:p>
            <a:pPr marL="285750" indent="-285750">
              <a:buFont typeface="Arial" panose="020B0604020202020204" pitchFamily="34" charset="0"/>
              <a:buChar char="•"/>
            </a:pPr>
            <a:r>
              <a:rPr lang="en-GB" dirty="0"/>
              <a:t>Port Risk Policy</a:t>
            </a:r>
          </a:p>
          <a:p>
            <a:pPr marL="466725" lvl="1" indent="-285750">
              <a:spcBef>
                <a:spcPts val="0"/>
              </a:spcBef>
              <a:buFont typeface="Arial" panose="020B0604020202020204" pitchFamily="34" charset="0"/>
              <a:buChar char="•"/>
            </a:pPr>
            <a:r>
              <a:rPr lang="en-GB" dirty="0"/>
              <a:t>It is a policy taken to ensure the safety of the ship when it is stationed in a port.</a:t>
            </a:r>
          </a:p>
          <a:p>
            <a:pPr marL="285750" indent="-285750">
              <a:buFont typeface="Arial" panose="020B0604020202020204" pitchFamily="34" charset="0"/>
              <a:buChar char="•"/>
            </a:pPr>
            <a:r>
              <a:rPr lang="en-GB" dirty="0"/>
              <a:t>Fleet Policy</a:t>
            </a:r>
          </a:p>
          <a:p>
            <a:pPr marL="466725" lvl="1" indent="-285750">
              <a:spcBef>
                <a:spcPts val="0"/>
              </a:spcBef>
              <a:buFont typeface="Arial" panose="020B0604020202020204" pitchFamily="34" charset="0"/>
              <a:buChar char="•"/>
            </a:pPr>
            <a:r>
              <a:rPr lang="en-GB" dirty="0"/>
              <a:t>Several ships belonging to the company/owner are covered under one policy. Where it has the advantage of covering even the old ships. Also the policy is a time-based policy.</a:t>
            </a:r>
          </a:p>
          <a:p>
            <a:pPr marL="285750" indent="-285750">
              <a:buFont typeface="Arial" panose="020B0604020202020204" pitchFamily="34" charset="0"/>
              <a:buChar char="•"/>
            </a:pPr>
            <a:r>
              <a:rPr lang="en-GB" dirty="0"/>
              <a:t>Single Vessel Policy</a:t>
            </a:r>
          </a:p>
          <a:p>
            <a:pPr marL="466725" lvl="1" indent="-285750">
              <a:spcBef>
                <a:spcPts val="0"/>
              </a:spcBef>
              <a:buFont typeface="Arial" panose="020B0604020202020204" pitchFamily="34" charset="0"/>
              <a:buChar char="•"/>
            </a:pPr>
            <a:r>
              <a:rPr lang="en-GB" dirty="0"/>
              <a:t>In single vessel policy only one vessel is covered under marine insurance policy.</a:t>
            </a:r>
          </a:p>
          <a:p>
            <a:pPr marL="285750" indent="-285750">
              <a:buFont typeface="Arial" panose="020B0604020202020204" pitchFamily="34" charset="0"/>
              <a:buChar char="•"/>
            </a:pPr>
            <a:r>
              <a:rPr lang="en-GB" dirty="0"/>
              <a:t>Blanket Policy</a:t>
            </a:r>
          </a:p>
          <a:p>
            <a:pPr marL="466725" lvl="1" indent="-285750">
              <a:spcBef>
                <a:spcPts val="0"/>
              </a:spcBef>
              <a:buFont typeface="Arial" panose="020B0604020202020204" pitchFamily="34" charset="0"/>
              <a:buChar char="•"/>
            </a:pPr>
            <a:r>
              <a:rPr lang="en-GB" dirty="0"/>
              <a:t>In this policy, the owner has to pay the maximum protection amount at the time of buying the policy</a:t>
            </a:r>
          </a:p>
          <a:p>
            <a:pPr>
              <a:spcBef>
                <a:spcPts val="0"/>
              </a:spcBef>
            </a:pPr>
            <a:endParaRPr lang="en-GB" dirty="0"/>
          </a:p>
          <a:p>
            <a:pPr>
              <a:spcBef>
                <a:spcPts val="0"/>
              </a:spcBef>
            </a:pPr>
            <a:r>
              <a:rPr lang="en-GB" b="1" dirty="0">
                <a:solidFill>
                  <a:srgbClr val="0070C0"/>
                </a:solidFill>
              </a:rPr>
              <a:t>Coverage</a:t>
            </a:r>
          </a:p>
          <a:p>
            <a:pPr>
              <a:spcBef>
                <a:spcPts val="0"/>
              </a:spcBef>
            </a:pPr>
            <a:r>
              <a:rPr lang="en-GB" dirty="0"/>
              <a:t>Marine cargo insurance coverage is determined by which Marine Institute Cargo clause is selected.</a:t>
            </a:r>
          </a:p>
        </p:txBody>
      </p:sp>
    </p:spTree>
    <p:extLst>
      <p:ext uri="{BB962C8B-B14F-4D97-AF65-F5344CB8AC3E}">
        <p14:creationId xmlns:p14="http://schemas.microsoft.com/office/powerpoint/2010/main" val="3206740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09269C-63CE-DF96-93D3-A126D622231E}"/>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2BAFA5F6-8A7E-556A-F752-59AD9033D67D}"/>
              </a:ext>
            </a:extLst>
          </p:cNvPr>
          <p:cNvSpPr>
            <a:spLocks noGrp="1"/>
          </p:cNvSpPr>
          <p:nvPr>
            <p:ph type="title"/>
          </p:nvPr>
        </p:nvSpPr>
        <p:spPr/>
        <p:txBody>
          <a:bodyPr/>
          <a:lstStyle/>
          <a:p>
            <a:r>
              <a:rPr lang="en-GB" dirty="0"/>
              <a:t>Marine</a:t>
            </a:r>
          </a:p>
        </p:txBody>
      </p:sp>
      <p:sp>
        <p:nvSpPr>
          <p:cNvPr id="4" name="Text Placeholder 3">
            <a:extLst>
              <a:ext uri="{FF2B5EF4-FFF2-40B4-BE49-F238E27FC236}">
                <a16:creationId xmlns:a16="http://schemas.microsoft.com/office/drawing/2014/main" id="{5D4103DD-0BE2-9E5E-F330-558B94703144}"/>
              </a:ext>
            </a:extLst>
          </p:cNvPr>
          <p:cNvSpPr>
            <a:spLocks noGrp="1"/>
          </p:cNvSpPr>
          <p:nvPr>
            <p:ph type="body" sz="quarter" idx="17"/>
          </p:nvPr>
        </p:nvSpPr>
        <p:spPr>
          <a:xfrm>
            <a:off x="1750505" y="2995867"/>
            <a:ext cx="8238377" cy="3428633"/>
          </a:xfrm>
        </p:spPr>
        <p:txBody>
          <a:bodyPr/>
          <a:lstStyle/>
          <a:p>
            <a:endParaRPr lang="en-GB" dirty="0"/>
          </a:p>
        </p:txBody>
      </p:sp>
      <p:pic>
        <p:nvPicPr>
          <p:cNvPr id="1026" name="Picture 2" descr="COVERAGE UNDER MARINE INSURANCE What and which clauses cover Marine Insurance">
            <a:extLst>
              <a:ext uri="{FF2B5EF4-FFF2-40B4-BE49-F238E27FC236}">
                <a16:creationId xmlns:a16="http://schemas.microsoft.com/office/drawing/2014/main" id="{8C848C1D-76B4-A43E-0584-159CF60D3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472" y="1371759"/>
            <a:ext cx="8824366" cy="4969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028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A2860E-7306-014C-F29D-1CC62B090ADB}"/>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AF17269E-1462-945E-6EC6-D33B3EE1630F}"/>
              </a:ext>
            </a:extLst>
          </p:cNvPr>
          <p:cNvSpPr>
            <a:spLocks noGrp="1"/>
          </p:cNvSpPr>
          <p:nvPr>
            <p:ph type="title"/>
          </p:nvPr>
        </p:nvSpPr>
        <p:spPr/>
        <p:txBody>
          <a:bodyPr/>
          <a:lstStyle/>
          <a:p>
            <a:r>
              <a:rPr lang="en-GB" dirty="0"/>
              <a:t>Marine</a:t>
            </a:r>
          </a:p>
        </p:txBody>
      </p:sp>
      <p:sp>
        <p:nvSpPr>
          <p:cNvPr id="4" name="Text Placeholder 3">
            <a:extLst>
              <a:ext uri="{FF2B5EF4-FFF2-40B4-BE49-F238E27FC236}">
                <a16:creationId xmlns:a16="http://schemas.microsoft.com/office/drawing/2014/main" id="{85EF2CA5-73AD-DA76-0115-37D65C31E0D1}"/>
              </a:ext>
            </a:extLst>
          </p:cNvPr>
          <p:cNvSpPr>
            <a:spLocks noGrp="1"/>
          </p:cNvSpPr>
          <p:nvPr>
            <p:ph type="body" sz="quarter" idx="17"/>
          </p:nvPr>
        </p:nvSpPr>
        <p:spPr/>
        <p:txBody>
          <a:bodyPr/>
          <a:lstStyle/>
          <a:p>
            <a:pPr marL="285750" indent="-285750">
              <a:buFont typeface="Arial" panose="020B0604020202020204" pitchFamily="34" charset="0"/>
              <a:buChar char="•"/>
            </a:pPr>
            <a:r>
              <a:rPr lang="en-GB" dirty="0"/>
              <a:t>Institute Cargo Clause C provides basic coverage and includes a restricted list of risk covers. It covers the shipment against events such as fire, discharge of cargo in case of distress, explosion, accidents like sinking, capsizing, derailment, collision, etc.</a:t>
            </a:r>
          </a:p>
          <a:p>
            <a:pPr marL="285750" indent="-285750">
              <a:buFont typeface="Arial" panose="020B0604020202020204" pitchFamily="34" charset="0"/>
              <a:buChar char="•"/>
            </a:pPr>
            <a:r>
              <a:rPr lang="en-GB" dirty="0"/>
              <a:t>Institute Cargo clause B offers an additional layer of protection. Not only does it include all the risk covers provided under Clause C, but it also covers the shipment against events such as earthquake, volcanic eruption, and damage due to rainwater, seawater, river water, etc., and loss to package overboard or during loading and unloading.</a:t>
            </a:r>
          </a:p>
          <a:p>
            <a:pPr marL="285750" indent="-285750">
              <a:buFont typeface="Arial" panose="020B0604020202020204" pitchFamily="34" charset="0"/>
              <a:buChar char="•"/>
            </a:pPr>
            <a:r>
              <a:rPr lang="en-GB" dirty="0"/>
              <a:t>Institute Cargo Clause A provides maximum coverage as it covers all risk of loss or damage to the goods. Apart from the risks covered under Clauses B and C, it also covers losses due to breakage, chipping, denting, bruising, theft, non-delivery, all water damage, etc.</a:t>
            </a:r>
          </a:p>
          <a:p>
            <a:pPr marL="285750" indent="-285750">
              <a:buFont typeface="Arial" panose="020B0604020202020204" pitchFamily="34" charset="0"/>
              <a:buChar char="•"/>
            </a:pPr>
            <a:r>
              <a:rPr lang="en-GB" dirty="0"/>
              <a:t>Risks such as wars, strikes, riots, and civil commotions are not covered under the institute cargo clauses. However, the insurer may provide this cover on payment of additional marine insurance premium.</a:t>
            </a:r>
          </a:p>
          <a:p>
            <a:endParaRPr lang="en-GB" dirty="0"/>
          </a:p>
          <a:p>
            <a:r>
              <a:rPr lang="en-GB" dirty="0">
                <a:solidFill>
                  <a:srgbClr val="0070C0"/>
                </a:solidFill>
              </a:rPr>
              <a:t>Marine Hull</a:t>
            </a:r>
          </a:p>
          <a:p>
            <a:pPr marL="342900" indent="-342900">
              <a:buFont typeface="+mj-lt"/>
              <a:buAutoNum type="arabicPeriod"/>
            </a:pPr>
            <a:r>
              <a:rPr lang="en-GB" dirty="0"/>
              <a:t>Coverage Scope:</a:t>
            </a:r>
          </a:p>
          <a:p>
            <a:pPr marL="285750" indent="-285750">
              <a:spcBef>
                <a:spcPts val="0"/>
              </a:spcBef>
              <a:buFont typeface="Arial" panose="020B0604020202020204" pitchFamily="34" charset="0"/>
              <a:buChar char="•"/>
            </a:pPr>
            <a:r>
              <a:rPr lang="en-GB" dirty="0"/>
              <a:t>Hull: This refers to the body of the vessel—the main structure of the ship.</a:t>
            </a:r>
          </a:p>
          <a:p>
            <a:pPr marL="285750" indent="-285750">
              <a:spcBef>
                <a:spcPts val="0"/>
              </a:spcBef>
              <a:buFont typeface="Arial" panose="020B0604020202020204" pitchFamily="34" charset="0"/>
              <a:buChar char="•"/>
            </a:pPr>
            <a:r>
              <a:rPr lang="en-GB" dirty="0"/>
              <a:t>Machinery: Includes components like boat engines, navigation equipment, and other mechanical systems.</a:t>
            </a:r>
          </a:p>
          <a:p>
            <a:pPr marL="285750" indent="-285750">
              <a:spcBef>
                <a:spcPts val="0"/>
              </a:spcBef>
              <a:buFont typeface="Arial" panose="020B0604020202020204" pitchFamily="34" charset="0"/>
              <a:buChar char="•"/>
            </a:pPr>
            <a:r>
              <a:rPr lang="en-GB" dirty="0"/>
              <a:t>Perils Covered: Marine hull insurance protects against losses resulting from accidents, natural disasters, theft, vandalism, and other risks while the vessel is on land or water.</a:t>
            </a:r>
          </a:p>
        </p:txBody>
      </p:sp>
    </p:spTree>
    <p:extLst>
      <p:ext uri="{BB962C8B-B14F-4D97-AF65-F5344CB8AC3E}">
        <p14:creationId xmlns:p14="http://schemas.microsoft.com/office/powerpoint/2010/main" val="2537186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A2860E-7306-014C-F29D-1CC62B090ADB}"/>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AF17269E-1462-945E-6EC6-D33B3EE1630F}"/>
              </a:ext>
            </a:extLst>
          </p:cNvPr>
          <p:cNvSpPr>
            <a:spLocks noGrp="1"/>
          </p:cNvSpPr>
          <p:nvPr>
            <p:ph type="title"/>
          </p:nvPr>
        </p:nvSpPr>
        <p:spPr/>
        <p:txBody>
          <a:bodyPr/>
          <a:lstStyle/>
          <a:p>
            <a:r>
              <a:rPr lang="en-GB" dirty="0"/>
              <a:t>Marine</a:t>
            </a:r>
          </a:p>
        </p:txBody>
      </p:sp>
      <p:sp>
        <p:nvSpPr>
          <p:cNvPr id="4" name="Text Placeholder 3">
            <a:extLst>
              <a:ext uri="{FF2B5EF4-FFF2-40B4-BE49-F238E27FC236}">
                <a16:creationId xmlns:a16="http://schemas.microsoft.com/office/drawing/2014/main" id="{85EF2CA5-73AD-DA76-0115-37D65C31E0D1}"/>
              </a:ext>
            </a:extLst>
          </p:cNvPr>
          <p:cNvSpPr>
            <a:spLocks noGrp="1"/>
          </p:cNvSpPr>
          <p:nvPr>
            <p:ph type="body" sz="quarter" idx="17"/>
          </p:nvPr>
        </p:nvSpPr>
        <p:spPr/>
        <p:txBody>
          <a:bodyPr/>
          <a:lstStyle/>
          <a:p>
            <a:pPr marL="342900" indent="-342900">
              <a:buFont typeface="+mj-lt"/>
              <a:buAutoNum type="arabicPeriod" startAt="2"/>
            </a:pPr>
            <a:r>
              <a:rPr lang="en-GB" dirty="0"/>
              <a:t>Applicability:</a:t>
            </a:r>
          </a:p>
          <a:p>
            <a:pPr marL="285750" indent="-285750">
              <a:spcBef>
                <a:spcPts val="0"/>
              </a:spcBef>
              <a:buFont typeface="Arial" panose="020B0604020202020204" pitchFamily="34" charset="0"/>
              <a:buChar char="•"/>
            </a:pPr>
            <a:r>
              <a:rPr lang="en-GB" dirty="0"/>
              <a:t>Ocean-Going Vessels: Marine hull insurance covers vessels of all sizes, from the largest tankers and containerships to small craft and yachts.</a:t>
            </a:r>
          </a:p>
          <a:p>
            <a:pPr marL="285750" indent="-285750">
              <a:spcBef>
                <a:spcPts val="0"/>
              </a:spcBef>
              <a:buFont typeface="Arial" panose="020B0604020202020204" pitchFamily="34" charset="0"/>
              <a:buChar char="•"/>
            </a:pPr>
            <a:r>
              <a:rPr lang="en-GB" dirty="0"/>
              <a:t>Risk Mitigation: It safeguards against physical damage and collision liability for ocean-going vessels worldwide.</a:t>
            </a:r>
          </a:p>
          <a:p>
            <a:pPr marL="342900" indent="-342900">
              <a:buFont typeface="+mj-lt"/>
              <a:buAutoNum type="arabicPeriod" startAt="3"/>
            </a:pPr>
            <a:r>
              <a:rPr lang="en-GB" dirty="0"/>
              <a:t>Additional Considerations:</a:t>
            </a:r>
          </a:p>
          <a:p>
            <a:pPr marL="285750" indent="-285750">
              <a:spcBef>
                <a:spcPts val="0"/>
              </a:spcBef>
              <a:buFont typeface="Arial" panose="020B0604020202020204" pitchFamily="34" charset="0"/>
              <a:buChar char="•"/>
            </a:pPr>
            <a:r>
              <a:rPr lang="en-GB" dirty="0"/>
              <a:t>Hull and War Insurance: Some policies include protection against risks related to piracy, terrorism, and war-induced physical damage to vessels.</a:t>
            </a:r>
          </a:p>
          <a:p>
            <a:pPr marL="285750" indent="-285750">
              <a:spcBef>
                <a:spcPts val="0"/>
              </a:spcBef>
              <a:buFont typeface="Arial" panose="020B0604020202020204" pitchFamily="34" charset="0"/>
              <a:buChar char="•"/>
            </a:pPr>
            <a:r>
              <a:rPr lang="en-GB" dirty="0"/>
              <a:t>Crisis Response Service: In conjunction with specialized teams, insurers may offer kidnap and ransom insurance for individual vessels and fleets, triggered by specific events.</a:t>
            </a:r>
          </a:p>
          <a:p>
            <a:pPr marL="284400">
              <a:tabLst>
                <a:tab pos="263525" algn="l"/>
              </a:tabLst>
            </a:pPr>
            <a:endParaRPr lang="en-GB" dirty="0"/>
          </a:p>
          <a:p>
            <a:pPr marL="284400">
              <a:tabLst>
                <a:tab pos="263525" algn="l"/>
              </a:tabLst>
            </a:pPr>
            <a:r>
              <a:rPr lang="en-GB" dirty="0"/>
              <a:t>War risks insurance is always subject to an additional premium charged whilst the vessel is transiting the war risk area.</a:t>
            </a:r>
          </a:p>
        </p:txBody>
      </p:sp>
    </p:spTree>
    <p:extLst>
      <p:ext uri="{BB962C8B-B14F-4D97-AF65-F5344CB8AC3E}">
        <p14:creationId xmlns:p14="http://schemas.microsoft.com/office/powerpoint/2010/main" val="286245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A9CEEA-BF84-04DD-D104-617F2EE0A4E9}"/>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22D2D1BC-8B7A-0D4A-FD95-CD5E8F742C32}"/>
              </a:ext>
            </a:extLst>
          </p:cNvPr>
          <p:cNvSpPr>
            <a:spLocks noGrp="1"/>
          </p:cNvSpPr>
          <p:nvPr>
            <p:ph type="title"/>
          </p:nvPr>
        </p:nvSpPr>
        <p:spPr/>
        <p:txBody>
          <a:bodyPr/>
          <a:lstStyle/>
          <a:p>
            <a:r>
              <a:rPr lang="en-GB" dirty="0"/>
              <a:t>Energy</a:t>
            </a:r>
          </a:p>
        </p:txBody>
      </p:sp>
      <p:sp>
        <p:nvSpPr>
          <p:cNvPr id="4" name="Text Placeholder 3">
            <a:extLst>
              <a:ext uri="{FF2B5EF4-FFF2-40B4-BE49-F238E27FC236}">
                <a16:creationId xmlns:a16="http://schemas.microsoft.com/office/drawing/2014/main" id="{7BB38FD2-6039-9B5C-73B4-D42C92D928F6}"/>
              </a:ext>
            </a:extLst>
          </p:cNvPr>
          <p:cNvSpPr>
            <a:spLocks noGrp="1"/>
          </p:cNvSpPr>
          <p:nvPr>
            <p:ph type="body" sz="quarter" idx="17"/>
          </p:nvPr>
        </p:nvSpPr>
        <p:spPr/>
        <p:txBody>
          <a:bodyPr/>
          <a:lstStyle/>
          <a:p>
            <a:r>
              <a:rPr lang="en-GB" b="1" dirty="0">
                <a:solidFill>
                  <a:srgbClr val="0070C0"/>
                </a:solidFill>
              </a:rPr>
              <a:t>Synopsis</a:t>
            </a:r>
          </a:p>
          <a:p>
            <a:r>
              <a:rPr lang="en-GB" dirty="0"/>
              <a:t>Energy insurance is a type of insurance coverage that is customized to specifically cater to the insurance requirements of energy companies. Traditionally the preserve of oil and gas operations, it comprises both upstream onshore and offshore production and extraction operations along with downstream storage, refining, distribution, and power generation facilities, including increasingly new renewable energy technologies such as wind farms, solar, and hydro risks.</a:t>
            </a:r>
          </a:p>
          <a:p>
            <a:r>
              <a:rPr lang="en-GB" dirty="0"/>
              <a:t>All of these risks are exposed to elemental losses but offshore installations are particularly vulnerable to storm damage. The risk transfer programmes that are put together for these risks require the participation of direct insurers, reinsurers, self-insurance or captive arrangements, and industry funded mutual companies. Other financial instruments such as Catastrophe Bonds and Hedge Funds are also utilised to provide the necessary protection capital for these risks. </a:t>
            </a:r>
          </a:p>
          <a:p>
            <a:endParaRPr lang="en-GB" dirty="0"/>
          </a:p>
          <a:p>
            <a:r>
              <a:rPr lang="en-GB" b="1" dirty="0">
                <a:solidFill>
                  <a:srgbClr val="0070C0"/>
                </a:solidFill>
              </a:rPr>
              <a:t>Coverage</a:t>
            </a:r>
          </a:p>
          <a:p>
            <a:pPr marL="285750" indent="-285750">
              <a:buFont typeface="Arial" panose="020B0604020202020204" pitchFamily="34" charset="0"/>
              <a:buChar char="•"/>
            </a:pPr>
            <a:r>
              <a:rPr lang="en-GB" dirty="0"/>
              <a:t>Traditional Energy Insurance </a:t>
            </a:r>
          </a:p>
          <a:p>
            <a:pPr marL="466725" lvl="1" indent="-285750">
              <a:buFont typeface="Arial" panose="020B0604020202020204" pitchFamily="34" charset="0"/>
              <a:buChar char="•"/>
            </a:pPr>
            <a:r>
              <a:rPr lang="en-GB" dirty="0"/>
              <a:t>This type of insurance covers risks related to conventional energy sources such as oil, gas, and coal. It includes coverage for machinery repair, business interruption, and physical damage.</a:t>
            </a:r>
          </a:p>
          <a:p>
            <a:pPr marL="285750" indent="-285750">
              <a:buFont typeface="Arial" panose="020B0604020202020204" pitchFamily="34" charset="0"/>
              <a:buChar char="•"/>
            </a:pPr>
            <a:r>
              <a:rPr lang="en-GB" dirty="0"/>
              <a:t>Renewable Energy Insurance</a:t>
            </a:r>
          </a:p>
          <a:p>
            <a:pPr marL="466725" lvl="1" indent="-285750">
              <a:buFont typeface="Arial" panose="020B0604020202020204" pitchFamily="34" charset="0"/>
              <a:buChar char="•"/>
            </a:pPr>
            <a:r>
              <a:rPr lang="en-GB" dirty="0"/>
              <a:t>As the world shifts toward cleaner energy sources, renewable energy insurance has become crucial. It offers protection for companies involved in wind, solar, hydroelectric, and other sustainable energy projects. Coverage may include property damage, operator’s extra expenses, third-party liability, and business interruption. For example, wind farm insurance policies provide protection during both construction and operation of offshore wind farms</a:t>
            </a:r>
          </a:p>
        </p:txBody>
      </p:sp>
    </p:spTree>
    <p:extLst>
      <p:ext uri="{BB962C8B-B14F-4D97-AF65-F5344CB8AC3E}">
        <p14:creationId xmlns:p14="http://schemas.microsoft.com/office/powerpoint/2010/main" val="2222056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C90F95-E479-D140-487E-696FFAC9333F}"/>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8455DA2B-A848-9205-F430-2A5B3220A6EF}"/>
              </a:ext>
            </a:extLst>
          </p:cNvPr>
          <p:cNvSpPr>
            <a:spLocks noGrp="1"/>
          </p:cNvSpPr>
          <p:nvPr>
            <p:ph type="title"/>
          </p:nvPr>
        </p:nvSpPr>
        <p:spPr/>
        <p:txBody>
          <a:bodyPr/>
          <a:lstStyle/>
          <a:p>
            <a:r>
              <a:rPr lang="en-GB" dirty="0"/>
              <a:t>Contingency</a:t>
            </a:r>
          </a:p>
        </p:txBody>
      </p:sp>
      <p:sp>
        <p:nvSpPr>
          <p:cNvPr id="4" name="Text Placeholder 3">
            <a:extLst>
              <a:ext uri="{FF2B5EF4-FFF2-40B4-BE49-F238E27FC236}">
                <a16:creationId xmlns:a16="http://schemas.microsoft.com/office/drawing/2014/main" id="{F0CD189E-C28D-E151-98BF-D316FF513C05}"/>
              </a:ext>
            </a:extLst>
          </p:cNvPr>
          <p:cNvSpPr>
            <a:spLocks noGrp="1"/>
          </p:cNvSpPr>
          <p:nvPr>
            <p:ph type="body" sz="quarter" idx="17"/>
          </p:nvPr>
        </p:nvSpPr>
        <p:spPr/>
        <p:txBody>
          <a:bodyPr/>
          <a:lstStyle/>
          <a:p>
            <a:r>
              <a:rPr lang="en-GB" b="1" dirty="0"/>
              <a:t>Synopsis</a:t>
            </a:r>
          </a:p>
          <a:p>
            <a:r>
              <a:rPr lang="en-GB" dirty="0"/>
              <a:t>Contingency insurance applies where some other event either happens or does not happen.  For example:</a:t>
            </a:r>
          </a:p>
          <a:p>
            <a:pPr marL="285750" indent="-285750">
              <a:buFont typeface="Arial" panose="020B0604020202020204" pitchFamily="34" charset="0"/>
              <a:buChar char="•"/>
            </a:pPr>
            <a:r>
              <a:rPr lang="en-GB" dirty="0"/>
              <a:t>A primary insurance policy fails to pay for a loss</a:t>
            </a:r>
          </a:p>
          <a:p>
            <a:pPr marL="285750" indent="-285750">
              <a:buFont typeface="Arial" panose="020B0604020202020204" pitchFamily="34" charset="0"/>
              <a:buChar char="•"/>
            </a:pPr>
            <a:r>
              <a:rPr lang="en-GB" dirty="0"/>
              <a:t>An event (concert or the like) is cancelled</a:t>
            </a:r>
          </a:p>
          <a:p>
            <a:pPr marL="285750" indent="-285750">
              <a:buFont typeface="Arial" panose="020B0604020202020204" pitchFamily="34" charset="0"/>
              <a:buChar char="•"/>
            </a:pPr>
            <a:r>
              <a:rPr lang="en-GB" dirty="0"/>
              <a:t>Non-Appearance of an artist at a concert of event</a:t>
            </a:r>
          </a:p>
          <a:p>
            <a:pPr marL="285750" indent="-285750">
              <a:buFont typeface="Arial" panose="020B0604020202020204" pitchFamily="34" charset="0"/>
              <a:buChar char="•"/>
            </a:pPr>
            <a:r>
              <a:rPr lang="en-GB" dirty="0"/>
              <a:t>Prize indemnity such as winning a prize for a hole in one at a golf competition</a:t>
            </a:r>
          </a:p>
          <a:p>
            <a:pPr marL="285750" indent="-285750">
              <a:buFont typeface="Arial" panose="020B0604020202020204" pitchFamily="34" charset="0"/>
              <a:buChar char="•"/>
            </a:pPr>
            <a:r>
              <a:rPr lang="en-GB" dirty="0"/>
              <a:t>Weather events such as concert cancelation due to storms and other weather events</a:t>
            </a:r>
          </a:p>
          <a:p>
            <a:pPr marL="285750" indent="-285750">
              <a:buFont typeface="Arial" panose="020B0604020202020204" pitchFamily="34" charset="0"/>
              <a:buChar char="•"/>
            </a:pPr>
            <a:r>
              <a:rPr lang="en-GB" dirty="0"/>
              <a:t>Transactional liability which is used as a tool to facilitate corporate mergers and acquisitions</a:t>
            </a:r>
          </a:p>
          <a:p>
            <a:pPr marL="285750" indent="-285750">
              <a:buFont typeface="Arial" panose="020B0604020202020204" pitchFamily="34" charset="0"/>
              <a:buChar char="•"/>
            </a:pPr>
            <a:endParaRPr lang="en-GB" dirty="0"/>
          </a:p>
          <a:p>
            <a:r>
              <a:rPr lang="en-GB" dirty="0"/>
              <a:t>Coverage</a:t>
            </a:r>
          </a:p>
          <a:p>
            <a:r>
              <a:rPr lang="en-GB" dirty="0"/>
              <a:t>Typically, the coverage is the happening, or non-happening, of the insured event with losses, damages and potential compensation being payable.</a:t>
            </a:r>
          </a:p>
          <a:p>
            <a:endParaRPr lang="en-GB" dirty="0"/>
          </a:p>
          <a:p>
            <a:r>
              <a:rPr lang="en-GB" dirty="0"/>
              <a:t>Transactional </a:t>
            </a:r>
            <a:r>
              <a:rPr lang="en-GB" dirty="0" err="1"/>
              <a:t>tiability</a:t>
            </a:r>
            <a:r>
              <a:rPr lang="en-GB" dirty="0"/>
              <a:t> is discussed in more detail on the next slide.</a:t>
            </a:r>
          </a:p>
        </p:txBody>
      </p:sp>
    </p:spTree>
    <p:extLst>
      <p:ext uri="{BB962C8B-B14F-4D97-AF65-F5344CB8AC3E}">
        <p14:creationId xmlns:p14="http://schemas.microsoft.com/office/powerpoint/2010/main" val="840407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9F88E9-7ABC-3C26-90FF-EBA50FBC9223}"/>
              </a:ext>
            </a:extLst>
          </p:cNvPr>
          <p:cNvSpPr>
            <a:spLocks noGrp="1"/>
          </p:cNvSpPr>
          <p:nvPr>
            <p:ph type="body" sz="quarter" idx="15"/>
          </p:nvPr>
        </p:nvSpPr>
        <p:spPr/>
        <p:txBody>
          <a:bodyPr/>
          <a:lstStyle/>
          <a:p>
            <a:endParaRPr lang="en-GB"/>
          </a:p>
        </p:txBody>
      </p:sp>
      <p:sp>
        <p:nvSpPr>
          <p:cNvPr id="3" name="Title 2">
            <a:extLst>
              <a:ext uri="{FF2B5EF4-FFF2-40B4-BE49-F238E27FC236}">
                <a16:creationId xmlns:a16="http://schemas.microsoft.com/office/drawing/2014/main" id="{59DD1A15-6267-F1B7-938C-9C7B98A2E4B7}"/>
              </a:ext>
            </a:extLst>
          </p:cNvPr>
          <p:cNvSpPr>
            <a:spLocks noGrp="1"/>
          </p:cNvSpPr>
          <p:nvPr>
            <p:ph type="title"/>
          </p:nvPr>
        </p:nvSpPr>
        <p:spPr/>
        <p:txBody>
          <a:bodyPr/>
          <a:lstStyle/>
          <a:p>
            <a:r>
              <a:rPr lang="en-GB" dirty="0"/>
              <a:t>Transactional Liability</a:t>
            </a:r>
          </a:p>
        </p:txBody>
      </p:sp>
      <p:sp>
        <p:nvSpPr>
          <p:cNvPr id="4" name="Text Placeholder 3">
            <a:extLst>
              <a:ext uri="{FF2B5EF4-FFF2-40B4-BE49-F238E27FC236}">
                <a16:creationId xmlns:a16="http://schemas.microsoft.com/office/drawing/2014/main" id="{40EA2EA0-09C7-AA54-53DB-0C89EA723483}"/>
              </a:ext>
            </a:extLst>
          </p:cNvPr>
          <p:cNvSpPr>
            <a:spLocks noGrp="1"/>
          </p:cNvSpPr>
          <p:nvPr>
            <p:ph type="body" sz="quarter" idx="17"/>
          </p:nvPr>
        </p:nvSpPr>
        <p:spPr/>
        <p:txBody>
          <a:bodyPr/>
          <a:lstStyle/>
          <a:p>
            <a:r>
              <a:rPr lang="en-GB" b="1" dirty="0">
                <a:solidFill>
                  <a:srgbClr val="0070C0"/>
                </a:solidFill>
              </a:rPr>
              <a:t>Synopsis</a:t>
            </a:r>
          </a:p>
          <a:p>
            <a:r>
              <a:rPr lang="en-GB" dirty="0"/>
              <a:t>The most common form of transaction liability insurance is known as representations and warranties insurance (R&amp;W) in North America, and warranty and indemnity insurance (W&amp;I) internationally. Other forms of transaction liability insurance include tax liability insurance and contingent liability insurance. R&amp;W insurance is increasingly common in M&amp;A transactions.</a:t>
            </a:r>
          </a:p>
          <a:p>
            <a:r>
              <a:rPr lang="en-GB" dirty="0"/>
              <a:t>Why does transaction liability insurance exist?</a:t>
            </a:r>
          </a:p>
          <a:p>
            <a:r>
              <a:rPr lang="en-GB" dirty="0"/>
              <a:t>Under the terms of a typical M&amp;A deal, sellers carry the risk for any liabilities which occurred while they owned the company. If these issues are discovered after the transaction completes and cause financial loss, the seller is often financially responsible.</a:t>
            </a:r>
          </a:p>
          <a:p>
            <a:r>
              <a:rPr lang="en-GB" dirty="0"/>
              <a:t>What are representations, warranties and indemnities?</a:t>
            </a:r>
          </a:p>
          <a:p>
            <a:r>
              <a:rPr lang="en-GB" dirty="0"/>
              <a:t>Representations and warranties are statements of fact. In an M&amp;A transaction, the seller will represent and warrant certain facts about the company which they are selling.</a:t>
            </a:r>
          </a:p>
          <a:p>
            <a:r>
              <a:rPr lang="en-GB" dirty="0"/>
              <a:t>What happens when a representation or warranty is breached?</a:t>
            </a:r>
          </a:p>
          <a:p>
            <a:r>
              <a:rPr lang="en-GB" dirty="0"/>
              <a:t>When a representation or warranty is proven to be untrue, or breached, the seller will be liable for any losses suffered by the buyer as a result, which sometimes includes the diminished value of the acquired business.</a:t>
            </a:r>
          </a:p>
          <a:p>
            <a:r>
              <a:rPr lang="en-GB" dirty="0"/>
              <a:t>How does a policy work?</a:t>
            </a:r>
          </a:p>
          <a:p>
            <a:r>
              <a:rPr lang="en-GB" dirty="0"/>
              <a:t>Transaction liability insurance steps in to address the reimbursement obligation. In the event a representation or warranty is inaccurate, the insured can make a claim against the policy rather than the other party.</a:t>
            </a:r>
          </a:p>
          <a:p>
            <a:r>
              <a:rPr lang="en-GB" dirty="0"/>
              <a:t>Who should buy representations and warranties insurance?</a:t>
            </a:r>
          </a:p>
          <a:p>
            <a:r>
              <a:rPr lang="en-GB" dirty="0"/>
              <a:t>R&amp;W insurance is generally available for private M&amp;A transactions effected through stock (share) purchases, asset purchases and mergers.</a:t>
            </a:r>
          </a:p>
        </p:txBody>
      </p:sp>
    </p:spTree>
    <p:extLst>
      <p:ext uri="{BB962C8B-B14F-4D97-AF65-F5344CB8AC3E}">
        <p14:creationId xmlns:p14="http://schemas.microsoft.com/office/powerpoint/2010/main" val="4150777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AGENDAWIZARD" val="&lt;ee4p&gt;&lt;layouts&gt;&lt;layout name=&quot;Capgemini invent Line Grey&quot; id=&quot;435_2&quot;&gt;&lt;standard&gt;&lt;textframe horizontalAnchor=&quot;1&quot; marginBottom=&quot;0&quot; marginLeft=&quot;0&quot; marginRight=&quot;0&quot; marginTop=&quot;0&quot; orientation=&quot;1&quot; verticalAnchor=&quot;1&quot; /&gt;&lt;font name=&quot;Ubuntu&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52&quot; /&gt;&lt;column field=&quot;topic&quot; label=&quot;Topic&quot; leftSpacing=&quot;10&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84.31764&quot; top=&quot;128.4218&quot; width=&quot;611.1824&quot; height=&quot;379.8731&quot; /&gt;&lt;settings allowedSizingModeIds=&quot;1|2&quot; allowedFontSizes=&quot;8|9|10|10.5|11|12|14|16|18&quot; allowedTimeFormatIds=&quot;1|2|3&quot; slideLayout=&quot;11&quot; customLayoutName=&quot;1_Agenda&quot; customLayoutNameBackup=&quot;1_Agenda&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15&quot; topMaxSpacing=&quot;15&quot; bottomMinSpacing=&quot;0&quot; bottomMaxSpacing=&quot;0&quo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0&quot; break=&quot;0&quot; topMinSpacing=&quot;15&quot; topMaxSpacing=&quot;15&quot; bottomMinSpacing=&quot;0&quot; bottomMaxSpacing=&quot;0&quo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0&quot; break=&quot;1&quot; topMinSpacing=&quot;15&quot; topMaxSpacing=&quot;15&quot; bottomMinSpacing=&quot;0&quot; bottomMaxSpacing=&quot;0&quo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 level=&quot;1&quot; selected=&quot;1&quot; break=&quot;1&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s&gt;&lt;!-- Elements on slide independent of items --&gt;&lt;elements&gt;&lt;!--   &lt;element type=&quot;picture&quot; picture=&quot;image.png&quot; value=&quot;asdf&quot;  &gt;&#10;          &lt;position left=&quot;-278.9405&quot; top=&quot;-142.375&quot; width=&quot;457.6407&quot; height=&quot;540.0002&quot;/&gt;        &#10;        &lt;/element&gt;&#10;&#10;        &lt;element type=&quot;picture&quot; picture=&quot;BG_blue.png&quot; value=&quot;asdf&quot;  &gt;&#10;          &lt;position left=&quot;-278.9405&quot; top=&quot;-142.375&quot; width=&quot;960&quot; height=&quot;540&quot;/&gt;        &#10;        &lt;/element&gt; --&gt;&lt;/elements&gt;&lt;/layout&gt;&lt;/layouts&gt;&lt;contents&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layoutId=&quot;435_2&quot; hideSeparatingSlides=&quot;0&quot; createSections=&quot;0&quot; singleSlideId=&quot;4a985bb3-9c0f-4d30-bab0-e861f6c1f7d9&quot; backupSlideId=&quot;59f12b8f-bcfa-4c72-806d-af721da5741a&quot;&gt;&lt;columns leftSpacing=&quot;0&quot; rightSpacing=&quot;0&quot;&gt;&lt;column field=&quot;itemno&quot; label=&quot;No.&quot; checked=&quot;1&quot; leftSpacing=&quot;0&quot; rightSpacing=&quot;0&quot; dock=&quot;1&quot; fixedWidth=&quot;52&quot; /&gt;&lt;column field=&quot;topic&quot; label=&quot;Topic&quot; leftSpacing=&quot;10&quot; rightDistribute=&quot;1&quot; dock=&quot;1&quot; rightSpacing=&quot;114.0997&quot; /&gt;&lt;column field=&quot;responsible&quot; label=&quot;Responsible&quot; visible=&quot;1&quot; checked=&quot;1&quot; leftSpacing=&quot;10&quot; rightDistribute=&quot;1&quot; dock=&quot;1&quot; rightSpacing=&quot;114.0997&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gt;&lt;item duration=&quot;30&quot; id=&quot;f30ff3b2-059e-47be-bfce-20f89c801ddd&quot; parentId=&quot;&quot; level=&quot;1&quot; generateAgendaSlide=&quot;1&quot; showAgendaItem=&quot;1&quot; isBreak=&quot;0&quot; topic=&quot;Part 1&quot; agendaSlideId=&quot;af0b860f-cd42-4a9e-9c99-a53635a9e083&quot; /&gt;&lt;item duration=&quot;30&quot; id=&quot;7f2c9adb-5359-438f-8174-f3799807dfb9&quot; parentId=&quot;&quot; level=&quot;1&quot; generateAgendaSlide=&quot;1&quot; showAgendaItem=&quot;1&quot; isBreak=&quot;0&quot; topic=&quot;Part 2&quot; agendaSlideId=&quot;07e6bc76-8a2b-48ad-97c4-1f85e540bbd5&quot; /&gt;&lt;item duration=&quot;30&quot; id=&quot;00ba97b5-5509-49fc-95b8-9afe1f8e54cf&quot; parentId=&quot;&quot; level=&quot;1&quot; generateAgendaSlide=&quot;1&quot; showAgendaItem=&quot;1&quot; isBreak=&quot;0&quot; topic=&quot;Part 3&quot; agendaSlideId=&quot;4d6dfe7c-00a3-4d20-aa7f-6447da594e0a&quot; /&gt;&lt;item duration=&quot;30&quot; id=&quot;d6c20a75-a816-4fd9-9cac-9e1eb824eb5f&quot; parentId=&quot;&quot; level=&quot;1&quot; generateAgendaSlide=&quot;1&quot; showAgendaItem=&quot;1&quot; isBreak=&quot;0&quot; topic=&quot;Part 4&quot; agendaSlideId=&quot;d29762e6-a410-4070-9806-5d73acff4eaf&quot; /&gt;&lt;/items&gt;&lt;/agenda&gt;&lt;/contents&gt;&lt;/ee4p&gt;"/>
  <p:tag name="EE4P_STYLE_ID" val="3edb2f5e-e25b-4bbf-81ee-2b4396447386"/>
</p:tagLst>
</file>

<file path=ppt/theme/theme1.xml><?xml version="1.0" encoding="utf-8"?>
<a:theme xmlns:a="http://schemas.openxmlformats.org/drawingml/2006/main" name="Capgemini_2024">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résentation2" id="{B614630D-EAB2-4AEE-9B10-61779A605CFA}" vid="{9762EEFE-65E0-4043-A3C1-0D66179C3082}"/>
    </a:ext>
  </a:extLst>
</a:theme>
</file>

<file path=ppt/theme/theme2.xml><?xml version="1.0" encoding="utf-8"?>
<a:theme xmlns:a="http://schemas.openxmlformats.org/drawingml/2006/main" name="Tema do Offic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D005C7-03E4-4069-A4FB-9A9D17E8A0A1}">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4B44AE-9662-429F-915A-7428AA5C13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C4748C0-8D1F-4D75-9BF4-6FC898B829F8}">
  <ds:schemaRefs>
    <ds:schemaRef ds:uri="http://schemas.microsoft.com/office/2006/documentManagement/types"/>
    <ds:schemaRef ds:uri="http://purl.org/dc/terms/"/>
    <ds:schemaRef ds:uri="http://purl.org/dc/elements/1.1/"/>
    <ds:schemaRef ds:uri="e2f04ce6-5625-4773-b511-ff6e32fd78d6"/>
    <ds:schemaRef ds:uri="http://schemas.microsoft.com/office/infopath/2007/PartnerControls"/>
    <ds:schemaRef ds:uri="http://schemas.openxmlformats.org/package/2006/metadata/core-properties"/>
    <ds:schemaRef ds:uri="http://www.w3.org/XML/1998/namespace"/>
    <ds:schemaRef ds:uri="886d0db5-4d18-497d-97ce-51cb0d7fa060"/>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4EBB1B9D-C5AD-46DE-99B6-91257AD0C6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Capgemini template-Master_2024</Template>
  <TotalTime>8244</TotalTime>
  <Words>4205</Words>
  <Application>Microsoft Office PowerPoint</Application>
  <PresentationFormat>Widescreen</PresentationFormat>
  <Paragraphs>269</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Capgemini_2024</vt:lpstr>
      <vt:lpstr>Specialty Insurance</vt:lpstr>
      <vt:lpstr>Introduction</vt:lpstr>
      <vt:lpstr>Directors &amp; Officers Liability Insurance</vt:lpstr>
      <vt:lpstr>Directors &amp; Officers Liability Insurance</vt:lpstr>
      <vt:lpstr>Financial Crime</vt:lpstr>
      <vt:lpstr>Management Liability</vt:lpstr>
      <vt:lpstr>Professional Liability</vt:lpstr>
      <vt:lpstr>Environmental Insurance</vt:lpstr>
      <vt:lpstr>Cyber</vt:lpstr>
      <vt:lpstr>Political Risks</vt:lpstr>
      <vt:lpstr>Political Risks</vt:lpstr>
      <vt:lpstr>Life Sciences</vt:lpstr>
      <vt:lpstr>Healthcare Management</vt:lpstr>
      <vt:lpstr>Recall (Product Recall)</vt:lpstr>
      <vt:lpstr>Product Liability</vt:lpstr>
      <vt:lpstr>Aviation</vt:lpstr>
      <vt:lpstr>Fine Art &amp; Specie</vt:lpstr>
      <vt:lpstr>Marine</vt:lpstr>
      <vt:lpstr>Marine</vt:lpstr>
      <vt:lpstr>Marine</vt:lpstr>
      <vt:lpstr>Marine</vt:lpstr>
      <vt:lpstr>Energy</vt:lpstr>
      <vt:lpstr>Contingency</vt:lpstr>
      <vt:lpstr>Transactional Liability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Read me and delete me</dc:title>
  <dc:subject/>
  <dc:creator>Dixon, Peter</dc:creator>
  <cp:lastModifiedBy>Akula, Kiran</cp:lastModifiedBy>
  <cp:revision>2</cp:revision>
  <dcterms:created xsi:type="dcterms:W3CDTF">2024-03-20T10:59:37Z</dcterms:created>
  <dcterms:modified xsi:type="dcterms:W3CDTF">2026-10-12T08:50:31Z</dcterms:modified>
  <cp:category>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y fmtid="{D5CDD505-2E9C-101B-9397-08002B2CF9AE}" pid="3" name="MediaServiceImageTags">
    <vt:lpwstr/>
  </property>
</Properties>
</file>