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4"/>
  </p:sldMasterIdLst>
  <p:notesMasterIdLst>
    <p:notesMasterId r:id="rId14"/>
  </p:notesMasterIdLst>
  <p:sldIdLst>
    <p:sldId id="2658" r:id="rId5"/>
    <p:sldId id="2147483469" r:id="rId6"/>
    <p:sldId id="2147483470" r:id="rId7"/>
    <p:sldId id="2147483473" r:id="rId8"/>
    <p:sldId id="2147483463" r:id="rId9"/>
    <p:sldId id="2147483471" r:id="rId10"/>
    <p:sldId id="2147483459" r:id="rId11"/>
    <p:sldId id="2147483466" r:id="rId12"/>
    <p:sldId id="21474834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7FF"/>
    <a:srgbClr val="FF66FF"/>
    <a:srgbClr val="FFCCFF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0C0C8B-C80D-49F8-909F-8CF7B86C486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D2B7CE-F1FB-4B69-B505-403C6EF8F9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311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63680-A31F-5AB0-E94C-08CAEC2F1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15FC5-25D5-0B92-1B0C-632429D1B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F0A55-25DA-527A-123C-21685E8DD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9E983-2C9C-EAFD-E14E-12F0CF202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5141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CA619-2B31-590E-8895-80EF9BE48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F740CE-D053-B0BD-9FD7-A233D6DF0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0BA6C-47B3-0F31-3643-5F89A66A1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6839B-1F4D-F9A2-B005-D1BB74485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9021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CF9CB-6362-03EF-A883-49D97D3EB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7548E-8D2F-F721-1920-9AB3516E3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37A2F1-18B0-4FB3-5C80-9EAC76035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DD00F-59B7-D0CA-6D0C-7E427BB04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020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9F8EE-4B81-8AA5-51AE-CC4C4DD4A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87394-BECA-D83E-4E9B-0876B3390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B2414E-07F3-F8D5-8CFC-18F83799A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45556-0417-A5A0-4D4A-DDAB40130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7162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CB483-9724-2C00-30D5-8EE79A27E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E2E4B-D9BD-A4EE-5713-0688C3782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12AE35-EB7B-136E-B9C7-82C7BF72A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734BB-0F76-1AA4-D779-B5EC46626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1406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D99A-E487-9293-E8FE-757DC3E12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F98101-2934-DB94-25B5-B33EEC028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B280D-7798-A1E7-D9AA-1C14AAD60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6CFA8-977A-CB3A-128D-D9EEA0F9A7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200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0DB72-6F8A-F059-F8C8-E38CDA1BD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A5D3D1-F2EA-AC75-B809-13B58E16C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E501B4-B79D-45D4-052C-ABB4B10DE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303CE-A6F9-A048-D70E-F0AF58BAB1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1375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hyperlink" Target="http://www.youtube.com/capgeminimedia" TargetMode="External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hyperlink" Target="http://www.youtube.com/capgeminimedia" TargetMode="External"/></Relationships>
</file>

<file path=ppt/slideLayouts/_rels/slideLayout4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4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image" Target="../media/image12.png"/><Relationship Id="rId12" Type="http://schemas.openxmlformats.org/officeDocument/2006/relationships/hyperlink" Target="http://www.youtube.com/capgeminimedia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linkedin.com/company/capgemini" TargetMode="External"/><Relationship Id="rId11" Type="http://schemas.microsoft.com/office/2007/relationships/hdphoto" Target="../media/hdphoto3.wdp"/><Relationship Id="rId5" Type="http://schemas.microsoft.com/office/2007/relationships/hdphoto" Target="../media/hdphoto1.wdp"/><Relationship Id="rId10" Type="http://schemas.openxmlformats.org/officeDocument/2006/relationships/image" Target="../media/image13.png"/><Relationship Id="rId4" Type="http://schemas.openxmlformats.org/officeDocument/2006/relationships/image" Target="../media/image11.png"/><Relationship Id="rId9" Type="http://schemas.openxmlformats.org/officeDocument/2006/relationships/hyperlink" Target="http://www.slideshare.net/capgemini" TargetMode="External"/><Relationship Id="rId14" Type="http://schemas.microsoft.com/office/2007/relationships/hdphoto" Target="../media/hdphoto4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70ACFCFC-1DDE-342C-6F6C-421985D8A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460790"/>
            <a:ext cx="11090275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BA5DDAC5-BAB8-79F8-0B48-89767D2C0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7935B1-1E9A-902D-1107-E84E1CDCC3A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BAB5440-AAF9-D636-D963-1CF51D4EEE3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9CD0850-5040-0CC6-F657-BF2242F63884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08F4CC8-6692-0A4C-C931-B50A99D5E8D4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645E874-9471-204B-FEA4-29B6C383031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CD723AF-3402-E7B5-291B-2ABCD137B39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7393103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a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">
            <a:extLst>
              <a:ext uri="{FF2B5EF4-FFF2-40B4-BE49-F238E27FC236}">
                <a16:creationId xmlns:a16="http://schemas.microsoft.com/office/drawing/2014/main" id="{263427DF-DAE9-5C4C-6A1A-438ED4F52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5457155"/>
            <a:ext cx="11090276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AAC7C66-F303-132A-295B-65A79300A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6CECF1A1-AFBB-C9C3-8C4C-A333753514C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6500998E-0CA2-4FA3-BF63-EC673ABF21BF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F3E23DF4-7EAD-57AB-752A-EC8452CB6C51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879BEAB9-ED4E-001A-5054-C9630CF436F9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DC469B38-0BDD-091F-8A89-643F5C025E37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F04538F8-26C6-0B5E-9B13-7C72AEACEC0C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635BD2C3-1CF1-2C4D-754E-091C3266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3429336" y="25029"/>
            <a:ext cx="8715336" cy="722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077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7636510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90968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s slide 3a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6C2E4BB5-C5E3-F6F8-4261-BF330F6E49A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7" name="Freeform: Shape 4">
              <a:extLst>
                <a:ext uri="{FF2B5EF4-FFF2-40B4-BE49-F238E27FC236}">
                  <a16:creationId xmlns:a16="http://schemas.microsoft.com/office/drawing/2014/main" id="{0F3FBF3D-73C2-AEF9-6A29-26E9974EB2B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5">
              <a:extLst>
                <a:ext uri="{FF2B5EF4-FFF2-40B4-BE49-F238E27FC236}">
                  <a16:creationId xmlns:a16="http://schemas.microsoft.com/office/drawing/2014/main" id="{16D7EF54-CF87-4A1F-B1F7-681296888423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6">
              <a:extLst>
                <a:ext uri="{FF2B5EF4-FFF2-40B4-BE49-F238E27FC236}">
                  <a16:creationId xmlns:a16="http://schemas.microsoft.com/office/drawing/2014/main" id="{411034BC-7D78-A8D4-1F4A-8C4D8937B48B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7">
              <a:extLst>
                <a:ext uri="{FF2B5EF4-FFF2-40B4-BE49-F238E27FC236}">
                  <a16:creationId xmlns:a16="http://schemas.microsoft.com/office/drawing/2014/main" id="{91A42476-4DC0-A3D4-0B82-C32497A9655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61A1CDED-A495-D2CB-B478-6B5C933C774A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0272645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EC1CE0-E890-6F27-EC37-CCBB63335D4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6" name="Freeform: Shape 2">
              <a:extLst>
                <a:ext uri="{FF2B5EF4-FFF2-40B4-BE49-F238E27FC236}">
                  <a16:creationId xmlns:a16="http://schemas.microsoft.com/office/drawing/2014/main" id="{FC1EFD8E-6111-C0FE-F23B-7FCABA181AFF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3">
              <a:extLst>
                <a:ext uri="{FF2B5EF4-FFF2-40B4-BE49-F238E27FC236}">
                  <a16:creationId xmlns:a16="http://schemas.microsoft.com/office/drawing/2014/main" id="{2E0336C3-FD2D-34F2-37FE-01F1463B9B1A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BCC79B1A-4DEF-2D28-22B2-7BFA7646E1A5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14">
              <a:extLst>
                <a:ext uri="{FF2B5EF4-FFF2-40B4-BE49-F238E27FC236}">
                  <a16:creationId xmlns:a16="http://schemas.microsoft.com/office/drawing/2014/main" id="{95610CD6-85BD-3AFA-95C6-25178AB66F0D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DE7326A8-CE97-C71F-CFF8-B35813A22238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665161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se slide 3c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EA84EC-0E0C-41F6-8286-BC5A87DC6C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112FC67-26E6-91F9-0FAE-29488326991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FC0E4D70-5998-8125-42E2-E0EE77A84AC4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FBD6D893-3276-B285-3B03-8726CD1FFB2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6F9A7FDE-2DE1-AB6B-F371-23968DFB687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7">
              <a:extLst>
                <a:ext uri="{FF2B5EF4-FFF2-40B4-BE49-F238E27FC236}">
                  <a16:creationId xmlns:a16="http://schemas.microsoft.com/office/drawing/2014/main" id="{72366D37-668B-51CE-2CE6-C9DA736141B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8">
              <a:extLst>
                <a:ext uri="{FF2B5EF4-FFF2-40B4-BE49-F238E27FC236}">
                  <a16:creationId xmlns:a16="http://schemas.microsoft.com/office/drawing/2014/main" id="{9CF35CA0-09E8-81C3-4DA7-F503D6BAE3A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16">
            <a:extLst>
              <a:ext uri="{FF2B5EF4-FFF2-40B4-BE49-F238E27FC236}">
                <a16:creationId xmlns:a16="http://schemas.microsoft.com/office/drawing/2014/main" id="{415561A2-AF17-AE8E-8E0A-9B607FD1F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9896" y="1107202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281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053956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650393B-7E46-5ECE-4310-AF8EC725574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09E51387-52A5-B06A-AEC1-9A4DA7D2DAC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1A2D993C-1439-0B90-F87F-84C15E66CF4C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9D4A7921-9C3C-6166-B6B7-CEDC5FF28E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F10A1F9A-93B6-1683-DDEE-2FA6B370E583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74BF5A15-51F5-5003-8669-EA9C008D0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8297876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AA102172-14DD-5ED5-33AF-35672124237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21C01B30-4538-A317-44E5-BDF28A06DCA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A9A8C1E0-9587-0DA1-86EF-2B2312071C5E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B65EA192-75EF-F13F-0CC2-C84DE74A65A7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A48BD9AC-7231-CA62-C64B-046F4398B636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E90D6E4E-CBEC-C140-FE24-C2FD729A0A29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211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3425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3032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3C5622C-AFD4-93DA-3105-DD24A1095D2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EC1F4AF4-B2D1-B383-5414-6A7CE220351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562EA075-7E1A-57B6-FA93-F8A92DA56EC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ABED82B4-66F4-60A2-8FF7-76C7FFFB8A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C403332C-6371-29E3-2335-DFAA7BE6C2F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3D2D8432-F91A-C228-692F-66BF4106BFBA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6676781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A8A661-3751-29DA-1AB9-334A7C98EA5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E0FC8CB-F05E-FFD4-8D7F-1F94AC26DA2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34D3664-9369-B221-FD17-0597A682848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7A7E500-54F5-1815-C9B9-3954ED883928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AE2D512F-FC3A-33B0-5954-0D1BFB4C1437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20">
              <a:extLst>
                <a:ext uri="{FF2B5EF4-FFF2-40B4-BE49-F238E27FC236}">
                  <a16:creationId xmlns:a16="http://schemas.microsoft.com/office/drawing/2014/main" id="{BB0A86DD-9E86-EB4E-14DC-ECC7130D6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857004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51496C4-1393-EC1A-FE90-568BF22C8C7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0937F72A-96AE-F5EC-755D-D45529304F35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96B9DAFA-5CFE-3E91-78D3-742C4B9A849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CB9EFD82-551E-D525-DCB6-363C1A232636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F9FEB3BD-8FE6-4A58-DFA9-1F350C2DE2F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D59F2406-4DC9-3FBA-F0C2-60E886FCA30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5520549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764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28077F6A-5588-29E0-312C-D1B791C9064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992C4824-37D6-415A-E6EC-6E62CD172F7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20C33BE-AD5D-4D60-D7A2-A931FD4F868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B4C80064-8B28-D1EF-FC09-F0AFF3877595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B9F29B0E-E913-EB3D-4F7C-383B5615790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E0CDEF2F-7154-A5C2-D640-669D5BB07DF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2285439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DB64C0B-D342-EDD4-D426-B9A5B83A468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70BA0B6B-013E-ED21-5C0C-A7573716118E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8C76A2C-1551-D00B-5D24-ECE94A0DB1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F5EB07D2-E52D-E392-D3C8-37455096D778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04CC7865-5F12-6284-B1F5-C81724EA1048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F2F7B79C-F81D-D4E8-CCCC-1A80B79E58F5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8412155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c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C6036FEE-55DE-70FD-8023-666A176E56D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4083" y="5360390"/>
            <a:chExt cx="3039349" cy="683316"/>
          </a:xfrm>
        </p:grpSpPr>
        <p:sp>
          <p:nvSpPr>
            <p:cNvPr id="9" name="Freeform: Shape 4">
              <a:extLst>
                <a:ext uri="{FF2B5EF4-FFF2-40B4-BE49-F238E27FC236}">
                  <a16:creationId xmlns:a16="http://schemas.microsoft.com/office/drawing/2014/main" id="{B1ED800D-0360-E693-191D-220DFE10BEC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5">
              <a:extLst>
                <a:ext uri="{FF2B5EF4-FFF2-40B4-BE49-F238E27FC236}">
                  <a16:creationId xmlns:a16="http://schemas.microsoft.com/office/drawing/2014/main" id="{95F4CCB2-170A-19BE-C942-B19098270C42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6">
              <a:extLst>
                <a:ext uri="{FF2B5EF4-FFF2-40B4-BE49-F238E27FC236}">
                  <a16:creationId xmlns:a16="http://schemas.microsoft.com/office/drawing/2014/main" id="{890A43B6-BBB1-B11D-0EB6-447FE3C6F0F1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B0A92FC2-E6FE-6A55-A3D8-D99E8E6201E5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8">
              <a:extLst>
                <a:ext uri="{FF2B5EF4-FFF2-40B4-BE49-F238E27FC236}">
                  <a16:creationId xmlns:a16="http://schemas.microsoft.com/office/drawing/2014/main" id="{1C3193CB-D868-D37B-4D53-F1726DCD2D02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0218613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9D2F3-3C15-428F-AF70-D31974E2F3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2613" y="3199768"/>
            <a:ext cx="9079459" cy="3532255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BB18C-C624-35CB-514D-CE1A312E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77388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C4263A-DA82-3AB3-0A84-F2337DC19F6E}"/>
              </a:ext>
            </a:extLst>
          </p:cNvPr>
          <p:cNvSpPr/>
          <p:nvPr userDrawn="1"/>
        </p:nvSpPr>
        <p:spPr>
          <a:xfrm>
            <a:off x="-24680" y="1484784"/>
            <a:ext cx="5735960" cy="5373217"/>
          </a:xfrm>
          <a:prstGeom prst="rect">
            <a:avLst/>
          </a:prstGeom>
          <a:solidFill>
            <a:srgbClr val="17334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06025B9-0362-4974-8920-7C764289CB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18650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7644F2-F28D-4087-B791-1E7F26C4A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25371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5F62A33-F672-4099-9B72-9B2267F22A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320932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2FF6EE1-C46D-4DEB-A508-49B5101CF2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368" y="388146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31D06D9-EA9B-42A0-81EE-D669D6CA5F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368" y="455360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FEA829A-6217-4965-B7BD-6BC37F7849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368" y="52257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05DDB93-91CA-4BAF-9D63-E4134B435D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368" y="58978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111C9-BF1D-4957-9C22-F45DD34F3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5681029" cy="7921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095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 and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D3B1FE99-E8D3-C5FE-4E44-4E4EF67B45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1" y="908721"/>
            <a:ext cx="6096000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692696"/>
            <a:ext cx="4751907" cy="720179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80000"/>
              </a:lnSpc>
              <a:defRPr lang="en-GB"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Agenda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6DF15B-7249-491B-BFB7-9A33784178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988" y="1916832"/>
            <a:ext cx="5471988" cy="4536356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2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78049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8BAF09-C52E-54E6-E538-78C64D8A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21B52807-7673-5576-DEE4-0A88870C0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5800" y="1700808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5586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F09D0F-E907-3A0B-CF17-D622F6756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722791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E65870-6F3C-04B2-E814-901DB0CFC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ysClr val="windowText" lastClr="000000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9217445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CE45-A6FC-9CE9-F8CD-BA044CFE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Beazley launches new private equity liability insurance product -  Reinsurance News">
            <a:extLst>
              <a:ext uri="{FF2B5EF4-FFF2-40B4-BE49-F238E27FC236}">
                <a16:creationId xmlns:a16="http://schemas.microsoft.com/office/drawing/2014/main" id="{DB2C196A-9D0D-6DB2-DC5D-DED154F0CCF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74" b="21974"/>
          <a:stretch/>
        </p:blipFill>
        <p:spPr bwMode="auto">
          <a:xfrm>
            <a:off x="10306782" y="241880"/>
            <a:ext cx="1004626" cy="31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77706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D6CCA-5023-D91C-5084-3ED466DC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Beazley launches new private equity liability insurance product -  Reinsurance News">
            <a:extLst>
              <a:ext uri="{FF2B5EF4-FFF2-40B4-BE49-F238E27FC236}">
                <a16:creationId xmlns:a16="http://schemas.microsoft.com/office/drawing/2014/main" id="{C7BBF06B-B6E3-3D3D-0DB2-74C7D82DE39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74" b="21974"/>
          <a:stretch/>
        </p:blipFill>
        <p:spPr bwMode="auto">
          <a:xfrm>
            <a:off x="10306782" y="241880"/>
            <a:ext cx="1004626" cy="31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69711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A091BB-1771-4A6F-B93C-43E4798B4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pic>
        <p:nvPicPr>
          <p:cNvPr id="2" name="Picture 2" descr="Beazley launches new private equity liability insurance product -  Reinsurance News">
            <a:extLst>
              <a:ext uri="{FF2B5EF4-FFF2-40B4-BE49-F238E27FC236}">
                <a16:creationId xmlns:a16="http://schemas.microsoft.com/office/drawing/2014/main" id="{1D9B100D-8E06-39B3-EC38-28859A6E61F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74" b="21974"/>
          <a:stretch/>
        </p:blipFill>
        <p:spPr bwMode="auto">
          <a:xfrm>
            <a:off x="10306782" y="241880"/>
            <a:ext cx="1004626" cy="31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39006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82613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15822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3528-AA21-5972-C236-27F2D720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61071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731045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Gre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5120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6C4F5EE7-6CA6-23D5-2788-911B0B2A43B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40215" y="1122907"/>
            <a:ext cx="4151785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409221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C25D57-CF8D-453D-9648-5B7859B01F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409221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50C691-8B76-E01C-4EF1-3EB567E0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8360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97BD40BB-A2F0-F646-3CC2-596CC419583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1122907"/>
            <a:ext cx="6096001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F1655B6-7DE6-4895-863F-EF917B2F07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775"/>
            <a:ext cx="5545137" cy="4824413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C572A4-9113-ABE4-A840-37A9AAC5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66285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8C20F-AA44-45A0-8BD7-3F72A12E08AD}"/>
              </a:ext>
            </a:extLst>
          </p:cNvPr>
          <p:cNvSpPr/>
          <p:nvPr userDrawn="1"/>
        </p:nvSpPr>
        <p:spPr>
          <a:xfrm>
            <a:off x="0" y="0"/>
            <a:ext cx="407366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003CB7C-5AB2-4487-B779-DFE57F79C5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5538"/>
            <a:ext cx="69840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219CA61-951E-46A4-A7C6-8A4C09FDC6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8774"/>
            <a:ext cx="6962544" cy="4824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DD7751A-AC4E-473A-B544-73973FAE946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422379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52824-0DEF-7B5E-1D4F-BCBC062D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9384" y="260350"/>
            <a:ext cx="6984000" cy="792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382146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8930BD6-6C9D-490A-BF02-403245ED990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895A1A3-A6AA-456A-98DD-23651F1D1D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4032" y="1125538"/>
            <a:ext cx="5063967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F2C12DC-68D5-4DF5-891E-DAEB8A4AB6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84032" y="1627200"/>
            <a:ext cx="5063967" cy="48259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AAC9D4-CD35-41A1-A14D-B18A58A2866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337B1-E3AC-A7E5-7836-78F324F9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417" y="260350"/>
            <a:ext cx="5063967" cy="792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618554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27401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1949725-ACD2-44C4-85AF-10B39EC61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71E05-0646-A062-8DD0-B00651AE6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7361940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64732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7D3C6BC6-663C-C133-76CE-9BAB02DAEDB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967663" y="1122907"/>
            <a:ext cx="4224338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337213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13880FA-A20C-4104-8D48-DC99C13D0B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337213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Tx/>
              <a:defRPr sz="1400">
                <a:solidFill>
                  <a:schemeClr val="bg1"/>
                </a:solidFill>
              </a:defRPr>
            </a:lvl2pPr>
            <a:lvl3pPr>
              <a:buClrTx/>
              <a:defRPr sz="14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D9B30-9A2C-505E-36D0-05AF0DBA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5079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19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D947A8D9-3FE6-9441-652F-400363E7066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1" y="1122907"/>
            <a:ext cx="6096000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3B64D18-C45E-440C-9C66-6F1DDAC017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7200"/>
            <a:ext cx="5545137" cy="4825988"/>
          </a:xfrm>
          <a:prstGeom prst="rect">
            <a:avLst/>
          </a:prstGeom>
        </p:spPr>
        <p:txBody>
          <a:bodyPr vert="horz" lIns="0" tIns="0" rIns="21600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25044F-30C6-C6D9-84C0-2B925714F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517967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0C8F40-0AE5-4281-9868-B3C794BF6FD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" y="0"/>
            <a:ext cx="4208053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E5BD221-7593-42BD-A842-EFACB10DAB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6800"/>
            <a:ext cx="6962544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A6C5C35D-CE7D-48CD-A1B2-353FFA53AE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7200"/>
            <a:ext cx="6962544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4" name="Groupe 1">
            <a:extLst>
              <a:ext uri="{FF2B5EF4-FFF2-40B4-BE49-F238E27FC236}">
                <a16:creationId xmlns:a16="http://schemas.microsoft.com/office/drawing/2014/main" id="{DFFA4EA6-56A9-4F86-ABC0-8D91183AD408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C156B522-A0C0-42B8-BB11-65082FE76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43AD94EE-7857-4B4F-8194-A523D32A3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3D8BFFB-83BD-8B73-4F5E-285DBB52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4744" y="260350"/>
            <a:ext cx="6978640" cy="79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17828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11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dark grey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8A4E47E-A55F-4490-AD19-D9A415AA57C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B7C70459-DE10-4F5D-80E6-BAD5BA6626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4032" y="1125538"/>
            <a:ext cx="5047879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CC59ACB0-A839-47A7-AC17-01C5AED8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032" y="6907"/>
            <a:ext cx="5047879" cy="11273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8B886D2-95CB-49D8-B7AE-68DA209E76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4032" y="1627200"/>
            <a:ext cx="5047879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6" name="Groupe 1">
            <a:extLst>
              <a:ext uri="{FF2B5EF4-FFF2-40B4-BE49-F238E27FC236}">
                <a16:creationId xmlns:a16="http://schemas.microsoft.com/office/drawing/2014/main" id="{E0AE299F-7351-4397-AACC-823584420C74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2EAF937C-9725-44A1-BB6F-11B4974BA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0B23023F-6948-45C1-A879-0B093E949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060002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adient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166E472-7F03-4595-8219-0CA22510C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249954CA-1B4C-479D-8956-C152CD1D4255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86845868-3C42-0B91-A56D-1739F1EE5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F5D1D048-6CFA-0DCF-5953-84431BE67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980551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gradient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7">
            <a:extLst>
              <a:ext uri="{FF2B5EF4-FFF2-40B4-BE49-F238E27FC236}">
                <a16:creationId xmlns:a16="http://schemas.microsoft.com/office/drawing/2014/main" id="{249954CA-1B4C-479D-8956-C152CD1D4255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86845868-3C42-0B91-A56D-1739F1EE5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F5D1D048-6CFA-0DCF-5953-84431BE67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761423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apgemini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7">
            <a:extLst>
              <a:ext uri="{FF2B5EF4-FFF2-40B4-BE49-F238E27FC236}">
                <a16:creationId xmlns:a16="http://schemas.microsoft.com/office/drawing/2014/main" id="{8045CCAE-BD2B-495D-9881-0F2682E7F5DC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9" name="Freeform 320">
              <a:extLst>
                <a:ext uri="{FF2B5EF4-FFF2-40B4-BE49-F238E27FC236}">
                  <a16:creationId xmlns:a16="http://schemas.microsoft.com/office/drawing/2014/main" id="{6A17AE04-922A-4540-99C5-F8D62C3B0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321">
              <a:extLst>
                <a:ext uri="{FF2B5EF4-FFF2-40B4-BE49-F238E27FC236}">
                  <a16:creationId xmlns:a16="http://schemas.microsoft.com/office/drawing/2014/main" id="{DF832F2C-D3A7-4DE5-96EA-08ADD488B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942043-0ED4-4362-8DCB-F241572195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4754F-A565-D595-AC8C-9F0E9407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91504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dark">
    <p:bg>
      <p:bgPr>
        <a:solidFill>
          <a:srgbClr val="272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pic>
        <p:nvPicPr>
          <p:cNvPr id="10" name="Picture 7">
            <a:hlinkClick r:id="rId3"/>
            <a:extLst>
              <a:ext uri="{FF2B5EF4-FFF2-40B4-BE49-F238E27FC236}">
                <a16:creationId xmlns:a16="http://schemas.microsoft.com/office/drawing/2014/main" id="{CC55E37E-23F7-AE09-687B-FF0A64465B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11" name="Picture 2">
            <a:hlinkClick r:id="rId5"/>
            <a:extLst>
              <a:ext uri="{FF2B5EF4-FFF2-40B4-BE49-F238E27FC236}">
                <a16:creationId xmlns:a16="http://schemas.microsoft.com/office/drawing/2014/main" id="{A9A234E1-21A9-0562-AA45-77469E965E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8326" y="5571089"/>
            <a:ext cx="333195" cy="333195"/>
          </a:xfrm>
          <a:prstGeom prst="rect">
            <a:avLst/>
          </a:prstGeom>
          <a:noFill/>
        </p:spPr>
      </p:pic>
      <p:pic>
        <p:nvPicPr>
          <p:cNvPr id="12" name="Picture 4">
            <a:hlinkClick r:id="rId7"/>
            <a:extLst>
              <a:ext uri="{FF2B5EF4-FFF2-40B4-BE49-F238E27FC236}">
                <a16:creationId xmlns:a16="http://schemas.microsoft.com/office/drawing/2014/main" id="{D3F9462A-9181-7B6F-0C53-88633CD091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2363" y="5571089"/>
            <a:ext cx="333195" cy="333195"/>
          </a:xfrm>
          <a:prstGeom prst="rect">
            <a:avLst/>
          </a:prstGeom>
          <a:noFill/>
        </p:spPr>
      </p:pic>
      <p:pic>
        <p:nvPicPr>
          <p:cNvPr id="17" name="Picture 6">
            <a:hlinkClick r:id="rId9"/>
            <a:extLst>
              <a:ext uri="{FF2B5EF4-FFF2-40B4-BE49-F238E27FC236}">
                <a16:creationId xmlns:a16="http://schemas.microsoft.com/office/drawing/2014/main" id="{0057A36D-710A-32C2-2461-BFFF579A09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71089"/>
            <a:ext cx="333195" cy="333195"/>
          </a:xfrm>
          <a:prstGeom prst="rect">
            <a:avLst/>
          </a:prstGeom>
          <a:noFill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2025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9070067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gradient blue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2025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7">
            <a:hlinkClick r:id="rId3"/>
            <a:extLst>
              <a:ext uri="{FF2B5EF4-FFF2-40B4-BE49-F238E27FC236}">
                <a16:creationId xmlns:a16="http://schemas.microsoft.com/office/drawing/2014/main" id="{07109928-A368-8E6C-E810-A3BE356224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5" name="Picture 2">
            <a:hlinkClick r:id="rId5"/>
            <a:extLst>
              <a:ext uri="{FF2B5EF4-FFF2-40B4-BE49-F238E27FC236}">
                <a16:creationId xmlns:a16="http://schemas.microsoft.com/office/drawing/2014/main" id="{BC7C032C-2D1F-E483-8D4A-586900EE0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8326" y="5571089"/>
            <a:ext cx="333195" cy="333195"/>
          </a:xfrm>
          <a:prstGeom prst="rect">
            <a:avLst/>
          </a:prstGeom>
          <a:noFill/>
        </p:spPr>
      </p:pic>
      <p:pic>
        <p:nvPicPr>
          <p:cNvPr id="6" name="Picture 4">
            <a:hlinkClick r:id="rId7"/>
            <a:extLst>
              <a:ext uri="{FF2B5EF4-FFF2-40B4-BE49-F238E27FC236}">
                <a16:creationId xmlns:a16="http://schemas.microsoft.com/office/drawing/2014/main" id="{AEBD9D88-5872-54F3-A0E5-7F3AAA4CAE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2363" y="5571089"/>
            <a:ext cx="333195" cy="333195"/>
          </a:xfrm>
          <a:prstGeom prst="rect">
            <a:avLst/>
          </a:prstGeom>
          <a:noFill/>
        </p:spPr>
      </p:pic>
      <p:pic>
        <p:nvPicPr>
          <p:cNvPr id="7" name="Picture 6">
            <a:hlinkClick r:id="rId9"/>
            <a:extLst>
              <a:ext uri="{FF2B5EF4-FFF2-40B4-BE49-F238E27FC236}">
                <a16:creationId xmlns:a16="http://schemas.microsoft.com/office/drawing/2014/main" id="{66271E5E-9FCA-435A-BE7E-AA314EB197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71089"/>
            <a:ext cx="333195" cy="3331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637151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A46A5DB-4C4F-1F79-F6F4-3019062D13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71C8D6D-C61C-2819-3276-89D365F7CAE8}"/>
              </a:ext>
            </a:extLst>
          </p:cNvPr>
          <p:cNvSpPr/>
          <p:nvPr userDrawn="1"/>
        </p:nvSpPr>
        <p:spPr>
          <a:xfrm>
            <a:off x="8554179" y="6053226"/>
            <a:ext cx="3242029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Copyright © 2025 Capgemini. All rights reserved.</a:t>
            </a:r>
          </a:p>
        </p:txBody>
      </p:sp>
      <p:pic>
        <p:nvPicPr>
          <p:cNvPr id="26" name="Picture 7">
            <a:hlinkClick r:id="rId3"/>
            <a:extLst>
              <a:ext uri="{FF2B5EF4-FFF2-40B4-BE49-F238E27FC236}">
                <a16:creationId xmlns:a16="http://schemas.microsoft.com/office/drawing/2014/main" id="{23996BED-DA79-7795-E8CC-89B8B4F54B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22933" y="5569299"/>
            <a:ext cx="333195" cy="333195"/>
          </a:xfrm>
          <a:prstGeom prst="rect">
            <a:avLst/>
          </a:prstGeom>
          <a:noFill/>
        </p:spPr>
      </p:pic>
      <p:pic>
        <p:nvPicPr>
          <p:cNvPr id="27" name="Picture 2">
            <a:hlinkClick r:id="rId6"/>
            <a:extLst>
              <a:ext uri="{FF2B5EF4-FFF2-40B4-BE49-F238E27FC236}">
                <a16:creationId xmlns:a16="http://schemas.microsoft.com/office/drawing/2014/main" id="{41F22088-9EDE-E75E-205B-071BC64768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14089" y="5569299"/>
            <a:ext cx="333195" cy="333195"/>
          </a:xfrm>
          <a:prstGeom prst="rect">
            <a:avLst/>
          </a:prstGeom>
          <a:noFill/>
        </p:spPr>
      </p:pic>
      <p:pic>
        <p:nvPicPr>
          <p:cNvPr id="28" name="Picture 4">
            <a:hlinkClick r:id="rId9"/>
            <a:extLst>
              <a:ext uri="{FF2B5EF4-FFF2-40B4-BE49-F238E27FC236}">
                <a16:creationId xmlns:a16="http://schemas.microsoft.com/office/drawing/2014/main" id="{4B0CCAD4-0758-D6B9-EFF6-02B94D32DE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5245" y="5569299"/>
            <a:ext cx="333195" cy="333195"/>
          </a:xfrm>
          <a:prstGeom prst="rect">
            <a:avLst/>
          </a:prstGeom>
          <a:noFill/>
        </p:spPr>
      </p:pic>
      <p:pic>
        <p:nvPicPr>
          <p:cNvPr id="30" name="Picture 6">
            <a:hlinkClick r:id="rId12"/>
            <a:extLst>
              <a:ext uri="{FF2B5EF4-FFF2-40B4-BE49-F238E27FC236}">
                <a16:creationId xmlns:a16="http://schemas.microsoft.com/office/drawing/2014/main" id="{97D8A9F7-9109-48D0-0781-197117BF80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69299"/>
            <a:ext cx="333195" cy="333195"/>
          </a:xfrm>
          <a:prstGeom prst="rect">
            <a:avLst/>
          </a:prstGeom>
          <a:noFill/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E4C124A-1677-5379-4F1F-D80E084B6A0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17CD1832-464E-8F19-D1FF-C26D2A4008C4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27580D5-10C4-1378-1B16-22D2C6577A5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296E9CB-B7F8-9F5C-5A91-CC70339F4284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14">
              <a:extLst>
                <a:ext uri="{FF2B5EF4-FFF2-40B4-BE49-F238E27FC236}">
                  <a16:creationId xmlns:a16="http://schemas.microsoft.com/office/drawing/2014/main" id="{4046F42C-B4B1-F5B5-97B0-295157FB511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20">
              <a:extLst>
                <a:ext uri="{FF2B5EF4-FFF2-40B4-BE49-F238E27FC236}">
                  <a16:creationId xmlns:a16="http://schemas.microsoft.com/office/drawing/2014/main" id="{B9876A18-1EED-B3A2-6F45-2D9C7CE3D38D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5690962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ID" hidden="1">
            <a:extLst>
              <a:ext uri="{FF2B5EF4-FFF2-40B4-BE49-F238E27FC236}">
                <a16:creationId xmlns:a16="http://schemas.microsoft.com/office/drawing/2014/main" id="{A27D0679-8D96-1186-A961-BDC17B525A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971" y="388938"/>
            <a:ext cx="11369040" cy="6067248"/>
          </a:xfrm>
          <a:prstGeom prst="rect">
            <a:avLst/>
          </a:prstGeom>
        </p:spPr>
      </p:pic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407988" y="1628800"/>
            <a:ext cx="11369040" cy="48290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Enter </a:t>
            </a:r>
            <a:r>
              <a:rPr lang="fr-FR" err="1"/>
              <a:t>your</a:t>
            </a:r>
            <a:r>
              <a:rPr lang="fr-FR"/>
              <a:t> contents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en-US"/>
          </a:p>
        </p:txBody>
      </p:sp>
      <p:grpSp>
        <p:nvGrpSpPr>
          <p:cNvPr id="31" name="Groupe 1">
            <a:extLst>
              <a:ext uri="{FF2B5EF4-FFF2-40B4-BE49-F238E27FC236}">
                <a16:creationId xmlns:a16="http://schemas.microsoft.com/office/drawing/2014/main" id="{F31688C0-3AAB-457C-86FA-4177A059CF79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0DF4B7FE-AA65-4E55-B964-75A3DEE12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08DB13D7-F3B3-4CCC-9572-7C835EA66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D28F27D4-FFE2-4FAB-BA1B-9D013846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20" name="Stickerbox" hidden="1">
            <a:extLst>
              <a:ext uri="{FF2B5EF4-FFF2-40B4-BE49-F238E27FC236}">
                <a16:creationId xmlns:a16="http://schemas.microsoft.com/office/drawing/2014/main" id="{D03A9799-ACDC-4925-8EE1-5C65CCCBD0F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0979205" y="1068490"/>
            <a:ext cx="804808" cy="402775"/>
          </a:xfrm>
          <a:prstGeom prst="rect">
            <a:avLst/>
          </a:prstGeom>
          <a:solidFill>
            <a:schemeClr val="accent2"/>
          </a:solidFill>
          <a:ln w="10795">
            <a:noFill/>
            <a:round/>
            <a:headEnd/>
            <a:tailEnd/>
          </a:ln>
          <a:effectLst/>
        </p:spPr>
        <p:txBody>
          <a:bodyPr vert="horz" wrap="none" lIns="108000" tIns="108000" rIns="108000" bIns="1080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0" normalizeH="0" baseline="0" noProof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Sticker</a:t>
            </a:r>
          </a:p>
        </p:txBody>
      </p:sp>
      <p:sp>
        <p:nvSpPr>
          <p:cNvPr id="22" name="CapgeminiBox" hidden="1">
            <a:extLst>
              <a:ext uri="{FF2B5EF4-FFF2-40B4-BE49-F238E27FC236}">
                <a16:creationId xmlns:a16="http://schemas.microsoft.com/office/drawing/2014/main" id="{7C293A1E-B461-4AFE-976D-6EE38B2AFEB4}"/>
              </a:ext>
            </a:extLst>
          </p:cNvPr>
          <p:cNvSpPr txBox="1">
            <a:spLocks/>
          </p:cNvSpPr>
          <p:nvPr userDrawn="1"/>
        </p:nvSpPr>
        <p:spPr>
          <a:xfrm>
            <a:off x="9592" y="0"/>
            <a:ext cx="1837661" cy="260350"/>
          </a:xfrm>
          <a:prstGeom prst="rect">
            <a:avLst/>
          </a:prstGeom>
        </p:spPr>
        <p:txBody>
          <a:bodyPr vert="horz" lIns="0" tIns="0" rIns="1800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Capgemini v10.0</a:t>
            </a:r>
          </a:p>
        </p:txBody>
      </p:sp>
      <p:sp>
        <p:nvSpPr>
          <p:cNvPr id="29" name="FootnoteAndSource" hidden="1">
            <a:extLst>
              <a:ext uri="{FF2B5EF4-FFF2-40B4-BE49-F238E27FC236}">
                <a16:creationId xmlns:a16="http://schemas.microsoft.com/office/drawing/2014/main" id="{96E9BC24-418C-4CE4-8E81-3AF9AB04DEAA}"/>
              </a:ext>
            </a:extLst>
          </p:cNvPr>
          <p:cNvSpPr txBox="1"/>
          <p:nvPr userDrawn="1"/>
        </p:nvSpPr>
        <p:spPr>
          <a:xfrm>
            <a:off x="398738" y="6304130"/>
            <a:ext cx="11340000" cy="162096"/>
          </a:xfrm>
          <a:prstGeom prst="rect">
            <a:avLst/>
          </a:prstGeom>
          <a:noFill/>
        </p:spPr>
        <p:txBody>
          <a:bodyPr vert="horz" wrap="square" lIns="0" tIns="25400" rIns="0" bIns="25400" rtlCol="0" anchor="b" anchorCtr="0">
            <a:spAutoFit/>
          </a:bodyPr>
          <a:lstStyle>
            <a:defPPr>
              <a:defRPr lang="pt-PT"/>
            </a:defPPr>
            <a:lvl1pPr marL="429768" indent="-429768">
              <a:lnSpc>
                <a:spcPct val="90000"/>
              </a:lnSpc>
              <a:tabLst>
                <a:tab pos="347472" algn="r"/>
              </a:tabLst>
              <a:defRPr sz="800"/>
            </a:lvl1pPr>
          </a:lstStyle>
          <a:p>
            <a:pPr marL="429768" indent="-429768" defTabSz="914400">
              <a:lnSpc>
                <a:spcPct val="90000"/>
              </a:lnSpc>
              <a:tabLst>
                <a:tab pos="347472" algn="r"/>
              </a:tabLst>
            </a:pPr>
            <a:r>
              <a:rPr lang="de-DE" sz="800"/>
              <a:t>	Source:	Source Text</a:t>
            </a: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62086BA9-1591-C6CD-E573-A5F8961683B1}"/>
              </a:ext>
            </a:extLst>
          </p:cNvPr>
          <p:cNvSpPr/>
          <p:nvPr userDrawn="1"/>
        </p:nvSpPr>
        <p:spPr>
          <a:xfrm>
            <a:off x="406833" y="6517871"/>
            <a:ext cx="3410847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t>A Proposal to provide E2E quality engineering services | March 2025</a:t>
            </a:r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C7A3A5DA-5BBD-64D1-6DE2-E0F6859C58F2}"/>
              </a:ext>
            </a:extLst>
          </p:cNvPr>
          <p:cNvSpPr/>
          <p:nvPr userDrawn="1"/>
        </p:nvSpPr>
        <p:spPr>
          <a:xfrm>
            <a:off x="7131820" y="6517871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t>Company Confidential © Capgemini 2025. All rights reserved |</a:t>
            </a: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id="{5A64C6D2-B9B0-18AF-749A-15AAED7E4993}"/>
              </a:ext>
            </a:extLst>
          </p:cNvPr>
          <p:cNvSpPr/>
          <p:nvPr userDrawn="1"/>
        </p:nvSpPr>
        <p:spPr>
          <a:xfrm>
            <a:off x="1164887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chemeClr val="bg1">
                  <a:lumMod val="6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85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  <p:sldLayoutId id="2147483741" r:id="rId20"/>
    <p:sldLayoutId id="2147483742" r:id="rId21"/>
    <p:sldLayoutId id="2147483743" r:id="rId22"/>
    <p:sldLayoutId id="2147483744" r:id="rId23"/>
    <p:sldLayoutId id="2147483745" r:id="rId24"/>
    <p:sldLayoutId id="2147483746" r:id="rId25"/>
    <p:sldLayoutId id="2147483747" r:id="rId26"/>
    <p:sldLayoutId id="2147483748" r:id="rId27"/>
    <p:sldLayoutId id="2147483749" r:id="rId28"/>
    <p:sldLayoutId id="2147483750" r:id="rId29"/>
    <p:sldLayoutId id="2147483751" r:id="rId30"/>
    <p:sldLayoutId id="2147483752" r:id="rId31"/>
    <p:sldLayoutId id="2147483753" r:id="rId32"/>
    <p:sldLayoutId id="2147483754" r:id="rId33"/>
    <p:sldLayoutId id="2147483755" r:id="rId34"/>
    <p:sldLayoutId id="2147483756" r:id="rId35"/>
    <p:sldLayoutId id="2147483757" r:id="rId36"/>
    <p:sldLayoutId id="2147483758" r:id="rId37"/>
    <p:sldLayoutId id="2147483759" r:id="rId38"/>
    <p:sldLayoutId id="2147483760" r:id="rId39"/>
    <p:sldLayoutId id="2147483761" r:id="rId40"/>
    <p:sldLayoutId id="2147483762" r:id="rId41"/>
    <p:sldLayoutId id="2147483763" r:id="rId42"/>
    <p:sldLayoutId id="2147483764" r:id="rId43"/>
    <p:sldLayoutId id="2147483765" r:id="rId44"/>
    <p:sldLayoutId id="2147483766" r:id="rId45"/>
    <p:sldLayoutId id="2147483767" r:id="rId46"/>
  </p:sldLayoutIdLst>
  <p:hf sldNum="0" hdr="0" ftr="0" dt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2800" b="0" i="0" u="none" strike="noStrike" kern="1200" cap="none" spc="0" normalizeH="0" baseline="0" noProof="0" dirty="0">
          <a:ln>
            <a:noFill/>
          </a:ln>
          <a:solidFill>
            <a:schemeClr val="tx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Verdana" panose="020B0604030504040204" pitchFamily="34" charset="0"/>
        <a:buChar char="‒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0975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orient="horz" pos="663">
          <p15:clr>
            <a:srgbClr val="F26B43"/>
          </p15:clr>
        </p15:guide>
        <p15:guide id="19" orient="horz" pos="4320">
          <p15:clr>
            <a:srgbClr val="F26B43"/>
          </p15:clr>
        </p15:guide>
        <p15:guide id="20" pos="257">
          <p15:clr>
            <a:srgbClr val="F26B43"/>
          </p15:clr>
        </p15:guide>
        <p15:guide id="21" pos="3840">
          <p15:clr>
            <a:srgbClr val="F26B43"/>
          </p15:clr>
        </p15:guide>
        <p15:guide id="22" pos="7423">
          <p15:clr>
            <a:srgbClr val="F26B43"/>
          </p15:clr>
        </p15:guide>
        <p15:guide id="23" orient="horz" pos="160">
          <p15:clr>
            <a:srgbClr val="F26B43"/>
          </p15:clr>
        </p15:guide>
        <p15:guide id="24" orient="horz" pos="1026">
          <p15:clr>
            <a:srgbClr val="F26B43"/>
          </p15:clr>
        </p15:guide>
        <p15:guide id="26" orient="horz" pos="4065">
          <p15:clr>
            <a:srgbClr val="F26B43"/>
          </p15:clr>
        </p15:guide>
        <p15:guide id="27" orient="horz" pos="89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BB372-3058-729B-7BA9-75B10230D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9003F3C-5A61-F31F-6D55-970C9F91A1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51" b="21946"/>
          <a:stretch/>
        </p:blipFill>
        <p:spPr>
          <a:xfrm>
            <a:off x="5147087" y="1920240"/>
            <a:ext cx="7044913" cy="4941168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716C0C3B-5CFA-153B-D4F5-3E0E9D33E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071" y="1477042"/>
            <a:ext cx="4416721" cy="2215991"/>
          </a:xfrm>
        </p:spPr>
        <p:txBody>
          <a:bodyPr/>
          <a:lstStyle/>
          <a:p>
            <a:r>
              <a:rPr lang="en-US" sz="3200">
                <a:latin typeface="+mn-lt"/>
              </a:rPr>
              <a:t>Capgemini’s</a:t>
            </a:r>
            <a:r>
              <a:rPr lang="en-US" sz="3200">
                <a:solidFill>
                  <a:schemeClr val="tx1"/>
                </a:solidFill>
                <a:latin typeface="+mn-lt"/>
              </a:rPr>
              <a:t> proposal to support Beazley</a:t>
            </a:r>
            <a:br>
              <a:rPr lang="en-US" sz="3200">
                <a:solidFill>
                  <a:schemeClr val="tx1"/>
                </a:solidFill>
                <a:latin typeface="+mn-lt"/>
              </a:rPr>
            </a:br>
            <a:r>
              <a:rPr lang="en-US" sz="3200">
                <a:solidFill>
                  <a:schemeClr val="tx1"/>
                </a:solidFill>
                <a:latin typeface="+mn-lt"/>
              </a:rPr>
              <a:t>with </a:t>
            </a:r>
            <a:r>
              <a:rPr lang="en-US" sz="3200">
                <a:solidFill>
                  <a:srgbClr val="DF169C"/>
                </a:solidFill>
                <a:latin typeface="+mn-lt"/>
              </a:rPr>
              <a:t>Test data and Environment management solution</a:t>
            </a:r>
            <a:endParaRPr lang="en-GB" sz="3600">
              <a:solidFill>
                <a:srgbClr val="DF169C"/>
              </a:solidFill>
              <a:highlight>
                <a:srgbClr val="000080"/>
              </a:highlight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5D830A-5649-2FF4-6204-0B770397E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48" y="764704"/>
            <a:ext cx="11475731" cy="446449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5FCA49E-8E11-FC97-048A-D3DE7655D852}"/>
              </a:ext>
            </a:extLst>
          </p:cNvPr>
          <p:cNvCxnSpPr/>
          <p:nvPr/>
        </p:nvCxnSpPr>
        <p:spPr>
          <a:xfrm>
            <a:off x="2520950" y="5943600"/>
            <a:ext cx="0" cy="41791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Beazley launches new private equity liability insurance product -  Reinsurance News">
            <a:extLst>
              <a:ext uri="{FF2B5EF4-FFF2-40B4-BE49-F238E27FC236}">
                <a16:creationId xmlns:a16="http://schemas.microsoft.com/office/drawing/2014/main" id="{0756002E-7BBA-F9DB-2599-59154D9D0C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74" b="21974"/>
          <a:stretch/>
        </p:blipFill>
        <p:spPr bwMode="auto">
          <a:xfrm>
            <a:off x="2679874" y="5977013"/>
            <a:ext cx="1224937" cy="38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349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135C3-2F79-AB6F-D7BC-0AB654516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AB696B-DF6B-981F-7828-93A13D254EA8}"/>
              </a:ext>
            </a:extLst>
          </p:cNvPr>
          <p:cNvSpPr/>
          <p:nvPr/>
        </p:nvSpPr>
        <p:spPr>
          <a:xfrm>
            <a:off x="2587752" y="4594825"/>
            <a:ext cx="7365873" cy="1360155"/>
          </a:xfrm>
          <a:prstGeom prst="rect">
            <a:avLst/>
          </a:prstGeom>
          <a:solidFill>
            <a:srgbClr val="FBEFF5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endParaRPr lang="en-GB" sz="1600">
              <a:solidFill>
                <a:srgbClr val="811B6F"/>
              </a:solidFill>
              <a:latin typeface="Aptos Narrow" panose="020B0004020202020204" pitchFamily="34" charset="0"/>
            </a:endParaRPr>
          </a:p>
          <a:p>
            <a:pPr>
              <a:spcBef>
                <a:spcPts val="800"/>
              </a:spcBef>
              <a:spcAft>
                <a:spcPts val="800"/>
              </a:spcAft>
            </a:pPr>
            <a:endParaRPr lang="en-US" sz="1600" b="0" i="0" u="none" strike="noStrike" kern="1200">
              <a:solidFill>
                <a:srgbClr val="811B6F"/>
              </a:solidFill>
              <a:effectLst/>
              <a:latin typeface="Aptos Narrow" panose="020B00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636D9-91D1-E9EB-2768-0A560417D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2" y="187450"/>
            <a:ext cx="10138652" cy="792163"/>
          </a:xfrm>
        </p:spPr>
        <p:txBody>
          <a:bodyPr/>
          <a:lstStyle/>
          <a:p>
            <a:r>
              <a:rPr lang="en-GB">
                <a:solidFill>
                  <a:srgbClr val="811B6F"/>
                </a:solidFill>
              </a:rPr>
              <a:t>TOPICS</a:t>
            </a:r>
            <a:endParaRPr lang="en-US">
              <a:solidFill>
                <a:srgbClr val="811B6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B72A92-DD54-9A68-D4C4-28729CA34139}"/>
              </a:ext>
            </a:extLst>
          </p:cNvPr>
          <p:cNvSpPr/>
          <p:nvPr/>
        </p:nvSpPr>
        <p:spPr>
          <a:xfrm>
            <a:off x="2587752" y="1426240"/>
            <a:ext cx="7365873" cy="1867976"/>
          </a:xfrm>
          <a:prstGeom prst="rect">
            <a:avLst/>
          </a:prstGeom>
          <a:solidFill>
            <a:srgbClr val="FBEFF5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endParaRPr lang="en-GB" sz="1600">
              <a:solidFill>
                <a:srgbClr val="811B6F"/>
              </a:solidFill>
              <a:latin typeface="Aptos Narrow" panose="020B0004020202020204" pitchFamily="34" charset="0"/>
            </a:endParaRPr>
          </a:p>
          <a:p>
            <a:pPr>
              <a:spcBef>
                <a:spcPts val="800"/>
              </a:spcBef>
              <a:spcAft>
                <a:spcPts val="800"/>
              </a:spcAft>
            </a:pPr>
            <a:endParaRPr lang="en-US" sz="1600" b="0" i="0" u="none" strike="noStrike" kern="1200">
              <a:solidFill>
                <a:srgbClr val="811B6F"/>
              </a:solidFill>
              <a:effectLst/>
              <a:latin typeface="Aptos Narrow" panose="020B0004020202020204" pitchFamily="34" charset="0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863C8EB-1A00-1801-3DB6-61AEF7F45997}"/>
              </a:ext>
            </a:extLst>
          </p:cNvPr>
          <p:cNvSpPr txBox="1"/>
          <p:nvPr/>
        </p:nvSpPr>
        <p:spPr>
          <a:xfrm>
            <a:off x="2997192" y="1408566"/>
            <a:ext cx="315905" cy="402291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b="1">
                <a:solidFill>
                  <a:srgbClr val="E557AD"/>
                </a:solidFill>
                <a:latin typeface="Ubuntu Light" panose="020B0304030602030204" pitchFamily="34" charset="0"/>
              </a:rPr>
              <a:t>1</a:t>
            </a:r>
            <a:endParaRPr lang="en-GB" sz="2000" b="1" err="1">
              <a:solidFill>
                <a:srgbClr val="E557AD"/>
              </a:solidFill>
              <a:latin typeface="Ubuntu Light" panose="020B030403060203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F0A916D-7609-2C63-E205-4EB49530CA31}"/>
              </a:ext>
            </a:extLst>
          </p:cNvPr>
          <p:cNvSpPr txBox="1"/>
          <p:nvPr/>
        </p:nvSpPr>
        <p:spPr>
          <a:xfrm>
            <a:off x="3019303" y="1897129"/>
            <a:ext cx="315905" cy="402291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b="1">
                <a:solidFill>
                  <a:srgbClr val="E557AD"/>
                </a:solidFill>
                <a:latin typeface="Ubuntu Light" panose="020B0304030602030204" pitchFamily="34" charset="0"/>
              </a:rPr>
              <a:t>2</a:t>
            </a:r>
            <a:endParaRPr lang="en-GB" sz="2000" b="1" err="1">
              <a:solidFill>
                <a:srgbClr val="E557AD"/>
              </a:solidFill>
              <a:latin typeface="Ubuntu Light" panose="020B030403060203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0BC867F-1B53-7104-67D5-88689AE447CC}"/>
              </a:ext>
            </a:extLst>
          </p:cNvPr>
          <p:cNvSpPr txBox="1"/>
          <p:nvPr/>
        </p:nvSpPr>
        <p:spPr>
          <a:xfrm>
            <a:off x="3036762" y="2377982"/>
            <a:ext cx="315905" cy="402291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b="1">
                <a:solidFill>
                  <a:srgbClr val="E557AD"/>
                </a:solidFill>
                <a:latin typeface="Ubuntu Light" panose="020B0304030602030204" pitchFamily="34" charset="0"/>
              </a:rPr>
              <a:t>3</a:t>
            </a:r>
            <a:endParaRPr lang="en-GB" sz="2000" b="1" err="1">
              <a:solidFill>
                <a:srgbClr val="E557AD"/>
              </a:solidFill>
              <a:latin typeface="Ubuntu Light" panose="020B030403060203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1ED5A0F-EFDB-504B-BD35-43D0845FC5A8}"/>
              </a:ext>
            </a:extLst>
          </p:cNvPr>
          <p:cNvSpPr txBox="1"/>
          <p:nvPr/>
        </p:nvSpPr>
        <p:spPr>
          <a:xfrm>
            <a:off x="3036762" y="2903367"/>
            <a:ext cx="315905" cy="402291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b="1">
                <a:solidFill>
                  <a:srgbClr val="E557AD"/>
                </a:solidFill>
                <a:latin typeface="Ubuntu Light" panose="020B0304030602030204" pitchFamily="34" charset="0"/>
              </a:rPr>
              <a:t>4</a:t>
            </a:r>
            <a:endParaRPr lang="en-GB" sz="2000" b="1" err="1">
              <a:solidFill>
                <a:srgbClr val="E557AD"/>
              </a:solidFill>
              <a:latin typeface="Ubuntu Light" panose="020B030403060203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178D8F5-4A37-1195-0378-2412971B707B}"/>
              </a:ext>
            </a:extLst>
          </p:cNvPr>
          <p:cNvSpPr txBox="1"/>
          <p:nvPr/>
        </p:nvSpPr>
        <p:spPr>
          <a:xfrm>
            <a:off x="3310522" y="1416311"/>
            <a:ext cx="6025896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sz="1600">
                <a:solidFill>
                  <a:srgbClr val="E557AD"/>
                </a:solidFill>
                <a:latin typeface="Aptos Narrow" panose="020B0004020202020204" pitchFamily="34" charset="0"/>
              </a:rPr>
              <a:t>Our understanding – </a:t>
            </a:r>
            <a:r>
              <a:rPr lang="en-GB" sz="1600">
                <a:solidFill>
                  <a:srgbClr val="E557AD"/>
                </a:solidFill>
                <a:latin typeface="Aptos Narrow" panose="020B0004020202020204" pitchFamily="34" charset="0"/>
              </a:rPr>
              <a:t>Current limitations</a:t>
            </a:r>
            <a:endParaRPr lang="en-US" sz="1600">
              <a:solidFill>
                <a:srgbClr val="E557AD"/>
              </a:solidFill>
              <a:latin typeface="Aptos Narrow" panose="020B00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4884129-3F71-701B-ABBF-32B28408EE45}"/>
              </a:ext>
            </a:extLst>
          </p:cNvPr>
          <p:cNvSpPr txBox="1"/>
          <p:nvPr/>
        </p:nvSpPr>
        <p:spPr>
          <a:xfrm>
            <a:off x="3310522" y="1905903"/>
            <a:ext cx="7845552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GB" sz="1600">
                <a:solidFill>
                  <a:srgbClr val="E557AD"/>
                </a:solidFill>
                <a:latin typeface="Aptos Narrow" panose="020B0004020202020204" pitchFamily="34" charset="0"/>
              </a:rPr>
              <a:t>Solution architecture – GPAS and Extendable beyond GPAS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E2677EB-3336-AF0B-CF80-4B04A62EC9FF}"/>
              </a:ext>
            </a:extLst>
          </p:cNvPr>
          <p:cNvSpPr txBox="1"/>
          <p:nvPr/>
        </p:nvSpPr>
        <p:spPr>
          <a:xfrm>
            <a:off x="3310522" y="2413474"/>
            <a:ext cx="6025896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sz="1600">
                <a:solidFill>
                  <a:srgbClr val="E557AD"/>
                </a:solidFill>
                <a:latin typeface="Aptos Narrow" panose="020B0004020202020204" pitchFamily="34" charset="0"/>
              </a:rPr>
              <a:t>E2E Test data flow – GPAS context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236545-D6DF-56DE-A59C-07B0566C2027}"/>
              </a:ext>
            </a:extLst>
          </p:cNvPr>
          <p:cNvSpPr txBox="1"/>
          <p:nvPr/>
        </p:nvSpPr>
        <p:spPr>
          <a:xfrm>
            <a:off x="3327981" y="2953481"/>
            <a:ext cx="7506217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sz="1600">
                <a:solidFill>
                  <a:srgbClr val="E557AD"/>
                </a:solidFill>
                <a:latin typeface="Aptos Narrow" panose="020B0004020202020204" pitchFamily="34" charset="0"/>
              </a:rPr>
              <a:t>Roadmap and Commercials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7C0F946-89A0-1B9B-DCE1-2801EDDCA90C}"/>
              </a:ext>
            </a:extLst>
          </p:cNvPr>
          <p:cNvSpPr txBox="1"/>
          <p:nvPr/>
        </p:nvSpPr>
        <p:spPr>
          <a:xfrm>
            <a:off x="2587752" y="903020"/>
            <a:ext cx="61539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rgbClr val="811B6F"/>
                </a:solidFill>
                <a:latin typeface="Aptos Narrow" panose="020B0004020202020204" pitchFamily="34" charset="0"/>
              </a:rPr>
              <a:t>A. Test data management: </a:t>
            </a:r>
            <a:endParaRPr lang="en-GB" sz="2800" b="1">
              <a:solidFill>
                <a:srgbClr val="811B6F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CE855C2-5DE0-226C-2AC2-31E8CADB4B84}"/>
              </a:ext>
            </a:extLst>
          </p:cNvPr>
          <p:cNvSpPr txBox="1"/>
          <p:nvPr/>
        </p:nvSpPr>
        <p:spPr>
          <a:xfrm>
            <a:off x="2701917" y="4124796"/>
            <a:ext cx="61539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rgbClr val="811B6F"/>
                </a:solidFill>
                <a:latin typeface="Aptos Narrow" panose="020B0004020202020204" pitchFamily="34" charset="0"/>
              </a:rPr>
              <a:t>B. Test environment management: </a:t>
            </a:r>
            <a:endParaRPr lang="en-GB" sz="2800" b="1">
              <a:solidFill>
                <a:srgbClr val="811B6F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F6C04BE-8E3C-F7F4-9FD0-D7957F9D8E24}"/>
              </a:ext>
            </a:extLst>
          </p:cNvPr>
          <p:cNvSpPr txBox="1"/>
          <p:nvPr/>
        </p:nvSpPr>
        <p:spPr>
          <a:xfrm>
            <a:off x="3064194" y="4594825"/>
            <a:ext cx="315905" cy="402291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b="1">
                <a:solidFill>
                  <a:srgbClr val="E557AD"/>
                </a:solidFill>
                <a:latin typeface="Ubuntu Light" panose="020B0304030602030204" pitchFamily="34" charset="0"/>
              </a:rPr>
              <a:t>1</a:t>
            </a:r>
            <a:endParaRPr lang="en-GB" sz="2000" b="1" err="1">
              <a:solidFill>
                <a:srgbClr val="E557AD"/>
              </a:solidFill>
              <a:latin typeface="Ubuntu Light" panose="020B030403060203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7AEB519-D028-052E-AC66-60D54E52F45C}"/>
              </a:ext>
            </a:extLst>
          </p:cNvPr>
          <p:cNvSpPr txBox="1"/>
          <p:nvPr/>
        </p:nvSpPr>
        <p:spPr>
          <a:xfrm>
            <a:off x="3086305" y="5083388"/>
            <a:ext cx="315905" cy="402291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b="1">
                <a:solidFill>
                  <a:srgbClr val="E557AD"/>
                </a:solidFill>
                <a:latin typeface="Ubuntu Light" panose="020B0304030602030204" pitchFamily="34" charset="0"/>
              </a:rPr>
              <a:t>2</a:t>
            </a:r>
            <a:endParaRPr lang="en-GB" sz="2000" b="1" err="1">
              <a:solidFill>
                <a:srgbClr val="E557AD"/>
              </a:solidFill>
              <a:latin typeface="Ubuntu Light" panose="020B030403060203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4A3B5F2-51FD-E3EF-A3C2-6B2B21473753}"/>
              </a:ext>
            </a:extLst>
          </p:cNvPr>
          <p:cNvSpPr txBox="1"/>
          <p:nvPr/>
        </p:nvSpPr>
        <p:spPr>
          <a:xfrm>
            <a:off x="3086305" y="5518673"/>
            <a:ext cx="315905" cy="402291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b="1">
                <a:solidFill>
                  <a:srgbClr val="E557AD"/>
                </a:solidFill>
                <a:latin typeface="Ubuntu Light" panose="020B0304030602030204" pitchFamily="34" charset="0"/>
              </a:rPr>
              <a:t>3</a:t>
            </a:r>
            <a:endParaRPr lang="en-GB" sz="2000" b="1">
              <a:solidFill>
                <a:srgbClr val="E557AD"/>
              </a:solidFill>
              <a:latin typeface="Ubuntu Light" panose="020B0304030602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20EAD26-A2E6-4F8F-A077-15D6F02F72A2}"/>
              </a:ext>
            </a:extLst>
          </p:cNvPr>
          <p:cNvSpPr txBox="1"/>
          <p:nvPr/>
        </p:nvSpPr>
        <p:spPr>
          <a:xfrm>
            <a:off x="3350092" y="4630000"/>
            <a:ext cx="6025896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sz="1600">
                <a:solidFill>
                  <a:srgbClr val="E557AD"/>
                </a:solidFill>
                <a:latin typeface="Aptos Narrow" panose="020B0004020202020204" pitchFamily="34" charset="0"/>
              </a:rPr>
              <a:t>Current state of play, what environments are availale</a:t>
            </a:r>
            <a:endParaRPr lang="en-GB" sz="1600" err="1">
              <a:solidFill>
                <a:srgbClr val="E557AD"/>
              </a:solidFill>
              <a:latin typeface="Aptos Narrow" panose="020B0004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4EA117B-C5AE-60A4-C510-EA0C55A73499}"/>
              </a:ext>
            </a:extLst>
          </p:cNvPr>
          <p:cNvSpPr txBox="1"/>
          <p:nvPr/>
        </p:nvSpPr>
        <p:spPr>
          <a:xfrm>
            <a:off x="3350092" y="5109812"/>
            <a:ext cx="6603533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GB" sz="1600">
                <a:solidFill>
                  <a:srgbClr val="E557AD"/>
                </a:solidFill>
                <a:latin typeface="Aptos Narrow" panose="020B0004020202020204" pitchFamily="34" charset="0"/>
              </a:rPr>
              <a:t>Beazley needs (R5, R6)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9AEF29B-14D2-EA1F-0FE8-991740A84595}"/>
              </a:ext>
            </a:extLst>
          </p:cNvPr>
          <p:cNvSpPr txBox="1"/>
          <p:nvPr/>
        </p:nvSpPr>
        <p:spPr>
          <a:xfrm>
            <a:off x="3319264" y="5588746"/>
            <a:ext cx="6603533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sz="1600">
                <a:solidFill>
                  <a:srgbClr val="E557AD"/>
                </a:solidFill>
                <a:latin typeface="Aptos Narrow" panose="020B0004020202020204" pitchFamily="34" charset="0"/>
              </a:rPr>
              <a:t>Next steps – understand expectations, Controls and process</a:t>
            </a:r>
            <a:endParaRPr lang="en-GB" sz="1600">
              <a:solidFill>
                <a:srgbClr val="E557AD"/>
              </a:solidFill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164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E66AC-DA8A-ECB5-5600-94239001F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2B142-AE53-6C84-1665-DFA7085BB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2" y="187450"/>
            <a:ext cx="10138652" cy="792163"/>
          </a:xfrm>
        </p:spPr>
        <p:txBody>
          <a:bodyPr/>
          <a:lstStyle/>
          <a:p>
            <a:r>
              <a:rPr lang="en-GB">
                <a:solidFill>
                  <a:srgbClr val="811B6F"/>
                </a:solidFill>
              </a:rPr>
              <a:t>Test Data Management – Current limitations</a:t>
            </a: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A445C7-0D31-7758-59AF-751EFFE62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154630"/>
              </p:ext>
            </p:extLst>
          </p:nvPr>
        </p:nvGraphicFramePr>
        <p:xfrm>
          <a:off x="333955" y="687197"/>
          <a:ext cx="10914147" cy="5370455"/>
        </p:xfrm>
        <a:graphic>
          <a:graphicData uri="http://schemas.openxmlformats.org/drawingml/2006/table">
            <a:tbl>
              <a:tblPr/>
              <a:tblGrid>
                <a:gridCol w="2990672">
                  <a:extLst>
                    <a:ext uri="{9D8B030D-6E8A-4147-A177-3AD203B41FA5}">
                      <a16:colId xmlns:a16="http://schemas.microsoft.com/office/drawing/2014/main" val="3580296845"/>
                    </a:ext>
                  </a:extLst>
                </a:gridCol>
                <a:gridCol w="7923475">
                  <a:extLst>
                    <a:ext uri="{9D8B030D-6E8A-4147-A177-3AD203B41FA5}">
                      <a16:colId xmlns:a16="http://schemas.microsoft.com/office/drawing/2014/main" val="2592220616"/>
                    </a:ext>
                  </a:extLst>
                </a:gridCol>
              </a:tblGrid>
              <a:tr h="3978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Key Requirements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1B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Current limitations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1B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488201"/>
                  </a:ext>
                </a:extLst>
              </a:tr>
              <a:tr h="5200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811B6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Reference data</a:t>
                      </a:r>
                      <a:endParaRPr lang="en-GB" sz="1400" b="1" i="0" u="none" strike="noStrike">
                        <a:solidFill>
                          <a:srgbClr val="811B6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811B6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Reference data is not synchronized across integrated systems. For example, the same broker information should be consistently available in both Insight and CRM for new submissions.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479108"/>
                  </a:ext>
                </a:extLst>
              </a:tr>
              <a:tr h="5200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b="1" i="0" u="none" strike="noStrike">
                          <a:solidFill>
                            <a:srgbClr val="811B6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Synthetic Data Creation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811B6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Currently at Beazley, there is no mechanism to generate a diverse range of test data. 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557936"/>
                  </a:ext>
                </a:extLst>
              </a:tr>
              <a:tr h="7562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b="1" i="0" u="none" strike="noStrike">
                          <a:solidFill>
                            <a:srgbClr val="811B6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orchestration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811B6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solution to enable test data in an event driven architecture. Directly inserting data in the Databases is not an appropriate in this architecture</a:t>
                      </a:r>
                      <a:endParaRPr lang="en-GB" sz="1400" b="0" i="0" u="none" strike="noStrike">
                        <a:solidFill>
                          <a:srgbClr val="811B6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56978"/>
                  </a:ext>
                </a:extLst>
              </a:tr>
              <a:tr h="4562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b="1" i="0" u="none" strike="noStrike">
                          <a:solidFill>
                            <a:srgbClr val="811B6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obfuscation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811B6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Currently at Beazley, there is no mechanism to obfuscate production data for use in lower environments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7988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811B6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reconciliation</a:t>
                      </a:r>
                      <a:endParaRPr lang="en-GB" sz="1400" b="1" i="0" u="none" strike="noStrike">
                        <a:solidFill>
                          <a:srgbClr val="811B6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811B6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Due to asynchronous communication, data reconciliation has become challenging. There is currently no approach to track data across each hop and verify alignment with the source system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91761"/>
                  </a:ext>
                </a:extLst>
              </a:tr>
              <a:tr h="5200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811B6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storage and Reuse</a:t>
                      </a:r>
                      <a:endParaRPr lang="en-GB" sz="1400" b="1" i="0" u="none" strike="noStrike">
                        <a:solidFill>
                          <a:srgbClr val="811B6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811B6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There is no centralized data source that can be referenced; each system maintains its own data, leading to challenges with data synchronization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648182"/>
                  </a:ext>
                </a:extLst>
              </a:tr>
              <a:tr h="52000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i="0" u="none" strike="noStrike">
                          <a:solidFill>
                            <a:srgbClr val="811B6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data on demand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811B6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There is currently no mechanism to provision on-demand test data for unit, integration, or system testing. Most teams manually create and use their own data for testing purposes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03569"/>
                  </a:ext>
                </a:extLst>
              </a:tr>
              <a:tr h="52000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rgbClr val="811B6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Solutions for core platform</a:t>
                      </a:r>
                      <a:endParaRPr lang="en-GB" sz="1400" b="1" i="0" u="none" strike="noStrike">
                        <a:solidFill>
                          <a:srgbClr val="811B6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811B6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single solution. There may be isolated solutions within a platform / project</a:t>
                      </a:r>
                      <a:endParaRPr lang="en-GB" sz="1400" b="0" i="0" u="none" strike="noStrike">
                        <a:solidFill>
                          <a:srgbClr val="811B6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232542"/>
                  </a:ext>
                </a:extLst>
              </a:tr>
              <a:tr h="52000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rgbClr val="811B6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Non availability of integration system to provision data</a:t>
                      </a:r>
                      <a:endParaRPr lang="en-GB" sz="1400" b="1" i="0" u="none" strike="noStrike">
                        <a:solidFill>
                          <a:srgbClr val="811B6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811B6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Except for GPAS, all other systems have only two environments—Dev and SIT or Dev and UAT. As a result, there is no one-to-one mapping between upstream and downstream systems.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57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93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6555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C0AB4-4F91-D08F-69A9-0DA5E2C58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6BBA9BAB-34A5-36AA-9FBD-4EE60CED7880}"/>
              </a:ext>
            </a:extLst>
          </p:cNvPr>
          <p:cNvSpPr>
            <a:spLocks/>
          </p:cNvSpPr>
          <p:nvPr/>
        </p:nvSpPr>
        <p:spPr>
          <a:xfrm>
            <a:off x="103022" y="1118415"/>
            <a:ext cx="8703397" cy="4793888"/>
          </a:xfrm>
          <a:prstGeom prst="rect">
            <a:avLst/>
          </a:prstGeom>
          <a:solidFill>
            <a:srgbClr val="FFE7FF"/>
          </a:solidFill>
          <a:ln w="9525">
            <a:noFill/>
          </a:ln>
          <a:effectLst/>
        </p:spPr>
        <p:txBody>
          <a:bodyPr vert="horz" wrap="square" lIns="91440" tIns="45720" rIns="91440" bIns="45720" rtlCol="0" anchor="t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endParaRPr lang="en-IN" sz="1000" b="1">
              <a:solidFill>
                <a:srgbClr val="811B6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4C12C6-5014-DD8D-0FD7-91351BDEF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2" y="187450"/>
            <a:ext cx="10138652" cy="792163"/>
          </a:xfrm>
        </p:spPr>
        <p:txBody>
          <a:bodyPr/>
          <a:lstStyle/>
          <a:p>
            <a:r>
              <a:rPr lang="en-GB">
                <a:solidFill>
                  <a:srgbClr val="811B6F"/>
                </a:solidFill>
              </a:rPr>
              <a:t>Test Data Management – Solution architecture</a:t>
            </a:r>
            <a:br>
              <a:rPr lang="en-GB">
                <a:solidFill>
                  <a:srgbClr val="811B6F"/>
                </a:solidFill>
              </a:rPr>
            </a:br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376607F-C553-B103-AAC2-DD819748B793}"/>
              </a:ext>
            </a:extLst>
          </p:cNvPr>
          <p:cNvSpPr>
            <a:spLocks/>
          </p:cNvSpPr>
          <p:nvPr/>
        </p:nvSpPr>
        <p:spPr>
          <a:xfrm>
            <a:off x="8901143" y="1389831"/>
            <a:ext cx="3187835" cy="4543305"/>
          </a:xfrm>
          <a:prstGeom prst="rect">
            <a:avLst/>
          </a:prstGeom>
          <a:solidFill>
            <a:srgbClr val="FFE7FF"/>
          </a:solidFill>
          <a:ln w="9525">
            <a:noFill/>
          </a:ln>
          <a:effectLst/>
        </p:spPr>
        <p:txBody>
          <a:bodyPr vert="horz" wrap="square" lIns="91440" tIns="45720" rIns="91440" bIns="45720" rtlCol="0" anchor="t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1000" b="1">
                <a:solidFill>
                  <a:srgbClr val="811B6F"/>
                </a:solidFill>
              </a:rPr>
              <a:t>Reference Data Requirement– </a:t>
            </a:r>
            <a:r>
              <a:rPr lang="en-GB" sz="1000">
                <a:solidFill>
                  <a:srgbClr val="811B6F"/>
                </a:solidFill>
              </a:rPr>
              <a:t>Engage with multiple teams to gain access to critical applications (Insight, UWWB, MDA, GPAS) and understand data dependency, flow mechanisms, including trigger-based data propagation</a:t>
            </a:r>
            <a:endParaRPr lang="en-US" sz="1000">
              <a:solidFill>
                <a:srgbClr val="811B6F"/>
              </a:solidFill>
            </a:endParaRP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1000" b="1">
                <a:solidFill>
                  <a:srgbClr val="811B6F"/>
                </a:solidFill>
              </a:rPr>
              <a:t>Synthetic Test Data generation </a:t>
            </a:r>
            <a:r>
              <a:rPr lang="en-US" sz="1000">
                <a:solidFill>
                  <a:srgbClr val="811B6F"/>
                </a:solidFill>
              </a:rPr>
              <a:t> using Python faker package, create directly into DynamoDB.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IN" sz="1000" b="1">
                <a:solidFill>
                  <a:srgbClr val="811B6F"/>
                </a:solidFill>
              </a:rPr>
              <a:t>Event-Driven Architecture </a:t>
            </a:r>
            <a:r>
              <a:rPr lang="en-GB" sz="1000">
                <a:solidFill>
                  <a:srgbClr val="811B6F"/>
                </a:solidFill>
              </a:rPr>
              <a:t>require data insertion via GUI. Trigger event to get data set and insert into source app using playwright or any other tool</a:t>
            </a:r>
            <a:endParaRPr lang="en-US" sz="1000">
              <a:solidFill>
                <a:srgbClr val="811B6F"/>
              </a:solidFill>
            </a:endParaRP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IN" sz="1000" b="1">
                <a:solidFill>
                  <a:srgbClr val="811B6F"/>
                </a:solidFill>
              </a:rPr>
              <a:t>Reconcile</a:t>
            </a:r>
            <a:r>
              <a:rPr lang="en-IN" sz="1000">
                <a:solidFill>
                  <a:srgbClr val="811B6F"/>
                </a:solidFill>
              </a:rPr>
              <a:t>: Asynchronous communication between systems, utilised different tools to reconcile the data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1000" b="1">
                <a:solidFill>
                  <a:srgbClr val="811B6F"/>
                </a:solidFill>
              </a:rPr>
              <a:t>       [Refer arch diagram for TDM considerations]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Clr>
                <a:srgbClr val="811B6F"/>
              </a:buClr>
              <a:buFont typeface="+mj-lt"/>
              <a:buAutoNum type="arabicPeriod"/>
            </a:pPr>
            <a:r>
              <a:rPr lang="en-IN" sz="1000" b="1">
                <a:solidFill>
                  <a:srgbClr val="811B6F"/>
                </a:solidFill>
              </a:rPr>
              <a:t>Test Data Generation: Python faker to create test data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Clr>
                <a:srgbClr val="811B6F"/>
              </a:buClr>
              <a:buFont typeface="+mj-lt"/>
              <a:buAutoNum type="arabicPeriod"/>
            </a:pPr>
            <a:r>
              <a:rPr lang="en-IN" sz="1000" b="1">
                <a:solidFill>
                  <a:srgbClr val="811B6F"/>
                </a:solidFill>
              </a:rPr>
              <a:t>Data obfuscation replace 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Clr>
                <a:srgbClr val="811B6F"/>
              </a:buClr>
              <a:buFont typeface="+mj-lt"/>
              <a:buAutoNum type="arabicPeriod"/>
            </a:pPr>
            <a:r>
              <a:rPr lang="en-IN" sz="1000" b="1">
                <a:solidFill>
                  <a:srgbClr val="811B6F"/>
                </a:solidFill>
              </a:rPr>
              <a:t>Test data storage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Clr>
                <a:srgbClr val="811B6F"/>
              </a:buClr>
              <a:buFont typeface="+mj-lt"/>
              <a:buAutoNum type="arabicPeriod"/>
            </a:pPr>
            <a:r>
              <a:rPr lang="en-IN" sz="1000" b="1">
                <a:solidFill>
                  <a:srgbClr val="811B6F"/>
                </a:solidFill>
              </a:rPr>
              <a:t>Data Orchestration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Clr>
                <a:srgbClr val="811B6F"/>
              </a:buClr>
              <a:buFont typeface="+mj-lt"/>
              <a:buAutoNum type="arabicPeriod"/>
            </a:pPr>
            <a:r>
              <a:rPr lang="en-IN" sz="1000" b="1">
                <a:solidFill>
                  <a:srgbClr val="811B6F"/>
                </a:solidFill>
              </a:rPr>
              <a:t>Data Reconciliation</a:t>
            </a:r>
          </a:p>
        </p:txBody>
      </p:sp>
      <p:sp>
        <p:nvSpPr>
          <p:cNvPr id="113" name="CPTKTBGH21z12f08t01l08s01m00j0ca0cb01i00u00">
            <a:extLst>
              <a:ext uri="{FF2B5EF4-FFF2-40B4-BE49-F238E27FC236}">
                <a16:creationId xmlns:a16="http://schemas.microsoft.com/office/drawing/2014/main" id="{9981651B-7462-70F7-7BED-658A710F1676}"/>
              </a:ext>
            </a:extLst>
          </p:cNvPr>
          <p:cNvSpPr txBox="1">
            <a:spLocks/>
          </p:cNvSpPr>
          <p:nvPr/>
        </p:nvSpPr>
        <p:spPr>
          <a:xfrm>
            <a:off x="8904190" y="1144774"/>
            <a:ext cx="3184788" cy="245057"/>
          </a:xfrm>
          <a:prstGeom prst="rect">
            <a:avLst/>
          </a:prstGeom>
          <a:solidFill>
            <a:srgbClr val="811B6F"/>
          </a:solidFill>
          <a:ln w="19050">
            <a:noFill/>
          </a:ln>
          <a:effectLst/>
        </p:spPr>
        <p:txBody>
          <a:bodyPr wrap="square" lIns="91440" tIns="45720" rIns="91440" bIns="45720" rtlCol="0" anchor="ctr" anchorCtr="0"/>
          <a:lstStyle>
            <a:defPPr>
              <a:defRPr lang="en-US"/>
            </a:defPPr>
            <a:lvl1pPr marL="11176" marR="4470" lvl="0" indent="65377" algn="ctr" defTabSz="957756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defRPr>
            </a:lvl1pPr>
            <a:lvl2pPr marL="544025" defTabSz="1088051">
              <a:defRPr sz="2100">
                <a:solidFill>
                  <a:schemeClr val="lt1"/>
                </a:solidFill>
              </a:defRPr>
            </a:lvl2pPr>
            <a:lvl3pPr marL="1088051" defTabSz="1088051">
              <a:defRPr sz="2100">
                <a:solidFill>
                  <a:schemeClr val="lt1"/>
                </a:solidFill>
              </a:defRPr>
            </a:lvl3pPr>
            <a:lvl4pPr marL="1632075" defTabSz="1088051">
              <a:defRPr sz="2100">
                <a:solidFill>
                  <a:schemeClr val="lt1"/>
                </a:solidFill>
              </a:defRPr>
            </a:lvl4pPr>
            <a:lvl5pPr marL="2176098" defTabSz="1088051">
              <a:defRPr sz="2100">
                <a:solidFill>
                  <a:schemeClr val="lt1"/>
                </a:solidFill>
              </a:defRPr>
            </a:lvl5pPr>
            <a:lvl6pPr marL="2720124" defTabSz="1088051">
              <a:defRPr sz="2100">
                <a:solidFill>
                  <a:schemeClr val="lt1"/>
                </a:solidFill>
              </a:defRPr>
            </a:lvl6pPr>
            <a:lvl7pPr marL="3264148" defTabSz="1088051">
              <a:defRPr sz="2100">
                <a:solidFill>
                  <a:schemeClr val="lt1"/>
                </a:solidFill>
              </a:defRPr>
            </a:lvl7pPr>
            <a:lvl8pPr marL="3808174" defTabSz="1088051">
              <a:defRPr sz="2100">
                <a:solidFill>
                  <a:schemeClr val="lt1"/>
                </a:solidFill>
              </a:defRPr>
            </a:lvl8pPr>
            <a:lvl9pPr marL="4352198" defTabSz="1088051">
              <a:defRPr sz="2100">
                <a:solidFill>
                  <a:schemeClr val="lt1"/>
                </a:solidFill>
              </a:defRPr>
            </a:lvl9pPr>
          </a:lstStyle>
          <a:p>
            <a:r>
              <a:rPr lang="en-US" sz="1100">
                <a:latin typeface="+mn-lt"/>
              </a:rPr>
              <a:t>Solution Key Features</a:t>
            </a:r>
          </a:p>
        </p:txBody>
      </p:sp>
      <p:pic>
        <p:nvPicPr>
          <p:cNvPr id="114" name="Picture 113">
            <a:extLst>
              <a:ext uri="{FF2B5EF4-FFF2-40B4-BE49-F238E27FC236}">
                <a16:creationId xmlns:a16="http://schemas.microsoft.com/office/drawing/2014/main" id="{E31E6567-B9A0-921C-5B1F-61BB7F68E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66" y="1144774"/>
            <a:ext cx="8620491" cy="462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905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08B7A-94F5-7336-0282-2C26F18B2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9D02E-E04D-FADC-0C34-0FA4DED49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2" y="187450"/>
            <a:ext cx="10138652" cy="792163"/>
          </a:xfrm>
        </p:spPr>
        <p:txBody>
          <a:bodyPr/>
          <a:lstStyle/>
          <a:p>
            <a:r>
              <a:rPr lang="en-GB">
                <a:solidFill>
                  <a:srgbClr val="811B6F"/>
                </a:solidFill>
              </a:rPr>
              <a:t>Test Data Management and Reconciliation – GPAS data flow</a:t>
            </a:r>
            <a:br>
              <a:rPr lang="en-GB">
                <a:solidFill>
                  <a:srgbClr val="811B6F"/>
                </a:solidFill>
              </a:rPr>
            </a:b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FD95D44-CD74-FE85-CA9A-D281E7FFE32E}"/>
              </a:ext>
            </a:extLst>
          </p:cNvPr>
          <p:cNvSpPr/>
          <p:nvPr/>
        </p:nvSpPr>
        <p:spPr>
          <a:xfrm>
            <a:off x="312823" y="1587971"/>
            <a:ext cx="1246231" cy="755404"/>
          </a:xfrm>
          <a:prstGeom prst="roundRect">
            <a:avLst/>
          </a:prstGeom>
          <a:solidFill>
            <a:srgbClr val="A12980"/>
          </a:solidFill>
          <a:ln w="12700" cap="flat" cmpd="sng" algn="ctr">
            <a:solidFill>
              <a:srgbClr val="0070AD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Automated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Synthetic Test Data Creation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71F4A92-1A79-7409-B3F0-3B68420682D0}"/>
              </a:ext>
            </a:extLst>
          </p:cNvPr>
          <p:cNvCxnSpPr>
            <a:cxnSpLocks/>
          </p:cNvCxnSpPr>
          <p:nvPr/>
        </p:nvCxnSpPr>
        <p:spPr>
          <a:xfrm>
            <a:off x="3836597" y="2410428"/>
            <a:ext cx="593342" cy="0"/>
          </a:xfrm>
          <a:prstGeom prst="straightConnector1">
            <a:avLst/>
          </a:prstGeom>
          <a:noFill/>
          <a:ln w="12700" cap="flat" cmpd="sng" algn="ctr">
            <a:solidFill>
              <a:srgbClr val="CC0099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20201BCE-8D93-BAFD-7FC1-A950C1EEAD40}"/>
              </a:ext>
            </a:extLst>
          </p:cNvPr>
          <p:cNvSpPr/>
          <p:nvPr/>
        </p:nvSpPr>
        <p:spPr>
          <a:xfrm>
            <a:off x="2015973" y="2114088"/>
            <a:ext cx="347563" cy="241111"/>
          </a:xfrm>
          <a:prstGeom prst="ellipse">
            <a:avLst/>
          </a:prstGeom>
          <a:solidFill>
            <a:srgbClr val="FFCC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811B6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E780FDB-EFDB-9935-2AD0-A944D0588C37}"/>
              </a:ext>
            </a:extLst>
          </p:cNvPr>
          <p:cNvSpPr/>
          <p:nvPr/>
        </p:nvSpPr>
        <p:spPr>
          <a:xfrm>
            <a:off x="3923947" y="2078732"/>
            <a:ext cx="347563" cy="241111"/>
          </a:xfrm>
          <a:prstGeom prst="ellipse">
            <a:avLst/>
          </a:prstGeom>
          <a:solidFill>
            <a:srgbClr val="FFCC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811B6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C9C7B5-D083-935B-63A3-365B3BE0E53C}"/>
              </a:ext>
            </a:extLst>
          </p:cNvPr>
          <p:cNvSpPr/>
          <p:nvPr/>
        </p:nvSpPr>
        <p:spPr>
          <a:xfrm>
            <a:off x="10881263" y="2090732"/>
            <a:ext cx="1183850" cy="655170"/>
          </a:xfrm>
          <a:prstGeom prst="roundRect">
            <a:avLst/>
          </a:prstGeom>
          <a:solidFill>
            <a:srgbClr val="A12980"/>
          </a:solidFill>
          <a:ln w="12700" cap="flat" cmpd="sng" algn="ctr">
            <a:solidFill>
              <a:srgbClr val="0070AD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Guidewire (PC / BC)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FACF55-9BB2-1C73-E949-404822FDBD28}"/>
              </a:ext>
            </a:extLst>
          </p:cNvPr>
          <p:cNvSpPr/>
          <p:nvPr/>
        </p:nvSpPr>
        <p:spPr>
          <a:xfrm>
            <a:off x="8427359" y="2099407"/>
            <a:ext cx="1814315" cy="592918"/>
          </a:xfrm>
          <a:prstGeom prst="roundRect">
            <a:avLst/>
          </a:prstGeom>
          <a:solidFill>
            <a:srgbClr val="A12980"/>
          </a:solidFill>
          <a:ln w="12700" cap="flat" cmpd="sng" algn="ctr">
            <a:solidFill>
              <a:srgbClr val="0070AD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GW Integration Gateway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550F9E5-B55E-D5C5-38AB-380535CA5ABD}"/>
              </a:ext>
            </a:extLst>
          </p:cNvPr>
          <p:cNvSpPr/>
          <p:nvPr/>
        </p:nvSpPr>
        <p:spPr>
          <a:xfrm>
            <a:off x="4452654" y="2115520"/>
            <a:ext cx="1338181" cy="630382"/>
          </a:xfrm>
          <a:prstGeom prst="roundRect">
            <a:avLst/>
          </a:prstGeom>
          <a:solidFill>
            <a:srgbClr val="A12980"/>
          </a:solidFill>
          <a:ln w="12700" cap="flat" cmpd="sng" algn="ctr">
            <a:solidFill>
              <a:srgbClr val="0070AD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Insight/UWWB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DA92C1-1DDD-B0BA-D940-3A41C5D3E2FF}"/>
              </a:ext>
            </a:extLst>
          </p:cNvPr>
          <p:cNvCxnSpPr>
            <a:cxnSpLocks/>
          </p:cNvCxnSpPr>
          <p:nvPr/>
        </p:nvCxnSpPr>
        <p:spPr>
          <a:xfrm>
            <a:off x="7505494" y="2416062"/>
            <a:ext cx="844800" cy="0"/>
          </a:xfrm>
          <a:prstGeom prst="straightConnector1">
            <a:avLst/>
          </a:prstGeom>
          <a:noFill/>
          <a:ln w="12700" cap="flat" cmpd="sng" algn="ctr">
            <a:solidFill>
              <a:srgbClr val="CC0099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141D88B-3C04-EC65-85AE-39C86A0BF63E}"/>
              </a:ext>
            </a:extLst>
          </p:cNvPr>
          <p:cNvCxnSpPr>
            <a:cxnSpLocks/>
          </p:cNvCxnSpPr>
          <p:nvPr/>
        </p:nvCxnSpPr>
        <p:spPr>
          <a:xfrm flipH="1">
            <a:off x="10246407" y="2527460"/>
            <a:ext cx="736604" cy="0"/>
          </a:xfrm>
          <a:prstGeom prst="straightConnector1">
            <a:avLst/>
          </a:prstGeom>
          <a:noFill/>
          <a:ln w="12700" cap="flat" cmpd="sng" algn="ctr">
            <a:solidFill>
              <a:srgbClr val="CC0099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204D2D0-FDB7-392A-7FE2-844C3A40859E}"/>
              </a:ext>
            </a:extLst>
          </p:cNvPr>
          <p:cNvSpPr/>
          <p:nvPr/>
        </p:nvSpPr>
        <p:spPr>
          <a:xfrm>
            <a:off x="5971979" y="2090732"/>
            <a:ext cx="347563" cy="241111"/>
          </a:xfrm>
          <a:prstGeom prst="ellipse">
            <a:avLst/>
          </a:prstGeom>
          <a:solidFill>
            <a:srgbClr val="FFCC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811B6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A9869FD-85F2-A43C-2F7C-3EFE877180EC}"/>
              </a:ext>
            </a:extLst>
          </p:cNvPr>
          <p:cNvSpPr/>
          <p:nvPr/>
        </p:nvSpPr>
        <p:spPr>
          <a:xfrm>
            <a:off x="8026152" y="2032426"/>
            <a:ext cx="347563" cy="241111"/>
          </a:xfrm>
          <a:prstGeom prst="ellipse">
            <a:avLst/>
          </a:prstGeom>
          <a:solidFill>
            <a:srgbClr val="FFCC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811B6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F6DFDD-58C4-E1DB-B496-18AEFD07645B}"/>
              </a:ext>
            </a:extLst>
          </p:cNvPr>
          <p:cNvSpPr txBox="1"/>
          <p:nvPr/>
        </p:nvSpPr>
        <p:spPr>
          <a:xfrm>
            <a:off x="312823" y="3241991"/>
            <a:ext cx="689818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Orchestration options: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A. </a:t>
            </a:r>
            <a:r>
              <a:rPr kumimoji="0" lang="en-GB" sz="1200" b="0" i="0" u="sng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Get/update/delete via API:</a:t>
            </a: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Any system to make API call to get required test data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B. </a:t>
            </a:r>
            <a:r>
              <a:rPr kumimoji="0" lang="en-GB" sz="1200" b="0" i="0" u="sng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DB Connection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Test Data Generation tool – Generate synthetic data and publish on DynamoDB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Transform data from DynamoDB in required structure / format for ingestion in application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MDA consumes data processed in source system and enriches the data 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Bind event / Submission published on Kafka topic for Guidewire (GW) integration gateway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Guidewire Policy </a:t>
            </a:r>
            <a:r>
              <a:rPr kumimoji="0" lang="en-GB" sz="12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Center</a:t>
            </a: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consumes data from GW Integration gateway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Guidewire Bind success message sent to GW integration gateway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GW integration Gateway publish data on MDA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UWWB/Insight consume from MDA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Agresso workflow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A.     GW integration to CDA replication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B.     </a:t>
            </a:r>
            <a:r>
              <a:rPr kumimoji="0" lang="en-GB" sz="12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Fivetran</a:t>
            </a: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to pull the data  and send to Snowflake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C.     Snowflake to Agresso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7E742FB-33E6-F806-97B7-ADA0F835F31E}"/>
              </a:ext>
            </a:extLst>
          </p:cNvPr>
          <p:cNvSpPr/>
          <p:nvPr/>
        </p:nvSpPr>
        <p:spPr>
          <a:xfrm>
            <a:off x="294535" y="2627632"/>
            <a:ext cx="1264519" cy="681034"/>
          </a:xfrm>
          <a:prstGeom prst="roundRect">
            <a:avLst/>
          </a:prstGeom>
          <a:solidFill>
            <a:srgbClr val="A12980"/>
          </a:solidFill>
          <a:ln w="12700" cap="flat" cmpd="sng" algn="ctr">
            <a:solidFill>
              <a:srgbClr val="0070AD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Pre-Requisite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Reference Test Data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3B9F204-0211-D557-FB52-FDCC0BF45141}"/>
              </a:ext>
            </a:extLst>
          </p:cNvPr>
          <p:cNvCxnSpPr>
            <a:cxnSpLocks/>
          </p:cNvCxnSpPr>
          <p:nvPr/>
        </p:nvCxnSpPr>
        <p:spPr>
          <a:xfrm>
            <a:off x="1815781" y="2445164"/>
            <a:ext cx="747945" cy="0"/>
          </a:xfrm>
          <a:prstGeom prst="straightConnector1">
            <a:avLst/>
          </a:prstGeom>
          <a:noFill/>
          <a:ln w="12700" cap="flat" cmpd="sng" algn="ctr">
            <a:solidFill>
              <a:srgbClr val="CC0099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Right Brace 17">
            <a:extLst>
              <a:ext uri="{FF2B5EF4-FFF2-40B4-BE49-F238E27FC236}">
                <a16:creationId xmlns:a16="http://schemas.microsoft.com/office/drawing/2014/main" id="{6E703A89-A6CE-BB37-D484-CA0AAD7A4CF0}"/>
              </a:ext>
            </a:extLst>
          </p:cNvPr>
          <p:cNvSpPr/>
          <p:nvPr/>
        </p:nvSpPr>
        <p:spPr>
          <a:xfrm>
            <a:off x="1632951" y="1859950"/>
            <a:ext cx="116814" cy="1335020"/>
          </a:xfrm>
          <a:prstGeom prst="rightBrace">
            <a:avLst/>
          </a:prstGeom>
          <a:solidFill>
            <a:srgbClr val="A12980"/>
          </a:solidFill>
          <a:ln w="12700" cap="flat" cmpd="sng" algn="ctr">
            <a:solidFill>
              <a:srgbClr val="FFFFFF">
                <a:lumMod val="6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08F1E45-96D0-EBB7-11D1-00F48FFC65B8}"/>
              </a:ext>
            </a:extLst>
          </p:cNvPr>
          <p:cNvCxnSpPr>
            <a:cxnSpLocks/>
          </p:cNvCxnSpPr>
          <p:nvPr/>
        </p:nvCxnSpPr>
        <p:spPr>
          <a:xfrm>
            <a:off x="10046005" y="2337239"/>
            <a:ext cx="844800" cy="0"/>
          </a:xfrm>
          <a:prstGeom prst="straightConnector1">
            <a:avLst/>
          </a:prstGeom>
          <a:noFill/>
          <a:ln w="12700" cap="flat" cmpd="sng" algn="ctr">
            <a:solidFill>
              <a:srgbClr val="CC0099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6FAE207B-4448-029D-60EF-365F7C4C3233}"/>
              </a:ext>
            </a:extLst>
          </p:cNvPr>
          <p:cNvSpPr/>
          <p:nvPr/>
        </p:nvSpPr>
        <p:spPr>
          <a:xfrm>
            <a:off x="10323925" y="1994964"/>
            <a:ext cx="347563" cy="241111"/>
          </a:xfrm>
          <a:prstGeom prst="ellipse">
            <a:avLst/>
          </a:prstGeom>
          <a:solidFill>
            <a:srgbClr val="FFCC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811B6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5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1B34BB1-07DB-EE2F-457C-8FFAF9D69396}"/>
              </a:ext>
            </a:extLst>
          </p:cNvPr>
          <p:cNvSpPr/>
          <p:nvPr/>
        </p:nvSpPr>
        <p:spPr>
          <a:xfrm>
            <a:off x="6467401" y="2152982"/>
            <a:ext cx="1475750" cy="592917"/>
          </a:xfrm>
          <a:prstGeom prst="roundRect">
            <a:avLst/>
          </a:prstGeom>
          <a:solidFill>
            <a:srgbClr val="A12980"/>
          </a:solidFill>
          <a:ln w="12700" cap="flat" cmpd="sng" algn="ctr">
            <a:solidFill>
              <a:srgbClr val="0070AD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MDA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69D64FC-7590-3846-4076-5DC15104CEBC}"/>
              </a:ext>
            </a:extLst>
          </p:cNvPr>
          <p:cNvCxnSpPr>
            <a:cxnSpLocks/>
          </p:cNvCxnSpPr>
          <p:nvPr/>
        </p:nvCxnSpPr>
        <p:spPr>
          <a:xfrm>
            <a:off x="5874059" y="2458656"/>
            <a:ext cx="593342" cy="0"/>
          </a:xfrm>
          <a:prstGeom prst="straightConnector1">
            <a:avLst/>
          </a:prstGeom>
          <a:noFill/>
          <a:ln w="12700" cap="flat" cmpd="sng" algn="ctr">
            <a:solidFill>
              <a:srgbClr val="CC0099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7131EDF-1B67-3D8C-965E-4CFC446BFC22}"/>
              </a:ext>
            </a:extLst>
          </p:cNvPr>
          <p:cNvCxnSpPr>
            <a:cxnSpLocks/>
          </p:cNvCxnSpPr>
          <p:nvPr/>
        </p:nvCxnSpPr>
        <p:spPr>
          <a:xfrm flipH="1">
            <a:off x="7943151" y="2627632"/>
            <a:ext cx="736604" cy="0"/>
          </a:xfrm>
          <a:prstGeom prst="straightConnector1">
            <a:avLst/>
          </a:prstGeom>
          <a:noFill/>
          <a:ln w="12700" cap="flat" cmpd="sng" algn="ctr">
            <a:solidFill>
              <a:srgbClr val="CC0099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17D0B91E-0991-FE49-3BE7-8D549D0C9A6B}"/>
              </a:ext>
            </a:extLst>
          </p:cNvPr>
          <p:cNvSpPr/>
          <p:nvPr/>
        </p:nvSpPr>
        <p:spPr>
          <a:xfrm>
            <a:off x="10350974" y="2685843"/>
            <a:ext cx="347563" cy="241111"/>
          </a:xfrm>
          <a:prstGeom prst="ellipse">
            <a:avLst/>
          </a:prstGeom>
          <a:solidFill>
            <a:srgbClr val="FFCC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811B6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6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A9B573E-5DFA-E209-D58A-5256E78D94B2}"/>
              </a:ext>
            </a:extLst>
          </p:cNvPr>
          <p:cNvSpPr/>
          <p:nvPr/>
        </p:nvSpPr>
        <p:spPr>
          <a:xfrm>
            <a:off x="8062626" y="2718646"/>
            <a:ext cx="347563" cy="241111"/>
          </a:xfrm>
          <a:prstGeom prst="ellipse">
            <a:avLst/>
          </a:prstGeom>
          <a:solidFill>
            <a:srgbClr val="FFCC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811B6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7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CA76509-F502-563A-DB99-101BB204C142}"/>
              </a:ext>
            </a:extLst>
          </p:cNvPr>
          <p:cNvSpPr/>
          <p:nvPr/>
        </p:nvSpPr>
        <p:spPr>
          <a:xfrm>
            <a:off x="8500466" y="3145931"/>
            <a:ext cx="945323" cy="402475"/>
          </a:xfrm>
          <a:prstGeom prst="roundRect">
            <a:avLst/>
          </a:prstGeom>
          <a:solidFill>
            <a:srgbClr val="A12980"/>
          </a:solidFill>
          <a:ln w="12700" cap="flat" cmpd="sng" algn="ctr">
            <a:solidFill>
              <a:srgbClr val="0070AD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CDA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37AB97-122E-6EA9-93E5-8615B843B473}"/>
              </a:ext>
            </a:extLst>
          </p:cNvPr>
          <p:cNvSpPr/>
          <p:nvPr/>
        </p:nvSpPr>
        <p:spPr>
          <a:xfrm>
            <a:off x="9664623" y="3169982"/>
            <a:ext cx="1226182" cy="402475"/>
          </a:xfrm>
          <a:prstGeom prst="roundRect">
            <a:avLst/>
          </a:prstGeom>
          <a:solidFill>
            <a:srgbClr val="A12980"/>
          </a:solidFill>
          <a:ln w="12700" cap="flat" cmpd="sng" algn="ctr">
            <a:solidFill>
              <a:srgbClr val="0070AD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MDA-Snowflake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5D732D3-6C37-D3F2-B0B3-A4C395354E17}"/>
              </a:ext>
            </a:extLst>
          </p:cNvPr>
          <p:cNvSpPr/>
          <p:nvPr/>
        </p:nvSpPr>
        <p:spPr>
          <a:xfrm>
            <a:off x="11077667" y="3164470"/>
            <a:ext cx="987446" cy="402475"/>
          </a:xfrm>
          <a:prstGeom prst="roundRect">
            <a:avLst/>
          </a:prstGeom>
          <a:solidFill>
            <a:srgbClr val="A12980"/>
          </a:solidFill>
          <a:ln w="12700" cap="flat" cmpd="sng" algn="ctr">
            <a:solidFill>
              <a:srgbClr val="0070AD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Agresso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2EAABF7-86AF-61A0-D877-9A475E52D122}"/>
              </a:ext>
            </a:extLst>
          </p:cNvPr>
          <p:cNvCxnSpPr>
            <a:cxnSpLocks/>
          </p:cNvCxnSpPr>
          <p:nvPr/>
        </p:nvCxnSpPr>
        <p:spPr>
          <a:xfrm>
            <a:off x="9006325" y="2704529"/>
            <a:ext cx="0" cy="402475"/>
          </a:xfrm>
          <a:prstGeom prst="straightConnector1">
            <a:avLst/>
          </a:prstGeom>
          <a:noFill/>
          <a:ln w="12700" cap="flat" cmpd="sng" algn="ctr">
            <a:solidFill>
              <a:srgbClr val="CC0099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2F15AC8-B454-F4A9-49A3-87D3976AAE94}"/>
              </a:ext>
            </a:extLst>
          </p:cNvPr>
          <p:cNvCxnSpPr>
            <a:cxnSpLocks/>
          </p:cNvCxnSpPr>
          <p:nvPr/>
        </p:nvCxnSpPr>
        <p:spPr>
          <a:xfrm>
            <a:off x="9365501" y="3365707"/>
            <a:ext cx="250922" cy="0"/>
          </a:xfrm>
          <a:prstGeom prst="straightConnector1">
            <a:avLst/>
          </a:prstGeom>
          <a:noFill/>
          <a:ln w="12700" cap="flat" cmpd="sng" algn="ctr">
            <a:solidFill>
              <a:srgbClr val="CC0099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C9BFB241-F46A-3CC1-80A3-6DEB190185D9}"/>
              </a:ext>
            </a:extLst>
          </p:cNvPr>
          <p:cNvSpPr/>
          <p:nvPr/>
        </p:nvSpPr>
        <p:spPr>
          <a:xfrm>
            <a:off x="5983193" y="2736755"/>
            <a:ext cx="347563" cy="241111"/>
          </a:xfrm>
          <a:prstGeom prst="ellipse">
            <a:avLst/>
          </a:prstGeom>
          <a:solidFill>
            <a:srgbClr val="FFCC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811B6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8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CB86F12-1B7A-1319-79EC-567B8628832D}"/>
              </a:ext>
            </a:extLst>
          </p:cNvPr>
          <p:cNvSpPr/>
          <p:nvPr/>
        </p:nvSpPr>
        <p:spPr>
          <a:xfrm>
            <a:off x="8832544" y="3611901"/>
            <a:ext cx="347563" cy="241111"/>
          </a:xfrm>
          <a:prstGeom prst="ellipse">
            <a:avLst/>
          </a:prstGeom>
          <a:solidFill>
            <a:srgbClr val="FFCC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811B6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EACF9FA-9DED-3FDA-AFA4-F03B09949C75}"/>
              </a:ext>
            </a:extLst>
          </p:cNvPr>
          <p:cNvSpPr/>
          <p:nvPr/>
        </p:nvSpPr>
        <p:spPr>
          <a:xfrm>
            <a:off x="10103932" y="3611900"/>
            <a:ext cx="347563" cy="241111"/>
          </a:xfrm>
          <a:prstGeom prst="ellipse">
            <a:avLst/>
          </a:prstGeom>
          <a:solidFill>
            <a:srgbClr val="FFCC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811B6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B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3DCFB81-55DA-1ECC-8FC3-839ADA6F2ADE}"/>
              </a:ext>
            </a:extLst>
          </p:cNvPr>
          <p:cNvSpPr/>
          <p:nvPr/>
        </p:nvSpPr>
        <p:spPr>
          <a:xfrm>
            <a:off x="11473188" y="3611900"/>
            <a:ext cx="347563" cy="241111"/>
          </a:xfrm>
          <a:prstGeom prst="ellipse">
            <a:avLst/>
          </a:prstGeom>
          <a:solidFill>
            <a:srgbClr val="FFCC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811B6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94992A1-B075-2FE3-CF2F-6CD9976017A3}"/>
              </a:ext>
            </a:extLst>
          </p:cNvPr>
          <p:cNvCxnSpPr>
            <a:cxnSpLocks/>
          </p:cNvCxnSpPr>
          <p:nvPr/>
        </p:nvCxnSpPr>
        <p:spPr>
          <a:xfrm flipH="1">
            <a:off x="5809061" y="2618744"/>
            <a:ext cx="736604" cy="0"/>
          </a:xfrm>
          <a:prstGeom prst="straightConnector1">
            <a:avLst/>
          </a:prstGeom>
          <a:noFill/>
          <a:ln w="12700" cap="flat" cmpd="sng" algn="ctr">
            <a:solidFill>
              <a:srgbClr val="CC0099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172E069-EFCA-ED7D-34B7-18EDC9E72885}"/>
              </a:ext>
            </a:extLst>
          </p:cNvPr>
          <p:cNvCxnSpPr>
            <a:cxnSpLocks/>
          </p:cNvCxnSpPr>
          <p:nvPr/>
        </p:nvCxnSpPr>
        <p:spPr>
          <a:xfrm flipV="1">
            <a:off x="10778545" y="3388423"/>
            <a:ext cx="299122" cy="5198"/>
          </a:xfrm>
          <a:prstGeom prst="straightConnector1">
            <a:avLst/>
          </a:prstGeom>
          <a:noFill/>
          <a:ln w="12700" cap="flat" cmpd="sng" algn="ctr">
            <a:solidFill>
              <a:srgbClr val="CC0099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358266A1-D087-BFA0-E6F8-8E17C334B033}"/>
              </a:ext>
            </a:extLst>
          </p:cNvPr>
          <p:cNvSpPr/>
          <p:nvPr/>
        </p:nvSpPr>
        <p:spPr>
          <a:xfrm>
            <a:off x="7459643" y="4231366"/>
            <a:ext cx="4636008" cy="2105119"/>
          </a:xfrm>
          <a:prstGeom prst="rect">
            <a:avLst/>
          </a:prstGeom>
          <a:solidFill>
            <a:srgbClr val="FFFFFF">
              <a:lumMod val="95000"/>
            </a:srgb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Validation of the approach – Proof of concept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Created synthetic test data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Reference data setup (Org, Producer) – MDM, CRM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Used Playwright to structure the payload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Ingest data into Guidewire API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Bind and Issue &gt; Billing Centre &gt; CDA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Data successful loaded in Snowflake for finance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Reconciliation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Confluent control center, Datadog, S3 bucket, Snowflake dashboard to reconcile record counts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4B067A-C11E-3DF1-8B3E-DB36A01CBB27}"/>
              </a:ext>
            </a:extLst>
          </p:cNvPr>
          <p:cNvSpPr txBox="1"/>
          <p:nvPr/>
        </p:nvSpPr>
        <p:spPr>
          <a:xfrm>
            <a:off x="294535" y="816918"/>
            <a:ext cx="2183489" cy="309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811B6F"/>
                </a:solidFill>
                <a:effectLst/>
                <a:uLnTx/>
                <a:uFillTx/>
              </a:rPr>
              <a:t>Key Principles </a:t>
            </a:r>
            <a:endParaRPr kumimoji="0" lang="en-GB" sz="1400" b="1" i="0" u="none" strike="noStrike" kern="0" cap="none" spc="0" normalizeH="0" baseline="0" noProof="0" err="1">
              <a:ln>
                <a:noFill/>
              </a:ln>
              <a:solidFill>
                <a:srgbClr val="811B6F"/>
              </a:solidFill>
              <a:effectLst/>
              <a:uLnTx/>
              <a:uFillTx/>
            </a:endParaRPr>
          </a:p>
        </p:txBody>
      </p:sp>
      <p:sp>
        <p:nvSpPr>
          <p:cNvPr id="39" name="Flowchart: Magnetic Disk 38">
            <a:extLst>
              <a:ext uri="{FF2B5EF4-FFF2-40B4-BE49-F238E27FC236}">
                <a16:creationId xmlns:a16="http://schemas.microsoft.com/office/drawing/2014/main" id="{EFE2D5E2-4EB0-87BA-2260-AF251E7228CD}"/>
              </a:ext>
            </a:extLst>
          </p:cNvPr>
          <p:cNvSpPr/>
          <p:nvPr/>
        </p:nvSpPr>
        <p:spPr>
          <a:xfrm>
            <a:off x="2644460" y="2094448"/>
            <a:ext cx="533240" cy="671272"/>
          </a:xfrm>
          <a:prstGeom prst="flowChartMagneticDisk">
            <a:avLst/>
          </a:prstGeom>
          <a:solidFill>
            <a:srgbClr val="811B6F"/>
          </a:solidFill>
          <a:ln w="9525" cap="flat" cmpd="sng" algn="ctr">
            <a:solidFill>
              <a:srgbClr val="FFCCF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2C30E84-39B2-812F-CCC4-5C286E0DE533}"/>
              </a:ext>
            </a:extLst>
          </p:cNvPr>
          <p:cNvSpPr txBox="1"/>
          <p:nvPr/>
        </p:nvSpPr>
        <p:spPr>
          <a:xfrm>
            <a:off x="3162969" y="2264316"/>
            <a:ext cx="931509" cy="579262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811B6F"/>
                </a:solidFill>
                <a:effectLst/>
                <a:uLnTx/>
                <a:uFillTx/>
              </a:rPr>
              <a:t>Amazon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811B6F"/>
                </a:solidFill>
                <a:effectLst/>
                <a:uLnTx/>
                <a:uFillTx/>
              </a:rPr>
              <a:t>DynamoDB or similar</a:t>
            </a:r>
            <a:endParaRPr kumimoji="0" lang="en-GB" sz="1050" b="0" i="0" u="none" strike="noStrike" kern="0" cap="none" spc="0" normalizeH="0" baseline="0" noProof="0" err="1">
              <a:ln>
                <a:noFill/>
              </a:ln>
              <a:solidFill>
                <a:srgbClr val="811B6F"/>
              </a:solidFill>
              <a:effectLst/>
              <a:uLnTx/>
              <a:uFillTx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37F3A5-B401-5D7F-6AFC-DAF807536787}"/>
              </a:ext>
            </a:extLst>
          </p:cNvPr>
          <p:cNvSpPr txBox="1"/>
          <p:nvPr/>
        </p:nvSpPr>
        <p:spPr>
          <a:xfrm>
            <a:off x="1843194" y="816918"/>
            <a:ext cx="409636" cy="371513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GB">
                <a:solidFill>
                  <a:srgbClr val="811B6F"/>
                </a:solidFill>
                <a:latin typeface="Wingdings" panose="05000000000000000000" pitchFamily="2" charset="2"/>
              </a:rPr>
              <a:t>ü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B5A2A4-F39E-F1AE-D07B-5D53BE6293F9}"/>
              </a:ext>
            </a:extLst>
          </p:cNvPr>
          <p:cNvSpPr txBox="1"/>
          <p:nvPr/>
        </p:nvSpPr>
        <p:spPr>
          <a:xfrm>
            <a:off x="2095207" y="722231"/>
            <a:ext cx="2683192" cy="525401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811B6F"/>
                </a:solidFill>
                <a:effectLst/>
                <a:uLnTx/>
                <a:uFillTx/>
              </a:rPr>
              <a:t>Data ingestion at source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811B6F"/>
                </a:solidFill>
                <a:effectLst/>
                <a:uLnTx/>
                <a:uFillTx/>
              </a:rPr>
              <a:t>Aligned to event driven arch.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77943CB-A5E0-C68E-32EC-3D91851BB780}"/>
              </a:ext>
            </a:extLst>
          </p:cNvPr>
          <p:cNvSpPr txBox="1"/>
          <p:nvPr/>
        </p:nvSpPr>
        <p:spPr>
          <a:xfrm>
            <a:off x="4621058" y="804554"/>
            <a:ext cx="409636" cy="371513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GB">
                <a:solidFill>
                  <a:srgbClr val="811B6F"/>
                </a:solidFill>
                <a:latin typeface="Wingdings" panose="05000000000000000000" pitchFamily="2" charset="2"/>
              </a:rPr>
              <a:t>ü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E10826-82EB-5E01-A358-94DC95799DEE}"/>
              </a:ext>
            </a:extLst>
          </p:cNvPr>
          <p:cNvSpPr txBox="1"/>
          <p:nvPr/>
        </p:nvSpPr>
        <p:spPr>
          <a:xfrm>
            <a:off x="4878616" y="827505"/>
            <a:ext cx="2042900" cy="309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811B6F"/>
                </a:solidFill>
                <a:effectLst/>
                <a:uLnTx/>
                <a:uFillTx/>
              </a:rPr>
              <a:t>Synthetic test data</a:t>
            </a:r>
            <a:endParaRPr kumimoji="0" lang="en-GB" sz="1400" b="0" i="0" u="none" strike="noStrike" kern="0" cap="none" spc="0" normalizeH="0" baseline="0" noProof="0" err="1">
              <a:ln>
                <a:noFill/>
              </a:ln>
              <a:solidFill>
                <a:srgbClr val="811B6F"/>
              </a:solidFill>
              <a:effectLst/>
              <a:uLnTx/>
              <a:uFillTx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E8ECEB-C3CA-81EF-4C92-35A9E12C4ACF}"/>
              </a:ext>
            </a:extLst>
          </p:cNvPr>
          <p:cNvSpPr txBox="1"/>
          <p:nvPr/>
        </p:nvSpPr>
        <p:spPr>
          <a:xfrm>
            <a:off x="6723512" y="838549"/>
            <a:ext cx="409636" cy="371513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GB">
                <a:solidFill>
                  <a:srgbClr val="811B6F"/>
                </a:solidFill>
                <a:latin typeface="Wingdings" panose="05000000000000000000" pitchFamily="2" charset="2"/>
              </a:rPr>
              <a:t>ü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18C0B7-5B5B-D6FF-BFFD-73FFF443FA53}"/>
              </a:ext>
            </a:extLst>
          </p:cNvPr>
          <p:cNvSpPr txBox="1"/>
          <p:nvPr/>
        </p:nvSpPr>
        <p:spPr>
          <a:xfrm>
            <a:off x="6972423" y="839380"/>
            <a:ext cx="1249159" cy="309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811B6F"/>
                </a:solidFill>
                <a:effectLst/>
                <a:uLnTx/>
                <a:uFillTx/>
              </a:rPr>
              <a:t>Automation</a:t>
            </a:r>
            <a:endParaRPr kumimoji="0" lang="en-GB" sz="1400" b="0" i="0" u="none" strike="noStrike" kern="0" cap="none" spc="0" normalizeH="0" baseline="0" noProof="0" err="1">
              <a:ln>
                <a:noFill/>
              </a:ln>
              <a:solidFill>
                <a:srgbClr val="811B6F"/>
              </a:solidFill>
              <a:effectLst/>
              <a:uLnTx/>
              <a:uFillTx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E66641-DBD2-72B3-AD29-675AC441AE73}"/>
              </a:ext>
            </a:extLst>
          </p:cNvPr>
          <p:cNvSpPr txBox="1"/>
          <p:nvPr/>
        </p:nvSpPr>
        <p:spPr>
          <a:xfrm>
            <a:off x="10143988" y="838549"/>
            <a:ext cx="409636" cy="371513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GB">
                <a:solidFill>
                  <a:srgbClr val="811B6F"/>
                </a:solidFill>
                <a:latin typeface="Wingdings" panose="05000000000000000000" pitchFamily="2" charset="2"/>
              </a:rPr>
              <a:t>ü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F0FAC6F-BF80-314A-D7A9-75A19CC6E438}"/>
              </a:ext>
            </a:extLst>
          </p:cNvPr>
          <p:cNvSpPr txBox="1"/>
          <p:nvPr/>
        </p:nvSpPr>
        <p:spPr>
          <a:xfrm>
            <a:off x="10392899" y="830875"/>
            <a:ext cx="1520195" cy="309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811B6F"/>
                </a:solidFill>
                <a:effectLst/>
                <a:uLnTx/>
                <a:uFillTx/>
              </a:rPr>
              <a:t>Reconciliation</a:t>
            </a:r>
            <a:endParaRPr kumimoji="0" lang="en-GB" sz="1400" b="0" i="0" u="none" strike="noStrike" kern="0" cap="none" spc="0" normalizeH="0" baseline="0" noProof="0" err="1">
              <a:ln>
                <a:noFill/>
              </a:ln>
              <a:solidFill>
                <a:srgbClr val="811B6F"/>
              </a:solidFill>
              <a:effectLst/>
              <a:uLnTx/>
              <a:uFillTx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1F836F7-878C-F154-B728-0EB3A2231F23}"/>
              </a:ext>
            </a:extLst>
          </p:cNvPr>
          <p:cNvSpPr txBox="1"/>
          <p:nvPr/>
        </p:nvSpPr>
        <p:spPr>
          <a:xfrm>
            <a:off x="8326378" y="838549"/>
            <a:ext cx="409636" cy="371513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GB">
                <a:solidFill>
                  <a:srgbClr val="811B6F"/>
                </a:solidFill>
                <a:latin typeface="Wingdings" panose="05000000000000000000" pitchFamily="2" charset="2"/>
              </a:rPr>
              <a:t>ü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BADB067-DE4B-D422-26C5-A84384F74E25}"/>
              </a:ext>
            </a:extLst>
          </p:cNvPr>
          <p:cNvSpPr txBox="1"/>
          <p:nvPr/>
        </p:nvSpPr>
        <p:spPr>
          <a:xfrm>
            <a:off x="8575289" y="839380"/>
            <a:ext cx="1773517" cy="309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811B6F"/>
                </a:solidFill>
                <a:effectLst/>
                <a:uLnTx/>
                <a:uFillTx/>
              </a:rPr>
              <a:t>Data integrity</a:t>
            </a:r>
            <a:endParaRPr kumimoji="0" lang="en-GB" sz="1400" b="0" i="0" u="none" strike="noStrike" kern="0" cap="none" spc="0" normalizeH="0" baseline="0" noProof="0" err="1">
              <a:ln>
                <a:noFill/>
              </a:ln>
              <a:solidFill>
                <a:srgbClr val="811B6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14768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9C9A1-DEC5-C390-25FB-062585E85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5888-FED7-45BF-DD41-FB64501E0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2" y="187450"/>
            <a:ext cx="10138652" cy="792163"/>
          </a:xfrm>
        </p:spPr>
        <p:txBody>
          <a:bodyPr/>
          <a:lstStyle/>
          <a:p>
            <a:r>
              <a:rPr lang="en-GB">
                <a:solidFill>
                  <a:srgbClr val="811B6F"/>
                </a:solidFill>
              </a:rPr>
              <a:t>Roadmap and Commercials</a:t>
            </a:r>
            <a:endParaRPr lang="en-US"/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E603E2D2-2988-EC09-2BC9-6A20670CC226}"/>
              </a:ext>
            </a:extLst>
          </p:cNvPr>
          <p:cNvSpPr/>
          <p:nvPr/>
        </p:nvSpPr>
        <p:spPr>
          <a:xfrm>
            <a:off x="251266" y="1336230"/>
            <a:ext cx="2493818" cy="794327"/>
          </a:xfrm>
          <a:prstGeom prst="homePlate">
            <a:avLst/>
          </a:prstGeom>
          <a:solidFill>
            <a:srgbClr val="811B6F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Due diligence, GPAS base setup and POC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1B96FC-1757-3CD5-6645-9C1D276A8370}"/>
              </a:ext>
            </a:extLst>
          </p:cNvPr>
          <p:cNvSpPr txBox="1"/>
          <p:nvPr/>
        </p:nvSpPr>
        <p:spPr>
          <a:xfrm>
            <a:off x="187766" y="2307488"/>
            <a:ext cx="2557318" cy="1864229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kern="0">
                <a:solidFill>
                  <a:srgbClr val="811B6F"/>
                </a:solidFill>
              </a:rPr>
              <a:t>Current State Analysis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kern="0">
                <a:solidFill>
                  <a:srgbClr val="811B6F"/>
                </a:solidFill>
              </a:rPr>
              <a:t>Reference Data Requirements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kern="0">
                <a:solidFill>
                  <a:srgbClr val="811B6F"/>
                </a:solidFill>
              </a:rPr>
              <a:t>Synthetic data creation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kern="0">
                <a:solidFill>
                  <a:srgbClr val="811B6F"/>
                </a:solidFill>
              </a:rPr>
              <a:t>Proof of Concept for data creation, orchestration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GB" sz="1200" kern="0">
              <a:solidFill>
                <a:srgbClr val="811B6F"/>
              </a:solidFill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GB" sz="1200" kern="0">
              <a:solidFill>
                <a:srgbClr val="811B6F"/>
              </a:solidFill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GB" sz="1100" kern="0">
              <a:solidFill>
                <a:srgbClr val="811B6F"/>
              </a:solidFill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1CA9C771-E90F-3F80-6711-F735CACD8354}"/>
              </a:ext>
            </a:extLst>
          </p:cNvPr>
          <p:cNvSpPr/>
          <p:nvPr/>
        </p:nvSpPr>
        <p:spPr>
          <a:xfrm>
            <a:off x="2939048" y="1300639"/>
            <a:ext cx="2493818" cy="794327"/>
          </a:xfrm>
          <a:prstGeom prst="homePlate">
            <a:avLst/>
          </a:prstGeom>
          <a:solidFill>
            <a:srgbClr val="811B6F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GPAS Implementation</a:t>
            </a:r>
          </a:p>
          <a:p>
            <a:r>
              <a:rPr lang="en-US" sz="1400">
                <a:solidFill>
                  <a:schemeClr val="bg1"/>
                </a:solidFill>
              </a:rPr>
              <a:t>And relevance to other Applications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44512037-B4C4-C12B-67FF-A8BCEB6D99F1}"/>
              </a:ext>
            </a:extLst>
          </p:cNvPr>
          <p:cNvSpPr/>
          <p:nvPr/>
        </p:nvSpPr>
        <p:spPr>
          <a:xfrm>
            <a:off x="5626830" y="1300638"/>
            <a:ext cx="2687782" cy="794327"/>
          </a:xfrm>
          <a:prstGeom prst="homePlate">
            <a:avLst/>
          </a:prstGeom>
          <a:solidFill>
            <a:srgbClr val="811B6F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GB" sz="1400">
                <a:solidFill>
                  <a:schemeClr val="bg1"/>
                </a:solidFill>
              </a:rPr>
              <a:t>Overall Beazley TDM Assessment </a:t>
            </a: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E7A233AB-C7FD-9E72-26B5-85570B876E8F}"/>
              </a:ext>
            </a:extLst>
          </p:cNvPr>
          <p:cNvSpPr/>
          <p:nvPr/>
        </p:nvSpPr>
        <p:spPr>
          <a:xfrm>
            <a:off x="8472000" y="1284540"/>
            <a:ext cx="2822780" cy="794327"/>
          </a:xfrm>
          <a:prstGeom prst="homePlate">
            <a:avLst/>
          </a:prstGeom>
          <a:solidFill>
            <a:srgbClr val="811B6F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Solution definition</a:t>
            </a:r>
          </a:p>
          <a:p>
            <a:r>
              <a:rPr lang="en-US" sz="1400">
                <a:solidFill>
                  <a:schemeClr val="bg1"/>
                </a:solidFill>
              </a:rPr>
              <a:t>Rollout approach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5E03FC-60B8-A80A-1C0E-0D3B5207E6AD}"/>
              </a:ext>
            </a:extLst>
          </p:cNvPr>
          <p:cNvSpPr txBox="1"/>
          <p:nvPr/>
        </p:nvSpPr>
        <p:spPr>
          <a:xfrm>
            <a:off x="2826191" y="2245532"/>
            <a:ext cx="2751282" cy="1694952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kern="0">
                <a:solidFill>
                  <a:srgbClr val="811B6F"/>
                </a:solidFill>
              </a:rPr>
              <a:t>Setup preparation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kern="0">
                <a:solidFill>
                  <a:srgbClr val="811B6F"/>
                </a:solidFill>
              </a:rPr>
              <a:t>Reference Data implementation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kern="0">
                <a:solidFill>
                  <a:srgbClr val="811B6F"/>
                </a:solidFill>
              </a:rPr>
              <a:t>Synthetic data implementation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kern="0">
                <a:solidFill>
                  <a:srgbClr val="811B6F"/>
                </a:solidFill>
              </a:rPr>
              <a:t>Data Obfuscation implementation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kern="0">
                <a:solidFill>
                  <a:srgbClr val="811B6F"/>
                </a:solidFill>
              </a:rPr>
              <a:t>End to end integration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kern="0">
                <a:solidFill>
                  <a:srgbClr val="811B6F"/>
                </a:solidFill>
              </a:rPr>
              <a:t>Verification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kern="0">
                <a:solidFill>
                  <a:srgbClr val="811B6F"/>
                </a:solidFill>
              </a:rPr>
              <a:t>Data governance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2C183A-2D30-C65A-48B4-FE3F5E5BBD3C}"/>
              </a:ext>
            </a:extLst>
          </p:cNvPr>
          <p:cNvSpPr txBox="1"/>
          <p:nvPr/>
        </p:nvSpPr>
        <p:spPr>
          <a:xfrm>
            <a:off x="5561598" y="2534975"/>
            <a:ext cx="2557318" cy="633123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GB" sz="1200" kern="0">
              <a:solidFill>
                <a:srgbClr val="811B6F"/>
              </a:solidFill>
            </a:endParaRP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GB" sz="1200" kern="0">
              <a:solidFill>
                <a:srgbClr val="811B6F"/>
              </a:solidFill>
            </a:endParaRP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GB" sz="1100" kern="0">
              <a:solidFill>
                <a:srgbClr val="811B6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0BC42F-BDC5-600D-33D0-D24D1736CA6D}"/>
              </a:ext>
            </a:extLst>
          </p:cNvPr>
          <p:cNvSpPr txBox="1"/>
          <p:nvPr/>
        </p:nvSpPr>
        <p:spPr>
          <a:xfrm>
            <a:off x="8472000" y="2183912"/>
            <a:ext cx="2557318" cy="192578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200" kern="0">
                <a:solidFill>
                  <a:srgbClr val="811B6F"/>
                </a:solidFill>
              </a:rPr>
              <a:t>Document review and approve the TDM Solution 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GB" sz="1200" kern="0">
              <a:solidFill>
                <a:srgbClr val="811B6F"/>
              </a:solidFill>
            </a:endParaRP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200" kern="0">
                <a:solidFill>
                  <a:srgbClr val="811B6F"/>
                </a:solidFill>
              </a:rPr>
              <a:t>Conduct sessions, provide documents to value streams about the solution for the respective teams to implement in their area</a:t>
            </a:r>
          </a:p>
          <a:p>
            <a:pPr>
              <a:spcBef>
                <a:spcPct val="0"/>
              </a:spcBef>
            </a:pPr>
            <a:endParaRPr lang="en-GB" sz="1200" kern="0">
              <a:solidFill>
                <a:srgbClr val="811B6F"/>
              </a:solidFill>
            </a:endParaRP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GB" sz="1100" kern="0">
              <a:solidFill>
                <a:srgbClr val="811B6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A89F19-1E94-1027-9C2E-590EEF1DEED6}"/>
              </a:ext>
            </a:extLst>
          </p:cNvPr>
          <p:cNvSpPr txBox="1"/>
          <p:nvPr/>
        </p:nvSpPr>
        <p:spPr>
          <a:xfrm>
            <a:off x="5577473" y="2156480"/>
            <a:ext cx="2557318" cy="2095062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kern="0">
                <a:solidFill>
                  <a:srgbClr val="811B6F"/>
                </a:solidFill>
              </a:rPr>
              <a:t>Adaption of the process based on learning from GPAS implementation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kern="0">
                <a:solidFill>
                  <a:srgbClr val="811B6F"/>
                </a:solidFill>
              </a:rPr>
              <a:t>Holistic solution for the wider landscape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kern="0">
                <a:solidFill>
                  <a:srgbClr val="811B6F"/>
                </a:solidFill>
              </a:rPr>
              <a:t>Baseline the process, use of tools, TDM governance, Ownership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kern="0">
                <a:solidFill>
                  <a:srgbClr val="811B6F"/>
                </a:solidFill>
              </a:rPr>
              <a:t>Review (R5, R6) requirements and remediation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1EAE22-05E3-A246-B994-29CC9886DF57}"/>
              </a:ext>
            </a:extLst>
          </p:cNvPr>
          <p:cNvSpPr txBox="1"/>
          <p:nvPr/>
        </p:nvSpPr>
        <p:spPr>
          <a:xfrm>
            <a:off x="1225296" y="4606391"/>
            <a:ext cx="9281160" cy="1625028"/>
          </a:xfrm>
          <a:prstGeom prst="rect">
            <a:avLst/>
          </a:prstGeom>
          <a:solidFill>
            <a:srgbClr val="FFE7FF"/>
          </a:solidFill>
        </p:spPr>
        <p:txBody>
          <a:bodyPr vert="horz" wrap="square" lIns="90000" tIns="46800" rIns="90000" bIns="46800" rtlCol="0" anchor="ctr">
            <a:noAutofit/>
          </a:bodyPr>
          <a:lstStyle/>
          <a:p>
            <a:pPr marL="285750" indent="-28575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811B6F"/>
                </a:solidFill>
              </a:rPr>
              <a:t>Test Architect on T&amp;M basis for the planned work / duration: £138,580</a:t>
            </a:r>
          </a:p>
          <a:p>
            <a:pPr marL="285750" indent="-285750" algn="l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400">
              <a:solidFill>
                <a:srgbClr val="811B6F"/>
              </a:solidFill>
            </a:endParaRPr>
          </a:p>
          <a:p>
            <a:pPr marL="285750" indent="-28575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811B6F"/>
                </a:solidFill>
              </a:rPr>
              <a:t>Approx. 30 – 40% effort in total could be to provide GPAS test data solution</a:t>
            </a:r>
          </a:p>
          <a:p>
            <a:pPr marL="285750" indent="-285750" algn="l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400">
              <a:solidFill>
                <a:srgbClr val="811B6F"/>
              </a:solidFill>
            </a:endParaRPr>
          </a:p>
          <a:p>
            <a:pPr marL="285750" indent="-28575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400">
                <a:solidFill>
                  <a:srgbClr val="811B6F"/>
                </a:solidFill>
              </a:rPr>
              <a:t>After review and analysis of the Beazley needs (R5, R6) requirements, there may be need to get an offshore engineer to work with test architect for a duration on T&amp;M basis and will be priced separately.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84D9CDD-A618-1806-6631-5B71FCD4DDCE}"/>
              </a:ext>
            </a:extLst>
          </p:cNvPr>
          <p:cNvSpPr/>
          <p:nvPr/>
        </p:nvSpPr>
        <p:spPr>
          <a:xfrm>
            <a:off x="2939048" y="685800"/>
            <a:ext cx="8244064" cy="502359"/>
          </a:xfrm>
          <a:prstGeom prst="rightArrow">
            <a:avLst/>
          </a:prstGeom>
          <a:solidFill>
            <a:srgbClr val="FFDA8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>
                <a:solidFill>
                  <a:srgbClr val="811B6F"/>
                </a:solidFill>
              </a:rPr>
              <a:t>4 months projected</a:t>
            </a:r>
            <a:endParaRPr lang="en-GB" sz="1400">
              <a:solidFill>
                <a:srgbClr val="811B6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CA52B8-0C6F-F448-8733-E762A0926463}"/>
              </a:ext>
            </a:extLst>
          </p:cNvPr>
          <p:cNvSpPr/>
          <p:nvPr/>
        </p:nvSpPr>
        <p:spPr>
          <a:xfrm>
            <a:off x="251266" y="813658"/>
            <a:ext cx="2493818" cy="24664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877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6697A-7AE7-1441-4F24-0B5AD5BF3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F0EA7338-411A-6466-3BCB-2B7BAB2D3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515" y="1920240"/>
            <a:ext cx="4193885" cy="997196"/>
          </a:xfrm>
        </p:spPr>
        <p:txBody>
          <a:bodyPr/>
          <a:lstStyle/>
          <a:p>
            <a:pPr>
              <a:defRPr/>
            </a:pPr>
            <a:r>
              <a:rPr lang="en-IN" sz="3600" b="1">
                <a:solidFill>
                  <a:srgbClr val="D13A8C"/>
                </a:solidFill>
                <a:ea typeface="Open Sans" panose="020B0606030504020204" pitchFamily="34" charset="0"/>
                <a:cs typeface="Segoe UI Light" panose="020B0502040204020203" pitchFamily="34" charset="0"/>
              </a:rPr>
              <a:t>Test Environment Management</a:t>
            </a:r>
            <a:endParaRPr lang="en-IN" sz="3600">
              <a:solidFill>
                <a:srgbClr val="DF169C"/>
              </a:solidFill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DA3F6C-AF5B-0F6B-68CA-F380D64E4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9201" y="764704"/>
            <a:ext cx="10879922" cy="446449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9C1359-9B38-9637-EF6F-EF3DB394913B}"/>
              </a:ext>
            </a:extLst>
          </p:cNvPr>
          <p:cNvCxnSpPr/>
          <p:nvPr/>
        </p:nvCxnSpPr>
        <p:spPr>
          <a:xfrm>
            <a:off x="2520950" y="5943600"/>
            <a:ext cx="0" cy="41791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Beazley launches new private equity liability insurance product -  Reinsurance News">
            <a:extLst>
              <a:ext uri="{FF2B5EF4-FFF2-40B4-BE49-F238E27FC236}">
                <a16:creationId xmlns:a16="http://schemas.microsoft.com/office/drawing/2014/main" id="{C1818AB4-77F7-F349-C54F-0B15A22D30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74" b="21974"/>
          <a:stretch/>
        </p:blipFill>
        <p:spPr bwMode="auto">
          <a:xfrm>
            <a:off x="2679874" y="5977013"/>
            <a:ext cx="1224937" cy="38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2680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32ED6-BBAC-8076-5070-8385A6B72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A73B7-289D-A865-2A61-B98E02307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2" y="187450"/>
            <a:ext cx="10138652" cy="792163"/>
          </a:xfrm>
        </p:spPr>
        <p:txBody>
          <a:bodyPr/>
          <a:lstStyle/>
          <a:p>
            <a:r>
              <a:rPr lang="en-GB">
                <a:solidFill>
                  <a:srgbClr val="811B6F"/>
                </a:solidFill>
              </a:rPr>
              <a:t>GPAS Integration Test Environment Mapping</a:t>
            </a:r>
            <a:br>
              <a:rPr lang="en-GB">
                <a:solidFill>
                  <a:srgbClr val="811B6F"/>
                </a:solidFill>
              </a:rPr>
            </a:b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F06F22-C5D1-5228-C2E8-64B6E7F05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387291"/>
              </p:ext>
            </p:extLst>
          </p:nvPr>
        </p:nvGraphicFramePr>
        <p:xfrm>
          <a:off x="103022" y="983883"/>
          <a:ext cx="11789665" cy="5466806"/>
        </p:xfrm>
        <a:graphic>
          <a:graphicData uri="http://schemas.openxmlformats.org/drawingml/2006/table">
            <a:tbl>
              <a:tblPr/>
              <a:tblGrid>
                <a:gridCol w="2512162">
                  <a:extLst>
                    <a:ext uri="{9D8B030D-6E8A-4147-A177-3AD203B41FA5}">
                      <a16:colId xmlns:a16="http://schemas.microsoft.com/office/drawing/2014/main" val="2150726568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855764655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1044546484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2921341759"/>
                    </a:ext>
                  </a:extLst>
                </a:gridCol>
                <a:gridCol w="2117751">
                  <a:extLst>
                    <a:ext uri="{9D8B030D-6E8A-4147-A177-3AD203B41FA5}">
                      <a16:colId xmlns:a16="http://schemas.microsoft.com/office/drawing/2014/main" val="2983846079"/>
                    </a:ext>
                  </a:extLst>
                </a:gridCol>
              </a:tblGrid>
              <a:tr h="24154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200" b="1">
                          <a:solidFill>
                            <a:schemeClr val="bg1"/>
                          </a:solidFill>
                          <a:effectLst/>
                        </a:rPr>
                        <a:t>Environment</a:t>
                      </a:r>
                      <a:endParaRPr lang="en-GB" sz="1200" b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1B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200" b="1">
                          <a:solidFill>
                            <a:schemeClr val="bg1"/>
                          </a:solidFill>
                          <a:effectLst/>
                        </a:rPr>
                        <a:t>Sprint Test</a:t>
                      </a:r>
                      <a:endParaRPr lang="en-GB" sz="1200" b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1B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200" b="1">
                          <a:solidFill>
                            <a:schemeClr val="bg1"/>
                          </a:solidFill>
                          <a:effectLst/>
                        </a:rPr>
                        <a:t>E2E/SIT</a:t>
                      </a:r>
                      <a:endParaRPr lang="en-GB" sz="1200" b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1B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200" b="1">
                          <a:solidFill>
                            <a:schemeClr val="bg1"/>
                          </a:solidFill>
                          <a:effectLst/>
                        </a:rPr>
                        <a:t>NFT, PERFFORMANCE</a:t>
                      </a:r>
                      <a:endParaRPr lang="en-GB" sz="1200" b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1B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200" b="1">
                          <a:solidFill>
                            <a:schemeClr val="bg1"/>
                          </a:solidFill>
                          <a:effectLst/>
                        </a:rPr>
                        <a:t>UAT</a:t>
                      </a:r>
                      <a:endParaRPr lang="en-GB" sz="1200" b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1B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613748"/>
                  </a:ext>
                </a:extLst>
              </a:tr>
              <a:tr h="25338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200" b="1">
                          <a:effectLst/>
                        </a:rPr>
                        <a:t>Guidewire – PC/BC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✅SIT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 TEST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✅NFT   |  ✅Performance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✅UAT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120288"/>
                  </a:ext>
                </a:extLst>
              </a:tr>
              <a:tr h="25338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200" b="1">
                          <a:effectLst/>
                        </a:rPr>
                        <a:t>Insight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200">
                          <a:effectLst/>
                        </a:rPr>
                        <a:t>✅ INT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200">
                          <a:effectLst/>
                        </a:rPr>
                        <a:t>✅ UAT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2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348139"/>
                  </a:ext>
                </a:extLst>
              </a:tr>
              <a:tr h="249030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GB" sz="12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UWWB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✅Dev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 TST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144123"/>
                  </a:ext>
                </a:extLst>
              </a:tr>
              <a:tr h="249030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MDA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✅Dev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 TST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542693"/>
                  </a:ext>
                </a:extLst>
              </a:tr>
              <a:tr h="249030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GB" sz="12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CRM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200">
                          <a:effectLst/>
                        </a:rPr>
                        <a:t>✅ Dev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 SIT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 UAT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624604"/>
                  </a:ext>
                </a:extLst>
              </a:tr>
              <a:tr h="283936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GB" sz="12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MDM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✅Dev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 TST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182325"/>
                  </a:ext>
                </a:extLst>
              </a:tr>
              <a:tr h="249030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GB" sz="12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Agresso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✅Dev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 UAT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016616"/>
                  </a:ext>
                </a:extLst>
              </a:tr>
              <a:tr h="249030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GB" sz="12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HX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NA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 TST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857854"/>
                  </a:ext>
                </a:extLst>
              </a:tr>
              <a:tr h="249030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GB" sz="12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GRS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NA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 TST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115252"/>
                  </a:ext>
                </a:extLst>
              </a:tr>
              <a:tr h="249030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GB" sz="12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PowerBI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Tbc</a:t>
                      </a:r>
                      <a:endParaRPr lang="en-GB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 TST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 TST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777068"/>
                  </a:ext>
                </a:extLst>
              </a:tr>
              <a:tr h="249030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GB" sz="12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Appian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Tbc</a:t>
                      </a:r>
                      <a:endParaRPr lang="en-GB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Tbc</a:t>
                      </a:r>
                      <a:endParaRPr lang="en-GB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Tbc</a:t>
                      </a:r>
                      <a:endParaRPr lang="en-GB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Tbc</a:t>
                      </a:r>
                      <a:endParaRPr lang="en-GB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590865"/>
                  </a:ext>
                </a:extLst>
              </a:tr>
              <a:tr h="249030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GB" sz="12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Agresso-Finance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✅Dev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 TST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330099"/>
                  </a:ext>
                </a:extLst>
              </a:tr>
              <a:tr h="249030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 Combined</a:t>
                      </a:r>
                      <a:endParaRPr lang="en-GB" sz="1200" b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✅Dev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 TST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85042"/>
                  </a:ext>
                </a:extLst>
              </a:tr>
              <a:tr h="249030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Finance</a:t>
                      </a:r>
                      <a:endParaRPr lang="en-GB" sz="1200" b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✅Dev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 TST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93314"/>
                  </a:ext>
                </a:extLst>
              </a:tr>
              <a:tr h="249030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Account Receivable</a:t>
                      </a:r>
                      <a:endParaRPr lang="en-GB" sz="1200" b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✅Dev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 TST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136306"/>
                  </a:ext>
                </a:extLst>
              </a:tr>
              <a:tr h="249030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Cash Data Product</a:t>
                      </a:r>
                      <a:endParaRPr lang="en-GB" sz="1200" b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✅Dev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effectLst/>
                        </a:rPr>
                        <a:t>✅ TST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❌</a:t>
                      </a:r>
                      <a:endParaRPr lang="en-GB" sz="120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972989"/>
                  </a:ext>
                </a:extLst>
              </a:tr>
              <a:tr h="249030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Beazley Intelligence</a:t>
                      </a:r>
                      <a:endParaRPr lang="en-GB" sz="1200" b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Tbc</a:t>
                      </a:r>
                      <a:endParaRPr lang="en-GB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Tbc</a:t>
                      </a:r>
                      <a:endParaRPr lang="en-GB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Tbc</a:t>
                      </a:r>
                      <a:endParaRPr lang="en-GB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Tbc</a:t>
                      </a:r>
                      <a:endParaRPr lang="en-GB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79032"/>
                  </a:ext>
                </a:extLst>
              </a:tr>
              <a:tr h="249030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 Retrieve</a:t>
                      </a:r>
                      <a:endParaRPr lang="en-GB" sz="1200" b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Tbc</a:t>
                      </a:r>
                      <a:endParaRPr lang="en-GB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Tbc</a:t>
                      </a:r>
                      <a:endParaRPr lang="en-GB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Tbc</a:t>
                      </a:r>
                      <a:endParaRPr lang="en-GB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Tbc</a:t>
                      </a:r>
                      <a:endParaRPr lang="en-GB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33877"/>
                  </a:ext>
                </a:extLst>
              </a:tr>
              <a:tr h="249030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FX Service</a:t>
                      </a:r>
                      <a:endParaRPr lang="en-GB" sz="1200" b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Tbc</a:t>
                      </a:r>
                      <a:endParaRPr lang="en-GB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Tbc</a:t>
                      </a:r>
                      <a:endParaRPr lang="en-GB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Tbc</a:t>
                      </a:r>
                      <a:endParaRPr lang="en-GB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Ubuntu"/>
                          <a:ea typeface="+mn-ea"/>
                          <a:cs typeface="+mn-cs"/>
                        </a:rPr>
                        <a:t>Tbc</a:t>
                      </a:r>
                      <a:endParaRPr lang="en-GB" sz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22895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E04B172-C1FE-5A8B-1850-D96D9D3F02E3}"/>
              </a:ext>
            </a:extLst>
          </p:cNvPr>
          <p:cNvSpPr txBox="1"/>
          <p:nvPr/>
        </p:nvSpPr>
        <p:spPr>
          <a:xfrm>
            <a:off x="103022" y="576615"/>
            <a:ext cx="3730752" cy="309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400" b="1"/>
              <a:t>Work in progress</a:t>
            </a:r>
            <a:endParaRPr lang="en-GB" sz="1400" b="1" err="1"/>
          </a:p>
        </p:txBody>
      </p:sp>
    </p:spTree>
    <p:extLst>
      <p:ext uri="{BB962C8B-B14F-4D97-AF65-F5344CB8AC3E}">
        <p14:creationId xmlns:p14="http://schemas.microsoft.com/office/powerpoint/2010/main" val="56258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DDDD7-D2F7-DB5C-69AA-3A254CF03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5FF14-0E5E-8BF6-2B3C-1DD631631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2" y="187450"/>
            <a:ext cx="10138652" cy="792163"/>
          </a:xfrm>
        </p:spPr>
        <p:txBody>
          <a:bodyPr/>
          <a:lstStyle/>
          <a:p>
            <a:r>
              <a:rPr lang="en-GB">
                <a:solidFill>
                  <a:srgbClr val="811B6F"/>
                </a:solidFill>
              </a:rPr>
              <a:t>Test Environment Solution To Address Beazley Requirements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6A2666-F01E-8879-3D3E-9A4C9872EE5B}"/>
              </a:ext>
            </a:extLst>
          </p:cNvPr>
          <p:cNvSpPr txBox="1"/>
          <p:nvPr/>
        </p:nvSpPr>
        <p:spPr>
          <a:xfrm>
            <a:off x="103022" y="981086"/>
            <a:ext cx="10869778" cy="489582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rgbClr val="811B6F"/>
                </a:solidFill>
              </a:rPr>
              <a:t>R5 - Coordinate environment usage and </a:t>
            </a:r>
            <a:r>
              <a:rPr lang="en-US" err="1">
                <a:solidFill>
                  <a:srgbClr val="811B6F"/>
                </a:solidFill>
              </a:rPr>
              <a:t>optimise</a:t>
            </a:r>
            <a:r>
              <a:rPr lang="en-US">
                <a:solidFill>
                  <a:srgbClr val="811B6F"/>
                </a:solidFill>
              </a:rPr>
              <a:t> costs but reinforcing environment management and lifecycle practices (FinOps)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rgbClr val="811B6F"/>
                </a:solidFill>
              </a:rPr>
              <a:t>R6 - Implement a test environment and data strategy, supporting the  provision and implementation of appropriate tooling to support test data needs.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rgbClr val="811B6F"/>
                </a:solidFill>
              </a:rPr>
              <a:t>R6 - Implement a test data strategy, extending Test Data Management capabilities across Beazley, including </a:t>
            </a:r>
            <a:r>
              <a:rPr lang="en-US" err="1">
                <a:solidFill>
                  <a:srgbClr val="811B6F"/>
                </a:solidFill>
              </a:rPr>
              <a:t>Modernisation</a:t>
            </a:r>
            <a:r>
              <a:rPr lang="en-US">
                <a:solidFill>
                  <a:srgbClr val="811B6F"/>
                </a:solidFill>
              </a:rPr>
              <a:t>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rgbClr val="811B6F"/>
                </a:solidFill>
              </a:rPr>
              <a:t>R6 - Implement a test environment strategy, extending Test Environment Management capabilities across Beazley, including </a:t>
            </a:r>
            <a:r>
              <a:rPr lang="en-US" err="1">
                <a:solidFill>
                  <a:srgbClr val="811B6F"/>
                </a:solidFill>
              </a:rPr>
              <a:t>Modernisation</a:t>
            </a:r>
            <a:r>
              <a:rPr lang="en-US">
                <a:solidFill>
                  <a:srgbClr val="811B6F"/>
                </a:solidFill>
              </a:rPr>
              <a:t>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rgbClr val="811B6F"/>
                </a:solidFill>
              </a:rPr>
              <a:t>R6 - Implement a test environment and data strategy and align new and existing test approaches.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rgbClr val="811B6F"/>
                </a:solidFill>
              </a:rPr>
              <a:t>R6 - Implement a test environment and data strategy, </a:t>
            </a:r>
            <a:r>
              <a:rPr lang="en-US" err="1">
                <a:solidFill>
                  <a:srgbClr val="811B6F"/>
                </a:solidFill>
              </a:rPr>
              <a:t>increasign</a:t>
            </a:r>
            <a:r>
              <a:rPr lang="en-US">
                <a:solidFill>
                  <a:srgbClr val="811B6F"/>
                </a:solidFill>
              </a:rPr>
              <a:t> awareness and understanding of data management policies and processes through both induction and training, along with supporting documentation, including governance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rgbClr val="811B6F"/>
                </a:solidFill>
              </a:rPr>
              <a:t>R6 - Implement a test environment and data strategy, ensuring alignment with IT security policies and standards and </a:t>
            </a:r>
            <a:r>
              <a:rPr lang="en-US" err="1">
                <a:solidFill>
                  <a:srgbClr val="811B6F"/>
                </a:solidFill>
              </a:rPr>
              <a:t>adherance</a:t>
            </a:r>
            <a:r>
              <a:rPr lang="en-US">
                <a:solidFill>
                  <a:srgbClr val="811B6F"/>
                </a:solidFill>
              </a:rPr>
              <a:t> to legal and regulatory compliance requirements.</a:t>
            </a:r>
            <a:endParaRPr lang="en-GB">
              <a:solidFill>
                <a:srgbClr val="811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13453"/>
      </p:ext>
    </p:extLst>
  </p:cSld>
  <p:clrMapOvr>
    <a:masterClrMapping/>
  </p:clrMapOvr>
</p:sld>
</file>

<file path=ppt/theme/theme1.xml><?xml version="1.0" encoding="utf-8"?>
<a:theme xmlns:a="http://schemas.openxmlformats.org/drawingml/2006/main" name="Capgemini_2024">
  <a:themeElements>
    <a:clrScheme name="Capgemini">
      <a:dk1>
        <a:sysClr val="windowText" lastClr="000000"/>
      </a:dk1>
      <a:lt1>
        <a:srgbClr val="FFFFFF"/>
      </a:lt1>
      <a:dk2>
        <a:srgbClr val="000000"/>
      </a:dk2>
      <a:lt2>
        <a:srgbClr val="ECECEC"/>
      </a:lt2>
      <a:accent1>
        <a:srgbClr val="0070AD"/>
      </a:accent1>
      <a:accent2>
        <a:srgbClr val="12ABDB"/>
      </a:accent2>
      <a:accent3>
        <a:srgbClr val="14596B"/>
      </a:accent3>
      <a:accent4>
        <a:srgbClr val="272936"/>
      </a:accent4>
      <a:accent5>
        <a:srgbClr val="0F878A"/>
      </a:accent5>
      <a:accent6>
        <a:srgbClr val="14596B"/>
      </a:accent6>
      <a:hlink>
        <a:srgbClr val="00929B"/>
      </a:hlink>
      <a:folHlink>
        <a:srgbClr val="00E6E3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/>
      </a:spPr>
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smtClean="0">
            <a:solidFill>
              <a:schemeClr val="bg1"/>
            </a:solidFill>
          </a:defRPr>
        </a:defPPr>
      </a:lstStyle>
      <a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0000" tIns="46800" rIns="90000" bIns="46800" rtlCol="0" anchor="ctr">
        <a:spAutoFit/>
      </a:bodyPr>
      <a:lstStyle>
        <a:defPPr algn="l">
          <a:spcBef>
            <a:spcPct val="0"/>
          </a:spcBef>
          <a:defRPr sz="1400" dirty="0" err="1" smtClean="0"/>
        </a:defPPr>
      </a:lstStyle>
    </a:txDef>
  </a:objectDefaults>
  <a:extraClrSchemeLst/>
  <a:custClrLst>
    <a:custClr name="Green A">
      <a:srgbClr val="57CF80"/>
    </a:custClr>
    <a:custClr name="Green B">
      <a:srgbClr val="33B569"/>
    </a:custClr>
    <a:custClr name="Green C">
      <a:srgbClr val="2EA657"/>
    </a:custClr>
    <a:custClr name="Green D">
      <a:srgbClr val="178C3D"/>
    </a:custClr>
    <a:custClr name="Green E">
      <a:srgbClr val="176036"/>
    </a:custClr>
    <a:custClr name="Teal A">
      <a:srgbClr val="00E6E3"/>
    </a:custClr>
    <a:custClr name="Teal B">
      <a:srgbClr val="00D5D0"/>
    </a:custClr>
    <a:custClr name="Teal C">
      <a:srgbClr val="00BFBF"/>
    </a:custClr>
    <a:custClr name="Teal D">
      <a:srgbClr val="00929B"/>
    </a:custClr>
    <a:custClr name="Teal E">
      <a:srgbClr val="007D74"/>
    </a:custClr>
    <a:custClr name="Peacock A">
      <a:srgbClr val="00E0CB"/>
    </a:custClr>
    <a:custClr name="Peacock B">
      <a:srgbClr val="00B2A2"/>
    </a:custClr>
    <a:custClr name="Peacock C">
      <a:srgbClr val="0F878A"/>
    </a:custClr>
    <a:custClr name="Peacock D">
      <a:srgbClr val="0F6A73"/>
    </a:custClr>
    <a:custClr name="Peacock E">
      <a:srgbClr val="0F434A"/>
    </a:custClr>
    <a:custClr name="Sapphire A">
      <a:srgbClr val="338091"/>
    </a:custClr>
    <a:custClr name="Sapphire B">
      <a:srgbClr val="336B7D"/>
    </a:custClr>
    <a:custClr name="Sapphire C">
      <a:srgbClr val="14596B"/>
    </a:custClr>
    <a:custClr name="Sapphire D">
      <a:srgbClr val="214554"/>
    </a:custClr>
    <a:custClr name="Sapphire E">
      <a:srgbClr val="173340"/>
    </a:custClr>
    <a:custClr name="Violet A">
      <a:srgbClr val="E557AD"/>
    </a:custClr>
    <a:custClr name="Violet B">
      <a:srgbClr val="D13A8C"/>
    </a:custClr>
    <a:custClr name="Violet C">
      <a:srgbClr val="BA2980"/>
    </a:custClr>
    <a:custClr name="Violet D">
      <a:srgbClr val="A12980"/>
    </a:custClr>
    <a:custClr name="Violet E">
      <a:srgbClr val="811B6F"/>
    </a:custClr>
    <a:custClr name="Yellow A">
      <a:srgbClr val="FFDA80"/>
    </a:custClr>
    <a:custClr name="Yellow B">
      <a:srgbClr val="FFD068"/>
    </a:custClr>
    <a:custClr name="Yellow C">
      <a:srgbClr val="FFB24A"/>
    </a:custClr>
    <a:custClr name="Yellow D">
      <a:srgbClr val="FF9C29"/>
    </a:custClr>
    <a:custClr name="Yellow E">
      <a:srgbClr val="FF8E12"/>
    </a:custClr>
    <a:custClr name="Velvet A">
      <a:srgbClr val="9E4780"/>
    </a:custClr>
    <a:custClr name="Velvet B">
      <a:srgbClr val="802B73"/>
    </a:custClr>
    <a:custClr name="Velvet C">
      <a:srgbClr val="750D5C"/>
    </a:custClr>
    <a:custClr name="Velvet D">
      <a:srgbClr val="590A42"/>
    </a:custClr>
    <a:custClr name="Velvet E">
      <a:srgbClr val="42142E"/>
    </a:custClr>
    <a:custClr name="Red A">
      <a:srgbClr val="FF5770"/>
    </a:custClr>
    <a:custClr name="Red B">
      <a:srgbClr val="FF455E"/>
    </a:custClr>
    <a:custClr name="Red C">
      <a:srgbClr val="FF304D"/>
    </a:custClr>
    <a:custClr name="Red D">
      <a:srgbClr val="E30021"/>
    </a:custClr>
    <a:custClr name="Red E">
      <a:srgbClr val="A6001A"/>
    </a:custClr>
  </a:custClrLst>
  <a:extLst>
    <a:ext uri="{05A4C25C-085E-4340-85A3-A5531E510DB2}">
      <thm15:themeFamily xmlns:thm15="http://schemas.microsoft.com/office/thememl/2012/main" name="Capgemini-template-master_2024-2.pptx" id="{B0D3567D-FB33-4816-A467-9DEC798BD58E}" vid="{9105B42A-F79F-47F9-A579-487833EC1D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495FEC1CD6F941B8BE3B537DCFC6FF" ma:contentTypeVersion="10" ma:contentTypeDescription="Create a new document." ma:contentTypeScope="" ma:versionID="805d48f03e7bb9e76b8d1388c8b0147f">
  <xsd:schema xmlns:xsd="http://www.w3.org/2001/XMLSchema" xmlns:xs="http://www.w3.org/2001/XMLSchema" xmlns:p="http://schemas.microsoft.com/office/2006/metadata/properties" xmlns:ns2="e2f04ce6-5625-4773-b511-ff6e32fd78d6" xmlns:ns3="886d0db5-4d18-497d-97ce-51cb0d7fa060" targetNamespace="http://schemas.microsoft.com/office/2006/metadata/properties" ma:root="true" ma:fieldsID="9b0fc5e66fd61b7e8c1014ca482dcaef" ns2:_="" ns3:_="">
    <xsd:import namespace="e2f04ce6-5625-4773-b511-ff6e32fd78d6"/>
    <xsd:import namespace="886d0db5-4d18-497d-97ce-51cb0d7fa0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f04ce6-5625-4773-b511-ff6e32fd78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6d0db5-4d18-497d-97ce-51cb0d7fa06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645703E-2DC3-4025-B347-F9025D42B9B6}">
  <ds:schemaRefs>
    <ds:schemaRef ds:uri="http://purl.org/dc/terms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dcmitype/"/>
    <ds:schemaRef ds:uri="e2f04ce6-5625-4773-b511-ff6e32fd78d6"/>
    <ds:schemaRef ds:uri="http://schemas.openxmlformats.org/package/2006/metadata/core-properties"/>
    <ds:schemaRef ds:uri="886d0db5-4d18-497d-97ce-51cb0d7fa060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3D4307A0-481C-4F24-84FE-7DA0F5C06A3E}"/>
</file>

<file path=customXml/itemProps3.xml><?xml version="1.0" encoding="utf-8"?>
<ds:datastoreItem xmlns:ds="http://schemas.openxmlformats.org/officeDocument/2006/customXml" ds:itemID="{1E18BF0C-2F35-4FE5-AE7A-2B75E2EE14E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1282</Words>
  <Application>Microsoft Office PowerPoint</Application>
  <PresentationFormat>Widescreen</PresentationFormat>
  <Paragraphs>266</Paragraphs>
  <Slides>9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Capgemini_2024</vt:lpstr>
      <vt:lpstr>Capgemini’s proposal to support Beazley with Test data and Environment management solution</vt:lpstr>
      <vt:lpstr>TOPICS</vt:lpstr>
      <vt:lpstr>Test Data Management – Current limitations</vt:lpstr>
      <vt:lpstr>Test Data Management – Solution architecture </vt:lpstr>
      <vt:lpstr>Test Data Management and Reconciliation – GPAS data flow </vt:lpstr>
      <vt:lpstr>Roadmap and Commercials</vt:lpstr>
      <vt:lpstr>Test Environment Management</vt:lpstr>
      <vt:lpstr>GPAS Integration Test Environment Mapping </vt:lpstr>
      <vt:lpstr>Test Environment Solution To Address Beazley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Durve, Ninad</dc:creator>
  <cp:lastModifiedBy>Momin, Amin</cp:lastModifiedBy>
  <cp:revision>2</cp:revision>
  <dcterms:created xsi:type="dcterms:W3CDTF">2025-09-01T14:24:18Z</dcterms:created>
  <dcterms:modified xsi:type="dcterms:W3CDTF">2026-01-15T19:36:31Z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0x01010021495FEC1CD6F941B8BE3B537DCFC6FF</vt:lpwstr>
  </property>
</Properties>
</file>